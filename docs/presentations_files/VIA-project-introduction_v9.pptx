
<file path=[Content_Types].xml><?xml version="1.0" encoding="utf-8"?>
<Types xmlns="http://schemas.openxmlformats.org/package/2006/content-types">
  <Default Extension="xml" ContentType="application/vnd.openxmlformats-package.core-properties+xml"/>
  <Default Extension="gif" ContentType="image/gif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0209eaca6740b2" /><Relationship Type="http://schemas.openxmlformats.org/officeDocument/2006/relationships/extended-properties" Target="/docProps/app.xml" Id="R003471178f2346ba" /><Relationship Type="http://schemas.openxmlformats.org/officeDocument/2006/relationships/officeDocument" Target="/ppt/presentation.xml" Id="Rb5b3f2e5567245d4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a7f575e4b2a94e12"/>
  </p:sldMasterIdLst>
  <p:notesMasterIdLst>
    <p:notesMasterId r:id="R61f3491294234b15"/>
  </p:notesMasterIdLst>
  <p:sldIdLst>
    <p:sldId id="256" r:id="R2d20bbaab06449e4"/>
    <p:sldId id="257" r:id="R79efaca67a9d4fec"/>
  </p:sldIdLst>
  <p:sldSz cx="18288000" cy="10287000"/>
  <p:notesSz cx="6858000" cy="9144000"/>
  <p:defaultTextStyle>
    <a:defPPr>
      <a:defRPr lang="ko-KR">
        <a:latin typeface="Calibri"/>
        <a:ea typeface="Calibri"/>
        <a:cs typeface="Calibri"/>
      </a:defRPr>
    </a:defPPr>
    <a:lvl1pPr>
      <a:defRPr lang="ko-KR">
        <a:latin typeface="Calibri"/>
        <a:ea typeface="Calibri"/>
        <a:cs typeface="Calibri"/>
      </a:defRPr>
    </a:lvl1pPr>
    <a:lvl2pPr>
      <a:defRPr lang="ko-KR">
        <a:latin typeface="Calibri"/>
        <a:ea typeface="Calibri"/>
        <a:cs typeface="Calibri"/>
      </a:defRPr>
    </a:lvl2pPr>
    <a:lvl3pPr>
      <a:defRPr lang="ko-KR">
        <a:latin typeface="Calibri"/>
        <a:ea typeface="Calibri"/>
        <a:cs typeface="Calibri"/>
      </a:defRPr>
    </a:lvl3pPr>
    <a:lvl4pPr>
      <a:defRPr lang="ko-KR">
        <a:latin typeface="Calibri"/>
        <a:ea typeface="Calibri"/>
        <a:cs typeface="Calibri"/>
      </a:defRPr>
    </a:lvl4pPr>
    <a:lvl5pPr>
      <a:defRPr lang="ko-KR">
        <a:latin typeface="Calibri"/>
        <a:ea typeface="Calibri"/>
        <a:cs typeface="Calibri"/>
      </a:defRPr>
    </a:lvl5pPr>
    <a:lvl6pPr>
      <a:defRPr lang="ko-KR">
        <a:latin typeface="Calibri"/>
        <a:ea typeface="Calibri"/>
        <a:cs typeface="Calibri"/>
      </a:defRPr>
    </a:lvl6pPr>
    <a:lvl7pPr>
      <a:defRPr lang="ko-KR">
        <a:latin typeface="Calibri"/>
        <a:ea typeface="Calibri"/>
        <a:cs typeface="Calibri"/>
      </a:defRPr>
    </a:lvl7pPr>
    <a:lvl8pPr>
      <a:defRPr lang="ko-KR">
        <a:latin typeface="Calibri"/>
        <a:ea typeface="Calibri"/>
        <a:cs typeface="Calibri"/>
      </a:defRPr>
    </a:lvl8pPr>
    <a:lvl9pPr>
      <a:defRPr lang="ko-KR"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ns2="http://schemas.microsoft.com/office/powerpoint/2012/main" xmlns:p="http://schemas.openxmlformats.org/presentationml/2006/main" xmlns:p14="http://schemas.microsoft.com/office/powerpoint/2010/main">
  <p:extLst>
    <p:ext uri="{E76CE94A-603C-4142-B9EB-6D1370010A27}">
      <p14:discardImageEditData val="0"/>
    </p:ext>
    <p:ext uri="{D31A062A-798A-4329-ABDD-BBA856620510}">
      <p14:defaultImageDpi val="32767"/>
    </p:ext>
    <p:ext uri="{FD5EFAAD-0ECE-453E-9831-46B23BE46B34}">
      <ns2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4c69dfb4864113" /><Relationship Type="http://schemas.openxmlformats.org/officeDocument/2006/relationships/slideMaster" Target="/ppt/slideMasters/slideMaster1.xml" Id="Ra7f575e4b2a94e12" /><Relationship Type="http://schemas.openxmlformats.org/officeDocument/2006/relationships/notesMaster" Target="/ppt/notesMasters/notesMaster1.xml" Id="R61f3491294234b15" /><Relationship Type="http://schemas.openxmlformats.org/officeDocument/2006/relationships/presProps" Target="/ppt/presProps.xml" Id="R8d844238a1934553" /><Relationship Type="http://schemas.openxmlformats.org/officeDocument/2006/relationships/tableStyles" Target="/ppt/tableStyles.xml" Id="R81f2726330da4048" /><Relationship Type="http://schemas.openxmlformats.org/officeDocument/2006/relationships/slide" Target="/ppt/slides/slide1.xml" Id="R2d20bbaab06449e4" /><Relationship Type="http://schemas.openxmlformats.org/officeDocument/2006/relationships/slide" Target="/ppt/slides/slide2.xml" Id="R79efaca67a9d4fe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2fa27c40598450e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 lang="ko-KR">
        <a:latin typeface="Calibri"/>
        <a:ea typeface="Calibri"/>
        <a:cs typeface="Calibri"/>
      </a:defRPr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0c6e636fe46b4" /><Relationship Type="http://schemas.openxmlformats.org/officeDocument/2006/relationships/notesMaster" Target="/ppt/notesMasters/notesMaster1.xml" Id="Rca190f3f36f248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60230d8f0f45df" /><Relationship Type="http://schemas.openxmlformats.org/officeDocument/2006/relationships/notesMaster" Target="/ppt/notesMasters/notesMaster1.xml" Id="R56d113c0ad3e4923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관련 동향 편집 기준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PC 업무 수행 Agent의 발전과 음성 사용자 접점 경쟁, 삼성 VIA의 역할을 연결하는 구성. 삼성 및 외부 Downstream Agent의 업무 실행 능력 활용. VIA의 책임은 사용자와의 대화 및 인터페이스, 대화와 업무의 연결.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시장 근거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Mordor Intelligence, Voice Assistant Application Market. 2026 추정 USD 9.02 billion, 2031 전망 USD 18.36 billion, CAGR 15.27%. 2026-08-05 갱신. 전 산업의 음성 비서 애플리케이션 소프트웨어와 관련 서비스 기준. 하드웨어 제외. PC 전용 시장이나 삼성 매출 전망으로 해석 불가.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https://www.mordorintelligence.com/industry-reports/voice-assistant-application-market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기업 사례 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Google Gemini Live: 2025-08-20. 카메라/화면과 음성 대화, Calendar/Keep/Tasks 연동. 기능과 지역별 제공 차이 존재.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https://blog.google/products-and-platforms/products/gemini/gemini-live-updates-august-2025/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Amazon Alexa+: 2026-09-01 갱신. 미국 제공, 자연어 대화와 개인화된 서비스 실행.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https://www.aboutamazon.com/news/devices/alexa-plus-available-free-prime-members-us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Apple Siri AI: 2026-09-14. 개인 맥락, 화면 이해와 앱 동작. 출시 시 영어 베타, 지역/언어별 단계적 제공.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https://www.apple.com/newsroom/2026/09/siri-ai-a-profoundly-more-capable-and-personal-assistant-is-here/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OpenAI GPT-6 Astra: 기존 v8의 공개 시연 GIF 보존. 공개 시연상의 음성 수정과 후속 작업 연결. 일반 서비스의 전 지역 상용 제공 주장 아님.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https://www.linkedin.com/posts/this-gpt-6-astra-ugcPost-7501364077496221696-H8XE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GIF 출처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Anthropic Claude Cowork built-in browser 공개 시연. 2026-08-26. 기존 GIF 바이트 보존.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https://claude.com/resources/articles/cowork-built-in-browser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https://www.youtube.com/watch?v=63GVebZvqok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OpenAI 시연: v8의 128프레임 GIF 보존. 원본 영상 17~41초 발췌, 1.5배속 무음.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CTO 메시지 출처와 구분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사용자가 제공한 윤장현 사장(CTO), 2026.06 발언 문구를 그대로 인용. 공개 검증된 기사 발언으로 표현하지 않음. 직책 확인 보조 자료는 삼성 뉴스룸의 2025-11-21 사장단 인사이며, 해당 기사에 이 발언은 없음.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https://news.samsung.com/kr/473579-2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자료 확인일: 2026-10-14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과제 필요성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사용자가 요청한 담백한 명사형 문구와 개념 그림 중심 구성. 구체적인 요청/업무 시나리오나 대화 예시 없음.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첫 영역: 끼어들기와 정정 발화, Downstream Agent의 질문 및 결과가 겹쳐도 대화 지속. 대화/요청/질문/업무/실행 관계 유지. FR1과 FR4, 현재 DP44 및 DP42의 문제 배경과 연결. 신속한 응답과 대화 연속성의 필요성 제시.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둘째 영역: 음성 지칭과 당시 화면 조작 정보 결합, 과거 대화와 업무 기록의 관련 맥락 활용. FR2와 FR3, DP47 및 DP45의 문제 배경과 연결. 사용자 의도와 지칭의 정확성 확보 필요.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셋째 영역: 모델 사용 비용과 PC 메모리 부담, 모델 및 Agent 변경에 따른 수정 범위 관리. 현재 QA 논의의 운영 비용, 메모리, 변경 용이성 관심사 소개. 특정 수치 목표, 구조의 우월성, QA 확정 또는 설계 대안 선정 주장 없음.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/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FR 기준: docs/presentations_files/functional-requirements-and-constraints.md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QA 논의: docs/architecture/12-decisions/decision-packages/03-03-qa-dp-evaluation-plan.md</a:t>
            </a:r>
            <a:endParaRPr lang="ko-KR">
              <a:latin typeface="Calibri"/>
              <a:ea typeface="Calibri"/>
              <a:cs typeface="Calibri"/>
            </a:endParaRPr>
          </a:p>
          <a:p>
            <a:pPr>
              <a:defRPr lang="ko-KR">
                <a:latin typeface="Calibri"/>
                <a:ea typeface="Calibri"/>
                <a:cs typeface="Calibri"/>
              </a:defRPr>
            </a:pPr>
            <a:r>
              <a:rPr lang="ko-KR">
                <a:latin typeface="Calibri"/>
                <a:ea typeface="Calibri"/>
                <a:cs typeface="Calibri"/>
              </a:rPr>
              <a:t>그림: OpenAI imagegen 생성 개념 일러스트, 2026-10-14. 실제 제품 화면이나 성능 근거 아님.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ed74fac06044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21e4057424a8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41ea80987942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259c0405424c6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fb31f8f4f04a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4c8790390d4b48" /></Relationships>
</file>

<file path=ppt/slideLayouts/slideLayout1.xml><?xml version="1.0" encoding="utf-8"?>
<p:sldLayout xmlns:a="http://schemas.openxmlformats.org/drawingml/2006/main" xmlns:ns2="http://schemas.microsoft.com/office/drawing/2014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23F41508-A865-46D9-B2B8-46CF897626A0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3886200"/>
            <a:ext cx="14630400" cy="14859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72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Subtitle">
            <a:extLst>
              <a:ext uri="{FF2B5EF4-FFF2-40B4-BE49-F238E27FC236}">
                <ns2:creationId id="{9C76369B-DC30-44BF-9BD1-B423DF1297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43200" y="5657850"/>
            <a:ext cx="12801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ns2="http://schemas.microsoft.com/office/drawing/2014/main" xmlns:p="http://schemas.openxmlformats.org/presentationml/2006/main">
  <p:cSld name="Section Header">
    <p:spTree>
      <p:nvGrpSpPr>
        <p:cNvPr id="1" name=""/>
        <p:cNvGrpSpPr/>
        <p:nvPr/>
      </p:nvGrpSpPr>
      <p:grpSpPr>
        <a:xfrm/>
      </p:grpSpPr>
      <p:sp>
        <p:nvSpPr>
          <p:cNvPr id="2" name="Section title">
            <a:extLst>
              <a:ext uri="{FF2B5EF4-FFF2-40B4-BE49-F238E27FC236}">
                <ns2:creationId id="{DA90774C-D262-4A6E-ACEF-6EC3F046237D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828800" y="4286250"/>
            <a:ext cx="14630400" cy="17145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63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Body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6B4970E8-6DAE-4D80-B39D-CFD63EA6004F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Body">
            <a:extLst>
              <a:ext uri="{FF2B5EF4-FFF2-40B4-BE49-F238E27FC236}">
                <ns2:creationId id="{D83A1DCD-8DED-4722-AB68-C190266AF3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162306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Two Column">
    <p:spTree>
      <p:nvGrpSpPr>
        <p:cNvPr id="1" name=""/>
        <p:cNvGrpSpPr/>
        <p:nvPr/>
      </p:nvGrpSpPr>
      <p:grpSpPr>
        <a:xfrm/>
      </p:grpSpPr>
      <p:sp>
        <p:nvSpPr>
          <p:cNvPr id="4" name="Title">
            <a:extLst>
              <a:ext uri="{FF2B5EF4-FFF2-40B4-BE49-F238E27FC236}">
                <ns2:creationId id="{364E5080-1C1D-4B2C-B906-266B38FE9694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1B90D0E9-9E31-4CB9-97E3-1918A6C7A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" name="Right column">
            <a:extLst>
              <a:ext uri="{FF2B5EF4-FFF2-40B4-BE49-F238E27FC236}">
                <ns2:creationId id="{C732B66A-1E8A-417F-8959-E4BC4F2C74F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7155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2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ns2="http://schemas.microsoft.com/office/drawing/2014/main" xmlns:p="http://schemas.openxmlformats.org/presentationml/2006/main">
  <p:cSld name="Title and One Column">
    <p:spTree>
      <p:nvGrpSpPr>
        <p:cNvPr id="1" name=""/>
        <p:cNvGrpSpPr/>
        <p:nvPr/>
      </p:nvGrpSpPr>
      <p:grpSpPr>
        <a:xfrm/>
      </p:grpSpPr>
      <p:sp>
        <p:nvSpPr>
          <p:cNvPr id="3" name="Title">
            <a:extLst>
              <a:ext uri="{FF2B5EF4-FFF2-40B4-BE49-F238E27FC236}">
                <ns2:creationId id="{EF42F501-CAE4-4D12-B4D2-17A2BA38B81B}"/>
              </a:ext>
            </a:extLst>
          </p:cNvPr>
          <p:cNvSpPr>
            <a:spLocks noGrp="1"/>
          </p:cNvSpPr>
          <p:nvPr>
            <p:ph type="title" idx="0"/>
          </p:nvPr>
        </p:nvSpPr>
        <p:spPr>
          <a:xfrm>
            <a:off x="1028700" y="800100"/>
            <a:ext cx="16230600" cy="12573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5000" b="1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" name="Left column">
            <a:extLst>
              <a:ext uri="{FF2B5EF4-FFF2-40B4-BE49-F238E27FC236}">
                <ns2:creationId id="{EF99697D-0C78-4223-AFDA-D2C999BC41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28700" y="2857500"/>
            <a:ext cx="7543800" cy="64008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400" b="0" lang="ko-KR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>
            <a:pPr>
              <a:defRPr lang="ko-KR"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1" name=""/>
        <p:cNvGrpSpPr/>
        <p:nvPr/>
      </p:nvGrpSpPr>
      <p:grpSpPr>
        <a:xfrm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c13842f4c9426f" /><Relationship Type="http://schemas.openxmlformats.org/officeDocument/2006/relationships/slideLayout" Target="/ppt/slideLayouts/slideLayout1.xml" Id="R8520d326f5654e2c" /><Relationship Type="http://schemas.openxmlformats.org/officeDocument/2006/relationships/slideLayout" Target="/ppt/slideLayouts/slideLayout2.xml" Id="R72b1fcd79b3e4dc6" /><Relationship Type="http://schemas.openxmlformats.org/officeDocument/2006/relationships/slideLayout" Target="/ppt/slideLayouts/slideLayout3.xml" Id="R23a7672a00254aa0" /><Relationship Type="http://schemas.openxmlformats.org/officeDocument/2006/relationships/slideLayout" Target="/ppt/slideLayouts/slideLayout4.xml" Id="R8f10a9d250584a18" /><Relationship Type="http://schemas.openxmlformats.org/officeDocument/2006/relationships/slideLayout" Target="/ppt/slideLayouts/slideLayout5.xml" Id="R21b6b7599e1e4fd6" /><Relationship Type="http://schemas.openxmlformats.org/officeDocument/2006/relationships/slideLayout" Target="/ppt/slideLayouts/slideLayout6.xml" Id="Ra124e44b08ac4447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8520d326f5654e2c"/>
    <p:sldLayoutId id="2147483650" r:id="R72b1fcd79b3e4dc6"/>
    <p:sldLayoutId id="2147483651" r:id="R23a7672a00254aa0"/>
    <p:sldLayoutId id="2147483652" r:id="R8f10a9d250584a18"/>
    <p:sldLayoutId id="2147483653" r:id="R21b6b7599e1e4fd6"/>
    <p:sldLayoutId id="2147483654" r:id="Ra124e44b08ac4447"/>
  </p:sldLayoutIdLst>
  <p:txStyles>
    <p:titleStyle>
      <a:lvl1pPr algn="l">
        <a:lnSpc>
          <a:spcPct val="90000"/>
        </a:lnSpc>
        <a:spcBef>
          <a:spcPts val="0"/>
        </a:spcBef>
        <a:buNone/>
        <a:defRPr sz="4400" lang="ko-KR">
          <a:solidFill>
            <a:schemeClr val="tx1"/>
          </a:solidFill>
          <a:latin typeface="Calibri"/>
          <a:ea typeface="Calibri"/>
          <a:cs typeface="Calibri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lvl1pPr marL="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>
        <a:buNone/>
        <a:defRPr sz="1800" lang="ko-KR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e1d48feea34fad" /><Relationship Type="http://schemas.openxmlformats.org/officeDocument/2006/relationships/image" Target="/ppt/media/image.gif" Id="R437653e567e04d29" /><Relationship Type="http://schemas.openxmlformats.org/officeDocument/2006/relationships/image" Target="/ppt/media/image2.gif" Id="R5ebd9b7fc25b4c2e" /><Relationship Type="http://schemas.openxmlformats.org/officeDocument/2006/relationships/chart" Target="/ppt/slides/charts/chart1.xml" Id="R5568b160e74c4c6b" /><Relationship Type="http://schemas.openxmlformats.org/officeDocument/2006/relationships/notesSlide" Target="/ppt/notesSlides/notesSlide1.xml" Id="R004f5523dc0e42d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1262998f73d478a" /><Relationship Type="http://schemas.openxmlformats.org/officeDocument/2006/relationships/image" Target="/ppt/media/image.png" Id="R610336d8211d42b4" /><Relationship Type="http://schemas.openxmlformats.org/officeDocument/2006/relationships/image" Target="/ppt/media/image2.png" Id="R771928730c4b42f7" /><Relationship Type="http://schemas.openxmlformats.org/officeDocument/2006/relationships/image" Target="/ppt/media/image3.png" Id="R5dc4af8e07de4039" /><Relationship Type="http://schemas.openxmlformats.org/officeDocument/2006/relationships/notesSlide" Target="/ppt/notesSlides/notesSlide2.xml" Id="R172f5a71d9804e6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ns0:chartSpace xmlns:a="http://schemas.openxmlformats.org/drawingml/2006/main" xmlns:ns0="http://schemas.openxmlformats.org/drawingml/2006/chart" xmlns:r="http://schemas.openxmlformats.org/officeDocument/2006/relationships">
  <ns0:lang val="en-US"/>
  <ns0:chart>
    <ns0:plotArea>
      <ns0:barChart>
        <ns0:barDir val="col"/>
        <ns0:grouping val="clustered"/>
        <ns0:varyColors val="1"/>
        <ns0:ser>
          <ns0:idx val="0"/>
          <ns0:order val="0"/>
          <ns0:tx>
            <ns0:v>시장 규모 (십억 달러)</ns0:v>
          </ns0:tx>
          <ns0:spPr>
            <a:solidFill>
              <a:srgbClr val="082759"/>
            </a:solidFill>
          </ns0:spPr>
          <ns0:invertIfNegative val="0"/>
          <ns0:dPt>
            <ns0:idx val="0"/>
            <ns0:invertIfNegative val="0"/>
            <ns0:spPr>
              <a:solidFill>
                <a:srgbClr val="A3B4CA"/>
              </a:solidFill>
            </ns0:spPr>
          </ns0:dPt>
          <ns0:dPt>
            <ns0:idx val="1"/>
            <ns0:invertIfNegative val="0"/>
            <ns0:spPr>
              <a:solidFill>
                <a:srgbClr val="082759"/>
              </a:solidFill>
            </ns0:spPr>
          </ns0:dPt>
          <ns0:cat>
            <ns0:strRef>
              <ns0:f>'Chart Data'!$A$2:$A$3</ns0:f>
              <ns0:strCache>
                <ns0:ptCount val="2"/>
                <ns0:pt idx="0">
                  <ns0:v>2026 추정</ns0:v>
                </ns0:pt>
                <ns0:pt idx="1">
                  <ns0:v>2031 전망</ns0:v>
                </ns0:pt>
              </ns0:strCache>
            </ns0:strRef>
          </ns0:cat>
          <ns0:val>
            <ns0:numRef>
              <ns0:f>'Chart Data'!$B$2:$B$3</ns0:f>
              <ns0:numCache>
                <ns0:formatCode>General</ns0:formatCode>
                <ns0:ptCount val="2"/>
                <ns0:pt idx="0">
                  <ns0:v>9.02</ns0:v>
                </ns0:pt>
                <ns0:pt idx="1">
                  <ns0:v>18.36</ns0:v>
                </ns0:pt>
              </ns0:numCache>
            </ns0:numRef>
          </ns0:val>
        </ns0:ser>
        <ns0:dLbls>
          <ns0:numFmt formatCode="0.00" sourceLinked="0"/>
          <ns0:txPr>
            <a:bodyPr anchorCtr="1"/>
            <a:lstStyle/>
            <a:p>
              <a:pPr>
                <a:defRPr sz="2000" b="1" lang="ko-KR">
                  <a:solidFill>
                    <a:srgbClr val="000000"/>
                  </a:solidFill>
                  <a:latin typeface="Calibri"/>
                  <a:ea typeface="Calibri"/>
                  <a:cs typeface="Calibri"/>
                </a:defRPr>
              </a:pPr>
              <a:endParaRPr lang="ko-KR">
                <a:latin typeface="Calibri"/>
                <a:ea typeface="Calibri"/>
                <a:cs typeface="Calibri"/>
              </a:endParaRPr>
            </a:p>
          </ns0:txPr>
          <ns0:dLblPos val="outEnd"/>
          <ns0:showLegendKey val="0"/>
          <ns0:showVal val="1"/>
          <ns0:showCatName val="0"/>
          <ns0:showSerName val="0"/>
          <ns0:showPercent val="0"/>
          <ns0:showBubbleSize val="0"/>
          <ns0:showLeaderLines val="0"/>
        </ns0:dLbls>
        <ns0:gapWidth val="80"/>
        <ns0:axId val="48650112"/>
        <ns0:axId val="48672768"/>
      </ns0:barChart>
      <ns0:catAx>
        <ns0:axId val="48650112"/>
        <ns0:scaling>
          <ns0:orientation val="minMax"/>
        </ns0:scaling>
        <ns0:delete val="0"/>
        <ns0:axPos val="b"/>
        <ns0:numFmt formatCode="General"/>
        <ns0:majorTickMark val="none"/>
        <ns0:minorTickMark val="none"/>
        <ns0:spPr>
          <a:ln w="9525">
            <a:solidFill>
              <a:srgbClr val="D4DBE4"/>
            </a:solidFill>
          </a:ln>
        </ns0:spPr>
        <ns0:txPr>
          <a:bodyPr anchorCtr="1"/>
          <a:lstStyle/>
          <a:p>
            <a:pPr>
              <a:defRPr sz="150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ns0:txPr>
        <ns0:crossAx val="48672768"/>
      </ns0:catAx>
      <ns0:valAx>
        <ns0:axId val="48672768"/>
        <ns0:scaling>
          <ns0:orientation val="minMax"/>
          <ns0:max val="20"/>
          <ns0:min val="0"/>
        </ns0:scaling>
        <ns0:delete val="0"/>
        <ns0:axPos val="l"/>
        <ns0:majorGridlines>
          <ns0:spPr>
            <a:ln w="9525">
              <a:solidFill>
                <a:srgbClr val="E7EBEF"/>
              </a:solidFill>
            </a:ln>
          </ns0:spPr>
        </ns0:majorGridlines>
        <ns0:numFmt formatCode="General"/>
        <ns0:majorTickMark val="none"/>
        <ns0:minorTickMark val="none"/>
        <ns0:spPr>
          <a:ln w="0">
            <a:noFill/>
          </a:ln>
        </ns0:spPr>
        <ns0:txPr>
          <a:bodyPr anchorCtr="1"/>
          <a:lstStyle/>
          <a:p>
            <a:pPr>
              <a:defRPr sz="120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endParaRPr lang="ko-KR">
              <a:latin typeface="Calibri"/>
              <a:ea typeface="Calibri"/>
              <a:cs typeface="Calibri"/>
            </a:endParaRPr>
          </a:p>
        </ns0:txPr>
        <ns0:crossAx val="48650112"/>
        <ns0:crossBetween val="between"/>
        <ns0:majorUnit val="10"/>
      </ns0:valAx>
      <ns0:spPr>
        <a:solidFill>
          <a:srgbClr val="FFFFFF"/>
        </a:solidFill>
        <a:ln w="0">
          <a:noFill/>
        </a:ln>
      </ns0:spPr>
    </ns0:plotArea>
    <ns0:plotVisOnly val="1"/>
  </ns0:chart>
  <ns0:spPr>
    <a:solidFill>
      <a:srgbClr val="FFFFFF"/>
    </a:solidFill>
    <a:ln w="0">
      <a:noFill/>
    </a:ln>
  </ns0:spPr>
  <ns0:externalData r:id="rIdChartSnapshot1">
    <ns0:autoUpdate val="0"/>
  </ns0:externalData>
</ns0:chartSpace>
</file>

<file path=ppt/slides/slide1.xml><?xml version="1.0" encoding="utf-8"?>
<p:sld xmlns:a="http://schemas.openxmlformats.org/drawingml/2006/main" xmlns:ns2="http://schemas.microsoft.com/office/drawing/2014/main" xmlns:ns4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 name="project-intro-v9-1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/>
      </p:grpSpPr>
      <p:sp>
        <p:nvSpPr>
          <p:cNvPr id="3" name="trend-execution-title">
            <a:extLst>
              <a:ext uri="{FF2B5EF4-FFF2-40B4-BE49-F238E27FC236}">
                <ns2:creationId id="{44A0B98E-0513-4C1A-8B6A-8BE9BAE2F5E7}"/>
              </a:ext>
            </a:extLst>
          </p:cNvPr>
          <p:cNvSpPr>
            <a:spLocks noGrp="1"/>
          </p:cNvSpPr>
          <p:nvPr/>
        </p:nvSpPr>
        <p:spPr>
          <a:xfrm>
            <a:off x="571500" y="1333500"/>
            <a:ext cx="790575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PC 업무 실행과 음성 상호작용의 발전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" name="demo-one-label">
            <a:extLst>
              <a:ext uri="{FF2B5EF4-FFF2-40B4-BE49-F238E27FC236}">
                <ns2:creationId id="{D3158B16-833B-405D-97A7-CCC286490073}"/>
              </a:ext>
            </a:extLst>
          </p:cNvPr>
          <p:cNvSpPr>
            <a:spLocks noGrp="1"/>
          </p:cNvSpPr>
          <p:nvPr/>
        </p:nvSpPr>
        <p:spPr>
          <a:xfrm>
            <a:off x="781050" y="2124075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Claude Cowork  |  브라우저 업무 수행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" name="demo-one-frame">
            <a:extLst>
              <a:ext uri="{FF2B5EF4-FFF2-40B4-BE49-F238E27FC236}">
                <ns2:creationId id="{40069728-05D5-4723-BC18-CAE0D0A09614}"/>
              </a:ext>
            </a:extLst>
          </p:cNvPr>
          <p:cNvSpPr>
            <a:spLocks noGrp="1"/>
          </p:cNvSpPr>
          <p:nvPr/>
        </p:nvSpPr>
        <p:spPr>
          <a:xfrm>
            <a:off x="1800225" y="2609850"/>
            <a:ext cx="5467350" cy="30861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DBE4"/>
            </a:solidFill>
          </a:ln>
        </p:spPr>
      </p:sp>
      <p:pic>
        <p:nvPicPr>
          <p:cNvPr id="6" name="">
            <a:extLst>
              <a:ext uri="{FF2B5EF4-FFF2-40B4-BE49-F238E27FC236}">
                <ns2:creationId id="{23DCDF09-2837-4F47-ABF3-AD9CAA0560BB}"/>
              </a:ext>
            </a:extLst>
          </p:cNvPr>
          <p:cNvPicPr>
            <a:picLocks noChangeAspect="1"/>
          </p:cNvPicPr>
          <p:nvPr/>
        </p:nvPicPr>
        <p:blipFill>
          <a:blip r:embed="R437653e567e04d29"/>
          <a:stretch/>
        </p:blipFill>
        <p:spPr>
          <a:xfrm>
            <a:off x="1819275" y="2631359"/>
            <a:ext cx="5429250" cy="3049035"/>
          </a:xfrm>
          <a:prstGeom prst="rect">
            <a:avLst/>
          </a:prstGeom>
        </p:spPr>
      </p:pic>
      <p:sp>
        <p:nvSpPr>
          <p:cNvPr id="7" name="demo-one-source">
            <a:extLst>
              <a:ext uri="{FF2B5EF4-FFF2-40B4-BE49-F238E27FC236}">
                <ns2:creationId id="{E524EA85-11B7-4A14-AF4A-5002233F0F27}"/>
              </a:ext>
            </a:extLst>
          </p:cNvPr>
          <p:cNvSpPr>
            <a:spLocks noGrp="1"/>
          </p:cNvSpPr>
          <p:nvPr/>
        </p:nvSpPr>
        <p:spPr>
          <a:xfrm>
            <a:off x="1676400" y="5743575"/>
            <a:ext cx="5715000" cy="2476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Anthropic 공개 시연 발췌  /  2026.08.26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8" name="demo-divider">
            <a:extLst>
              <a:ext uri="{FF2B5EF4-FFF2-40B4-BE49-F238E27FC236}">
                <ns2:creationId id="{5FD607E5-ABE5-4BBD-97F5-C7C6116DD7F4}"/>
              </a:ext>
            </a:extLst>
          </p:cNvPr>
          <p:cNvSpPr>
            <a:spLocks noGrp="1"/>
          </p:cNvSpPr>
          <p:nvPr/>
        </p:nvSpPr>
        <p:spPr>
          <a:xfrm>
            <a:off x="781050" y="6067425"/>
            <a:ext cx="7486650" cy="14288"/>
          </a:xfrm>
          <a:prstGeom prst="rect">
            <a:avLst/>
          </a:prstGeom>
          <a:solidFill>
            <a:srgbClr val="D4DBE4"/>
          </a:solidFill>
          <a:ln w="0">
            <a:noFill/>
          </a:ln>
        </p:spPr>
      </p:sp>
      <p:sp>
        <p:nvSpPr>
          <p:cNvPr id="9" name="demo-two-label">
            <a:extLst>
              <a:ext uri="{FF2B5EF4-FFF2-40B4-BE49-F238E27FC236}">
                <ns2:creationId id="{9811B2DF-ADD1-4027-B851-28EDC7B007BC}"/>
              </a:ext>
            </a:extLst>
          </p:cNvPr>
          <p:cNvSpPr>
            <a:spLocks noGrp="1"/>
          </p:cNvSpPr>
          <p:nvPr/>
        </p:nvSpPr>
        <p:spPr>
          <a:xfrm>
            <a:off x="781050" y="6134100"/>
            <a:ext cx="7524750" cy="4000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4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GPT-6 Astra  |  음성으로 수정과 후속 작업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demo-two-frame">
            <a:extLst>
              <a:ext uri="{FF2B5EF4-FFF2-40B4-BE49-F238E27FC236}">
                <ns2:creationId id="{809FD282-BF47-410C-BE97-D9BCCE629A82}"/>
              </a:ext>
            </a:extLst>
          </p:cNvPr>
          <p:cNvSpPr>
            <a:spLocks noGrp="1"/>
          </p:cNvSpPr>
          <p:nvPr/>
        </p:nvSpPr>
        <p:spPr>
          <a:xfrm>
            <a:off x="1800225" y="6638925"/>
            <a:ext cx="5467350" cy="3086100"/>
          </a:xfrm>
          <a:prstGeom prst="rect">
            <a:avLst/>
          </a:prstGeom>
          <a:solidFill>
            <a:srgbClr val="FFFFFF"/>
          </a:solidFill>
          <a:ln w="14288">
            <a:solidFill>
              <a:srgbClr val="D4DBE4"/>
            </a:solidFill>
          </a:ln>
        </p:spPr>
      </p:sp>
      <p:pic>
        <p:nvPicPr>
          <p:cNvPr id="11" name="">
            <a:extLst>
              <a:ext uri="{FF2B5EF4-FFF2-40B4-BE49-F238E27FC236}">
                <ns2:creationId id="{AC3FBCC6-F7ED-43A8-A546-888173CB32DE}"/>
              </a:ext>
            </a:extLst>
          </p:cNvPr>
          <p:cNvPicPr>
            <a:picLocks noChangeAspect="1"/>
          </p:cNvPicPr>
          <p:nvPr/>
        </p:nvPicPr>
        <p:blipFill>
          <a:blip r:embed="R5ebd9b7fc25b4c2e"/>
          <a:stretch/>
        </p:blipFill>
        <p:spPr>
          <a:xfrm>
            <a:off x="1819275" y="6657975"/>
            <a:ext cx="5429250" cy="3053953"/>
          </a:xfrm>
          <a:prstGeom prst="rect">
            <a:avLst/>
          </a:prstGeom>
        </p:spPr>
      </p:pic>
      <p:sp>
        <p:nvSpPr>
          <p:cNvPr id="12" name="demo-two-source">
            <a:extLst>
              <a:ext uri="{FF2B5EF4-FFF2-40B4-BE49-F238E27FC236}">
                <ns2:creationId id="{CD098E37-C7A2-4F46-B9DB-EAD5C55215BF}"/>
              </a:ext>
            </a:extLst>
          </p:cNvPr>
          <p:cNvSpPr>
            <a:spLocks noGrp="1"/>
          </p:cNvSpPr>
          <p:nvPr/>
        </p:nvSpPr>
        <p:spPr>
          <a:xfrm>
            <a:off x="1676400" y="9753600"/>
            <a:ext cx="5715000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r>
              <a:rPr sz="1400" b="0" lang="ko-KR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OpenAI 공개 시연 발췌  /  1.5배속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3" name="trend-market-title">
            <a:extLst>
              <a:ext uri="{FF2B5EF4-FFF2-40B4-BE49-F238E27FC236}">
                <ns2:creationId id="{1F289D35-8EC6-4154-9DA0-05C009F8CE61}"/>
              </a:ext>
            </a:extLst>
          </p:cNvPr>
          <p:cNvSpPr>
            <a:spLocks noGrp="1"/>
          </p:cNvSpPr>
          <p:nvPr/>
        </p:nvSpPr>
        <p:spPr>
          <a:xfrm>
            <a:off x="9048750" y="1333500"/>
            <a:ext cx="866775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음성 Agent 시장 확대와 주요 기업의 경쟁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market-title">
            <a:extLst>
              <a:ext uri="{FF2B5EF4-FFF2-40B4-BE49-F238E27FC236}">
                <ns2:creationId id="{925AE0E8-1F3B-497F-A86D-C9FC3E9B2C93}"/>
              </a:ext>
            </a:extLst>
          </p:cNvPr>
          <p:cNvSpPr>
            <a:spLocks noGrp="1"/>
          </p:cNvSpPr>
          <p:nvPr/>
        </p:nvSpPr>
        <p:spPr>
          <a:xfrm>
            <a:off x="9277350" y="2114550"/>
            <a:ext cx="3295650" cy="714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글로벌 음성 비서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애플리케이션 시장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5" name="market-cagr">
            <a:extLst>
              <a:ext uri="{FF2B5EF4-FFF2-40B4-BE49-F238E27FC236}">
                <ns2:creationId id="{BE93C29A-E045-43AA-88AE-6457786DD9D7}"/>
              </a:ext>
            </a:extLst>
          </p:cNvPr>
          <p:cNvSpPr>
            <a:spLocks noGrp="1"/>
          </p:cNvSpPr>
          <p:nvPr/>
        </p:nvSpPr>
        <p:spPr>
          <a:xfrm>
            <a:off x="9277350" y="2886075"/>
            <a:ext cx="3429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48713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00" b="1" lang="ko-KR">
                <a:solidFill>
                  <a:srgbClr val="487139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487139"/>
                </a:solidFill>
                <a:latin typeface="Calibri"/>
                <a:ea typeface="Calibri"/>
                <a:cs typeface="Calibri"/>
              </a:rPr>
              <a:t>연평균 15.27% 성장 전망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6" name="Chart">
            <a:extLst>
              <a:ext uri="{FF2B5EF4-FFF2-40B4-BE49-F238E27FC236}">
                <ns2:creationId id="{CB3C054D-5D6D-40BA-ACAC-E960FADA17FB}"/>
              </a:ext>
            </a:extLst>
          </p:cNvPr>
          <p:cNvGraphicFramePr/>
          <p:nvPr/>
        </p:nvGraphicFramePr>
        <p:xfrm>
          <a:off x="9229725" y="3305175"/>
          <a:ext cx="3381375" cy="2181225"/>
        </p:xfrm>
        <a:graphic>
          <a:graphicData uri="http://schemas.openxmlformats.org/drawingml/2006/chart">
            <ns4:chart r:id="R5568b160e74c4c6b"/>
          </a:graphicData>
        </a:graphic>
      </p:graphicFrame>
      <p:sp>
        <p:nvSpPr>
          <p:cNvPr id="17" name="market-unit">
            <a:extLst>
              <a:ext uri="{FF2B5EF4-FFF2-40B4-BE49-F238E27FC236}">
                <ns2:creationId id="{0FBD6772-48E2-4D6B-9836-BC2A341F04F6}"/>
              </a:ext>
            </a:extLst>
          </p:cNvPr>
          <p:cNvSpPr>
            <a:spLocks noGrp="1"/>
          </p:cNvSpPr>
          <p:nvPr/>
        </p:nvSpPr>
        <p:spPr>
          <a:xfrm>
            <a:off x="9277350" y="5486400"/>
            <a:ext cx="3381375" cy="228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단위: 십억 달러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8" name="market-list-divider">
            <a:extLst>
              <a:ext uri="{FF2B5EF4-FFF2-40B4-BE49-F238E27FC236}">
                <ns2:creationId id="{91E8E416-74F5-463A-8774-3F9936B2B239}"/>
              </a:ext>
            </a:extLst>
          </p:cNvPr>
          <p:cNvSpPr>
            <a:spLocks noGrp="1"/>
          </p:cNvSpPr>
          <p:nvPr/>
        </p:nvSpPr>
        <p:spPr>
          <a:xfrm>
            <a:off x="12782550" y="2181225"/>
            <a:ext cx="14288" cy="3505200"/>
          </a:xfrm>
          <a:prstGeom prst="rect">
            <a:avLst/>
          </a:prstGeom>
          <a:solidFill>
            <a:srgbClr val="D4DBE4"/>
          </a:solidFill>
          <a:ln w="0">
            <a:noFill/>
          </a:ln>
        </p:spPr>
      </p:sp>
      <p:sp>
        <p:nvSpPr>
          <p:cNvPr id="19" name="company-0">
            <a:extLst>
              <a:ext uri="{FF2B5EF4-FFF2-40B4-BE49-F238E27FC236}">
                <ns2:creationId id="{8ADDEE6E-8A42-49AF-A737-57F8BC089A79}"/>
              </a:ext>
            </a:extLst>
          </p:cNvPr>
          <p:cNvSpPr>
            <a:spLocks noGrp="1"/>
          </p:cNvSpPr>
          <p:nvPr/>
        </p:nvSpPr>
        <p:spPr>
          <a:xfrm>
            <a:off x="13049250" y="2114550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rPr>
              <a:t>Google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0" name="product-0">
            <a:extLst>
              <a:ext uri="{FF2B5EF4-FFF2-40B4-BE49-F238E27FC236}">
                <ns2:creationId id="{D118655B-0D51-47AF-9734-83B4D14704E0}"/>
              </a:ext>
            </a:extLst>
          </p:cNvPr>
          <p:cNvSpPr>
            <a:spLocks noGrp="1"/>
          </p:cNvSpPr>
          <p:nvPr/>
        </p:nvSpPr>
        <p:spPr>
          <a:xfrm>
            <a:off x="14335125" y="211455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Gemini Live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" name="case-0">
            <a:extLst>
              <a:ext uri="{FF2B5EF4-FFF2-40B4-BE49-F238E27FC236}">
                <ns2:creationId id="{9FE4180A-93C9-4B74-A128-CDD601064DB8}"/>
              </a:ext>
            </a:extLst>
          </p:cNvPr>
          <p:cNvSpPr>
            <a:spLocks noGrp="1"/>
          </p:cNvSpPr>
          <p:nvPr/>
        </p:nvSpPr>
        <p:spPr>
          <a:xfrm>
            <a:off x="13049250" y="24765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음성과 화면 대화, 앱 연동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2" name="case-rule-0">
            <a:extLst>
              <a:ext uri="{FF2B5EF4-FFF2-40B4-BE49-F238E27FC236}">
                <ns2:creationId id="{222C6524-8913-46B0-8E57-3D2EF9F56DD8}"/>
              </a:ext>
            </a:extLst>
          </p:cNvPr>
          <p:cNvSpPr>
            <a:spLocks noGrp="1"/>
          </p:cNvSpPr>
          <p:nvPr/>
        </p:nvSpPr>
        <p:spPr>
          <a:xfrm>
            <a:off x="13049250" y="2905125"/>
            <a:ext cx="4476750" cy="14288"/>
          </a:xfrm>
          <a:prstGeom prst="rect">
            <a:avLst/>
          </a:prstGeom>
          <a:solidFill>
            <a:srgbClr val="E3E7EC"/>
          </a:solidFill>
          <a:ln w="0">
            <a:noFill/>
          </a:ln>
        </p:spPr>
      </p:sp>
      <p:sp>
        <p:nvSpPr>
          <p:cNvPr id="23" name="company-1">
            <a:extLst>
              <a:ext uri="{FF2B5EF4-FFF2-40B4-BE49-F238E27FC236}">
                <ns2:creationId id="{9B181C3B-CAC6-4C34-BCE9-13D048E7321A}"/>
              </a:ext>
            </a:extLst>
          </p:cNvPr>
          <p:cNvSpPr>
            <a:spLocks noGrp="1"/>
          </p:cNvSpPr>
          <p:nvPr/>
        </p:nvSpPr>
        <p:spPr>
          <a:xfrm>
            <a:off x="13049250" y="3009900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rPr>
              <a:t>Amazon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4" name="product-1">
            <a:extLst>
              <a:ext uri="{FF2B5EF4-FFF2-40B4-BE49-F238E27FC236}">
                <ns2:creationId id="{BC12AA19-6CBF-45C5-A786-971E8E90535E}"/>
              </a:ext>
            </a:extLst>
          </p:cNvPr>
          <p:cNvSpPr>
            <a:spLocks noGrp="1"/>
          </p:cNvSpPr>
          <p:nvPr/>
        </p:nvSpPr>
        <p:spPr>
          <a:xfrm>
            <a:off x="14335125" y="300990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Alexa+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5" name="case-1">
            <a:extLst>
              <a:ext uri="{FF2B5EF4-FFF2-40B4-BE49-F238E27FC236}">
                <ns2:creationId id="{60BFCA46-1590-4784-B94C-561823283CB0}"/>
              </a:ext>
            </a:extLst>
          </p:cNvPr>
          <p:cNvSpPr>
            <a:spLocks noGrp="1"/>
          </p:cNvSpPr>
          <p:nvPr/>
        </p:nvSpPr>
        <p:spPr>
          <a:xfrm>
            <a:off x="13049250" y="337185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자연어 대화, 생활 서비스 실행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6" name="case-rule-1">
            <a:extLst>
              <a:ext uri="{FF2B5EF4-FFF2-40B4-BE49-F238E27FC236}">
                <ns2:creationId id="{157BF196-545A-488E-A941-E07383760E1F}"/>
              </a:ext>
            </a:extLst>
          </p:cNvPr>
          <p:cNvSpPr>
            <a:spLocks noGrp="1"/>
          </p:cNvSpPr>
          <p:nvPr/>
        </p:nvSpPr>
        <p:spPr>
          <a:xfrm>
            <a:off x="13049250" y="3800475"/>
            <a:ext cx="4476750" cy="14288"/>
          </a:xfrm>
          <a:prstGeom prst="rect">
            <a:avLst/>
          </a:prstGeom>
          <a:solidFill>
            <a:srgbClr val="E3E7EC"/>
          </a:solidFill>
          <a:ln w="0">
            <a:noFill/>
          </a:ln>
        </p:spPr>
      </p:sp>
      <p:sp>
        <p:nvSpPr>
          <p:cNvPr id="27" name="company-2">
            <a:extLst>
              <a:ext uri="{FF2B5EF4-FFF2-40B4-BE49-F238E27FC236}">
                <ns2:creationId id="{490B7F90-3355-4DDA-B66D-A97AD65F7AD7}"/>
              </a:ext>
            </a:extLst>
          </p:cNvPr>
          <p:cNvSpPr>
            <a:spLocks noGrp="1"/>
          </p:cNvSpPr>
          <p:nvPr/>
        </p:nvSpPr>
        <p:spPr>
          <a:xfrm>
            <a:off x="13049250" y="3905250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rPr>
              <a:t>Apple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8" name="product-2">
            <a:extLst>
              <a:ext uri="{FF2B5EF4-FFF2-40B4-BE49-F238E27FC236}">
                <ns2:creationId id="{D15E5D13-91C7-42F1-9C57-E0C6AEFF034D}"/>
              </a:ext>
            </a:extLst>
          </p:cNvPr>
          <p:cNvSpPr>
            <a:spLocks noGrp="1"/>
          </p:cNvSpPr>
          <p:nvPr/>
        </p:nvSpPr>
        <p:spPr>
          <a:xfrm>
            <a:off x="14335125" y="390525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Siri AI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9" name="case-2">
            <a:extLst>
              <a:ext uri="{FF2B5EF4-FFF2-40B4-BE49-F238E27FC236}">
                <ns2:creationId id="{37C83267-88FB-4E1C-9EC0-D83198A577B0}"/>
              </a:ext>
            </a:extLst>
          </p:cNvPr>
          <p:cNvSpPr>
            <a:spLocks noGrp="1"/>
          </p:cNvSpPr>
          <p:nvPr/>
        </p:nvSpPr>
        <p:spPr>
          <a:xfrm>
            <a:off x="13049250" y="426720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개인 맥락과 화면 이해, 앱 연계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0" name="case-rule-2">
            <a:extLst>
              <a:ext uri="{FF2B5EF4-FFF2-40B4-BE49-F238E27FC236}">
                <ns2:creationId id="{2587F61A-F464-4AB6-9CFE-56F023DF5896}"/>
              </a:ext>
            </a:extLst>
          </p:cNvPr>
          <p:cNvSpPr>
            <a:spLocks noGrp="1"/>
          </p:cNvSpPr>
          <p:nvPr/>
        </p:nvSpPr>
        <p:spPr>
          <a:xfrm>
            <a:off x="13049250" y="4695825"/>
            <a:ext cx="4476750" cy="14288"/>
          </a:xfrm>
          <a:prstGeom prst="rect">
            <a:avLst/>
          </a:prstGeom>
          <a:solidFill>
            <a:srgbClr val="E3E7EC"/>
          </a:solidFill>
          <a:ln w="0">
            <a:noFill/>
          </a:ln>
        </p:spPr>
      </p:sp>
      <p:sp>
        <p:nvSpPr>
          <p:cNvPr id="31" name="company-3">
            <a:extLst>
              <a:ext uri="{FF2B5EF4-FFF2-40B4-BE49-F238E27FC236}">
                <ns2:creationId id="{CC3B307C-EDEB-4302-B58C-894EAADEC7D4}"/>
              </a:ext>
            </a:extLst>
          </p:cNvPr>
          <p:cNvSpPr>
            <a:spLocks noGrp="1"/>
          </p:cNvSpPr>
          <p:nvPr/>
        </p:nvSpPr>
        <p:spPr>
          <a:xfrm>
            <a:off x="13049250" y="4800600"/>
            <a:ext cx="12192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82759"/>
                </a:solidFill>
                <a:latin typeface="Calibri"/>
                <a:ea typeface="Calibri"/>
                <a:cs typeface="Calibri"/>
              </a:rPr>
              <a:t>OpenAI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2" name="product-3">
            <a:extLst>
              <a:ext uri="{FF2B5EF4-FFF2-40B4-BE49-F238E27FC236}">
                <ns2:creationId id="{88CDCED2-AFB7-4E18-ACBC-D5CC7E74CEE8}"/>
              </a:ext>
            </a:extLst>
          </p:cNvPr>
          <p:cNvSpPr>
            <a:spLocks noGrp="1"/>
          </p:cNvSpPr>
          <p:nvPr/>
        </p:nvSpPr>
        <p:spPr>
          <a:xfrm>
            <a:off x="14335125" y="4800600"/>
            <a:ext cx="32861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1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GPT-6 Astra 시연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3" name="case-3">
            <a:extLst>
              <a:ext uri="{FF2B5EF4-FFF2-40B4-BE49-F238E27FC236}">
                <ns2:creationId id="{F3923C9D-2BF8-4F85-A347-FF00954A06EF}"/>
              </a:ext>
            </a:extLst>
          </p:cNvPr>
          <p:cNvSpPr>
            <a:spLocks noGrp="1"/>
          </p:cNvSpPr>
          <p:nvPr/>
        </p:nvSpPr>
        <p:spPr>
          <a:xfrm>
            <a:off x="13049250" y="5162550"/>
            <a:ext cx="45720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8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음성 기반 수정과 후속 작업 연결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4" name="market-source">
            <a:extLst>
              <a:ext uri="{FF2B5EF4-FFF2-40B4-BE49-F238E27FC236}">
                <ns2:creationId id="{D149B575-CAF8-4969-9957-34C328D34824}"/>
              </a:ext>
            </a:extLst>
          </p:cNvPr>
          <p:cNvSpPr>
            <a:spLocks noGrp="1"/>
          </p:cNvSpPr>
          <p:nvPr/>
        </p:nvSpPr>
        <p:spPr>
          <a:xfrm>
            <a:off x="9258300" y="5829300"/>
            <a:ext cx="8267700" cy="2381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시장: Mordor Intelligence, 2026.08  /  전 산업 소프트웨어 및 서비스 기준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5" name="cases-source">
            <a:extLst>
              <a:ext uri="{FF2B5EF4-FFF2-40B4-BE49-F238E27FC236}">
                <ns2:creationId id="{AE835E9F-C4E6-4077-B0F7-01D4656F4841}"/>
              </a:ext>
            </a:extLst>
          </p:cNvPr>
          <p:cNvSpPr>
            <a:spLocks noGrp="1"/>
          </p:cNvSpPr>
          <p:nvPr/>
        </p:nvSpPr>
        <p:spPr>
          <a:xfrm>
            <a:off x="9258300" y="6086475"/>
            <a:ext cx="8267700" cy="219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defRPr>
            </a:pPr>
            <a:r>
              <a:rPr sz="1300" b="0" lang="ko-KR">
                <a:solidFill>
                  <a:srgbClr val="4A5563"/>
                </a:solidFill>
                <a:latin typeface="Calibri"/>
                <a:ea typeface="Calibri"/>
                <a:cs typeface="Calibri"/>
              </a:rPr>
              <a:t>사례: 각 사 공식 발표 및 공개 시연  /  상세 출처: 발표자 노트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6" name="strategic-title">
            <a:extLst>
              <a:ext uri="{FF2B5EF4-FFF2-40B4-BE49-F238E27FC236}">
                <ns2:creationId id="{00653028-E6B5-4D65-8C0B-26A6E43BD306}"/>
              </a:ext>
            </a:extLst>
          </p:cNvPr>
          <p:cNvSpPr>
            <a:spLocks noGrp="1"/>
          </p:cNvSpPr>
          <p:nvPr/>
        </p:nvSpPr>
        <p:spPr>
          <a:xfrm>
            <a:off x="9048750" y="6600825"/>
            <a:ext cx="866775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5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삼성의 방향: VIA를 통한 사용자 접점 확보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7" name="quote-highlight">
            <a:extLst>
              <a:ext uri="{FF2B5EF4-FFF2-40B4-BE49-F238E27FC236}">
                <ns2:creationId id="{FBCC2805-A238-4A59-B3B4-C234D6DB2ACE}"/>
              </a:ext>
            </a:extLst>
          </p:cNvPr>
          <p:cNvSpPr>
            <a:spLocks noGrp="1"/>
          </p:cNvSpPr>
          <p:nvPr/>
        </p:nvSpPr>
        <p:spPr>
          <a:xfrm>
            <a:off x="9344025" y="8134350"/>
            <a:ext cx="5000625" cy="352425"/>
          </a:xfrm>
          <a:prstGeom prst="rect">
            <a:avLst/>
          </a:prstGeom>
          <a:solidFill>
            <a:srgbClr val="DDECCD"/>
          </a:solidFill>
          <a:ln w="0">
            <a:noFill/>
          </a:ln>
        </p:spPr>
      </p:sp>
      <p:sp>
        <p:nvSpPr>
          <p:cNvPr id="38" name="cto-quote">
            <a:extLst>
              <a:ext uri="{FF2B5EF4-FFF2-40B4-BE49-F238E27FC236}">
                <ns2:creationId id="{E265D602-22B8-4053-933C-BDDA9021CA45}"/>
              </a:ext>
            </a:extLst>
          </p:cNvPr>
          <p:cNvSpPr>
            <a:spLocks noGrp="1"/>
          </p:cNvSpPr>
          <p:nvPr/>
        </p:nvSpPr>
        <p:spPr>
          <a:xfrm>
            <a:off x="9344025" y="7381875"/>
            <a:ext cx="8048625" cy="1095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“실제 작업을 수행하는 AI Agent가 달라져도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사용자와의 경험은 당사의</a:t>
            </a:r>
            <a:endParaRPr lang="ko-KR">
              <a:latin typeface="Calibri"/>
              <a:ea typeface="Calibri"/>
              <a:cs typeface="Calibri"/>
            </a:endParaRPr>
          </a:p>
          <a:p>
            <a:pPr algn="l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Voice Interaction Agent(VIA)가 담당”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9" name="cto-attribution">
            <a:extLst>
              <a:ext uri="{FF2B5EF4-FFF2-40B4-BE49-F238E27FC236}">
                <ns2:creationId id="{E60FEDC6-520B-4F58-9251-B9EE144BE7BB}"/>
              </a:ext>
            </a:extLst>
          </p:cNvPr>
          <p:cNvSpPr>
            <a:spLocks noGrp="1"/>
          </p:cNvSpPr>
          <p:nvPr/>
        </p:nvSpPr>
        <p:spPr>
          <a:xfrm>
            <a:off x="9344025" y="8467725"/>
            <a:ext cx="8048625" cy="3333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r">
              <a:defRPr sz="1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r">
              <a:defRPr sz="1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윤장현 사장(CTO)  |  2026.06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0" name="user-role">
            <a:extLst>
              <a:ext uri="{FF2B5EF4-FFF2-40B4-BE49-F238E27FC236}">
                <ns2:creationId id="{70E2E5B7-AAA2-416F-9826-E64F034B5F9C}"/>
              </a:ext>
            </a:extLst>
          </p:cNvPr>
          <p:cNvSpPr>
            <a:spLocks noGrp="1"/>
          </p:cNvSpPr>
          <p:nvPr/>
        </p:nvSpPr>
        <p:spPr>
          <a:xfrm>
            <a:off x="9286875" y="9182100"/>
            <a:ext cx="1285875" cy="590550"/>
          </a:xfrm>
          <a:prstGeom prst="roundRect">
            <a:avLst>
              <a:gd name="adj" fmla="val 12903"/>
            </a:avLst>
          </a:prstGeom>
          <a:solidFill>
            <a:srgbClr val="F1F4F8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사용자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1" name="user-via-link">
            <a:extLst>
              <a:ext uri="{FF2B5EF4-FFF2-40B4-BE49-F238E27FC236}">
                <ns2:creationId id="{E15CB779-A3D6-4CB7-903B-B948069FA497}"/>
              </a:ext>
            </a:extLst>
          </p:cNvPr>
          <p:cNvSpPr>
            <a:spLocks noGrp="1"/>
          </p:cNvSpPr>
          <p:nvPr/>
        </p:nvSpPr>
        <p:spPr>
          <a:xfrm>
            <a:off x="10648950" y="9353550"/>
            <a:ext cx="361950" cy="228600"/>
          </a:xfrm>
          <a:prstGeom prst="rightArrow">
            <a:avLst/>
          </a:prstGeom>
          <a:solidFill>
            <a:srgbClr val="91A5B7"/>
          </a:solidFill>
          <a:ln w="0">
            <a:noFill/>
          </a:ln>
        </p:spPr>
      </p:sp>
      <p:sp>
        <p:nvSpPr>
          <p:cNvPr id="42" name="via-role">
            <a:extLst>
              <a:ext uri="{FF2B5EF4-FFF2-40B4-BE49-F238E27FC236}">
                <ns2:creationId id="{41E16D4E-0073-4BBE-8F4B-C3819C432BCD}"/>
              </a:ext>
            </a:extLst>
          </p:cNvPr>
          <p:cNvSpPr>
            <a:spLocks noGrp="1"/>
          </p:cNvSpPr>
          <p:nvPr/>
        </p:nvSpPr>
        <p:spPr>
          <a:xfrm>
            <a:off x="11087100" y="9048750"/>
            <a:ext cx="3200400" cy="866775"/>
          </a:xfrm>
          <a:prstGeom prst="roundRect">
            <a:avLst>
              <a:gd name="adj" fmla="val 8791"/>
            </a:avLst>
          </a:prstGeom>
          <a:solidFill>
            <a:srgbClr val="DDECCD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VIA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사용자 대화와 인터페이스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3" name="via-agent-link">
            <a:extLst>
              <a:ext uri="{FF2B5EF4-FFF2-40B4-BE49-F238E27FC236}">
                <ns2:creationId id="{F26EB857-C13B-4FFD-91A0-1D4CFACD2F6E}"/>
              </a:ext>
            </a:extLst>
          </p:cNvPr>
          <p:cNvSpPr>
            <a:spLocks noGrp="1"/>
          </p:cNvSpPr>
          <p:nvPr/>
        </p:nvSpPr>
        <p:spPr>
          <a:xfrm>
            <a:off x="14373225" y="9353550"/>
            <a:ext cx="361950" cy="228600"/>
          </a:xfrm>
          <a:prstGeom prst="rightArrow">
            <a:avLst/>
          </a:prstGeom>
          <a:solidFill>
            <a:srgbClr val="91A5B7"/>
          </a:solidFill>
          <a:ln w="0">
            <a:noFill/>
          </a:ln>
        </p:spPr>
      </p:sp>
      <p:sp>
        <p:nvSpPr>
          <p:cNvPr id="44" name="agent-role">
            <a:extLst>
              <a:ext uri="{FF2B5EF4-FFF2-40B4-BE49-F238E27FC236}">
                <ns2:creationId id="{A1DD7031-A319-4EBD-B28C-88D2B9664E0F}"/>
              </a:ext>
            </a:extLst>
          </p:cNvPr>
          <p:cNvSpPr>
            <a:spLocks noGrp="1"/>
          </p:cNvSpPr>
          <p:nvPr/>
        </p:nvSpPr>
        <p:spPr>
          <a:xfrm>
            <a:off x="14811375" y="9048750"/>
            <a:ext cx="2771775" cy="866775"/>
          </a:xfrm>
          <a:prstGeom prst="roundRect">
            <a:avLst>
              <a:gd name="adj" fmla="val 8791"/>
            </a:avLst>
          </a:prstGeom>
          <a:solidFill>
            <a:srgbClr val="EDF1F6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삼성 및 외부 Agent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1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9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실제 업무 수행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5" name="v6-header-title">
            <a:extLst>
              <a:ext uri="{FF2B5EF4-FFF2-40B4-BE49-F238E27FC236}">
                <ns2:creationId id="{EB63144F-50BC-471B-8EFA-C300638853A7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10191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과제 소개 | 관련 동향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6" name="v6-header-rule">
            <a:extLst>
              <a:ext uri="{FF2B5EF4-FFF2-40B4-BE49-F238E27FC236}">
                <ns2:creationId id="{86B8C9B0-5231-4D9D-ADFF-E9E53B34C4D4}"/>
              </a:ext>
            </a:extLst>
          </p:cNvPr>
          <p:cNvSpPr>
            <a:spLocks noGrp="1"/>
          </p:cNvSpPr>
          <p:nvPr/>
        </p:nvSpPr>
        <p:spPr>
          <a:xfrm>
            <a:off x="495300" y="990600"/>
            <a:ext cx="17335500" cy="0"/>
          </a:xfrm>
          <a:prstGeom prst="line">
            <a:avLst/>
          </a:prstGeom>
          <a:noFill/>
          <a:ln w="19050">
            <a:solidFill>
              <a:srgbClr val="A6A6A6"/>
            </a:solidFill>
          </a:ln>
        </p:spPr>
      </p:sp>
      <p:sp>
        <p:nvSpPr>
          <p:cNvPr id="47" name="v6-header-stage-0">
            <a:extLst>
              <a:ext uri="{FF2B5EF4-FFF2-40B4-BE49-F238E27FC236}">
                <ns2:creationId id="{8295749F-970C-4941-9B9C-0B768E2DC731}"/>
              </a:ext>
            </a:extLst>
          </p:cNvPr>
          <p:cNvSpPr>
            <a:spLocks noGrp="1"/>
          </p:cNvSpPr>
          <p:nvPr/>
        </p:nvSpPr>
        <p:spPr>
          <a:xfrm>
            <a:off x="108585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3AAFD0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8" name="v6-header-stage-1">
            <a:extLst>
              <a:ext uri="{FF2B5EF4-FFF2-40B4-BE49-F238E27FC236}">
                <ns2:creationId id="{632A97E6-4C81-4581-80F1-BAEA26589429}"/>
              </a:ext>
            </a:extLst>
          </p:cNvPr>
          <p:cNvSpPr>
            <a:spLocks noGrp="1"/>
          </p:cNvSpPr>
          <p:nvPr/>
        </p:nvSpPr>
        <p:spPr>
          <a:xfrm>
            <a:off x="1224915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49" name="v6-header-stage-2">
            <a:extLst>
              <a:ext uri="{FF2B5EF4-FFF2-40B4-BE49-F238E27FC236}">
                <ns2:creationId id="{9A88E145-C5E6-42E9-82ED-36759C92E49F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0" name="v6-header-stage-3">
            <a:extLst>
              <a:ext uri="{FF2B5EF4-FFF2-40B4-BE49-F238E27FC236}">
                <ns2:creationId id="{E72F65C8-878C-423D-994C-2C9A96C1C56F}"/>
              </a:ext>
            </a:extLst>
          </p:cNvPr>
          <p:cNvSpPr>
            <a:spLocks noGrp="1"/>
          </p:cNvSpPr>
          <p:nvPr/>
        </p:nvSpPr>
        <p:spPr>
          <a:xfrm>
            <a:off x="1503045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검토 요약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1" name="v6-header-stage-4">
            <a:extLst>
              <a:ext uri="{FF2B5EF4-FFF2-40B4-BE49-F238E27FC236}">
                <ns2:creationId id="{4A16CB0D-6F9D-4931-B91E-BA1A381D0AAA}"/>
              </a:ext>
            </a:extLst>
          </p:cNvPr>
          <p:cNvSpPr>
            <a:spLocks noGrp="1"/>
          </p:cNvSpPr>
          <p:nvPr/>
        </p:nvSpPr>
        <p:spPr>
          <a:xfrm>
            <a:off x="164211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Appendix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52" name="v6-header-page">
            <a:extLst>
              <a:ext uri="{FF2B5EF4-FFF2-40B4-BE49-F238E27FC236}">
                <ns2:creationId id="{DA3B8F5E-9123-450E-941E-56DFEBF5D629}"/>
              </a:ext>
            </a:extLst>
          </p:cNvPr>
          <p:cNvSpPr>
            <a:spLocks noGrp="1"/>
          </p:cNvSpPr>
          <p:nvPr/>
        </p:nvSpPr>
        <p:spPr>
          <a:xfrm>
            <a:off x="16668750" y="733425"/>
            <a:ext cx="1143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00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1 / 2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2004982267"/>
      </p:ext>
    </p:extLst>
  </p:cSld>
</p:sld>
</file>

<file path=ppt/slides/slide2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 name="project-intro-v9-2">
    <p:bg>
      <p:bgPr>
        <a:solidFill>
          <a:srgbClr val="FFFFFF"/>
        </a:solidFill>
      </p:bgPr>
    </p:bg>
    <p:spTree>
      <p:nvGrpSpPr>
        <p:cNvPr id="2" name=""/>
        <p:cNvGrpSpPr/>
        <p:nvPr/>
      </p:nvGrpSpPr>
      <p:grpSpPr>
        <a:xfrm/>
      </p:grpSpPr>
      <p:sp>
        <p:nvSpPr>
          <p:cNvPr id="3" name="need-panel-0">
            <a:extLst>
              <a:ext uri="{FF2B5EF4-FFF2-40B4-BE49-F238E27FC236}">
                <ns2:creationId id="{DE77BA73-E744-48C4-BE43-03764976B54A}"/>
              </a:ext>
            </a:extLst>
          </p:cNvPr>
          <p:cNvSpPr>
            <a:spLocks noGrp="1"/>
          </p:cNvSpPr>
          <p:nvPr/>
        </p:nvSpPr>
        <p:spPr>
          <a:xfrm>
            <a:off x="571500" y="1781175"/>
            <a:ext cx="5524500" cy="7667625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4288">
            <a:solidFill>
              <a:srgbClr val="D4DBE4"/>
            </a:solidFill>
          </a:ln>
        </p:spPr>
      </p:sp>
      <p:sp>
        <p:nvSpPr>
          <p:cNvPr id="4" name="need-heading-0">
            <a:extLst>
              <a:ext uri="{FF2B5EF4-FFF2-40B4-BE49-F238E27FC236}">
                <ns2:creationId id="{57059BB6-D69E-4DE7-A11D-08F829B042B2}"/>
              </a:ext>
            </a:extLst>
          </p:cNvPr>
          <p:cNvSpPr>
            <a:spLocks noGrp="1"/>
          </p:cNvSpPr>
          <p:nvPr/>
        </p:nvSpPr>
        <p:spPr>
          <a:xfrm>
            <a:off x="666750" y="1457325"/>
            <a:ext cx="533400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자연스러운 대화 경험 확보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pic>
        <p:nvPicPr>
          <p:cNvPr id="5" name="">
            <a:extLst>
              <a:ext uri="{FF2B5EF4-FFF2-40B4-BE49-F238E27FC236}">
                <ns2:creationId id="{945586F8-60FC-4A8C-86B0-C30EEFFAD57D}"/>
              </a:ext>
            </a:extLst>
          </p:cNvPr>
          <p:cNvPicPr>
            <a:picLocks noChangeAspect="1"/>
          </p:cNvPicPr>
          <p:nvPr/>
        </p:nvPicPr>
        <p:blipFill>
          <a:blip r:embed="R610336d8211d42b4"/>
          <a:stretch/>
        </p:blipFill>
        <p:spPr>
          <a:xfrm>
            <a:off x="1238250" y="2552700"/>
            <a:ext cx="4191000" cy="4191000"/>
          </a:xfrm>
          <a:prstGeom prst="rect">
            <a:avLst/>
          </a:prstGeom>
        </p:spPr>
      </p:pic>
      <p:sp>
        <p:nvSpPr>
          <p:cNvPr id="6" name="need-copy-a-0">
            <a:extLst>
              <a:ext uri="{FF2B5EF4-FFF2-40B4-BE49-F238E27FC236}">
                <ns2:creationId id="{6EAA44FE-E8D5-49AE-B967-22D8F2136774}"/>
              </a:ext>
            </a:extLst>
          </p:cNvPr>
          <p:cNvSpPr>
            <a:spLocks noGrp="1"/>
          </p:cNvSpPr>
          <p:nvPr/>
        </p:nvSpPr>
        <p:spPr>
          <a:xfrm>
            <a:off x="876300" y="6696075"/>
            <a:ext cx="491490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사용자 입력과 업무 응답의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연속적 처리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7" name="need-copy-rule-0">
            <a:extLst>
              <a:ext uri="{FF2B5EF4-FFF2-40B4-BE49-F238E27FC236}">
                <ns2:creationId id="{C5B02E29-2119-46EB-BD19-CB742361CDA2}"/>
              </a:ext>
            </a:extLst>
          </p:cNvPr>
          <p:cNvSpPr>
            <a:spLocks noGrp="1"/>
          </p:cNvSpPr>
          <p:nvPr/>
        </p:nvSpPr>
        <p:spPr>
          <a:xfrm>
            <a:off x="1219200" y="7724775"/>
            <a:ext cx="4229100" cy="14288"/>
          </a:xfrm>
          <a:prstGeom prst="rect">
            <a:avLst/>
          </a:prstGeom>
          <a:solidFill>
            <a:srgbClr val="D4DBE4"/>
          </a:solidFill>
          <a:ln w="0">
            <a:noFill/>
          </a:ln>
        </p:spPr>
      </p:sp>
      <p:sp>
        <p:nvSpPr>
          <p:cNvPr id="8" name="need-copy-b-0">
            <a:extLst>
              <a:ext uri="{FF2B5EF4-FFF2-40B4-BE49-F238E27FC236}">
                <ns2:creationId id="{691F5EEB-8FCA-4858-93F2-25D0764B36B5}"/>
              </a:ext>
            </a:extLst>
          </p:cNvPr>
          <p:cNvSpPr>
            <a:spLocks noGrp="1"/>
          </p:cNvSpPr>
          <p:nvPr/>
        </p:nvSpPr>
        <p:spPr>
          <a:xfrm>
            <a:off x="876300" y="7877175"/>
            <a:ext cx="491490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대화와 업무의 관계 유지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9" name="need-quality-0">
            <a:extLst>
              <a:ext uri="{FF2B5EF4-FFF2-40B4-BE49-F238E27FC236}">
                <ns2:creationId id="{5EE3CEFC-9D81-4274-AAD4-EDA50092C9AD}"/>
              </a:ext>
            </a:extLst>
          </p:cNvPr>
          <p:cNvSpPr>
            <a:spLocks noGrp="1"/>
          </p:cNvSpPr>
          <p:nvPr/>
        </p:nvSpPr>
        <p:spPr>
          <a:xfrm>
            <a:off x="819150" y="8829675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ECCD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응답 지연 최소화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0" name="need-panel-1">
            <a:extLst>
              <a:ext uri="{FF2B5EF4-FFF2-40B4-BE49-F238E27FC236}">
                <ns2:creationId id="{7126B503-31FB-4381-ACD0-24F59ADCB63D}"/>
              </a:ext>
            </a:extLst>
          </p:cNvPr>
          <p:cNvSpPr>
            <a:spLocks noGrp="1"/>
          </p:cNvSpPr>
          <p:nvPr/>
        </p:nvSpPr>
        <p:spPr>
          <a:xfrm>
            <a:off x="6381750" y="1781175"/>
            <a:ext cx="5524500" cy="7667625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4288">
            <a:solidFill>
              <a:srgbClr val="D4DBE4"/>
            </a:solidFill>
          </a:ln>
        </p:spPr>
      </p:sp>
      <p:sp>
        <p:nvSpPr>
          <p:cNvPr id="11" name="need-heading-1">
            <a:extLst>
              <a:ext uri="{FF2B5EF4-FFF2-40B4-BE49-F238E27FC236}">
                <ns2:creationId id="{7A6F5658-CC83-4869-AABD-C6198D688E84}"/>
              </a:ext>
            </a:extLst>
          </p:cNvPr>
          <p:cNvSpPr>
            <a:spLocks noGrp="1"/>
          </p:cNvSpPr>
          <p:nvPr/>
        </p:nvSpPr>
        <p:spPr>
          <a:xfrm>
            <a:off x="6477000" y="1457325"/>
            <a:ext cx="533400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사용자 맥락의 정확한 이해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pic>
        <p:nvPicPr>
          <p:cNvPr id="12" name="">
            <a:extLst>
              <a:ext uri="{FF2B5EF4-FFF2-40B4-BE49-F238E27FC236}">
                <ns2:creationId id="{10227242-6881-4DF5-BA90-D919886CF68E}"/>
              </a:ext>
            </a:extLst>
          </p:cNvPr>
          <p:cNvPicPr>
            <a:picLocks noChangeAspect="1"/>
          </p:cNvPicPr>
          <p:nvPr/>
        </p:nvPicPr>
        <p:blipFill>
          <a:blip r:embed="R771928730c4b42f7"/>
          <a:stretch/>
        </p:blipFill>
        <p:spPr>
          <a:xfrm>
            <a:off x="7048500" y="2552700"/>
            <a:ext cx="4191000" cy="4191000"/>
          </a:xfrm>
          <a:prstGeom prst="rect">
            <a:avLst/>
          </a:prstGeom>
        </p:spPr>
      </p:pic>
      <p:sp>
        <p:nvSpPr>
          <p:cNvPr id="13" name="need-copy-a-1">
            <a:extLst>
              <a:ext uri="{FF2B5EF4-FFF2-40B4-BE49-F238E27FC236}">
                <ns2:creationId id="{B71B460A-687E-4B93-BB38-0EDE5D8719AA}"/>
              </a:ext>
            </a:extLst>
          </p:cNvPr>
          <p:cNvSpPr>
            <a:spLocks noGrp="1"/>
          </p:cNvSpPr>
          <p:nvPr/>
        </p:nvSpPr>
        <p:spPr>
          <a:xfrm>
            <a:off x="6686550" y="6696075"/>
            <a:ext cx="491490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음성과 화면 정보의 결합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4" name="need-copy-rule-1">
            <a:extLst>
              <a:ext uri="{FF2B5EF4-FFF2-40B4-BE49-F238E27FC236}">
                <ns2:creationId id="{28F92E0A-6C81-484C-B481-FA1BBCD0864C}"/>
              </a:ext>
            </a:extLst>
          </p:cNvPr>
          <p:cNvSpPr>
            <a:spLocks noGrp="1"/>
          </p:cNvSpPr>
          <p:nvPr/>
        </p:nvSpPr>
        <p:spPr>
          <a:xfrm>
            <a:off x="7029450" y="7724775"/>
            <a:ext cx="4229100" cy="14288"/>
          </a:xfrm>
          <a:prstGeom prst="rect">
            <a:avLst/>
          </a:prstGeom>
          <a:solidFill>
            <a:srgbClr val="D4DBE4"/>
          </a:solidFill>
          <a:ln w="0">
            <a:noFill/>
          </a:ln>
        </p:spPr>
      </p:sp>
      <p:sp>
        <p:nvSpPr>
          <p:cNvPr id="15" name="need-copy-b-1">
            <a:extLst>
              <a:ext uri="{FF2B5EF4-FFF2-40B4-BE49-F238E27FC236}">
                <ns2:creationId id="{5E5989A6-3A13-42A1-9083-F3854205EC62}"/>
              </a:ext>
            </a:extLst>
          </p:cNvPr>
          <p:cNvSpPr>
            <a:spLocks noGrp="1"/>
          </p:cNvSpPr>
          <p:nvPr/>
        </p:nvSpPr>
        <p:spPr>
          <a:xfrm>
            <a:off x="6686550" y="7877175"/>
            <a:ext cx="491490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과거 대화와 업무 이력의 활용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6" name="need-quality-1">
            <a:extLst>
              <a:ext uri="{FF2B5EF4-FFF2-40B4-BE49-F238E27FC236}">
                <ns2:creationId id="{7BF40919-2BEA-469B-BD46-66B575503CA6}"/>
              </a:ext>
            </a:extLst>
          </p:cNvPr>
          <p:cNvSpPr>
            <a:spLocks noGrp="1"/>
          </p:cNvSpPr>
          <p:nvPr/>
        </p:nvSpPr>
        <p:spPr>
          <a:xfrm>
            <a:off x="6629400" y="8829675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ECCD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사용자 의도와 지칭의 정확성 확보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17" name="need-panel-2">
            <a:extLst>
              <a:ext uri="{FF2B5EF4-FFF2-40B4-BE49-F238E27FC236}">
                <ns2:creationId id="{540F847D-05B8-40F9-B523-EF03E0F045EB}"/>
              </a:ext>
            </a:extLst>
          </p:cNvPr>
          <p:cNvSpPr>
            <a:spLocks noGrp="1"/>
          </p:cNvSpPr>
          <p:nvPr/>
        </p:nvSpPr>
        <p:spPr>
          <a:xfrm>
            <a:off x="12192000" y="1781175"/>
            <a:ext cx="5524500" cy="7667625"/>
          </a:xfrm>
          <a:prstGeom prst="roundRect">
            <a:avLst>
              <a:gd name="adj" fmla="val 1379"/>
            </a:avLst>
          </a:prstGeom>
          <a:solidFill>
            <a:srgbClr val="FFFFFF"/>
          </a:solidFill>
          <a:ln w="14288">
            <a:solidFill>
              <a:srgbClr val="D4DBE4"/>
            </a:solidFill>
          </a:ln>
        </p:spPr>
      </p:sp>
      <p:sp>
        <p:nvSpPr>
          <p:cNvPr id="18" name="need-heading-2">
            <a:extLst>
              <a:ext uri="{FF2B5EF4-FFF2-40B4-BE49-F238E27FC236}">
                <ns2:creationId id="{444FACC1-BEA0-4438-8F30-E23DD1E81A1C}"/>
              </a:ext>
            </a:extLst>
          </p:cNvPr>
          <p:cNvSpPr>
            <a:spLocks noGrp="1"/>
          </p:cNvSpPr>
          <p:nvPr/>
        </p:nvSpPr>
        <p:spPr>
          <a:xfrm>
            <a:off x="12287250" y="1457325"/>
            <a:ext cx="5334000" cy="628650"/>
          </a:xfrm>
          <a:prstGeom prst="roundRect">
            <a:avLst>
              <a:gd name="adj" fmla="val 12121"/>
            </a:avLst>
          </a:prstGeom>
          <a:solidFill>
            <a:srgbClr val="082759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지속적인 서비스 제공과 확장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pic>
        <p:nvPicPr>
          <p:cNvPr id="19" name="">
            <a:extLst>
              <a:ext uri="{FF2B5EF4-FFF2-40B4-BE49-F238E27FC236}">
                <ns2:creationId id="{98A4D0B1-3E6B-4129-A295-C589BA6CF660}"/>
              </a:ext>
            </a:extLst>
          </p:cNvPr>
          <p:cNvPicPr>
            <a:picLocks noChangeAspect="1"/>
          </p:cNvPicPr>
          <p:nvPr/>
        </p:nvPicPr>
        <p:blipFill>
          <a:blip r:embed="R5dc4af8e07de4039"/>
          <a:stretch/>
        </p:blipFill>
        <p:spPr>
          <a:xfrm>
            <a:off x="12858750" y="2552700"/>
            <a:ext cx="4191000" cy="4191000"/>
          </a:xfrm>
          <a:prstGeom prst="rect">
            <a:avLst/>
          </a:prstGeom>
        </p:spPr>
      </p:pic>
      <p:sp>
        <p:nvSpPr>
          <p:cNvPr id="20" name="need-copy-a-2">
            <a:extLst>
              <a:ext uri="{FF2B5EF4-FFF2-40B4-BE49-F238E27FC236}">
                <ns2:creationId id="{67A67526-2709-4CDC-9A70-E16A33E280F2}"/>
              </a:ext>
            </a:extLst>
          </p:cNvPr>
          <p:cNvSpPr>
            <a:spLocks noGrp="1"/>
          </p:cNvSpPr>
          <p:nvPr/>
        </p:nvSpPr>
        <p:spPr>
          <a:xfrm>
            <a:off x="12496800" y="6696075"/>
            <a:ext cx="4914900" cy="8667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모델 비용과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3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PC 메모리 부담 최소화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1" name="need-copy-rule-2">
            <a:extLst>
              <a:ext uri="{FF2B5EF4-FFF2-40B4-BE49-F238E27FC236}">
                <ns2:creationId id="{40C275D1-6ED0-4342-9084-B6CED5B70237}"/>
              </a:ext>
            </a:extLst>
          </p:cNvPr>
          <p:cNvSpPr>
            <a:spLocks noGrp="1"/>
          </p:cNvSpPr>
          <p:nvPr/>
        </p:nvSpPr>
        <p:spPr>
          <a:xfrm>
            <a:off x="12839700" y="7724775"/>
            <a:ext cx="4229100" cy="14288"/>
          </a:xfrm>
          <a:prstGeom prst="rect">
            <a:avLst/>
          </a:prstGeom>
          <a:solidFill>
            <a:srgbClr val="D4DBE4"/>
          </a:solidFill>
          <a:ln w="0">
            <a:noFill/>
          </a:ln>
        </p:spPr>
      </p:sp>
      <p:sp>
        <p:nvSpPr>
          <p:cNvPr id="22" name="need-copy-b-2">
            <a:extLst>
              <a:ext uri="{FF2B5EF4-FFF2-40B4-BE49-F238E27FC236}">
                <ns2:creationId id="{309264CD-2E64-41E8-AB86-259781570284}"/>
              </a:ext>
            </a:extLst>
          </p:cNvPr>
          <p:cNvSpPr>
            <a:spLocks noGrp="1"/>
          </p:cNvSpPr>
          <p:nvPr/>
        </p:nvSpPr>
        <p:spPr>
          <a:xfrm>
            <a:off x="12496800" y="7877175"/>
            <a:ext cx="4914900" cy="7715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모델 및 Agent 변경에 대한</a:t>
            </a:r>
            <a:endParaRPr lang="ko-KR">
              <a:latin typeface="Calibri"/>
              <a:ea typeface="Calibri"/>
              <a:cs typeface="Calibri"/>
            </a:endParaRPr>
          </a:p>
          <a:p>
            <a:pPr algn="ctr">
              <a:def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200" b="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수정 범위 최소화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3" name="need-quality-2">
            <a:extLst>
              <a:ext uri="{FF2B5EF4-FFF2-40B4-BE49-F238E27FC236}">
                <ns2:creationId id="{CFDA00CB-CE21-4EFB-ACEA-020B3DFAE95F}"/>
              </a:ext>
            </a:extLst>
          </p:cNvPr>
          <p:cNvSpPr>
            <a:spLocks noGrp="1"/>
          </p:cNvSpPr>
          <p:nvPr/>
        </p:nvSpPr>
        <p:spPr>
          <a:xfrm>
            <a:off x="12439650" y="8829675"/>
            <a:ext cx="5029200" cy="438150"/>
          </a:xfrm>
          <a:prstGeom prst="roundRect">
            <a:avLst>
              <a:gd name="adj" fmla="val 17391"/>
            </a:avLst>
          </a:prstGeom>
          <a:solidFill>
            <a:srgbClr val="DDECCD"/>
          </a:solidFill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2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운영 부담과 변경 비용 절감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4" name="v6-header-title">
            <a:extLst>
              <a:ext uri="{FF2B5EF4-FFF2-40B4-BE49-F238E27FC236}">
                <ns2:creationId id="{0FD03E68-3227-4B61-9F4B-650A6CF284A3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10191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과제 소개 | 과제 필요성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5" name="v6-header-rule">
            <a:extLst>
              <a:ext uri="{FF2B5EF4-FFF2-40B4-BE49-F238E27FC236}">
                <ns2:creationId id="{0B1EB211-BD2B-4FBD-A94D-98D67C2B6BAB}"/>
              </a:ext>
            </a:extLst>
          </p:cNvPr>
          <p:cNvSpPr>
            <a:spLocks noGrp="1"/>
          </p:cNvSpPr>
          <p:nvPr/>
        </p:nvSpPr>
        <p:spPr>
          <a:xfrm>
            <a:off x="495300" y="990600"/>
            <a:ext cx="17335500" cy="0"/>
          </a:xfrm>
          <a:prstGeom prst="line">
            <a:avLst/>
          </a:prstGeom>
          <a:noFill/>
          <a:ln w="19050">
            <a:solidFill>
              <a:srgbClr val="A6A6A6"/>
            </a:solidFill>
          </a:ln>
        </p:spPr>
      </p:sp>
      <p:sp>
        <p:nvSpPr>
          <p:cNvPr id="26" name="v6-header-stage-0">
            <a:extLst>
              <a:ext uri="{FF2B5EF4-FFF2-40B4-BE49-F238E27FC236}">
                <ns2:creationId id="{7FC695F8-E044-4C5D-85D0-ACF6260898B6}"/>
              </a:ext>
            </a:extLst>
          </p:cNvPr>
          <p:cNvSpPr>
            <a:spLocks noGrp="1"/>
          </p:cNvSpPr>
          <p:nvPr/>
        </p:nvSpPr>
        <p:spPr>
          <a:xfrm>
            <a:off x="108585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3AAFD0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 소개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7" name="v6-header-stage-1">
            <a:extLst>
              <a:ext uri="{FF2B5EF4-FFF2-40B4-BE49-F238E27FC236}">
                <ns2:creationId id="{367A31A7-07B2-4DE2-8C38-FD8BA4C1552C}"/>
              </a:ext>
            </a:extLst>
          </p:cNvPr>
          <p:cNvSpPr>
            <a:spLocks noGrp="1"/>
          </p:cNvSpPr>
          <p:nvPr/>
        </p:nvSpPr>
        <p:spPr>
          <a:xfrm>
            <a:off x="1224915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요구사항 분석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8" name="v6-header-stage-2">
            <a:extLst>
              <a:ext uri="{FF2B5EF4-FFF2-40B4-BE49-F238E27FC236}">
                <ns2:creationId id="{2CBD9E48-DFB3-44B1-A7E8-5BF73BDAFA3B}"/>
              </a:ext>
            </a:extLst>
          </p:cNvPr>
          <p:cNvSpPr>
            <a:spLocks noGrp="1"/>
          </p:cNvSpPr>
          <p:nvPr/>
        </p:nvSpPr>
        <p:spPr>
          <a:xfrm>
            <a:off x="136398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설계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29" name="v6-header-stage-3">
            <a:extLst>
              <a:ext uri="{FF2B5EF4-FFF2-40B4-BE49-F238E27FC236}">
                <ns2:creationId id="{EC76A86E-350D-464A-931D-C6BB21312E26}"/>
              </a:ext>
            </a:extLst>
          </p:cNvPr>
          <p:cNvSpPr>
            <a:spLocks noGrp="1"/>
          </p:cNvSpPr>
          <p:nvPr/>
        </p:nvSpPr>
        <p:spPr>
          <a:xfrm>
            <a:off x="1503045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검토 요약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0" name="v6-header-stage-4">
            <a:extLst>
              <a:ext uri="{FF2B5EF4-FFF2-40B4-BE49-F238E27FC236}">
                <ns2:creationId id="{C0746345-3919-4F2A-8BF6-FE9593319085}"/>
              </a:ext>
            </a:extLst>
          </p:cNvPr>
          <p:cNvSpPr>
            <a:spLocks noGrp="1"/>
          </p:cNvSpPr>
          <p:nvPr/>
        </p:nvSpPr>
        <p:spPr>
          <a:xfrm>
            <a:off x="16421100" y="266700"/>
            <a:ext cx="1504950" cy="419100"/>
          </a:xfrm>
          <a:prstGeom prst="chevron">
            <a:avLst>
              <a:gd name="adj" fmla="val 18000"/>
            </a:avLst>
          </a:prstGeom>
          <a:solidFill>
            <a:srgbClr val="96989A"/>
          </a:solidFill>
          <a:ln w="19050">
            <a:solidFill>
              <a:srgbClr val="FFFFFF"/>
            </a:solidFill>
          </a:ln>
        </p:spPr>
        <p:txBody>
          <a:bodyPr lIns="180975" tIns="0" rIns="161925" bIns="0" anchor="ctr">
            <a:noAutofit/>
          </a:bodyPr>
          <a:lstStyle/>
          <a:p>
            <a:pPr algn="ctr">
              <a:def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00" b="1" lang="ko-KR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Appendix</a:t>
            </a:r>
            <a:endParaRPr lang="ko-KR">
              <a:latin typeface="Calibri"/>
              <a:ea typeface="Calibri"/>
              <a:cs typeface="Calibri"/>
            </a:endParaRPr>
          </a:p>
        </p:txBody>
      </p:sp>
      <p:sp>
        <p:nvSpPr>
          <p:cNvPr id="31" name="v6-header-page">
            <a:extLst>
              <a:ext uri="{FF2B5EF4-FFF2-40B4-BE49-F238E27FC236}">
                <ns2:creationId id="{7E6D0068-28BB-4E17-A047-C442BFFCE190}"/>
              </a:ext>
            </a:extLst>
          </p:cNvPr>
          <p:cNvSpPr>
            <a:spLocks noGrp="1"/>
          </p:cNvSpPr>
          <p:nvPr/>
        </p:nvSpPr>
        <p:spPr>
          <a:xfrm>
            <a:off x="16668750" y="733425"/>
            <a:ext cx="11430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000" lang="ko-KR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1000" lang="ko-KR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2 / 2</a:t>
            </a:r>
            <a:endParaRPr lang="ko-KR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val="3409315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Calibri"/>
        <a:ea typeface="Calibri"/>
        <a:cs typeface="Calibri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0</ns0:Slides>
  <ns0:Notes>0</ns0:Notes>
  <ns0:HiddenSlides>0</ns0:HiddenSlides>
  <ns0:SharedDoc>false</ns0:SharedDoc>
  <ns0:DocSecurity>0</ns0:DocSecurity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creator>Walnut Exporter</dc:creator>
  <ns0:lastModifiedBy>Walnut Exporter</ns0:lastModifiedBy>
  <dc:title>Presentation</dc:title>
  <ns2:created xsi:type="dcterms:W3CDTF">2026-10-14T13:50:32.5120000Z</ns2:created>
  <ns2:modified xsi:type="dcterms:W3CDTF">2026-10-14T13:50:32.5120000Z</ns2:modified>
  <dc:language>ko-KR</dc:language>
</ns0:coreProperties>
</file>