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172d661e0b34225" /><Relationship Type="http://schemas.openxmlformats.org/officeDocument/2006/relationships/extended-properties" Target="/docProps/app.xml" Id="Race4d626b2714b98" /><Relationship Type="http://schemas.openxmlformats.org/officeDocument/2006/relationships/officeDocument" Target="/ppt/presentation.xml" Id="Reb16114505564ae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4abb7e53fc24b3b"/>
  </p:sldMasterIdLst>
  <p:notesMasterIdLst>
    <p:notesMasterId xmlns:r="http://schemas.openxmlformats.org/officeDocument/2006/relationships" r:id="Re690330db15d42e0"/>
  </p:notesMasterIdLst>
  <p:sldIdLst>
    <p:sldId xmlns:r="http://schemas.openxmlformats.org/officeDocument/2006/relationships" id="256" r:id="R809b44086a084107"/>
    <p:sldId xmlns:r="http://schemas.openxmlformats.org/officeDocument/2006/relationships" id="257" r:id="Re615251cd6ee4122"/>
    <p:sldId xmlns:r="http://schemas.openxmlformats.org/officeDocument/2006/relationships" id="258" r:id="R933cac64fb0e4896"/>
    <p:sldId xmlns:r="http://schemas.openxmlformats.org/officeDocument/2006/relationships" id="259" r:id="Rf3a6b1ea430342c0"/>
    <p:sldId xmlns:r="http://schemas.openxmlformats.org/officeDocument/2006/relationships" id="260" r:id="R2b784d8f0ed34856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9d4afcecfad4d2c" /><Relationship Type="http://schemas.openxmlformats.org/officeDocument/2006/relationships/slideMaster" Target="/ppt/slideMasters/slideMaster1.xml" Id="Rf4abb7e53fc24b3b" /><Relationship Type="http://schemas.openxmlformats.org/officeDocument/2006/relationships/notesMaster" Target="/ppt/notesMasters/notesMaster1.xml" Id="Re690330db15d42e0" /><Relationship Type="http://schemas.openxmlformats.org/officeDocument/2006/relationships/presProps" Target="/ppt/presProps.xml" Id="R6d96e6bb7a0d4616" /><Relationship Type="http://schemas.openxmlformats.org/officeDocument/2006/relationships/tableStyles" Target="/ppt/tableStyles.xml" Id="R255aed8ae1a642c4" /><Relationship Type="http://schemas.openxmlformats.org/officeDocument/2006/relationships/slide" Target="/ppt/slides/slide1.xml" Id="R809b44086a084107" /><Relationship Type="http://schemas.openxmlformats.org/officeDocument/2006/relationships/slide" Target="/ppt/slides/slide2.xml" Id="Re615251cd6ee4122" /><Relationship Type="http://schemas.openxmlformats.org/officeDocument/2006/relationships/slide" Target="/ppt/slides/slide3.xml" Id="R933cac64fb0e4896" /><Relationship Type="http://schemas.openxmlformats.org/officeDocument/2006/relationships/slide" Target="/ppt/slides/slide4.xml" Id="Rf3a6b1ea430342c0" /><Relationship Type="http://schemas.openxmlformats.org/officeDocument/2006/relationships/slide" Target="/ppt/slides/slide5.xml" Id="R2b784d8f0ed3485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8ab576de9ec438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f35cb8e3eac4901" /><Relationship Type="http://schemas.openxmlformats.org/officeDocument/2006/relationships/notesMaster" Target="/ppt/notesMasters/notesMaster1.xml" Id="R7e83dc8311884de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246add1a3204ad0" /><Relationship Type="http://schemas.openxmlformats.org/officeDocument/2006/relationships/notesMaster" Target="/ppt/notesMasters/notesMaster1.xml" Id="Rd2eda097e7d94c3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4ba70bf4c964293" /><Relationship Type="http://schemas.openxmlformats.org/officeDocument/2006/relationships/notesMaster" Target="/ppt/notesMasters/notesMaster1.xml" Id="R83d68aa248ce433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1c795262a2c4280" /><Relationship Type="http://schemas.openxmlformats.org/officeDocument/2006/relationships/notesMaster" Target="/ppt/notesMasters/notesMaster1.xml" Id="R942222d6b0f7434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aaee19e82584373" /><Relationship Type="http://schemas.openxmlformats.org/officeDocument/2006/relationships/notesMaster" Target="/ppt/notesMasters/notesMaster1.xml" Id="Rb6e7f5c194914cc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04-41. VIA 사용자 요청 이해 설계</a:t>
            </a:r>
          </a:p>
          <a:p xmlns:a="http://schemas.openxmlformats.org/drawingml/2006/main">
            <a:r>
              <a:t>https://github.com/cbyche/via-sw-architecture/blob/main/docs/architecture/12-decisions/decision-packages/04-41-request-resolution-control.md</a:t>
            </a:r>
          </a:p>
          <a:p xmlns:a="http://schemas.openxmlformats.org/drawingml/2006/main">
            <a:r>
              <a:t>https://github.com/cbyche/via-sw-architecture/blob/main/docs/architecture/12-decisions/decision-packages/diagrams/dp41-background.svg</a:t>
            </a:r>
          </a:p>
          <a:p xmlns:a="http://schemas.openxmlformats.org/drawingml/2006/main">
            <a:r>
              <a:t>공통 문제와 설계 고려 사항의 배경이며 특정 설계안의 선택을 뜻하지 않는다.</a:t>
            </a:r>
          </a:p>
          <a:p xmlns:a="http://schemas.openxmlformats.org/drawingml/2006/main">
            <a:r>
              <a:t>Task1은 예산 보고서, Task2는 실적 보고서 업무다. 선택한 표와 이전 업무 두 후보가 있으므로 아까라는 표현만으로 정답을 미리 결정하지 않는다. 보고서 수정 결과를 메일 초안에 사용하고 메일은 보내지 않는 조건을 유지한다. 보고서 수정과 메일 작성은 외부 업무 수행 Agent가 맡는다.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04-42. 변경 용이성을 위한 VIA Conversation과 Task 관리 설계</a:t>
            </a:r>
          </a:p>
          <a:p xmlns:a="http://schemas.openxmlformats.org/drawingml/2006/main">
            <a:r>
              <a:t>https://github.com/cbyche/via-sw-architecture/blob/main/docs/architecture/12-decisions/decision-packages/04-42-lifecycle-ownership.md</a:t>
            </a:r>
          </a:p>
          <a:p xmlns:a="http://schemas.openxmlformats.org/drawingml/2006/main">
            <a:r>
              <a:t>https://github.com/cbyche/via-sw-architecture/blob/main/docs/architecture/12-decisions/decision-packages/diagrams/dp42-background.svg</a:t>
            </a:r>
          </a:p>
          <a:p xmlns:a="http://schemas.openxmlformats.org/drawingml/2006/main">
            <a:r>
              <a:t>공통 문제와 설계 고려 사항의 배경이며 특정 설계안의 선택을 뜻하지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04-43. 기능 정확성을 위한 VIA Request 의미 판단 설계</a:t>
            </a:r>
          </a:p>
          <a:p xmlns:a="http://schemas.openxmlformats.org/drawingml/2006/main">
            <a:r>
              <a:t>https://github.com/cbyche/via-sw-architecture/blob/main/docs/architecture/12-decisions/decision-packages/04-43-request-interpretation.md</a:t>
            </a:r>
          </a:p>
          <a:p xmlns:a="http://schemas.openxmlformats.org/drawingml/2006/main">
            <a:r>
              <a:t>https://github.com/cbyche/via-sw-architecture/blob/main/docs/architecture/12-decisions/decision-packages/diagrams/dp43-background.svg</a:t>
            </a:r>
          </a:p>
          <a:p xmlns:a="http://schemas.openxmlformats.org/drawingml/2006/main">
            <a:r>
              <a:t>공통 문제와 설계 고려 사항의 배경이며 특정 설계안의 선택을 뜻하지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04-44. 반응성을 위한 VIA 지속 입력과 Response 전달 설계</a:t>
            </a:r>
          </a:p>
          <a:p xmlns:a="http://schemas.openxmlformats.org/drawingml/2006/main">
            <a:r>
              <a:t>https://github.com/cbyche/via-sw-architecture/blob/main/docs/architecture/12-decisions/decision-packages/04-44-continuous-interaction.md</a:t>
            </a:r>
          </a:p>
          <a:p xmlns:a="http://schemas.openxmlformats.org/drawingml/2006/main">
            <a:r>
              <a:t>https://github.com/cbyche/via-sw-architecture/blob/main/docs/architecture/12-decisions/decision-packages/diagrams/dp44-background.svg</a:t>
            </a:r>
          </a:p>
          <a:p xmlns:a="http://schemas.openxmlformats.org/drawingml/2006/main">
            <a:r>
              <a:t>공통 문제와 설계 고려 사항의 배경이며 특정 설계안의 선택을 뜻하지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04-45. 기능 정확성을 위한 VIA 기억과 Context 제공 설계</a:t>
            </a:r>
          </a:p>
          <a:p xmlns:a="http://schemas.openxmlformats.org/drawingml/2006/main">
            <a:r>
              <a:t>https://github.com/cbyche/via-sw-architecture/blob/main/docs/architecture/12-decisions/decision-packages/04-45-memory-and-context.md</a:t>
            </a:r>
          </a:p>
          <a:p xmlns:a="http://schemas.openxmlformats.org/drawingml/2006/main">
            <a:r>
              <a:t>https://github.com/cbyche/via-sw-architecture/blob/main/docs/architecture/12-decisions/decision-packages/diagrams/dp45-background.svg</a:t>
            </a:r>
          </a:p>
          <a:p xmlns:a="http://schemas.openxmlformats.org/drawingml/2006/main">
            <a:r>
              <a:t>공통 문제와 설계 고려 사항의 배경이며 특정 설계안의 선택을 뜻하지 않는다.</a:t>
            </a:r>
          </a:p>
          <a:p xmlns:a="http://schemas.openxmlformats.org/drawingml/2006/main">
            <a:r>
              <a:t>공통 사례: C20/E20 VIA 직접 평가 기준 설명과 실제 전달 P20, C21/T21/D21@v2 제품 비교, C22/T22/D22@v1 견적. 현재 C23/R23의 제안서 작성 Task T23 연결은 현재 해석/채택의 결과다. VIA는 허용된 발췌와 참조를 연결하고, 평가 기준 적용과 제안서 작성은 Downstream Agent가 수행한다. 결과 참조는 본문 전체 보관을 뜻하지 않으며 Agent 내부 reasoning/모든 tool 기록은 전제하지 않는다.</a:t>
            </a:r>
          </a:p>
          <a:p xmlns:a="http://schemas.openxmlformats.org/drawingml/2006/main">
            <a:r>
              <a:t>A의 요약/index/cache/관계 cache/부분 갱신/병렬 조회와 기존 Agent 실행 맥락 재사용을 허용한다. B의 과거 관계는 검증/게시 범위만 읽고 원본 확인, 미게시/표현 미지원, 오류/갱신/삭제와 생산 비용을 유지한다. R23의 정답 관계를 미리 게시하지 않는다. 필요성과 사례 보완이며 최종 DP/A/B 선정 또는 새 사례의 품질 검증이 아니다. 기존 수치와 점수는 동일한 형식 예시다.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372150417c449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05467a4781f4d4b" /><Relationship Type="http://schemas.openxmlformats.org/officeDocument/2006/relationships/slideLayout" Target="/ppt/slideLayouts/slideLayout1.xml" Id="R2238df72b93a472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238df72b93a472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d37f88c8234a8f" /><Relationship Type="http://schemas.openxmlformats.org/officeDocument/2006/relationships/notesSlide" Target="/ppt/notesSlides/notesSlide1.xml" Id="R4769dcafb252411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cc19c8f10d43dd" /><Relationship Type="http://schemas.openxmlformats.org/officeDocument/2006/relationships/notesSlide" Target="/ppt/notesSlides/notesSlide2.xml" Id="Rd25b792f066d43c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00be684ac3439e" /><Relationship Type="http://schemas.openxmlformats.org/officeDocument/2006/relationships/notesSlide" Target="/ppt/notesSlides/notesSlide3.xml" Id="R6864a7510775427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afdf565b434358" /><Relationship Type="http://schemas.openxmlformats.org/officeDocument/2006/relationships/notesSlide" Target="/ppt/notesSlides/notesSlide4.xml" Id="Rb7bc419091164d8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832a0787e742cb" /><Relationship Type="http://schemas.openxmlformats.org/officeDocument/2006/relationships/notesSlide" Target="/ppt/notesSlides/notesSlide5.xml" Id="R28abf1611cac4b3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3" name="dp41-background / n1">
            <a:extLst xmlns:a="http://schemas.openxmlformats.org/drawingml/2006/main">
              <a:ext uri="{FF2B5EF4-FFF2-40B4-BE49-F238E27FC236}">
                <a16:creationId xmlns:a16="http://schemas.microsoft.com/office/drawing/2014/main" id="{C0B6FD8D-8C7E-4DC0-8BE3-05A70BE45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1-background / n2 / text 1">
            <a:extLst xmlns:a="http://schemas.openxmlformats.org/drawingml/2006/main">
              <a:ext uri="{FF2B5EF4-FFF2-40B4-BE49-F238E27FC236}">
                <a16:creationId xmlns:a16="http://schemas.microsoft.com/office/drawing/2014/main" id="{C868520A-840C-4869-9A5E-07035B82D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1190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배경</a:t>
            </a:r>
          </a:p>
        </p:txBody>
      </p:sp>
      <p:sp>
        <p:nvSpPr>
          <p:cNvPr id="3" name="dp41-background / n3 / text 1">
            <a:extLst xmlns:a="http://schemas.openxmlformats.org/drawingml/2006/main">
              <a:ext uri="{FF2B5EF4-FFF2-40B4-BE49-F238E27FC236}">
                <a16:creationId xmlns:a16="http://schemas.microsoft.com/office/drawing/2014/main" id="{30D3C83F-9EA0-42B5-909C-18E0AEE04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1400" y="238125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04-41</a:t>
            </a:r>
          </a:p>
        </p:txBody>
      </p:sp>
      <p:sp>
        <p:nvSpPr>
          <p:cNvPr id="4" name="dp41-background / n4 / text 1">
            <a:extLst xmlns:a="http://schemas.openxmlformats.org/drawingml/2006/main">
              <a:ext uri="{FF2B5EF4-FFF2-40B4-BE49-F238E27FC236}">
                <a16:creationId xmlns:a16="http://schemas.microsoft.com/office/drawing/2014/main" id="{A32C5DAC-3902-468B-8FA8-7DF82DCBD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695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04-41. VIA 사용자 요청 이해 설계</a:t>
            </a:r>
          </a:p>
        </p:txBody>
      </p:sp>
      <p:sp>
        <p:nvSpPr>
          <p:cNvPr id="5" name="dp41-background / n5 / path">
            <a:extLst xmlns:a="http://schemas.openxmlformats.org/drawingml/2006/main">
              <a:ext uri="{FF2B5EF4-FFF2-40B4-BE49-F238E27FC236}">
                <a16:creationId xmlns:a16="http://schemas.microsoft.com/office/drawing/2014/main" id="{91B0259E-C1F4-43CD-8D2E-206DD2A2A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1-background / n6">
            <a:extLst xmlns:a="http://schemas.openxmlformats.org/drawingml/2006/main">
              <a:ext uri="{FF2B5EF4-FFF2-40B4-BE49-F238E27FC236}">
                <a16:creationId xmlns:a16="http://schemas.microsoft.com/office/drawing/2014/main" id="{86B754AA-FC32-4CB6-BC07-C92EC3CE6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7068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p41-background / n7 / text 1">
            <a:extLst xmlns:a="http://schemas.openxmlformats.org/drawingml/2006/main">
              <a:ext uri="{FF2B5EF4-FFF2-40B4-BE49-F238E27FC236}">
                <a16:creationId xmlns:a16="http://schemas.microsoft.com/office/drawing/2014/main" id="{5EE2CB34-2899-4443-8F16-C817FD8DF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16725900" cy="497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선택한 표와 이전 보고서의 오연결 위험</a:t>
            </a:r>
          </a:p>
        </p:txBody>
      </p:sp>
      <p:sp>
        <p:nvSpPr>
          <p:cNvPr id="8" name="dp41-background / n8 / path">
            <a:extLst xmlns:a="http://schemas.openxmlformats.org/drawingml/2006/main">
              <a:ext uri="{FF2B5EF4-FFF2-40B4-BE49-F238E27FC236}">
                <a16:creationId xmlns:a16="http://schemas.microsoft.com/office/drawing/2014/main" id="{05EBD508-56FF-447B-AB51-C825C15CF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2686050"/>
            <a:ext cx="953" cy="5495925"/>
          </a:xfrm>
          <a:custGeom xmlns:a="http://schemas.openxmlformats.org/drawingml/2006/main">
            <a:pathLst>
              <a:path w="953" h="5495925">
                <a:moveTo>
                  <a:pt x="0" y="0"/>
                </a:moveTo>
                <a:lnTo>
                  <a:pt x="0" y="5495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9" name="dp41-background / n9 / text 1">
            <a:extLst xmlns:a="http://schemas.openxmlformats.org/drawingml/2006/main">
              <a:ext uri="{FF2B5EF4-FFF2-40B4-BE49-F238E27FC236}">
                <a16:creationId xmlns:a16="http://schemas.microsoft.com/office/drawing/2014/main" id="{0D5A8950-0EFB-4A87-A871-6612FF611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695575"/>
            <a:ext cx="56769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설계 고려 사항</a:t>
            </a:r>
          </a:p>
        </p:txBody>
      </p:sp>
      <p:sp>
        <p:nvSpPr>
          <p:cNvPr id="10" name="dp41-background / n10 / path">
            <a:extLst xmlns:a="http://schemas.openxmlformats.org/drawingml/2006/main">
              <a:ext uri="{FF2B5EF4-FFF2-40B4-BE49-F238E27FC236}">
                <a16:creationId xmlns:a16="http://schemas.microsoft.com/office/drawing/2014/main" id="{6426EDC2-F850-4641-9CBE-5ED87B8E3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58200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11" name="dp41-background / n11 / text 1">
            <a:extLst xmlns:a="http://schemas.openxmlformats.org/drawingml/2006/main">
              <a:ext uri="{FF2B5EF4-FFF2-40B4-BE49-F238E27FC236}">
                <a16:creationId xmlns:a16="http://schemas.microsoft.com/office/drawing/2014/main" id="{7E4B0802-00EF-4FAF-84CC-254020C9E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10625"/>
            <a:ext cx="1571625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설계 과제</a:t>
            </a:r>
          </a:p>
        </p:txBody>
      </p:sp>
      <p:sp>
        <p:nvSpPr>
          <p:cNvPr id="12" name="dp41-background / n12 / text 1">
            <a:extLst xmlns:a="http://schemas.openxmlformats.org/drawingml/2006/main">
              <a:ext uri="{FF2B5EF4-FFF2-40B4-BE49-F238E27FC236}">
                <a16:creationId xmlns:a16="http://schemas.microsoft.com/office/drawing/2014/main" id="{944E17CF-26CA-4C04-A213-EC191507A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8763000"/>
            <a:ext cx="15392400" cy="428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정보 조회와 의미 완성의 진행 책임 설계</a:t>
            </a:r>
          </a:p>
        </p:txBody>
      </p:sp>
      <p:sp>
        <p:nvSpPr>
          <p:cNvPr id="13" name="dp41-background / n13 / text 1">
            <a:extLst xmlns:a="http://schemas.openxmlformats.org/drawingml/2006/main">
              <a:ext uri="{FF2B5EF4-FFF2-40B4-BE49-F238E27FC236}">
                <a16:creationId xmlns:a16="http://schemas.microsoft.com/office/drawing/2014/main" id="{65E9DAEF-4039-40BE-B2FC-92B485276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58375"/>
            <a:ext cx="120015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품질 관점: 기능 정확성 / 기능 지원 범위 / 반응성</a:t>
            </a:r>
          </a:p>
        </p:txBody>
      </p:sp>
      <p:sp>
        <p:nvSpPr>
          <p:cNvPr id="14" name="dp41-background / n14 / text 1">
            <a:extLst xmlns:a="http://schemas.openxmlformats.org/drawingml/2006/main">
              <a:ext uri="{FF2B5EF4-FFF2-40B4-BE49-F238E27FC236}">
                <a16:creationId xmlns:a16="http://schemas.microsoft.com/office/drawing/2014/main" id="{E389A183-9EC7-4C8C-9BF3-96DFB2919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9858375"/>
            <a:ext cx="4572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후보 / 미선정 / 미측정</a:t>
            </a:r>
          </a:p>
        </p:txBody>
      </p:sp>
      <p:sp>
        <p:nvSpPr>
          <p:cNvPr id="15" name="dp41-background / n15 / text 1">
            <a:extLst xmlns:a="http://schemas.openxmlformats.org/drawingml/2006/main">
              <a:ext uri="{FF2B5EF4-FFF2-40B4-BE49-F238E27FC236}">
                <a16:creationId xmlns:a16="http://schemas.microsoft.com/office/drawing/2014/main" id="{FB6E1A85-AD78-479A-BB2D-F247447ED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28875"/>
            <a:ext cx="105727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“이 표를 아까 보고서에 넣고, 메일은 보내지 말고</a:t>
            </a:r>
          </a:p>
        </p:txBody>
      </p:sp>
      <p:sp>
        <p:nvSpPr>
          <p:cNvPr id="16" name="dp41-background / n15 / text 2">
            <a:extLst xmlns:a="http://schemas.openxmlformats.org/drawingml/2006/main">
              <a:ext uri="{FF2B5EF4-FFF2-40B4-BE49-F238E27FC236}">
                <a16:creationId xmlns:a16="http://schemas.microsoft.com/office/drawing/2014/main" id="{1EAFBE82-808C-41AC-B64A-16C778842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105727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결과를 바탕으로 초안만 만들어.”</a:t>
            </a:r>
          </a:p>
        </p:txBody>
      </p:sp>
      <p:sp>
        <p:nvSpPr>
          <p:cNvPr id="17" name="dp41-background / n16">
            <a:extLst xmlns:a="http://schemas.openxmlformats.org/drawingml/2006/main">
              <a:ext uri="{FF2B5EF4-FFF2-40B4-BE49-F238E27FC236}">
                <a16:creationId xmlns:a16="http://schemas.microsoft.com/office/drawing/2014/main" id="{B42C7AB7-F3BA-4EE7-8B85-21A585C75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10572750" cy="391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CF2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8" name="dp41-background / n17 / text 1">
            <a:extLst xmlns:a="http://schemas.openxmlformats.org/drawingml/2006/main">
              <a:ext uri="{FF2B5EF4-FFF2-40B4-BE49-F238E27FC236}">
                <a16:creationId xmlns:a16="http://schemas.microsoft.com/office/drawing/2014/main" id="{E01A3C19-8CBF-44D8-80A0-0C9C68D04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95650"/>
            <a:ext cx="98488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사용자 화면과 VIA 기록 / 설명용 가상 화면</a:t>
            </a:r>
          </a:p>
        </p:txBody>
      </p:sp>
      <p:sp>
        <p:nvSpPr>
          <p:cNvPr id="19" name="dp41-background / n18">
            <a:extLst xmlns:a="http://schemas.openxmlformats.org/drawingml/2006/main">
              <a:ext uri="{FF2B5EF4-FFF2-40B4-BE49-F238E27FC236}">
                <a16:creationId xmlns:a16="http://schemas.microsoft.com/office/drawing/2014/main" id="{D2F89509-00C3-401B-A637-2CD534EBB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05225"/>
            <a:ext cx="5410200" cy="317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0" name="dp41-background / n19 / text 1">
            <a:extLst xmlns:a="http://schemas.openxmlformats.org/drawingml/2006/main">
              <a:ext uri="{FF2B5EF4-FFF2-40B4-BE49-F238E27FC236}">
                <a16:creationId xmlns:a16="http://schemas.microsoft.com/office/drawing/2014/main" id="{74D372FF-8301-4862-B9DA-E35B9F951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67150"/>
            <a:ext cx="50482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매출 현황.xlsx</a:t>
            </a:r>
          </a:p>
        </p:txBody>
      </p:sp>
      <p:sp>
        <p:nvSpPr>
          <p:cNvPr id="21" name="dp41-background / n20 / text 1">
            <a:extLst xmlns:a="http://schemas.openxmlformats.org/drawingml/2006/main">
              <a:ext uri="{FF2B5EF4-FFF2-40B4-BE49-F238E27FC236}">
                <a16:creationId xmlns:a16="http://schemas.microsoft.com/office/drawing/2014/main" id="{71F108C1-B759-4052-A9C2-E260CCA8A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05300"/>
            <a:ext cx="5048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선택 범위 A1:D4</a:t>
            </a:r>
          </a:p>
        </p:txBody>
      </p:sp>
      <p:sp>
        <p:nvSpPr>
          <p:cNvPr id="22" name="dp41-background / n21">
            <a:extLst xmlns:a="http://schemas.openxmlformats.org/drawingml/2006/main">
              <a:ext uri="{FF2B5EF4-FFF2-40B4-BE49-F238E27FC236}">
                <a16:creationId xmlns:a16="http://schemas.microsoft.com/office/drawing/2014/main" id="{6E7A91AD-67F2-4ACC-AEF4-9C8DEC7C4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10125"/>
            <a:ext cx="50292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C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23" name="dp41-background / n22">
            <a:extLst xmlns:a="http://schemas.openxmlformats.org/drawingml/2006/main">
              <a:ext uri="{FF2B5EF4-FFF2-40B4-BE49-F238E27FC236}">
                <a16:creationId xmlns:a16="http://schemas.microsoft.com/office/drawing/2014/main" id="{3A5BEC2D-A182-45D9-BE07-C7FBA9539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10125"/>
            <a:ext cx="50292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dp41-background / n23 / path">
            <a:extLst xmlns:a="http://schemas.openxmlformats.org/drawingml/2006/main">
              <a:ext uri="{FF2B5EF4-FFF2-40B4-BE49-F238E27FC236}">
                <a16:creationId xmlns:a16="http://schemas.microsoft.com/office/drawing/2014/main" id="{F2C8FB0A-54A1-4543-8E8C-8C3713896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810125"/>
            <a:ext cx="953" cy="1638300"/>
          </a:xfrm>
          <a:custGeom xmlns:a="http://schemas.openxmlformats.org/drawingml/2006/main">
            <a:pathLst>
              <a:path w="953" h="1638300">
                <a:moveTo>
                  <a:pt x="0" y="0"/>
                </a:moveTo>
                <a:lnTo>
                  <a:pt x="0" y="16383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5" name="dp41-background / n24 / path">
            <a:extLst xmlns:a="http://schemas.openxmlformats.org/drawingml/2006/main">
              <a:ext uri="{FF2B5EF4-FFF2-40B4-BE49-F238E27FC236}">
                <a16:creationId xmlns:a16="http://schemas.microsoft.com/office/drawing/2014/main" id="{52B57D5B-AC3C-47C3-BFAF-B1DAE9178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810125"/>
            <a:ext cx="953" cy="1638300"/>
          </a:xfrm>
          <a:custGeom xmlns:a="http://schemas.openxmlformats.org/drawingml/2006/main">
            <a:pathLst>
              <a:path w="953" h="1638300">
                <a:moveTo>
                  <a:pt x="0" y="0"/>
                </a:moveTo>
                <a:lnTo>
                  <a:pt x="0" y="16383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6" name="dp41-background / n25 / path">
            <a:extLst xmlns:a="http://schemas.openxmlformats.org/drawingml/2006/main">
              <a:ext uri="{FF2B5EF4-FFF2-40B4-BE49-F238E27FC236}">
                <a16:creationId xmlns:a16="http://schemas.microsoft.com/office/drawing/2014/main" id="{DE47FC49-9BF7-4C81-87F9-930D84D5D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810125"/>
            <a:ext cx="953" cy="1638300"/>
          </a:xfrm>
          <a:custGeom xmlns:a="http://schemas.openxmlformats.org/drawingml/2006/main">
            <a:pathLst>
              <a:path w="953" h="1638300">
                <a:moveTo>
                  <a:pt x="0" y="0"/>
                </a:moveTo>
                <a:lnTo>
                  <a:pt x="0" y="16383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7" name="dp41-background / n26 / path">
            <a:extLst xmlns:a="http://schemas.openxmlformats.org/drawingml/2006/main">
              <a:ext uri="{FF2B5EF4-FFF2-40B4-BE49-F238E27FC236}">
                <a16:creationId xmlns:a16="http://schemas.microsoft.com/office/drawing/2014/main" id="{49BFD5AB-F04E-406A-8104-1B2F99267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19700"/>
            <a:ext cx="5029200" cy="953"/>
          </a:xfrm>
          <a:custGeom xmlns:a="http://schemas.openxmlformats.org/drawingml/2006/main">
            <a:pathLst>
              <a:path w="5029200" h="953">
                <a:moveTo>
                  <a:pt x="0" y="0"/>
                </a:moveTo>
                <a:lnTo>
                  <a:pt x="5029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8" name="dp41-background / n27 / path">
            <a:extLst xmlns:a="http://schemas.openxmlformats.org/drawingml/2006/main">
              <a:ext uri="{FF2B5EF4-FFF2-40B4-BE49-F238E27FC236}">
                <a16:creationId xmlns:a16="http://schemas.microsoft.com/office/drawing/2014/main" id="{B6323BED-63E9-42AE-9786-93E7EF7DD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629275"/>
            <a:ext cx="5029200" cy="953"/>
          </a:xfrm>
          <a:custGeom xmlns:a="http://schemas.openxmlformats.org/drawingml/2006/main">
            <a:pathLst>
              <a:path w="5029200" h="953">
                <a:moveTo>
                  <a:pt x="0" y="0"/>
                </a:moveTo>
                <a:lnTo>
                  <a:pt x="5029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29" name="dp41-background / n28 / path">
            <a:extLst xmlns:a="http://schemas.openxmlformats.org/drawingml/2006/main">
              <a:ext uri="{FF2B5EF4-FFF2-40B4-BE49-F238E27FC236}">
                <a16:creationId xmlns:a16="http://schemas.microsoft.com/office/drawing/2014/main" id="{ADDE65A5-4852-4DE6-989A-4FE4B8AB3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038850"/>
            <a:ext cx="5029200" cy="953"/>
          </a:xfrm>
          <a:custGeom xmlns:a="http://schemas.openxmlformats.org/drawingml/2006/main">
            <a:pathLst>
              <a:path w="5029200" h="953">
                <a:moveTo>
                  <a:pt x="0" y="0"/>
                </a:moveTo>
                <a:lnTo>
                  <a:pt x="5029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30" name="dp41-background / n29 / text 1">
            <a:extLst xmlns:a="http://schemas.openxmlformats.org/drawingml/2006/main">
              <a:ext uri="{FF2B5EF4-FFF2-40B4-BE49-F238E27FC236}">
                <a16:creationId xmlns:a16="http://schemas.microsoft.com/office/drawing/2014/main" id="{F9A115CE-B126-43A6-8ED4-8E92D4E8D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91490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항목</a:t>
            </a:r>
          </a:p>
        </p:txBody>
      </p:sp>
      <p:sp>
        <p:nvSpPr>
          <p:cNvPr id="31" name="dp41-background / n30 / text 1">
            <a:extLst xmlns:a="http://schemas.openxmlformats.org/drawingml/2006/main">
              <a:ext uri="{FF2B5EF4-FFF2-40B4-BE49-F238E27FC236}">
                <a16:creationId xmlns:a16="http://schemas.microsoft.com/office/drawing/2014/main" id="{69D9391B-A4A2-47AE-95FF-4B71F1D46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91490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1분기</a:t>
            </a:r>
          </a:p>
        </p:txBody>
      </p:sp>
      <p:sp>
        <p:nvSpPr>
          <p:cNvPr id="32" name="dp41-background / n31 / text 1">
            <a:extLst xmlns:a="http://schemas.openxmlformats.org/drawingml/2006/main">
              <a:ext uri="{FF2B5EF4-FFF2-40B4-BE49-F238E27FC236}">
                <a16:creationId xmlns:a16="http://schemas.microsoft.com/office/drawing/2014/main" id="{8A435378-2B3C-4183-9466-A5E88F4F6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91490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2분기</a:t>
            </a:r>
          </a:p>
        </p:txBody>
      </p:sp>
      <p:sp>
        <p:nvSpPr>
          <p:cNvPr id="33" name="dp41-background / n32 / text 1">
            <a:extLst xmlns:a="http://schemas.openxmlformats.org/drawingml/2006/main">
              <a:ext uri="{FF2B5EF4-FFF2-40B4-BE49-F238E27FC236}">
                <a16:creationId xmlns:a16="http://schemas.microsoft.com/office/drawing/2014/main" id="{26EA4F21-7D8B-44C7-A9CB-A2722F97D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91490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합계</a:t>
            </a:r>
          </a:p>
        </p:txBody>
      </p:sp>
      <p:sp>
        <p:nvSpPr>
          <p:cNvPr id="34" name="dp41-background / n33 / text 1">
            <a:extLst xmlns:a="http://schemas.openxmlformats.org/drawingml/2006/main">
              <a:ext uri="{FF2B5EF4-FFF2-40B4-BE49-F238E27FC236}">
                <a16:creationId xmlns:a16="http://schemas.microsoft.com/office/drawing/2014/main" id="{6BA9F2E7-F0CB-4CF3-BA91-3A86731D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32447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제품 A</a:t>
            </a:r>
          </a:p>
        </p:txBody>
      </p:sp>
      <p:sp>
        <p:nvSpPr>
          <p:cNvPr id="35" name="dp41-background / n34 / text 1">
            <a:extLst xmlns:a="http://schemas.openxmlformats.org/drawingml/2006/main">
              <a:ext uri="{FF2B5EF4-FFF2-40B4-BE49-F238E27FC236}">
                <a16:creationId xmlns:a16="http://schemas.microsoft.com/office/drawing/2014/main" id="{F0872575-B993-4AC2-B7D5-C0964CB9A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32447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120</a:t>
            </a:r>
          </a:p>
        </p:txBody>
      </p:sp>
      <p:sp>
        <p:nvSpPr>
          <p:cNvPr id="36" name="dp41-background / n35 / text 1">
            <a:extLst xmlns:a="http://schemas.openxmlformats.org/drawingml/2006/main">
              <a:ext uri="{FF2B5EF4-FFF2-40B4-BE49-F238E27FC236}">
                <a16:creationId xmlns:a16="http://schemas.microsoft.com/office/drawing/2014/main" id="{93DD65B0-4B87-4DDE-990B-5BF40A5CB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32447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140</a:t>
            </a:r>
          </a:p>
        </p:txBody>
      </p:sp>
      <p:sp>
        <p:nvSpPr>
          <p:cNvPr id="37" name="dp41-background / n36 / text 1">
            <a:extLst xmlns:a="http://schemas.openxmlformats.org/drawingml/2006/main">
              <a:ext uri="{FF2B5EF4-FFF2-40B4-BE49-F238E27FC236}">
                <a16:creationId xmlns:a16="http://schemas.microsoft.com/office/drawing/2014/main" id="{07C80A85-22AB-4A40-97A0-D5F2C88F5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32447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260</a:t>
            </a:r>
          </a:p>
        </p:txBody>
      </p:sp>
      <p:sp>
        <p:nvSpPr>
          <p:cNvPr id="38" name="dp41-background / n37 / text 1">
            <a:extLst xmlns:a="http://schemas.openxmlformats.org/drawingml/2006/main">
              <a:ext uri="{FF2B5EF4-FFF2-40B4-BE49-F238E27FC236}">
                <a16:creationId xmlns:a16="http://schemas.microsoft.com/office/drawing/2014/main" id="{4C44B76F-7CAF-464E-8ED1-1206C5B15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73405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제품 B</a:t>
            </a:r>
          </a:p>
        </p:txBody>
      </p:sp>
      <p:sp>
        <p:nvSpPr>
          <p:cNvPr id="39" name="dp41-background / n38 / text 1">
            <a:extLst xmlns:a="http://schemas.openxmlformats.org/drawingml/2006/main">
              <a:ext uri="{FF2B5EF4-FFF2-40B4-BE49-F238E27FC236}">
                <a16:creationId xmlns:a16="http://schemas.microsoft.com/office/drawing/2014/main" id="{26FD870B-5986-4E68-9FDF-DE553F9CE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73405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80</a:t>
            </a:r>
          </a:p>
        </p:txBody>
      </p:sp>
      <p:sp>
        <p:nvSpPr>
          <p:cNvPr id="40" name="dp41-background / n39 / text 1">
            <a:extLst xmlns:a="http://schemas.openxmlformats.org/drawingml/2006/main">
              <a:ext uri="{FF2B5EF4-FFF2-40B4-BE49-F238E27FC236}">
                <a16:creationId xmlns:a16="http://schemas.microsoft.com/office/drawing/2014/main" id="{45878D15-EE8D-450F-9DFB-9DF605EB1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73405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100</a:t>
            </a:r>
          </a:p>
        </p:txBody>
      </p:sp>
      <p:sp>
        <p:nvSpPr>
          <p:cNvPr id="41" name="dp41-background / n40 / text 1">
            <a:extLst xmlns:a="http://schemas.openxmlformats.org/drawingml/2006/main">
              <a:ext uri="{FF2B5EF4-FFF2-40B4-BE49-F238E27FC236}">
                <a16:creationId xmlns:a16="http://schemas.microsoft.com/office/drawing/2014/main" id="{F02835F3-A719-43C1-9111-61BCFE38D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734050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180</a:t>
            </a:r>
          </a:p>
        </p:txBody>
      </p:sp>
      <p:sp>
        <p:nvSpPr>
          <p:cNvPr id="42" name="dp41-background / n41 / text 1">
            <a:extLst xmlns:a="http://schemas.openxmlformats.org/drawingml/2006/main">
              <a:ext uri="{FF2B5EF4-FFF2-40B4-BE49-F238E27FC236}">
                <a16:creationId xmlns:a16="http://schemas.microsoft.com/office/drawing/2014/main" id="{B06FCB23-BCA0-4CA3-9403-735FE0D46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614362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합계</a:t>
            </a:r>
          </a:p>
        </p:txBody>
      </p:sp>
      <p:sp>
        <p:nvSpPr>
          <p:cNvPr id="43" name="dp41-background / n42 / text 1">
            <a:extLst xmlns:a="http://schemas.openxmlformats.org/drawingml/2006/main">
              <a:ext uri="{FF2B5EF4-FFF2-40B4-BE49-F238E27FC236}">
                <a16:creationId xmlns:a16="http://schemas.microsoft.com/office/drawing/2014/main" id="{28A4D0C6-955F-49EC-8DE5-6B190A8A9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614362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200</a:t>
            </a:r>
          </a:p>
        </p:txBody>
      </p:sp>
      <p:sp>
        <p:nvSpPr>
          <p:cNvPr id="44" name="dp41-background / n43 / text 1">
            <a:extLst xmlns:a="http://schemas.openxmlformats.org/drawingml/2006/main">
              <a:ext uri="{FF2B5EF4-FFF2-40B4-BE49-F238E27FC236}">
                <a16:creationId xmlns:a16="http://schemas.microsoft.com/office/drawing/2014/main" id="{D56F491F-B35C-47C2-A0EA-722F18960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614362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240</a:t>
            </a:r>
          </a:p>
        </p:txBody>
      </p:sp>
      <p:sp>
        <p:nvSpPr>
          <p:cNvPr id="45" name="dp41-background / n44 / text 1">
            <a:extLst xmlns:a="http://schemas.openxmlformats.org/drawingml/2006/main">
              <a:ext uri="{FF2B5EF4-FFF2-40B4-BE49-F238E27FC236}">
                <a16:creationId xmlns:a16="http://schemas.microsoft.com/office/drawing/2014/main" id="{10524030-28E6-4063-9D39-226972269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6143625"/>
            <a:ext cx="114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440</a:t>
            </a:r>
          </a:p>
        </p:txBody>
      </p:sp>
      <p:sp>
        <p:nvSpPr>
          <p:cNvPr id="46" name="dp41-background / n45">
            <a:extLst xmlns:a="http://schemas.openxmlformats.org/drawingml/2006/main">
              <a:ext uri="{FF2B5EF4-FFF2-40B4-BE49-F238E27FC236}">
                <a16:creationId xmlns:a16="http://schemas.microsoft.com/office/drawing/2014/main" id="{F4050B84-AD42-417A-94C5-CAF45CE61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05225"/>
            <a:ext cx="4648200" cy="317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47" name="dp41-background / n46 / text 1">
            <a:extLst xmlns:a="http://schemas.openxmlformats.org/drawingml/2006/main">
              <a:ext uri="{FF2B5EF4-FFF2-40B4-BE49-F238E27FC236}">
                <a16:creationId xmlns:a16="http://schemas.microsoft.com/office/drawing/2014/main" id="{B7AE0A00-ABBC-415D-9995-3A5F1DF2A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67150"/>
            <a:ext cx="42672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이전 요청과 업무(Task) 후보</a:t>
            </a:r>
          </a:p>
        </p:txBody>
      </p:sp>
      <p:sp>
        <p:nvSpPr>
          <p:cNvPr id="48" name="dp41-background / n47 / text 1">
            <a:extLst xmlns:a="http://schemas.openxmlformats.org/drawingml/2006/main">
              <a:ext uri="{FF2B5EF4-FFF2-40B4-BE49-F238E27FC236}">
                <a16:creationId xmlns:a16="http://schemas.microsoft.com/office/drawing/2014/main" id="{91021380-D466-4722-B3EB-79EFA8D9E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333875"/>
            <a:ext cx="42672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Task1: 예산 보고서</a:t>
            </a:r>
          </a:p>
        </p:txBody>
      </p:sp>
      <p:sp>
        <p:nvSpPr>
          <p:cNvPr id="49" name="dp41-background / n48 / text 1">
            <a:extLst xmlns:a="http://schemas.openxmlformats.org/drawingml/2006/main">
              <a:ext uri="{FF2B5EF4-FFF2-40B4-BE49-F238E27FC236}">
                <a16:creationId xmlns:a16="http://schemas.microsoft.com/office/drawing/2014/main" id="{C85C3C1E-182B-41B2-AFB9-E253653BA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14875"/>
            <a:ext cx="4267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“예산 보고서 만들어줘” / 진행 중</a:t>
            </a:r>
          </a:p>
        </p:txBody>
      </p:sp>
      <p:sp>
        <p:nvSpPr>
          <p:cNvPr id="50" name="dp41-background / n49 / path">
            <a:extLst xmlns:a="http://schemas.openxmlformats.org/drawingml/2006/main">
              <a:ext uri="{FF2B5EF4-FFF2-40B4-BE49-F238E27FC236}">
                <a16:creationId xmlns:a16="http://schemas.microsoft.com/office/drawing/2014/main" id="{46286B00-8A0E-48B1-A25D-F66F5A803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05400"/>
            <a:ext cx="4267200" cy="953"/>
          </a:xfrm>
          <a:custGeom xmlns:a="http://schemas.openxmlformats.org/drawingml/2006/main">
            <a:pathLst>
              <a:path w="4267200" h="953">
                <a:moveTo>
                  <a:pt x="0" y="0"/>
                </a:moveTo>
                <a:lnTo>
                  <a:pt x="4267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solid"/>
          </a:ln>
        </p:spPr>
      </p:sp>
      <p:sp>
        <p:nvSpPr>
          <p:cNvPr id="51" name="dp41-background / n50 / text 1">
            <a:extLst xmlns:a="http://schemas.openxmlformats.org/drawingml/2006/main">
              <a:ext uri="{FF2B5EF4-FFF2-40B4-BE49-F238E27FC236}">
                <a16:creationId xmlns:a16="http://schemas.microsoft.com/office/drawing/2014/main" id="{FD9273FF-CBD3-4233-8C5E-2218B53A4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305425"/>
            <a:ext cx="42672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Task2: 실적 보고서</a:t>
            </a:r>
          </a:p>
        </p:txBody>
      </p:sp>
      <p:sp>
        <p:nvSpPr>
          <p:cNvPr id="52" name="dp41-background / n51 / text 1">
            <a:extLst xmlns:a="http://schemas.openxmlformats.org/drawingml/2006/main">
              <a:ext uri="{FF2B5EF4-FFF2-40B4-BE49-F238E27FC236}">
                <a16:creationId xmlns:a16="http://schemas.microsoft.com/office/drawing/2014/main" id="{16379021-C397-4E92-8DAA-A3038E53E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686425"/>
            <a:ext cx="42672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“실적 보고서 만들어줘” / 진행 중</a:t>
            </a:r>
          </a:p>
        </p:txBody>
      </p:sp>
      <p:sp>
        <p:nvSpPr>
          <p:cNvPr id="53" name="dp41-background / n52 / text 1">
            <a:extLst xmlns:a="http://schemas.openxmlformats.org/drawingml/2006/main">
              <a:ext uri="{FF2B5EF4-FFF2-40B4-BE49-F238E27FC236}">
                <a16:creationId xmlns:a16="http://schemas.microsoft.com/office/drawing/2014/main" id="{F555DB51-CA54-4F5C-9615-CF545D043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334125"/>
            <a:ext cx="426720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연결할 Task 미확정</a:t>
            </a:r>
          </a:p>
        </p:txBody>
      </p:sp>
      <p:sp>
        <p:nvSpPr>
          <p:cNvPr id="54" name="dp41-background / n53">
            <a:extLst xmlns:a="http://schemas.openxmlformats.org/drawingml/2006/main">
              <a:ext uri="{FF2B5EF4-FFF2-40B4-BE49-F238E27FC236}">
                <a16:creationId xmlns:a16="http://schemas.microsoft.com/office/drawing/2014/main" id="{430236F9-FE84-46FD-A8C8-F5E69999C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10450"/>
            <a:ext cx="1057275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dp41-background / n54 / text 1">
            <a:extLst xmlns:a="http://schemas.openxmlformats.org/drawingml/2006/main">
              <a:ext uri="{FF2B5EF4-FFF2-40B4-BE49-F238E27FC236}">
                <a16:creationId xmlns:a16="http://schemas.microsoft.com/office/drawing/2014/main" id="{F151DB0C-AEBB-421F-AC7E-28D81211F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572375"/>
            <a:ext cx="1017270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수정된 보고서 결과로 메일 초안 작성 / 메일 발송 금지</a:t>
            </a:r>
          </a:p>
        </p:txBody>
      </p:sp>
      <p:sp>
        <p:nvSpPr>
          <p:cNvPr id="56" name="dp41-background / n55 / text 1">
            <a:extLst xmlns:a="http://schemas.openxmlformats.org/drawingml/2006/main">
              <a:ext uri="{FF2B5EF4-FFF2-40B4-BE49-F238E27FC236}">
                <a16:creationId xmlns:a16="http://schemas.microsoft.com/office/drawing/2014/main" id="{EEA3AAD4-CD83-46B0-AD8B-8C7BDB947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381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선택 자료의 확인</a:t>
            </a:r>
          </a:p>
        </p:txBody>
      </p:sp>
      <p:sp>
        <p:nvSpPr>
          <p:cNvPr id="57" name="dp41-background / n56 / text 1">
            <a:extLst xmlns:a="http://schemas.openxmlformats.org/drawingml/2006/main">
              <a:ext uri="{FF2B5EF4-FFF2-40B4-BE49-F238E27FC236}">
                <a16:creationId xmlns:a16="http://schemas.microsoft.com/office/drawing/2014/main" id="{7E97BBCB-DC4C-4657-82B2-CEDA010E9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781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“이 표”가 가리킨 자료의 범위 확인</a:t>
            </a:r>
          </a:p>
        </p:txBody>
      </p:sp>
      <p:sp>
        <p:nvSpPr>
          <p:cNvPr id="58" name="dp41-background / n57 / text 1">
            <a:extLst xmlns:a="http://schemas.openxmlformats.org/drawingml/2006/main">
              <a:ext uri="{FF2B5EF4-FFF2-40B4-BE49-F238E27FC236}">
                <a16:creationId xmlns:a16="http://schemas.microsoft.com/office/drawing/2014/main" id="{54216B74-E592-4A8E-85B9-F4B306437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905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관련 업무의 구분</a:t>
            </a:r>
          </a:p>
        </p:txBody>
      </p:sp>
      <p:sp>
        <p:nvSpPr>
          <p:cNvPr id="59" name="dp41-background / n58 / text 1">
            <a:extLst xmlns:a="http://schemas.openxmlformats.org/drawingml/2006/main">
              <a:ext uri="{FF2B5EF4-FFF2-40B4-BE49-F238E27FC236}">
                <a16:creationId xmlns:a16="http://schemas.microsoft.com/office/drawing/2014/main" id="{55E7CCDC-9FE1-4DAE-95B8-A0E56D6D4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305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이전 요청과 현재 업무 상태 확인</a:t>
            </a:r>
          </a:p>
        </p:txBody>
      </p:sp>
      <p:sp>
        <p:nvSpPr>
          <p:cNvPr id="60" name="dp41-background / n59 / text 1">
            <a:extLst xmlns:a="http://schemas.openxmlformats.org/drawingml/2006/main">
              <a:ext uri="{FF2B5EF4-FFF2-40B4-BE49-F238E27FC236}">
                <a16:creationId xmlns:a16="http://schemas.microsoft.com/office/drawing/2014/main" id="{E54546FA-0846-44A1-8FE9-ED72F14A9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429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정보 보완과 조건 유지</a:t>
            </a:r>
          </a:p>
        </p:txBody>
      </p:sp>
      <p:sp>
        <p:nvSpPr>
          <p:cNvPr id="61" name="dp41-background / n60 / text 1">
            <a:extLst xmlns:a="http://schemas.openxmlformats.org/drawingml/2006/main">
              <a:ext uri="{FF2B5EF4-FFF2-40B4-BE49-F238E27FC236}">
                <a16:creationId xmlns:a16="http://schemas.microsoft.com/office/drawing/2014/main" id="{0E3E607B-2951-40CF-976E-FF6099817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829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어느 보고서인지 확인 질문</a:t>
            </a:r>
          </a:p>
        </p:txBody>
      </p:sp>
      <p:sp>
        <p:nvSpPr>
          <p:cNvPr id="62" name="dp41-background / n60 / text 2">
            <a:extLst xmlns:a="http://schemas.openxmlformats.org/drawingml/2006/main">
              <a:ext uri="{FF2B5EF4-FFF2-40B4-BE49-F238E27FC236}">
                <a16:creationId xmlns:a16="http://schemas.microsoft.com/office/drawing/2014/main" id="{92A6E46A-00BB-4A3A-9F3F-51CDA2CE6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7143750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초안 작성과 발송 금지 조건 유지</a:t>
            </a:r>
          </a:p>
        </p:txBody>
      </p:sp>
    </p:spTree>
    <p:extLst>
      <p:ext uri="{BB962C8B-B14F-4D97-AF65-F5344CB8AC3E}">
        <p14:creationId xmlns:p14="http://schemas.microsoft.com/office/powerpoint/2010/main" val="143973465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1" name="dp42-background / n1">
            <a:extLst xmlns:a="http://schemas.openxmlformats.org/drawingml/2006/main">
              <a:ext uri="{FF2B5EF4-FFF2-40B4-BE49-F238E27FC236}">
                <a16:creationId xmlns:a16="http://schemas.microsoft.com/office/drawing/2014/main" id="{9A55D7EA-6DD1-4F9C-A03D-7711EF351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2-background / n2 / text 1">
            <a:extLst xmlns:a="http://schemas.openxmlformats.org/drawingml/2006/main">
              <a:ext uri="{FF2B5EF4-FFF2-40B4-BE49-F238E27FC236}">
                <a16:creationId xmlns:a16="http://schemas.microsoft.com/office/drawing/2014/main" id="{A31B434B-28FD-4C12-B91B-B3820E2B4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1190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배경</a:t>
            </a:r>
          </a:p>
        </p:txBody>
      </p:sp>
      <p:sp>
        <p:nvSpPr>
          <p:cNvPr id="3" name="dp42-background / n3 / text 1">
            <a:extLst xmlns:a="http://schemas.openxmlformats.org/drawingml/2006/main">
              <a:ext uri="{FF2B5EF4-FFF2-40B4-BE49-F238E27FC236}">
                <a16:creationId xmlns:a16="http://schemas.microsoft.com/office/drawing/2014/main" id="{856BFD01-9AE8-4373-9E6E-B3ED43748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1400" y="238125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04-42</a:t>
            </a:r>
          </a:p>
        </p:txBody>
      </p:sp>
      <p:sp>
        <p:nvSpPr>
          <p:cNvPr id="4" name="dp42-background / n4 / text 1">
            <a:extLst xmlns:a="http://schemas.openxmlformats.org/drawingml/2006/main">
              <a:ext uri="{FF2B5EF4-FFF2-40B4-BE49-F238E27FC236}">
                <a16:creationId xmlns:a16="http://schemas.microsoft.com/office/drawing/2014/main" id="{2A2DED50-CC74-4CBA-B3FF-ABBC7D9AC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695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04-42. 변경 용이성을 위한 VIA Conversation과 Task 관리 설계</a:t>
            </a:r>
          </a:p>
        </p:txBody>
      </p:sp>
      <p:sp>
        <p:nvSpPr>
          <p:cNvPr id="5" name="dp42-background / n5 / path">
            <a:extLst xmlns:a="http://schemas.openxmlformats.org/drawingml/2006/main">
              <a:ext uri="{FF2B5EF4-FFF2-40B4-BE49-F238E27FC236}">
                <a16:creationId xmlns:a16="http://schemas.microsoft.com/office/drawing/2014/main" id="{8F7956B3-B2DB-4FF7-AB25-EE8637EF8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2-background / n6">
            <a:extLst xmlns:a="http://schemas.openxmlformats.org/drawingml/2006/main">
              <a:ext uri="{FF2B5EF4-FFF2-40B4-BE49-F238E27FC236}">
                <a16:creationId xmlns:a16="http://schemas.microsoft.com/office/drawing/2014/main" id="{4E405511-6E1C-4AF0-B383-86AB3BDB7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7068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p42-background / n7 / text 1">
            <a:extLst xmlns:a="http://schemas.openxmlformats.org/drawingml/2006/main">
              <a:ext uri="{FF2B5EF4-FFF2-40B4-BE49-F238E27FC236}">
                <a16:creationId xmlns:a16="http://schemas.microsoft.com/office/drawing/2014/main" id="{DF9190EC-C3AA-459D-A9AA-BCC0C36B8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16725900" cy="497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완료와 Task 완료의 혼동 위험</a:t>
            </a:r>
          </a:p>
        </p:txBody>
      </p:sp>
      <p:sp>
        <p:nvSpPr>
          <p:cNvPr id="8" name="dp42-background / n8 / path">
            <a:extLst xmlns:a="http://schemas.openxmlformats.org/drawingml/2006/main">
              <a:ext uri="{FF2B5EF4-FFF2-40B4-BE49-F238E27FC236}">
                <a16:creationId xmlns:a16="http://schemas.microsoft.com/office/drawing/2014/main" id="{00AB828E-FA62-46EC-B29F-3077D10CD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2686050"/>
            <a:ext cx="953" cy="5495925"/>
          </a:xfrm>
          <a:custGeom xmlns:a="http://schemas.openxmlformats.org/drawingml/2006/main">
            <a:pathLst>
              <a:path w="953" h="5495925">
                <a:moveTo>
                  <a:pt x="0" y="0"/>
                </a:moveTo>
                <a:lnTo>
                  <a:pt x="0" y="5495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9" name="dp42-background / n9 / text 1">
            <a:extLst xmlns:a="http://schemas.openxmlformats.org/drawingml/2006/main">
              <a:ext uri="{FF2B5EF4-FFF2-40B4-BE49-F238E27FC236}">
                <a16:creationId xmlns:a16="http://schemas.microsoft.com/office/drawing/2014/main" id="{3933C3BA-A17B-4086-BBF1-CEA5C7C63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695575"/>
            <a:ext cx="56769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설계 고려 사항</a:t>
            </a:r>
          </a:p>
        </p:txBody>
      </p:sp>
      <p:sp>
        <p:nvSpPr>
          <p:cNvPr id="10" name="dp42-background / n10 / path">
            <a:extLst xmlns:a="http://schemas.openxmlformats.org/drawingml/2006/main">
              <a:ext uri="{FF2B5EF4-FFF2-40B4-BE49-F238E27FC236}">
                <a16:creationId xmlns:a16="http://schemas.microsoft.com/office/drawing/2014/main" id="{A05B69B0-B175-4F0C-ACB7-29F20431C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58200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11" name="dp42-background / n11 / text 1">
            <a:extLst xmlns:a="http://schemas.openxmlformats.org/drawingml/2006/main">
              <a:ext uri="{FF2B5EF4-FFF2-40B4-BE49-F238E27FC236}">
                <a16:creationId xmlns:a16="http://schemas.microsoft.com/office/drawing/2014/main" id="{64EF0662-5F57-4B8F-8502-3BAB8D22F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10625"/>
            <a:ext cx="1571625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설계 과제</a:t>
            </a:r>
          </a:p>
        </p:txBody>
      </p:sp>
      <p:sp>
        <p:nvSpPr>
          <p:cNvPr id="12" name="dp42-background / n12 / text 1">
            <a:extLst xmlns:a="http://schemas.openxmlformats.org/drawingml/2006/main">
              <a:ext uri="{FF2B5EF4-FFF2-40B4-BE49-F238E27FC236}">
                <a16:creationId xmlns:a16="http://schemas.microsoft.com/office/drawing/2014/main" id="{730A5340-4397-4CA8-A2FE-39589294F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8763000"/>
            <a:ext cx="15392400" cy="428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Conversation과 Task 상태의 관리 책임 및 실행 경계 설계</a:t>
            </a:r>
          </a:p>
        </p:txBody>
      </p:sp>
      <p:sp>
        <p:nvSpPr>
          <p:cNvPr id="13" name="dp42-background / n13 / text 1">
            <a:extLst xmlns:a="http://schemas.openxmlformats.org/drawingml/2006/main">
              <a:ext uri="{FF2B5EF4-FFF2-40B4-BE49-F238E27FC236}">
                <a16:creationId xmlns:a16="http://schemas.microsoft.com/office/drawing/2014/main" id="{D7785E08-593F-4483-947A-DA312153B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9277350"/>
            <a:ext cx="153924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Delegation / Downstream Agent에 작업 전달     Agent Execution / 개별 작업 실행</a:t>
            </a:r>
          </a:p>
        </p:txBody>
      </p:sp>
      <p:sp>
        <p:nvSpPr>
          <p:cNvPr id="14" name="dp42-background / n14 / text 1">
            <a:extLst xmlns:a="http://schemas.openxmlformats.org/drawingml/2006/main">
              <a:ext uri="{FF2B5EF4-FFF2-40B4-BE49-F238E27FC236}">
                <a16:creationId xmlns:a16="http://schemas.microsoft.com/office/drawing/2014/main" id="{37CCA2F5-A0B5-459D-9DA8-0DBAC6698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58375"/>
            <a:ext cx="120015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품질 관점: 기능 정확성 / 변경 용이성 / 복구성</a:t>
            </a:r>
          </a:p>
        </p:txBody>
      </p:sp>
      <p:sp>
        <p:nvSpPr>
          <p:cNvPr id="15" name="dp42-background / n15 / text 1">
            <a:extLst xmlns:a="http://schemas.openxmlformats.org/drawingml/2006/main">
              <a:ext uri="{FF2B5EF4-FFF2-40B4-BE49-F238E27FC236}">
                <a16:creationId xmlns:a16="http://schemas.microsoft.com/office/drawing/2014/main" id="{0D5CEAB0-CCF4-4F77-9850-9F01ABE46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9858375"/>
            <a:ext cx="4572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후보 / 미선정 / 미측정</a:t>
            </a:r>
          </a:p>
        </p:txBody>
      </p:sp>
      <p:sp>
        <p:nvSpPr>
          <p:cNvPr id="16" name="dp42-background / n16">
            <a:extLst xmlns:a="http://schemas.openxmlformats.org/drawingml/2006/main">
              <a:ext uri="{FF2B5EF4-FFF2-40B4-BE49-F238E27FC236}">
                <a16:creationId xmlns:a16="http://schemas.microsoft.com/office/drawing/2014/main" id="{9D06A0D6-679D-4163-879B-B93DFBF0C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572750" cy="2600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2-background / n17">
            <a:extLst xmlns:a="http://schemas.openxmlformats.org/drawingml/2006/main">
              <a:ext uri="{FF2B5EF4-FFF2-40B4-BE49-F238E27FC236}">
                <a16:creationId xmlns:a16="http://schemas.microsoft.com/office/drawing/2014/main" id="{9C940769-ABA9-448B-AE59-621817752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572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dp42-background / n18 / text 1">
            <a:extLst xmlns:a="http://schemas.openxmlformats.org/drawingml/2006/main">
              <a:ext uri="{FF2B5EF4-FFF2-40B4-BE49-F238E27FC236}">
                <a16:creationId xmlns:a16="http://schemas.microsoft.com/office/drawing/2014/main" id="{3D1EE144-95AC-4F83-965E-A3A6D3D49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95575"/>
            <a:ext cx="723900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Conversation / 입력과 Response 기록</a:t>
            </a:r>
          </a:p>
        </p:txBody>
      </p:sp>
      <p:sp>
        <p:nvSpPr>
          <p:cNvPr id="19" name="dp42-background / n19 / text 1">
            <a:extLst xmlns:a="http://schemas.openxmlformats.org/drawingml/2006/main">
              <a:ext uri="{FF2B5EF4-FFF2-40B4-BE49-F238E27FC236}">
                <a16:creationId xmlns:a16="http://schemas.microsoft.com/office/drawing/2014/main" id="{5007397E-F223-4724-92DE-E0BD6774C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43200"/>
            <a:ext cx="27622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User Turn / 한 번의 발화</a:t>
            </a:r>
          </a:p>
        </p:txBody>
      </p:sp>
      <p:sp>
        <p:nvSpPr>
          <p:cNvPr id="20" name="dp42-background / n20 / text 1">
            <a:extLst xmlns:a="http://schemas.openxmlformats.org/drawingml/2006/main">
              <a:ext uri="{FF2B5EF4-FFF2-40B4-BE49-F238E27FC236}">
                <a16:creationId xmlns:a16="http://schemas.microsoft.com/office/drawing/2014/main" id="{0A829F1C-945C-496B-B080-86B629B7C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0515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처음 발화</a:t>
            </a:r>
          </a:p>
        </p:txBody>
      </p:sp>
      <p:sp>
        <p:nvSpPr>
          <p:cNvPr id="21" name="dp42-background / n21 / text 1">
            <a:extLst xmlns:a="http://schemas.openxmlformats.org/drawingml/2006/main">
              <a:ext uri="{FF2B5EF4-FFF2-40B4-BE49-F238E27FC236}">
                <a16:creationId xmlns:a16="http://schemas.microsoft.com/office/drawing/2014/main" id="{87F8466C-B8C6-4B20-93FC-4126035A0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575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“이번 달 매출보고서</a:t>
            </a:r>
          </a:p>
        </p:txBody>
      </p:sp>
      <p:sp>
        <p:nvSpPr>
          <p:cNvPr id="22" name="dp42-background / n21 / text 2">
            <a:extLst xmlns:a="http://schemas.openxmlformats.org/drawingml/2006/main">
              <a:ext uri="{FF2B5EF4-FFF2-40B4-BE49-F238E27FC236}">
                <a16:creationId xmlns:a16="http://schemas.microsoft.com/office/drawing/2014/main" id="{95388E0E-7D42-4157-A9CE-9C1A4C30F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242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만들어주고, 내일 회의 안내</a:t>
            </a:r>
          </a:p>
        </p:txBody>
      </p:sp>
      <p:sp>
        <p:nvSpPr>
          <p:cNvPr id="23" name="dp42-background / n21 / text 3">
            <a:extLst xmlns:a="http://schemas.openxmlformats.org/drawingml/2006/main">
              <a:ext uri="{FF2B5EF4-FFF2-40B4-BE49-F238E27FC236}">
                <a16:creationId xmlns:a16="http://schemas.microsoft.com/office/drawing/2014/main" id="{2128576C-170B-4F4B-BDB6-86D796AC5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909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초안도 만들어줘.”</a:t>
            </a:r>
          </a:p>
        </p:txBody>
      </p:sp>
      <p:sp>
        <p:nvSpPr>
          <p:cNvPr id="24" name="dp42-background / n22 / text 1">
            <a:extLst xmlns:a="http://schemas.openxmlformats.org/drawingml/2006/main">
              <a:ext uri="{FF2B5EF4-FFF2-40B4-BE49-F238E27FC236}">
                <a16:creationId xmlns:a16="http://schemas.microsoft.com/office/drawing/2014/main" id="{64EA34DB-1302-4FF6-986D-1BA56CEBC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95775"/>
            <a:ext cx="2952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2개</a:t>
            </a:r>
          </a:p>
        </p:txBody>
      </p:sp>
      <p:sp>
        <p:nvSpPr>
          <p:cNvPr id="25" name="dp42-background / n23 / text 1">
            <a:extLst xmlns:a="http://schemas.openxmlformats.org/drawingml/2006/main">
              <a:ext uri="{FF2B5EF4-FFF2-40B4-BE49-F238E27FC236}">
                <a16:creationId xmlns:a16="http://schemas.microsoft.com/office/drawing/2014/main" id="{C7CE203D-3F76-441D-ACD5-DC68C80E9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10515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잠시 뒤 / 진행 확인</a:t>
            </a:r>
          </a:p>
        </p:txBody>
      </p:sp>
      <p:sp>
        <p:nvSpPr>
          <p:cNvPr id="26" name="dp42-background / n24 / text 1">
            <a:extLst xmlns:a="http://schemas.openxmlformats.org/drawingml/2006/main">
              <a:ext uri="{FF2B5EF4-FFF2-40B4-BE49-F238E27FC236}">
                <a16:creationId xmlns:a16="http://schemas.microsoft.com/office/drawing/2014/main" id="{1E75ED42-4314-40EA-9A8F-23F79B147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575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“보고서는 어디까지</a:t>
            </a:r>
          </a:p>
        </p:txBody>
      </p:sp>
      <p:sp>
        <p:nvSpPr>
          <p:cNvPr id="27" name="dp42-background / n24 / text 2">
            <a:extLst xmlns:a="http://schemas.openxmlformats.org/drawingml/2006/main">
              <a:ext uri="{FF2B5EF4-FFF2-40B4-BE49-F238E27FC236}">
                <a16:creationId xmlns:a16="http://schemas.microsoft.com/office/drawing/2014/main" id="{AC747687-3D9B-4A98-94BE-FEBD8FCF3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242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됐어?”</a:t>
            </a:r>
          </a:p>
        </p:txBody>
      </p:sp>
      <p:sp>
        <p:nvSpPr>
          <p:cNvPr id="28" name="dp42-background / n25 / text 1">
            <a:extLst xmlns:a="http://schemas.openxmlformats.org/drawingml/2006/main">
              <a:ext uri="{FF2B5EF4-FFF2-40B4-BE49-F238E27FC236}">
                <a16:creationId xmlns:a16="http://schemas.microsoft.com/office/drawing/2014/main" id="{1C9F379B-6828-4E0C-8D74-B71AD89C3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295775"/>
            <a:ext cx="2952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1개</a:t>
            </a:r>
          </a:p>
        </p:txBody>
      </p:sp>
      <p:sp>
        <p:nvSpPr>
          <p:cNvPr id="29" name="dp42-background / n26 / text 1">
            <a:extLst xmlns:a="http://schemas.openxmlformats.org/drawingml/2006/main">
              <a:ext uri="{FF2B5EF4-FFF2-40B4-BE49-F238E27FC236}">
                <a16:creationId xmlns:a16="http://schemas.microsoft.com/office/drawing/2014/main" id="{25901A25-24F9-4AA1-9C03-ECDB1AC02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0515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보고서 완료 후 / 수정</a:t>
            </a:r>
          </a:p>
        </p:txBody>
      </p:sp>
      <p:sp>
        <p:nvSpPr>
          <p:cNvPr id="30" name="dp42-background / n27 / text 1">
            <a:extLst xmlns:a="http://schemas.openxmlformats.org/drawingml/2006/main">
              <a:ext uri="{FF2B5EF4-FFF2-40B4-BE49-F238E27FC236}">
                <a16:creationId xmlns:a16="http://schemas.microsoft.com/office/drawing/2014/main" id="{9EDAA20A-A665-48DC-8E2A-F39D2FC61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575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“결론 부분만 짧게</a:t>
            </a:r>
          </a:p>
        </p:txBody>
      </p:sp>
      <p:sp>
        <p:nvSpPr>
          <p:cNvPr id="31" name="dp42-background / n27 / text 2">
            <a:extLst xmlns:a="http://schemas.openxmlformats.org/drawingml/2006/main">
              <a:ext uri="{FF2B5EF4-FFF2-40B4-BE49-F238E27FC236}">
                <a16:creationId xmlns:a16="http://schemas.microsoft.com/office/drawing/2014/main" id="{A4774DEC-E5F1-4582-B934-1092E1B2A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7242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바꿔줘.”</a:t>
            </a:r>
          </a:p>
        </p:txBody>
      </p:sp>
      <p:sp>
        <p:nvSpPr>
          <p:cNvPr id="32" name="dp42-background / n28 / text 1">
            <a:extLst xmlns:a="http://schemas.openxmlformats.org/drawingml/2006/main">
              <a:ext uri="{FF2B5EF4-FFF2-40B4-BE49-F238E27FC236}">
                <a16:creationId xmlns:a16="http://schemas.microsoft.com/office/drawing/2014/main" id="{10B29302-73B7-4DF6-90E1-8C4296DE6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295775"/>
            <a:ext cx="2952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1개</a:t>
            </a:r>
          </a:p>
        </p:txBody>
      </p:sp>
      <p:sp>
        <p:nvSpPr>
          <p:cNvPr id="33" name="dp42-background / n29 / path">
            <a:extLst xmlns:a="http://schemas.openxmlformats.org/drawingml/2006/main">
              <a:ext uri="{FF2B5EF4-FFF2-40B4-BE49-F238E27FC236}">
                <a16:creationId xmlns:a16="http://schemas.microsoft.com/office/drawing/2014/main" id="{046FA89D-117F-46E1-B167-A01262C46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3209925"/>
            <a:ext cx="276225" cy="953"/>
          </a:xfrm>
          <a:custGeom xmlns:a="http://schemas.openxmlformats.org/drawingml/2006/main">
            <a:pathLst>
              <a:path w="276225" h="953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34" name="dp42-background / n29 / arrow">
            <a:extLst xmlns:a="http://schemas.openxmlformats.org/drawingml/2006/main">
              <a:ext uri="{FF2B5EF4-FFF2-40B4-BE49-F238E27FC236}">
                <a16:creationId xmlns:a16="http://schemas.microsoft.com/office/drawing/2014/main" id="{735835D8-7A1F-4CC6-B933-8030DF6D5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314896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35" name="dp42-background / n30 / path">
            <a:extLst xmlns:a="http://schemas.openxmlformats.org/drawingml/2006/main">
              <a:ext uri="{FF2B5EF4-FFF2-40B4-BE49-F238E27FC236}">
                <a16:creationId xmlns:a16="http://schemas.microsoft.com/office/drawing/2014/main" id="{6C4EEEB7-E27B-42E0-9A62-C2B6195AC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209925"/>
            <a:ext cx="276225" cy="953"/>
          </a:xfrm>
          <a:custGeom xmlns:a="http://schemas.openxmlformats.org/drawingml/2006/main">
            <a:pathLst>
              <a:path w="276225" h="953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36" name="dp42-background / n30 / arrow">
            <a:extLst xmlns:a="http://schemas.openxmlformats.org/drawingml/2006/main">
              <a:ext uri="{FF2B5EF4-FFF2-40B4-BE49-F238E27FC236}">
                <a16:creationId xmlns:a16="http://schemas.microsoft.com/office/drawing/2014/main" id="{A37A89A0-028D-43F5-A958-A1815EAA0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80" y="314896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37" name="dp42-background / n31">
            <a:extLst xmlns:a="http://schemas.openxmlformats.org/drawingml/2006/main">
              <a:ext uri="{FF2B5EF4-FFF2-40B4-BE49-F238E27FC236}">
                <a16:creationId xmlns:a16="http://schemas.microsoft.com/office/drawing/2014/main" id="{F79748A3-0775-4EE2-9CD8-09A319420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43425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2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dp42-background / n32 / text 1">
            <a:extLst xmlns:a="http://schemas.openxmlformats.org/drawingml/2006/main">
              <a:ext uri="{FF2B5EF4-FFF2-40B4-BE49-F238E27FC236}">
                <a16:creationId xmlns:a16="http://schemas.microsoft.com/office/drawing/2014/main" id="{AC280713-B766-4EB9-A929-CA19A3CC9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00575"/>
            <a:ext cx="12382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작성</a:t>
            </a:r>
          </a:p>
        </p:txBody>
      </p:sp>
      <p:sp>
        <p:nvSpPr>
          <p:cNvPr id="39" name="dp42-background / n33">
            <a:extLst xmlns:a="http://schemas.openxmlformats.org/drawingml/2006/main">
              <a:ext uri="{FF2B5EF4-FFF2-40B4-BE49-F238E27FC236}">
                <a16:creationId xmlns:a16="http://schemas.microsoft.com/office/drawing/2014/main" id="{06439FE2-E9FD-4D7C-BBE3-F5346A262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543425"/>
            <a:ext cx="1409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2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dp42-background / n34 / text 1">
            <a:extLst xmlns:a="http://schemas.openxmlformats.org/drawingml/2006/main">
              <a:ext uri="{FF2B5EF4-FFF2-40B4-BE49-F238E27FC236}">
                <a16:creationId xmlns:a16="http://schemas.microsoft.com/office/drawing/2014/main" id="{DAC24B71-5E17-4CC4-A18D-8999E4C5D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600575"/>
            <a:ext cx="12192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초안</a:t>
            </a:r>
          </a:p>
        </p:txBody>
      </p:sp>
      <p:sp>
        <p:nvSpPr>
          <p:cNvPr id="41" name="dp42-background / n35">
            <a:extLst xmlns:a="http://schemas.openxmlformats.org/drawingml/2006/main">
              <a:ext uri="{FF2B5EF4-FFF2-40B4-BE49-F238E27FC236}">
                <a16:creationId xmlns:a16="http://schemas.microsoft.com/office/drawing/2014/main" id="{1951A0B0-0E57-4E45-8C27-BA4E4CDF5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543425"/>
            <a:ext cx="2952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2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dp42-background / n36 / text 1">
            <a:extLst xmlns:a="http://schemas.openxmlformats.org/drawingml/2006/main">
              <a:ext uri="{FF2B5EF4-FFF2-40B4-BE49-F238E27FC236}">
                <a16:creationId xmlns:a16="http://schemas.microsoft.com/office/drawing/2014/main" id="{0BDDF42E-5F8D-4024-B16F-5E337CA91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600575"/>
            <a:ext cx="27622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진행 확인</a:t>
            </a:r>
          </a:p>
        </p:txBody>
      </p:sp>
      <p:sp>
        <p:nvSpPr>
          <p:cNvPr id="43" name="dp42-background / n37">
            <a:extLst xmlns:a="http://schemas.openxmlformats.org/drawingml/2006/main">
              <a:ext uri="{FF2B5EF4-FFF2-40B4-BE49-F238E27FC236}">
                <a16:creationId xmlns:a16="http://schemas.microsoft.com/office/drawing/2014/main" id="{056CB8B5-AB6D-429F-9B22-A0AFD4510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543425"/>
            <a:ext cx="2952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2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dp42-background / n38 / text 1">
            <a:extLst xmlns:a="http://schemas.openxmlformats.org/drawingml/2006/main">
              <a:ext uri="{FF2B5EF4-FFF2-40B4-BE49-F238E27FC236}">
                <a16:creationId xmlns:a16="http://schemas.microsoft.com/office/drawing/2014/main" id="{EFA9CF82-3EA6-495E-B5A4-ADA3971FA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600575"/>
            <a:ext cx="27622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결론 수정</a:t>
            </a:r>
          </a:p>
        </p:txBody>
      </p:sp>
      <p:sp>
        <p:nvSpPr>
          <p:cNvPr id="45" name="dp42-background / n39 / text 1">
            <a:extLst xmlns:a="http://schemas.openxmlformats.org/drawingml/2006/main">
              <a:ext uri="{FF2B5EF4-FFF2-40B4-BE49-F238E27FC236}">
                <a16:creationId xmlns:a16="http://schemas.microsoft.com/office/drawing/2014/main" id="{3D26735D-F639-4319-ADC6-EA2AFB8A9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6727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Downstream Agent 접수 확인 후</a:t>
            </a:r>
          </a:p>
        </p:txBody>
      </p:sp>
      <p:sp>
        <p:nvSpPr>
          <p:cNvPr id="46" name="dp42-background / n39 / text 2">
            <a:extLst xmlns:a="http://schemas.openxmlformats.org/drawingml/2006/main">
              <a:ext uri="{FF2B5EF4-FFF2-40B4-BE49-F238E27FC236}">
                <a16:creationId xmlns:a16="http://schemas.microsoft.com/office/drawing/2014/main" id="{64DCDC2E-A9C3-40CE-B7FC-98EA13EE1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7682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처리 완료</a:t>
            </a:r>
          </a:p>
        </p:txBody>
      </p:sp>
      <p:sp>
        <p:nvSpPr>
          <p:cNvPr id="47" name="dp42-background / n40 / text 1">
            <a:extLst xmlns:a="http://schemas.openxmlformats.org/drawingml/2006/main">
              <a:ext uri="{FF2B5EF4-FFF2-40B4-BE49-F238E27FC236}">
                <a16:creationId xmlns:a16="http://schemas.microsoft.com/office/drawing/2014/main" id="{967410E1-BAB9-443F-A90F-803B475AB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6727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상태 답변 후</a:t>
            </a:r>
          </a:p>
        </p:txBody>
      </p:sp>
      <p:sp>
        <p:nvSpPr>
          <p:cNvPr id="48" name="dp42-background / n40 / text 2">
            <a:extLst xmlns:a="http://schemas.openxmlformats.org/drawingml/2006/main">
              <a:ext uri="{FF2B5EF4-FFF2-40B4-BE49-F238E27FC236}">
                <a16:creationId xmlns:a16="http://schemas.microsoft.com/office/drawing/2014/main" id="{7D3E2116-4A82-4BF9-B90A-B60FEB2C2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07682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처리 완료</a:t>
            </a:r>
          </a:p>
        </p:txBody>
      </p:sp>
      <p:sp>
        <p:nvSpPr>
          <p:cNvPr id="49" name="dp42-background / n41 / text 1">
            <a:extLst xmlns:a="http://schemas.openxmlformats.org/drawingml/2006/main">
              <a:ext uri="{FF2B5EF4-FFF2-40B4-BE49-F238E27FC236}">
                <a16:creationId xmlns:a16="http://schemas.microsoft.com/office/drawing/2014/main" id="{D33077F0-7A98-41E2-B89F-834A44AB0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86727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Downstream Agent 수정 접수 후</a:t>
            </a:r>
          </a:p>
        </p:txBody>
      </p:sp>
      <p:sp>
        <p:nvSpPr>
          <p:cNvPr id="50" name="dp42-background / n41 / text 2">
            <a:extLst xmlns:a="http://schemas.openxmlformats.org/drawingml/2006/main">
              <a:ext uri="{FF2B5EF4-FFF2-40B4-BE49-F238E27FC236}">
                <a16:creationId xmlns:a16="http://schemas.microsoft.com/office/drawing/2014/main" id="{6E6E9891-7C9B-4BDB-8E93-D44672E81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07682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처리 완료</a:t>
            </a:r>
          </a:p>
        </p:txBody>
      </p:sp>
      <p:sp>
        <p:nvSpPr>
          <p:cNvPr id="51" name="dp42-background / n42">
            <a:extLst xmlns:a="http://schemas.openxmlformats.org/drawingml/2006/main">
              <a:ext uri="{FF2B5EF4-FFF2-40B4-BE49-F238E27FC236}">
                <a16:creationId xmlns:a16="http://schemas.microsoft.com/office/drawing/2014/main" id="{4F04FA53-0897-45E2-A277-5C58E1A02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10572750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8F7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52" name="dp42-background / n43">
            <a:extLst xmlns:a="http://schemas.openxmlformats.org/drawingml/2006/main">
              <a:ext uri="{FF2B5EF4-FFF2-40B4-BE49-F238E27FC236}">
                <a16:creationId xmlns:a16="http://schemas.microsoft.com/office/drawing/2014/main" id="{6F332EAB-59B2-4738-BEE4-AA460D174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895975"/>
            <a:ext cx="32575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dp42-background / n44 / text 1">
            <a:extLst xmlns:a="http://schemas.openxmlformats.org/drawingml/2006/main">
              <a:ext uri="{FF2B5EF4-FFF2-40B4-BE49-F238E27FC236}">
                <a16:creationId xmlns:a16="http://schemas.microsoft.com/office/drawing/2014/main" id="{80B1F0E5-F1FD-4ADF-A218-AA4FC2672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53075"/>
            <a:ext cx="39052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보고서 Task</a:t>
            </a:r>
          </a:p>
        </p:txBody>
      </p:sp>
      <p:sp>
        <p:nvSpPr>
          <p:cNvPr id="54" name="dp42-background / n45 / text 1">
            <a:extLst xmlns:a="http://schemas.openxmlformats.org/drawingml/2006/main">
              <a:ext uri="{FF2B5EF4-FFF2-40B4-BE49-F238E27FC236}">
                <a16:creationId xmlns:a16="http://schemas.microsoft.com/office/drawing/2014/main" id="{B04D4857-D5BF-487F-9F62-9F09A0F6C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600700"/>
            <a:ext cx="5905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Task / 목표, 상태와 결과의 추적</a:t>
            </a:r>
          </a:p>
        </p:txBody>
      </p:sp>
      <p:sp>
        <p:nvSpPr>
          <p:cNvPr id="55" name="dp42-background / n46 / text 1">
            <a:extLst xmlns:a="http://schemas.openxmlformats.org/drawingml/2006/main">
              <a:ext uri="{FF2B5EF4-FFF2-40B4-BE49-F238E27FC236}">
                <a16:creationId xmlns:a16="http://schemas.microsoft.com/office/drawing/2014/main" id="{DDD97E33-C49D-4DBE-9FF5-2706E6B2E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Task 생성 후 Delegation</a:t>
            </a:r>
          </a:p>
        </p:txBody>
      </p:sp>
      <p:sp>
        <p:nvSpPr>
          <p:cNvPr id="56" name="dp42-background / n47 / text 1">
            <a:extLst xmlns:a="http://schemas.openxmlformats.org/drawingml/2006/main">
              <a:ext uri="{FF2B5EF4-FFF2-40B4-BE49-F238E27FC236}">
                <a16:creationId xmlns:a16="http://schemas.microsoft.com/office/drawing/2014/main" id="{F6138B4E-CF26-4410-AAC2-7188E6E5F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246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Agent Execution 1</a:t>
            </a:r>
          </a:p>
        </p:txBody>
      </p:sp>
      <p:sp>
        <p:nvSpPr>
          <p:cNvPr id="57" name="dp42-background / n48 / text 1">
            <a:extLst xmlns:a="http://schemas.openxmlformats.org/drawingml/2006/main">
              <a:ext uri="{FF2B5EF4-FFF2-40B4-BE49-F238E27FC236}">
                <a16:creationId xmlns:a16="http://schemas.microsoft.com/office/drawing/2014/main" id="{753CBE26-990C-4E43-84DB-40C0EE8C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6484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보고서 작성 시작</a:t>
            </a:r>
          </a:p>
        </p:txBody>
      </p:sp>
      <p:sp>
        <p:nvSpPr>
          <p:cNvPr id="58" name="dp42-background / n49 / text 1">
            <a:extLst xmlns:a="http://schemas.openxmlformats.org/drawingml/2006/main">
              <a:ext uri="{FF2B5EF4-FFF2-40B4-BE49-F238E27FC236}">
                <a16:creationId xmlns:a16="http://schemas.microsoft.com/office/drawing/2014/main" id="{22AF10EA-1E26-475C-8CA7-0D1776DEA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6038850"/>
            <a:ext cx="295275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Task와 실행 계속</a:t>
            </a:r>
          </a:p>
        </p:txBody>
      </p:sp>
      <p:sp>
        <p:nvSpPr>
          <p:cNvPr id="59" name="dp42-background / n50 / text 1">
            <a:extLst xmlns:a="http://schemas.openxmlformats.org/drawingml/2006/main">
              <a:ext uri="{FF2B5EF4-FFF2-40B4-BE49-F238E27FC236}">
                <a16:creationId xmlns:a16="http://schemas.microsoft.com/office/drawing/2014/main" id="{DA2A6C43-7571-4801-A895-084C7A6A4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6486525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상태 조회 / 새 실행 없음</a:t>
            </a:r>
          </a:p>
        </p:txBody>
      </p:sp>
      <p:sp>
        <p:nvSpPr>
          <p:cNvPr id="60" name="dp42-background / n51 / text 1">
            <a:extLst xmlns:a="http://schemas.openxmlformats.org/drawingml/2006/main">
              <a:ext uri="{FF2B5EF4-FFF2-40B4-BE49-F238E27FC236}">
                <a16:creationId xmlns:a16="http://schemas.microsoft.com/office/drawing/2014/main" id="{8C5D5CCB-4785-4A71-807B-2AA6614ED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97217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작성 종료 후 수정 Delegation</a:t>
            </a:r>
          </a:p>
        </p:txBody>
      </p:sp>
      <p:sp>
        <p:nvSpPr>
          <p:cNvPr id="61" name="dp42-background / n52 / text 1">
            <a:extLst xmlns:a="http://schemas.openxmlformats.org/drawingml/2006/main">
              <a:ext uri="{FF2B5EF4-FFF2-40B4-BE49-F238E27FC236}">
                <a16:creationId xmlns:a16="http://schemas.microsoft.com/office/drawing/2014/main" id="{58866BFD-E2B8-47C3-89E9-497DE4824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632460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Agent Execution 2 시작</a:t>
            </a:r>
          </a:p>
        </p:txBody>
      </p:sp>
      <p:sp>
        <p:nvSpPr>
          <p:cNvPr id="62" name="dp42-background / n53 / text 1">
            <a:extLst xmlns:a="http://schemas.openxmlformats.org/drawingml/2006/main">
              <a:ext uri="{FF2B5EF4-FFF2-40B4-BE49-F238E27FC236}">
                <a16:creationId xmlns:a16="http://schemas.microsoft.com/office/drawing/2014/main" id="{4B96718B-69B6-4981-BA9E-A9D9B9C2F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66484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같은 Task의 결론 수정</a:t>
            </a:r>
          </a:p>
        </p:txBody>
      </p:sp>
      <p:sp>
        <p:nvSpPr>
          <p:cNvPr id="63" name="dp42-background / n54">
            <a:extLst xmlns:a="http://schemas.openxmlformats.org/drawingml/2006/main">
              <a:ext uri="{FF2B5EF4-FFF2-40B4-BE49-F238E27FC236}">
                <a16:creationId xmlns:a16="http://schemas.microsoft.com/office/drawing/2014/main" id="{FE6D21DA-720B-4EFC-A0CE-CA23155BD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05650"/>
            <a:ext cx="1057275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64" name="dp42-background / n55 / text 1">
            <a:extLst xmlns:a="http://schemas.openxmlformats.org/drawingml/2006/main">
              <a:ext uri="{FF2B5EF4-FFF2-40B4-BE49-F238E27FC236}">
                <a16:creationId xmlns:a16="http://schemas.microsoft.com/office/drawing/2014/main" id="{DB9590B7-C981-4242-9BF1-4DABAF60A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181850"/>
            <a:ext cx="101727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메일 초안 Task</a:t>
            </a:r>
          </a:p>
        </p:txBody>
      </p:sp>
      <p:sp>
        <p:nvSpPr>
          <p:cNvPr id="65" name="dp42-background / n56 / text 1">
            <a:extLst xmlns:a="http://schemas.openxmlformats.org/drawingml/2006/main">
              <a:ext uri="{FF2B5EF4-FFF2-40B4-BE49-F238E27FC236}">
                <a16:creationId xmlns:a16="http://schemas.microsoft.com/office/drawing/2014/main" id="{9FA00B44-8355-4E24-8909-B6970E7F6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581900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Delegation / 초안 작성 시작</a:t>
            </a:r>
          </a:p>
        </p:txBody>
      </p:sp>
      <p:sp>
        <p:nvSpPr>
          <p:cNvPr id="66" name="dp42-background / n57 / text 1">
            <a:extLst xmlns:a="http://schemas.openxmlformats.org/drawingml/2006/main">
              <a:ext uri="{FF2B5EF4-FFF2-40B4-BE49-F238E27FC236}">
                <a16:creationId xmlns:a16="http://schemas.microsoft.com/office/drawing/2014/main" id="{A171E545-AECB-4925-BC9D-2F0C5FD65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96225"/>
            <a:ext cx="29527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Agent Execution</a:t>
            </a:r>
          </a:p>
        </p:txBody>
      </p:sp>
      <p:sp>
        <p:nvSpPr>
          <p:cNvPr id="67" name="dp42-background / n58 / text 1">
            <a:extLst xmlns:a="http://schemas.openxmlformats.org/drawingml/2006/main">
              <a:ext uri="{FF2B5EF4-FFF2-40B4-BE49-F238E27FC236}">
                <a16:creationId xmlns:a16="http://schemas.microsoft.com/office/drawing/2014/main" id="{C1139462-19AA-46C8-82EB-641CAEBCD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76962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초안 완료 / 결과 보관</a:t>
            </a:r>
          </a:p>
        </p:txBody>
      </p:sp>
      <p:sp>
        <p:nvSpPr>
          <p:cNvPr id="68" name="dp42-background / n59 / text 1">
            <a:extLst xmlns:a="http://schemas.openxmlformats.org/drawingml/2006/main">
              <a:ext uri="{FF2B5EF4-FFF2-40B4-BE49-F238E27FC236}">
                <a16:creationId xmlns:a16="http://schemas.microsoft.com/office/drawing/2014/main" id="{5B473B16-BE64-4097-9E20-762F77D99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76962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완료 상태와 결과 유지</a:t>
            </a:r>
          </a:p>
        </p:txBody>
      </p:sp>
      <p:sp>
        <p:nvSpPr>
          <p:cNvPr id="69" name="dp42-background / n60 / path">
            <a:extLst xmlns:a="http://schemas.openxmlformats.org/drawingml/2006/main">
              <a:ext uri="{FF2B5EF4-FFF2-40B4-BE49-F238E27FC236}">
                <a16:creationId xmlns:a16="http://schemas.microsoft.com/office/drawing/2014/main" id="{04407855-43E3-4175-AD5B-0D8A292F8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076575"/>
            <a:ext cx="953" cy="2057400"/>
          </a:xfrm>
          <a:custGeom xmlns:a="http://schemas.openxmlformats.org/drawingml/2006/main">
            <a:pathLst>
              <a:path w="953" h="2057400">
                <a:moveTo>
                  <a:pt x="0" y="0"/>
                </a:moveTo>
                <a:lnTo>
                  <a:pt x="0" y="20574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0" name="dp42-background / n61 / path">
            <a:extLst xmlns:a="http://schemas.openxmlformats.org/drawingml/2006/main">
              <a:ext uri="{FF2B5EF4-FFF2-40B4-BE49-F238E27FC236}">
                <a16:creationId xmlns:a16="http://schemas.microsoft.com/office/drawing/2014/main" id="{80FD292C-330B-4EB3-B837-6A1DADD0E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5934075"/>
            <a:ext cx="953" cy="847725"/>
          </a:xfrm>
          <a:custGeom xmlns:a="http://schemas.openxmlformats.org/drawingml/2006/main">
            <a:pathLst>
              <a:path w="953" h="847725">
                <a:moveTo>
                  <a:pt x="0" y="0"/>
                </a:moveTo>
                <a:lnTo>
                  <a:pt x="0" y="8477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1" name="dp42-background / n62 / path">
            <a:extLst xmlns:a="http://schemas.openxmlformats.org/drawingml/2006/main">
              <a:ext uri="{FF2B5EF4-FFF2-40B4-BE49-F238E27FC236}">
                <a16:creationId xmlns:a16="http://schemas.microsoft.com/office/drawing/2014/main" id="{1D89F375-9799-417A-83BF-16C98ADC4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7524750"/>
            <a:ext cx="953" cy="571500"/>
          </a:xfrm>
          <a:custGeom xmlns:a="http://schemas.openxmlformats.org/drawingml/2006/main">
            <a:pathLst>
              <a:path w="953" h="571500">
                <a:moveTo>
                  <a:pt x="0" y="0"/>
                </a:moveTo>
                <a:lnTo>
                  <a:pt x="0" y="5715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2" name="dp42-background / n63 / path">
            <a:extLst xmlns:a="http://schemas.openxmlformats.org/drawingml/2006/main">
              <a:ext uri="{FF2B5EF4-FFF2-40B4-BE49-F238E27FC236}">
                <a16:creationId xmlns:a16="http://schemas.microsoft.com/office/drawing/2014/main" id="{70F612AD-2B5D-47BB-8F5F-75E8BD3A2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76575"/>
            <a:ext cx="953" cy="2057400"/>
          </a:xfrm>
          <a:custGeom xmlns:a="http://schemas.openxmlformats.org/drawingml/2006/main">
            <a:pathLst>
              <a:path w="953" h="2057400">
                <a:moveTo>
                  <a:pt x="0" y="0"/>
                </a:moveTo>
                <a:lnTo>
                  <a:pt x="0" y="20574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3" name="dp42-background / n64 / path">
            <a:extLst xmlns:a="http://schemas.openxmlformats.org/drawingml/2006/main">
              <a:ext uri="{FF2B5EF4-FFF2-40B4-BE49-F238E27FC236}">
                <a16:creationId xmlns:a16="http://schemas.microsoft.com/office/drawing/2014/main" id="{72EE4D7D-3AB4-413F-964B-516BA86FB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934075"/>
            <a:ext cx="953" cy="847725"/>
          </a:xfrm>
          <a:custGeom xmlns:a="http://schemas.openxmlformats.org/drawingml/2006/main">
            <a:pathLst>
              <a:path w="953" h="847725">
                <a:moveTo>
                  <a:pt x="0" y="0"/>
                </a:moveTo>
                <a:lnTo>
                  <a:pt x="0" y="8477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4" name="dp42-background / n65 / path">
            <a:extLst xmlns:a="http://schemas.openxmlformats.org/drawingml/2006/main">
              <a:ext uri="{FF2B5EF4-FFF2-40B4-BE49-F238E27FC236}">
                <a16:creationId xmlns:a16="http://schemas.microsoft.com/office/drawing/2014/main" id="{DCAC4A42-ADE1-49C4-8DB8-02CA8B0CE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7524750"/>
            <a:ext cx="953" cy="571500"/>
          </a:xfrm>
          <a:custGeom xmlns:a="http://schemas.openxmlformats.org/drawingml/2006/main">
            <a:pathLst>
              <a:path w="953" h="571500">
                <a:moveTo>
                  <a:pt x="0" y="0"/>
                </a:moveTo>
                <a:lnTo>
                  <a:pt x="0" y="5715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75" name="dp42-background / n66 / text 1">
            <a:extLst xmlns:a="http://schemas.openxmlformats.org/drawingml/2006/main">
              <a:ext uri="{FF2B5EF4-FFF2-40B4-BE49-F238E27FC236}">
                <a16:creationId xmlns:a16="http://schemas.microsoft.com/office/drawing/2014/main" id="{FC60BF43-1558-4B18-B323-35B2AAA58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381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서로 다른 완료 시점</a:t>
            </a:r>
          </a:p>
        </p:txBody>
      </p:sp>
      <p:sp>
        <p:nvSpPr>
          <p:cNvPr id="76" name="dp42-background / n67 / text 1">
            <a:extLst xmlns:a="http://schemas.openxmlformats.org/drawingml/2006/main">
              <a:ext uri="{FF2B5EF4-FFF2-40B4-BE49-F238E27FC236}">
                <a16:creationId xmlns:a16="http://schemas.microsoft.com/office/drawing/2014/main" id="{8DBD9F07-2F3D-4E90-8585-2F4C40B51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781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외부 접수와 답변 완료, Task 목표 완료의 구분</a:t>
            </a:r>
          </a:p>
        </p:txBody>
      </p:sp>
      <p:sp>
        <p:nvSpPr>
          <p:cNvPr id="77" name="dp42-background / n68 / text 1">
            <a:extLst xmlns:a="http://schemas.openxmlformats.org/drawingml/2006/main">
              <a:ext uri="{FF2B5EF4-FFF2-40B4-BE49-F238E27FC236}">
                <a16:creationId xmlns:a16="http://schemas.microsoft.com/office/drawing/2014/main" id="{F2182669-4577-4320-8475-ADF142B12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905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후속 Request와 실행 연결</a:t>
            </a:r>
          </a:p>
        </p:txBody>
      </p:sp>
      <p:sp>
        <p:nvSpPr>
          <p:cNvPr id="78" name="dp42-background / n69 / text 1">
            <a:extLst xmlns:a="http://schemas.openxmlformats.org/drawingml/2006/main">
              <a:ext uri="{FF2B5EF4-FFF2-40B4-BE49-F238E27FC236}">
                <a16:creationId xmlns:a16="http://schemas.microsoft.com/office/drawing/2014/main" id="{8B90529E-975F-4510-8E64-47376C829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305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같은 Task의 상태 조회와 새 수정 실행 연결</a:t>
            </a:r>
          </a:p>
        </p:txBody>
      </p:sp>
      <p:sp>
        <p:nvSpPr>
          <p:cNvPr id="79" name="dp42-background / n70 / text 1">
            <a:extLst xmlns:a="http://schemas.openxmlformats.org/drawingml/2006/main">
              <a:ext uri="{FF2B5EF4-FFF2-40B4-BE49-F238E27FC236}">
                <a16:creationId xmlns:a16="http://schemas.microsoft.com/office/drawing/2014/main" id="{F459F966-B61E-4747-8665-584AD64FE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429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관리 책임과 복구 범위</a:t>
            </a:r>
          </a:p>
        </p:txBody>
      </p:sp>
      <p:sp>
        <p:nvSpPr>
          <p:cNvPr id="80" name="dp42-background / n71 / text 1">
            <a:extLst xmlns:a="http://schemas.openxmlformats.org/drawingml/2006/main">
              <a:ext uri="{FF2B5EF4-FFF2-40B4-BE49-F238E27FC236}">
                <a16:creationId xmlns:a16="http://schemas.microsoft.com/office/drawing/2014/main" id="{AB749162-B1BB-42A7-97F3-EE91C043F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829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기록과 상태의 관리 경계 및 중단 후 복구</a:t>
            </a:r>
          </a:p>
        </p:txBody>
      </p:sp>
    </p:spTree>
    <p:extLst>
      <p:ext uri="{BB962C8B-B14F-4D97-AF65-F5344CB8AC3E}">
        <p14:creationId xmlns:p14="http://schemas.microsoft.com/office/powerpoint/2010/main" val="108070519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dp43-background / n1">
            <a:extLst xmlns:a="http://schemas.openxmlformats.org/drawingml/2006/main">
              <a:ext uri="{FF2B5EF4-FFF2-40B4-BE49-F238E27FC236}">
                <a16:creationId xmlns:a16="http://schemas.microsoft.com/office/drawing/2014/main" id="{431BE382-CBD6-410D-AA8B-0901C9A4A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3-background / n2 / text 1">
            <a:extLst xmlns:a="http://schemas.openxmlformats.org/drawingml/2006/main">
              <a:ext uri="{FF2B5EF4-FFF2-40B4-BE49-F238E27FC236}">
                <a16:creationId xmlns:a16="http://schemas.microsoft.com/office/drawing/2014/main" id="{FC24F53C-C005-4291-8BCC-C36EFD721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1190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배경</a:t>
            </a:r>
          </a:p>
        </p:txBody>
      </p:sp>
      <p:sp>
        <p:nvSpPr>
          <p:cNvPr id="3" name="dp43-background / n3 / text 1">
            <a:extLst xmlns:a="http://schemas.openxmlformats.org/drawingml/2006/main">
              <a:ext uri="{FF2B5EF4-FFF2-40B4-BE49-F238E27FC236}">
                <a16:creationId xmlns:a16="http://schemas.microsoft.com/office/drawing/2014/main" id="{7188BE9A-5231-41A8-9821-997A29E95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1400" y="238125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04-43</a:t>
            </a:r>
          </a:p>
        </p:txBody>
      </p:sp>
      <p:sp>
        <p:nvSpPr>
          <p:cNvPr id="4" name="dp43-background / n4 / text 1">
            <a:extLst xmlns:a="http://schemas.openxmlformats.org/drawingml/2006/main">
              <a:ext uri="{FF2B5EF4-FFF2-40B4-BE49-F238E27FC236}">
                <a16:creationId xmlns:a16="http://schemas.microsoft.com/office/drawing/2014/main" id="{98D42C43-8A14-4796-B6AE-DFB1E17A9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695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04-43. 기능 정확성을 위한 VIA Request 의미 판단 설계</a:t>
            </a:r>
          </a:p>
        </p:txBody>
      </p:sp>
      <p:sp>
        <p:nvSpPr>
          <p:cNvPr id="5" name="dp43-background / n5 / path">
            <a:extLst xmlns:a="http://schemas.openxmlformats.org/drawingml/2006/main">
              <a:ext uri="{FF2B5EF4-FFF2-40B4-BE49-F238E27FC236}">
                <a16:creationId xmlns:a16="http://schemas.microsoft.com/office/drawing/2014/main" id="{577B4A79-326F-4563-ACDF-BA0319C38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3-background / n6">
            <a:extLst xmlns:a="http://schemas.openxmlformats.org/drawingml/2006/main">
              <a:ext uri="{FF2B5EF4-FFF2-40B4-BE49-F238E27FC236}">
                <a16:creationId xmlns:a16="http://schemas.microsoft.com/office/drawing/2014/main" id="{9D84E3D2-65A9-41FA-84E3-2B4344003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7068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p43-background / n7 / text 1">
            <a:extLst xmlns:a="http://schemas.openxmlformats.org/drawingml/2006/main">
              <a:ext uri="{FF2B5EF4-FFF2-40B4-BE49-F238E27FC236}">
                <a16:creationId xmlns:a16="http://schemas.microsoft.com/office/drawing/2014/main" id="{F355E4B7-D0F0-49FC-BD43-BD147967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16725900" cy="497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정정에 따른 관련 참조 오류와 기존 조건 누락 위험</a:t>
            </a:r>
          </a:p>
        </p:txBody>
      </p:sp>
      <p:sp>
        <p:nvSpPr>
          <p:cNvPr id="8" name="dp43-background / n8 / path">
            <a:extLst xmlns:a="http://schemas.openxmlformats.org/drawingml/2006/main">
              <a:ext uri="{FF2B5EF4-FFF2-40B4-BE49-F238E27FC236}">
                <a16:creationId xmlns:a16="http://schemas.microsoft.com/office/drawing/2014/main" id="{06605962-996D-42AE-8C54-3DB47A5EF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2686050"/>
            <a:ext cx="953" cy="5495925"/>
          </a:xfrm>
          <a:custGeom xmlns:a="http://schemas.openxmlformats.org/drawingml/2006/main">
            <a:pathLst>
              <a:path w="953" h="5495925">
                <a:moveTo>
                  <a:pt x="0" y="0"/>
                </a:moveTo>
                <a:lnTo>
                  <a:pt x="0" y="5495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9" name="dp43-background / n9 / text 1">
            <a:extLst xmlns:a="http://schemas.openxmlformats.org/drawingml/2006/main">
              <a:ext uri="{FF2B5EF4-FFF2-40B4-BE49-F238E27FC236}">
                <a16:creationId xmlns:a16="http://schemas.microsoft.com/office/drawing/2014/main" id="{CD6FC4BE-4549-4C15-83B6-6F5A15CAB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695575"/>
            <a:ext cx="56769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설계 고려 사항</a:t>
            </a:r>
          </a:p>
        </p:txBody>
      </p:sp>
      <p:sp>
        <p:nvSpPr>
          <p:cNvPr id="10" name="dp43-background / n10 / path">
            <a:extLst xmlns:a="http://schemas.openxmlformats.org/drawingml/2006/main">
              <a:ext uri="{FF2B5EF4-FFF2-40B4-BE49-F238E27FC236}">
                <a16:creationId xmlns:a16="http://schemas.microsoft.com/office/drawing/2014/main" id="{57AF02FE-AFD6-4EA8-B84D-C8E994028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58200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11" name="dp43-background / n11 / text 1">
            <a:extLst xmlns:a="http://schemas.openxmlformats.org/drawingml/2006/main">
              <a:ext uri="{FF2B5EF4-FFF2-40B4-BE49-F238E27FC236}">
                <a16:creationId xmlns:a16="http://schemas.microsoft.com/office/drawing/2014/main" id="{9629F578-563A-425F-8ED2-41E5960DB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10625"/>
            <a:ext cx="1571625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설계 과제</a:t>
            </a:r>
          </a:p>
        </p:txBody>
      </p:sp>
      <p:sp>
        <p:nvSpPr>
          <p:cNvPr id="12" name="dp43-background / n12 / text 1">
            <a:extLst xmlns:a="http://schemas.openxmlformats.org/drawingml/2006/main">
              <a:ext uri="{FF2B5EF4-FFF2-40B4-BE49-F238E27FC236}">
                <a16:creationId xmlns:a16="http://schemas.microsoft.com/office/drawing/2014/main" id="{F4BC68BB-FEAD-4603-B242-9E7900958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8763000"/>
            <a:ext cx="15392400" cy="428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연관된 의미 판단의 생산 책임과 조정 방식 설계</a:t>
            </a:r>
          </a:p>
        </p:txBody>
      </p:sp>
      <p:sp>
        <p:nvSpPr>
          <p:cNvPr id="13" name="dp43-background / n13 / text 1">
            <a:extLst xmlns:a="http://schemas.openxmlformats.org/drawingml/2006/main">
              <a:ext uri="{FF2B5EF4-FFF2-40B4-BE49-F238E27FC236}">
                <a16:creationId xmlns:a16="http://schemas.microsoft.com/office/drawing/2014/main" id="{3BFB9BB2-98EB-442E-9DBF-FE12CE1C6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58375"/>
            <a:ext cx="120015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품질 관점: 기능 정확성 / 기능 지원 범위 / 변경 용이성</a:t>
            </a:r>
          </a:p>
        </p:txBody>
      </p:sp>
      <p:sp>
        <p:nvSpPr>
          <p:cNvPr id="14" name="dp43-background / n14 / text 1">
            <a:extLst xmlns:a="http://schemas.openxmlformats.org/drawingml/2006/main">
              <a:ext uri="{FF2B5EF4-FFF2-40B4-BE49-F238E27FC236}">
                <a16:creationId xmlns:a16="http://schemas.microsoft.com/office/drawing/2014/main" id="{148FF4B7-3BCB-4AD5-B8BF-9CF9FE1FC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9858375"/>
            <a:ext cx="4572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후보 / 미선정 / 미측정</a:t>
            </a:r>
          </a:p>
        </p:txBody>
      </p:sp>
      <p:sp>
        <p:nvSpPr>
          <p:cNvPr id="15" name="dp43-background / n15">
            <a:extLst xmlns:a="http://schemas.openxmlformats.org/drawingml/2006/main">
              <a:ext uri="{FF2B5EF4-FFF2-40B4-BE49-F238E27FC236}">
                <a16:creationId xmlns:a16="http://schemas.microsoft.com/office/drawing/2014/main" id="{6F586744-9CCF-4BFE-A3B3-43BB656F2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5143500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3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dp43-background / n16">
            <a:extLst xmlns:a="http://schemas.openxmlformats.org/drawingml/2006/main">
              <a:ext uri="{FF2B5EF4-FFF2-40B4-BE49-F238E27FC236}">
                <a16:creationId xmlns:a16="http://schemas.microsoft.com/office/drawing/2014/main" id="{2584C627-ECCA-467C-8C3E-72838B5D3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19375"/>
            <a:ext cx="4972050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dp43-background / n17 / text 1">
            <a:extLst xmlns:a="http://schemas.openxmlformats.org/drawingml/2006/main">
              <a:ext uri="{FF2B5EF4-FFF2-40B4-BE49-F238E27FC236}">
                <a16:creationId xmlns:a16="http://schemas.microsoft.com/office/drawing/2014/main" id="{04617368-E4D2-48EE-9513-82BD046A0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33675"/>
            <a:ext cx="4762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진행 중인 두 Task의 조건 지정</a:t>
            </a:r>
          </a:p>
        </p:txBody>
      </p:sp>
      <p:sp>
        <p:nvSpPr>
          <p:cNvPr id="18" name="dp43-background / n18 / text 1">
            <a:extLst xmlns:a="http://schemas.openxmlformats.org/drawingml/2006/main">
              <a:ext uri="{FF2B5EF4-FFF2-40B4-BE49-F238E27FC236}">
                <a16:creationId xmlns:a16="http://schemas.microsoft.com/office/drawing/2014/main" id="{055F7D87-9E73-40F0-9ED6-9F20CCC66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86100"/>
            <a:ext cx="476250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“보고서는 PDF로, 메일에는</a:t>
            </a:r>
          </a:p>
        </p:txBody>
      </p:sp>
      <p:sp>
        <p:nvSpPr>
          <p:cNvPr id="19" name="dp43-background / n18 / text 2">
            <a:extLst xmlns:a="http://schemas.openxmlformats.org/drawingml/2006/main">
              <a:ext uri="{FF2B5EF4-FFF2-40B4-BE49-F238E27FC236}">
                <a16:creationId xmlns:a16="http://schemas.microsoft.com/office/drawing/2014/main" id="{ADB95CD6-FF39-4D47-9D5B-1FFE0931A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0900"/>
            <a:ext cx="476250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그 보고서의 결론을 넣어줘.”</a:t>
            </a:r>
          </a:p>
        </p:txBody>
      </p:sp>
      <p:sp>
        <p:nvSpPr>
          <p:cNvPr id="20" name="dp43-background / n19 / text 1">
            <a:extLst xmlns:a="http://schemas.openxmlformats.org/drawingml/2006/main">
              <a:ext uri="{FF2B5EF4-FFF2-40B4-BE49-F238E27FC236}">
                <a16:creationId xmlns:a16="http://schemas.microsoft.com/office/drawing/2014/main" id="{4F6C2662-87C9-4F1A-9244-783AA6E3F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24275"/>
            <a:ext cx="476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/ PDF 조건과 메일 내용</a:t>
            </a:r>
          </a:p>
        </p:txBody>
      </p:sp>
      <p:sp>
        <p:nvSpPr>
          <p:cNvPr id="21" name="dp43-background / n20 / text 1">
            <a:extLst xmlns:a="http://schemas.openxmlformats.org/drawingml/2006/main">
              <a:ext uri="{FF2B5EF4-FFF2-40B4-BE49-F238E27FC236}">
                <a16:creationId xmlns:a16="http://schemas.microsoft.com/office/drawing/2014/main" id="{05FEDCE8-33D4-49B1-865F-210B39F8D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33675"/>
            <a:ext cx="45910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잠시 뒤 / 메일 내용 정정</a:t>
            </a:r>
          </a:p>
        </p:txBody>
      </p:sp>
      <p:sp>
        <p:nvSpPr>
          <p:cNvPr id="22" name="dp43-background / n21 / text 1">
            <a:extLst xmlns:a="http://schemas.openxmlformats.org/drawingml/2006/main">
              <a:ext uri="{FF2B5EF4-FFF2-40B4-BE49-F238E27FC236}">
                <a16:creationId xmlns:a16="http://schemas.microsoft.com/office/drawing/2014/main" id="{D36898B8-E675-4F0B-B52F-D9E63FB18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86100"/>
            <a:ext cx="459105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“메일에는 결론 대신</a:t>
            </a:r>
          </a:p>
        </p:txBody>
      </p:sp>
      <p:sp>
        <p:nvSpPr>
          <p:cNvPr id="23" name="dp43-background / n21 / text 2">
            <a:extLst xmlns:a="http://schemas.openxmlformats.org/drawingml/2006/main">
              <a:ext uri="{FF2B5EF4-FFF2-40B4-BE49-F238E27FC236}">
                <a16:creationId xmlns:a16="http://schemas.microsoft.com/office/drawing/2014/main" id="{7673C883-753A-481E-B165-283C65109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90900"/>
            <a:ext cx="4591050" cy="372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표만 넣어줘.”</a:t>
            </a:r>
          </a:p>
        </p:txBody>
      </p:sp>
      <p:sp>
        <p:nvSpPr>
          <p:cNvPr id="24" name="dp43-background / n22 / text 1">
            <a:extLst xmlns:a="http://schemas.openxmlformats.org/drawingml/2006/main">
              <a:ext uri="{FF2B5EF4-FFF2-40B4-BE49-F238E27FC236}">
                <a16:creationId xmlns:a16="http://schemas.microsoft.com/office/drawing/2014/main" id="{4AA08A27-B48A-43C9-913A-6F6117C9D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724275"/>
            <a:ext cx="45910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/ 메일 내용 교체</a:t>
            </a:r>
          </a:p>
        </p:txBody>
      </p:sp>
      <p:sp>
        <p:nvSpPr>
          <p:cNvPr id="25" name="dp43-background / n23 / path">
            <a:extLst xmlns:a="http://schemas.openxmlformats.org/drawingml/2006/main">
              <a:ext uri="{FF2B5EF4-FFF2-40B4-BE49-F238E27FC236}">
                <a16:creationId xmlns:a16="http://schemas.microsoft.com/office/drawing/2014/main" id="{BA3553F2-D29C-4059-AAA3-E4F73B28F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295650"/>
            <a:ext cx="228600" cy="953"/>
          </a:xfrm>
          <a:custGeom xmlns:a="http://schemas.openxmlformats.org/drawingml/2006/main">
            <a:pathLst>
              <a:path w="228600" h="953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26" name="dp43-background / n23 / arrow">
            <a:extLst xmlns:a="http://schemas.openxmlformats.org/drawingml/2006/main">
              <a:ext uri="{FF2B5EF4-FFF2-40B4-BE49-F238E27FC236}">
                <a16:creationId xmlns:a16="http://schemas.microsoft.com/office/drawing/2014/main" id="{0EFA598A-3B89-4CD1-92D8-A58CD7BCF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4080" y="32346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27" name="dp43-background / n24">
            <a:extLst xmlns:a="http://schemas.openxmlformats.org/drawingml/2006/main">
              <a:ext uri="{FF2B5EF4-FFF2-40B4-BE49-F238E27FC236}">
                <a16:creationId xmlns:a16="http://schemas.microsoft.com/office/drawing/2014/main" id="{2348FEDD-6ED4-4B0C-A5B5-E70A910D6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2857500" cy="1943100"/>
          </a:xfrm>
          <a:custGeom xmlns:a="http://schemas.openxmlformats.org/drawingml/2006/main">
            <a:pathLst>
              <a:path w="2857500" h="1943100">
                <a:moveTo>
                  <a:pt x="0" y="0"/>
                </a:moveTo>
                <a:lnTo>
                  <a:pt x="2686050" y="0"/>
                </a:lnTo>
                <a:lnTo>
                  <a:pt x="2857500" y="171450"/>
                </a:lnTo>
                <a:lnTo>
                  <a:pt x="2857500" y="1943100"/>
                </a:lnTo>
                <a:lnTo>
                  <a:pt x="0" y="1943100"/>
                </a:lnTo>
                <a:close/>
              </a:path>
            </a:pathLst>
          </a:custGeom>
          <a:solidFill xmlns:a="http://schemas.openxmlformats.org/drawingml/2006/main">
            <a:srgbClr val="F3F7F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8" name="dp43-background / n24 / fold">
            <a:extLst xmlns:a="http://schemas.openxmlformats.org/drawingml/2006/main">
              <a:ext uri="{FF2B5EF4-FFF2-40B4-BE49-F238E27FC236}">
                <a16:creationId xmlns:a16="http://schemas.microsoft.com/office/drawing/2014/main" id="{B41BEA42-2C9C-4E2B-AD18-707CB719D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533900"/>
            <a:ext cx="171450" cy="171450"/>
          </a:xfrm>
          <a:custGeom xmlns:a="http://schemas.openxmlformats.org/drawingml/2006/main">
            <a:pathLst>
              <a:path w="171450" h="171450">
                <a:moveTo>
                  <a:pt x="0" y="0"/>
                </a:moveTo>
                <a:lnTo>
                  <a:pt x="0" y="171450"/>
                </a:lnTo>
                <a:lnTo>
                  <a:pt x="17145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9" name="dp43-background / n25 / text 1">
            <a:extLst xmlns:a="http://schemas.openxmlformats.org/drawingml/2006/main">
              <a:ext uri="{FF2B5EF4-FFF2-40B4-BE49-F238E27FC236}">
                <a16:creationId xmlns:a16="http://schemas.microsoft.com/office/drawing/2014/main" id="{BEE61D2C-3E90-43C0-B2E3-FC8AF3F65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57725"/>
            <a:ext cx="24765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Task</a:t>
            </a:r>
          </a:p>
        </p:txBody>
      </p:sp>
      <p:sp>
        <p:nvSpPr>
          <p:cNvPr id="30" name="dp43-background / n26 / text 1">
            <a:extLst xmlns:a="http://schemas.openxmlformats.org/drawingml/2006/main">
              <a:ext uri="{FF2B5EF4-FFF2-40B4-BE49-F238E27FC236}">
                <a16:creationId xmlns:a16="http://schemas.microsoft.com/office/drawing/2014/main" id="{DDC3E4F5-3041-4D50-942E-49B609611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14925"/>
            <a:ext cx="247650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PDF 조건 유지</a:t>
            </a:r>
          </a:p>
        </p:txBody>
      </p:sp>
      <p:sp>
        <p:nvSpPr>
          <p:cNvPr id="31" name="dp43-background / n27 / text 1">
            <a:extLst xmlns:a="http://schemas.openxmlformats.org/drawingml/2006/main">
              <a:ext uri="{FF2B5EF4-FFF2-40B4-BE49-F238E27FC236}">
                <a16:creationId xmlns:a16="http://schemas.microsoft.com/office/drawing/2014/main" id="{38DBF1B1-008E-4E2C-896F-7E87CEB57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53100"/>
            <a:ext cx="247650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결과 / 결론과 표</a:t>
            </a:r>
          </a:p>
        </p:txBody>
      </p:sp>
      <p:sp>
        <p:nvSpPr>
          <p:cNvPr id="32" name="dp43-background / n28">
            <a:extLst xmlns:a="http://schemas.openxmlformats.org/drawingml/2006/main">
              <a:ext uri="{FF2B5EF4-FFF2-40B4-BE49-F238E27FC236}">
                <a16:creationId xmlns:a16="http://schemas.microsoft.com/office/drawing/2014/main" id="{BCA5C97C-B58B-4FBA-A57B-1AC482EF6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533900"/>
            <a:ext cx="4019550" cy="1943100"/>
          </a:xfrm>
          <a:custGeom xmlns:a="http://schemas.openxmlformats.org/drawingml/2006/main">
            <a:pathLst>
              <a:path w="4019550" h="1943100">
                <a:moveTo>
                  <a:pt x="0" y="0"/>
                </a:moveTo>
                <a:lnTo>
                  <a:pt x="3848100" y="0"/>
                </a:lnTo>
                <a:lnTo>
                  <a:pt x="4019550" y="171450"/>
                </a:lnTo>
                <a:lnTo>
                  <a:pt x="4019550" y="1943100"/>
                </a:lnTo>
                <a:lnTo>
                  <a:pt x="0" y="1943100"/>
                </a:lnTo>
                <a:close/>
              </a:path>
            </a:pathLst>
          </a:custGeom>
          <a:solidFill xmlns:a="http://schemas.openxmlformats.org/drawingml/2006/main">
            <a:srgbClr val="F3F6FA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33" name="dp43-background / n28 / fold">
            <a:extLst xmlns:a="http://schemas.openxmlformats.org/drawingml/2006/main">
              <a:ext uri="{FF2B5EF4-FFF2-40B4-BE49-F238E27FC236}">
                <a16:creationId xmlns:a16="http://schemas.microsoft.com/office/drawing/2014/main" id="{2322514D-D711-498B-BB38-1B2CDEEA2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4533900"/>
            <a:ext cx="171450" cy="171450"/>
          </a:xfrm>
          <a:custGeom xmlns:a="http://schemas.openxmlformats.org/drawingml/2006/main">
            <a:pathLst>
              <a:path w="171450" h="171450">
                <a:moveTo>
                  <a:pt x="0" y="0"/>
                </a:moveTo>
                <a:lnTo>
                  <a:pt x="0" y="171450"/>
                </a:lnTo>
                <a:lnTo>
                  <a:pt x="17145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34" name="dp43-background / n29 / text 1">
            <a:extLst xmlns:a="http://schemas.openxmlformats.org/drawingml/2006/main">
              <a:ext uri="{FF2B5EF4-FFF2-40B4-BE49-F238E27FC236}">
                <a16:creationId xmlns:a16="http://schemas.microsoft.com/office/drawing/2014/main" id="{265CE8AD-A7DC-407C-BFD8-3B2783C7B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57725"/>
            <a:ext cx="36385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초안 Task</a:t>
            </a:r>
          </a:p>
        </p:txBody>
      </p:sp>
      <p:sp>
        <p:nvSpPr>
          <p:cNvPr id="35" name="dp43-background / n30 / text 1">
            <a:extLst xmlns:a="http://schemas.openxmlformats.org/drawingml/2006/main">
              <a:ext uri="{FF2B5EF4-FFF2-40B4-BE49-F238E27FC236}">
                <a16:creationId xmlns:a16="http://schemas.microsoft.com/office/drawing/2014/main" id="{0F64A106-6AE7-496E-9B81-D6ED4A7BD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114925"/>
            <a:ext cx="36385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기존 / 보고서 결론</a:t>
            </a:r>
          </a:p>
        </p:txBody>
      </p:sp>
      <p:sp>
        <p:nvSpPr>
          <p:cNvPr id="36" name="dp43-background / n31 / path">
            <a:extLst xmlns:a="http://schemas.openxmlformats.org/drawingml/2006/main">
              <a:ext uri="{FF2B5EF4-FFF2-40B4-BE49-F238E27FC236}">
                <a16:creationId xmlns:a16="http://schemas.microsoft.com/office/drawing/2014/main" id="{BAE88618-CDB7-4B4F-9973-4F46CB258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5267325"/>
            <a:ext cx="1666875" cy="953"/>
          </a:xfrm>
          <a:custGeom xmlns:a="http://schemas.openxmlformats.org/drawingml/2006/main">
            <a:pathLst>
              <a:path w="1666875" h="953">
                <a:moveTo>
                  <a:pt x="0" y="0"/>
                </a:moveTo>
                <a:lnTo>
                  <a:pt x="16668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solid"/>
          </a:ln>
        </p:spPr>
      </p:sp>
      <p:sp>
        <p:nvSpPr>
          <p:cNvPr id="37" name="dp43-background / n32 / text 1">
            <a:extLst xmlns:a="http://schemas.openxmlformats.org/drawingml/2006/main">
              <a:ext uri="{FF2B5EF4-FFF2-40B4-BE49-F238E27FC236}">
                <a16:creationId xmlns:a16="http://schemas.microsoft.com/office/drawing/2014/main" id="{2D209A4A-CF3F-40B1-B5CD-A3BFB3AB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762625"/>
            <a:ext cx="36385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같은 보고서의 표만 사용</a:t>
            </a:r>
          </a:p>
        </p:txBody>
      </p:sp>
      <p:sp>
        <p:nvSpPr>
          <p:cNvPr id="38" name="dp43-background / n33 / path">
            <a:extLst xmlns:a="http://schemas.openxmlformats.org/drawingml/2006/main">
              <a:ext uri="{FF2B5EF4-FFF2-40B4-BE49-F238E27FC236}">
                <a16:creationId xmlns:a16="http://schemas.microsoft.com/office/drawing/2014/main" id="{40C9614F-0322-4EA3-B66E-44F4D8E05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505450"/>
            <a:ext cx="3333750" cy="953"/>
          </a:xfrm>
          <a:custGeom xmlns:a="http://schemas.openxmlformats.org/drawingml/2006/main">
            <a:pathLst>
              <a:path w="3333750" h="953">
                <a:moveTo>
                  <a:pt x="0" y="0"/>
                </a:moveTo>
                <a:lnTo>
                  <a:pt x="3333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87E8B"/>
            </a:solidFill>
            <a:prstDash val="solid"/>
          </a:ln>
        </p:spPr>
      </p:sp>
      <p:sp>
        <p:nvSpPr>
          <p:cNvPr id="39" name="dp43-background / n33 / arrow">
            <a:extLst xmlns:a="http://schemas.openxmlformats.org/drawingml/2006/main">
              <a:ext uri="{FF2B5EF4-FFF2-40B4-BE49-F238E27FC236}">
                <a16:creationId xmlns:a16="http://schemas.microsoft.com/office/drawing/2014/main" id="{4574A337-8211-472B-9142-426C973FF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0370" y="5414010"/>
            <a:ext cx="182880" cy="182880"/>
          </a:xfrm>
          <a:custGeom xmlns:a="http://schemas.openxmlformats.org/drawingml/2006/main">
            <a:pathLst>
              <a:path w="182880" h="182880">
                <a:moveTo>
                  <a:pt x="0" y="182880"/>
                </a:moveTo>
                <a:lnTo>
                  <a:pt x="182880" y="9144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6576">
            <a:solidFill>
              <a:srgbClr val="087E8B"/>
            </a:solidFill>
            <a:prstDash val="solid"/>
          </a:ln>
        </p:spPr>
      </p:sp>
      <p:sp>
        <p:nvSpPr>
          <p:cNvPr id="40" name="dp43-background / n34 / text 1">
            <a:extLst xmlns:a="http://schemas.openxmlformats.org/drawingml/2006/main">
              <a:ext uri="{FF2B5EF4-FFF2-40B4-BE49-F238E27FC236}">
                <a16:creationId xmlns:a16="http://schemas.microsoft.com/office/drawing/2014/main" id="{5A9B0C60-5ABA-47BE-94B0-9AEB99441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4714875"/>
            <a:ext cx="30670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메일의 보고서 참조 변경</a:t>
            </a:r>
          </a:p>
        </p:txBody>
      </p:sp>
      <p:sp>
        <p:nvSpPr>
          <p:cNvPr id="41" name="dp43-background / n35 / text 1">
            <a:extLst xmlns:a="http://schemas.openxmlformats.org/drawingml/2006/main">
              <a:ext uri="{FF2B5EF4-FFF2-40B4-BE49-F238E27FC236}">
                <a16:creationId xmlns:a16="http://schemas.microsoft.com/office/drawing/2014/main" id="{CEFD304E-6C26-47E2-A821-017FE6EC1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5962650"/>
            <a:ext cx="30670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보고서 결과 준비 후 사용</a:t>
            </a:r>
          </a:p>
        </p:txBody>
      </p:sp>
      <p:sp>
        <p:nvSpPr>
          <p:cNvPr id="42" name="dp43-background / n36 / text 1">
            <a:extLst xmlns:a="http://schemas.openxmlformats.org/drawingml/2006/main">
              <a:ext uri="{FF2B5EF4-FFF2-40B4-BE49-F238E27FC236}">
                <a16:creationId xmlns:a16="http://schemas.microsoft.com/office/drawing/2014/main" id="{A7B4A313-F4AF-4F53-80D8-4E8221121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0"/>
            <a:ext cx="1057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정정 시 함께 맞춰야 할 판단</a:t>
            </a:r>
          </a:p>
        </p:txBody>
      </p:sp>
      <p:sp>
        <p:nvSpPr>
          <p:cNvPr id="43" name="dp43-background / n37 / text 1">
            <a:extLst xmlns:a="http://schemas.openxmlformats.org/drawingml/2006/main">
              <a:ext uri="{FF2B5EF4-FFF2-40B4-BE49-F238E27FC236}">
                <a16:creationId xmlns:a16="http://schemas.microsoft.com/office/drawing/2014/main" id="{7882B943-7736-42EE-8EBB-2C01C1A0E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26757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Referent</a:t>
            </a:r>
          </a:p>
        </p:txBody>
      </p:sp>
      <p:sp>
        <p:nvSpPr>
          <p:cNvPr id="44" name="dp43-background / n38 / text 1">
            <a:extLst xmlns:a="http://schemas.openxmlformats.org/drawingml/2006/main">
              <a:ext uri="{FF2B5EF4-FFF2-40B4-BE49-F238E27FC236}">
                <a16:creationId xmlns:a16="http://schemas.microsoft.com/office/drawing/2014/main" id="{8C52F91E-8914-4C5E-8130-305DF49D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658100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같은 보고서의 표</a:t>
            </a:r>
          </a:p>
        </p:txBody>
      </p:sp>
      <p:sp>
        <p:nvSpPr>
          <p:cNvPr id="45" name="dp43-background / n39 / text 1">
            <a:extLst xmlns:a="http://schemas.openxmlformats.org/drawingml/2006/main">
              <a:ext uri="{FF2B5EF4-FFF2-40B4-BE49-F238E27FC236}">
                <a16:creationId xmlns:a16="http://schemas.microsoft.com/office/drawing/2014/main" id="{565C3977-20D5-4BAE-B3D4-002A2FBD4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726757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Task Association</a:t>
            </a:r>
          </a:p>
        </p:txBody>
      </p:sp>
      <p:sp>
        <p:nvSpPr>
          <p:cNvPr id="46" name="dp43-background / n40 / text 1">
            <a:extLst xmlns:a="http://schemas.openxmlformats.org/drawingml/2006/main">
              <a:ext uri="{FF2B5EF4-FFF2-40B4-BE49-F238E27FC236}">
                <a16:creationId xmlns:a16="http://schemas.microsoft.com/office/drawing/2014/main" id="{03E833CB-CBB4-44BB-8B0B-7ABD1F214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7658100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초안 Task</a:t>
            </a:r>
          </a:p>
        </p:txBody>
      </p:sp>
      <p:sp>
        <p:nvSpPr>
          <p:cNvPr id="47" name="dp43-background / n41 / text 1">
            <a:extLst xmlns:a="http://schemas.openxmlformats.org/drawingml/2006/main">
              <a:ext uri="{FF2B5EF4-FFF2-40B4-BE49-F238E27FC236}">
                <a16:creationId xmlns:a16="http://schemas.microsoft.com/office/drawing/2014/main" id="{715F2A43-6E09-432C-AC49-C2054595E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726757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정정 범위</a:t>
            </a:r>
          </a:p>
        </p:txBody>
      </p:sp>
      <p:sp>
        <p:nvSpPr>
          <p:cNvPr id="48" name="dp43-background / n42 / text 1">
            <a:extLst xmlns:a="http://schemas.openxmlformats.org/drawingml/2006/main">
              <a:ext uri="{FF2B5EF4-FFF2-40B4-BE49-F238E27FC236}">
                <a16:creationId xmlns:a16="http://schemas.microsoft.com/office/drawing/2014/main" id="{DE95C9E8-6B1F-462F-A798-92AF62FC2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7658100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내용만 교체</a:t>
            </a:r>
          </a:p>
        </p:txBody>
      </p:sp>
      <p:sp>
        <p:nvSpPr>
          <p:cNvPr id="49" name="dp43-background / n43 / path">
            <a:extLst xmlns:a="http://schemas.openxmlformats.org/drawingml/2006/main">
              <a:ext uri="{FF2B5EF4-FFF2-40B4-BE49-F238E27FC236}">
                <a16:creationId xmlns:a16="http://schemas.microsoft.com/office/drawing/2014/main" id="{E0490E9B-E444-4D4D-A438-A141A0CF4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7800975"/>
            <a:ext cx="419100" cy="953"/>
          </a:xfrm>
          <a:custGeom xmlns:a="http://schemas.openxmlformats.org/drawingml/2006/main">
            <a:pathLst>
              <a:path w="419100" h="953">
                <a:moveTo>
                  <a:pt x="0" y="0"/>
                </a:moveTo>
                <a:lnTo>
                  <a:pt x="4191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50" name="dp43-background / n44 / path">
            <a:extLst xmlns:a="http://schemas.openxmlformats.org/drawingml/2006/main">
              <a:ext uri="{FF2B5EF4-FFF2-40B4-BE49-F238E27FC236}">
                <a16:creationId xmlns:a16="http://schemas.microsoft.com/office/drawing/2014/main" id="{21C94881-DF48-4EB6-AAB5-633588F75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7800975"/>
            <a:ext cx="438150" cy="953"/>
          </a:xfrm>
          <a:custGeom xmlns:a="http://schemas.openxmlformats.org/drawingml/2006/main">
            <a:pathLst>
              <a:path w="438150" h="953">
                <a:moveTo>
                  <a:pt x="0" y="0"/>
                </a:moveTo>
                <a:lnTo>
                  <a:pt x="4381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51" name="dp43-background / n45 / text 1">
            <a:extLst xmlns:a="http://schemas.openxmlformats.org/drawingml/2006/main">
              <a:ext uri="{FF2B5EF4-FFF2-40B4-BE49-F238E27FC236}">
                <a16:creationId xmlns:a16="http://schemas.microsoft.com/office/drawing/2014/main" id="{B4C2DBDA-C58A-41E4-BFFF-79ED5474F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381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의도와 처리 방향</a:t>
            </a:r>
          </a:p>
        </p:txBody>
      </p:sp>
      <p:sp>
        <p:nvSpPr>
          <p:cNvPr id="52" name="dp43-background / n46 / text 1">
            <a:extLst xmlns:a="http://schemas.openxmlformats.org/drawingml/2006/main">
              <a:ext uri="{FF2B5EF4-FFF2-40B4-BE49-F238E27FC236}">
                <a16:creationId xmlns:a16="http://schemas.microsoft.com/office/drawing/2014/main" id="{27BD2474-3403-4D98-B3F4-1C1844F50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781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요청 목표와 Delegation 및 자료 대기의 판단</a:t>
            </a:r>
          </a:p>
        </p:txBody>
      </p:sp>
      <p:sp>
        <p:nvSpPr>
          <p:cNvPr id="53" name="dp43-background / n47 / text 1">
            <a:extLst xmlns:a="http://schemas.openxmlformats.org/drawingml/2006/main">
              <a:ext uri="{FF2B5EF4-FFF2-40B4-BE49-F238E27FC236}">
                <a16:creationId xmlns:a16="http://schemas.microsoft.com/office/drawing/2014/main" id="{F9F52A87-D7DB-4913-B8EA-B9987710F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905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Referent와 Task Association</a:t>
            </a:r>
          </a:p>
        </p:txBody>
      </p:sp>
      <p:sp>
        <p:nvSpPr>
          <p:cNvPr id="54" name="dp43-background / n48 / text 1">
            <a:extLst xmlns:a="http://schemas.openxmlformats.org/drawingml/2006/main">
              <a:ext uri="{FF2B5EF4-FFF2-40B4-BE49-F238E27FC236}">
                <a16:creationId xmlns:a16="http://schemas.microsoft.com/office/drawing/2014/main" id="{B1BE47CF-EBBC-4072-9A69-373F381B7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305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자료와 관련 Task 및 결과 사용 관계의 일치</a:t>
            </a:r>
          </a:p>
        </p:txBody>
      </p:sp>
      <p:sp>
        <p:nvSpPr>
          <p:cNvPr id="55" name="dp43-background / n49 / text 1">
            <a:extLst xmlns:a="http://schemas.openxmlformats.org/drawingml/2006/main">
              <a:ext uri="{FF2B5EF4-FFF2-40B4-BE49-F238E27FC236}">
                <a16:creationId xmlns:a16="http://schemas.microsoft.com/office/drawing/2014/main" id="{AE11C491-C044-4332-920C-B3DF508AD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429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정정 범위와 기존 조건</a:t>
            </a:r>
          </a:p>
        </p:txBody>
      </p:sp>
      <p:sp>
        <p:nvSpPr>
          <p:cNvPr id="56" name="dp43-background / n50 / text 1">
            <a:extLst xmlns:a="http://schemas.openxmlformats.org/drawingml/2006/main">
              <a:ext uri="{FF2B5EF4-FFF2-40B4-BE49-F238E27FC236}">
                <a16:creationId xmlns:a16="http://schemas.microsoft.com/office/drawing/2014/main" id="{ABBE0FD6-0731-490C-A079-70A4B4C68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829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메일 내용만 교체하고 PDF 조건 유지</a:t>
            </a:r>
          </a:p>
        </p:txBody>
      </p:sp>
    </p:spTree>
    <p:extLst>
      <p:ext uri="{BB962C8B-B14F-4D97-AF65-F5344CB8AC3E}">
        <p14:creationId xmlns:p14="http://schemas.microsoft.com/office/powerpoint/2010/main" val="152848782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dp44-background / n1">
            <a:extLst xmlns:a="http://schemas.openxmlformats.org/drawingml/2006/main">
              <a:ext uri="{FF2B5EF4-FFF2-40B4-BE49-F238E27FC236}">
                <a16:creationId xmlns:a16="http://schemas.microsoft.com/office/drawing/2014/main" id="{4631228F-F1F7-42C3-825B-67265D67B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4-background / n2 / text 1">
            <a:extLst xmlns:a="http://schemas.openxmlformats.org/drawingml/2006/main">
              <a:ext uri="{FF2B5EF4-FFF2-40B4-BE49-F238E27FC236}">
                <a16:creationId xmlns:a16="http://schemas.microsoft.com/office/drawing/2014/main" id="{6CAE22E0-48BC-47E6-B787-C3AF2E690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1190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배경</a:t>
            </a:r>
          </a:p>
        </p:txBody>
      </p:sp>
      <p:sp>
        <p:nvSpPr>
          <p:cNvPr id="3" name="dp44-background / n3 / text 1">
            <a:extLst xmlns:a="http://schemas.openxmlformats.org/drawingml/2006/main">
              <a:ext uri="{FF2B5EF4-FFF2-40B4-BE49-F238E27FC236}">
                <a16:creationId xmlns:a16="http://schemas.microsoft.com/office/drawing/2014/main" id="{4CDC4254-24E2-4F72-A3CC-68952E817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1400" y="238125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04-44</a:t>
            </a:r>
          </a:p>
        </p:txBody>
      </p:sp>
      <p:sp>
        <p:nvSpPr>
          <p:cNvPr id="4" name="dp44-background / n4 / text 1">
            <a:extLst xmlns:a="http://schemas.openxmlformats.org/drawingml/2006/main">
              <a:ext uri="{FF2B5EF4-FFF2-40B4-BE49-F238E27FC236}">
                <a16:creationId xmlns:a16="http://schemas.microsoft.com/office/drawing/2014/main" id="{AC7C1B4E-E244-4E15-BFFF-F0595A256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695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04-44. 반응성을 위한 VIA 지속 입력과 Response 전달 설계</a:t>
            </a:r>
          </a:p>
        </p:txBody>
      </p:sp>
      <p:sp>
        <p:nvSpPr>
          <p:cNvPr id="5" name="dp44-background / n5 / path">
            <a:extLst xmlns:a="http://schemas.openxmlformats.org/drawingml/2006/main">
              <a:ext uri="{FF2B5EF4-FFF2-40B4-BE49-F238E27FC236}">
                <a16:creationId xmlns:a16="http://schemas.microsoft.com/office/drawing/2014/main" id="{59D28899-E9F0-409E-84CC-01B8667E1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4-background / n6">
            <a:extLst xmlns:a="http://schemas.openxmlformats.org/drawingml/2006/main">
              <a:ext uri="{FF2B5EF4-FFF2-40B4-BE49-F238E27FC236}">
                <a16:creationId xmlns:a16="http://schemas.microsoft.com/office/drawing/2014/main" id="{37E2CF5F-13FD-46F5-A573-5605F19BD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7068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p44-background / n7 / text 1">
            <a:extLst xmlns:a="http://schemas.openxmlformats.org/drawingml/2006/main">
              <a:ext uri="{FF2B5EF4-FFF2-40B4-BE49-F238E27FC236}">
                <a16:creationId xmlns:a16="http://schemas.microsoft.com/office/drawing/2014/main" id="{D53FA0A3-E39A-47CA-905E-7EA91B700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16725900" cy="497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새 발화 누락과 현재 대화에 맞지 않는 Response 전달 위험</a:t>
            </a:r>
          </a:p>
        </p:txBody>
      </p:sp>
      <p:sp>
        <p:nvSpPr>
          <p:cNvPr id="8" name="dp44-background / n8 / path">
            <a:extLst xmlns:a="http://schemas.openxmlformats.org/drawingml/2006/main">
              <a:ext uri="{FF2B5EF4-FFF2-40B4-BE49-F238E27FC236}">
                <a16:creationId xmlns:a16="http://schemas.microsoft.com/office/drawing/2014/main" id="{C78411FB-D156-4181-8911-E4C70ACD2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2686050"/>
            <a:ext cx="953" cy="5495925"/>
          </a:xfrm>
          <a:custGeom xmlns:a="http://schemas.openxmlformats.org/drawingml/2006/main">
            <a:pathLst>
              <a:path w="953" h="5495925">
                <a:moveTo>
                  <a:pt x="0" y="0"/>
                </a:moveTo>
                <a:lnTo>
                  <a:pt x="0" y="5495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9" name="dp44-background / n9 / text 1">
            <a:extLst xmlns:a="http://schemas.openxmlformats.org/drawingml/2006/main">
              <a:ext uri="{FF2B5EF4-FFF2-40B4-BE49-F238E27FC236}">
                <a16:creationId xmlns:a16="http://schemas.microsoft.com/office/drawing/2014/main" id="{106B6702-6A39-4B31-B598-1CA85E801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695575"/>
            <a:ext cx="56769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설계 고려 사항</a:t>
            </a:r>
          </a:p>
        </p:txBody>
      </p:sp>
      <p:sp>
        <p:nvSpPr>
          <p:cNvPr id="10" name="dp44-background / n10 / path">
            <a:extLst xmlns:a="http://schemas.openxmlformats.org/drawingml/2006/main">
              <a:ext uri="{FF2B5EF4-FFF2-40B4-BE49-F238E27FC236}">
                <a16:creationId xmlns:a16="http://schemas.microsoft.com/office/drawing/2014/main" id="{991D75E2-8F29-49F7-9977-DB685999B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58200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11" name="dp44-background / n11 / text 1">
            <a:extLst xmlns:a="http://schemas.openxmlformats.org/drawingml/2006/main">
              <a:ext uri="{FF2B5EF4-FFF2-40B4-BE49-F238E27FC236}">
                <a16:creationId xmlns:a16="http://schemas.microsoft.com/office/drawing/2014/main" id="{ED1853DE-74CE-42BC-9B6D-71CDE391A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10625"/>
            <a:ext cx="1571625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설계 과제</a:t>
            </a:r>
          </a:p>
        </p:txBody>
      </p:sp>
      <p:sp>
        <p:nvSpPr>
          <p:cNvPr id="12" name="dp44-background / n12 / text 1">
            <a:extLst xmlns:a="http://schemas.openxmlformats.org/drawingml/2006/main">
              <a:ext uri="{FF2B5EF4-FFF2-40B4-BE49-F238E27FC236}">
                <a16:creationId xmlns:a16="http://schemas.microsoft.com/office/drawing/2014/main" id="{F1F00B30-6CD7-4E15-9C8E-5A867A25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8763000"/>
            <a:ext cx="15392400" cy="428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겹친 사건의 후속 실행과 전달을 이어가는 실행 구조 설계</a:t>
            </a:r>
          </a:p>
        </p:txBody>
      </p:sp>
      <p:sp>
        <p:nvSpPr>
          <p:cNvPr id="13" name="dp44-background / n13 / text 1">
            <a:extLst xmlns:a="http://schemas.openxmlformats.org/drawingml/2006/main">
              <a:ext uri="{FF2B5EF4-FFF2-40B4-BE49-F238E27FC236}">
                <a16:creationId xmlns:a16="http://schemas.microsoft.com/office/drawing/2014/main" id="{9CF4AA7E-5F93-4BCC-A94C-69CC8A215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58375"/>
            <a:ext cx="120015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품질 관점: 반응성 / 기능 정확성 / 자원 활용성</a:t>
            </a:r>
          </a:p>
        </p:txBody>
      </p:sp>
      <p:sp>
        <p:nvSpPr>
          <p:cNvPr id="14" name="dp44-background / n14 / text 1">
            <a:extLst xmlns:a="http://schemas.openxmlformats.org/drawingml/2006/main">
              <a:ext uri="{FF2B5EF4-FFF2-40B4-BE49-F238E27FC236}">
                <a16:creationId xmlns:a16="http://schemas.microsoft.com/office/drawing/2014/main" id="{555EB124-D73E-426C-8412-7FA6BFD51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9858375"/>
            <a:ext cx="4572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후보 / 미선정 / 미측정</a:t>
            </a:r>
          </a:p>
        </p:txBody>
      </p:sp>
      <p:sp>
        <p:nvSpPr>
          <p:cNvPr id="15" name="dp44-background / n15 / text 1">
            <a:extLst xmlns:a="http://schemas.openxmlformats.org/drawingml/2006/main">
              <a:ext uri="{FF2B5EF4-FFF2-40B4-BE49-F238E27FC236}">
                <a16:creationId xmlns:a16="http://schemas.microsoft.com/office/drawing/2014/main" id="{51BFAE3B-9094-4153-A405-ED5790535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1057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처음 / “보고서 내용 설명해주고, 내일 회의 안내 메일 초안도 만들어줘.”</a:t>
            </a:r>
          </a:p>
        </p:txBody>
      </p:sp>
      <p:sp>
        <p:nvSpPr>
          <p:cNvPr id="16" name="dp44-background / n16 / text 1">
            <a:extLst xmlns:a="http://schemas.openxmlformats.org/drawingml/2006/main">
              <a:ext uri="{FF2B5EF4-FFF2-40B4-BE49-F238E27FC236}">
                <a16:creationId xmlns:a16="http://schemas.microsoft.com/office/drawing/2014/main" id="{DE2EA5A1-7FD3-4440-B3D5-1C1C5FAEB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5275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처리 시작</a:t>
            </a:r>
          </a:p>
        </p:txBody>
      </p:sp>
      <p:sp>
        <p:nvSpPr>
          <p:cNvPr id="17" name="dp44-background / n17 / text 1">
            <a:extLst xmlns:a="http://schemas.openxmlformats.org/drawingml/2006/main">
              <a:ext uri="{FF2B5EF4-FFF2-40B4-BE49-F238E27FC236}">
                <a16:creationId xmlns:a16="http://schemas.microsoft.com/office/drawing/2014/main" id="{88D62E8E-0822-4C45-AE8A-B406F819D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5275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설명 도중 / 두 사건 도착</a:t>
            </a:r>
          </a:p>
        </p:txBody>
      </p:sp>
      <p:sp>
        <p:nvSpPr>
          <p:cNvPr id="18" name="dp44-background / n18 / text 1">
            <a:extLst xmlns:a="http://schemas.openxmlformats.org/drawingml/2006/main">
              <a:ext uri="{FF2B5EF4-FFF2-40B4-BE49-F238E27FC236}">
                <a16:creationId xmlns:a16="http://schemas.microsoft.com/office/drawing/2014/main" id="{F566ED18-3095-43F2-A945-09F2D7F0D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95275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발화 해석 후</a:t>
            </a:r>
          </a:p>
        </p:txBody>
      </p:sp>
      <p:sp>
        <p:nvSpPr>
          <p:cNvPr id="19" name="dp44-background / n19 / path">
            <a:extLst xmlns:a="http://schemas.openxmlformats.org/drawingml/2006/main">
              <a:ext uri="{FF2B5EF4-FFF2-40B4-BE49-F238E27FC236}">
                <a16:creationId xmlns:a16="http://schemas.microsoft.com/office/drawing/2014/main" id="{B821F6F1-F822-4D86-BF8D-3E84CD12F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3105150"/>
            <a:ext cx="276225" cy="953"/>
          </a:xfrm>
          <a:custGeom xmlns:a="http://schemas.openxmlformats.org/drawingml/2006/main">
            <a:pathLst>
              <a:path w="276225" h="953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20" name="dp44-background / n19 / arrow">
            <a:extLst xmlns:a="http://schemas.openxmlformats.org/drawingml/2006/main">
              <a:ext uri="{FF2B5EF4-FFF2-40B4-BE49-F238E27FC236}">
                <a16:creationId xmlns:a16="http://schemas.microsoft.com/office/drawing/2014/main" id="{EA5ED71B-76FA-42B6-831A-E4BBE3AA3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30441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21" name="dp44-background / n20 / path">
            <a:extLst xmlns:a="http://schemas.openxmlformats.org/drawingml/2006/main">
              <a:ext uri="{FF2B5EF4-FFF2-40B4-BE49-F238E27FC236}">
                <a16:creationId xmlns:a16="http://schemas.microsoft.com/office/drawing/2014/main" id="{2539B2B6-FCA3-40BE-8A9A-2DB5C648F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105150"/>
            <a:ext cx="276225" cy="953"/>
          </a:xfrm>
          <a:custGeom xmlns:a="http://schemas.openxmlformats.org/drawingml/2006/main">
            <a:pathLst>
              <a:path w="276225" h="953">
                <a:moveTo>
                  <a:pt x="0" y="0"/>
                </a:moveTo>
                <a:lnTo>
                  <a:pt x="276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22" name="dp44-background / n20 / arrow">
            <a:extLst xmlns:a="http://schemas.openxmlformats.org/drawingml/2006/main">
              <a:ext uri="{FF2B5EF4-FFF2-40B4-BE49-F238E27FC236}">
                <a16:creationId xmlns:a16="http://schemas.microsoft.com/office/drawing/2014/main" id="{264A0382-5A13-44D4-8F92-DEFC17F3A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80" y="30441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23" name="dp44-background / n21">
            <a:extLst xmlns:a="http://schemas.openxmlformats.org/drawingml/2006/main">
              <a:ext uri="{FF2B5EF4-FFF2-40B4-BE49-F238E27FC236}">
                <a16:creationId xmlns:a16="http://schemas.microsoft.com/office/drawing/2014/main" id="{87636236-A486-4777-BD28-6835ACF57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90900"/>
            <a:ext cx="3257550" cy="1800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dp44-background / n22">
            <a:extLst xmlns:a="http://schemas.openxmlformats.org/drawingml/2006/main">
              <a:ext uri="{FF2B5EF4-FFF2-40B4-BE49-F238E27FC236}">
                <a16:creationId xmlns:a16="http://schemas.microsoft.com/office/drawing/2014/main" id="{AC178F53-75E8-4DBB-A3F7-B86342CE9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390900"/>
            <a:ext cx="3257550" cy="1800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dp44-background / n23">
            <a:extLst xmlns:a="http://schemas.openxmlformats.org/drawingml/2006/main">
              <a:ext uri="{FF2B5EF4-FFF2-40B4-BE49-F238E27FC236}">
                <a16:creationId xmlns:a16="http://schemas.microsoft.com/office/drawing/2014/main" id="{50EBD227-CFFA-4547-8B2E-11E60B024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390900"/>
            <a:ext cx="3257550" cy="1800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dp44-background / n24 / text 1">
            <a:extLst xmlns:a="http://schemas.openxmlformats.org/drawingml/2006/main">
              <a:ext uri="{FF2B5EF4-FFF2-40B4-BE49-F238E27FC236}">
                <a16:creationId xmlns:a16="http://schemas.microsoft.com/office/drawing/2014/main" id="{AA8D09F2-2302-4D54-B84A-166732AA3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242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Response</a:t>
            </a:r>
          </a:p>
        </p:txBody>
      </p:sp>
      <p:sp>
        <p:nvSpPr>
          <p:cNvPr id="27" name="dp44-background / n25 / text 1">
            <a:extLst xmlns:a="http://schemas.openxmlformats.org/drawingml/2006/main">
              <a:ext uri="{FF2B5EF4-FFF2-40B4-BE49-F238E27FC236}">
                <a16:creationId xmlns:a16="http://schemas.microsoft.com/office/drawing/2014/main" id="{14A5A256-1EED-4208-A379-3CA62CC80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52875"/>
            <a:ext cx="2952750" cy="4005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설명 중</a:t>
            </a:r>
          </a:p>
        </p:txBody>
      </p:sp>
      <p:sp>
        <p:nvSpPr>
          <p:cNvPr id="28" name="dp44-background / n26 / text 1">
            <a:extLst xmlns:a="http://schemas.openxmlformats.org/drawingml/2006/main">
              <a:ext uri="{FF2B5EF4-FFF2-40B4-BE49-F238E27FC236}">
                <a16:creationId xmlns:a16="http://schemas.microsoft.com/office/drawing/2014/main" id="{F969D22C-753C-45F7-8EE2-FA0AEEDD6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962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사용자 발화 계속 수신</a:t>
            </a:r>
          </a:p>
        </p:txBody>
      </p:sp>
      <p:sp>
        <p:nvSpPr>
          <p:cNvPr id="29" name="dp44-background / n27 / path">
            <a:extLst xmlns:a="http://schemas.openxmlformats.org/drawingml/2006/main">
              <a:ext uri="{FF2B5EF4-FFF2-40B4-BE49-F238E27FC236}">
                <a16:creationId xmlns:a16="http://schemas.microsoft.com/office/drawing/2014/main" id="{F9BB6A2C-10CE-4456-BC58-13DC8CFDB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4991100"/>
            <a:ext cx="953" cy="76200"/>
          </a:xfrm>
          <a:custGeom xmlns:a="http://schemas.openxmlformats.org/drawingml/2006/main">
            <a:pathLst>
              <a:path w="953" h="76200">
                <a:moveTo>
                  <a:pt x="0" y="0"/>
                </a:moveTo>
                <a:lnTo>
                  <a:pt x="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0" name="dp44-background / n28 / path">
            <a:extLst xmlns:a="http://schemas.openxmlformats.org/drawingml/2006/main">
              <a:ext uri="{FF2B5EF4-FFF2-40B4-BE49-F238E27FC236}">
                <a16:creationId xmlns:a16="http://schemas.microsoft.com/office/drawing/2014/main" id="{D2A2794A-63DC-47E0-AB76-FD58FC21E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933950"/>
            <a:ext cx="953" cy="133350"/>
          </a:xfrm>
          <a:custGeom xmlns:a="http://schemas.openxmlformats.org/drawingml/2006/main">
            <a:pathLst>
              <a:path w="953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1" name="dp44-background / n29 / path">
            <a:extLst xmlns:a="http://schemas.openxmlformats.org/drawingml/2006/main">
              <a:ext uri="{FF2B5EF4-FFF2-40B4-BE49-F238E27FC236}">
                <a16:creationId xmlns:a16="http://schemas.microsoft.com/office/drawing/2014/main" id="{15CF4500-F14C-4426-87BB-4C0454E7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4848225"/>
            <a:ext cx="953" cy="219075"/>
          </a:xfrm>
          <a:custGeom xmlns:a="http://schemas.openxmlformats.org/drawingml/2006/main">
            <a:pathLst>
              <a:path w="953" h="219075">
                <a:moveTo>
                  <a:pt x="0" y="0"/>
                </a:moveTo>
                <a:lnTo>
                  <a:pt x="0" y="219075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2" name="dp44-background / n30 / path">
            <a:extLst xmlns:a="http://schemas.openxmlformats.org/drawingml/2006/main">
              <a:ext uri="{FF2B5EF4-FFF2-40B4-BE49-F238E27FC236}">
                <a16:creationId xmlns:a16="http://schemas.microsoft.com/office/drawing/2014/main" id="{49179A40-AE7B-4788-8FE6-18E7F4C87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962525"/>
            <a:ext cx="953" cy="104775"/>
          </a:xfrm>
          <a:custGeom xmlns:a="http://schemas.openxmlformats.org/drawingml/2006/main">
            <a:pathLst>
              <a:path w="953" h="104775">
                <a:moveTo>
                  <a:pt x="0" y="0"/>
                </a:moveTo>
                <a:lnTo>
                  <a:pt x="0" y="104775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3" name="dp44-background / n31 / path">
            <a:extLst xmlns:a="http://schemas.openxmlformats.org/drawingml/2006/main">
              <a:ext uri="{FF2B5EF4-FFF2-40B4-BE49-F238E27FC236}">
                <a16:creationId xmlns:a16="http://schemas.microsoft.com/office/drawing/2014/main" id="{44C08D97-9F8F-45C4-8D9B-882C48E3C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4895850"/>
            <a:ext cx="953" cy="171450"/>
          </a:xfrm>
          <a:custGeom xmlns:a="http://schemas.openxmlformats.org/drawingml/2006/main">
            <a:pathLst>
              <a:path w="953" h="171450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4" name="dp44-background / n32 / path">
            <a:extLst xmlns:a="http://schemas.openxmlformats.org/drawingml/2006/main">
              <a:ext uri="{FF2B5EF4-FFF2-40B4-BE49-F238E27FC236}">
                <a16:creationId xmlns:a16="http://schemas.microsoft.com/office/drawing/2014/main" id="{29AB15A0-6BF2-4951-AED2-B52CCA2B0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981575"/>
            <a:ext cx="953" cy="85725"/>
          </a:xfrm>
          <a:custGeom xmlns:a="http://schemas.openxmlformats.org/drawingml/2006/main">
            <a:pathLst>
              <a:path w="953" h="85725">
                <a:moveTo>
                  <a:pt x="0" y="0"/>
                </a:moveTo>
                <a:lnTo>
                  <a:pt x="0" y="85725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2858A5"/>
            </a:solidFill>
            <a:prstDash val="solid"/>
          </a:ln>
        </p:spPr>
      </p:sp>
      <p:sp>
        <p:nvSpPr>
          <p:cNvPr id="35" name="dp44-background / n33 / text 1">
            <a:extLst xmlns:a="http://schemas.openxmlformats.org/drawingml/2006/main">
              <a:ext uri="{FF2B5EF4-FFF2-40B4-BE49-F238E27FC236}">
                <a16:creationId xmlns:a16="http://schemas.microsoft.com/office/drawing/2014/main" id="{469D8EDE-1B57-4EE5-A532-7FDFD11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5242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새 User Turn</a:t>
            </a:r>
          </a:p>
        </p:txBody>
      </p:sp>
      <p:sp>
        <p:nvSpPr>
          <p:cNvPr id="36" name="dp44-background / n34 / text 1">
            <a:extLst xmlns:a="http://schemas.openxmlformats.org/drawingml/2006/main">
              <a:ext uri="{FF2B5EF4-FFF2-40B4-BE49-F238E27FC236}">
                <a16:creationId xmlns:a16="http://schemas.microsoft.com/office/drawing/2014/main" id="{F017012C-2C58-4569-B9A9-6213C8DD8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886200"/>
            <a:ext cx="29527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“잠깐, 표부터</a:t>
            </a:r>
          </a:p>
        </p:txBody>
      </p:sp>
      <p:sp>
        <p:nvSpPr>
          <p:cNvPr id="37" name="dp44-background / n34 / text 2">
            <a:extLst xmlns:a="http://schemas.openxmlformats.org/drawingml/2006/main">
              <a:ext uri="{FF2B5EF4-FFF2-40B4-BE49-F238E27FC236}">
                <a16:creationId xmlns:a16="http://schemas.microsoft.com/office/drawing/2014/main" id="{C23D3943-9595-41FC-9EE9-C2D4113AB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210050"/>
            <a:ext cx="29527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설명해줘.”</a:t>
            </a:r>
          </a:p>
        </p:txBody>
      </p:sp>
      <p:sp>
        <p:nvSpPr>
          <p:cNvPr id="38" name="dp44-background / n35 / text 1">
            <a:extLst xmlns:a="http://schemas.openxmlformats.org/drawingml/2006/main">
              <a:ext uri="{FF2B5EF4-FFF2-40B4-BE49-F238E27FC236}">
                <a16:creationId xmlns:a16="http://schemas.microsoft.com/office/drawing/2014/main" id="{718175F1-1E3F-4C20-96E1-DEC5B7B11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196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음성 중단과 발화 해석</a:t>
            </a:r>
          </a:p>
        </p:txBody>
      </p:sp>
      <p:sp>
        <p:nvSpPr>
          <p:cNvPr id="39" name="dp44-background / n36 / text 1">
            <a:extLst xmlns:a="http://schemas.openxmlformats.org/drawingml/2006/main">
              <a:ext uri="{FF2B5EF4-FFF2-40B4-BE49-F238E27FC236}">
                <a16:creationId xmlns:a16="http://schemas.microsoft.com/office/drawing/2014/main" id="{049F61B2-05BC-4027-BEC2-113517ED9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5242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Request의 Response</a:t>
            </a:r>
          </a:p>
        </p:txBody>
      </p:sp>
      <p:sp>
        <p:nvSpPr>
          <p:cNvPr id="40" name="dp44-background / n37 / text 1">
            <a:extLst xmlns:a="http://schemas.openxmlformats.org/drawingml/2006/main">
              <a:ext uri="{FF2B5EF4-FFF2-40B4-BE49-F238E27FC236}">
                <a16:creationId xmlns:a16="http://schemas.microsoft.com/office/drawing/2014/main" id="{78182AE3-7082-4161-8E26-CDA84AE6D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952875"/>
            <a:ext cx="29527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표 설명으로 전환</a:t>
            </a:r>
          </a:p>
        </p:txBody>
      </p:sp>
      <p:sp>
        <p:nvSpPr>
          <p:cNvPr id="41" name="dp44-background / n38 / text 1">
            <a:extLst xmlns:a="http://schemas.openxmlformats.org/drawingml/2006/main">
              <a:ext uri="{FF2B5EF4-FFF2-40B4-BE49-F238E27FC236}">
                <a16:creationId xmlns:a16="http://schemas.microsoft.com/office/drawing/2014/main" id="{341AAECA-85F6-4AEA-98C6-FDE9CC040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61962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Text 및 음성 전달</a:t>
            </a:r>
          </a:p>
        </p:txBody>
      </p:sp>
      <p:sp>
        <p:nvSpPr>
          <p:cNvPr id="42" name="dp44-background / n39 / text 1">
            <a:extLst xmlns:a="http://schemas.openxmlformats.org/drawingml/2006/main">
              <a:ext uri="{FF2B5EF4-FFF2-40B4-BE49-F238E27FC236}">
                <a16:creationId xmlns:a16="http://schemas.microsoft.com/office/drawing/2014/main" id="{0D1EFA1F-BD58-4474-BEDE-3960DB189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9275"/>
            <a:ext cx="1057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메일 초안 Task / Downstream Agent의 작업 실행</a:t>
            </a:r>
          </a:p>
        </p:txBody>
      </p:sp>
      <p:sp>
        <p:nvSpPr>
          <p:cNvPr id="43" name="dp44-background / n40">
            <a:extLst xmlns:a="http://schemas.openxmlformats.org/drawingml/2006/main">
              <a:ext uri="{FF2B5EF4-FFF2-40B4-BE49-F238E27FC236}">
                <a16:creationId xmlns:a16="http://schemas.microsoft.com/office/drawing/2014/main" id="{D9A0668B-BC3B-48A6-8D00-84554EC7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32575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dp44-background / n41">
            <a:extLst xmlns:a="http://schemas.openxmlformats.org/drawingml/2006/main">
              <a:ext uri="{FF2B5EF4-FFF2-40B4-BE49-F238E27FC236}">
                <a16:creationId xmlns:a16="http://schemas.microsoft.com/office/drawing/2014/main" id="{4ABC530A-0BCE-4DCA-9404-4086DF96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6076950"/>
            <a:ext cx="32575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dp44-background / n42">
            <a:extLst xmlns:a="http://schemas.openxmlformats.org/drawingml/2006/main">
              <a:ext uri="{FF2B5EF4-FFF2-40B4-BE49-F238E27FC236}">
                <a16:creationId xmlns:a16="http://schemas.microsoft.com/office/drawing/2014/main" id="{FFC1A230-BDDB-4E63-B423-963118B35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6076950"/>
            <a:ext cx="32575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dp44-background / n43 / text 1">
            <a:extLst xmlns:a="http://schemas.openxmlformats.org/drawingml/2006/main">
              <a:ext uri="{FF2B5EF4-FFF2-40B4-BE49-F238E27FC236}">
                <a16:creationId xmlns:a16="http://schemas.microsoft.com/office/drawing/2014/main" id="{54250A5B-7E9D-4378-BEC0-668458FC8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484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Delegation 후 초안 작성</a:t>
            </a:r>
          </a:p>
        </p:txBody>
      </p:sp>
      <p:sp>
        <p:nvSpPr>
          <p:cNvPr id="47" name="dp44-background / n44 / text 1">
            <a:extLst xmlns:a="http://schemas.openxmlformats.org/drawingml/2006/main">
              <a:ext uri="{FF2B5EF4-FFF2-40B4-BE49-F238E27FC236}">
                <a16:creationId xmlns:a16="http://schemas.microsoft.com/office/drawing/2014/main" id="{591D899D-BF4E-40CC-93B1-F754396A3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715125"/>
            <a:ext cx="29527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Agent Execution 진행 중</a:t>
            </a:r>
          </a:p>
        </p:txBody>
      </p:sp>
      <p:sp>
        <p:nvSpPr>
          <p:cNvPr id="48" name="dp44-background / n45 / text 1">
            <a:extLst xmlns:a="http://schemas.openxmlformats.org/drawingml/2006/main">
              <a:ext uri="{FF2B5EF4-FFF2-40B4-BE49-F238E27FC236}">
                <a16:creationId xmlns:a16="http://schemas.microsoft.com/office/drawing/2014/main" id="{307C6601-B3EB-497B-8B8A-BA29CD8B1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62484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메일 Task의 질문 도착</a:t>
            </a:r>
          </a:p>
        </p:txBody>
      </p:sp>
      <p:sp>
        <p:nvSpPr>
          <p:cNvPr id="49" name="dp44-background / n46 / text 1">
            <a:extLst xmlns:a="http://schemas.openxmlformats.org/drawingml/2006/main">
              <a:ext uri="{FF2B5EF4-FFF2-40B4-BE49-F238E27FC236}">
                <a16:creationId xmlns:a16="http://schemas.microsoft.com/office/drawing/2014/main" id="{3E9D5A3D-5AD1-4CAE-ABE4-96EA66125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6686550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“받는 사람은</a:t>
            </a:r>
          </a:p>
        </p:txBody>
      </p:sp>
      <p:sp>
        <p:nvSpPr>
          <p:cNvPr id="50" name="dp44-background / n46 / text 2">
            <a:extLst xmlns:a="http://schemas.openxmlformats.org/drawingml/2006/main">
              <a:ext uri="{FF2B5EF4-FFF2-40B4-BE49-F238E27FC236}">
                <a16:creationId xmlns:a16="http://schemas.microsoft.com/office/drawing/2014/main" id="{4048B1BE-BCF1-43FC-BA43-302D08D27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7010400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누구인가요?”</a:t>
            </a:r>
          </a:p>
        </p:txBody>
      </p:sp>
      <p:sp>
        <p:nvSpPr>
          <p:cNvPr id="51" name="dp44-background / n47 / text 1">
            <a:extLst xmlns:a="http://schemas.openxmlformats.org/drawingml/2006/main">
              <a:ext uri="{FF2B5EF4-FFF2-40B4-BE49-F238E27FC236}">
                <a16:creationId xmlns:a16="http://schemas.microsoft.com/office/drawing/2014/main" id="{0A406C90-59D0-4F80-9DA8-2673B2B0A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6248400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표 설명 후 메일 질문 전달</a:t>
            </a:r>
          </a:p>
        </p:txBody>
      </p:sp>
      <p:sp>
        <p:nvSpPr>
          <p:cNvPr id="52" name="dp44-background / n48 / text 1">
            <a:extLst xmlns:a="http://schemas.openxmlformats.org/drawingml/2006/main">
              <a:ext uri="{FF2B5EF4-FFF2-40B4-BE49-F238E27FC236}">
                <a16:creationId xmlns:a16="http://schemas.microsoft.com/office/drawing/2014/main" id="{286240EB-8EEF-47A3-BFD2-C56FF7F2B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668655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“메일 초안의 받는 사람은</a:t>
            </a:r>
          </a:p>
        </p:txBody>
      </p:sp>
      <p:sp>
        <p:nvSpPr>
          <p:cNvPr id="53" name="dp44-background / n48 / text 2">
            <a:extLst xmlns:a="http://schemas.openxmlformats.org/drawingml/2006/main">
              <a:ext uri="{FF2B5EF4-FFF2-40B4-BE49-F238E27FC236}">
                <a16:creationId xmlns:a16="http://schemas.microsoft.com/office/drawing/2014/main" id="{39480E0D-4DE6-4788-BD6F-7FC3DE304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6972300"/>
            <a:ext cx="29527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누구인가요?”</a:t>
            </a:r>
          </a:p>
        </p:txBody>
      </p:sp>
      <p:sp>
        <p:nvSpPr>
          <p:cNvPr id="54" name="dp44-background / n49 / text 1">
            <a:extLst xmlns:a="http://schemas.openxmlformats.org/drawingml/2006/main">
              <a:ext uri="{FF2B5EF4-FFF2-40B4-BE49-F238E27FC236}">
                <a16:creationId xmlns:a16="http://schemas.microsoft.com/office/drawing/2014/main" id="{B6C6EF79-CAA8-4C66-A3BD-82EA8B0C8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77533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Agent Execution / 답변 대기</a:t>
            </a:r>
          </a:p>
        </p:txBody>
      </p:sp>
      <p:sp>
        <p:nvSpPr>
          <p:cNvPr id="55" name="dp44-background / n50 / text 1">
            <a:extLst xmlns:a="http://schemas.openxmlformats.org/drawingml/2006/main">
              <a:ext uri="{FF2B5EF4-FFF2-40B4-BE49-F238E27FC236}">
                <a16:creationId xmlns:a16="http://schemas.microsoft.com/office/drawing/2014/main" id="{A9E49DC6-D28B-42C2-A3D4-A2D3D33F1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67675"/>
            <a:ext cx="1057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음성 중단 / Task 취소 의도 확인은 별도</a:t>
            </a:r>
          </a:p>
        </p:txBody>
      </p:sp>
      <p:sp>
        <p:nvSpPr>
          <p:cNvPr id="56" name="dp44-background / n51 / path">
            <a:extLst xmlns:a="http://schemas.openxmlformats.org/drawingml/2006/main">
              <a:ext uri="{FF2B5EF4-FFF2-40B4-BE49-F238E27FC236}">
                <a16:creationId xmlns:a16="http://schemas.microsoft.com/office/drawing/2014/main" id="{49F19A5C-32B3-4B24-B0DF-93AB739F5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333750"/>
            <a:ext cx="953" cy="4610100"/>
          </a:xfrm>
          <a:custGeom xmlns:a="http://schemas.openxmlformats.org/drawingml/2006/main">
            <a:pathLst>
              <a:path w="953" h="4610100">
                <a:moveTo>
                  <a:pt x="0" y="0"/>
                </a:moveTo>
                <a:lnTo>
                  <a:pt x="0" y="46101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57" name="dp44-background / n52 / path">
            <a:extLst xmlns:a="http://schemas.openxmlformats.org/drawingml/2006/main">
              <a:ext uri="{FF2B5EF4-FFF2-40B4-BE49-F238E27FC236}">
                <a16:creationId xmlns:a16="http://schemas.microsoft.com/office/drawing/2014/main" id="{D8768330-5F53-4EB6-84E7-AC2AA0D27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333750"/>
            <a:ext cx="953" cy="4610100"/>
          </a:xfrm>
          <a:custGeom xmlns:a="http://schemas.openxmlformats.org/drawingml/2006/main">
            <a:pathLst>
              <a:path w="953" h="4610100">
                <a:moveTo>
                  <a:pt x="0" y="0"/>
                </a:moveTo>
                <a:lnTo>
                  <a:pt x="0" y="46101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DD6DE"/>
            </a:solidFill>
            <a:prstDash val="dash"/>
          </a:ln>
        </p:spPr>
      </p:sp>
      <p:sp>
        <p:nvSpPr>
          <p:cNvPr id="58" name="dp44-background / n53 / text 1">
            <a:extLst xmlns:a="http://schemas.openxmlformats.org/drawingml/2006/main">
              <a:ext uri="{FF2B5EF4-FFF2-40B4-BE49-F238E27FC236}">
                <a16:creationId xmlns:a16="http://schemas.microsoft.com/office/drawing/2014/main" id="{EFB59AA8-A192-4B19-8333-1A7A21BAD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381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수신과 중단의 우선 처리</a:t>
            </a:r>
          </a:p>
        </p:txBody>
      </p:sp>
      <p:sp>
        <p:nvSpPr>
          <p:cNvPr id="59" name="dp44-background / n54 / text 1">
            <a:extLst xmlns:a="http://schemas.openxmlformats.org/drawingml/2006/main">
              <a:ext uri="{FF2B5EF4-FFF2-40B4-BE49-F238E27FC236}">
                <a16:creationId xmlns:a16="http://schemas.microsoft.com/office/drawing/2014/main" id="{CD8BE8B1-C3D0-41DA-B4BD-C53EFD02B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781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긴 해석 중에도 새 발화의 수신과 음성 중단</a:t>
            </a:r>
          </a:p>
        </p:txBody>
      </p:sp>
      <p:sp>
        <p:nvSpPr>
          <p:cNvPr id="60" name="dp44-background / n55 / text 1">
            <a:extLst xmlns:a="http://schemas.openxmlformats.org/drawingml/2006/main">
              <a:ext uri="{FF2B5EF4-FFF2-40B4-BE49-F238E27FC236}">
                <a16:creationId xmlns:a16="http://schemas.microsoft.com/office/drawing/2014/main" id="{D538E691-A3E7-465B-B694-4675D4CBE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905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후속 실행과 대기 상태</a:t>
            </a:r>
          </a:p>
        </p:txBody>
      </p:sp>
      <p:sp>
        <p:nvSpPr>
          <p:cNvPr id="61" name="dp44-background / n56 / text 1">
            <a:extLst xmlns:a="http://schemas.openxmlformats.org/drawingml/2006/main">
              <a:ext uri="{FF2B5EF4-FFF2-40B4-BE49-F238E27FC236}">
                <a16:creationId xmlns:a16="http://schemas.microsoft.com/office/drawing/2014/main" id="{6B60F218-6BEB-4811-A1DD-855D33C5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305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Request와 메일 질문의 처리 연결</a:t>
            </a:r>
          </a:p>
        </p:txBody>
      </p:sp>
      <p:sp>
        <p:nvSpPr>
          <p:cNvPr id="62" name="dp44-background / n57 / text 1">
            <a:extLst xmlns:a="http://schemas.openxmlformats.org/drawingml/2006/main">
              <a:ext uri="{FF2B5EF4-FFF2-40B4-BE49-F238E27FC236}">
                <a16:creationId xmlns:a16="http://schemas.microsoft.com/office/drawing/2014/main" id="{A36EA247-68B6-4186-8F28-AC205CB6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429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현재성 확인과 실제 전달</a:t>
            </a:r>
          </a:p>
        </p:txBody>
      </p:sp>
      <p:sp>
        <p:nvSpPr>
          <p:cNvPr id="63" name="dp44-background / n58 / text 1">
            <a:extLst xmlns:a="http://schemas.openxmlformats.org/drawingml/2006/main">
              <a:ext uri="{FF2B5EF4-FFF2-40B4-BE49-F238E27FC236}">
                <a16:creationId xmlns:a16="http://schemas.microsoft.com/office/drawing/2014/main" id="{F3A4B900-E0DD-4D07-9480-07E973114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829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정정 전 Response 보류와 전달 차례 결정</a:t>
            </a:r>
          </a:p>
        </p:txBody>
      </p:sp>
    </p:spTree>
    <p:extLst>
      <p:ext uri="{BB962C8B-B14F-4D97-AF65-F5344CB8AC3E}">
        <p14:creationId xmlns:p14="http://schemas.microsoft.com/office/powerpoint/2010/main" val="35655298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dp45-background / n1">
            <a:extLst xmlns:a="http://schemas.openxmlformats.org/drawingml/2006/main">
              <a:ext uri="{FF2B5EF4-FFF2-40B4-BE49-F238E27FC236}">
                <a16:creationId xmlns:a16="http://schemas.microsoft.com/office/drawing/2014/main" id="{89C71B4D-BE14-43DE-BC25-211033E3E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5-background / n2 / text 1">
            <a:extLst xmlns:a="http://schemas.openxmlformats.org/drawingml/2006/main">
              <a:ext uri="{FF2B5EF4-FFF2-40B4-BE49-F238E27FC236}">
                <a16:creationId xmlns:a16="http://schemas.microsoft.com/office/drawing/2014/main" id="{A3F4AF19-9726-4227-927D-1736F80F2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1190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배경</a:t>
            </a:r>
          </a:p>
        </p:txBody>
      </p:sp>
      <p:sp>
        <p:nvSpPr>
          <p:cNvPr id="3" name="dp45-background / n3 / text 1">
            <a:extLst xmlns:a="http://schemas.openxmlformats.org/drawingml/2006/main">
              <a:ext uri="{FF2B5EF4-FFF2-40B4-BE49-F238E27FC236}">
                <a16:creationId xmlns:a16="http://schemas.microsoft.com/office/drawing/2014/main" id="{0B7E05FD-F85F-4F6D-A7B2-DCD70C01E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1400" y="238125"/>
            <a:ext cx="2667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04-45</a:t>
            </a:r>
          </a:p>
        </p:txBody>
      </p:sp>
      <p:sp>
        <p:nvSpPr>
          <p:cNvPr id="4" name="dp45-background / n4 / text 1">
            <a:extLst xmlns:a="http://schemas.openxmlformats.org/drawingml/2006/main">
              <a:ext uri="{FF2B5EF4-FFF2-40B4-BE49-F238E27FC236}">
                <a16:creationId xmlns:a16="http://schemas.microsoft.com/office/drawing/2014/main" id="{78688CA1-4004-4166-8D1D-5FE65E817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695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0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04-45. 기능 정확성을 위한 VIA 기억과 Context 제공 설계</a:t>
            </a:r>
          </a:p>
        </p:txBody>
      </p:sp>
      <p:sp>
        <p:nvSpPr>
          <p:cNvPr id="5" name="dp45-background / n5 / path">
            <a:extLst xmlns:a="http://schemas.openxmlformats.org/drawingml/2006/main">
              <a:ext uri="{FF2B5EF4-FFF2-40B4-BE49-F238E27FC236}">
                <a16:creationId xmlns:a16="http://schemas.microsoft.com/office/drawing/2014/main" id="{71BAD2B5-18A0-4B91-BBF9-061BEA93E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9675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5-background / n6">
            <a:extLst xmlns:a="http://schemas.openxmlformats.org/drawingml/2006/main">
              <a:ext uri="{FF2B5EF4-FFF2-40B4-BE49-F238E27FC236}">
                <a16:creationId xmlns:a16="http://schemas.microsoft.com/office/drawing/2014/main" id="{338EA1BF-B468-40E1-A64E-CE19B629E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7068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p45-background / n7 / text 1">
            <a:extLst xmlns:a="http://schemas.openxmlformats.org/drawingml/2006/main">
              <a:ext uri="{FF2B5EF4-FFF2-40B4-BE49-F238E27FC236}">
                <a16:creationId xmlns:a16="http://schemas.microsoft.com/office/drawing/2014/main" id="{9851151C-3168-4BE2-827D-DE6A427CE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16725900" cy="497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여러 활동의 과거 근거 누락과 실제 전달 내용의 오연결 위험</a:t>
            </a:r>
          </a:p>
        </p:txBody>
      </p:sp>
      <p:sp>
        <p:nvSpPr>
          <p:cNvPr id="8" name="dp45-background / n8 / path">
            <a:extLst xmlns:a="http://schemas.openxmlformats.org/drawingml/2006/main">
              <a:ext uri="{FF2B5EF4-FFF2-40B4-BE49-F238E27FC236}">
                <a16:creationId xmlns:a16="http://schemas.microsoft.com/office/drawing/2014/main" id="{A7C2C7D3-4D44-4EA7-9DE8-00883E8A3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2686050"/>
            <a:ext cx="953" cy="5495925"/>
          </a:xfrm>
          <a:custGeom xmlns:a="http://schemas.openxmlformats.org/drawingml/2006/main">
            <a:pathLst>
              <a:path w="953" h="5495925">
                <a:moveTo>
                  <a:pt x="0" y="0"/>
                </a:moveTo>
                <a:lnTo>
                  <a:pt x="0" y="5495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9" name="dp45-background / n9 / text 1">
            <a:extLst xmlns:a="http://schemas.openxmlformats.org/drawingml/2006/main">
              <a:ext uri="{FF2B5EF4-FFF2-40B4-BE49-F238E27FC236}">
                <a16:creationId xmlns:a16="http://schemas.microsoft.com/office/drawing/2014/main" id="{11FC0446-EB39-4B8E-892A-7FA55516E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695575"/>
            <a:ext cx="567690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설계 고려 사항</a:t>
            </a:r>
          </a:p>
        </p:txBody>
      </p:sp>
      <p:sp>
        <p:nvSpPr>
          <p:cNvPr id="10" name="dp45-background / n10 / path">
            <a:extLst xmlns:a="http://schemas.openxmlformats.org/drawingml/2006/main">
              <a:ext uri="{FF2B5EF4-FFF2-40B4-BE49-F238E27FC236}">
                <a16:creationId xmlns:a16="http://schemas.microsoft.com/office/drawing/2014/main" id="{B834E4E2-6845-4D4E-B91C-0B6B81977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58200"/>
            <a:ext cx="17068800" cy="953"/>
          </a:xfrm>
          <a:custGeom xmlns:a="http://schemas.openxmlformats.org/drawingml/2006/main">
            <a:pathLst>
              <a:path w="17068800" h="953">
                <a:moveTo>
                  <a:pt x="0" y="0"/>
                </a:moveTo>
                <a:lnTo>
                  <a:pt x="17068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11" name="dp45-background / n11 / text 1">
            <a:extLst xmlns:a="http://schemas.openxmlformats.org/drawingml/2006/main">
              <a:ext uri="{FF2B5EF4-FFF2-40B4-BE49-F238E27FC236}">
                <a16:creationId xmlns:a16="http://schemas.microsoft.com/office/drawing/2014/main" id="{6E9451A2-9EA1-4DD0-8CCB-7DA119D10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10625"/>
            <a:ext cx="1571625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설계 과제</a:t>
            </a:r>
          </a:p>
        </p:txBody>
      </p:sp>
      <p:sp>
        <p:nvSpPr>
          <p:cNvPr id="12" name="dp45-background / n12 / text 1">
            <a:extLst xmlns:a="http://schemas.openxmlformats.org/drawingml/2006/main">
              <a:ext uri="{FF2B5EF4-FFF2-40B4-BE49-F238E27FC236}">
                <a16:creationId xmlns:a16="http://schemas.microsoft.com/office/drawing/2014/main" id="{6D5A3BF5-E23E-4EA7-837F-1FCD850B4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8763000"/>
            <a:ext cx="15392400" cy="428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과거 근거를 연결하는 Context의 생산, 조회와 갱신 책임 설계</a:t>
            </a:r>
          </a:p>
        </p:txBody>
      </p:sp>
      <p:sp>
        <p:nvSpPr>
          <p:cNvPr id="13" name="dp45-background / n13 / text 1">
            <a:extLst xmlns:a="http://schemas.openxmlformats.org/drawingml/2006/main">
              <a:ext uri="{FF2B5EF4-FFF2-40B4-BE49-F238E27FC236}">
                <a16:creationId xmlns:a16="http://schemas.microsoft.com/office/drawing/2014/main" id="{DA780286-2269-4EFE-821F-F9856893E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9277350"/>
            <a:ext cx="153924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VIA는 허용 근거를 연결 / 업무 판단과 제안서 작성은 Downstream Agent</a:t>
            </a:r>
          </a:p>
        </p:txBody>
      </p:sp>
      <p:sp>
        <p:nvSpPr>
          <p:cNvPr id="14" name="dp45-background / n14 / text 1">
            <a:extLst xmlns:a="http://schemas.openxmlformats.org/drawingml/2006/main">
              <a:ext uri="{FF2B5EF4-FFF2-40B4-BE49-F238E27FC236}">
                <a16:creationId xmlns:a16="http://schemas.microsoft.com/office/drawing/2014/main" id="{ADF355A0-3DA7-4A92-88D6-314366108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58375"/>
            <a:ext cx="120015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품질 관점: 기능 정확성 / 반응성 / 자원 활용성</a:t>
            </a:r>
          </a:p>
        </p:txBody>
      </p:sp>
      <p:sp>
        <p:nvSpPr>
          <p:cNvPr id="15" name="dp45-background / n15 / text 1">
            <a:extLst xmlns:a="http://schemas.openxmlformats.org/drawingml/2006/main">
              <a:ext uri="{FF2B5EF4-FFF2-40B4-BE49-F238E27FC236}">
                <a16:creationId xmlns:a16="http://schemas.microsoft.com/office/drawing/2014/main" id="{6DC59712-BD8F-48BA-AED2-10AD78F28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9858375"/>
            <a:ext cx="4572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후보 / 미선정 / 미측정</a:t>
            </a:r>
          </a:p>
        </p:txBody>
      </p:sp>
      <p:sp>
        <p:nvSpPr>
          <p:cNvPr id="16" name="dp45-background / n16 / text 1">
            <a:extLst xmlns:a="http://schemas.openxmlformats.org/drawingml/2006/main">
              <a:ext uri="{FF2B5EF4-FFF2-40B4-BE49-F238E27FC236}">
                <a16:creationId xmlns:a16="http://schemas.microsoft.com/office/drawing/2014/main" id="{69B85323-0963-4712-B340-59653B133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5075"/>
            <a:ext cx="1057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과거 활동의 시간 흐름 / VIA가 받은 기록과 허용된 참조</a:t>
            </a:r>
          </a:p>
        </p:txBody>
      </p:sp>
      <p:sp>
        <p:nvSpPr>
          <p:cNvPr id="17" name="dp45-background / n17">
            <a:extLst xmlns:a="http://schemas.openxmlformats.org/drawingml/2006/main">
              <a:ext uri="{FF2B5EF4-FFF2-40B4-BE49-F238E27FC236}">
                <a16:creationId xmlns:a16="http://schemas.microsoft.com/office/drawing/2014/main" id="{84B91CA0-74B1-4A4D-B874-16D76AB53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33725"/>
            <a:ext cx="3333750" cy="2733675"/>
          </a:xfrm>
          <a:custGeom xmlns:a="http://schemas.openxmlformats.org/drawingml/2006/main">
            <a:pathLst>
              <a:path w="3333750" h="2733675">
                <a:moveTo>
                  <a:pt x="0" y="0"/>
                </a:moveTo>
                <a:lnTo>
                  <a:pt x="3162300" y="0"/>
                </a:lnTo>
                <a:lnTo>
                  <a:pt x="3333750" y="171450"/>
                </a:lnTo>
                <a:lnTo>
                  <a:pt x="3333750" y="2733675"/>
                </a:lnTo>
                <a:lnTo>
                  <a:pt x="0" y="2733675"/>
                </a:lnTo>
                <a:close/>
              </a:path>
            </a:pathLst>
          </a:custGeom>
          <a:solidFill xmlns:a="http://schemas.openxmlformats.org/drawingml/2006/main">
            <a:srgbClr val="F4F6F8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8" name="dp45-background / n17 / fold">
            <a:extLst xmlns:a="http://schemas.openxmlformats.org/drawingml/2006/main">
              <a:ext uri="{FF2B5EF4-FFF2-40B4-BE49-F238E27FC236}">
                <a16:creationId xmlns:a16="http://schemas.microsoft.com/office/drawing/2014/main" id="{93565D54-C8CE-4F58-9D99-67B3C2FE5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133725"/>
            <a:ext cx="171450" cy="171450"/>
          </a:xfrm>
          <a:custGeom xmlns:a="http://schemas.openxmlformats.org/drawingml/2006/main">
            <a:pathLst>
              <a:path w="171450" h="171450">
                <a:moveTo>
                  <a:pt x="0" y="0"/>
                </a:moveTo>
                <a:lnTo>
                  <a:pt x="0" y="171450"/>
                </a:lnTo>
                <a:lnTo>
                  <a:pt x="17145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9" name="dp45-background / n18">
            <a:extLst xmlns:a="http://schemas.openxmlformats.org/drawingml/2006/main">
              <a:ext uri="{FF2B5EF4-FFF2-40B4-BE49-F238E27FC236}">
                <a16:creationId xmlns:a16="http://schemas.microsoft.com/office/drawing/2014/main" id="{79854D84-4941-4057-8838-19751E29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133725"/>
            <a:ext cx="3333750" cy="2733675"/>
          </a:xfrm>
          <a:custGeom xmlns:a="http://schemas.openxmlformats.org/drawingml/2006/main">
            <a:pathLst>
              <a:path w="3333750" h="2733675">
                <a:moveTo>
                  <a:pt x="0" y="0"/>
                </a:moveTo>
                <a:lnTo>
                  <a:pt x="3162300" y="0"/>
                </a:lnTo>
                <a:lnTo>
                  <a:pt x="3333750" y="171450"/>
                </a:lnTo>
                <a:lnTo>
                  <a:pt x="3333750" y="2733675"/>
                </a:lnTo>
                <a:lnTo>
                  <a:pt x="0" y="2733675"/>
                </a:lnTo>
                <a:close/>
              </a:path>
            </a:pathLst>
          </a:custGeom>
          <a:solidFill xmlns:a="http://schemas.openxmlformats.org/drawingml/2006/main">
            <a:srgbClr val="F4F6F8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0" name="dp45-background / n18 / fold">
            <a:extLst xmlns:a="http://schemas.openxmlformats.org/drawingml/2006/main">
              <a:ext uri="{FF2B5EF4-FFF2-40B4-BE49-F238E27FC236}">
                <a16:creationId xmlns:a16="http://schemas.microsoft.com/office/drawing/2014/main" id="{9101B0EB-CD05-4D83-A00D-43C4287CC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133725"/>
            <a:ext cx="171450" cy="171450"/>
          </a:xfrm>
          <a:custGeom xmlns:a="http://schemas.openxmlformats.org/drawingml/2006/main">
            <a:pathLst>
              <a:path w="171450" h="171450">
                <a:moveTo>
                  <a:pt x="0" y="0"/>
                </a:moveTo>
                <a:lnTo>
                  <a:pt x="0" y="171450"/>
                </a:lnTo>
                <a:lnTo>
                  <a:pt x="17145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1" name="dp45-background / n19">
            <a:extLst xmlns:a="http://schemas.openxmlformats.org/drawingml/2006/main">
              <a:ext uri="{FF2B5EF4-FFF2-40B4-BE49-F238E27FC236}">
                <a16:creationId xmlns:a16="http://schemas.microsoft.com/office/drawing/2014/main" id="{B785CA1A-6775-4E98-8D23-5F4C3D6F9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133725"/>
            <a:ext cx="3333750" cy="2733675"/>
          </a:xfrm>
          <a:custGeom xmlns:a="http://schemas.openxmlformats.org/drawingml/2006/main">
            <a:pathLst>
              <a:path w="3333750" h="2733675">
                <a:moveTo>
                  <a:pt x="0" y="0"/>
                </a:moveTo>
                <a:lnTo>
                  <a:pt x="3162300" y="0"/>
                </a:lnTo>
                <a:lnTo>
                  <a:pt x="3333750" y="171450"/>
                </a:lnTo>
                <a:lnTo>
                  <a:pt x="3333750" y="2733675"/>
                </a:lnTo>
                <a:lnTo>
                  <a:pt x="0" y="2733675"/>
                </a:lnTo>
                <a:close/>
              </a:path>
            </a:pathLst>
          </a:custGeom>
          <a:solidFill xmlns:a="http://schemas.openxmlformats.org/drawingml/2006/main">
            <a:srgbClr val="F4F6F8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2" name="dp45-background / n19 / fold">
            <a:extLst xmlns:a="http://schemas.openxmlformats.org/drawingml/2006/main">
              <a:ext uri="{FF2B5EF4-FFF2-40B4-BE49-F238E27FC236}">
                <a16:creationId xmlns:a16="http://schemas.microsoft.com/office/drawing/2014/main" id="{0B1307A5-1EDB-4D4A-A6A6-C34C0AECD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3133725"/>
            <a:ext cx="171450" cy="171450"/>
          </a:xfrm>
          <a:custGeom xmlns:a="http://schemas.openxmlformats.org/drawingml/2006/main">
            <a:pathLst>
              <a:path w="171450" h="171450">
                <a:moveTo>
                  <a:pt x="0" y="0"/>
                </a:moveTo>
                <a:lnTo>
                  <a:pt x="0" y="171450"/>
                </a:lnTo>
                <a:lnTo>
                  <a:pt x="171450" y="171450"/>
                </a:lnTo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23" name="dp45-background / n20 / text 1">
            <a:extLst xmlns:a="http://schemas.openxmlformats.org/drawingml/2006/main">
              <a:ext uri="{FF2B5EF4-FFF2-40B4-BE49-F238E27FC236}">
                <a16:creationId xmlns:a16="http://schemas.microsoft.com/office/drawing/2014/main" id="{C2E19B32-9EE5-4AB0-BBD7-F913EE0B7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051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앞선 대화 C20</a:t>
            </a:r>
          </a:p>
        </p:txBody>
      </p:sp>
      <p:sp>
        <p:nvSpPr>
          <p:cNvPr id="24" name="dp45-background / n21 / text 1">
            <a:extLst xmlns:a="http://schemas.openxmlformats.org/drawingml/2006/main">
              <a:ext uri="{FF2B5EF4-FFF2-40B4-BE49-F238E27FC236}">
                <a16:creationId xmlns:a16="http://schemas.microsoft.com/office/drawing/2014/main" id="{32AC7EE7-B1F7-4FF4-B011-C03865F74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29050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VIA의 직접 설명 E20</a:t>
            </a:r>
          </a:p>
        </p:txBody>
      </p:sp>
      <p:sp>
        <p:nvSpPr>
          <p:cNvPr id="25" name="dp45-background / n21 / text 2">
            <a:extLst xmlns:a="http://schemas.openxmlformats.org/drawingml/2006/main">
              <a:ext uri="{FF2B5EF4-FFF2-40B4-BE49-F238E27FC236}">
                <a16:creationId xmlns:a16="http://schemas.microsoft.com/office/drawing/2014/main" id="{D40CE102-A59D-4541-B8E6-73256A9DB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81475"/>
            <a:ext cx="2952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평가 기준</a:t>
            </a:r>
          </a:p>
        </p:txBody>
      </p:sp>
      <p:sp>
        <p:nvSpPr>
          <p:cNvPr id="26" name="dp45-background / n22 / text 1">
            <a:extLst xmlns:a="http://schemas.openxmlformats.org/drawingml/2006/main">
              <a:ext uri="{FF2B5EF4-FFF2-40B4-BE49-F238E27FC236}">
                <a16:creationId xmlns:a16="http://schemas.microsoft.com/office/drawing/2014/main" id="{F6007998-E573-4BCF-A54A-751338C12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14875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실제 전달 P20의</a:t>
            </a:r>
          </a:p>
        </p:txBody>
      </p:sp>
      <p:sp>
        <p:nvSpPr>
          <p:cNvPr id="27" name="dp45-background / n22 / text 2">
            <a:extLst xmlns:a="http://schemas.openxmlformats.org/drawingml/2006/main">
              <a:ext uri="{FF2B5EF4-FFF2-40B4-BE49-F238E27FC236}">
                <a16:creationId xmlns:a16="http://schemas.microsoft.com/office/drawing/2014/main" id="{9B8F31ED-C128-4418-9CE1-2BDAE47C4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38725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설명 내용과 범위</a:t>
            </a:r>
          </a:p>
        </p:txBody>
      </p:sp>
      <p:sp>
        <p:nvSpPr>
          <p:cNvPr id="28" name="dp45-background / n23 / text 1">
            <a:extLst xmlns:a="http://schemas.openxmlformats.org/drawingml/2006/main">
              <a:ext uri="{FF2B5EF4-FFF2-40B4-BE49-F238E27FC236}">
                <a16:creationId xmlns:a16="http://schemas.microsoft.com/office/drawing/2014/main" id="{E1D8B2CC-5774-415C-AF2F-D5B598B5B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24500"/>
            <a:ext cx="29527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생성과 실제 전달 구별</a:t>
            </a:r>
          </a:p>
        </p:txBody>
      </p:sp>
      <p:sp>
        <p:nvSpPr>
          <p:cNvPr id="29" name="dp45-background / n24 / text 1">
            <a:extLst xmlns:a="http://schemas.openxmlformats.org/drawingml/2006/main">
              <a:ext uri="{FF2B5EF4-FFF2-40B4-BE49-F238E27FC236}">
                <a16:creationId xmlns:a16="http://schemas.microsoft.com/office/drawing/2014/main" id="{356F7FDD-1145-41F6-9DF3-7204B938F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051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이후 제품 조사 T21</a:t>
            </a:r>
          </a:p>
        </p:txBody>
      </p:sp>
      <p:sp>
        <p:nvSpPr>
          <p:cNvPr id="30" name="dp45-background / n25 / text 1">
            <a:extLst xmlns:a="http://schemas.openxmlformats.org/drawingml/2006/main">
              <a:ext uri="{FF2B5EF4-FFF2-40B4-BE49-F238E27FC236}">
                <a16:creationId xmlns:a16="http://schemas.microsoft.com/office/drawing/2014/main" id="{DBB1FD1E-FE1C-4D7E-BAE4-B80ECE03E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829050"/>
            <a:ext cx="29527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한 Downstream Agent</a:t>
            </a:r>
          </a:p>
        </p:txBody>
      </p:sp>
      <p:sp>
        <p:nvSpPr>
          <p:cNvPr id="31" name="dp45-background / n25 / text 2">
            <a:extLst xmlns:a="http://schemas.openxmlformats.org/drawingml/2006/main">
              <a:ext uri="{FF2B5EF4-FFF2-40B4-BE49-F238E27FC236}">
                <a16:creationId xmlns:a16="http://schemas.microsoft.com/office/drawing/2014/main" id="{8456E2B0-1568-4AD9-8F3E-82194A48F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181475"/>
            <a:ext cx="29527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제품 비교 수행</a:t>
            </a:r>
          </a:p>
        </p:txBody>
      </p:sp>
      <p:sp>
        <p:nvSpPr>
          <p:cNvPr id="32" name="dp45-background / n26 / text 1">
            <a:extLst xmlns:a="http://schemas.openxmlformats.org/drawingml/2006/main">
              <a:ext uri="{FF2B5EF4-FFF2-40B4-BE49-F238E27FC236}">
                <a16:creationId xmlns:a16="http://schemas.microsoft.com/office/drawing/2014/main" id="{9C95132E-D53C-4B21-8E38-D4A452FB9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714875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VIA가 확인한 결과 참조</a:t>
            </a:r>
          </a:p>
        </p:txBody>
      </p:sp>
      <p:sp>
        <p:nvSpPr>
          <p:cNvPr id="33" name="dp45-background / n26 / text 2">
            <a:extLst xmlns:a="http://schemas.openxmlformats.org/drawingml/2006/main">
              <a:ext uri="{FF2B5EF4-FFF2-40B4-BE49-F238E27FC236}">
                <a16:creationId xmlns:a16="http://schemas.microsoft.com/office/drawing/2014/main" id="{6C41ECBF-E1E0-4EF2-999C-F2EE0501A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038725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D21@v2</a:t>
            </a:r>
          </a:p>
        </p:txBody>
      </p:sp>
      <p:sp>
        <p:nvSpPr>
          <p:cNvPr id="34" name="dp45-background / n27 / text 1">
            <a:extLst xmlns:a="http://schemas.openxmlformats.org/drawingml/2006/main">
              <a:ext uri="{FF2B5EF4-FFF2-40B4-BE49-F238E27FC236}">
                <a16:creationId xmlns:a16="http://schemas.microsoft.com/office/drawing/2014/main" id="{9BE499D5-EDF9-4A38-9680-91A6CA77B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524500"/>
            <a:ext cx="29527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C21 대화에 연결</a:t>
            </a:r>
          </a:p>
        </p:txBody>
      </p:sp>
      <p:sp>
        <p:nvSpPr>
          <p:cNvPr id="35" name="dp45-background / n28 / text 1">
            <a:extLst xmlns:a="http://schemas.openxmlformats.org/drawingml/2006/main">
              <a:ext uri="{FF2B5EF4-FFF2-40B4-BE49-F238E27FC236}">
                <a16:creationId xmlns:a16="http://schemas.microsoft.com/office/drawing/2014/main" id="{189E7174-C3DC-4E29-AFFF-F29A5C7AE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305175"/>
            <a:ext cx="295275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이후 견적 업무 T22</a:t>
            </a:r>
          </a:p>
        </p:txBody>
      </p:sp>
      <p:sp>
        <p:nvSpPr>
          <p:cNvPr id="36" name="dp45-background / n29 / text 1">
            <a:extLst xmlns:a="http://schemas.openxmlformats.org/drawingml/2006/main">
              <a:ext uri="{FF2B5EF4-FFF2-40B4-BE49-F238E27FC236}">
                <a16:creationId xmlns:a16="http://schemas.microsoft.com/office/drawing/2014/main" id="{03FC9338-397F-4B1E-8921-6E070C4BD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829050"/>
            <a:ext cx="29527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다른 Downstream Agent</a:t>
            </a:r>
          </a:p>
        </p:txBody>
      </p:sp>
      <p:sp>
        <p:nvSpPr>
          <p:cNvPr id="37" name="dp45-background / n29 / text 2">
            <a:extLst xmlns:a="http://schemas.openxmlformats.org/drawingml/2006/main">
              <a:ext uri="{FF2B5EF4-FFF2-40B4-BE49-F238E27FC236}">
                <a16:creationId xmlns:a16="http://schemas.microsoft.com/office/drawing/2014/main" id="{6E758223-02A5-4674-B438-6AD4648B5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181475"/>
            <a:ext cx="29527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견적 업무 수행</a:t>
            </a:r>
          </a:p>
        </p:txBody>
      </p:sp>
      <p:sp>
        <p:nvSpPr>
          <p:cNvPr id="38" name="dp45-background / n30 / text 1">
            <a:extLst xmlns:a="http://schemas.openxmlformats.org/drawingml/2006/main">
              <a:ext uri="{FF2B5EF4-FFF2-40B4-BE49-F238E27FC236}">
                <a16:creationId xmlns:a16="http://schemas.microsoft.com/office/drawing/2014/main" id="{17C51896-C4D6-4D87-AEE6-50C7AA933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714875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VIA가 확인한 결과 참조</a:t>
            </a:r>
          </a:p>
        </p:txBody>
      </p:sp>
      <p:sp>
        <p:nvSpPr>
          <p:cNvPr id="39" name="dp45-background / n30 / text 2">
            <a:extLst xmlns:a="http://schemas.openxmlformats.org/drawingml/2006/main">
              <a:ext uri="{FF2B5EF4-FFF2-40B4-BE49-F238E27FC236}">
                <a16:creationId xmlns:a16="http://schemas.microsoft.com/office/drawing/2014/main" id="{C81C1B3C-7287-4846-A0EA-F9A970C8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038725"/>
            <a:ext cx="295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D22@v1</a:t>
            </a:r>
          </a:p>
        </p:txBody>
      </p:sp>
      <p:sp>
        <p:nvSpPr>
          <p:cNvPr id="40" name="dp45-background / n31 / text 1">
            <a:extLst xmlns:a="http://schemas.openxmlformats.org/drawingml/2006/main">
              <a:ext uri="{FF2B5EF4-FFF2-40B4-BE49-F238E27FC236}">
                <a16:creationId xmlns:a16="http://schemas.microsoft.com/office/drawing/2014/main" id="{09A236DD-D780-4408-BD0B-17BCD4B7C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524500"/>
            <a:ext cx="29527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C22 대화에 연결</a:t>
            </a:r>
          </a:p>
        </p:txBody>
      </p:sp>
      <p:sp>
        <p:nvSpPr>
          <p:cNvPr id="41" name="dp45-background / n32 / path">
            <a:extLst xmlns:a="http://schemas.openxmlformats.org/drawingml/2006/main">
              <a:ext uri="{FF2B5EF4-FFF2-40B4-BE49-F238E27FC236}">
                <a16:creationId xmlns:a16="http://schemas.microsoft.com/office/drawing/2014/main" id="{4F24B2B2-CCB9-45D8-BD65-F7E333C32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495675"/>
            <a:ext cx="247650" cy="953"/>
          </a:xfrm>
          <a:custGeom xmlns:a="http://schemas.openxmlformats.org/drawingml/2006/main">
            <a:pathLst>
              <a:path w="247650" h="953">
                <a:moveTo>
                  <a:pt x="0" y="0"/>
                </a:move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42" name="dp45-background / n32 / arrow">
            <a:extLst xmlns:a="http://schemas.openxmlformats.org/drawingml/2006/main">
              <a:ext uri="{FF2B5EF4-FFF2-40B4-BE49-F238E27FC236}">
                <a16:creationId xmlns:a16="http://schemas.microsoft.com/office/drawing/2014/main" id="{4848B865-995F-47E3-82EF-8CFF95B3E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8130" y="34347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43" name="dp45-background / n33 / path">
            <a:extLst xmlns:a="http://schemas.openxmlformats.org/drawingml/2006/main">
              <a:ext uri="{FF2B5EF4-FFF2-40B4-BE49-F238E27FC236}">
                <a16:creationId xmlns:a16="http://schemas.microsoft.com/office/drawing/2014/main" id="{C85660C4-C6B9-4F70-B2F4-8E574A291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495675"/>
            <a:ext cx="247650" cy="953"/>
          </a:xfrm>
          <a:custGeom xmlns:a="http://schemas.openxmlformats.org/drawingml/2006/main">
            <a:pathLst>
              <a:path w="247650" h="953">
                <a:moveTo>
                  <a:pt x="0" y="0"/>
                </a:move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44" name="dp45-background / n33 / arrow">
            <a:extLst xmlns:a="http://schemas.openxmlformats.org/drawingml/2006/main">
              <a:ext uri="{FF2B5EF4-FFF2-40B4-BE49-F238E27FC236}">
                <a16:creationId xmlns:a16="http://schemas.microsoft.com/office/drawing/2014/main" id="{F589AF4A-2517-4115-91EA-00192E011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7630" y="34347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45" name="dp45-background / n34 / path">
            <a:extLst xmlns:a="http://schemas.openxmlformats.org/drawingml/2006/main">
              <a:ext uri="{FF2B5EF4-FFF2-40B4-BE49-F238E27FC236}">
                <a16:creationId xmlns:a16="http://schemas.microsoft.com/office/drawing/2014/main" id="{0E06DDF8-2E10-4AE0-B1B6-934AB7DCA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924550"/>
            <a:ext cx="953" cy="219075"/>
          </a:xfrm>
          <a:custGeom xmlns:a="http://schemas.openxmlformats.org/drawingml/2006/main">
            <a:pathLst>
              <a:path w="953" h="219075">
                <a:moveTo>
                  <a:pt x="0" y="0"/>
                </a:moveTo>
                <a:lnTo>
                  <a:pt x="0" y="2190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46" name="dp45-background / n35 / path">
            <a:extLst xmlns:a="http://schemas.openxmlformats.org/drawingml/2006/main">
              <a:ext uri="{FF2B5EF4-FFF2-40B4-BE49-F238E27FC236}">
                <a16:creationId xmlns:a16="http://schemas.microsoft.com/office/drawing/2014/main" id="{DF4BF248-ACF3-412E-9883-0CA360872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5924550"/>
            <a:ext cx="953" cy="219075"/>
          </a:xfrm>
          <a:custGeom xmlns:a="http://schemas.openxmlformats.org/drawingml/2006/main">
            <a:pathLst>
              <a:path w="953" h="219075">
                <a:moveTo>
                  <a:pt x="0" y="0"/>
                </a:moveTo>
                <a:lnTo>
                  <a:pt x="0" y="2190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47" name="dp45-background / n36 / path">
            <a:extLst xmlns:a="http://schemas.openxmlformats.org/drawingml/2006/main">
              <a:ext uri="{FF2B5EF4-FFF2-40B4-BE49-F238E27FC236}">
                <a16:creationId xmlns:a16="http://schemas.microsoft.com/office/drawing/2014/main" id="{BF2A861D-EDC2-4742-9D74-178241960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5924550"/>
            <a:ext cx="953" cy="219075"/>
          </a:xfrm>
          <a:custGeom xmlns:a="http://schemas.openxmlformats.org/drawingml/2006/main">
            <a:pathLst>
              <a:path w="953" h="219075">
                <a:moveTo>
                  <a:pt x="0" y="0"/>
                </a:moveTo>
                <a:lnTo>
                  <a:pt x="0" y="2190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48" name="dp45-background / n37 / path">
            <a:extLst xmlns:a="http://schemas.openxmlformats.org/drawingml/2006/main">
              <a:ext uri="{FF2B5EF4-FFF2-40B4-BE49-F238E27FC236}">
                <a16:creationId xmlns:a16="http://schemas.microsoft.com/office/drawing/2014/main" id="{524C169C-D112-4F20-87F8-BCA784426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6143625"/>
            <a:ext cx="9077325" cy="1866900"/>
          </a:xfrm>
          <a:custGeom xmlns:a="http://schemas.openxmlformats.org/drawingml/2006/main">
            <a:pathLst>
              <a:path w="9077325" h="1866900">
                <a:moveTo>
                  <a:pt x="0" y="0"/>
                </a:moveTo>
                <a:lnTo>
                  <a:pt x="9077325" y="0"/>
                </a:lnTo>
                <a:lnTo>
                  <a:pt x="9077325" y="1866900"/>
                </a:lnTo>
                <a:lnTo>
                  <a:pt x="8905875" y="18669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49" name="dp45-background / n37 / arrow">
            <a:extLst xmlns:a="http://schemas.openxmlformats.org/drawingml/2006/main">
              <a:ext uri="{FF2B5EF4-FFF2-40B4-BE49-F238E27FC236}">
                <a16:creationId xmlns:a16="http://schemas.microsoft.com/office/drawing/2014/main" id="{5BF83986-A32A-41FF-882A-10BBCCD75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794956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50" name="dp45-background / n38 / text 1">
            <a:extLst xmlns:a="http://schemas.openxmlformats.org/drawingml/2006/main">
              <a:ext uri="{FF2B5EF4-FFF2-40B4-BE49-F238E27FC236}">
                <a16:creationId xmlns:a16="http://schemas.microsoft.com/office/drawing/2014/main" id="{D2CF6044-7C8F-4950-9F3D-A1C623E41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572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이번 C23 / R23: 여러 활동을 참조하는 새 제안서 요청</a:t>
            </a:r>
          </a:p>
        </p:txBody>
      </p:sp>
      <p:sp>
        <p:nvSpPr>
          <p:cNvPr id="51" name="dp45-background / n39">
            <a:extLst xmlns:a="http://schemas.openxmlformats.org/drawingml/2006/main">
              <a:ext uri="{FF2B5EF4-FFF2-40B4-BE49-F238E27FC236}">
                <a16:creationId xmlns:a16="http://schemas.microsoft.com/office/drawing/2014/main" id="{DB40EAD2-E716-48DF-9A3C-64AC41739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86550"/>
            <a:ext cx="1057275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0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dp45-background / n40 / text 1">
            <a:extLst xmlns:a="http://schemas.openxmlformats.org/drawingml/2006/main">
              <a:ext uri="{FF2B5EF4-FFF2-40B4-BE49-F238E27FC236}">
                <a16:creationId xmlns:a16="http://schemas.microsoft.com/office/drawing/2014/main" id="{AF122054-BC49-44C2-9ADB-91602DF55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829425"/>
            <a:ext cx="10191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“지난번 네가 설명한 평가 기준에 맞춰, 앞서 조사한 제품 비교 결과와</a:t>
            </a:r>
          </a:p>
        </p:txBody>
      </p:sp>
      <p:sp>
        <p:nvSpPr>
          <p:cNvPr id="53" name="dp45-background / n40 / text 2">
            <a:extLst xmlns:a="http://schemas.openxmlformats.org/drawingml/2006/main">
              <a:ext uri="{FF2B5EF4-FFF2-40B4-BE49-F238E27FC236}">
                <a16:creationId xmlns:a16="http://schemas.microsoft.com/office/drawing/2014/main" id="{5E6F2EF8-5872-46FE-81E3-1CB75374B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181850"/>
            <a:ext cx="10191750" cy="3590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받아둔 견적을 이번 제안서에 반영해줘.”</a:t>
            </a:r>
          </a:p>
        </p:txBody>
      </p:sp>
      <p:sp>
        <p:nvSpPr>
          <p:cNvPr id="54" name="dp45-background / n41">
            <a:extLst xmlns:a="http://schemas.openxmlformats.org/drawingml/2006/main">
              <a:ext uri="{FF2B5EF4-FFF2-40B4-BE49-F238E27FC236}">
                <a16:creationId xmlns:a16="http://schemas.microsoft.com/office/drawing/2014/main" id="{8C7ECBC6-FABF-4FD1-B089-B9BA54EA0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20025"/>
            <a:ext cx="10572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8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dp45-background / n42 / text 1">
            <a:extLst xmlns:a="http://schemas.openxmlformats.org/drawingml/2006/main">
              <a:ext uri="{FF2B5EF4-FFF2-40B4-BE49-F238E27FC236}">
                <a16:creationId xmlns:a16="http://schemas.microsoft.com/office/drawing/2014/main" id="{B3681CD6-D76C-4FEB-9D83-4C57AB42C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915275"/>
            <a:ext cx="101917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VIA: P20 전달 범위와 D21/D22 발췌 또는 참조를 이번 Context에 연결</a:t>
            </a:r>
          </a:p>
        </p:txBody>
      </p:sp>
      <p:sp>
        <p:nvSpPr>
          <p:cNvPr id="56" name="dp45-background / n43 / text 1">
            <a:extLst xmlns:a="http://schemas.openxmlformats.org/drawingml/2006/main">
              <a:ext uri="{FF2B5EF4-FFF2-40B4-BE49-F238E27FC236}">
                <a16:creationId xmlns:a16="http://schemas.microsoft.com/office/drawing/2014/main" id="{AE3536AC-6551-4CBB-8594-13D2E81A2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381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여러 활동의 근거 연결</a:t>
            </a:r>
          </a:p>
        </p:txBody>
      </p:sp>
      <p:sp>
        <p:nvSpPr>
          <p:cNvPr id="57" name="dp45-background / n44 / text 1">
            <a:extLst xmlns:a="http://schemas.openxmlformats.org/drawingml/2006/main">
              <a:ext uri="{FF2B5EF4-FFF2-40B4-BE49-F238E27FC236}">
                <a16:creationId xmlns:a16="http://schemas.microsoft.com/office/drawing/2014/main" id="{946D5B40-1874-434E-956E-D4E93A841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781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직접 설명과 두 업무 결과의 후보 및 버전 확인</a:t>
            </a:r>
          </a:p>
        </p:txBody>
      </p:sp>
      <p:sp>
        <p:nvSpPr>
          <p:cNvPr id="58" name="dp45-background / n45 / text 1">
            <a:extLst xmlns:a="http://schemas.openxmlformats.org/drawingml/2006/main">
              <a:ext uri="{FF2B5EF4-FFF2-40B4-BE49-F238E27FC236}">
                <a16:creationId xmlns:a16="http://schemas.microsoft.com/office/drawing/2014/main" id="{04E826A3-5595-4F19-918E-5D58E2F07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905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실제 전달과 자료 범위</a:t>
            </a:r>
          </a:p>
        </p:txBody>
      </p:sp>
      <p:sp>
        <p:nvSpPr>
          <p:cNvPr id="59" name="dp45-background / n46 / text 1">
            <a:extLst xmlns:a="http://schemas.openxmlformats.org/drawingml/2006/main">
              <a:ext uri="{FF2B5EF4-FFF2-40B4-BE49-F238E27FC236}">
                <a16:creationId xmlns:a16="http://schemas.microsoft.com/office/drawing/2014/main" id="{9D67E4C3-BBE2-4740-A13E-B8737294B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305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설명 원문과 실제 표시/재생 범위 구별</a:t>
            </a:r>
          </a:p>
        </p:txBody>
      </p:sp>
      <p:sp>
        <p:nvSpPr>
          <p:cNvPr id="60" name="dp45-background / n46 / text 2">
            <a:extLst xmlns:a="http://schemas.openxmlformats.org/drawingml/2006/main">
              <a:ext uri="{FF2B5EF4-FFF2-40B4-BE49-F238E27FC236}">
                <a16:creationId xmlns:a16="http://schemas.microsoft.com/office/drawing/2014/main" id="{502A4938-254B-4B36-8E08-47758E623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619750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결과 본문과 허용된 참조 구별</a:t>
            </a:r>
          </a:p>
        </p:txBody>
      </p:sp>
      <p:sp>
        <p:nvSpPr>
          <p:cNvPr id="61" name="dp45-background / n47 / text 1">
            <a:extLst xmlns:a="http://schemas.openxmlformats.org/drawingml/2006/main">
              <a:ext uri="{FF2B5EF4-FFF2-40B4-BE49-F238E27FC236}">
                <a16:creationId xmlns:a16="http://schemas.microsoft.com/office/drawing/2014/main" id="{97ACFF72-C4BD-42E7-BA14-103B7A383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429375"/>
            <a:ext cx="5676900" cy="3314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제공 방식과 비용</a:t>
            </a:r>
          </a:p>
        </p:txBody>
      </p:sp>
      <p:sp>
        <p:nvSpPr>
          <p:cNvPr id="62" name="dp45-background / n48 / text 1">
            <a:extLst xmlns:a="http://schemas.openxmlformats.org/drawingml/2006/main">
              <a:ext uri="{FF2B5EF4-FFF2-40B4-BE49-F238E27FC236}">
                <a16:creationId xmlns:a16="http://schemas.microsoft.com/office/drawing/2014/main" id="{30B96681-73F7-47CE-BD40-FEAABF463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6829425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단순 실행 맥락이나 index/cache로 충분한지</a:t>
            </a:r>
          </a:p>
        </p:txBody>
      </p:sp>
      <p:sp>
        <p:nvSpPr>
          <p:cNvPr id="63" name="dp45-background / n48 / text 2">
            <a:extLst xmlns:a="http://schemas.openxmlformats.org/drawingml/2006/main">
              <a:ext uri="{FF2B5EF4-FFF2-40B4-BE49-F238E27FC236}">
                <a16:creationId xmlns:a16="http://schemas.microsoft.com/office/drawing/2014/main" id="{1B9859B3-523D-4BF0-8E9F-FF76D1524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7143750"/>
            <a:ext cx="56769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 파생 관계의 유지가 필요한지 검토</a:t>
            </a:r>
          </a:p>
        </p:txBody>
      </p:sp>
    </p:spTree>
    <p:extLst>
      <p:ext uri="{BB962C8B-B14F-4D97-AF65-F5344CB8AC3E}">
        <p14:creationId xmlns:p14="http://schemas.microsoft.com/office/powerpoint/2010/main" val="28568414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2026-10-06T14:44:08.6970000Z</dcterms:created>
  <dcterms:modified xsi:type="dcterms:W3CDTF">2026-10-06T14:44:08.6970000Z</dcterms:modified>
</coreProperties>
</file>