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initial01_notesMaster1.xml" ContentType="application/vnd.openxmlformats-officedocument.presentationml.notesMaster+xml"/>
  <Override PartName="/ppt/notesMasters/theme/initial01_theme3.xml" ContentType="application/vnd.openxmlformats-officedocument.theme+xml"/>
  <Override PartName="/ppt/slideLayouts/initial01_slideLayout1.xml" ContentType="application/vnd.openxmlformats-officedocument.presentationml.slideLayout+xml"/>
  <Override PartName="/ppt/slideMasters/initial01_slideMaster1.xml" ContentType="application/vnd.openxmlformats-officedocument.presentationml.slideMaster+xml"/>
  <Override PartName="/ppt/slideMasters/theme/initial01_theme2.xml" ContentType="application/vnd.openxmlformats-officedocument.theme+xml"/>
  <Override PartName="/ppt/media/initial02_image.png" ContentType="image/png"/>
  <Override PartName="/ppt/media/initial02_image2.png" ContentType="image/png"/>
  <Override PartName="/ppt/media/initial02_image3.png" ContentType="image/png"/>
  <Override PartName="/ppt/media/initial02_image4.png" ContentType="image/png"/>
  <Override PartName="/ppt/media/initial02_image5.png" ContentType="image/png"/>
  <Override PartName="/ppt/slideLayouts/initial02_slideLayout1.xml" ContentType="application/vnd.openxmlformats-officedocument.presentationml.slideLayout+xml"/>
  <Override PartName="/ppt/slideMasters/initial02_slideMaster1.xml" ContentType="application/vnd.openxmlformats-officedocument.presentationml.slideMaster+xml"/>
  <Override PartName="/ppt/slideMasters/theme/initial02_theme2.xml" ContentType="application/vnd.openxmlformats-officedocument.theme+xml"/>
  <Override PartName="/ppt/slideLayouts/initial03_slideLayout1.xml" ContentType="application/vnd.openxmlformats-officedocument.presentationml.slideLayout+xml"/>
  <Override PartName="/ppt/slideMasters/initial03_slideMaster1.xml" ContentType="application/vnd.openxmlformats-officedocument.presentationml.slideMaster+xml"/>
  <Override PartName="/ppt/slideMasters/theme/initial03_theme2.xml" ContentType="application/vnd.openxmlformats-officedocument.theme+xml"/>
  <Override PartName="/ppt/slideLayouts/initial04_slideLayout1.xml" ContentType="application/vnd.openxmlformats-officedocument.presentationml.slideLayout+xml"/>
  <Override PartName="/ppt/slideMasters/initial04_slideMaster1.xml" ContentType="application/vnd.openxmlformats-officedocument.presentationml.slideMaster+xml"/>
  <Override PartName="/ppt/slideMasters/theme/initial04_theme2.xml" ContentType="application/vnd.openxmlformats-officedocument.theme+xml"/>
  <Override PartName="/ppt/slideLayouts/initial05_slideLayout1.xml" ContentType="application/vnd.openxmlformats-officedocument.presentationml.slideLayout+xml"/>
  <Override PartName="/ppt/slideMasters/initial05_slideMaster1.xml" ContentType="application/vnd.openxmlformats-officedocument.presentationml.slideMaster+xml"/>
  <Override PartName="/ppt/slideMasters/theme/initial05_theme2.xml" ContentType="application/vnd.openxmlformats-officedocument.theme+xml"/>
  <Override PartName="/ppt/slideLayouts/initial06_slideLayout1.xml" ContentType="application/vnd.openxmlformats-officedocument.presentationml.slideLayout+xml"/>
  <Override PartName="/ppt/slideMasters/initial06_slideMaster1.xml" ContentType="application/vnd.openxmlformats-officedocument.presentationml.slideMaster+xml"/>
  <Override PartName="/ppt/slideMasters/theme/initial06_theme2.xml" ContentType="application/vnd.openxmlformats-officedocument.theme+xml"/>
  <Override PartName="/ppt/media/initial07_via-v2-intro-1-3.png" ContentType="image/png"/>
  <Override PartName="/ppt/media/initial07_via-v2-intro-2-3.png" ContentType="image/png"/>
  <Override PartName="/ppt/slideLayouts/initial07_slideLayout1.xml" ContentType="application/vnd.openxmlformats-officedocument.presentationml.slideLayout+xml"/>
  <Override PartName="/ppt/slideMasters/initial07_slideMaster1.xml" ContentType="application/vnd.openxmlformats-officedocument.presentationml.slideMaster+xml"/>
  <Override PartName="/ppt/slideMasters/theme/initial07_theme2.xml" ContentType="application/vnd.openxmlformats-officedocument.theme+xml"/>
  <Override PartName="/ppt/notesSlides/notesSlide33.xml" ContentType="application/vnd.openxmlformats-officedocument.presentationml.notesSlide+xml"/>
  <Override PartName="/ppt/notesSlides/notesSlide40.xml" ContentType="application/vnd.openxmlformats-officedocument.presentationml.notesSlide+xml"/>
  <Override PartName="/ppt/notesSlides/notesSlide36.xml" ContentType="application/vnd.openxmlformats-officedocument.presentationml.notesSlide+xml"/>
  <Override PartName="/ppt/notesSlides/notesSlide34.xml" ContentType="application/vnd.openxmlformats-officedocument.presentationml.notesSlide+xml"/>
  <Override PartName="/ppt/notesSlides/notesSlide41.xml" ContentType="application/vnd.openxmlformats-officedocument.presentationml.notesSlide+xml"/>
  <Override PartName="/ppt/notesSlides/notesSlide35.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slideLayouts/V2Clone_initial01_slideLayout1.xml" ContentType="application/vnd.openxmlformats-officedocument.presentationml.slideLayout+xml"/>
  <Override PartName="/ppt/slideLayouts/V2Clone_initial02_slideLayout1.xml" ContentType="application/vnd.openxmlformats-officedocument.presentationml.slideLayout+xml"/>
  <Override PartName="/ppt/slideLayouts/V2Clone_initial03_slideLayout1.xml" ContentType="application/vnd.openxmlformats-officedocument.presentationml.slideLayout+xml"/>
  <Override PartName="/ppt/slideLayouts/V2Clone_initial04_slideLayout1.xml" ContentType="application/vnd.openxmlformats-officedocument.presentationml.slideLayout+xml"/>
  <Override PartName="/ppt/slideLayouts/V2Clone_initial06_slideLayout1.xml" ContentType="application/vnd.openxmlformats-officedocument.presentationml.slideLayout+xml"/>
  <Override PartName="/ppt/slideLayouts/V2Clone_initial07_slideLayout1.xml" ContentType="application/vnd.openxmlformats-officedocument.presentationml.slideLayout+xml"/>
  <Override PartName="/ppt/slideMasters/V2Clone_initial01_slideMaster1.xml" ContentType="application/vnd.openxmlformats-officedocument.presentationml.slideMaster+xml"/>
  <Override PartName="/ppt/slideMasters/V2Clone_initial02_slideMaster1.xml" ContentType="application/vnd.openxmlformats-officedocument.presentationml.slideMaster+xml"/>
  <Override PartName="/ppt/slideMasters/V2Clone_initial03_slideMaster1.xml" ContentType="application/vnd.openxmlformats-officedocument.presentationml.slideMaster+xml"/>
  <Override PartName="/ppt/slideMasters/V2Clone_initial04_slideMaster1.xml" ContentType="application/vnd.openxmlformats-officedocument.presentationml.slideMaster+xml"/>
  <Override PartName="/ppt/slideMasters/V2Clone_initial06_slideMaster1.xml" ContentType="application/vnd.openxmlformats-officedocument.presentationml.slideMaster+xml"/>
  <Override PartName="/ppt/slideMasters/V2Clone_initial07_slideMaster1.xml" ContentType="application/vnd.openxmlformats-officedocument.presentationml.slideMaster+xml"/>
  <Override PartName="/ppt/slideMasters/theme/V2Clone_initial01_theme2.xml" ContentType="application/vnd.openxmlformats-officedocument.theme+xml"/>
  <Override PartName="/ppt/slideMasters/theme/V2Clone_initial02_theme2.xml" ContentType="application/vnd.openxmlformats-officedocument.theme+xml"/>
  <Override PartName="/ppt/slideMasters/theme/V2Clone_initial03_theme2.xml" ContentType="application/vnd.openxmlformats-officedocument.theme+xml"/>
  <Override PartName="/ppt/slideMasters/theme/V2Clone_initial04_theme2.xml" ContentType="application/vnd.openxmlformats-officedocument.theme+xml"/>
  <Override PartName="/ppt/slideMasters/theme/V2Clone_initial06_theme2.xml" ContentType="application/vnd.openxmlformats-officedocument.theme+xml"/>
  <Override PartName="/ppt/slideMasters/theme/V2Clone_initial07_theme2.xml" ContentType="application/vnd.openxmlformats-officedocument.theme+xml"/>
  <Override PartName="/ppt/slides/slide33.xml" ContentType="application/vnd.openxmlformats-officedocument.presentationml.slide+xml"/>
  <Override PartName="/ppt/slides/slide40.xml" ContentType="application/vnd.openxmlformats-officedocument.presentationml.slide+xml"/>
  <Override PartName="/ppt/slides/slide36.xml" ContentType="application/vnd.openxmlformats-officedocument.presentationml.slide+xml"/>
  <Override PartName="/ppt/slides/slide34.xml" ContentType="application/vnd.openxmlformats-officedocument.presentationml.slide+xml"/>
  <Override PartName="/ppt/slides/slide41.xml" ContentType="application/vnd.openxmlformats-officedocument.presentationml.slide+xml"/>
  <Override PartName="/ppt/slides/slide35.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Slides/notesSlide46.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slideLayouts/V2Native_slideLayout1.xml" ContentType="application/vnd.openxmlformats-officedocument.presentationml.slideLayout+xml"/>
  <Override PartName="/ppt/slideMasters/V2Native_slideMaster1.xml" ContentType="application/vnd.openxmlformats-officedocument.presentationml.slideMaster+xml"/>
  <Override PartName="/ppt/slideMasters/theme/V2Native_theme2.xml" ContentType="application/vnd.openxmlformats-officedocument.theme+xml"/>
  <Override PartName="/ppt/slides/slide46.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slideLayouts/V3Background_slideLayout1.xml" ContentType="application/vnd.openxmlformats-officedocument.presentationml.slideLayout+xml"/>
  <Override PartName="/ppt/slideMasters/V3Background_slideMaster1.xml" ContentType="application/vnd.openxmlformats-officedocument.presentationml.slideMaster+xml"/>
  <Override PartName="/ppt/slideMasters/theme/V3Background_theme2.xml" ContentType="application/vnd.openxmlformats-officedocument.them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Slides/notesSlideV818.xml" ContentType="application/vnd.openxmlformats-officedocument.presentationml.notesSlide+xml"/>
  <Override PartName="/ppt/slides/slide63.xml" ContentType="application/vnd.openxmlformats-officedocument.presentationml.slide+xml"/>
  <Override PartName="/ppt/notesSlides/notesSlideV822.xml" ContentType="application/vnd.openxmlformats-officedocument.presentationml.notesSlide+xml"/>
  <Override PartName="/ppt/media/intro_v9_image.gif" ContentType="image/gif"/>
  <Override PartName="/ppt/media/intro_v9_image2.gif" ContentType="image/gif"/>
  <Override PartName="/ppt/embeddings/intro_v9_chart-data-snapshot-001.xlsx" ContentType="application/vnd.openxmlformats-officedocument.spreadsheetml.sheet"/>
  <Override PartName="/ppt/slides/charts/intro_v10_chart1.xml" ContentType="application/vnd.openxmlformats-officedocument.drawingml.chart+xml"/>
  <Override PartName="/ppt/slides/slide64.xml" ContentType="application/vnd.openxmlformats-officedocument.presentationml.slide+xml"/>
  <Override PartName="/ppt/notesSlides/qaV1125.xml" ContentType="application/vnd.openxmlformats-officedocument.presentationml.notesSlide+xml"/>
  <Override PartName="/ppt/slides/slide65.xml" ContentType="application/vnd.openxmlformats-officedocument.presentationml.slide+xml"/>
  <Override PartName="/ppt/notesSlides/qaV1126.xml" ContentType="application/vnd.openxmlformats-officedocument.presentationml.notesSlide+xml"/>
  <Override PartName="/ppt/slides/slide66.xml" ContentType="application/vnd.openxmlformats-officedocument.presentationml.slide+xml"/>
  <Override PartName="/ppt/notesSlides/qaV1127.xml" ContentType="application/vnd.openxmlformats-officedocument.presentationml.notesSlide+xml"/>
  <Override PartName="/ppt/slides/slide67.xml" ContentType="application/vnd.openxmlformats-officedocument.presentationml.slide+xml"/>
  <Override PartName="/ppt/notesSlides/qaV1128.xml" ContentType="application/vnd.openxmlformats-officedocument.presentationml.notesSlide+xml"/>
  <Override PartName="/ppt/slides/slide68.xml" ContentType="application/vnd.openxmlformats-officedocument.presentationml.slide+xml"/>
  <Override PartName="/ppt/notesSlides/qaV1129.xml" ContentType="application/vnd.openxmlformats-officedocument.presentationml.notesSlide+xml"/>
  <Override PartName="/ppt/slides/slide69.xml" ContentType="application/vnd.openxmlformats-officedocument.presentationml.slide+xml"/>
  <Override PartName="/ppt/notesSlides/qaV1130.xml" ContentType="application/vnd.openxmlformats-officedocument.presentationml.notesSlide+xml"/>
  <Override PartName="/ppt/slides/slide70.xml" ContentType="application/vnd.openxmlformats-officedocument.presentationml.slide+xml"/>
  <Override PartName="/ppt/notesSlides/qaV1131.xml" ContentType="application/vnd.openxmlformats-officedocument.presentationml.notesSlide+xml"/>
  <Override PartName="/ppt/slides/slide71.xml" ContentType="application/vnd.openxmlformats-officedocument.presentationml.slide+xml"/>
  <Override PartName="/ppt/notesSlides/qaV1132.xml" ContentType="application/vnd.openxmlformats-officedocument.presentationml.notesSlide+xml"/>
  <Override PartName="/ppt/slides/slide72.xml" ContentType="application/vnd.openxmlformats-officedocument.presentationml.slide+xml"/>
  <Override PartName="/ppt/notesSlides/qaV113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a8029ed0b384474" /><Relationship Type="http://schemas.openxmlformats.org/officeDocument/2006/relationships/extended-properties" Target="/docProps/app.xml" Id="Ra8f6692c0b7a4ddc" /><Relationship Type="http://schemas.openxmlformats.org/officeDocument/2006/relationships/officeDocument" Target="/ppt/presentation.xml" Id="R6dc060f69a6f410f" /></Relationships>
</file>

<file path=ppt/presentation.xml><?xml version="1.0" encoding="utf-8"?>
<p:presentation xmlns:a="http://schemas.openxmlformats.org/drawingml/2006/main" xmlns:p="http://schemas.openxmlformats.org/presentationml/2006/main" xmlns:p14="http://schemas.microsoft.com/office/powerpoint/2010/main" xmlns:r="http://schemas.openxmlformats.org/officeDocument/2006/relationships">
  <p:sldMasterIdLst>
    <p:sldMasterId r:id="Via_ppt_slideMasters_initial01_slideMaster1_xml" id="2147483648"/>
    <p:sldMasterId r:id="Via_ppt_slideMasters_initial02_slideMaster1_xml" id="2147483649"/>
    <p:sldMasterId r:id="Via_ppt_slideMasters_initial03_slideMaster1_xml" id="2147483650"/>
    <p:sldMasterId r:id="Via_ppt_slideMasters_initial04_slideMaster1_xml" id="2147483651"/>
    <p:sldMasterId r:id="Via_ppt_slideMasters_initial05_slideMaster1_xml" id="2147483652"/>
    <p:sldMasterId r:id="Via_ppt_slideMasters_initial06_slideMaster1_xml" id="2147483653"/>
    <p:sldMasterId r:id="Via_ppt_slideMasters_initial07_slideMaster1_xml" id="2147483654"/>
    <p:sldMasterId r:id="Via_ppt_slideMasters_V2Clone_initial01_slideMaster1_xml" id="2147483655"/>
    <p:sldMasterId r:id="Via_ppt_slideMasters_V2Clone_initial02_slideMaster1_xml" id="2147483656"/>
    <p:sldMasterId r:id="Via_ppt_slideMasters_V2Clone_initial03_slideMaster1_xml" id="2147483657"/>
    <p:sldMasterId r:id="Via_ppt_slideMasters_V2Clone_initial04_slideMaster1_xml" id="2147483658"/>
    <p:sldMasterId r:id="Via_ppt_slideMasters_V2Clone_initial06_slideMaster1_xml" id="2147483659"/>
    <p:sldMasterId r:id="Via_ppt_slideMasters_V2Clone_initial07_slideMaster1_xml" id="2147483660"/>
    <p:sldMasterId r:id="Via_ppt_slideMasters_V2Native_slideMaster1_xml" id="2147483661"/>
    <p:sldMasterId r:id="Via_ppt_slideMasters_V3Background_slideMaster1_xml" id="2147483662"/>
  </p:sldMasterIdLst>
  <p:notesMasterIdLst>
    <p:notesMasterId r:id="Via_ppt_notesMasters_initial01_notesMaster1_xml"/>
  </p:notesMasterIdLst>
  <p:sldIdLst>
    <p:sldId id="256" r:id="V11Slide1"/>
    <p:sldId id="257" r:id="V11Slide2"/>
    <p:sldId id="258" r:id="V11Slide3"/>
    <p:sldId id="259" r:id="V11Slide4"/>
    <p:sldId id="260" r:id="V11Slide5"/>
    <p:sldId id="261" r:id="V11Slide6"/>
    <p:sldId id="262" r:id="V11Slide7"/>
    <p:sldId id="263" r:id="V11Slide8"/>
    <p:sldId id="264" r:id="V11Slide9"/>
    <p:sldId id="265" r:id="V11Slide10"/>
    <p:sldId id="266" r:id="V11Slide11"/>
    <p:sldId id="267" r:id="V11Slide12"/>
    <p:sldId id="268" r:id="V11Slide13"/>
    <p:sldId id="269" r:id="V11Slide14"/>
    <p:sldId id="314" r:id="V11Slide15"/>
    <p:sldId id="273" r:id="V11Slide16"/>
    <p:sldId id="315" r:id="V11Slide17"/>
    <p:sldId id="317" r:id="V11Slide18"/>
    <p:sldId id="275" r:id="V11Slide19"/>
    <p:sldId id="316" r:id="V11Slide20"/>
    <p:sldId id="277" r:id="V11Slide21"/>
    <p:sldId id="318" r:id="V11Slide22"/>
    <p:sldId id="278" r:id="V11Slide23"/>
    <p:sldId id="279" r:id="V11Slide24"/>
    <p:sldId id="319" r:id="V11Slide25"/>
    <p:sldId id="320" r:id="V11Slide26"/>
    <p:sldId id="321" r:id="V11Slide27"/>
    <p:sldId id="322" r:id="V11Slide28"/>
    <p:sldId id="323" r:id="V11Slide29"/>
    <p:sldId id="324" r:id="V11Slide30"/>
    <p:sldId id="325" r:id="V11Slide31"/>
    <p:sldId id="326" r:id="V11Slide32"/>
    <p:sldId id="327" r:id="V11Slide33"/>
  </p:sldIdLst>
  <p:sldSz cx="18288000" cy="10287000"/>
  <p:notesSz cx="6858000" cy="9144000"/>
  <p:defaultTextStyle>
    <a:defPPr>
      <a:defRPr lang="ko-KR">
        <a:solidFill>
          <a:srgbClr val="000000"/>
        </a:solidFill>
        <a:latin typeface="Calibri"/>
        <a:ea typeface="Calibri"/>
        <a:cs typeface="Calibri"/>
      </a:defRPr>
    </a:defPPr>
    <a:lvl1pPr>
      <a:defRPr lang="ko-KR">
        <a:solidFill>
          <a:srgbClr val="000000"/>
        </a:solidFill>
        <a:latin typeface="Calibri"/>
        <a:ea typeface="Calibri"/>
        <a:cs typeface="Calibri"/>
      </a:defRPr>
    </a:lvl1pPr>
    <a:lvl2pPr>
      <a:defRPr lang="ko-KR">
        <a:solidFill>
          <a:srgbClr val="000000"/>
        </a:solidFill>
        <a:latin typeface="Calibri"/>
        <a:ea typeface="Calibri"/>
        <a:cs typeface="Calibri"/>
      </a:defRPr>
    </a:lvl2pPr>
    <a:lvl3pPr>
      <a:defRPr lang="ko-KR">
        <a:solidFill>
          <a:srgbClr val="000000"/>
        </a:solidFill>
        <a:latin typeface="Calibri"/>
        <a:ea typeface="Calibri"/>
        <a:cs typeface="Calibri"/>
      </a:defRPr>
    </a:lvl3pPr>
    <a:lvl4pPr>
      <a:defRPr lang="ko-KR">
        <a:solidFill>
          <a:srgbClr val="000000"/>
        </a:solidFill>
        <a:latin typeface="Calibri"/>
        <a:ea typeface="Calibri"/>
        <a:cs typeface="Calibri"/>
      </a:defRPr>
    </a:lvl4pPr>
    <a:lvl5pPr>
      <a:defRPr lang="ko-KR">
        <a:solidFill>
          <a:srgbClr val="000000"/>
        </a:solidFill>
        <a:latin typeface="Calibri"/>
        <a:ea typeface="Calibri"/>
        <a:cs typeface="Calibri"/>
      </a:defRPr>
    </a:lvl5pPr>
    <a:lvl6pPr>
      <a:defRPr lang="ko-KR">
        <a:solidFill>
          <a:srgbClr val="000000"/>
        </a:solidFill>
        <a:latin typeface="Calibri"/>
        <a:ea typeface="Calibri"/>
        <a:cs typeface="Calibri"/>
      </a:defRPr>
    </a:lvl6pPr>
    <a:lvl7pPr>
      <a:defRPr lang="ko-KR">
        <a:solidFill>
          <a:srgbClr val="000000"/>
        </a:solidFill>
        <a:latin typeface="Calibri"/>
        <a:ea typeface="Calibri"/>
        <a:cs typeface="Calibri"/>
      </a:defRPr>
    </a:lvl7pPr>
    <a:lvl8pPr>
      <a:defRPr lang="ko-KR">
        <a:solidFill>
          <a:srgbClr val="000000"/>
        </a:solidFill>
        <a:latin typeface="Calibri"/>
        <a:ea typeface="Calibri"/>
        <a:cs typeface="Calibri"/>
      </a:defRPr>
    </a:lvl8pPr>
    <a:lvl9pPr>
      <a:defRPr lang="ko-KR">
        <a:solidFill>
          <a:srgbClr val="000000"/>
        </a:solidFill>
        <a:latin typeface="Calibri"/>
        <a:ea typeface="Calibri"/>
        <a:cs typeface="Calibri"/>
      </a:defRPr>
    </a:lvl9pPr>
  </p:defaultTextStyle>
  <p:extLst>
    <p:ext uri="{521415D9-36F7-43E2-AB2F-B90AF26B5E84}">
      <p14:sectionLst>
        <p14:section name="본 발표" id="{E58FDE6A-66EC-5EC5-B671-3BE00284E8FC}">
          <p14:sldIdLst>
            <p14:sldId id="256"/>
            <p14:sldId id="257"/>
            <p14:sldId id="258"/>
            <p14:sldId id="259"/>
            <p14:sldId id="260"/>
            <p14:sldId id="261"/>
            <p14:sldId id="262"/>
            <p14:sldId id="263"/>
            <p14:sldId id="264"/>
            <p14:sldId id="265"/>
            <p14:sldId id="266"/>
            <p14:sldId id="267"/>
            <p14:sldId id="268"/>
            <p14:sldId id="269"/>
            <p14:sldId id="314"/>
            <p14:sldId id="273"/>
            <p14:sldId id="315"/>
            <p14:sldId id="317"/>
            <p14:sldId id="275"/>
            <p14:sldId id="316"/>
            <p14:sldId id="277"/>
            <p14:sldId id="318"/>
            <p14:sldId id="278"/>
            <p14:sldId id="279"/>
          </p14:sldIdLst>
        </p14:section>
        <p14:section name="Appendix / QA 지표" id="{AAF939E4-35B0-5FBF-925E-9E8915A75322}">
          <p14:sldIdLst>
            <p14:sldId id="319"/>
            <p14:sldId id="320"/>
            <p14:sldId id="321"/>
            <p14:sldId id="322"/>
            <p14:sldId id="323"/>
            <p14:sldId id="324"/>
            <p14:sldId id="325"/>
            <p14:sldId id="326"/>
            <p14:sldId id="327"/>
          </p14:sldIdLst>
        </p14:section>
      </p14:sectionLst>
    </p:ext>
  </p:extLst>
</p:presentation>
</file>

<file path=ppt/presProps.xml><?xml version="1.0" encoding="utf-8"?>
<p:presentationPr xmlns:ns2="http://schemas.microsoft.com/office/powerpoint/2012/main" xmlns:p="http://schemas.openxmlformats.org/presentationml/2006/main" xmlns:p14="http://schemas.microsoft.com/office/powerpoint/2010/main">
  <p:extLst>
    <p:ext uri="{E76CE94A-603C-4142-B9EB-6D1370010A27}">
      <p14:discardImageEditData val="0"/>
    </p:ext>
    <p:ext uri="{D31A062A-798A-4329-ABDD-BBA856620510}">
      <p14:defaultImageDpi val="32767"/>
    </p:ext>
    <p:ext uri="{FD5EFAAD-0ECE-453E-9831-46B23BE46B34}">
      <ns2: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Relationships xmlns="http://schemas.openxmlformats.org/package/2006/relationships"><Relationship Type="http://schemas.openxmlformats.org/officeDocument/2006/relationships/theme" Target="/ppt/theme/theme1.xml" Id="Raf496b857b614f3d" /><Relationship Type="http://schemas.openxmlformats.org/officeDocument/2006/relationships/presProps" Target="/ppt/presProps.xml" Id="Redb3f196f8f14e33" /><Relationship Type="http://schemas.openxmlformats.org/officeDocument/2006/relationships/tableStyles" Target="/ppt/tableStyles.xml" Id="R52f455e510f14b18" /><Relationship Id="Via_ppt_slideMasters_initial01_slideMaster1_xml" Type="http://schemas.openxmlformats.org/officeDocument/2006/relationships/slideMaster" Target="/ppt/slideMasters/initial01_slideMaster1.xml" /><Relationship Id="Via_ppt_slideMasters_initial02_slideMaster1_xml" Type="http://schemas.openxmlformats.org/officeDocument/2006/relationships/slideMaster" Target="/ppt/slideMasters/initial02_slideMaster1.xml" /><Relationship Id="Via_ppt_slideMasters_initial03_slideMaster1_xml" Type="http://schemas.openxmlformats.org/officeDocument/2006/relationships/slideMaster" Target="/ppt/slideMasters/initial03_slideMaster1.xml" /><Relationship Id="Via_ppt_slideMasters_initial04_slideMaster1_xml" Type="http://schemas.openxmlformats.org/officeDocument/2006/relationships/slideMaster" Target="/ppt/slideMasters/initial04_slideMaster1.xml" /><Relationship Id="Via_ppt_slideMasters_initial05_slideMaster1_xml" Type="http://schemas.openxmlformats.org/officeDocument/2006/relationships/slideMaster" Target="/ppt/slideMasters/initial05_slideMaster1.xml" /><Relationship Id="Via_ppt_slideMasters_initial06_slideMaster1_xml" Type="http://schemas.openxmlformats.org/officeDocument/2006/relationships/slideMaster" Target="/ppt/slideMasters/initial06_slideMaster1.xml" /><Relationship Id="Via_ppt_slideMasters_initial07_slideMaster1_xml" Type="http://schemas.openxmlformats.org/officeDocument/2006/relationships/slideMaster" Target="/ppt/slideMasters/initial07_slideMaster1.xml" /><Relationship Id="Via_ppt_notesMasters_initial01_notesMaster1_xml" Type="http://schemas.openxmlformats.org/officeDocument/2006/relationships/notesMaster" Target="/ppt/notesMasters/initial01_notesMaster1.xml" /><Relationship Id="Via_ppt_slideMasters_V2Clone_initial01_slideMaster1_xml" Type="http://schemas.openxmlformats.org/officeDocument/2006/relationships/slideMaster" Target="/ppt/slideMasters/V2Clone_initial01_slideMaster1.xml" /><Relationship Id="Via_ppt_slideMasters_V2Clone_initial02_slideMaster1_xml" Type="http://schemas.openxmlformats.org/officeDocument/2006/relationships/slideMaster" Target="/ppt/slideMasters/V2Clone_initial02_slideMaster1.xml" /><Relationship Id="Via_ppt_slideMasters_V2Clone_initial03_slideMaster1_xml" Type="http://schemas.openxmlformats.org/officeDocument/2006/relationships/slideMaster" Target="/ppt/slideMasters/V2Clone_initial03_slideMaster1.xml" /><Relationship Id="Via_ppt_slideMasters_V2Clone_initial04_slideMaster1_xml" Type="http://schemas.openxmlformats.org/officeDocument/2006/relationships/slideMaster" Target="/ppt/slideMasters/V2Clone_initial04_slideMaster1.xml" /><Relationship Id="Via_ppt_slideMasters_V2Clone_initial06_slideMaster1_xml" Type="http://schemas.openxmlformats.org/officeDocument/2006/relationships/slideMaster" Target="/ppt/slideMasters/V2Clone_initial06_slideMaster1.xml" /><Relationship Id="Via_ppt_slideMasters_V2Clone_initial07_slideMaster1_xml" Type="http://schemas.openxmlformats.org/officeDocument/2006/relationships/slideMaster" Target="/ppt/slideMasters/V2Clone_initial07_slideMaster1.xml" /><Relationship Id="Via_ppt_slideMasters_V2Native_slideMaster1_xml" Type="http://schemas.openxmlformats.org/officeDocument/2006/relationships/slideMaster" Target="/ppt/slideMasters/V2Native_slideMaster1.xml" /><Relationship Id="Via_ppt_slideMasters_V3Background_slideMaster1_xml" Type="http://schemas.openxmlformats.org/officeDocument/2006/relationships/slideMaster" Target="/ppt/slideMasters/V3Background_slideMaster1.xml" /><Relationship Id="V11Slide1" Type="http://schemas.openxmlformats.org/officeDocument/2006/relationships/slide" Target="/ppt/slides/slide33.xml" /><Relationship Id="V11Slide2" Type="http://schemas.openxmlformats.org/officeDocument/2006/relationships/slide" Target="/ppt/slides/slide46.xml" /><Relationship Id="V11Slide3" Type="http://schemas.openxmlformats.org/officeDocument/2006/relationships/slide" Target="/ppt/slides/slide34.xml" /><Relationship Id="V11Slide4" Type="http://schemas.openxmlformats.org/officeDocument/2006/relationships/slide" Target="/ppt/slides/slide47.xml" /><Relationship Id="V11Slide5" Type="http://schemas.openxmlformats.org/officeDocument/2006/relationships/slide" Target="/ppt/slides/slide35.xml" /><Relationship Id="V11Slide6" Type="http://schemas.openxmlformats.org/officeDocument/2006/relationships/slide" Target="/ppt/slides/slide36.xml" /><Relationship Id="V11Slide7" Type="http://schemas.openxmlformats.org/officeDocument/2006/relationships/slide" Target="/ppt/slides/slide48.xml" /><Relationship Id="V11Slide8" Type="http://schemas.openxmlformats.org/officeDocument/2006/relationships/slide" Target="/ppt/slides/slide37.xml" /><Relationship Id="V11Slide9" Type="http://schemas.openxmlformats.org/officeDocument/2006/relationships/slide" Target="/ppt/slides/slide38.xml" /><Relationship Id="V11Slide10" Type="http://schemas.openxmlformats.org/officeDocument/2006/relationships/slide" Target="/ppt/slides/slide39.xml" /><Relationship Id="V11Slide11" Type="http://schemas.openxmlformats.org/officeDocument/2006/relationships/slide" Target="/ppt/slides/slide49.xml" /><Relationship Id="V11Slide12" Type="http://schemas.openxmlformats.org/officeDocument/2006/relationships/slide" Target="/ppt/slides/slide50.xml" /><Relationship Id="V11Slide13" Type="http://schemas.openxmlformats.org/officeDocument/2006/relationships/slide" Target="/ppt/slides/slide40.xml" /><Relationship Id="V11Slide14" Type="http://schemas.openxmlformats.org/officeDocument/2006/relationships/slide" Target="/ppt/slides/slide41.xml" /><Relationship Id="V11Slide15" Type="http://schemas.openxmlformats.org/officeDocument/2006/relationships/slide" Target="/ppt/slides/slide59.xml" /><Relationship Id="V11Slide16" Type="http://schemas.openxmlformats.org/officeDocument/2006/relationships/slide" Target="/ppt/slides/slide52.xml" /><Relationship Id="V11Slide17" Type="http://schemas.openxmlformats.org/officeDocument/2006/relationships/slide" Target="/ppt/slides/slide60.xml" /><Relationship Id="V11Slide18" Type="http://schemas.openxmlformats.org/officeDocument/2006/relationships/slide" Target="/ppt/slides/slide62.xml" /><Relationship Id="V11Slide19" Type="http://schemas.openxmlformats.org/officeDocument/2006/relationships/slide" Target="/ppt/slides/slide53.xml" /><Relationship Id="V11Slide20" Type="http://schemas.openxmlformats.org/officeDocument/2006/relationships/slide" Target="/ppt/slides/slide61.xml" /><Relationship Id="V11Slide21" Type="http://schemas.openxmlformats.org/officeDocument/2006/relationships/slide" Target="/ppt/slides/slide54.xml" /><Relationship Id="V11Slide22" Type="http://schemas.openxmlformats.org/officeDocument/2006/relationships/slide" Target="/ppt/slides/slide63.xml" /><Relationship Id="V11Slide23" Type="http://schemas.openxmlformats.org/officeDocument/2006/relationships/slide" Target="/ppt/slides/slide55.xml" /><Relationship Id="V11Slide24" Type="http://schemas.openxmlformats.org/officeDocument/2006/relationships/slide" Target="/ppt/slides/slide56.xml" /><Relationship Id="V11Slide25" Type="http://schemas.openxmlformats.org/officeDocument/2006/relationships/slide" Target="/ppt/slides/slide64.xml" /><Relationship Id="V11Slide26" Type="http://schemas.openxmlformats.org/officeDocument/2006/relationships/slide" Target="/ppt/slides/slide65.xml" /><Relationship Id="V11Slide27" Type="http://schemas.openxmlformats.org/officeDocument/2006/relationships/slide" Target="/ppt/slides/slide66.xml" /><Relationship Id="V11Slide28" Type="http://schemas.openxmlformats.org/officeDocument/2006/relationships/slide" Target="/ppt/slides/slide67.xml" /><Relationship Id="V11Slide29" Type="http://schemas.openxmlformats.org/officeDocument/2006/relationships/slide" Target="/ppt/slides/slide68.xml" /><Relationship Id="V11Slide30" Type="http://schemas.openxmlformats.org/officeDocument/2006/relationships/slide" Target="/ppt/slides/slide69.xml" /><Relationship Id="V11Slide31" Type="http://schemas.openxmlformats.org/officeDocument/2006/relationships/slide" Target="/ppt/slides/slide70.xml" /><Relationship Id="V11Slide32" Type="http://schemas.openxmlformats.org/officeDocument/2006/relationships/slide" Target="/ppt/slides/slide71.xml" /><Relationship Id="V11Slide33" Type="http://schemas.openxmlformats.org/officeDocument/2006/relationships/slide" Target="/ppt/slides/slide72.xml" /></Relationships>
</file>

<file path=ppt/notesMasters/_rels/initial01_notesMaster1.xml.rels><?xml version='1.0' encoding='utf-8'?>
<Relationships xmlns="http://schemas.openxmlformats.org/package/2006/relationships"><Relationship Type="http://schemas.openxmlformats.org/officeDocument/2006/relationships/theme" Target="/ppt/notesMasters/theme/initial01_theme3.xml" Id="R84c38049fec14e69" /></Relationships>
</file>

<file path=ppt/notesMasters/initial01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theme/initial01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33.xml.rels><?xml version='1.0' encoding='utf-8'?>
<Relationships xmlns="http://schemas.openxmlformats.org/package/2006/relationships"><Relationship Type="http://schemas.openxmlformats.org/officeDocument/2006/relationships/slide" Target="/ppt/slides/slide33.xml" Id="Re324a483f3ba4c66" /><Relationship Type="http://schemas.openxmlformats.org/officeDocument/2006/relationships/notesMaster" Target="/ppt/notesMasters/initial01_notesMaster1.xml" Id="R832cbe33023d47f0" /></Relationships>
</file>

<file path=ppt/notesSlides/_rels/notesSlide34.xml.rels><?xml version='1.0' encoding='utf-8'?>
<Relationships xmlns="http://schemas.openxmlformats.org/package/2006/relationships"><Relationship Type="http://schemas.openxmlformats.org/officeDocument/2006/relationships/slide" Target="/ppt/slides/slide34.xml" Id="R09dea20ce3ff4ae4" /><Relationship Type="http://schemas.openxmlformats.org/officeDocument/2006/relationships/notesMaster" Target="/ppt/notesMasters/initial01_notesMaster1.xml" Id="Ra9bb3611ae484615" /></Relationships>
</file>

<file path=ppt/notesSlides/_rels/notesSlide35.xml.rels><?xml version='1.0' encoding='utf-8'?>
<Relationships xmlns="http://schemas.openxmlformats.org/package/2006/relationships"><Relationship Type="http://schemas.openxmlformats.org/officeDocument/2006/relationships/slide" Target="/ppt/slides/slide35.xml" Id="R333ade01b54a4d1d" /><Relationship Type="http://schemas.openxmlformats.org/officeDocument/2006/relationships/notesMaster" Target="/ppt/notesMasters/initial01_notesMaster1.xml" Id="R7830ed428e614bc0" /></Relationships>
</file>

<file path=ppt/notesSlides/_rels/notesSlide36.xml.rels><?xml version='1.0' encoding='utf-8'?>
<Relationships xmlns="http://schemas.openxmlformats.org/package/2006/relationships"><Relationship Type="http://schemas.openxmlformats.org/officeDocument/2006/relationships/slide" Target="/ppt/slides/slide36.xml" Id="Rc125f551bf0c4525" /><Relationship Type="http://schemas.openxmlformats.org/officeDocument/2006/relationships/notesMaster" Target="/ppt/notesMasters/initial01_notesMaster1.xml" Id="R325333de39404226" /></Relationships>
</file>

<file path=ppt/notesSlides/_rels/notesSlide37.xml.rels><?xml version='1.0' encoding='utf-8'?>
<Relationships xmlns="http://schemas.openxmlformats.org/package/2006/relationships"><Relationship Type="http://schemas.openxmlformats.org/officeDocument/2006/relationships/slide" Target="/ppt/slides/slide37.xml" Id="R614577add6f0455f" /><Relationship Type="http://schemas.openxmlformats.org/officeDocument/2006/relationships/notesMaster" Target="/ppt/notesMasters/initial01_notesMaster1.xml" Id="Rb9101b88cdb34bab" /></Relationships>
</file>

<file path=ppt/notesSlides/_rels/notesSlide38.xml.rels><?xml version='1.0' encoding='utf-8'?>
<Relationships xmlns="http://schemas.openxmlformats.org/package/2006/relationships"><Relationship Id="rId1" Type="http://schemas.openxmlformats.org/officeDocument/2006/relationships/slide" Target="/ppt/slides/slide38.xml" /><Relationship Id="rId2" Type="http://schemas.openxmlformats.org/officeDocument/2006/relationships/notesMaster" Target="/ppt/notesMasters/initial01_notesMaster1.xml" /></Relationships>
</file>

<file path=ppt/notesSlides/_rels/notesSlide39.xml.rels><?xml version='1.0' encoding='utf-8'?>
<Relationships xmlns="http://schemas.openxmlformats.org/package/2006/relationships"><Relationship Id="rId1" Type="http://schemas.openxmlformats.org/officeDocument/2006/relationships/slide" Target="/ppt/slides/slide39.xml" /><Relationship Id="rId2" Type="http://schemas.openxmlformats.org/officeDocument/2006/relationships/notesMaster" Target="/ppt/notesMasters/initial01_notesMaster1.xml" /></Relationships>
</file>

<file path=ppt/notesSlides/_rels/notesSlide40.xml.rels><?xml version='1.0' encoding='utf-8'?>
<Relationships xmlns="http://schemas.openxmlformats.org/package/2006/relationships"><Relationship Type="http://schemas.openxmlformats.org/officeDocument/2006/relationships/slide" Target="/ppt/slides/slide40.xml" Id="Raac8767870db40f4" /><Relationship Type="http://schemas.openxmlformats.org/officeDocument/2006/relationships/notesMaster" Target="/ppt/notesMasters/initial01_notesMaster1.xml" Id="R5618c6dfb63f4d6c" /></Relationships>
</file>

<file path=ppt/notesSlides/_rels/notesSlide41.xml.rels><?xml version='1.0' encoding='utf-8'?>
<Relationships xmlns="http://schemas.openxmlformats.org/package/2006/relationships"><Relationship Type="http://schemas.openxmlformats.org/officeDocument/2006/relationships/slide" Target="/ppt/slides/slide41.xml" Id="Rc125f551bf0c4525" /><Relationship Type="http://schemas.openxmlformats.org/officeDocument/2006/relationships/notesMaster" Target="/ppt/notesMasters/initial01_notesMaster1.xml" Id="R325333de39404226" /></Relationships>
</file>

<file path=ppt/notesSlides/_rels/notesSlide46.xml.rels><?xml version='1.0' encoding='utf-8'?>
<Relationships xmlns="http://schemas.openxmlformats.org/package/2006/relationships"><Relationship Type="http://schemas.openxmlformats.org/officeDocument/2006/relationships/slide" Target="/ppt/slides/slide46.xml" Id="Rb75ef203052c4df7" /><Relationship Type="http://schemas.openxmlformats.org/officeDocument/2006/relationships/notesMaster" Target="/ppt/notesMasters/initial01_notesMaster1.xml" Id="R0630c734da4e42d5" /></Relationships>
</file>

<file path=ppt/notesSlides/_rels/notesSlide47.xml.rels><?xml version='1.0' encoding='utf-8'?>
<Relationships xmlns="http://schemas.openxmlformats.org/package/2006/relationships"><Relationship Type="http://schemas.openxmlformats.org/officeDocument/2006/relationships/slide" Target="/ppt/slides/slide47.xml" Id="R27dec9aa931d4ad5" /><Relationship Type="http://schemas.openxmlformats.org/officeDocument/2006/relationships/notesMaster" Target="/ppt/notesMasters/initial01_notesMaster1.xml" Id="Rbea3e8d21195454d" /></Relationships>
</file>

<file path=ppt/notesSlides/_rels/notesSlide48.xml.rels><?xml version='1.0' encoding='utf-8'?>
<Relationships xmlns="http://schemas.openxmlformats.org/package/2006/relationships"><Relationship Type="http://schemas.openxmlformats.org/officeDocument/2006/relationships/slide" Target="/ppt/slides/slide48.xml" Id="Rd5469a5f4d184043" /><Relationship Type="http://schemas.openxmlformats.org/officeDocument/2006/relationships/notesMaster" Target="/ppt/notesMasters/initial01_notesMaster1.xml" Id="Rf6824e0fc2804797" /></Relationships>
</file>

<file path=ppt/notesSlides/_rels/notesSlide49.xml.rels><?xml version='1.0' encoding='utf-8'?>
<Relationships xmlns="http://schemas.openxmlformats.org/package/2006/relationships"><Relationship Id="rId1" Type="http://schemas.openxmlformats.org/officeDocument/2006/relationships/slide" Target="/ppt/slides/slide49.xml" /><Relationship Id="rId2" Type="http://schemas.openxmlformats.org/officeDocument/2006/relationships/notesMaster" Target="/ppt/notesMasters/initial01_notesMaster1.xml" /></Relationships>
</file>

<file path=ppt/notesSlides/_rels/notesSlide50.xml.rels><?xml version='1.0' encoding='utf-8'?>
<Relationships xmlns="http://schemas.openxmlformats.org/package/2006/relationships"><Relationship Type="http://schemas.openxmlformats.org/officeDocument/2006/relationships/slide" Target="/ppt/slides/slide50.xml" Id="R3108cced72264d5b" /><Relationship Type="http://schemas.openxmlformats.org/officeDocument/2006/relationships/notesMaster" Target="/ppt/notesMasters/initial01_notesMaster1.xml" Id="R418fccd5d8d645a5" /></Relationships>
</file>

<file path=ppt/notesSlides/_rels/notesSlide52.xml.rels><?xml version='1.0' encoding='utf-8'?>
<Relationships xmlns="http://schemas.openxmlformats.org/package/2006/relationships"><Relationship Type="http://schemas.openxmlformats.org/officeDocument/2006/relationships/slide" Target="/ppt/slides/slide52.xml" Id="Ra8b15d5094a14d4b" /><Relationship Type="http://schemas.openxmlformats.org/officeDocument/2006/relationships/notesMaster" Target="/ppt/notesMasters/initial01_notesMaster1.xml" Id="R1fb821f15a584471" /></Relationships>
</file>

<file path=ppt/notesSlides/_rels/notesSlide53.xml.rels><?xml version='1.0' encoding='utf-8'?>
<Relationships xmlns="http://schemas.openxmlformats.org/package/2006/relationships"><Relationship Type="http://schemas.openxmlformats.org/officeDocument/2006/relationships/slide" Target="/ppt/slides/slide53.xml" Id="R2b25c045fb184256" /><Relationship Type="http://schemas.openxmlformats.org/officeDocument/2006/relationships/notesMaster" Target="/ppt/notesMasters/initial01_notesMaster1.xml" Id="R47e7f6720f28451b" /></Relationships>
</file>

<file path=ppt/notesSlides/_rels/notesSlide54.xml.rels><?xml version='1.0' encoding='utf-8'?>
<Relationships xmlns="http://schemas.openxmlformats.org/package/2006/relationships"><Relationship Type="http://schemas.openxmlformats.org/officeDocument/2006/relationships/slide" Target="/ppt/slides/slide54.xml" Id="Re84686c239194219" /><Relationship Type="http://schemas.openxmlformats.org/officeDocument/2006/relationships/notesMaster" Target="/ppt/notesMasters/initial01_notesMaster1.xml" Id="R4298d6d64f1f40d6" /></Relationships>
</file>

<file path=ppt/notesSlides/_rels/notesSlide55.xml.rels><?xml version='1.0' encoding='utf-8'?>
<Relationships xmlns="http://schemas.openxmlformats.org/package/2006/relationships"><Relationship Type="http://schemas.openxmlformats.org/officeDocument/2006/relationships/slide" Target="/ppt/slides/slide55.xml" Id="R8c9fff8b742b4a8a" /><Relationship Type="http://schemas.openxmlformats.org/officeDocument/2006/relationships/notesMaster" Target="/ppt/notesMasters/initial01_notesMaster1.xml" Id="R655ea69de16d4567" /></Relationships>
</file>

<file path=ppt/notesSlides/_rels/notesSlide56.xml.rels><?xml version='1.0' encoding='utf-8'?>
<Relationships xmlns="http://schemas.openxmlformats.org/package/2006/relationships"><Relationship Type="http://schemas.openxmlformats.org/officeDocument/2006/relationships/slide" Target="/ppt/slides/slide56.xml" Id="R5787007f63224326" /><Relationship Type="http://schemas.openxmlformats.org/officeDocument/2006/relationships/notesMaster" Target="/ppt/notesMasters/initial01_notesMaster1.xml" Id="Rbd8acf48482644d0" /></Relationships>
</file>

<file path=ppt/notesSlides/_rels/notesSlide59.xml.rels><?xml version='1.0' encoding='utf-8'?>
<Relationships xmlns="http://schemas.openxmlformats.org/package/2006/relationships"><Relationship Type="http://schemas.openxmlformats.org/officeDocument/2006/relationships/slide" Target="/ppt/slides/slide59.xml" Id="Ra3d5abb872ec4fde" /><Relationship Type="http://schemas.openxmlformats.org/officeDocument/2006/relationships/notesMaster" Target="/ppt/notesMasters/initial01_notesMaster1.xml" Id="R9a9965ab79474116" /></Relationships>
</file>

<file path=ppt/notesSlides/_rels/notesSlide60.xml.rels><?xml version='1.0' encoding='utf-8'?>
<Relationships xmlns="http://schemas.openxmlformats.org/package/2006/relationships"><Relationship Type="http://schemas.openxmlformats.org/officeDocument/2006/relationships/slide" Target="/ppt/slides/slide60.xml" Id="R3101f47bf5554b5b" /><Relationship Type="http://schemas.openxmlformats.org/officeDocument/2006/relationships/notesMaster" Target="/ppt/notesMasters/initial01_notesMaster1.xml" Id="Racd41ae3df46426d" /></Relationships>
</file>

<file path=ppt/notesSlides/_rels/notesSlide61.xml.rels><?xml version='1.0' encoding='utf-8'?>
<Relationships xmlns="http://schemas.openxmlformats.org/package/2006/relationships"><Relationship Type="http://schemas.openxmlformats.org/officeDocument/2006/relationships/slide" Target="/ppt/slides/slide61.xml" Id="Rfab19986da9a4871" /><Relationship Type="http://schemas.openxmlformats.org/officeDocument/2006/relationships/notesMaster" Target="/ppt/notesMasters/initial01_notesMaster1.xml" Id="Ra3de0961eadd4bbd" /></Relationships>
</file>

<file path=ppt/notesSlides/_rels/notesSlideV818.xml.rels><?xml version='1.0' encoding='utf-8'?>
<Relationships xmlns="http://schemas.openxmlformats.org/package/2006/relationships"><Relationship Id="rId1" Type="http://schemas.openxmlformats.org/officeDocument/2006/relationships/slide" Target="/ppt/slides/slide62.xml" /><Relationship Id="rId2" Type="http://schemas.openxmlformats.org/officeDocument/2006/relationships/notesMaster" Target="/ppt/notesMasters/initial01_notesMaster1.xml" /></Relationships>
</file>

<file path=ppt/notesSlides/_rels/notesSlideV822.xml.rels><?xml version='1.0' encoding='utf-8'?>
<Relationships xmlns="http://schemas.openxmlformats.org/package/2006/relationships"><Relationship Id="rId1" Type="http://schemas.openxmlformats.org/officeDocument/2006/relationships/slide" Target="/ppt/slides/slide63.xml" /><Relationship Id="rId2" Type="http://schemas.openxmlformats.org/officeDocument/2006/relationships/notesMaster" Target="/ppt/notesMasters/initial01_notesMaster1.xml" /></Relationships>
</file>

<file path=ppt/notesSlides/_rels/qaV1125.xml.rels><?xml version='1.0' encoding='utf-8'?>
<Relationships xmlns="http://schemas.openxmlformats.org/package/2006/relationships"><Relationship Id="rId1" Type="http://schemas.openxmlformats.org/officeDocument/2006/relationships/slide" Target="/ppt/slides/slide64.xml" /><Relationship Id="rId2" Type="http://schemas.openxmlformats.org/officeDocument/2006/relationships/notesMaster" Target="/ppt/notesMasters/initial01_notesMaster1.xml" /></Relationships>
</file>

<file path=ppt/notesSlides/_rels/qaV1126.xml.rels><?xml version='1.0' encoding='utf-8'?>
<Relationships xmlns="http://schemas.openxmlformats.org/package/2006/relationships"><Relationship Id="rId1" Type="http://schemas.openxmlformats.org/officeDocument/2006/relationships/slide" Target="/ppt/slides/slide65.xml" /><Relationship Id="rId2" Type="http://schemas.openxmlformats.org/officeDocument/2006/relationships/notesMaster" Target="/ppt/notesMasters/initial01_notesMaster1.xml" /></Relationships>
</file>

<file path=ppt/notesSlides/_rels/qaV1127.xml.rels><?xml version='1.0' encoding='utf-8'?>
<Relationships xmlns="http://schemas.openxmlformats.org/package/2006/relationships"><Relationship Id="rId1" Type="http://schemas.openxmlformats.org/officeDocument/2006/relationships/slide" Target="/ppt/slides/slide66.xml" /><Relationship Id="rId2" Type="http://schemas.openxmlformats.org/officeDocument/2006/relationships/notesMaster" Target="/ppt/notesMasters/initial01_notesMaster1.xml" /></Relationships>
</file>

<file path=ppt/notesSlides/_rels/qaV1128.xml.rels><?xml version='1.0' encoding='utf-8'?>
<Relationships xmlns="http://schemas.openxmlformats.org/package/2006/relationships"><Relationship Id="rId1" Type="http://schemas.openxmlformats.org/officeDocument/2006/relationships/slide" Target="/ppt/slides/slide67.xml" /><Relationship Id="rId2" Type="http://schemas.openxmlformats.org/officeDocument/2006/relationships/notesMaster" Target="/ppt/notesMasters/initial01_notesMaster1.xml" /></Relationships>
</file>

<file path=ppt/notesSlides/_rels/qaV1129.xml.rels><?xml version='1.0' encoding='utf-8'?>
<Relationships xmlns="http://schemas.openxmlformats.org/package/2006/relationships"><Relationship Id="rId1" Type="http://schemas.openxmlformats.org/officeDocument/2006/relationships/slide" Target="/ppt/slides/slide68.xml" /><Relationship Id="rId2" Type="http://schemas.openxmlformats.org/officeDocument/2006/relationships/notesMaster" Target="/ppt/notesMasters/initial01_notesMaster1.xml" /></Relationships>
</file>

<file path=ppt/notesSlides/_rels/qaV1130.xml.rels><?xml version='1.0' encoding='utf-8'?>
<Relationships xmlns="http://schemas.openxmlformats.org/package/2006/relationships"><Relationship Id="rId1" Type="http://schemas.openxmlformats.org/officeDocument/2006/relationships/slide" Target="/ppt/slides/slide69.xml" /><Relationship Id="rId2" Type="http://schemas.openxmlformats.org/officeDocument/2006/relationships/notesMaster" Target="/ppt/notesMasters/initial01_notesMaster1.xml" /></Relationships>
</file>

<file path=ppt/notesSlides/_rels/qaV1131.xml.rels><?xml version='1.0' encoding='utf-8'?>
<Relationships xmlns="http://schemas.openxmlformats.org/package/2006/relationships"><Relationship Id="rId1" Type="http://schemas.openxmlformats.org/officeDocument/2006/relationships/slide" Target="/ppt/slides/slide70.xml" /><Relationship Id="rId2" Type="http://schemas.openxmlformats.org/officeDocument/2006/relationships/notesMaster" Target="/ppt/notesMasters/initial01_notesMaster1.xml" /></Relationships>
</file>

<file path=ppt/notesSlides/_rels/qaV1132.xml.rels><?xml version='1.0' encoding='utf-8'?>
<Relationships xmlns="http://schemas.openxmlformats.org/package/2006/relationships"><Relationship Id="rId1" Type="http://schemas.openxmlformats.org/officeDocument/2006/relationships/slide" Target="/ppt/slides/slide71.xml" /><Relationship Id="rId2" Type="http://schemas.openxmlformats.org/officeDocument/2006/relationships/notesMaster" Target="/ppt/notesMasters/initial01_notesMaster1.xml" /></Relationships>
</file>

<file path=ppt/notesSlides/_rels/qaV1133.xml.rels><?xml version='1.0' encoding='utf-8'?>
<Relationships xmlns="http://schemas.openxmlformats.org/package/2006/relationships"><Relationship Id="rId1" Type="http://schemas.openxmlformats.org/officeDocument/2006/relationships/slide" Target="/ppt/slides/slide72.xml" /><Relationship Id="rId2" Type="http://schemas.openxmlformats.org/officeDocument/2006/relationships/notesMaster" Target="/ppt/notesMasters/initial01_notesMaster1.xml" /></Relationships>
</file>

<file path=ppt/notesSlides/notesSlide3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관련 동향 편집 기준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PC 업무 수행 Agent의 발전과 음성 사용자 접점 경쟁, 삼성 VIA의 역할을 연결하는 구성. 삼성 및 외부 Downstream Agent의 업무 실행 능력 활용. VIA의 책임은 사용자와의 대화 및 인터페이스, 대화와 업무의 연결.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시장 근거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Mordor Intelligence, Voice Assistant Application Market. 2026 추정 USD 9.02 billion, 2031 전망 USD 18.36 billion, CAGR 15.27%. 2026-08-05 갱신. 전 산업의 음성 비서 애플리케이션 소프트웨어와 관련 서비스 기준. 하드웨어 제외. PC 전용 시장이나 삼성 매출 전망으로 해석 불가.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https://www.mordorintelligence.com/industry-reports/voice-assistant-application-market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기업 사례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Google Gemini Live: 2025-08-20. 카메라/화면과 음성 대화, Calendar/Keep/Tasks 연동. 기능과 지역별 제공 차이 존재.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https://blog.google/products-and-platforms/products/gemini/gemini-live-updates-august-2025/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Amazon Alexa+: 2026-09-01 갱신. 미국 제공, 자연어 대화와 개인화된 서비스 실행.</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https://www.aboutamazon.com/news/devices/alexa-plus-available-free-prime-members-us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Apple Siri AI: 2026-09-14. 개인 맥락, 화면 이해와 앱 동작. 출시 시 영어 베타, 지역/언어별 단계적 제공.</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https://www.apple.com/newsroom/2026/09/siri-ai-a-profoundly-more-capable-and-personal-assistant-is-here/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OpenAI GPT-6 Astra: 기존 v8의 공개 시연 GIF 보존. 공개 시연상의 음성 수정과 후속 작업 연결. 일반 서비스의 전 지역 상용 제공 주장 아님.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https://www.linkedin.com/posts/this-gpt-6-astra-ugcPost-7501364077496221696-H8XE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GIF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Anthropic Claude Cowork built-in browser 공개 시연. 2026-08-26. 기존 GIF 바이트 보존.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https://claude.com/resources/articles/cowork-built-in-browser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https://www.youtube.com/watch?v=63GVebZvqok</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OpenAI 시연: v8의 128프레임 GIF 보존. 원본 영상 17~41초 발췌, 1.5배속 무음.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CTO 메시지 출처와 구분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사용자가 제공한 윤장현 사장(CTO), 2026.06 발언 문구를 그대로 인용. 공개 검증된 기사 발언으로 표현하지 않음. 직책 확인 보조 자료는 삼성 뉴스룸의 2025-11-21 사장단 인사이며, 해당 기사에 이 발언은 없음.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https://news.samsung.com/kr/473579-2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자료 확인일: 2026-10-15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시장 범위 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VIA는 음성 기반 상호작용 소프트웨어라는 점에서 이 시장과 관련. 다만 보고서는 PC 전용 VIA 시장을 별도로 산정하지 않으며, 자동차, 고객상담 등 여러 산업의 음성 비서 소프트웨어와 관련 서비스를 포함. 따라서 상위 관련 시장의 성장 방향을 보여주는 근거로 사용. PC용 VIA의 직접 TAM/SAM이나 삼성의 확보 가능한 매출 규모로 해석 불가. 보고서 수치와 포함 관계를 근거로 한 분류 판단이며 조사사의 VIA 제품 분류 결과가 아님.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OpenAI 날짜 근거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공식 발표일 2026-09-03을 시연 캡션에 명시. 영상 촬영일을 뜻하지 않음.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https://help.openai.com/en/articles/6825453-chatgpt-release-notes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September 3, 2026: Introducing GPT-6 Astra</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https://www.youtube.com/watch?v=1QNsdr-Qx_I</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 시연 GIF의 원본 바이트와 발췌 조건 보존.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VIA는 지속적인 Voice/Text/screen 상호작용과 요청 및 업무 연결을 담당하고, Downstream Agent는 도메인 추론, 계획, 도구 선택과 실제 업무 실행을 담당한다. 이 페이지의 책임 영역은 개념도이며 Component 배치나 대안 선정 결과가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현재 발표의 모델 배치는 docs/architecture/12-decisions/decision-packages/04-40-common-execution-contract.md를 따른다. VIA와 VAD는 사용자 PC에서 실행하고 음성 모델과 의미 LLM은 별도 클라우드 의존성이며 Model Access로 연동한다. Request, Task 및 실제 전달의 권위는 로컬 VIA에 남는다. 공급자/checkpoint는 품질 문서의 PoC reference이며 구현 완료나 후보 우위를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기능 근거: docs/architecture/01-system-mission-and-boundary.md; 03-fixed-architecture-scope.md; 05-representative-use-cases.md. 현재 비교는 04-41, 04-44, 04-45, 04-42이며 최종 A/B 선택과 실측은 아직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화면의 원래 책임 구분은 source commit a2acb638001f15b920c5ab1903053ea3c2892711의 target-architecture/architecture.md, control-and-lifecycle.md, memory-and-context-lifecycle.md, shared-omni-runtime.md 및 design-completeness.md에서 유래했다. 해당 참조 Architecture와 당시 공유 Omni 배치는 보존된 검토 이력이다. 현재 발표의 모델 제약으로 사용하지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하나의 대화 안에서 이어지는 다섯 장면이다. 화면의 표 설명은 VIA가 직접 응답하고, 보고서와 메일 초안의 도메인 계획 및 실제 작성은 Downstream Agent가 수행한다.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③은 음성 응답 중 끼어들기와 과거 정정 활용 및 부분 수정의 예다. 보고서만 이전에 고친 형식으로 변경하며 PDF 조건을 보존한다. 메일은 그대로 유지한다. 과거 정정의 재사용이 장기 User Memory 승격을 자동으로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④는 메일 Agent의 질문이 사용자 정정 중 도착한 경우다. VIA는 사용자 발화가 끝난 뒤 질문을 전달하고, ‘영업팀’ 답변을 메일 업무에 연결한다. 보고서 업무는 계속 진행한다.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⑤는 정상적인 Voice 종료와 Text 전환이다. 기존 Task의 검증된 상태를 확인하는 예이며 재시작 또는 장애 복구 성공의 증거는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docs/architecture/05-representative-use-cases.md, docs/architecture/03-fixed-architecture-scope.md, docs/architecture/12-decisions/decision-packages/04-40-common-execution-contract.md, 04-41-request-resolution-control.md, 04-42-lifecycle-ownership.md, 04-44-continuous-interaction.md, 04-45-memory-and-context.md. 품질 원본: 03-02-quality-attribute-definitions.md (ASR-QA-v6). 상세 연결은 docs/presentations_files/representative-scenario/README.md에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그림: docs/presentations_files/requirements-assets/의 기존 FR2, FR3, FR6, FR4, FR1 일러스트를 순서대로 재사용했다. 그림은 장면을 설명하는 독립 이미지 개체이고, 제목·발화·설명 및 업무 상태 표는 PowerPoint에서 편집할 수 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품질 연결은 ASR-QA-01 요청 처리 정확성, 02 상호작용 응답시간, 03 VIA 요청 처리시간을 중심으로 설명한다. 공통 P21은 21개 사례 전체를 5회 수행해 630조건, 135반응, 95처리를 관측한다. 이 다섯 장면은 P21의 원천 입력과 동일한 fixture가 아니며 사례 대응은 기능상 유사성이다. QA-04 모델 비용과 QA-06 로컬 메모리는 준비, 재사용, 갱신, 폐기와 tail을 포함한 전체 활동에서 평가한다. QA-05 변경 용이성은 별도 M-01~06 변경 과제로 평가한다. 평균과 보호 조건은 품질 원본을 따른다. 아직 후보 실측과 대안 선정은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장면 대응: ① 표 지칭은 S2-01과 제한 조회 S1-01의 유사 경로, ② 독립 업무는 S3-01과 과거 설명 재사용 S2-02의 유사 경로, ③ 부분 정정은 S4-01, local stop는 S4-02, 과거 근거는 S2-02/04/05, ④ 질문 전달/답변은 S5-01/S5-04/S6-04, ⑤ Voice 종료 후 Text 전달은 S5-03 및 UC-15의 정상 채널 전환이다. 41은 의미와 관계, 44는 실행 연결과 반응, 45는 과거 근거, 42는 업무 및 질문 상태의 수명을 비교한다.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배치는 로컬 VIA 및 로컬 VAD, 별도 클라우드 음성 모델과 의미 LLM이다. 모델 서비스의 임시 session과 VIA의 영속 Request/Task/실제 전달 원장을 구별한다. 모델 선정이나 제품 구현 완료를 뜻하지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 경험 1: VIA의 책임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화면에서 선택한 이번 달 매출 표와 접근이 허용된 지난달 보고서를 사용한다. VIA는 요청·대상·조건을 이해하여 업무 수행 Agent에 위임한다. Agent가 업무 수행 중 확인 질문을 보내면 VIA가 사용자에게 전달하고 답변을 원래 업무에 연결한다. 추가 조건 접수가 실제 Agent 적용 완료를 뜻하지 않으며 이 그림은 지연·실패 없는 설명용 장면이다. 보고서 작성·도메인 분석은 Downstream Agent 책임이다. 모든 사용자 응답은 Text로 남고 Voice 활성화 시 핵심을 음성으로 전달한다. 실선은 설명용 메시지, 세로 점선은 참여자의 지속 역할이며 Component/process 경계가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docs/architecture/01-system-mission-and-boundary.md §1.1~1.2, docs/architecture/05-representative-use-cases.md UC-03/05/06/08 및 §5.2. 사용자 2026-10-10 발표 리뷰.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삽화: builtin imagegen 생성 설명용 이미지이며 실제 제품 화면·측정 결과가 아니다.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VIA 기능 요구사항 및 제약사항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docs/presentations_files/functional-requirements-and-constraints.md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현재 네 DP의 발표용 요구사항이다. 관련 DP는 직접적인 설계 영향의 연결이며 전체 준수 범위를 뜻하지 않는다. 모델 배치는 04-40 공통 실행 계약을 따른다. 로컬 VAD는 Interaction Manager의 Turn-Taking Control에 있고 Request, Task와 실제 전달의 권위는 로컬 VIA에 남는다. 음성 모델과 의미 LLM은 별도 클라우드 의존성이며 Model Access가 공급자 연동을 담당한다. 공급자 및 checkpoint를 기능 요구사항으로 고정하지 않는다. 특정 설계 대안의 선택 또는 구현 및 측정 결과를 나타내지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FR1 지속 대화 처리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VIA가 요청을 처리하거나 응답하는 동안에도 사용자의 음성 또는 텍스트 입력을 받아 대화를 이어갈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FR2 맥락 기반 요청 해석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화면, 자료와 대화 맥락을 이용해 사용자 입력을 목표, 대상, 조건과 관련 업무가 식별된 요청으로 해석할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FR3 복합 요청 처리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한 입력에 포함된 여러 요청을 사용자가 명시한 순서, 조건과 결과 의존 관계에 따라 처리할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04-41, 04-44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FR4 다중 업무 상호작용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여러 업무의 질문, 진행 상황, 결과와 사용자 후속 지시를 각각 해당 업무에 연결할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04-42, 04-44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FR5 업무 연속성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연결 종료, 대화 전환 또는 VIA 재시작 이후에도 기존 업무를 중복 실행 없이 확인 가능한 상태로 이어갈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FR6 과거 맥락 활용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이전 대화의 정정 내용, 업무 결과와 허용된 사용자 기억을 현재 요청에 필요한 맥락으로 활용할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C1 음성과 의미 모델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VIA와 VAD는 사용자 PC에서 실행하고, 음성과 의미 해석은 별도 클라우드 모델을 Model Access를 통해 사용해야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04-41, 04-44, 04-45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C2 업무 실행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실제 업무 수행에 필요한 도메인 추론, 계획, 도구 선택과 실행은 Downstream Agent에 위임해야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04-41, 04-42, 04-44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설계 문서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[04-41 요청 의미 해결](../architecture/12-decisions/decision-packages/04-41-request-resolution-control.md)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[04-42 대화와 업무의 수명](../architecture/12-decisions/decision-packages/04-42-lifecycle-ownership.md)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[04-44 지속 대화 실행](../architecture/12-decisions/decision-packages/04-44-continuous-interaction.md)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[04-45 기억과 Context](../architecture/12-decisions/decision-packages/04-45-memory-and-context.md)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디자인 참고: 사용자 제공 조제현_09_기능요구사항및제약사항.png의 기능 요구사항 상단 표와 제약사항 하단 표. 관련 DP 열을 추가하여 한 장에 배치했다.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시스템은 사용자 요청이나 업무 사건에 대한 구체적인 첫 응답을 신속하게 화면에 표시해야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[평균 첫 응답 지연시간 ≤ 1초]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 응답 사건 120건 × 5회 / 실제 사건 → 첫 내용 UI 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Nielsen(1993) 사고 흐름 유지 1초와 Microsoft Windows 응답성 지침</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docs/architecture/12-decisions/decision-packages/qa-candidate-package/qa01-first-response-latency.md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시스템은 사용자가 화면이나 과거 이력을 지칭할 때 의도한 대상 집합을 누락이나 추가 없이 정확하게 식별해야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[지칭 대상 집합 일치율 ≥ 93%]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중 지칭 판단 44건 × 5회 / 정답 대상 집합 전체 일치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ReALM-3B 화면 지칭 93.0%의 집합 완전 일치 성능 참조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docs/architecture/12-decisions/decision-packages/qa-candidate-package/qa02-referent-accuracy.md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시스템은 사용자 목표를 완료하는 과정에서 VIA가 담당하는 처리의 소요시간을 최소화해야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[평균 VIA 귀속 처리시간 ≤ 5초]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 완료 목표 76개 × 5회 / 외부 대기를 제외한 완료 경로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Microsoft Windows Long wait 상단 5초를 VIA 자체 처리 상한으로 적용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docs/architecture/12-decisions/decision-packages/qa-candidate-package/qa03-via-processing-time.md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본 표는 최신 qa-candidate-package의 정의를 옮겼다. 실측 결과와 최종 DP 선정은 없다.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시스템은 기능을 추가하거나 VIA가 주고받는 데이터 형식을 바꿀 때 수정해야 하는 Rust 모듈 수를 작게 유지해야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[변경 과제당 평균 변경 Rust 모듈 수 ≤ 3개]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기능의 형식 변경 3건 + 기능 확장 3건 / 변경 모듈 수와 28개 기능 회귀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ARGO PR 145건 평균 5.4개 × 60% = 3.24개 → 3개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docs/architecture/12-decisions/decision-packages/qa-candidate-package/qa04-change-scope.md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시스템은 동일한 사용자 활동을 처리하는 데 필요한 음성 / 의미 모델의 총사용 비용을 최소화해야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28개 묶음당 평균 총 모델 비용 ≤ $2.55]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전체 × 5회 / 초기 준비부터 후속 청구까지 총비용 평균</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같은 28개 활동의 gpt-realtime과 Luna 참조 견적 $2.54604 → $2.55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docs/architecture/12-decisions/decision-packages/qa-candidate-package/qa05-model-cost.md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시스템은 삼성 노트북의 다른 앱과 함께 실행될 수 있도록 사용 중 VIA의 실제 RAM 최고량을 제한해야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[VIA 전체 RAM 관측 최고량 ≤ 512 MB]</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전체 × 5회 / Windows 11과 클라우드 모델 / 전체 VIA의 동시 RAM 최고량</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PC 플랫폼 및 기술기획 측 시스템 요구사항 512 MB / 과제에서 사용자 지정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docs/architecture/12-decisions/decision-packages/qa-candidate-package/qa06-local-memory.md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본 표는 최신 qa-candidate-package의 정의를 옮겼다. 실측 결과와 최종 DP 선정은 없다.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buNone/>
              <a:defRPr lang="ko-KR">
                <a:solidFill>
                  <a:srgbClr val="000000"/>
                </a:solidFill>
                <a:latin typeface="Calibri"/>
                <a:ea typeface="Calibri"/>
                <a:cs typeface="Calibri"/>
              </a:defRPr>
            </a:pPr>
            <a:r>
              <a:rPr lang="ko-KR">
                <a:solidFill>
                  <a:srgbClr val="000000"/>
                </a:solidFill>
                <a:latin typeface="Calibri"/>
                <a:ea typeface="Calibri"/>
                <a:cs typeface="Calibri"/>
              </a:rPr>
              <a:t>VIA의 공통 책임과 기존 DP44/45/42 비교 위치를 보존한다. 왼쪽 품질 목표만 최신 QA01~QA06으로 갱신했다. 기존 QA 우선순위에 연결된 선은 제거했다. Component 그림은 참조 위치이며 최종 채택안이 아니다. 모델은 현재 평가 패키지의 클라우드 조건을 따른다.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v11 QA 개정: qa-candidate-package의 QA01~QA09, COMMON-28-v1과 0~6점 기준을 적용했다. 이전 P21과 과거 QA 번호 및 지역 예산 계산은 이 버전에서 사용하지 않는다. 기존 Appendix는 모두 삭제했다. 숫자는 목표 또는 설명용 계산이며 실측 결과가 아니다.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출처: https://github.com/cbyche/via-sw-architecture/tree/main/docs/architecture/12-decisions/decision-packages/qa-candidate-package</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사용자는 실행 ID나 자료 경로를 지정하지 않는다. 화면 지칭, 이전 대화와 진행 업무를 섞어 말하고 일부만 정정한다. 표 대상과 보고서 업무 연결은 해석의 결과이며 입력에 정답으로 제공하지 않는다. “두 번째 표만”은 대상 범위의 정정이고 메일 발송 금지는 보존한다. VIA는 입력과 근거를 연결하고 요청·정정·기존 제약을 정리한다. 보고서 작성의 도메인 추론, 계획, 도구 선택과 실제 실행은 Downstream Agent 책임이다. 이 공통 요구 장면은 주요 DP에서 제외한 41을 복원하지 않는다. 44의 사건 연결, 45의 과거 맥락, 42의 서로 다른 수명과 새 화면·음성 지칭 문제로 이어진다.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docs/architecture/12-decisions/decision-packages/04-44-continuous-interaction.md; 04-45-memory-and-context.md; 04-42-lifecycle-ownership.md; screen-voice-grounding-problem.md. 2026-10-13 문제 소개 편집. 기존 비교 기제와 미선정 상태를 유지한다.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과제 필요성</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대화 연속성과 관계 유지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사용자 발화, 끼어들기와 정정, Downstream Agent의 질문과 결과가 시간상 겹치는 조건. 질문과 결과가 도착하더라도 사용자 입력을 계속 수용하고 적절한 응답 시점을 결정할 필요. 아래 관계도는 대화, 요청, 질문, 업무, Agent 실행을 연결하는 정보 관계의 축약 표현. 단일 요청과 질문의 엄격한 소유 관계나 일대일 카디널리티, 처리 순서, 프로세스 분리를 규정하지 않음. FR1과 FR4, DP44와 DP42의 공통 문제 배경.</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요청의 맥락 이해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발화 내용과 정정, 발화 당시 화면의 활성 창과 포인터 및 클릭과 선택 범위, 과거 대화와 업무 결과가 입력 근거. 현재 요청에 관련된 근거를 사용해 대상, 조건, 관련 업무와 정정 범위를 이해할 필요. 화면과 발화의 시간상 근접만으로 의도 확정 불가. 모든 앱에서 객체나 선택 범위의 완전한 수집을 보장하는 그림이 아님. FR2와 FR3, DP47와 DP45의 공통 문제 배경.</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지속 제공과 확장</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지속적인 대화와 맥락 처리는 모델 사용 비용, 화면 기록과 대화 및 업무 상태는 PC 메모리 사용, 모델과 Agent의 기능 및 규격 변화는 수정과 재검증 부담의 원인. 비용과 메모리의 수치 목표, 특정 모델 배치, 저장 방식이나 분리 구조를 선택하는 내용이 아님. 필요한 정확도와 응답성을 유지하면서 운영 부담과 변경 범위의 관리 필요.</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근거 문서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docs/presentations_files/functional-requirements-and-constraints.md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docs/architecture/12-decisions/decision-packages/03-03-qa-dp-evaluation-plan.md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기능 요구사항은 사용자 합의 FR1~4 기준. 품질 목표와 설계 대안의 최종 선정은 별도 검토 대상.</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간단한 전체 흐름을 먼저 설명한 뒤 요구사항, QA와 상세 Component 지도 순서로 확대한다. local VAD는 음성 인식 모델이 아니다. Context와 Task는 Component 이름이 아니라 데이터/개념이다. 클라우드 모델 서비스가 영속 업무 상태의 유일 원본이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근거는 docs/architecture/03-fixed-architecture-scope.md, 05-representative-use-cases.md, 04-40 공통 계약과 03-02 여섯 품질 정의다. 요구 수집 인터뷰를 수행했다는 주장을 추가하지 않는다. 원래 기능/제약과 DP 직접 영향 매핑은 다음 원본 슬라이드에 그대로 유지된다.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QA01/QA03/QA09는 서로 다른 목적과 endpoint를 가진다.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시스템은 사용자 요청이나 업무 사건에 대한 구체적인 첫 응답을 신속하게 화면에 표시해야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[평균 첫 응답 지연시간 ≤ 1초]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 응답 사건 120건 × 5회 / 실제 사건 → 첫 내용 UI 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Nielsen(1993) 사고 흐름 유지 1초와 Microsoft Windows 응답성 지침</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첫 완결된 내용의 실제 UI 표시에서 종료한다. 오답도 실제 시간을 포함하고 미관측은 별도 표시한다.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위임 전에 대상과 수행 범위를 실제 채택했다면 수행 안내도 첫 내용으로 인정한다. 내용이 틀려도 실제 표시 시간은 그대로 포함하고 기능 오류를 별도 기록한다. 인사와 spinner, 미완결 토큰과 내부 미채택 계획은 제외한다. 0.4초에 오답이 표시되고 1.2초에 정답으로 고쳤으면 시간값은 0.4초다. 첫 내용 자체가 없으면 NOT_OBSERVED로 남기며 무한대나 timeout 대체값을 넣지 않는다. 관측분 평균을 600건 전체 평균이라고 하지 않는다. 평균 1초는 개별 요청의 1초 보장이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출처와 상세: ./qa01-first-response-latency.md / ./research-notes/qa01-latency-research.md. 최신 QA-C01-v3와 QA-C01-score-v3의 평균 규칙 적용. DP-44 B 우세는 추가 port/join 비용과 강한 A의 비동기 실행을 고려한 약한 가설이며 실측이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시스템은 사용자 목표를 완료하는 과정에서 VIA가 담당하는 처리의 소요시간을 최소화해야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[평균 VIA 귀속 처리시간 ≤ 5초]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 완료 목표 76개 × 5회 / 외부 대기를 제외한 완료 경로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Microsoft Windows Long wait 상단 5초를 VIA 자체 처리 상한으로 적용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상태 확정과 상세 텍스트 표시 및 전체 음성 준비까지다. 오답도 실제 시간을 포함하고 미관측은 별도 기록한다.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QA-C03-v3와 QA-C03-score-v3를 적용한다. 380개 목표의 실제 인과 경로에서 외부 업무와 사용자 대기/발화 및 순수 청취/재생 차례 duration을 0으로 바꾸고 가장 긴 의존 경로를 구한 뒤 모든 목표의 산술평균을 계산한다. 병렬 작업은 늦게 끝나는 경로를 따르며 단순한 전체 시간 차감과 다르다. 시작은 최초 사용자 입력 종료 또는 제출이다. 상태 확정과 필요한 Agent 사실 확인, 전체 상세 텍스트 실제 표시 및 전체 음성 요약 준비를 종료 단계로 한다. 정답 여부는 시간 종료 조건이 아니다. 오답이나 잘못된 상태 종료도 실제 수행 시간을 포함하고 오류는 별도 판정한다. 처리가 끝나지 않으면 NOT_OBSERVED로 남기며 +∞, timeout 대체값 또는 강제 0점을 넣지 않는다. 관측분 평균을 전체 380건 평균이라고 하지 않는다. 평균 5초는 모든 개별 목표의 상한이 아니다. cloud 모델과 내부 queue 및 연결 프로토콜은 VIA 시간에 포함한다.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자료: ./qa03-via-processing-time.md / ./research-notes/qa03-duration-research.md. DP-42 A의 공동 확정은 서비스 간 확인과 전달의 의존 경로가 짧다는 구조 가설이며 실측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시스템은 채택한 응답의 음성 요약을 사용자가 들을 수 있는 시간에 신속하게 전달해야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[평균 음성 전달 지연 ≤ 500ms]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중 의무 음성 109건 × 5회 / 채택 → 실제 재생의 가능 시간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요약 준비 200ms + 첫 음성 생성 200ms + 출력 100ms = 전달 예산 제안 500ms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사용자 발화와 앞선 음성의 차례 대기는 제외한다. 요약과 TTS 및 내부 대기는 포함하며 필수 음성 누락은 전체 0점이다.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**발표자 노트:** 첫 음성 데이터 준비와 실제 장치 출력은 다르다. WASAPI loopback만 관측하면 software proxy이고 실제 audible endpoint에는 보정한 acoustic 또는 analog 관측이 필요하다. 재생 가능한 누적 5초까지 필수 음성이 없으면 해당 지연을 `+∞`로 기록하고 전체 QA09를 0점으로 판정한다. 실패를 분모에서 빼거나 빠른 사례와 평균내 숨기지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**자료:** [재생 가능 시간의 정의와 점수 및 실제 출력 관측](./qa09-audio-delivery-lag.md). 음성 전달 예산의 외부 수치 보강은 이번 핵심 여섯 QA 조사 범위에 포함되지 않았다.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 설명:** **현재 DP의 양안은 같은 음성 출력 경계를 사용할 수 있으므로 필수 검증으로 유지하고 차이 축을 억지로 만들지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계산 예시는 실측이 아니다.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buNone/>
              <a:defRPr lang="ko-KR">
                <a:solidFill>
                  <a:srgbClr val="000000"/>
                </a:solidFill>
                <a:latin typeface="Calibri"/>
                <a:ea typeface="Calibri"/>
                <a:cs typeface="Calibri"/>
              </a:defRPr>
            </a:pPr>
            <a:r>
              <a:rPr lang="ko-KR">
                <a:solidFill>
                  <a:srgbClr val="000000"/>
                </a:solidFill>
                <a:latin typeface="Calibri"/>
                <a:ea typeface="Calibri"/>
                <a:cs typeface="Calibri"/>
              </a:rPr>
              <a:t>기능의 차이가 아닌 구조의 차이로 품질에 영향을 주는 경로를 설명한다. 표가 모든 QA에서 실제 성능 차이가 발생함을 뜻하지 않는다.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v11 QA 개정: qa-candidate-package의 QA01~QA09, COMMON-28-v1과 0~6점 기준을 적용했다. 이전 P21과 과거 QA 번호 및 지역 예산 계산은 이 버전에서 사용하지 않는다. 기존 Appendix는 모두 삭제했다. 숫자는 목표 또는 설명용 계산이며 실측 결과가 아니다.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출처: https://github.com/cbyche/via-sw-architecture/tree/main/docs/architecture/12-decisions/decision-packages/qa-candidate-package</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B의 의미 제안은 Input Resolution Stage/Request Controller에서 채택한다. 채택 의미 또는 유효 Notice로 응답 후보를 만들고 게시 조건과 Join한다. A의 중앙 완료 회수와 B의 단계별 진행을 비교하며 두 방안 모두 비동기 병렬 실행이 가능하다. QA02는 동일 지칭 결과의 공통 검증이다.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docs/architecture/12-decisions/decision-packages/04-44-continuous-interaction.md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v11 QA 개정: qa-candidate-package의 QA01~QA09, COMMON-28-v1과 0~6점 기준을 적용했다. 이전 P21과 과거 QA 번호 및 지역 예산 계산은 이 버전에서 사용하지 않는다. 기존 Appendix는 모두 삭제했다. 숫자는 목표 또는 설명용 계산이며 실측 결과가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https://github.com/cbyche/via-sw-architecture/tree/main/docs/architecture/12-decisions/decision-packages/qa-candidate-package</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A는 현재 Query에 맞춰 원본 근거를 조합하고 B는 공통 관계를 생산하여 별도 Repository와 Coverage를 관리한다. 원본 owner와 권한 및 개정 확인은 양안 공통이다. QA02는 대상 집합 전체의 일치를 평가한다.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docs/architecture/12-decisions/decision-packages/04-45-memory-and-context.md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v11 QA 개정: qa-candidate-package의 QA01~QA09, COMMON-28-v1과 0~6점 기준을 적용했다. 이전 P21과 과거 QA 번호 및 지역 예산 계산은 이 버전에서 사용하지 않는다. 기존 Appendix는 모두 삭제했다. 숫자는 목표 또는 설명용 계산이며 실측 결과가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https://github.com/cbyche/via-sw-architecture/tree/main/docs/architecture/12-decisions/decision-packages/qa-candidate-package</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A는 모듈형 Core에서 대화와 업무의 관련 로컬 상태를 함께 확정한다. B는 독립 상태 owner 사이에 명령과 접수 확인 및 재확인 비용이 발생한다. 논리 수명 분리는 양안 공통이며 B가 자동으로 의미 정확도나 변경 범위를 개선하지 않는다. 내부 접수와 외부 Agent 실행 확인은 구별한다.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docs/architecture/12-decisions/decision-packages/04-42-lifecycle-ownership.md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v11 QA 개정: qa-candidate-package의 QA01~QA09, COMMON-28-v1과 0~6점 기준을 적용했다. 이전 P21과 과거 QA 번호 및 지역 예산 계산은 이 버전에서 사용하지 않는다. 기존 Appendix는 모두 삭제했다. 숫자는 목표 또는 설명용 계산이며 실측 결과가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https://github.com/cbyche/via-sw-architecture/tree/main/docs/architecture/12-decisions/decision-packages/qa-candidate-package</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buNone/>
              <a:defRPr lang="ko-KR">
                <a:solidFill>
                  <a:srgbClr val="000000"/>
                </a:solidFill>
                <a:latin typeface="Calibri"/>
                <a:ea typeface="Calibri"/>
                <a:cs typeface="Calibri"/>
              </a:defRPr>
            </a:pPr>
            <a:r>
              <a:rPr lang="ko-KR">
                <a:solidFill>
                  <a:srgbClr val="000000"/>
                </a:solidFill>
                <a:latin typeface="Calibri"/>
                <a:ea typeface="Calibri"/>
                <a:cs typeface="Calibri"/>
              </a:rPr>
              <a:t>기능과 공통 외부 조건은 유지하고 최신 QA 순서를 반영한다. Architecture 최종 선정이나 실제 성능 결론을 뜻하지 않는다.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v11 QA 개정: qa-candidate-package의 QA01~QA09, COMMON-28-v1과 0~6점 기준을 적용했다. 이전 P21과 과거 QA 번호 및 지역 예산 계산은 이 버전에서 사용하지 않는다. 기존 Appendix는 모두 삭제했다. 숫자는 목표 또는 설명용 계산이며 실측 결과가 아니다.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출처: https://github.com/cbyche/via-sw-architecture/tree/main/docs/architecture/12-decisions/decision-packages/qa-candidate-package</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buNone/>
              <a:defRPr lang="ko-KR">
                <a:solidFill>
                  <a:srgbClr val="000000"/>
                </a:solidFill>
                <a:latin typeface="Calibri"/>
                <a:ea typeface="Calibri"/>
                <a:cs typeface="Calibri"/>
              </a:defRPr>
            </a:pPr>
            <a:r>
              <a:rPr lang="ko-KR">
                <a:solidFill>
                  <a:srgbClr val="000000"/>
                </a:solidFill>
                <a:latin typeface="Calibri"/>
                <a:ea typeface="Calibri"/>
                <a:cs typeface="Calibri"/>
              </a:rPr>
              <a:t>각 QA의 정의, 목표 수치와 출처, 계산 예시 및 등급을 Appendix에 제공한다. PoC 실행과 A/B 최종 선정은 별도 작업이다.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v11 QA 개정: qa-candidate-package의 QA01~QA09, COMMON-28-v1과 0~6점 기준을 적용했다. 이전 P21과 과거 QA 번호 및 지역 예산 계산은 이 버전에서 사용하지 않는다. 기존 Appendix는 모두 삭제했다. 숫자는 목표 또는 설명용 계산이며 실측 결과가 아니다.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출처: https://github.com/cbyche/via-sw-architecture/tree/main/docs/architecture/12-decisions/decision-packages/qa-candidate-package</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설명용 사건 순서이며 간격과 선 길이는 측정 시간이 아니다. 보고서 설명 중 정정, 별도 메일 업무의 수신자 질문, 정정 전 응답 후보의 늦은 준비를 함께 보여준다. 발화 시작 때 로컬 음성 중단과 지속 입력은 공통 기능이다. 음성 중단은 업무 취소 완료가 아니다. 질문은 해당 업무와 연결하고 실제 제시 확인 뒤에 답변 focus의 근거로 쓴다. 도착·후보 준비·게시 허용·실제 전달은 다르다. 고정 전달 우선순위나 특정 A/B의 실행 조직을 선택하지 않는다. 강한 A의 비동기 실행과 B의 Window/Join 비용, 현재성 및 권한 검사 계약은 기존 비교에 남는다.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docs/architecture/12-decisions/decision-packages/04-44-continuous-interaction.md; 04-45-memory-and-context.md; 04-42-lifecycle-ownership.md; screen-voice-grounding-problem.md. 2026-10-13 문제 소개 편집. 기존 비교 기제와 미선정 상태를 유지한다.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6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기존 C20/P20, T21/D21@v2, T22/D22@v1 사례를 쉬운 말로 표현한다. 직접 설명은 Task 없는 응답일 수 있고 제품 비교와 견적은 서로 다른 Agent의 확인된 결과다. 생성 원문과 실제 표시·재생 범위, 결과 본문과 허용 참조는 다르다. 정정과 삭제는 사용 가능한 근거를 바꾼다. 현재 의미·Task 연결의 제안/채택은 기존 owner에 남는다. 자료 분석·기준 적용·제안서 작성은 Downstream Agent 책임이다. 원본 수정·삭제와 현재 권한 및 실제 전달 확인은 양안 공통 요구다. A의 선별·요약·색인·cache와 B의 갱신 택틱을 다음 기본 구조 페이지에서 분리하며 기존 MAIN은 유지한다.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docs/architecture/12-decisions/decision-packages/04-44-continuous-interaction.md; 04-45-memory-and-context.md; 04-42-lifecycle-ownership.md; screen-voice-grounding-problem.md. 2026-10-13 문제 소개 편집. 기존 비교 기제와 미선정 상태를 유지한다.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6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위임 Request 처리 종료는 외부 Agent의 접수 확인 뒤이며 실제 보고서 완료와 다르다. 진행 확인은 별도 Request이고 새 작성 실행을 시작하지 않는다. Voice를 끄는 동안에도 대화 기록·Task·외부 실행·질문은 남는다. 질문은 답변/만료를 기다린다. 재연결 후 유효 질문에 답하고 최초 작성이 완료된 뒤, 결론 수정의 새 실행을 같은 업무에 연결할 수 있다. 선은 설명용 순서이며 측정 시간이나 자동 실행 조건이 아니다. 대화·Request·Task·Execution·질문은 개념과 상태이며 Component/process가 아니다. 강한 A도 논리 수명 분리, 비동기 실행과 background Core를 허용한다. 다른 논리 수명만으로 B의 서비스 분리 필요성이나 우위가 성립하지 않는다. 부모 세션의 B 강화와 기존 MAIN은 변경하지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docs/architecture/12-decisions/decision-packages/04-44-continuous-interaction.md; 04-45-memory-and-context.md; 04-42-lifecycle-ownership.md; screen-voice-grounding-problem.md. 2026-10-13 문제 소개 편집. 기존 비교 기제와 미선정 상태를 유지한다.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V81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기존 45 A/B의 기본을 먼저 설명하는 추가 페이지다. A는 원본 owner의 읽기를 현재 요청에서 조합한다. 요약·색인·관계 cache와 부분 갱신을 허용하며 모든 이력을 재처리하지 않는다. B는 생산자가 유지하는 공통 과거 관계의 조회 계약에 정상 요청이 의존한다. 선택적 cache만으로 B가 되지 않는다. 상자는 기능/데이터 설명이며 새 Component/배치가 아니다. 수정·삭제·권한 철회와 실제 전달 범위는 공통 요구다. B의 미생산·표현 밖·접근 불가, 생산 후 재조회와 명시적 B+ 원본 조합 우회는 기존 계약과 비용을 따른다. 택틱은 기본 구조와 별도로 비교한다. A/B 미선정이며 구현이나 수치 우세를 주장하지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docs/architecture/12-decisions/decision-packages/04-44-continuous-interaction.md; 04-45-memory-and-context.md; 04-42-lifecycle-ownership.md; screen-voice-grounding-problem.md. 2026-10-13 문제 소개 편집. 기존 비교 기제와 미선정 상태를 유지한다.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V82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새 주제의 공통 문제이며 DP 번호와 A/B 미정이다. 46의 A/B나 32의 제외된 소유권 비교를 계승하지 않는다. 첫 문서 표를 가리키며 “이 표와”라고 하고 다른 문서로 옮겨 “저 표를 비교해줘”라고 한다. 전사 도착 때 첫 표는 사라졌거나 pointer가 벗어났을 수 있다. “아니, 여기”는 둘째 지칭을 아래 표로 정정하는 사례다. 실제 발화 시간과 오차, 당시 화면/문서 identity, pointer 경로와 선택 범위가 근거다. 시간 겹침은 후보 근거이며 의도 확정이 아니다. 정보 누락/우연한 이동은 확인이 필요할 수 있다. 사전 선택도 고정 UC이며 상시 수집·새 helper·시선 추적은 전제하지 않는다. 저장·생산·분해 기제는 부모 세션의 대안 탐색에 남는다.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docs/architecture/12-decisions/decision-packages/04-44-continuous-interaction.md; 04-45-memory-and-context.md; 04-42-lifecycle-ownership.md; screen-voice-grounding-problem.md. 2026-10-13 문제 소개 편집. 기존 비교 기제와 미선정 상태를 유지한다.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qaV112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시스템은 사용자 요청이나 업무 사건에 대한 구체적인 첫 응답을 신속하게 화면에 표시해야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[평균 첫 응답 지연시간 ≤ 1초]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 응답 사건 120건 × 5회 / 실제 사건 → 첫 내용 UI 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Nielsen(1993) 사고 흐름 유지 1초와 Microsoft Windows 응답성 지침</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Nielsen은 사고 흐름을 유지하는 UI 반응 기준을 약 1초로 설명한다.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Windows 지침도 0.5~1초를 응답성이 유지되는 구간으로 분류한다.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VIA는 첫 내용 표시의 평균에 1초 목표를 적용한다.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L = 600개 첫 내용 응답 지연의 합계 / 600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시작: 실제 발화 종료 / Text 제출 / Agent source 최초 제공</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첫 완결된 내용의 실제 UI 표시에서 종료한다. 오답도 실제 시간을 포함하고 미관측은 별도 표시한다.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이 사건의 지연은 0.8초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가상 관측 0.8 / 0.6 / 1.0 / 0.8초의 평균 0.8초 = 2점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계산 예시는 실측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1초는 목표 상한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0.2초는 최고 개선 등급</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(1.00 − 0.20) / 5 = 0.16초 간격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Nielsen(1993) Response Times / Microsoft Windows responsiveness. 평균 집계는 과제 기준이며 개별 1초를 보장하지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위임 전에 대상과 수행 범위를 실제 채택했다면 수행 안내도 첫 내용으로 인정한다. 내용이 틀려도 실제 표시 시간은 그대로 포함하고 기능 오류를 별도 기록한다. 인사와 spinner, 미완결 토큰과 내부 미채택 계획은 제외한다. 0.4초에 오답이 표시되고 1.2초에 정답으로 고쳤으면 시간값은 0.4초다. 첫 내용 자체가 없으면 NOT_OBSERVED로 남기며 무한대나 timeout 대체값을 넣지 않는다. 관측분 평균을 600건 전체 평균이라고 하지 않는다. 평균 1초는 개별 요청의 1초 보장이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출처와 상세: ./qa01-first-response-latency.md / ./research-notes/qa01-latency-research.md. 최신 QA-C01-v3와 QA-C01-score-v3의 평균 규칙 적용. DP-44 B 우세는 추가 port/join 비용과 강한 A의 비동기 실행을 고려한 약한 가설이며 실측이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정의: https://github.com/cbyche/via-sw-architecture/blob/main/docs/architecture/12-decisions/decision-packages/qa-candidate-package/qa01-first-response-latency.md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출처: [Nielsen 1993](https://www.nngroup.com/articles/response-times-3-important-limits/) / [Microsoft Windows responsiveness](https://learn.microsoft.com/en-us/windows/apps/develop/performance/responsive). 자료 확인일 2026-10-14.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원문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https://www.nngroup.com/articles/response-times-3-important-limits/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https://learn.microsoft.com/en-us/windows/apps/develop/performance/responsive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https://www.cs.umd.edu/~ben/papers/Shneiderman1984Response.pdf</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https://arxiv.org/html/2507.22352v1</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qaV112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시스템은 사용자가 화면이나 과거 이력을 지칭할 때 의도한 대상 집합을 누락이나 추가 없이 정확하게 식별해야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[지칭 대상 집합 일치율 ≥ 93%]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중 지칭 판단 44건 × 5회 / 정답 대상 집합 전체 일치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ReALM-3B 화면 지칭 93.0%의 집합 완전 일치 성능 참조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Apple ReALM은 화면과 대화의 지칭 대상을 집합 완전 일치로 평가한다.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ReALM-3B의 화면 결과 93.0%를 VIA의 기술 참조 목표로 채택한다.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원본과 범위 및 필요한 버전까지 대상 집합 전체가 같아야 성공이다.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 = 전체 대상 집합이 일치한 판정 수 / 220 × 100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지칭 판단 44개 × 5회 = 220개 판정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표현과 입력 revision별 첫 채택 집합을 판정한다. 사후 정정으로 오답을 지우지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220회 중 205회 일치 = 93.18% = 1점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220회 모두 일치하면 100% = 6점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계산 예시는 실측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93%는 기술 참조 목표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100%는 평가 표본의 오류 0건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(100 − 93) / 5 = 1.4%p 간격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ReALM, SIGDIAL 2024 §3 및 Table 3. 후보가 주어지는 연구이며 VIA 전체의 실증 결과는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**발표자 노트:** 화면과 대화의 지칭을 해석하고 전체 대상 집합이 같아야 성공이라는 공통점을 먼저 설명한다. 단 ReALM은 질의별 집합이고 VIA는 표현별 집합과 revision이므로 평가 단위와 처리 범위는 다르다. 화면 최고 성능 93.0%를 두 DP의 기술 참조 최소 목표로 선택했다. ReALM의 대화 97.9%와 평균내지 않는다. 후보 수집과 과거 원본 검색 및 범위와 버전의 처리가 VIA에서는 더 넓으므로 관련 연구의 성능을 적용한 요구이지 동일 시험의 비열등성 증거가 아니다. 마우스 연구와 근거 없는 downstream 복구율은 사용하지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**자료:** [정의와 점수 및 DP 예상](https://github.com/cbyche/via-sw-architecture/blob/main/docs/architecture/12-decisions/decision-packages/qa-candidate-package/qa02-referent-accuracy.md) / [연구 과제 조건과 통계 한계 및 잘못된 복구 산식](https://github.com/cbyche/via-sw-architecture/blob/main/docs/architecture/12-decisions/decision-packages/qa-candidate-package/research-notes/qa02-accuracy-research.md).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 설명:** **DP-47과 DP-45는 현재 화면과 과거 자료에서 같은 대상 집합을 고르는 문제를 다루므로 같은 성공 판정을 적용한다.** 공통 적용 자체는 양안 차이의 증거가 아님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판정 경계: 동일 표현과 입력 revision의 첫 채택 집합을 판정한다. 사용자에게 표시하거나 업무에 전달한 오답을 사후 정정으로 지우지 않는다. 입력 종료 후 30초 내 미채택과 불필요한 확인도 실패다. 실제로 모호한 입력 4건은 사전 제외하며 확인 질문 기능으로 검증한다.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정의: https://github.com/cbyche/via-sw-architecture/blob/main/docs/architecture/12-decisions/decision-packages/qa-candidate-package/qa02-referent-accuracy.md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출처: [Apple ReALM, SIGDIAL 2024 §3과 Table 3](https://aclanthology.org/2024.sigdial-1.5.pdf). 자료 확인일 2026-10-14.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원문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https://aclanthology.org/2024.sigdial-1.5.pdf</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https://www.nist.gov/publications/confirming-performance-threshold-binary-experimental-response</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qaV112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시스템은 사용자 목표를 완료하는 과정에서 VIA가 담당하는 처리의 소요시간을 최소화해야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[평균 VIA 귀속 처리시간 ≤ 5초]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 완료 목표 76개 × 5회 / 외부 대기를 제외한 완료 경로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Microsoft Windows Long wait 상단 5초를 VIA 자체 처리 상한으로 적용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Windows는 Long wait를 2~5초와 Captive를 5~10초로 구분한다.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긴 대기의 경계인 5초를 VIA 자체 처리의 평균 목표로 적용한다.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첫 안내 이후 처리도 포함하며 외부 업무의 총 대기는 별도로 남긴다.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t = 380개 목표의 VIA 귀속 완료 경로 시간 합계 / 380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외부 업무와 사용자 대기/발화 및 순수 청취/차례 대기는 0초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상태 확정과 상세 텍스트 표시 및 전체 음성 준비까지다. 오답도 실제 시간을 포함하고 미관측은 별도 기록한다.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가상 두 목표의 귀속시간 4.8초와 3.2초의 평균 4.0초 = 2점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병렬 처리이므로 실제 9.8초에서 외부 8초를 단순 차감하지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계산 예시는 실측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5초는 목표 상한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1초는 최고 개선 등급</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(5 − 1) / 5 = 0.8초 간격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Microsoft Windows responsiveness. VIA 모델 호출과 네트워크 및 내부 대기는 포함한다.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QA-C03-v3와 QA-C03-score-v3를 적용한다. 380개 목표의 실제 인과 경로에서 외부 업무와 사용자 대기/발화 및 순수 청취/재생 차례 duration을 0으로 바꾸고 가장 긴 의존 경로를 구한 뒤 모든 목표의 산술평균을 계산한다. 병렬 작업은 늦게 끝나는 경로를 따르며 단순한 전체 시간 차감과 다르다. 시작은 최초 사용자 입력 종료 또는 제출이다. 상태 확정과 필요한 Agent 사실 확인, 전체 상세 텍스트 실제 표시 및 전체 음성 요약 준비를 종료 단계로 한다. 정답 여부는 시간 종료 조건이 아니다. 오답이나 잘못된 상태 종료도 실제 수행 시간을 포함하고 오류는 별도 판정한다. 처리가 끝나지 않으면 NOT_OBSERVED로 남기며 +∞, timeout 대체값 또는 강제 0점을 넣지 않는다. 관측분 평균을 전체 380건 평균이라고 하지 않는다. 평균 5초는 모든 개별 목표의 상한이 아니다. cloud 모델과 내부 queue 및 연결 프로토콜은 VIA 시간에 포함한다.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자료: ./qa03-via-processing-time.md / ./research-notes/qa03-duration-research.md. DP-42 A의 공동 확정은 서비스 간 확인과 전달의 의존 경로가 짧다는 구조 가설이며 실측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정의: https://github.com/cbyche/via-sw-architecture/blob/main/docs/architecture/12-decisions/decision-packages/qa-candidate-package/qa03-via-processing-time.md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출처: [Microsoft Windows responsiveness](https://learn.microsoft.com/en-us/windows/apps/develop/performance/responsive). 자료 확인일 2026-10-14.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원문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https://learn.microsoft.com/en-us/windows/apps/develop/performance/responsive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https://www.nngroup.com/articles/response-times-3-important-limits/</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qaV112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시스템은 기능을 추가하거나 VIA가 주고받는 데이터 형식을 바꿀 때 수정해야 하는 Rust 모듈 수를 작게 유지해야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[변경 과제당 평균 변경 Rust 모듈 수 ≤ 3개]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기능의 형식 변경 3건 + 기능 확장 3건 / 변경 모듈 수와 28개 기능 회귀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ARGO PR 145건 평균 5.4개 × 60% = 3.24개 → 3개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 ARGO의 기능 추가와 데이터 형식 변경 PR 145건에서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평균 수정 모듈 수는 5.4개다. 사용자 제공 집계에 40% 개선을 적용한다.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5.4 × 60% = 3.24개보다 엄격한 평균 3개를 목표로 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x = (C01 변경 모듈 수 + … + C06 변경 모듈 수) / 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모듈 식별: package / crate target / 완전한 Rust mod 경로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같은 시작 코드에서 6개 변경을 독립 수행한다. 파일 수와 모듈 수는 다르며 실제 변경된 운영 모듈을 센다.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 + 2 + 3 + 4 + 3 + 4) / 6 = 평균 3개 = 1점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5.4개 대비 44.4% 감소로 40% 개선 요구를 충족한다.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계산 예시는 실측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3개는 목표 상한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1개는 변경을 한 모듈에 모은 수준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(3 − 1) / 5 = 0.4개 간격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사용자 제공 ARGO PR 145건 집계와 40% 개선 요구. 원본 PR과 동일 모듈 기준의 감사는 별도다.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**발표자 노트:** 파일 수와 module 수는 다르다. prompt와 schema 및 설정 변경도 담당 운영 모듈에 귀속하고 테스트 전용 변경은 제외한다. 부모 모듈은 실제 수정됐을 때만 센다. AI 코딩 병행 수정의 부담은 사용자 경험에서 나온 요구이고 모듈 수는 변경 파급의 구조 지표다. 이 값만으로 전체 개발시간이나 충돌 건수를 증명하지 않는다. “형식 변경은 1개와 기능 확장은 5개”라는 이전 가정은 사용하지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**자료:** [모듈 정의와 변경 과제 및 점수표](https://github.com/cbyche/via-sw-architecture/blob/main/docs/architecture/12-decisions/decision-packages/qa-candidate-package/qa04-change-scope.md) / [조사 근거와 Rust 설명](https://github.com/cbyche/via-sw-architecture/blob/main/docs/architecture/12-decisions/decision-packages/qa-candidate-package/research-notes/qa04-change-research.md) / [ARGO 수치와 계산](https://github.com/cbyche/via-sw-architecture/blob/main/docs/architecture/12-decisions/decision-packages/qa-candidate-package/targets-source-qa04-argo.md) / [모듈 계수 예시](https://github.com/cbyche/via-sw-architecture/blob/main/docs/architecture/12-decisions/decision-packages/qa-candidate-package/targets-source-qa04.md).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 설명:** **DP-45 A는 필요한 과거 관계를 조회할 때 구성하므로 새 관계를 추가할 때 생산과 저장 및 재게시 계약까지 바꿀 필요가 적다.** 실제 diff 확인 전 가설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정의: https://github.com/cbyche/via-sw-architecture/blob/main/docs/architecture/12-decisions/decision-packages/qa-candidate-package/qa04-change-scope.md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출처: [사용자 제공 ARGO 집계와 적용 조건](https://github.com/cbyche/via-sw-architecture/blob/main/docs/architecture/12-decisions/decision-packages/qa-candidate-package/targets-source-qa04-argo.md) / [Rust 모듈 정의와 계수 예시](https://github.com/cbyche/via-sw-architecture/blob/main/docs/architecture/12-decisions/decision-packages/qa-candidate-package/targets-source-qa04.md). 자료 확인일 2026-10-14.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원문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https://doc.rust-lang.org/reference/items/modules.html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https://doc.rust-lang.org/book/ch07-01-packages-and-crates.html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https://www.sei.cmu.edu/documents/689/2002_005_001_14063.pdf</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https://storage.googleapis.com/gweb-research2023-media/pubtools/4476.pdf</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https://www.sciencedirect.com/science/article/pii/S095058492030001X</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qaV112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시스템은 동일한 사용자 활동을 처리하는 데 필요한 음성 / 의미 모델의 총사용 비용을 최소화해야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28개 묶음당 평균 총 모델 비용 ≤ $2.55]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전체 × 5회 / 초기 준비부터 후속 청구까지 총비용 평균</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같은 28개 활동의 gpt-realtime과 Luna 참조 견적 $2.54604 → $2.55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28개 활동을 제공하는 API 참조 구성의 비용을 상한으로 삼는다.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gpt-realtime $2.04632 + Luna $0.49972 = $2.54604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센트 단위로 올린 $2.55를 묶음당 모델 비용 목표로 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 = 28개 전체 묶음 총비용 5개의 평균</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준비와 갱신 및 재시도와 폐기 후 청구까지 포함</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평가 단위는 요청 한 건이나 월 구독료가 아닌 같은 28개 전체 묶음이다. 모든 실제 청구 bucket을 합산한다.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한 묶음 $1.80, 5회가 모두 같다면 평균 $1.80 = 3점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실제 후보의 호출 수와 출력량을 참조 견적에 맞춰 강제하지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계산 예시는 실측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$2.550은 목표 상한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$1.275는 예산의 절반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(2.550 − 1.275) / 5 = $0.255 간격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2026-10-14 공식 API 요금과 COMMON-28-v1 참조 견적. 견적의 기능 동등성과 실제 청구는 검증 전이다.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**발표자 노트:** 월 $20와 20근무일 및 하루 40요청 가정은 폐기했다. 28개는 공통 대표 시나리오 묶음이다. 입력량과 추론 포함 출력량은 각 사건의 견적 규격이다. 실제 후보의 호출 수와 출력량을 강제하지 않는다. 추론과 음성 및 cache의 실제 청구 bucket을 사용한다. 가격은 확보했지만 필요한 정보를 담은 payload와 기능 달성을 검증하지 않았다.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**발표자 추가 노트:** Realtime 190개 Response는 매번 명시적 입력을 지정한다. 원본 맥락은 Luna에 제공한다. 음성은 481초 입력과 545초 생성 출력으로 견적을 냈고 음성과 함께 생성되는 텍스트도 포함한다. 음성 토큰 환산은 근사치이며 실제 청구는 provider usage로 확인한다.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**자료:** [활동과 원장 및 점수표](https://github.com/cbyche/via-sw-architecture/blob/main/docs/architecture/12-decisions/decision-packages/qa-candidate-package/qa05-model-cost.md) / [공식 단가와 수정된 견적 및 누락 방지 항목](https://github.com/cbyche/via-sw-architecture/blob/main/docs/architecture/12-decisions/decision-packages/qa-candidate-package/research-notes/qa05-cost-research.md).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 설명:** **DP-47 A는 필요한 원본을 한 판단 경로에서 처리하므로 후보별 생산과 결합의 추가 모델 사용을 줄일 수 있다.** code producer와 cache를 허용한 상태에서 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정의: https://github.com/cbyche/via-sw-architecture/blob/main/docs/architecture/12-decisions/decision-packages/qa-candidate-package/qa05-model-cost.md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출처: [공통 활동 원장과 API 참조 견적](https://github.com/cbyche/via-sw-architecture/blob/main/docs/architecture/12-decisions/decision-packages/qa-candidate-package/common-model-cost-quote.md) / [2026-10-14 공식 가격 출처 기록](https://github.com/cbyche/via-sw-architecture/blob/main/docs/architecture/12-decisions/decision-packages/qa-candidate-package/research-notes/qa05-cost-research.md). 자료 확인일 2026-10-14.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원문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https://console.groq.com/docs/models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https://console.groq.com/docs/billing-faqs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https://developers.openai.com/api/docs/models/gpt-realtime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https://developers.openai.com/api/docs/guides/voice-latency-cost?voice-api=realtime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https://developers.openai.com/api/docs/models/gpt-5.6-luna</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https://developers.openai.com/api/docs/guides/images-vision</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qaV113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시스템은 삼성 노트북의 다른 앱과 함께 실행될 수 있도록 사용 중 VIA의 실제 RAM 최고량을 제한해야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[VIA 전체 RAM 관측 최고량 ≤ 512 MB]</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전체 × 5회 / Windows 11과 클라우드 모델 / 전체 VIA의 동시 RAM 최고량</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PC 플랫폼 및 기술기획 측 시스템 요구사항 512 MB / 과제에서 사용자 지정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PC 플랫폼 및 기술기획 측 시스템 요구사항으로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탑재 VIA의 최대 RAM 사용량을 512 MB 이하로 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사용자의 다른 앱과 함께 실행할 때 VIA의 RAM 부담을 제한한다.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M = 5회 전체 관측의 동시 VIA RAM 최고 바이트 / 1,000,000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512 MB = 512,000,000바이트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앱 시작과 준비부터 후속 종료까지 전체 VIA를 관측한다. 공유 페이지는 한 번만 세며 개별 프로세스 피크를 더하지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5회 전체에서도 400 MB가 최고라면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358.4 &lt; 400 ≤ 409.6이므로 3점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계산 예시는 실측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512 MB는 시스템 요구 상한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256 MB는 예산의 절반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(512 − 256) / 5 = 51.2 MB 간격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SR-PC-MEM-01. 2026-10-15 사용자가 과제의 시스템 요구사항으로 지정. Windows 전체 RAM 계측은 검증 전이다.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**발표자 노트:** 512 MB는 512,000,000바이트이며 488.28125 MiB다. 사용자 지시로 과제에 지정한 시스템 요구사항이고 실제 삼성 내부 승인 문서를 별도로 확인한 것은 아니다. 이전 512MiB 참조와 RAM-v1의 철회 이력은 유지한다. Windows 전체 RAM 계측은 공유 페이지와 그래픽 버퍼의 귀속 및 표본 누락을 검증해야 한다. 전용 RAM만 측정한 값을 전체 RAM으로 채점하지 않는다. 현재 대상은 클라우드 모델 조건이며 로컬 모델을 쓰면 가중치와 실행 상태도 포함한다.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**자료:** [QA06 정의와 전체 집계 및 실패 규칙](https://github.com/cbyche/via-sw-architecture/blob/main/docs/architecture/12-decisions/decision-packages/qa-candidate-package/qa06-local-memory.md) / [요구사항 출처](https://github.com/cbyche/via-sw-architecture/blob/main/docs/architecture/12-decisions/decision-packages/qa-candidate-package/targets-source-qa06-platform.md) / [공개 조사 원형과 도구의 한계](https://github.com/cbyche/via-sw-architecture/blob/main/docs/architecture/12-decisions/decision-packages/qa-candidate-package/research-notes/qa06-memory-research.md).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 설명:** **DP-42 A는 한 Core에서 상태를 연결하므로 서비스별 실행 공간과 전달용 사본의 추가 부담이 적을 수 있다.** 실제 상주량 차이 확인 필요</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정의: https://github.com/cbyche/via-sw-architecture/blob/main/docs/architecture/12-decisions/decision-packages/qa-candidate-package/qa06-local-memory.md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출처: [SR-PC-MEM-01 사용자 지정 시스템 요구사항](https://github.com/cbyche/via-sw-architecture/blob/main/docs/architecture/12-decisions/decision-packages/qa-candidate-package/targets-source-qa06-platform.md) / [Windows 계측 범위와 조사 이력](https://github.com/cbyche/via-sw-architecture/blob/main/docs/architecture/12-decisions/decision-packages/qa-candidate-package/research-notes/qa06-memory-research.md). 공개 조사 확인일 2026-10-14 / QA06 요구 지정일 2026-10-15.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원문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https://learn.microsoft.com/en-us/windows/win32/memory/working-set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https://learn.microsoft.com/en-us/windows/win32/api/psapi/ns-psapi-process_memory_counters_ex</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https://learn.microsoft.com/en-us/windows-hardware/test/wpt/memory-footprint-optimization-exercise-1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https://learn.microsoft.com/en-us/windows-hardware/test/wpt/wpa-reference-set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https://www.samsung.com/in/computers/galaxy-book/galaxy-book6-ultra-ultra-7-32gb-1tb-np960ujh-xg3in/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https://www.samsung.com/us/computers/galaxy-book/galaxy-book6/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https://news.samsung.com/us/samsung-expands-galaxy-book6-lineup-making-galaxy-book-more-accessible/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https://learn.microsoft.com/en-us/windows/apps/develop/performance/planning-measuring-performance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https://learn.microsoft.com/en-us/windows-hardware/test/assessments/results-for-the-memory-footprint-assessment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https://support.microsoft.com/en-us/microsoft-365-copilot/access-microsoft-365-copilot-on-windows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https://support.microsoft.com/en-us/microsoft-365-copilot/get-started-vision-microsoft-365-copilot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https://help.openai.com/en/articles/9982051-using-the-chatgpt-windows-app</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https://news.samsung.com/global/new-galaxy-book2-pro-series-enables-work-from-anywhere-flexibility-with-peace-of-mind-security</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qaV113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시스템은 다른 업무의 사건을 함께 처리할 때 현재 사용자 요청의 첫 응답에 추가되는 지연을 작게 유지해야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[평균 부하 추가 지연 ≤ 200ms]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S05/S11/S18/S19 / 부하 유무별 5회 / 평균 지연 증가분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첫 응답 1,000ms − 단일 요청 처리 800ms = 간섭 예산 제안 200ms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첫 응답 1,000ms 중 단일 요청에 800ms를 배정한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설계 예산에서 동시 업무 간섭에 200ms를 남긴다.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대화에 추가된 지연을 QA01의 절대 지연과 구분해 진단한다.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x = 4개 사례의 max(0, 부하 평균 − 무부하 평균)의 평균</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S05/S11/S18/S19의 첫 요청 / 조건별 5회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부하 조건의 미응답이나 BG 사건 유실은 0점이다. 무부하 기준도 실패하면 우열 판정 불가로 남긴다.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네 사례의 차이가 모두 150ms라면 x = 150ms = 2점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QA01의 절대 지연과 함께 확인하며 서로 상쇄하지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계산 예시는 실측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200ms는 간섭 예산 제안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200~100ms는 50ms 간격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100ms 이하는 25ms 간격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근거: QA01에서 분리한 설계 예산 제안. 200ms는 외부 연구가 정한 보편적 임계값이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**실패 판정:** 부하 있음의 필수 응답이 제한시간 내 없거나 BG 사건이 유실되면 0점이다. 부하 없음도 실패하면 우열 판정 불가로 남긴다. 미응답끼리 지연 차이를 계산하지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**발표자 노트:** 원래 느린 시스템이 추가 지연은 작을 수 있다. QA01의 절대 지연과 함께 보며 서로 상쇄하지 않는다. QA01은 전체 사건의 평균이고 QA07은 네 부하 대조 사례의 평균 차이다. 800+200 배분만으로 전체 QA01 평균 1초 달성을 보장하지 않는다. 이번 핵심 여섯 QA의 외부 수치 재조사와 같은 수준의 목표 검증으로 소개하지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**자료:** [정의와 산식 및 점수와 원출처](https://github.com/cbyche/via-sw-architecture/blob/main/docs/architecture/12-decisions/decision-packages/qa-candidate-package/qa07-load-interference.md). 기존 설계 예산을 유지한 진단 카드다.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 설명:** **DP-44와 DP-42의 양안 모두 비동기 처리가 가능하므로 서비스 분리만으로 부하 간섭이 줄어든다고 보지 않는다.** 현재 동점 예상</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정의: https://github.com/cbyche/via-sw-architecture/blob/main/docs/architecture/12-decisions/decision-packages/qa-candidate-package/qa07-load-interference.md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출처: [QA07의 설계 예산과 부하 대조 계약](https://github.com/cbyche/via-sw-architecture/blob/main/docs/architecture/12-decisions/decision-packages/qa-candidate-package/qa07-load-interference.md). 자료 확인일 2026-10-14.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원문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https://sre.google/sre-book/handling-overload/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https://tokio.rs/blog/2020-04-preemption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https://docs.rs/tokio/latest/tokio/task/fn.spawn_blocking.html</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qaV113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시스템은 독립적인 두 기능 변경을 병행할 때 양쪽에서 함께 수정해야 하는 모듈의 범위를 작게 유지해야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[변경 쌍당 평균 공통 수정 모듈 수 ≤ 1개]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QA04의 같은 변경 6건으로 구성한 독립 6쌍 / 수정 모듈 교집합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공통 계약 / 연결부의 조정을 변경 쌍당 평균 1개로 제한하는 협업 예산 제안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독립 변경을 병행할 때 공통 수정 영역을 평균 한 모듈 이내로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제한하는 협업 예산이다. AI 코딩 병행 개발의 조율 부담을 다룬다.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QA04의 한 변경 범위와 달리 두 변경이 함께 수정하는 영역을 센다.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x = 6개 변경 쌍의 공통 수정 Rust 모듈 수 합계 / 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같은 시작 코드에서 독립한 두 변경의 모듈 집합 교집합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QA04의 같은 C01~06으로 사전 지정한 6쌍을 평가한다. 변경 미완료를 공통 수정 0개로 세지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 + 0 + 1 + 0 + 0 + 1) / 6 = 0.5개 = 3점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실제 Git 충돌 횟수나 개발시간 절감률을 뜻하지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계산 예시는 실측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1개/쌍은 협업 예산 제안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중복 0개는 6점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6쌍의 계수 해상도인 1/6개로 구분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근거: 사용자 제기 AI 코딩 병행 수정 부담과 Rust 모듈 정의. 평균 1개는 실제 팀 합의가 아닌 협업 예산 제안이다.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**발표자 노트:** 두 변경의 수정 모듈 수가 같아도 교집합은 다를 수 있다. 다만 같은 모듈을 수정했다고 실제 Git 충돌이 반드시 생기지는 않는다. 반대로 다른 모듈의 수정도 의미 충돌을 만들 수 있다. 따라서 충돌 건수나 작업 시간 절감률로 이름을 바꾸지 않는다. QA04와 함께 핵심 QA에 넣을 때 중복 평가 여부를 검토한다.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**자료:** [교집합 정의와 변경 쌍 및 점수](https://github.com/cbyche/via-sw-architecture/blob/main/docs/architecture/12-decisions/decision-packages/qa-candidate-package/qa08-parallel-change-overlap.md) / [변경 파급과 협업 연구](https://github.com/cbyche/via-sw-architecture/blob/main/docs/architecture/12-decisions/decision-packages/qa-candidate-package/research-notes/qa04-change-research.md).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 설명:** **DP-45 A는 요청별 가공을 국소화할 수 있어 공통 생산과 조회 계약을 함께 바꾸는 중복이 적을 수 있다.** 약한 가설이며 다른 주요 연결은 동점 예상</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정의: https://github.com/cbyche/via-sw-architecture/blob/main/docs/architecture/12-decisions/decision-packages/qa-candidate-package/qa08-parallel-change-overlap.md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출처: [QA08 변경 쌍과 교집합 계약](https://github.com/cbyche/via-sw-architecture/blob/main/docs/architecture/12-decisions/decision-packages/qa-candidate-package/qa08-parallel-change-overlap.md) / [사용자 협업 요구와 Rust 계수 근거](https://github.com/cbyche/via-sw-architecture/blob/main/docs/architecture/12-decisions/decision-packages/qa-candidate-package/research-notes/qa04-change-research.md). 자료 확인일 2026-10-14.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원문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https://doc.rust-lang.org/reference/items/modules.html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https://docs.github.com/en/pull-requests/reference/merge-conflicts</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qaV113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시스템은 채택한 응답의 음성 요약을 사용자가 들을 수 있는 시간에 신속하게 전달해야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[평균 음성 전달 지연 ≤ 500ms]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중 의무 음성 109건 × 5회 / 채택 → 실제 재생의 가능 시간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요약 준비 200ms + 첫 음성 생성 200ms + 출력 100ms = 전달 예산 제안 500ms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텍스트를 먼저 보여주고 음성은 사용자가 들을 수 있을 때 전달한다.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요약 200ms + 첫 음성 생성 200ms + 출력 100ms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합계 500ms를 추가 음성 전달의 설계 예산으로 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x = 545개 음성의 재생 가능 시간 누적값 평균</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응답 내용 채택부터 실제 첫 요약 음성까지 관측</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사용자 발화와 앞선 음성의 차례 대기는 제외한다. 요약과 TTS 및 내부 대기는 포함하며 필수 음성 누락은 전체 0점이다.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0.7~2.0초가 사용자 발화로 차단됐다면 이 사건은 300ms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모든 사건의 평균도 300ms라면 3점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계산 예시는 실측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500ms는 전달 예산 제안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500~200ms는 100ms 간격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200ms 이하는 50ms 간격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근거: 요약과 음성 생성 및 출력의 설계 예산 제안. 실제 소리 관측과 software proxy는 구별한다.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**발표자 노트:** 첫 음성 데이터 준비와 실제 장치 출력은 다르다. WASAPI loopback만 관측하면 software proxy이고 실제 audible endpoint에는 보정한 acoustic 또는 analog 관측이 필요하다. 재생 가능한 누적 5초까지 필수 음성이 없으면 해당 지연을 `+∞`로 기록하고 전체 QA09를 0점으로 판정한다. 실패를 분모에서 빼거나 빠른 사례와 평균내 숨기지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**자료:** [재생 가능 시간의 정의와 점수 및 실제 출력 관측](https://github.com/cbyche/via-sw-architecture/blob/main/docs/architecture/12-decisions/decision-packages/qa-candidate-package/qa09-audio-delivery-lag.md). 음성 전달 예산의 외부 수치 보강은 이번 핵심 여섯 QA 조사 범위에 포함되지 않았다.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 설명:** **현재 DP의 양안은 같은 음성 출력 경계를 사용할 수 있으므로 필수 검증으로 유지하고 차이 축을 억지로 만들지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정의: https://github.com/cbyche/via-sw-architecture/blob/main/docs/architecture/12-decisions/decision-packages/qa-candidate-package/qa09-audio-delivery-lag.md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출처: [QA09 실제 출력 경계와 설계 예산](https://github.com/cbyche/via-sw-architecture/blob/main/docs/architecture/12-decisions/decision-packages/qa-candidate-package/qa09-audio-delivery-lag.md). 자료 확인일 2026-10-14.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원문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https://learn.microsoft.com/en-us/windows-hardware/drivers/audio/low-latency-audio</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https://learn.microsoft.com/en-us/windows/win32/coreaudio/loopback-recording</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slideLayouts/V2Clone_initial01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Clone_initial02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Clone_initial03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Clone_initial04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Clone_initial06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Clone_initial07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Native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3Background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_rels/V2Clone_initial01_slideLayout1.xml.rels><?xml version='1.0' encoding='utf-8'?>
<Relationships xmlns="http://schemas.openxmlformats.org/package/2006/relationships"><Relationship Type="http://schemas.openxmlformats.org/officeDocument/2006/relationships/slideMaster" Target="/ppt/slideMasters/V2Clone_initial01_slideMaster1.xml" Id="R7c330a515c6646fd" /></Relationships>
</file>

<file path=ppt/slideLayouts/_rels/V2Clone_initial02_slideLayout1.xml.rels><?xml version='1.0' encoding='utf-8'?>
<Relationships xmlns="http://schemas.openxmlformats.org/package/2006/relationships"><Relationship Type="http://schemas.openxmlformats.org/officeDocument/2006/relationships/slideMaster" Target="/ppt/slideMasters/V2Clone_initial02_slideMaster1.xml" Id="R2b13747055da46e6" /></Relationships>
</file>

<file path=ppt/slideLayouts/_rels/V2Clone_initial03_slideLayout1.xml.rels><?xml version='1.0' encoding='utf-8'?>
<Relationships xmlns="http://schemas.openxmlformats.org/package/2006/relationships"><Relationship Type="http://schemas.openxmlformats.org/officeDocument/2006/relationships/slideMaster" Target="/ppt/slideMasters/V2Clone_initial03_slideMaster1.xml" Id="R8512ea0de36046cd" /></Relationships>
</file>

<file path=ppt/slideLayouts/_rels/V2Clone_initial04_slideLayout1.xml.rels><?xml version='1.0' encoding='utf-8'?>
<Relationships xmlns="http://schemas.openxmlformats.org/package/2006/relationships"><Relationship Type="http://schemas.openxmlformats.org/officeDocument/2006/relationships/slideMaster" Target="/ppt/slideMasters/V2Clone_initial04_slideMaster1.xml" Id="R9946d4d6106041c7" /></Relationships>
</file>

<file path=ppt/slideLayouts/_rels/V2Clone_initial06_slideLayout1.xml.rels><?xml version='1.0' encoding='utf-8'?>
<Relationships xmlns="http://schemas.openxmlformats.org/package/2006/relationships"><Relationship Type="http://schemas.openxmlformats.org/officeDocument/2006/relationships/slideMaster" Target="/ppt/slideMasters/V2Clone_initial06_slideMaster1.xml" Id="Rb06a3028b24f458a" /></Relationships>
</file>

<file path=ppt/slideLayouts/_rels/V2Clone_initial07_slideLayout1.xml.rels><?xml version='1.0' encoding='utf-8'?>
<Relationships xmlns="http://schemas.openxmlformats.org/package/2006/relationships"><Relationship Type="http://schemas.openxmlformats.org/officeDocument/2006/relationships/slideMaster" Target="/ppt/slideMasters/V2Clone_initial07_slideMaster1.xml" Id="R60f07e463daf47c5" /></Relationships>
</file>

<file path=ppt/slideLayouts/_rels/V2Native_slideLayout1.xml.rels><?xml version='1.0' encoding='utf-8'?>
<Relationships xmlns="http://schemas.openxmlformats.org/package/2006/relationships"><Relationship Type="http://schemas.openxmlformats.org/officeDocument/2006/relationships/slideMaster" Target="/ppt/slideMasters/V2Native_slideMaster1.xml" Id="Rca441595d45945ab" /></Relationships>
</file>

<file path=ppt/slideLayouts/_rels/V3Background_slideLayout1.xml.rels><?xml version='1.0' encoding='utf-8'?>
<Relationships xmlns="http://schemas.openxmlformats.org/package/2006/relationships"><Relationship Type="http://schemas.openxmlformats.org/officeDocument/2006/relationships/slideMaster" Target="/ppt/slideMasters/V3Background_slideMaster1.xml" Id="Rb5493df7cbeb464a" /></Relationships>
</file>

<file path=ppt/slideLayouts/_rels/initial01_slideLayout1.xml.rels><?xml version='1.0' encoding='utf-8'?>
<Relationships xmlns="http://schemas.openxmlformats.org/package/2006/relationships"><Relationship Type="http://schemas.openxmlformats.org/officeDocument/2006/relationships/slideMaster" Target="/ppt/slideMasters/initial01_slideMaster1.xml" Id="R7c330a515c6646fd" /></Relationships>
</file>

<file path=ppt/slideLayouts/_rels/initial02_slideLayout1.xml.rels><?xml version='1.0' encoding='utf-8'?>
<Relationships xmlns="http://schemas.openxmlformats.org/package/2006/relationships"><Relationship Type="http://schemas.openxmlformats.org/officeDocument/2006/relationships/slideMaster" Target="/ppt/slideMasters/initial02_slideMaster1.xml" Id="R2b13747055da46e6" /></Relationships>
</file>

<file path=ppt/slideLayouts/_rels/initial03_slideLayout1.xml.rels><?xml version='1.0' encoding='utf-8'?>
<Relationships xmlns="http://schemas.openxmlformats.org/package/2006/relationships"><Relationship Type="http://schemas.openxmlformats.org/officeDocument/2006/relationships/slideMaster" Target="/ppt/slideMasters/initial03_slideMaster1.xml" Id="R8512ea0de36046cd" /></Relationships>
</file>

<file path=ppt/slideLayouts/_rels/initial04_slideLayout1.xml.rels><?xml version='1.0' encoding='utf-8'?>
<Relationships xmlns="http://schemas.openxmlformats.org/package/2006/relationships"><Relationship Type="http://schemas.openxmlformats.org/officeDocument/2006/relationships/slideMaster" Target="/ppt/slideMasters/initial04_slideMaster1.xml" Id="R9946d4d6106041c7" /></Relationships>
</file>

<file path=ppt/slideLayouts/_rels/initial05_slideLayout1.xml.rels><?xml version='1.0' encoding='utf-8'?>
<Relationships xmlns="http://schemas.openxmlformats.org/package/2006/relationships"><Relationship Type="http://schemas.openxmlformats.org/officeDocument/2006/relationships/slideMaster" Target="/ppt/slideMasters/initial05_slideMaster1.xml" Id="R5f2b456172734a7e" /></Relationships>
</file>

<file path=ppt/slideLayouts/_rels/initial06_slideLayout1.xml.rels><?xml version='1.0' encoding='utf-8'?>
<Relationships xmlns="http://schemas.openxmlformats.org/package/2006/relationships"><Relationship Type="http://schemas.openxmlformats.org/officeDocument/2006/relationships/slideMaster" Target="/ppt/slideMasters/initial06_slideMaster1.xml" Id="Rb06a3028b24f458a" /></Relationships>
</file>

<file path=ppt/slideLayouts/_rels/initial07_slideLayout1.xml.rels><?xml version='1.0' encoding='utf-8'?>
<Relationships xmlns="http://schemas.openxmlformats.org/package/2006/relationships"><Relationship Type="http://schemas.openxmlformats.org/officeDocument/2006/relationships/slideMaster" Target="/ppt/slideMasters/initial07_slideMaster1.xml" Id="R60f07e463daf47c5" /></Relationships>
</file>

<file path=ppt/slideLayouts/initial01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2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3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4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5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6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7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Masters/V2Clone_initial01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7bb00c503edd4a1a"/>
  </p:sldLayoutIdLst>
  <p:txStyles>
    <p:titleStyle>
      <a:lvl1pPr algn="l">
        <a:lnSpc>
          <a:spcPct val="90000"/>
        </a:lnSpc>
        <a:spcBef>
          <a:spcPts val="0"/>
        </a:spcBef>
        <a:buNone/>
        <a:defRPr sz="6600" lang="ko-KR">
          <a:solidFill>
            <a:srgbClr val="000000"/>
          </a:solidFill>
          <a:latin typeface="Calibri"/>
          <a:ea typeface="Calibri"/>
          <a:cs typeface="Calibri"/>
        </a:defRPr>
      </a:lvl1pPr>
    </p:titleStyle>
    <p:bodyStyle>
      <a:lvl1pPr marL="342900" indent="-342900" algn="l">
        <a:lnSpc>
          <a:spcPct val="90000"/>
        </a:lnSpc>
        <a:spcBef>
          <a:spcPts val="1500"/>
        </a:spcBef>
        <a:buChar char="•"/>
        <a:defRPr sz="4200" lang="ko-KR">
          <a:solidFill>
            <a:srgbClr val="000000"/>
          </a:solidFill>
          <a:latin typeface="Calibri"/>
          <a:ea typeface="Calibri"/>
          <a:cs typeface="Calibri"/>
        </a:defRPr>
      </a:lvl1pPr>
      <a:lvl2pPr marL="1028700" indent="-342900" algn="l">
        <a:lnSpc>
          <a:spcPct val="90000"/>
        </a:lnSpc>
        <a:spcBef>
          <a:spcPts val="750"/>
        </a:spcBef>
        <a:buChar char="•"/>
        <a:defRPr sz="3600" lang="ko-KR">
          <a:solidFill>
            <a:srgbClr val="000000"/>
          </a:solidFill>
          <a:latin typeface="Calibri"/>
          <a:ea typeface="Calibri"/>
          <a:cs typeface="Calibri"/>
        </a:defRPr>
      </a:lvl2pPr>
      <a:lvl3pPr marL="1714500" indent="-342900" algn="l">
        <a:lnSpc>
          <a:spcPct val="90000"/>
        </a:lnSpc>
        <a:spcBef>
          <a:spcPts val="750"/>
        </a:spcBef>
        <a:buChar char="•"/>
        <a:defRPr sz="3000" lang="ko-KR">
          <a:solidFill>
            <a:srgbClr val="000000"/>
          </a:solidFill>
          <a:latin typeface="Calibri"/>
          <a:ea typeface="Calibri"/>
          <a:cs typeface="Calibri"/>
        </a:defRPr>
      </a:lvl3pPr>
      <a:lvl4pPr marL="2400300" indent="-342900" algn="l">
        <a:lnSpc>
          <a:spcPct val="90000"/>
        </a:lnSpc>
        <a:spcBef>
          <a:spcPts val="750"/>
        </a:spcBef>
        <a:buChar char="•"/>
        <a:defRPr sz="2700" lang="ko-KR">
          <a:solidFill>
            <a:srgbClr val="000000"/>
          </a:solidFill>
          <a:latin typeface="Calibri"/>
          <a:ea typeface="Calibri"/>
          <a:cs typeface="Calibri"/>
        </a:defRPr>
      </a:lvl4pPr>
      <a:lvl5pPr marL="3086100" indent="-342900" algn="l">
        <a:lnSpc>
          <a:spcPct val="90000"/>
        </a:lnSpc>
        <a:spcBef>
          <a:spcPts val="750"/>
        </a:spcBef>
        <a:buChar char="•"/>
        <a:defRPr sz="2700" lang="ko-KR">
          <a:solidFill>
            <a:srgbClr val="000000"/>
          </a:solidFill>
          <a:latin typeface="Calibri"/>
          <a:ea typeface="Calibri"/>
          <a:cs typeface="Calibri"/>
        </a:defRPr>
      </a:lvl5pPr>
      <a:lvl6pPr marL="3771900" indent="-342900" algn="l">
        <a:lnSpc>
          <a:spcPct val="90000"/>
        </a:lnSpc>
        <a:spcBef>
          <a:spcPts val="750"/>
        </a:spcBef>
        <a:buChar char="•"/>
        <a:defRPr sz="2700" lang="ko-KR">
          <a:solidFill>
            <a:srgbClr val="000000"/>
          </a:solidFill>
          <a:latin typeface="Calibri"/>
          <a:ea typeface="Calibri"/>
          <a:cs typeface="Calibri"/>
        </a:defRPr>
      </a:lvl6pPr>
      <a:lvl7pPr marL="4457700" indent="-342900" algn="l">
        <a:lnSpc>
          <a:spcPct val="90000"/>
        </a:lnSpc>
        <a:spcBef>
          <a:spcPts val="750"/>
        </a:spcBef>
        <a:buChar char="•"/>
        <a:defRPr sz="2700" lang="ko-KR">
          <a:solidFill>
            <a:srgbClr val="000000"/>
          </a:solidFill>
          <a:latin typeface="Calibri"/>
          <a:ea typeface="Calibri"/>
          <a:cs typeface="Calibri"/>
        </a:defRPr>
      </a:lvl7pPr>
      <a:lvl8pPr marL="5143500" indent="-342900" algn="l">
        <a:lnSpc>
          <a:spcPct val="90000"/>
        </a:lnSpc>
        <a:spcBef>
          <a:spcPts val="750"/>
        </a:spcBef>
        <a:buChar char="•"/>
        <a:defRPr sz="2700" lang="ko-KR">
          <a:solidFill>
            <a:srgbClr val="000000"/>
          </a:solidFill>
          <a:latin typeface="Calibri"/>
          <a:ea typeface="Calibri"/>
          <a:cs typeface="Calibri"/>
        </a:defRPr>
      </a:lvl8pPr>
      <a:lvl9pPr marL="5829300" indent="-342900" algn="l">
        <a:lnSpc>
          <a:spcPct val="90000"/>
        </a:lnSpc>
        <a:spcBef>
          <a:spcPts val="750"/>
        </a:spcBef>
        <a:buChar char="•"/>
        <a:defRPr sz="2700" lang="ko-KR">
          <a:solidFill>
            <a:srgbClr val="000000"/>
          </a:solidFill>
          <a:latin typeface="Calibri"/>
          <a:ea typeface="Calibri"/>
          <a:cs typeface="Calibri"/>
        </a:defRPr>
      </a:lvl9pPr>
    </p:bodyStyle>
    <p:otherStyle>
      <a:lvl1pPr marL="0" algn="l">
        <a:buNone/>
        <a:defRPr sz="2700" lang="ko-KR">
          <a:solidFill>
            <a:srgbClr val="000000"/>
          </a:solidFill>
          <a:latin typeface="Calibri"/>
          <a:ea typeface="Calibri"/>
          <a:cs typeface="Calibri"/>
        </a:defRPr>
      </a:lvl1pPr>
      <a:lvl2pPr marL="685800" algn="l">
        <a:buNone/>
        <a:defRPr sz="2700" lang="ko-KR">
          <a:solidFill>
            <a:srgbClr val="000000"/>
          </a:solidFill>
          <a:latin typeface="Calibri"/>
          <a:ea typeface="Calibri"/>
          <a:cs typeface="Calibri"/>
        </a:defRPr>
      </a:lvl2pPr>
      <a:lvl3pPr marL="1371600" algn="l">
        <a:buNone/>
        <a:defRPr sz="2700" lang="ko-KR">
          <a:solidFill>
            <a:srgbClr val="000000"/>
          </a:solidFill>
          <a:latin typeface="Calibri"/>
          <a:ea typeface="Calibri"/>
          <a:cs typeface="Calibri"/>
        </a:defRPr>
      </a:lvl3pPr>
      <a:lvl4pPr marL="2057400" algn="l">
        <a:buNone/>
        <a:defRPr sz="2700" lang="ko-KR">
          <a:solidFill>
            <a:srgbClr val="000000"/>
          </a:solidFill>
          <a:latin typeface="Calibri"/>
          <a:ea typeface="Calibri"/>
          <a:cs typeface="Calibri"/>
        </a:defRPr>
      </a:lvl4pPr>
      <a:lvl5pPr marL="2743200" algn="l">
        <a:buNone/>
        <a:defRPr sz="2700" lang="ko-KR">
          <a:solidFill>
            <a:srgbClr val="000000"/>
          </a:solidFill>
          <a:latin typeface="Calibri"/>
          <a:ea typeface="Calibri"/>
          <a:cs typeface="Calibri"/>
        </a:defRPr>
      </a:lvl5pPr>
      <a:lvl6pPr marL="3429000" algn="l">
        <a:buNone/>
        <a:defRPr sz="2700" lang="ko-KR">
          <a:solidFill>
            <a:srgbClr val="000000"/>
          </a:solidFill>
          <a:latin typeface="Calibri"/>
          <a:ea typeface="Calibri"/>
          <a:cs typeface="Calibri"/>
        </a:defRPr>
      </a:lvl6pPr>
      <a:lvl7pPr marL="4114800" algn="l">
        <a:buNone/>
        <a:defRPr sz="2700" lang="ko-KR">
          <a:solidFill>
            <a:srgbClr val="000000"/>
          </a:solidFill>
          <a:latin typeface="Calibri"/>
          <a:ea typeface="Calibri"/>
          <a:cs typeface="Calibri"/>
        </a:defRPr>
      </a:lvl7pPr>
      <a:lvl8pPr marL="4800600" algn="l">
        <a:buNone/>
        <a:defRPr sz="2700" lang="ko-KR">
          <a:solidFill>
            <a:srgbClr val="000000"/>
          </a:solidFill>
          <a:latin typeface="Calibri"/>
          <a:ea typeface="Calibri"/>
          <a:cs typeface="Calibri"/>
        </a:defRPr>
      </a:lvl8pPr>
      <a:lvl9pPr marL="5486400" algn="l">
        <a:buNone/>
        <a:defRPr sz="2700" lang="ko-KR">
          <a:solidFill>
            <a:srgbClr val="000000"/>
          </a:solidFill>
          <a:latin typeface="Calibri"/>
          <a:ea typeface="Calibri"/>
          <a:cs typeface="Calibri"/>
        </a:defRPr>
      </a:lvl9pPr>
    </p:otherStyle>
  </p:txStyles>
</p:sldMaster>
</file>

<file path=ppt/slideMasters/V2Clone_initial02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791a9a63be60469d"/>
  </p:sldLayoutIdLst>
  <p:txStyles>
    <p:titleStyle>
      <a:lvl1pPr algn="l">
        <a:lnSpc>
          <a:spcPct val="90000"/>
        </a:lnSpc>
        <a:spcBef>
          <a:spcPts val="0"/>
        </a:spcBef>
        <a:buNone/>
        <a:defRPr sz="6600" lang="ko-KR">
          <a:solidFill>
            <a:srgbClr val="000000"/>
          </a:solidFill>
          <a:latin typeface="Calibri"/>
          <a:ea typeface="Calibri"/>
          <a:cs typeface="Calibri"/>
        </a:defRPr>
      </a:lvl1pPr>
    </p:titleStyle>
    <p:bodyStyle>
      <a:lvl1pPr marL="342900" indent="-342900" algn="l">
        <a:lnSpc>
          <a:spcPct val="90000"/>
        </a:lnSpc>
        <a:spcBef>
          <a:spcPts val="1500"/>
        </a:spcBef>
        <a:buChar char="•"/>
        <a:defRPr sz="4200" lang="ko-KR">
          <a:solidFill>
            <a:srgbClr val="000000"/>
          </a:solidFill>
          <a:latin typeface="Calibri"/>
          <a:ea typeface="Calibri"/>
          <a:cs typeface="Calibri"/>
        </a:defRPr>
      </a:lvl1pPr>
      <a:lvl2pPr marL="1028700" indent="-342900" algn="l">
        <a:lnSpc>
          <a:spcPct val="90000"/>
        </a:lnSpc>
        <a:spcBef>
          <a:spcPts val="750"/>
        </a:spcBef>
        <a:buChar char="•"/>
        <a:defRPr sz="3600" lang="ko-KR">
          <a:solidFill>
            <a:srgbClr val="000000"/>
          </a:solidFill>
          <a:latin typeface="Calibri"/>
          <a:ea typeface="Calibri"/>
          <a:cs typeface="Calibri"/>
        </a:defRPr>
      </a:lvl2pPr>
      <a:lvl3pPr marL="1714500" indent="-342900" algn="l">
        <a:lnSpc>
          <a:spcPct val="90000"/>
        </a:lnSpc>
        <a:spcBef>
          <a:spcPts val="750"/>
        </a:spcBef>
        <a:buChar char="•"/>
        <a:defRPr sz="3000" lang="ko-KR">
          <a:solidFill>
            <a:srgbClr val="000000"/>
          </a:solidFill>
          <a:latin typeface="Calibri"/>
          <a:ea typeface="Calibri"/>
          <a:cs typeface="Calibri"/>
        </a:defRPr>
      </a:lvl3pPr>
      <a:lvl4pPr marL="2400300" indent="-342900" algn="l">
        <a:lnSpc>
          <a:spcPct val="90000"/>
        </a:lnSpc>
        <a:spcBef>
          <a:spcPts val="750"/>
        </a:spcBef>
        <a:buChar char="•"/>
        <a:defRPr sz="2700" lang="ko-KR">
          <a:solidFill>
            <a:srgbClr val="000000"/>
          </a:solidFill>
          <a:latin typeface="Calibri"/>
          <a:ea typeface="Calibri"/>
          <a:cs typeface="Calibri"/>
        </a:defRPr>
      </a:lvl4pPr>
      <a:lvl5pPr marL="3086100" indent="-342900" algn="l">
        <a:lnSpc>
          <a:spcPct val="90000"/>
        </a:lnSpc>
        <a:spcBef>
          <a:spcPts val="750"/>
        </a:spcBef>
        <a:buChar char="•"/>
        <a:defRPr sz="2700" lang="ko-KR">
          <a:solidFill>
            <a:srgbClr val="000000"/>
          </a:solidFill>
          <a:latin typeface="Calibri"/>
          <a:ea typeface="Calibri"/>
          <a:cs typeface="Calibri"/>
        </a:defRPr>
      </a:lvl5pPr>
      <a:lvl6pPr marL="3771900" indent="-342900" algn="l">
        <a:lnSpc>
          <a:spcPct val="90000"/>
        </a:lnSpc>
        <a:spcBef>
          <a:spcPts val="750"/>
        </a:spcBef>
        <a:buChar char="•"/>
        <a:defRPr sz="2700" lang="ko-KR">
          <a:solidFill>
            <a:srgbClr val="000000"/>
          </a:solidFill>
          <a:latin typeface="Calibri"/>
          <a:ea typeface="Calibri"/>
          <a:cs typeface="Calibri"/>
        </a:defRPr>
      </a:lvl6pPr>
      <a:lvl7pPr marL="4457700" indent="-342900" algn="l">
        <a:lnSpc>
          <a:spcPct val="90000"/>
        </a:lnSpc>
        <a:spcBef>
          <a:spcPts val="750"/>
        </a:spcBef>
        <a:buChar char="•"/>
        <a:defRPr sz="2700" lang="ko-KR">
          <a:solidFill>
            <a:srgbClr val="000000"/>
          </a:solidFill>
          <a:latin typeface="Calibri"/>
          <a:ea typeface="Calibri"/>
          <a:cs typeface="Calibri"/>
        </a:defRPr>
      </a:lvl7pPr>
      <a:lvl8pPr marL="5143500" indent="-342900" algn="l">
        <a:lnSpc>
          <a:spcPct val="90000"/>
        </a:lnSpc>
        <a:spcBef>
          <a:spcPts val="750"/>
        </a:spcBef>
        <a:buChar char="•"/>
        <a:defRPr sz="2700" lang="ko-KR">
          <a:solidFill>
            <a:srgbClr val="000000"/>
          </a:solidFill>
          <a:latin typeface="Calibri"/>
          <a:ea typeface="Calibri"/>
          <a:cs typeface="Calibri"/>
        </a:defRPr>
      </a:lvl8pPr>
      <a:lvl9pPr marL="5829300" indent="-342900" algn="l">
        <a:lnSpc>
          <a:spcPct val="90000"/>
        </a:lnSpc>
        <a:spcBef>
          <a:spcPts val="750"/>
        </a:spcBef>
        <a:buChar char="•"/>
        <a:defRPr sz="2700" lang="ko-KR">
          <a:solidFill>
            <a:srgbClr val="000000"/>
          </a:solidFill>
          <a:latin typeface="Calibri"/>
          <a:ea typeface="Calibri"/>
          <a:cs typeface="Calibri"/>
        </a:defRPr>
      </a:lvl9pPr>
    </p:bodyStyle>
    <p:otherStyle>
      <a:lvl1pPr marL="0" algn="l">
        <a:buNone/>
        <a:defRPr sz="2700" lang="ko-KR">
          <a:solidFill>
            <a:srgbClr val="000000"/>
          </a:solidFill>
          <a:latin typeface="Calibri"/>
          <a:ea typeface="Calibri"/>
          <a:cs typeface="Calibri"/>
        </a:defRPr>
      </a:lvl1pPr>
      <a:lvl2pPr marL="685800" algn="l">
        <a:buNone/>
        <a:defRPr sz="2700" lang="ko-KR">
          <a:solidFill>
            <a:srgbClr val="000000"/>
          </a:solidFill>
          <a:latin typeface="Calibri"/>
          <a:ea typeface="Calibri"/>
          <a:cs typeface="Calibri"/>
        </a:defRPr>
      </a:lvl2pPr>
      <a:lvl3pPr marL="1371600" algn="l">
        <a:buNone/>
        <a:defRPr sz="2700" lang="ko-KR">
          <a:solidFill>
            <a:srgbClr val="000000"/>
          </a:solidFill>
          <a:latin typeface="Calibri"/>
          <a:ea typeface="Calibri"/>
          <a:cs typeface="Calibri"/>
        </a:defRPr>
      </a:lvl3pPr>
      <a:lvl4pPr marL="2057400" algn="l">
        <a:buNone/>
        <a:defRPr sz="2700" lang="ko-KR">
          <a:solidFill>
            <a:srgbClr val="000000"/>
          </a:solidFill>
          <a:latin typeface="Calibri"/>
          <a:ea typeface="Calibri"/>
          <a:cs typeface="Calibri"/>
        </a:defRPr>
      </a:lvl4pPr>
      <a:lvl5pPr marL="2743200" algn="l">
        <a:buNone/>
        <a:defRPr sz="2700" lang="ko-KR">
          <a:solidFill>
            <a:srgbClr val="000000"/>
          </a:solidFill>
          <a:latin typeface="Calibri"/>
          <a:ea typeface="Calibri"/>
          <a:cs typeface="Calibri"/>
        </a:defRPr>
      </a:lvl5pPr>
      <a:lvl6pPr marL="3429000" algn="l">
        <a:buNone/>
        <a:defRPr sz="2700" lang="ko-KR">
          <a:solidFill>
            <a:srgbClr val="000000"/>
          </a:solidFill>
          <a:latin typeface="Calibri"/>
          <a:ea typeface="Calibri"/>
          <a:cs typeface="Calibri"/>
        </a:defRPr>
      </a:lvl6pPr>
      <a:lvl7pPr marL="4114800" algn="l">
        <a:buNone/>
        <a:defRPr sz="2700" lang="ko-KR">
          <a:solidFill>
            <a:srgbClr val="000000"/>
          </a:solidFill>
          <a:latin typeface="Calibri"/>
          <a:ea typeface="Calibri"/>
          <a:cs typeface="Calibri"/>
        </a:defRPr>
      </a:lvl7pPr>
      <a:lvl8pPr marL="4800600" algn="l">
        <a:buNone/>
        <a:defRPr sz="2700" lang="ko-KR">
          <a:solidFill>
            <a:srgbClr val="000000"/>
          </a:solidFill>
          <a:latin typeface="Calibri"/>
          <a:ea typeface="Calibri"/>
          <a:cs typeface="Calibri"/>
        </a:defRPr>
      </a:lvl8pPr>
      <a:lvl9pPr marL="5486400" algn="l">
        <a:buNone/>
        <a:defRPr sz="2700" lang="ko-KR">
          <a:solidFill>
            <a:srgbClr val="000000"/>
          </a:solidFill>
          <a:latin typeface="Calibri"/>
          <a:ea typeface="Calibri"/>
          <a:cs typeface="Calibri"/>
        </a:defRPr>
      </a:lvl9pPr>
    </p:otherStyle>
  </p:txStyles>
</p:sldMaster>
</file>

<file path=ppt/slideMasters/V2Clone_initial03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0cce4c37d09c4e32"/>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V2Clone_initial04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20d68b1743b848c6"/>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V2Clone_initial06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4e847fe89cb840f6"/>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V2Clone_initial07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663e5bb2ae2c4856"/>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V2Native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a57349d498f64ab8"/>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V3Background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ec20388dacb748c0"/>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_rels/V2Clone_initial01_slideMaster1.xml.rels><?xml version='1.0' encoding='utf-8'?>
<Relationships xmlns="http://schemas.openxmlformats.org/package/2006/relationships"><Relationship Type="http://schemas.openxmlformats.org/officeDocument/2006/relationships/theme" Target="/ppt/slideMasters/theme/V2Clone_initial01_theme2.xml" Id="R40a1210cbd774ebb" /><Relationship Type="http://schemas.openxmlformats.org/officeDocument/2006/relationships/slideLayout" Target="/ppt/slideLayouts/V2Clone_initial01_slideLayout1.xml" Id="R7bb00c503edd4a1a" /></Relationships>
</file>

<file path=ppt/slideMasters/_rels/V2Clone_initial02_slideMaster1.xml.rels><?xml version='1.0' encoding='utf-8'?>
<Relationships xmlns="http://schemas.openxmlformats.org/package/2006/relationships"><Relationship Type="http://schemas.openxmlformats.org/officeDocument/2006/relationships/theme" Target="/ppt/slideMasters/theme/V2Clone_initial02_theme2.xml" Id="Rece829bda44f467e" /><Relationship Type="http://schemas.openxmlformats.org/officeDocument/2006/relationships/slideLayout" Target="/ppt/slideLayouts/V2Clone_initial02_slideLayout1.xml" Id="R791a9a63be60469d" /></Relationships>
</file>

<file path=ppt/slideMasters/_rels/V2Clone_initial03_slideMaster1.xml.rels><?xml version='1.0' encoding='utf-8'?>
<Relationships xmlns="http://schemas.openxmlformats.org/package/2006/relationships"><Relationship Type="http://schemas.openxmlformats.org/officeDocument/2006/relationships/theme" Target="/ppt/slideMasters/theme/V2Clone_initial03_theme2.xml" Id="Rba453d37e7d8423c" /><Relationship Type="http://schemas.openxmlformats.org/officeDocument/2006/relationships/slideLayout" Target="/ppt/slideLayouts/V2Clone_initial03_slideLayout1.xml" Id="R0cce4c37d09c4e32" /></Relationships>
</file>

<file path=ppt/slideMasters/_rels/V2Clone_initial04_slideMaster1.xml.rels><?xml version='1.0' encoding='utf-8'?>
<Relationships xmlns="http://schemas.openxmlformats.org/package/2006/relationships"><Relationship Type="http://schemas.openxmlformats.org/officeDocument/2006/relationships/theme" Target="/ppt/slideMasters/theme/V2Clone_initial04_theme2.xml" Id="R40dbccbf082240e3" /><Relationship Type="http://schemas.openxmlformats.org/officeDocument/2006/relationships/slideLayout" Target="/ppt/slideLayouts/V2Clone_initial04_slideLayout1.xml" Id="R20d68b1743b848c6" /></Relationships>
</file>

<file path=ppt/slideMasters/_rels/V2Clone_initial06_slideMaster1.xml.rels><?xml version='1.0' encoding='utf-8'?>
<Relationships xmlns="http://schemas.openxmlformats.org/package/2006/relationships"><Relationship Type="http://schemas.openxmlformats.org/officeDocument/2006/relationships/theme" Target="/ppt/slideMasters/theme/V2Clone_initial06_theme2.xml" Id="R877c5e2df2b94e66" /><Relationship Type="http://schemas.openxmlformats.org/officeDocument/2006/relationships/slideLayout" Target="/ppt/slideLayouts/V2Clone_initial06_slideLayout1.xml" Id="R4e847fe89cb840f6" /></Relationships>
</file>

<file path=ppt/slideMasters/_rels/V2Clone_initial07_slideMaster1.xml.rels><?xml version='1.0' encoding='utf-8'?>
<Relationships xmlns="http://schemas.openxmlformats.org/package/2006/relationships"><Relationship Type="http://schemas.openxmlformats.org/officeDocument/2006/relationships/theme" Target="/ppt/slideMasters/theme/V2Clone_initial07_theme2.xml" Id="Rb786413db9a24cbc" /><Relationship Type="http://schemas.openxmlformats.org/officeDocument/2006/relationships/slideLayout" Target="/ppt/slideLayouts/V2Clone_initial07_slideLayout1.xml" Id="R663e5bb2ae2c4856" /></Relationships>
</file>

<file path=ppt/slideMasters/_rels/V2Native_slideMaster1.xml.rels><?xml version='1.0' encoding='utf-8'?>
<Relationships xmlns="http://schemas.openxmlformats.org/package/2006/relationships"><Relationship Type="http://schemas.openxmlformats.org/officeDocument/2006/relationships/theme" Target="/ppt/slideMasters/theme/V2Native_theme2.xml" Id="R910bdccab4c74909" /><Relationship Type="http://schemas.openxmlformats.org/officeDocument/2006/relationships/slideLayout" Target="/ppt/slideLayouts/V2Native_slideLayout1.xml" Id="Ra57349d498f64ab8" /></Relationships>
</file>

<file path=ppt/slideMasters/_rels/V3Background_slideMaster1.xml.rels><?xml version='1.0' encoding='utf-8'?>
<Relationships xmlns="http://schemas.openxmlformats.org/package/2006/relationships"><Relationship Type="http://schemas.openxmlformats.org/officeDocument/2006/relationships/theme" Target="/ppt/slideMasters/theme/V3Background_theme2.xml" Id="R4201d011ac344b33" /><Relationship Type="http://schemas.openxmlformats.org/officeDocument/2006/relationships/slideLayout" Target="/ppt/slideLayouts/V3Background_slideLayout1.xml" Id="Rec20388dacb748c0" /></Relationships>
</file>

<file path=ppt/slideMasters/_rels/initial01_slideMaster1.xml.rels><?xml version='1.0' encoding='utf-8'?>
<Relationships xmlns="http://schemas.openxmlformats.org/package/2006/relationships"><Relationship Type="http://schemas.openxmlformats.org/officeDocument/2006/relationships/theme" Target="/ppt/slideMasters/theme/initial01_theme2.xml" Id="R40a1210cbd774ebb" /><Relationship Type="http://schemas.openxmlformats.org/officeDocument/2006/relationships/slideLayout" Target="/ppt/slideLayouts/initial01_slideLayout1.xml" Id="R7bb00c503edd4a1a" /></Relationships>
</file>

<file path=ppt/slideMasters/_rels/initial02_slideMaster1.xml.rels><?xml version='1.0' encoding='utf-8'?>
<Relationships xmlns="http://schemas.openxmlformats.org/package/2006/relationships"><Relationship Type="http://schemas.openxmlformats.org/officeDocument/2006/relationships/theme" Target="/ppt/slideMasters/theme/initial02_theme2.xml" Id="Rece829bda44f467e" /><Relationship Type="http://schemas.openxmlformats.org/officeDocument/2006/relationships/slideLayout" Target="/ppt/slideLayouts/initial02_slideLayout1.xml" Id="R791a9a63be60469d" /></Relationships>
</file>

<file path=ppt/slideMasters/_rels/initial03_slideMaster1.xml.rels><?xml version='1.0' encoding='utf-8'?>
<Relationships xmlns="http://schemas.openxmlformats.org/package/2006/relationships"><Relationship Type="http://schemas.openxmlformats.org/officeDocument/2006/relationships/theme" Target="/ppt/slideMasters/theme/initial03_theme2.xml" Id="Rba453d37e7d8423c" /><Relationship Type="http://schemas.openxmlformats.org/officeDocument/2006/relationships/slideLayout" Target="/ppt/slideLayouts/initial03_slideLayout1.xml" Id="R0cce4c37d09c4e32" /></Relationships>
</file>

<file path=ppt/slideMasters/_rels/initial04_slideMaster1.xml.rels><?xml version='1.0' encoding='utf-8'?>
<Relationships xmlns="http://schemas.openxmlformats.org/package/2006/relationships"><Relationship Type="http://schemas.openxmlformats.org/officeDocument/2006/relationships/theme" Target="/ppt/slideMasters/theme/initial04_theme2.xml" Id="R40dbccbf082240e3" /><Relationship Type="http://schemas.openxmlformats.org/officeDocument/2006/relationships/slideLayout" Target="/ppt/slideLayouts/initial04_slideLayout1.xml" Id="R20d68b1743b848c6" /></Relationships>
</file>

<file path=ppt/slideMasters/_rels/initial05_slideMaster1.xml.rels><?xml version='1.0' encoding='utf-8'?>
<Relationships xmlns="http://schemas.openxmlformats.org/package/2006/relationships"><Relationship Type="http://schemas.openxmlformats.org/officeDocument/2006/relationships/theme" Target="/ppt/slideMasters/theme/initial05_theme2.xml" Id="Ra65a0265d7a041e6" /><Relationship Type="http://schemas.openxmlformats.org/officeDocument/2006/relationships/slideLayout" Target="/ppt/slideLayouts/initial05_slideLayout1.xml" Id="Rce0be6436b114e2a" /></Relationships>
</file>

<file path=ppt/slideMasters/_rels/initial06_slideMaster1.xml.rels><?xml version='1.0' encoding='utf-8'?>
<Relationships xmlns="http://schemas.openxmlformats.org/package/2006/relationships"><Relationship Type="http://schemas.openxmlformats.org/officeDocument/2006/relationships/theme" Target="/ppt/slideMasters/theme/initial06_theme2.xml" Id="R877c5e2df2b94e66" /><Relationship Type="http://schemas.openxmlformats.org/officeDocument/2006/relationships/slideLayout" Target="/ppt/slideLayouts/initial06_slideLayout1.xml" Id="R4e847fe89cb840f6" /></Relationships>
</file>

<file path=ppt/slideMasters/_rels/initial07_slideMaster1.xml.rels><?xml version='1.0' encoding='utf-8'?>
<Relationships xmlns="http://schemas.openxmlformats.org/package/2006/relationships"><Relationship Type="http://schemas.openxmlformats.org/officeDocument/2006/relationships/theme" Target="/ppt/slideMasters/theme/initial07_theme2.xml" Id="Rb786413db9a24cbc" /><Relationship Type="http://schemas.openxmlformats.org/officeDocument/2006/relationships/slideLayout" Target="/ppt/slideLayouts/initial07_slideLayout1.xml" Id="R663e5bb2ae2c4856" /></Relationships>
</file>

<file path=ppt/slideMasters/initial01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7bb00c503edd4a1a"/>
  </p:sldLayoutIdLst>
  <p:txStyles>
    <p:titleStyle>
      <a:lvl1pPr algn="l">
        <a:lnSpc>
          <a:spcPct val="90000"/>
        </a:lnSpc>
        <a:spcBef>
          <a:spcPts val="0"/>
        </a:spcBef>
        <a:buNone/>
        <a:defRPr sz="6600" lang="ko-KR">
          <a:solidFill>
            <a:srgbClr val="000000"/>
          </a:solidFill>
          <a:latin typeface="Calibri"/>
          <a:ea typeface="Calibri"/>
          <a:cs typeface="Calibri"/>
        </a:defRPr>
      </a:lvl1pPr>
    </p:titleStyle>
    <p:bodyStyle>
      <a:lvl1pPr marL="342900" indent="-342900" algn="l">
        <a:lnSpc>
          <a:spcPct val="90000"/>
        </a:lnSpc>
        <a:spcBef>
          <a:spcPts val="1500"/>
        </a:spcBef>
        <a:buChar char="•"/>
        <a:defRPr sz="4200" lang="ko-KR">
          <a:solidFill>
            <a:srgbClr val="000000"/>
          </a:solidFill>
          <a:latin typeface="Calibri"/>
          <a:ea typeface="Calibri"/>
          <a:cs typeface="Calibri"/>
        </a:defRPr>
      </a:lvl1pPr>
      <a:lvl2pPr marL="1028700" indent="-342900" algn="l">
        <a:lnSpc>
          <a:spcPct val="90000"/>
        </a:lnSpc>
        <a:spcBef>
          <a:spcPts val="750"/>
        </a:spcBef>
        <a:buChar char="•"/>
        <a:defRPr sz="3600" lang="ko-KR">
          <a:solidFill>
            <a:srgbClr val="000000"/>
          </a:solidFill>
          <a:latin typeface="Calibri"/>
          <a:ea typeface="Calibri"/>
          <a:cs typeface="Calibri"/>
        </a:defRPr>
      </a:lvl2pPr>
      <a:lvl3pPr marL="1714500" indent="-342900" algn="l">
        <a:lnSpc>
          <a:spcPct val="90000"/>
        </a:lnSpc>
        <a:spcBef>
          <a:spcPts val="750"/>
        </a:spcBef>
        <a:buChar char="•"/>
        <a:defRPr sz="3000" lang="ko-KR">
          <a:solidFill>
            <a:srgbClr val="000000"/>
          </a:solidFill>
          <a:latin typeface="Calibri"/>
          <a:ea typeface="Calibri"/>
          <a:cs typeface="Calibri"/>
        </a:defRPr>
      </a:lvl3pPr>
      <a:lvl4pPr marL="2400300" indent="-342900" algn="l">
        <a:lnSpc>
          <a:spcPct val="90000"/>
        </a:lnSpc>
        <a:spcBef>
          <a:spcPts val="750"/>
        </a:spcBef>
        <a:buChar char="•"/>
        <a:defRPr sz="2700" lang="ko-KR">
          <a:solidFill>
            <a:srgbClr val="000000"/>
          </a:solidFill>
          <a:latin typeface="Calibri"/>
          <a:ea typeface="Calibri"/>
          <a:cs typeface="Calibri"/>
        </a:defRPr>
      </a:lvl4pPr>
      <a:lvl5pPr marL="3086100" indent="-342900" algn="l">
        <a:lnSpc>
          <a:spcPct val="90000"/>
        </a:lnSpc>
        <a:spcBef>
          <a:spcPts val="750"/>
        </a:spcBef>
        <a:buChar char="•"/>
        <a:defRPr sz="2700" lang="ko-KR">
          <a:solidFill>
            <a:srgbClr val="000000"/>
          </a:solidFill>
          <a:latin typeface="Calibri"/>
          <a:ea typeface="Calibri"/>
          <a:cs typeface="Calibri"/>
        </a:defRPr>
      </a:lvl5pPr>
      <a:lvl6pPr marL="3771900" indent="-342900" algn="l">
        <a:lnSpc>
          <a:spcPct val="90000"/>
        </a:lnSpc>
        <a:spcBef>
          <a:spcPts val="750"/>
        </a:spcBef>
        <a:buChar char="•"/>
        <a:defRPr sz="2700" lang="ko-KR">
          <a:solidFill>
            <a:srgbClr val="000000"/>
          </a:solidFill>
          <a:latin typeface="Calibri"/>
          <a:ea typeface="Calibri"/>
          <a:cs typeface="Calibri"/>
        </a:defRPr>
      </a:lvl6pPr>
      <a:lvl7pPr marL="4457700" indent="-342900" algn="l">
        <a:lnSpc>
          <a:spcPct val="90000"/>
        </a:lnSpc>
        <a:spcBef>
          <a:spcPts val="750"/>
        </a:spcBef>
        <a:buChar char="•"/>
        <a:defRPr sz="2700" lang="ko-KR">
          <a:solidFill>
            <a:srgbClr val="000000"/>
          </a:solidFill>
          <a:latin typeface="Calibri"/>
          <a:ea typeface="Calibri"/>
          <a:cs typeface="Calibri"/>
        </a:defRPr>
      </a:lvl7pPr>
      <a:lvl8pPr marL="5143500" indent="-342900" algn="l">
        <a:lnSpc>
          <a:spcPct val="90000"/>
        </a:lnSpc>
        <a:spcBef>
          <a:spcPts val="750"/>
        </a:spcBef>
        <a:buChar char="•"/>
        <a:defRPr sz="2700" lang="ko-KR">
          <a:solidFill>
            <a:srgbClr val="000000"/>
          </a:solidFill>
          <a:latin typeface="Calibri"/>
          <a:ea typeface="Calibri"/>
          <a:cs typeface="Calibri"/>
        </a:defRPr>
      </a:lvl8pPr>
      <a:lvl9pPr marL="5829300" indent="-342900" algn="l">
        <a:lnSpc>
          <a:spcPct val="90000"/>
        </a:lnSpc>
        <a:spcBef>
          <a:spcPts val="750"/>
        </a:spcBef>
        <a:buChar char="•"/>
        <a:defRPr sz="2700" lang="ko-KR">
          <a:solidFill>
            <a:srgbClr val="000000"/>
          </a:solidFill>
          <a:latin typeface="Calibri"/>
          <a:ea typeface="Calibri"/>
          <a:cs typeface="Calibri"/>
        </a:defRPr>
      </a:lvl9pPr>
    </p:bodyStyle>
    <p:otherStyle>
      <a:lvl1pPr marL="0" algn="l">
        <a:buNone/>
        <a:defRPr sz="2700" lang="ko-KR">
          <a:solidFill>
            <a:srgbClr val="000000"/>
          </a:solidFill>
          <a:latin typeface="Calibri"/>
          <a:ea typeface="Calibri"/>
          <a:cs typeface="Calibri"/>
        </a:defRPr>
      </a:lvl1pPr>
      <a:lvl2pPr marL="685800" algn="l">
        <a:buNone/>
        <a:defRPr sz="2700" lang="ko-KR">
          <a:solidFill>
            <a:srgbClr val="000000"/>
          </a:solidFill>
          <a:latin typeface="Calibri"/>
          <a:ea typeface="Calibri"/>
          <a:cs typeface="Calibri"/>
        </a:defRPr>
      </a:lvl2pPr>
      <a:lvl3pPr marL="1371600" algn="l">
        <a:buNone/>
        <a:defRPr sz="2700" lang="ko-KR">
          <a:solidFill>
            <a:srgbClr val="000000"/>
          </a:solidFill>
          <a:latin typeface="Calibri"/>
          <a:ea typeface="Calibri"/>
          <a:cs typeface="Calibri"/>
        </a:defRPr>
      </a:lvl3pPr>
      <a:lvl4pPr marL="2057400" algn="l">
        <a:buNone/>
        <a:defRPr sz="2700" lang="ko-KR">
          <a:solidFill>
            <a:srgbClr val="000000"/>
          </a:solidFill>
          <a:latin typeface="Calibri"/>
          <a:ea typeface="Calibri"/>
          <a:cs typeface="Calibri"/>
        </a:defRPr>
      </a:lvl4pPr>
      <a:lvl5pPr marL="2743200" algn="l">
        <a:buNone/>
        <a:defRPr sz="2700" lang="ko-KR">
          <a:solidFill>
            <a:srgbClr val="000000"/>
          </a:solidFill>
          <a:latin typeface="Calibri"/>
          <a:ea typeface="Calibri"/>
          <a:cs typeface="Calibri"/>
        </a:defRPr>
      </a:lvl5pPr>
      <a:lvl6pPr marL="3429000" algn="l">
        <a:buNone/>
        <a:defRPr sz="2700" lang="ko-KR">
          <a:solidFill>
            <a:srgbClr val="000000"/>
          </a:solidFill>
          <a:latin typeface="Calibri"/>
          <a:ea typeface="Calibri"/>
          <a:cs typeface="Calibri"/>
        </a:defRPr>
      </a:lvl6pPr>
      <a:lvl7pPr marL="4114800" algn="l">
        <a:buNone/>
        <a:defRPr sz="2700" lang="ko-KR">
          <a:solidFill>
            <a:srgbClr val="000000"/>
          </a:solidFill>
          <a:latin typeface="Calibri"/>
          <a:ea typeface="Calibri"/>
          <a:cs typeface="Calibri"/>
        </a:defRPr>
      </a:lvl7pPr>
      <a:lvl8pPr marL="4800600" algn="l">
        <a:buNone/>
        <a:defRPr sz="2700" lang="ko-KR">
          <a:solidFill>
            <a:srgbClr val="000000"/>
          </a:solidFill>
          <a:latin typeface="Calibri"/>
          <a:ea typeface="Calibri"/>
          <a:cs typeface="Calibri"/>
        </a:defRPr>
      </a:lvl8pPr>
      <a:lvl9pPr marL="5486400" algn="l">
        <a:buNone/>
        <a:defRPr sz="2700" lang="ko-KR">
          <a:solidFill>
            <a:srgbClr val="000000"/>
          </a:solidFill>
          <a:latin typeface="Calibri"/>
          <a:ea typeface="Calibri"/>
          <a:cs typeface="Calibri"/>
        </a:defRPr>
      </a:lvl9pPr>
    </p:otherStyle>
  </p:txStyles>
</p:sldMaster>
</file>

<file path=ppt/slideMasters/initial02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791a9a63be60469d"/>
  </p:sldLayoutIdLst>
  <p:txStyles>
    <p:titleStyle>
      <a:lvl1pPr algn="l">
        <a:lnSpc>
          <a:spcPct val="90000"/>
        </a:lnSpc>
        <a:spcBef>
          <a:spcPts val="0"/>
        </a:spcBef>
        <a:buNone/>
        <a:defRPr sz="6600" lang="ko-KR">
          <a:solidFill>
            <a:srgbClr val="000000"/>
          </a:solidFill>
          <a:latin typeface="Calibri"/>
          <a:ea typeface="Calibri"/>
          <a:cs typeface="Calibri"/>
        </a:defRPr>
      </a:lvl1pPr>
    </p:titleStyle>
    <p:bodyStyle>
      <a:lvl1pPr marL="342900" indent="-342900" algn="l">
        <a:lnSpc>
          <a:spcPct val="90000"/>
        </a:lnSpc>
        <a:spcBef>
          <a:spcPts val="1500"/>
        </a:spcBef>
        <a:buChar char="•"/>
        <a:defRPr sz="4200" lang="ko-KR">
          <a:solidFill>
            <a:srgbClr val="000000"/>
          </a:solidFill>
          <a:latin typeface="Calibri"/>
          <a:ea typeface="Calibri"/>
          <a:cs typeface="Calibri"/>
        </a:defRPr>
      </a:lvl1pPr>
      <a:lvl2pPr marL="1028700" indent="-342900" algn="l">
        <a:lnSpc>
          <a:spcPct val="90000"/>
        </a:lnSpc>
        <a:spcBef>
          <a:spcPts val="750"/>
        </a:spcBef>
        <a:buChar char="•"/>
        <a:defRPr sz="3600" lang="ko-KR">
          <a:solidFill>
            <a:srgbClr val="000000"/>
          </a:solidFill>
          <a:latin typeface="Calibri"/>
          <a:ea typeface="Calibri"/>
          <a:cs typeface="Calibri"/>
        </a:defRPr>
      </a:lvl2pPr>
      <a:lvl3pPr marL="1714500" indent="-342900" algn="l">
        <a:lnSpc>
          <a:spcPct val="90000"/>
        </a:lnSpc>
        <a:spcBef>
          <a:spcPts val="750"/>
        </a:spcBef>
        <a:buChar char="•"/>
        <a:defRPr sz="3000" lang="ko-KR">
          <a:solidFill>
            <a:srgbClr val="000000"/>
          </a:solidFill>
          <a:latin typeface="Calibri"/>
          <a:ea typeface="Calibri"/>
          <a:cs typeface="Calibri"/>
        </a:defRPr>
      </a:lvl3pPr>
      <a:lvl4pPr marL="2400300" indent="-342900" algn="l">
        <a:lnSpc>
          <a:spcPct val="90000"/>
        </a:lnSpc>
        <a:spcBef>
          <a:spcPts val="750"/>
        </a:spcBef>
        <a:buChar char="•"/>
        <a:defRPr sz="2700" lang="ko-KR">
          <a:solidFill>
            <a:srgbClr val="000000"/>
          </a:solidFill>
          <a:latin typeface="Calibri"/>
          <a:ea typeface="Calibri"/>
          <a:cs typeface="Calibri"/>
        </a:defRPr>
      </a:lvl4pPr>
      <a:lvl5pPr marL="3086100" indent="-342900" algn="l">
        <a:lnSpc>
          <a:spcPct val="90000"/>
        </a:lnSpc>
        <a:spcBef>
          <a:spcPts val="750"/>
        </a:spcBef>
        <a:buChar char="•"/>
        <a:defRPr sz="2700" lang="ko-KR">
          <a:solidFill>
            <a:srgbClr val="000000"/>
          </a:solidFill>
          <a:latin typeface="Calibri"/>
          <a:ea typeface="Calibri"/>
          <a:cs typeface="Calibri"/>
        </a:defRPr>
      </a:lvl5pPr>
      <a:lvl6pPr marL="3771900" indent="-342900" algn="l">
        <a:lnSpc>
          <a:spcPct val="90000"/>
        </a:lnSpc>
        <a:spcBef>
          <a:spcPts val="750"/>
        </a:spcBef>
        <a:buChar char="•"/>
        <a:defRPr sz="2700" lang="ko-KR">
          <a:solidFill>
            <a:srgbClr val="000000"/>
          </a:solidFill>
          <a:latin typeface="Calibri"/>
          <a:ea typeface="Calibri"/>
          <a:cs typeface="Calibri"/>
        </a:defRPr>
      </a:lvl6pPr>
      <a:lvl7pPr marL="4457700" indent="-342900" algn="l">
        <a:lnSpc>
          <a:spcPct val="90000"/>
        </a:lnSpc>
        <a:spcBef>
          <a:spcPts val="750"/>
        </a:spcBef>
        <a:buChar char="•"/>
        <a:defRPr sz="2700" lang="ko-KR">
          <a:solidFill>
            <a:srgbClr val="000000"/>
          </a:solidFill>
          <a:latin typeface="Calibri"/>
          <a:ea typeface="Calibri"/>
          <a:cs typeface="Calibri"/>
        </a:defRPr>
      </a:lvl7pPr>
      <a:lvl8pPr marL="5143500" indent="-342900" algn="l">
        <a:lnSpc>
          <a:spcPct val="90000"/>
        </a:lnSpc>
        <a:spcBef>
          <a:spcPts val="750"/>
        </a:spcBef>
        <a:buChar char="•"/>
        <a:defRPr sz="2700" lang="ko-KR">
          <a:solidFill>
            <a:srgbClr val="000000"/>
          </a:solidFill>
          <a:latin typeface="Calibri"/>
          <a:ea typeface="Calibri"/>
          <a:cs typeface="Calibri"/>
        </a:defRPr>
      </a:lvl8pPr>
      <a:lvl9pPr marL="5829300" indent="-342900" algn="l">
        <a:lnSpc>
          <a:spcPct val="90000"/>
        </a:lnSpc>
        <a:spcBef>
          <a:spcPts val="750"/>
        </a:spcBef>
        <a:buChar char="•"/>
        <a:defRPr sz="2700" lang="ko-KR">
          <a:solidFill>
            <a:srgbClr val="000000"/>
          </a:solidFill>
          <a:latin typeface="Calibri"/>
          <a:ea typeface="Calibri"/>
          <a:cs typeface="Calibri"/>
        </a:defRPr>
      </a:lvl9pPr>
    </p:bodyStyle>
    <p:otherStyle>
      <a:lvl1pPr marL="0" algn="l">
        <a:buNone/>
        <a:defRPr sz="2700" lang="ko-KR">
          <a:solidFill>
            <a:srgbClr val="000000"/>
          </a:solidFill>
          <a:latin typeface="Calibri"/>
          <a:ea typeface="Calibri"/>
          <a:cs typeface="Calibri"/>
        </a:defRPr>
      </a:lvl1pPr>
      <a:lvl2pPr marL="685800" algn="l">
        <a:buNone/>
        <a:defRPr sz="2700" lang="ko-KR">
          <a:solidFill>
            <a:srgbClr val="000000"/>
          </a:solidFill>
          <a:latin typeface="Calibri"/>
          <a:ea typeface="Calibri"/>
          <a:cs typeface="Calibri"/>
        </a:defRPr>
      </a:lvl2pPr>
      <a:lvl3pPr marL="1371600" algn="l">
        <a:buNone/>
        <a:defRPr sz="2700" lang="ko-KR">
          <a:solidFill>
            <a:srgbClr val="000000"/>
          </a:solidFill>
          <a:latin typeface="Calibri"/>
          <a:ea typeface="Calibri"/>
          <a:cs typeface="Calibri"/>
        </a:defRPr>
      </a:lvl3pPr>
      <a:lvl4pPr marL="2057400" algn="l">
        <a:buNone/>
        <a:defRPr sz="2700" lang="ko-KR">
          <a:solidFill>
            <a:srgbClr val="000000"/>
          </a:solidFill>
          <a:latin typeface="Calibri"/>
          <a:ea typeface="Calibri"/>
          <a:cs typeface="Calibri"/>
        </a:defRPr>
      </a:lvl4pPr>
      <a:lvl5pPr marL="2743200" algn="l">
        <a:buNone/>
        <a:defRPr sz="2700" lang="ko-KR">
          <a:solidFill>
            <a:srgbClr val="000000"/>
          </a:solidFill>
          <a:latin typeface="Calibri"/>
          <a:ea typeface="Calibri"/>
          <a:cs typeface="Calibri"/>
        </a:defRPr>
      </a:lvl5pPr>
      <a:lvl6pPr marL="3429000" algn="l">
        <a:buNone/>
        <a:defRPr sz="2700" lang="ko-KR">
          <a:solidFill>
            <a:srgbClr val="000000"/>
          </a:solidFill>
          <a:latin typeface="Calibri"/>
          <a:ea typeface="Calibri"/>
          <a:cs typeface="Calibri"/>
        </a:defRPr>
      </a:lvl6pPr>
      <a:lvl7pPr marL="4114800" algn="l">
        <a:buNone/>
        <a:defRPr sz="2700" lang="ko-KR">
          <a:solidFill>
            <a:srgbClr val="000000"/>
          </a:solidFill>
          <a:latin typeface="Calibri"/>
          <a:ea typeface="Calibri"/>
          <a:cs typeface="Calibri"/>
        </a:defRPr>
      </a:lvl7pPr>
      <a:lvl8pPr marL="4800600" algn="l">
        <a:buNone/>
        <a:defRPr sz="2700" lang="ko-KR">
          <a:solidFill>
            <a:srgbClr val="000000"/>
          </a:solidFill>
          <a:latin typeface="Calibri"/>
          <a:ea typeface="Calibri"/>
          <a:cs typeface="Calibri"/>
        </a:defRPr>
      </a:lvl8pPr>
      <a:lvl9pPr marL="5486400" algn="l">
        <a:buNone/>
        <a:defRPr sz="2700" lang="ko-KR">
          <a:solidFill>
            <a:srgbClr val="000000"/>
          </a:solidFill>
          <a:latin typeface="Calibri"/>
          <a:ea typeface="Calibri"/>
          <a:cs typeface="Calibri"/>
        </a:defRPr>
      </a:lvl9pPr>
    </p:otherStyle>
  </p:txStyles>
</p:sldMaster>
</file>

<file path=ppt/slideMasters/initial03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0cce4c37d09c4e32"/>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initial04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20d68b1743b848c6"/>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initial05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ce0be6436b114e2a"/>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initial06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4e847fe89cb840f6"/>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initial07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663e5bb2ae2c4856"/>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theme/V2Clone_initial01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2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3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4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6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7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Native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3Background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1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2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3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4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5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6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7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33.xml.rels><?xml version='1.0' encoding='utf-8'?>
<Relationships xmlns="http://schemas.openxmlformats.org/package/2006/relationships"><Relationship Id="V10SourceLayout" Type="http://schemas.openxmlformats.org/officeDocument/2006/relationships/slideLayout" Target="/ppt/slideLayouts/V2Clone_initial01_slideLayout1.xml" /><Relationship Id="V10SourceNote" Type="http://schemas.openxmlformats.org/officeDocument/2006/relationships/notesSlide" Target="/ppt/notesSlides/notesSlide33.xml" /><Relationship Type="http://schemas.openxmlformats.org/officeDocument/2006/relationships/image" Target="/ppt/media/intro_v9_image.gif" Id="R437653e567e04d29" /><Relationship Type="http://schemas.openxmlformats.org/officeDocument/2006/relationships/image" Target="/ppt/media/intro_v9_image2.gif" Id="R5ebd9b7fc25b4c2e" /><Relationship Type="http://schemas.openxmlformats.org/officeDocument/2006/relationships/chart" Target="/ppt/slides/charts/intro_v10_chart1.xml" Id="R5568b160e74c4c6b" /></Relationships>
</file>

<file path=ppt/slides/_rels/slide34.xml.rels><?xml version='1.0' encoding='utf-8'?>
<Relationships xmlns="http://schemas.openxmlformats.org/package/2006/relationships"><Relationship Type="http://schemas.openxmlformats.org/officeDocument/2006/relationships/slideLayout" Target="/ppt/slideLayouts/V2Clone_initial01_slideLayout1.xml" Id="Rd0f64148ace44f45" /><Relationship Type="http://schemas.openxmlformats.org/officeDocument/2006/relationships/notesSlide" Target="/ppt/notesSlides/notesSlide34.xml" Id="R2eb99875954241f5" /></Relationships>
</file>

<file path=ppt/slides/_rels/slide35.xml.rels><?xml version='1.0' encoding='utf-8'?>
<Relationships xmlns="http://schemas.openxmlformats.org/package/2006/relationships"><Relationship Type="http://schemas.openxmlformats.org/officeDocument/2006/relationships/slideLayout" Target="/ppt/slideLayouts/V2Clone_initial02_slideLayout1.xml" Id="R78dd0857520a4958" /><Relationship Type="http://schemas.openxmlformats.org/officeDocument/2006/relationships/image" Target="/ppt/media/initial02_image.png" Id="R412e7293f74449f5" /><Relationship Type="http://schemas.openxmlformats.org/officeDocument/2006/relationships/image" Target="/ppt/media/initial02_image2.png" Id="R7d0fe689e32e4185" /><Relationship Type="http://schemas.openxmlformats.org/officeDocument/2006/relationships/image" Target="/ppt/media/initial02_image3.png" Id="Rdc14f194c893430b" /><Relationship Type="http://schemas.openxmlformats.org/officeDocument/2006/relationships/image" Target="/ppt/media/initial02_image4.png" Id="R926c21a837c1492e" /><Relationship Type="http://schemas.openxmlformats.org/officeDocument/2006/relationships/image" Target="/ppt/media/initial02_image5.png" Id="Re7e7daa896bb48e9" /><Relationship Type="http://schemas.openxmlformats.org/officeDocument/2006/relationships/notesSlide" Target="/ppt/notesSlides/notesSlide35.xml" Id="Rf514f23f1304440f" /></Relationships>
</file>

<file path=ppt/slides/_rels/slide36.xml.rels><?xml version='1.0' encoding='utf-8'?>
<Relationships xmlns="http://schemas.openxmlformats.org/package/2006/relationships"><Relationship Type="http://schemas.openxmlformats.org/officeDocument/2006/relationships/slideLayout" Target="/ppt/slideLayouts/V2Clone_initial07_slideLayout1.xml" Id="R11502e4a4ab346a0" /><Relationship Type="http://schemas.openxmlformats.org/officeDocument/2006/relationships/notesSlide" Target="/ppt/notesSlides/notesSlide36.xml" Id="R59bf0a34ca3b4002" /><Relationship Id="RviaIntroImage1" Type="http://schemas.openxmlformats.org/officeDocument/2006/relationships/image" Target="/ppt/media/initial07_via-v2-intro-1-3.png" /><Relationship Id="RviaIntroImage2" Type="http://schemas.openxmlformats.org/officeDocument/2006/relationships/image" Target="/ppt/media/initial07_via-v2-intro-1-3.png" /><Relationship Id="RviaIntroImage3" Type="http://schemas.openxmlformats.org/officeDocument/2006/relationships/image" Target="/ppt/media/initial07_via-v2-intro-1-3.png" /></Relationships>
</file>

<file path=ppt/slides/_rels/slide37.xml.rels><?xml version='1.0' encoding='utf-8'?>
<Relationships xmlns="http://schemas.openxmlformats.org/package/2006/relationships"><Relationship Type="http://schemas.openxmlformats.org/officeDocument/2006/relationships/slideLayout" Target="/ppt/slideLayouts/V2Clone_initial03_slideLayout1.xml" Id="R9d0162de70694709" /><Relationship Type="http://schemas.openxmlformats.org/officeDocument/2006/relationships/notesSlide" Target="/ppt/notesSlides/notesSlide37.xml" Id="Rcbc28d37b1124b19" /></Relationships>
</file>

<file path=ppt/slides/_rels/slide38.xml.rels><?xml version='1.0' encoding='utf-8'?>
<Relationships xmlns="http://schemas.openxmlformats.org/package/2006/relationships"><Relationship Id="rId1" Type="http://schemas.openxmlformats.org/officeDocument/2006/relationships/slideLayout" Target="/ppt/slideLayouts/V2Clone_initial04_slideLayout1.xml" /><Relationship Id="rId2" Type="http://schemas.openxmlformats.org/officeDocument/2006/relationships/notesSlide" Target="/ppt/notesSlides/notesSlide38.xml" /></Relationships>
</file>

<file path=ppt/slides/_rels/slide39.xml.rels><?xml version='1.0' encoding='utf-8'?>
<Relationships xmlns="http://schemas.openxmlformats.org/package/2006/relationships"><Relationship Id="rId1" Type="http://schemas.openxmlformats.org/officeDocument/2006/relationships/slideLayout" Target="/ppt/slideLayouts/V2Clone_initial04_slideLayout1.xml" /><Relationship Id="rId2" Type="http://schemas.openxmlformats.org/officeDocument/2006/relationships/notesSlide" Target="/ppt/notesSlides/notesSlide39.xml" /></Relationships>
</file>

<file path=ppt/slides/_rels/slide40.xml.rels><?xml version='1.0' encoding='utf-8'?>
<Relationships xmlns="http://schemas.openxmlformats.org/package/2006/relationships"><Relationship Type="http://schemas.openxmlformats.org/officeDocument/2006/relationships/slideLayout" Target="/ppt/slideLayouts/V2Clone_initial06_slideLayout1.xml" Id="R818d34c941a64a51" /><Relationship Type="http://schemas.openxmlformats.org/officeDocument/2006/relationships/notesSlide" Target="/ppt/notesSlides/notesSlide40.xml" Id="R25f18e35b91a4b9d" /></Relationships>
</file>

<file path=ppt/slides/_rels/slide41.xml.rels><?xml version='1.0' encoding='utf-8'?>
<Relationships xmlns="http://schemas.openxmlformats.org/package/2006/relationships"><Relationship Type="http://schemas.openxmlformats.org/officeDocument/2006/relationships/slideLayout" Target="/ppt/slideLayouts/V2Clone_initial07_slideLayout1.xml" Id="R11502e4a4ab346a0" /><Relationship Type="http://schemas.openxmlformats.org/officeDocument/2006/relationships/notesSlide" Target="/ppt/notesSlides/notesSlide41.xml" Id="R59bf0a34ca3b4002" /><Relationship Id="RviaIntroImage1" Type="http://schemas.openxmlformats.org/officeDocument/2006/relationships/image" Target="/ppt/media/initial07_via-v2-intro-2-3.png" /><Relationship Id="RviaIntroImage2" Type="http://schemas.openxmlformats.org/officeDocument/2006/relationships/image" Target="/ppt/media/initial07_via-v2-intro-2-3.png" /><Relationship Id="RviaIntroImage3" Type="http://schemas.openxmlformats.org/officeDocument/2006/relationships/image" Target="/ppt/media/initial07_via-v2-intro-2-3.png" /></Relationships>
</file>

<file path=ppt/slides/_rels/slide46.xml.rels><?xml version='1.0' encoding='utf-8'?>
<Relationships xmlns="http://schemas.openxmlformats.org/package/2006/relationships"><Relationship Id="V10SourceLayout" Type="http://schemas.openxmlformats.org/officeDocument/2006/relationships/slideLayout" Target="/ppt/slideLayouts/V2Native_slideLayout1.xml" /><Relationship Id="V10SourceNote" Type="http://schemas.openxmlformats.org/officeDocument/2006/relationships/notesSlide" Target="/ppt/notesSlides/notesSlide46.xml" /></Relationships>
</file>

<file path=ppt/slides/_rels/slide47.xml.rels><?xml version='1.0' encoding='utf-8'?>
<Relationships xmlns="http://schemas.openxmlformats.org/package/2006/relationships"><Relationship Type="http://schemas.openxmlformats.org/officeDocument/2006/relationships/slideLayout" Target="/ppt/slideLayouts/V2Native_slideLayout1.xml" Id="R1be3b44bea804c85" /><Relationship Type="http://schemas.openxmlformats.org/officeDocument/2006/relationships/notesSlide" Target="/ppt/notesSlides/notesSlide47.xml" Id="R6e0e6ed37b3f4601" /></Relationships>
</file>

<file path=ppt/slides/_rels/slide48.xml.rels><?xml version='1.0' encoding='utf-8'?>
<Relationships xmlns="http://schemas.openxmlformats.org/package/2006/relationships"><Relationship Type="http://schemas.openxmlformats.org/officeDocument/2006/relationships/slideLayout" Target="/ppt/slideLayouts/V2Native_slideLayout1.xml" Id="R1d2e8babc6ab472f" /><Relationship Type="http://schemas.openxmlformats.org/officeDocument/2006/relationships/notesSlide" Target="/ppt/notesSlides/notesSlide48.xml" Id="R88df1d16040b4bb7" /></Relationships>
</file>

<file path=ppt/slides/_rels/slide49.xml.rels><?xml version='1.0' encoding='utf-8'?>
<Relationships xmlns="http://schemas.openxmlformats.org/package/2006/relationships"><Relationship Id="rId1" Type="http://schemas.openxmlformats.org/officeDocument/2006/relationships/slideLayout" Target="/ppt/slideLayouts/V2Clone_initial04_slideLayout1.xml" /><Relationship Id="rId2" Type="http://schemas.openxmlformats.org/officeDocument/2006/relationships/notesSlide" Target="/ppt/notesSlides/notesSlide49.xml" /></Relationships>
</file>

<file path=ppt/slides/_rels/slide50.xml.rels><?xml version='1.0' encoding='utf-8'?>
<Relationships xmlns="http://schemas.openxmlformats.org/package/2006/relationships"><Relationship Type="http://schemas.openxmlformats.org/officeDocument/2006/relationships/slideLayout" Target="/ppt/slideLayouts/V2Native_slideLayout1.xml" Id="Re53d252ac6b8411e" /><Relationship Type="http://schemas.openxmlformats.org/officeDocument/2006/relationships/notesSlide" Target="/ppt/notesSlides/notesSlide50.xml" Id="R88d0a4da973e4833" /></Relationships>
</file>

<file path=ppt/slides/_rels/slide52.xml.rels><?xml version='1.0' encoding='utf-8'?>
<Relationships xmlns="http://schemas.openxmlformats.org/package/2006/relationships"><Relationship Type="http://schemas.openxmlformats.org/officeDocument/2006/relationships/slideLayout" Target="/ppt/slideLayouts/V2Native_slideLayout1.xml" Id="Rae0e8f8c425c42ec" /><Relationship Type="http://schemas.openxmlformats.org/officeDocument/2006/relationships/notesSlide" Target="/ppt/notesSlides/notesSlide52.xml" Id="R8ecb8a084b3a4a2a" /></Relationships>
</file>

<file path=ppt/slides/_rels/slide53.xml.rels><?xml version='1.0' encoding='utf-8'?>
<Relationships xmlns="http://schemas.openxmlformats.org/package/2006/relationships"><Relationship Type="http://schemas.openxmlformats.org/officeDocument/2006/relationships/slideLayout" Target="/ppt/slideLayouts/V2Native_slideLayout1.xml" Id="R834d5541c8ae4526" /><Relationship Type="http://schemas.openxmlformats.org/officeDocument/2006/relationships/notesSlide" Target="/ppt/notesSlides/notesSlide53.xml" Id="R0aba2a5e1d9748ef" /></Relationships>
</file>

<file path=ppt/slides/_rels/slide54.xml.rels><?xml version='1.0' encoding='utf-8'?>
<Relationships xmlns="http://schemas.openxmlformats.org/package/2006/relationships"><Relationship Type="http://schemas.openxmlformats.org/officeDocument/2006/relationships/slideLayout" Target="/ppt/slideLayouts/V2Native_slideLayout1.xml" Id="R7a1f32304d97416c" /><Relationship Type="http://schemas.openxmlformats.org/officeDocument/2006/relationships/notesSlide" Target="/ppt/notesSlides/notesSlide54.xml" Id="R91d610c19d3b45fd" /></Relationships>
</file>

<file path=ppt/slides/_rels/slide55.xml.rels><?xml version='1.0' encoding='utf-8'?>
<Relationships xmlns="http://schemas.openxmlformats.org/package/2006/relationships"><Relationship Type="http://schemas.openxmlformats.org/officeDocument/2006/relationships/slideLayout" Target="/ppt/slideLayouts/V2Native_slideLayout1.xml" Id="R97e01adfba12490a" /><Relationship Type="http://schemas.openxmlformats.org/officeDocument/2006/relationships/notesSlide" Target="/ppt/notesSlides/notesSlide55.xml" Id="Rd4a8433dd7104a27" /></Relationships>
</file>

<file path=ppt/slides/_rels/slide56.xml.rels><?xml version='1.0' encoding='utf-8'?>
<Relationships xmlns="http://schemas.openxmlformats.org/package/2006/relationships"><Relationship Type="http://schemas.openxmlformats.org/officeDocument/2006/relationships/slideLayout" Target="/ppt/slideLayouts/V2Native_slideLayout1.xml" Id="R3e465fb3dcb543d6" /><Relationship Type="http://schemas.openxmlformats.org/officeDocument/2006/relationships/notesSlide" Target="/ppt/notesSlides/notesSlide56.xml" Id="Ra9c3719d06f44123" /></Relationships>
</file>

<file path=ppt/slides/_rels/slide59.xml.rels><?xml version='1.0' encoding='utf-8'?>
<Relationships xmlns="http://schemas.openxmlformats.org/package/2006/relationships"><Relationship Type="http://schemas.openxmlformats.org/officeDocument/2006/relationships/slideLayout" Target="/ppt/slideLayouts/V3Background_slideLayout1.xml" Id="R91fa53774c3f4f50" /><Relationship Type="http://schemas.openxmlformats.org/officeDocument/2006/relationships/notesSlide" Target="/ppt/notesSlides/notesSlide59.xml" Id="R4d843b9261274b1b" /></Relationships>
</file>

<file path=ppt/slides/_rels/slide60.xml.rels><?xml version='1.0' encoding='utf-8'?>
<Relationships xmlns="http://schemas.openxmlformats.org/package/2006/relationships"><Relationship Type="http://schemas.openxmlformats.org/officeDocument/2006/relationships/slideLayout" Target="/ppt/slideLayouts/V3Background_slideLayout1.xml" Id="R8db02b3c75d74d06" /><Relationship Type="http://schemas.openxmlformats.org/officeDocument/2006/relationships/notesSlide" Target="/ppt/notesSlides/notesSlide60.xml" Id="R0af0bd8a2cc74967" /></Relationships>
</file>

<file path=ppt/slides/_rels/slide61.xml.rels><?xml version='1.0' encoding='utf-8'?>
<Relationships xmlns="http://schemas.openxmlformats.org/package/2006/relationships"><Relationship Type="http://schemas.openxmlformats.org/officeDocument/2006/relationships/slideLayout" Target="/ppt/slideLayouts/V3Background_slideLayout1.xml" Id="R9d775e58ac684168" /><Relationship Type="http://schemas.openxmlformats.org/officeDocument/2006/relationships/notesSlide" Target="/ppt/notesSlides/notesSlide61.xml" Id="R61ccefeb093e4094" /></Relationships>
</file>

<file path=ppt/slides/_rels/slide62.xml.rels><?xml version='1.0' encoding='utf-8'?>
<Relationships xmlns="http://schemas.openxmlformats.org/package/2006/relationships"><Relationship Id="rId1" Type="http://schemas.openxmlformats.org/officeDocument/2006/relationships/slideLayout" Target="/ppt/slideLayouts/V3Background_slideLayout1.xml" /><Relationship Id="rId2" Type="http://schemas.openxmlformats.org/officeDocument/2006/relationships/notesSlide" Target="/ppt/notesSlides/notesSlideV818.xml" /></Relationships>
</file>

<file path=ppt/slides/_rels/slide63.xml.rels><?xml version='1.0' encoding='utf-8'?>
<Relationships xmlns="http://schemas.openxmlformats.org/package/2006/relationships"><Relationship Id="rId1" Type="http://schemas.openxmlformats.org/officeDocument/2006/relationships/slideLayout" Target="/ppt/slideLayouts/V3Background_slideLayout1.xml" /><Relationship Id="rId2" Type="http://schemas.openxmlformats.org/officeDocument/2006/relationships/notesSlide" Target="/ppt/notesSlides/notesSlideV822.xml" /></Relationships>
</file>

<file path=ppt/slides/_rels/slide64.xml.rels><?xml version='1.0' encoding='utf-8'?>
<Relationships xmlns="http://schemas.openxmlformats.org/package/2006/relationships"><Relationship Id="rId1" Type="http://schemas.openxmlformats.org/officeDocument/2006/relationships/slideLayout" Target="/ppt/slideLayouts/initial05_slideLayout1.xml" /><Relationship Id="rId2" Type="http://schemas.openxmlformats.org/officeDocument/2006/relationships/notesSlide" Target="/ppt/notesSlides/qaV1125.xml" /></Relationships>
</file>

<file path=ppt/slides/_rels/slide65.xml.rels><?xml version='1.0' encoding='utf-8'?>
<Relationships xmlns="http://schemas.openxmlformats.org/package/2006/relationships"><Relationship Id="rId1" Type="http://schemas.openxmlformats.org/officeDocument/2006/relationships/slideLayout" Target="/ppt/slideLayouts/initial05_slideLayout1.xml" /><Relationship Id="rId2" Type="http://schemas.openxmlformats.org/officeDocument/2006/relationships/notesSlide" Target="/ppt/notesSlides/qaV1126.xml" /></Relationships>
</file>

<file path=ppt/slides/_rels/slide66.xml.rels><?xml version='1.0' encoding='utf-8'?>
<Relationships xmlns="http://schemas.openxmlformats.org/package/2006/relationships"><Relationship Id="rId1" Type="http://schemas.openxmlformats.org/officeDocument/2006/relationships/slideLayout" Target="/ppt/slideLayouts/initial05_slideLayout1.xml" /><Relationship Id="rId2" Type="http://schemas.openxmlformats.org/officeDocument/2006/relationships/notesSlide" Target="/ppt/notesSlides/qaV1127.xml" /></Relationships>
</file>

<file path=ppt/slides/_rels/slide67.xml.rels><?xml version='1.0' encoding='utf-8'?>
<Relationships xmlns="http://schemas.openxmlformats.org/package/2006/relationships"><Relationship Id="rId1" Type="http://schemas.openxmlformats.org/officeDocument/2006/relationships/slideLayout" Target="/ppt/slideLayouts/initial05_slideLayout1.xml" /><Relationship Id="rId2" Type="http://schemas.openxmlformats.org/officeDocument/2006/relationships/notesSlide" Target="/ppt/notesSlides/qaV1128.xml" /></Relationships>
</file>

<file path=ppt/slides/_rels/slide68.xml.rels><?xml version='1.0' encoding='utf-8'?>
<Relationships xmlns="http://schemas.openxmlformats.org/package/2006/relationships"><Relationship Id="rId1" Type="http://schemas.openxmlformats.org/officeDocument/2006/relationships/slideLayout" Target="/ppt/slideLayouts/initial05_slideLayout1.xml" /><Relationship Id="rId2" Type="http://schemas.openxmlformats.org/officeDocument/2006/relationships/notesSlide" Target="/ppt/notesSlides/qaV1129.xml" /></Relationships>
</file>

<file path=ppt/slides/_rels/slide69.xml.rels><?xml version='1.0' encoding='utf-8'?>
<Relationships xmlns="http://schemas.openxmlformats.org/package/2006/relationships"><Relationship Id="rId1" Type="http://schemas.openxmlformats.org/officeDocument/2006/relationships/slideLayout" Target="/ppt/slideLayouts/initial05_slideLayout1.xml" /><Relationship Id="rId2" Type="http://schemas.openxmlformats.org/officeDocument/2006/relationships/notesSlide" Target="/ppt/notesSlides/qaV1130.xml" /></Relationships>
</file>

<file path=ppt/slides/_rels/slide70.xml.rels><?xml version='1.0' encoding='utf-8'?>
<Relationships xmlns="http://schemas.openxmlformats.org/package/2006/relationships"><Relationship Id="rId1" Type="http://schemas.openxmlformats.org/officeDocument/2006/relationships/slideLayout" Target="/ppt/slideLayouts/initial05_slideLayout1.xml" /><Relationship Id="rId2" Type="http://schemas.openxmlformats.org/officeDocument/2006/relationships/notesSlide" Target="/ppt/notesSlides/qaV1131.xml" /></Relationships>
</file>

<file path=ppt/slides/_rels/slide71.xml.rels><?xml version='1.0' encoding='utf-8'?>
<Relationships xmlns="http://schemas.openxmlformats.org/package/2006/relationships"><Relationship Id="rId1" Type="http://schemas.openxmlformats.org/officeDocument/2006/relationships/slideLayout" Target="/ppt/slideLayouts/initial05_slideLayout1.xml" /><Relationship Id="rId2" Type="http://schemas.openxmlformats.org/officeDocument/2006/relationships/notesSlide" Target="/ppt/notesSlides/qaV1132.xml" /></Relationships>
</file>

<file path=ppt/slides/_rels/slide72.xml.rels><?xml version='1.0' encoding='utf-8'?>
<Relationships xmlns="http://schemas.openxmlformats.org/package/2006/relationships"><Relationship Id="rId1" Type="http://schemas.openxmlformats.org/officeDocument/2006/relationships/slideLayout" Target="/ppt/slideLayouts/initial05_slideLayout1.xml" /><Relationship Id="rId2" Type="http://schemas.openxmlformats.org/officeDocument/2006/relationships/notesSlide" Target="/ppt/notesSlides/qaV1133.xml" /></Relationships>
</file>

<file path=ppt/slides/charts/_rels/intro_v10_chart1.xml.rels><?xml version='1.0' encoding='utf-8'?>
<Relationships xmlns="http://schemas.openxmlformats.org/package/2006/relationships"><Relationship Id="rIdChartSnapshot1" Type="http://schemas.openxmlformats.org/officeDocument/2006/relationships/package" Target="/ppt/embeddings/intro_v9_chart-data-snapshot-001.xlsx" /></Relationships>
</file>

<file path=ppt/slides/charts/intro_v10_chart1.xml><?xml version="1.0" encoding="utf-8"?>
<ns0:chartSpace xmlns:a="http://schemas.openxmlformats.org/drawingml/2006/main" xmlns:ns0="http://schemas.openxmlformats.org/drawingml/2006/chart" xmlns:r="http://schemas.openxmlformats.org/officeDocument/2006/relationships">
  <ns0:lang val="en-US"/>
  <ns0:chart>
    <ns0:plotArea>
      <ns0:barChart>
        <ns0:barDir val="col"/>
        <ns0:grouping val="clustered"/>
        <ns0:varyColors val="1"/>
        <ns0:ser>
          <ns0:idx val="0"/>
          <ns0:order val="0"/>
          <ns0:tx>
            <ns0:v>시장 규모 (십억 달러)</ns0:v>
          </ns0:tx>
          <ns0:spPr>
            <a:solidFill>
              <a:srgbClr val="082759"/>
            </a:solidFill>
          </ns0:spPr>
          <ns0:invertIfNegative val="0"/>
          <ns0:dPt>
            <ns0:idx val="0"/>
            <ns0:invertIfNegative val="0"/>
            <ns0:spPr>
              <a:solidFill>
                <a:srgbClr val="A3B4CA"/>
              </a:solidFill>
            </ns0:spPr>
          </ns0:dPt>
          <ns0:dPt>
            <ns0:idx val="1"/>
            <ns0:invertIfNegative val="0"/>
            <ns0:spPr>
              <a:solidFill>
                <a:srgbClr val="082759"/>
              </a:solidFill>
            </ns0:spPr>
          </ns0:dPt>
          <ns0:cat>
            <ns0:strRef>
              <ns0:f>'Chart Data'!$A$2:$A$3</ns0:f>
              <ns0:strCache>
                <ns0:ptCount val="2"/>
                <ns0:pt idx="0">
                  <ns0:v>2026 추정</ns0:v>
                </ns0:pt>
                <ns0:pt idx="1">
                  <ns0:v>2031 전망</ns0:v>
                </ns0:pt>
              </ns0:strCache>
            </ns0:strRef>
          </ns0:cat>
          <ns0:val>
            <ns0:numRef>
              <ns0:f>'Chart Data'!$B$2:$B$3</ns0:f>
              <ns0:numCache>
                <ns0:formatCode>General</ns0:formatCode>
                <ns0:ptCount val="2"/>
                <ns0:pt idx="0">
                  <ns0:v>9.02</ns0:v>
                </ns0:pt>
                <ns0:pt idx="1">
                  <ns0:v>18.36</ns0:v>
                </ns0:pt>
              </ns0:numCache>
            </ns0:numRef>
          </ns0:val>
        </ns0:ser>
        <ns0:dLbls>
          <ns0:numFmt formatCode="0.00" sourceLinked="0"/>
          <ns0:txPr>
            <a:bodyPr anchorCtr="1"/>
            <a:lstStyle/>
            <a:p>
              <a:pPr>
                <a:defRPr sz="2000" b="1" lang="ko-KR">
                  <a:solidFill>
                    <a:srgbClr val="000000"/>
                  </a:solidFill>
                  <a:latin typeface="Calibri"/>
                  <a:ea typeface="Calibri"/>
                  <a:cs typeface="Calibri"/>
                </a:defRPr>
              </a:pPr>
              <a:endParaRPr lang="ko-KR">
                <a:latin typeface="Calibri"/>
                <a:ea typeface="Calibri"/>
                <a:cs typeface="Calibri"/>
              </a:endParaRPr>
            </a:p>
          </ns0:txPr>
          <ns0:dLblPos val="outEnd"/>
          <ns0:showLegendKey val="0"/>
          <ns0:showVal val="1"/>
          <ns0:showCatName val="0"/>
          <ns0:showSerName val="0"/>
          <ns0:showPercent val="0"/>
          <ns0:showBubbleSize val="0"/>
          <ns0:showLeaderLines val="0"/>
        </ns0:dLbls>
        <ns0:gapWidth val="80"/>
        <ns0:axId val="48650112"/>
        <ns0:axId val="48672768"/>
      </ns0:barChart>
      <ns0:catAx>
        <ns0:axId val="48650112"/>
        <ns0:scaling>
          <ns0:orientation val="minMax"/>
        </ns0:scaling>
        <ns0:delete val="0"/>
        <ns0:axPos val="b"/>
        <ns0:numFmt formatCode="General"/>
        <ns0:majorTickMark val="none"/>
        <ns0:minorTickMark val="none"/>
        <ns0:spPr>
          <a:ln w="9525">
            <a:solidFill>
              <a:srgbClr val="D4DBE4"/>
            </a:solidFill>
          </a:ln>
        </ns0:spPr>
        <ns0:txPr>
          <a:bodyPr anchorCtr="1"/>
          <a:lstStyle/>
          <a:p>
            <a:pPr>
              <a:defRPr sz="1500" lang="ko-KR">
                <a:solidFill>
                  <a:srgbClr val="000000"/>
                </a:solidFill>
                <a:latin typeface="Calibri"/>
                <a:ea typeface="Calibri"/>
                <a:cs typeface="Calibri"/>
              </a:defRPr>
            </a:pPr>
            <a:endParaRPr lang="ko-KR">
              <a:latin typeface="Calibri"/>
              <a:ea typeface="Calibri"/>
              <a:cs typeface="Calibri"/>
            </a:endParaRPr>
          </a:p>
        </ns0:txPr>
        <ns0:crossAx val="48672768"/>
      </ns0:catAx>
      <ns0:valAx>
        <ns0:axId val="48672768"/>
        <ns0:scaling>
          <ns0:orientation val="minMax"/>
          <ns0:max val="20"/>
          <ns0:min val="0"/>
        </ns0:scaling>
        <ns0:delete val="0"/>
        <ns0:axPos val="l"/>
        <ns0:majorGridlines>
          <ns0:spPr>
            <a:ln w="9525">
              <a:solidFill>
                <a:srgbClr val="E7EBEF"/>
              </a:solidFill>
            </a:ln>
          </ns0:spPr>
        </ns0:majorGridlines>
        <ns0:numFmt formatCode="General"/>
        <ns0:majorTickMark val="none"/>
        <ns0:minorTickMark val="none"/>
        <ns0:spPr>
          <a:ln w="0">
            <a:noFill/>
          </a:ln>
        </ns0:spPr>
        <ns0:txPr>
          <a:bodyPr anchorCtr="1"/>
          <a:lstStyle/>
          <a:p>
            <a:pPr>
              <a:defRPr sz="1200" lang="ko-KR">
                <a:solidFill>
                  <a:srgbClr val="4A5563"/>
                </a:solidFill>
                <a:latin typeface="Calibri"/>
                <a:ea typeface="Calibri"/>
                <a:cs typeface="Calibri"/>
              </a:defRPr>
            </a:pPr>
            <a:endParaRPr lang="ko-KR">
              <a:latin typeface="Calibri"/>
              <a:ea typeface="Calibri"/>
              <a:cs typeface="Calibri"/>
            </a:endParaRPr>
          </a:p>
        </ns0:txPr>
        <ns0:crossAx val="48650112"/>
        <ns0:crossBetween val="between"/>
        <ns0:majorUnit val="10"/>
      </ns0:valAx>
      <ns0:spPr>
        <a:solidFill>
          <a:srgbClr val="FFFFFF"/>
        </a:solidFill>
        <a:ln w="0">
          <a:noFill/>
        </a:ln>
      </ns0:spPr>
    </ns0:plotArea>
    <ns0:plotVisOnly val="1"/>
  </ns0:chart>
  <ns0:spPr>
    <a:solidFill>
      <a:srgbClr val="FFFFFF"/>
    </a:solidFill>
    <a:ln w="0">
      <a:noFill/>
    </a:ln>
  </ns0:spPr>
  <ns0:externalData r:id="rIdChartSnapshot1">
    <ns0:autoUpdate val="0"/>
  </ns0:externalData>
</ns0:chartSpace>
</file>

<file path=ppt/slides/slide33.xml><?xml version="1.0" encoding="utf-8"?>
<p:sld xmlns:a="http://schemas.openxmlformats.org/drawingml/2006/main" xmlns:ns2="http://schemas.microsoft.com/office/drawing/2014/main" xmlns:ns4="http://schemas.openxmlformats.org/drawingml/2006/chart" xmlns:p="http://schemas.openxmlformats.org/presentationml/2006/main" xmlns:p14="http://schemas.microsoft.com/office/powerpoint/2010/main" xmlns:r="http://schemas.openxmlformats.org/officeDocument/2006/relationships">
  <p:cSld name="project-intro-v10-1">
    <p:bg>
      <p:bgPr>
        <a:solidFill>
          <a:srgbClr val="FFFFFF"/>
        </a:solidFill>
      </p:bgPr>
    </p:bg>
    <p:spTree>
      <p:nvGrpSpPr>
        <p:cNvPr id="2" name=""/>
        <p:cNvGrpSpPr/>
        <p:nvPr/>
      </p:nvGrpSpPr>
      <p:grpSpPr>
        <a:xfrm/>
      </p:grpSpPr>
      <p:sp>
        <p:nvSpPr>
          <p:cNvPr id="3" name="trend-execution-title">
            <a:extLst>
              <a:ext uri="{FF2B5EF4-FFF2-40B4-BE49-F238E27FC236}">
                <ns2:creationId id="{44A0B98E-0513-4C1A-8B6A-8BE9BAE2F5E7}"/>
              </a:ext>
            </a:extLst>
          </p:cNvPr>
          <p:cNvSpPr>
            <a:spLocks noGrp="1"/>
          </p:cNvSpPr>
          <p:nvPr/>
        </p:nvSpPr>
        <p:spPr>
          <a:xfrm>
            <a:off x="571500" y="1333500"/>
            <a:ext cx="7905750" cy="628650"/>
          </a:xfrm>
          <a:prstGeom prst="roundRect">
            <a:avLst>
              <a:gd name="adj" fmla="val 12121"/>
            </a:avLst>
          </a:prstGeom>
          <a:solidFill>
            <a:srgbClr val="082759"/>
          </a:solidFill>
          <a:ln w="0">
            <a:noFill/>
          </a:ln>
        </p:spPr>
        <p:txBody>
          <a:bodyPr wrap="none" lIns="0" tIns="0" rIns="0" bIns="0" anchor="ctr">
            <a:noAutofit/>
          </a:bodyPr>
          <a:lstStyle>
            <a:defPPr algn="ctr">
              <a:defRPr sz="2500" b="1" lang="ko-KR">
                <a:solidFill>
                  <a:srgbClr val="FFFFFF"/>
                </a:solidFill>
                <a:latin typeface="Calibri"/>
                <a:ea typeface="Calibri"/>
                <a:cs typeface="Calibri"/>
              </a:defRPr>
            </a:defPPr>
          </a:lstStyle>
          <a:p>
            <a:pPr algn="ctr">
              <a:defRPr sz="2500" b="1" lang="ko-KR">
                <a:solidFill>
                  <a:srgbClr val="FFFFFF"/>
                </a:solidFill>
                <a:latin typeface="Calibri"/>
                <a:ea typeface="Calibri"/>
                <a:cs typeface="Calibri"/>
              </a:defRPr>
            </a:pPr>
            <a:r>
              <a:rPr sz="2500" b="1" lang="ko-KR">
                <a:solidFill>
                  <a:srgbClr val="FFFFFF"/>
                </a:solidFill>
                <a:latin typeface="Calibri"/>
                <a:ea typeface="Calibri"/>
                <a:cs typeface="Calibri"/>
              </a:rPr>
              <a:t>PC 업무 실행과 음성 상호작용의 발전</a:t>
            </a:r>
            <a:endParaRPr lang="ko-KR">
              <a:latin typeface="Calibri"/>
              <a:ea typeface="Calibri"/>
              <a:cs typeface="Calibri"/>
            </a:endParaRPr>
          </a:p>
        </p:txBody>
      </p:sp>
      <p:sp>
        <p:nvSpPr>
          <p:cNvPr id="4" name="demo-one-label">
            <a:extLst>
              <a:ext uri="{FF2B5EF4-FFF2-40B4-BE49-F238E27FC236}">
                <ns2:creationId id="{D3158B16-833B-405D-97A7-CCC286490073}"/>
              </a:ext>
            </a:extLst>
          </p:cNvPr>
          <p:cNvSpPr>
            <a:spLocks noGrp="1"/>
          </p:cNvSpPr>
          <p:nvPr/>
        </p:nvSpPr>
        <p:spPr>
          <a:xfrm>
            <a:off x="781050" y="2124075"/>
            <a:ext cx="7524750" cy="400050"/>
          </a:xfrm>
          <a:prstGeom prst="rect">
            <a:avLst/>
          </a:prstGeom>
          <a:noFill/>
          <a:ln w="0">
            <a:noFill/>
          </a:ln>
        </p:spPr>
        <p:txBody>
          <a:bodyPr wrap="none" lIns="0" tIns="0" rIns="0" bIns="0" anchor="ctr">
            <a:noAutofit/>
          </a:bodyPr>
          <a:lstStyle>
            <a:defPPr algn="l">
              <a:defRPr sz="2400" b="1" lang="ko-KR">
                <a:solidFill>
                  <a:srgbClr val="000000"/>
                </a:solidFill>
                <a:latin typeface="Calibri"/>
                <a:ea typeface="Calibri"/>
                <a:cs typeface="Calibri"/>
              </a:defRPr>
            </a:defP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Claude Cowork  |  브라우저 업무 수행</a:t>
            </a:r>
            <a:endParaRPr lang="ko-KR">
              <a:latin typeface="Calibri"/>
              <a:ea typeface="Calibri"/>
              <a:cs typeface="Calibri"/>
            </a:endParaRPr>
          </a:p>
        </p:txBody>
      </p:sp>
      <p:sp>
        <p:nvSpPr>
          <p:cNvPr id="5" name="demo-one-frame">
            <a:extLst>
              <a:ext uri="{FF2B5EF4-FFF2-40B4-BE49-F238E27FC236}">
                <ns2:creationId id="{40069728-05D5-4723-BC18-CAE0D0A09614}"/>
              </a:ext>
            </a:extLst>
          </p:cNvPr>
          <p:cNvSpPr>
            <a:spLocks noGrp="1"/>
          </p:cNvSpPr>
          <p:nvPr/>
        </p:nvSpPr>
        <p:spPr>
          <a:xfrm>
            <a:off x="1800225" y="2609850"/>
            <a:ext cx="5467350" cy="3086100"/>
          </a:xfrm>
          <a:prstGeom prst="rect">
            <a:avLst/>
          </a:prstGeom>
          <a:solidFill>
            <a:srgbClr val="FFFFFF"/>
          </a:solidFill>
          <a:ln w="14288">
            <a:solidFill>
              <a:srgbClr val="D4DBE4"/>
            </a:solidFill>
          </a:ln>
        </p:spPr>
      </p:sp>
      <p:pic>
        <p:nvPicPr>
          <p:cNvPr id="6" name="">
            <a:extLst>
              <a:ext uri="{FF2B5EF4-FFF2-40B4-BE49-F238E27FC236}">
                <ns2:creationId id="{23DCDF09-2837-4F47-ABF3-AD9CAA0560BB}"/>
              </a:ext>
            </a:extLst>
          </p:cNvPr>
          <p:cNvPicPr>
            <a:picLocks noChangeAspect="1"/>
          </p:cNvPicPr>
          <p:nvPr/>
        </p:nvPicPr>
        <p:blipFill>
          <a:blip r:embed="R437653e567e04d29"/>
          <a:stretch/>
        </p:blipFill>
        <p:spPr>
          <a:xfrm>
            <a:off x="1819275" y="2631359"/>
            <a:ext cx="5429250" cy="3049035"/>
          </a:xfrm>
          <a:prstGeom prst="rect">
            <a:avLst/>
          </a:prstGeom>
        </p:spPr>
      </p:pic>
      <p:sp>
        <p:nvSpPr>
          <p:cNvPr id="7" name="demo-one-source">
            <a:extLst>
              <a:ext uri="{FF2B5EF4-FFF2-40B4-BE49-F238E27FC236}">
                <ns2:creationId id="{E524EA85-11B7-4A14-AF4A-5002233F0F27}"/>
              </a:ext>
            </a:extLst>
          </p:cNvPr>
          <p:cNvSpPr>
            <a:spLocks noGrp="1"/>
          </p:cNvSpPr>
          <p:nvPr/>
        </p:nvSpPr>
        <p:spPr>
          <a:xfrm>
            <a:off x="1676400" y="5743575"/>
            <a:ext cx="5715000" cy="247650"/>
          </a:xfrm>
          <a:prstGeom prst="rect">
            <a:avLst/>
          </a:prstGeom>
          <a:noFill/>
          <a:ln w="0">
            <a:noFill/>
          </a:ln>
        </p:spPr>
        <p:txBody>
          <a:bodyPr wrap="none" lIns="0" tIns="0" rIns="0" bIns="0" anchor="ctr">
            <a:noAutofit/>
          </a:bodyPr>
          <a:lstStyle>
            <a:defPPr algn="ctr">
              <a:defRPr sz="1400" b="0" lang="ko-KR">
                <a:solidFill>
                  <a:srgbClr val="4A5563"/>
                </a:solidFill>
                <a:latin typeface="Calibri"/>
                <a:ea typeface="Calibri"/>
                <a:cs typeface="Calibri"/>
              </a:defRPr>
            </a:defPPr>
          </a:lstStyle>
          <a:p>
            <a:pPr algn="ctr">
              <a:defRPr sz="1400" b="0" lang="ko-KR">
                <a:solidFill>
                  <a:srgbClr val="4A5563"/>
                </a:solidFill>
                <a:latin typeface="Calibri"/>
                <a:ea typeface="Calibri"/>
                <a:cs typeface="Calibri"/>
              </a:defRPr>
            </a:pPr>
            <a:r>
              <a:rPr sz="1400" b="0" lang="ko-KR">
                <a:solidFill>
                  <a:srgbClr val="4A5563"/>
                </a:solidFill>
                <a:latin typeface="Calibri"/>
                <a:ea typeface="Calibri"/>
                <a:cs typeface="Calibri"/>
              </a:rPr>
              <a:t>Anthropic 공개 시연 발췌  /  2026.08.26</a:t>
            </a:r>
            <a:endParaRPr lang="ko-KR">
              <a:latin typeface="Calibri"/>
              <a:ea typeface="Calibri"/>
              <a:cs typeface="Calibri"/>
            </a:endParaRPr>
          </a:p>
        </p:txBody>
      </p:sp>
      <p:sp>
        <p:nvSpPr>
          <p:cNvPr id="8" name="demo-divider">
            <a:extLst>
              <a:ext uri="{FF2B5EF4-FFF2-40B4-BE49-F238E27FC236}">
                <ns2:creationId id="{5FD607E5-ABE5-4BBD-97F5-C7C6116DD7F4}"/>
              </a:ext>
            </a:extLst>
          </p:cNvPr>
          <p:cNvSpPr>
            <a:spLocks noGrp="1"/>
          </p:cNvSpPr>
          <p:nvPr/>
        </p:nvSpPr>
        <p:spPr>
          <a:xfrm>
            <a:off x="781050" y="6067425"/>
            <a:ext cx="7486650" cy="14288"/>
          </a:xfrm>
          <a:prstGeom prst="rect">
            <a:avLst/>
          </a:prstGeom>
          <a:solidFill>
            <a:srgbClr val="D4DBE4"/>
          </a:solidFill>
          <a:ln w="0">
            <a:noFill/>
          </a:ln>
        </p:spPr>
      </p:sp>
      <p:sp>
        <p:nvSpPr>
          <p:cNvPr id="9" name="demo-two-label">
            <a:extLst>
              <a:ext uri="{FF2B5EF4-FFF2-40B4-BE49-F238E27FC236}">
                <ns2:creationId id="{9811B2DF-ADD1-4027-B851-28EDC7B007BC}"/>
              </a:ext>
            </a:extLst>
          </p:cNvPr>
          <p:cNvSpPr>
            <a:spLocks noGrp="1"/>
          </p:cNvSpPr>
          <p:nvPr/>
        </p:nvSpPr>
        <p:spPr>
          <a:xfrm>
            <a:off x="781050" y="6134100"/>
            <a:ext cx="7524750" cy="400050"/>
          </a:xfrm>
          <a:prstGeom prst="rect">
            <a:avLst/>
          </a:prstGeom>
          <a:noFill/>
          <a:ln w="0">
            <a:noFill/>
          </a:ln>
        </p:spPr>
        <p:txBody>
          <a:bodyPr wrap="none" lIns="0" tIns="0" rIns="0" bIns="0" anchor="ctr">
            <a:noAutofit/>
          </a:bodyPr>
          <a:lstStyle>
            <a:defPPr algn="l">
              <a:defRPr sz="2400" b="1" lang="ko-KR">
                <a:solidFill>
                  <a:srgbClr val="000000"/>
                </a:solidFill>
                <a:latin typeface="Calibri"/>
                <a:ea typeface="Calibri"/>
                <a:cs typeface="Calibri"/>
              </a:defRPr>
            </a:defP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GPT-6 Astra  |  음성으로 수정과 후속 작업</a:t>
            </a:r>
            <a:endParaRPr lang="ko-KR">
              <a:latin typeface="Calibri"/>
              <a:ea typeface="Calibri"/>
              <a:cs typeface="Calibri"/>
            </a:endParaRPr>
          </a:p>
        </p:txBody>
      </p:sp>
      <p:sp>
        <p:nvSpPr>
          <p:cNvPr id="10" name="demo-two-frame">
            <a:extLst>
              <a:ext uri="{FF2B5EF4-FFF2-40B4-BE49-F238E27FC236}">
                <ns2:creationId id="{809FD282-BF47-410C-BE97-D9BCCE629A82}"/>
              </a:ext>
            </a:extLst>
          </p:cNvPr>
          <p:cNvSpPr>
            <a:spLocks noGrp="1"/>
          </p:cNvSpPr>
          <p:nvPr/>
        </p:nvSpPr>
        <p:spPr>
          <a:xfrm>
            <a:off x="1800225" y="6638925"/>
            <a:ext cx="5467350" cy="3086100"/>
          </a:xfrm>
          <a:prstGeom prst="rect">
            <a:avLst/>
          </a:prstGeom>
          <a:solidFill>
            <a:srgbClr val="FFFFFF"/>
          </a:solidFill>
          <a:ln w="14288">
            <a:solidFill>
              <a:srgbClr val="D4DBE4"/>
            </a:solidFill>
          </a:ln>
        </p:spPr>
      </p:sp>
      <p:pic>
        <p:nvPicPr>
          <p:cNvPr id="11" name="">
            <a:extLst>
              <a:ext uri="{FF2B5EF4-FFF2-40B4-BE49-F238E27FC236}">
                <ns2:creationId id="{AC3FBCC6-F7ED-43A8-A546-888173CB32DE}"/>
              </a:ext>
            </a:extLst>
          </p:cNvPr>
          <p:cNvPicPr>
            <a:picLocks noChangeAspect="1"/>
          </p:cNvPicPr>
          <p:nvPr/>
        </p:nvPicPr>
        <p:blipFill>
          <a:blip r:embed="R5ebd9b7fc25b4c2e"/>
          <a:stretch/>
        </p:blipFill>
        <p:spPr>
          <a:xfrm>
            <a:off x="1819275" y="6657975"/>
            <a:ext cx="5429250" cy="3053953"/>
          </a:xfrm>
          <a:prstGeom prst="rect">
            <a:avLst/>
          </a:prstGeom>
        </p:spPr>
      </p:pic>
      <p:sp>
        <p:nvSpPr>
          <p:cNvPr id="12" name="demo-two-source">
            <a:extLst>
              <a:ext uri="{FF2B5EF4-FFF2-40B4-BE49-F238E27FC236}">
                <ns2:creationId id="{96B172EA-E32B-4856-AAE3-667F82F8C39D}"/>
              </a:ext>
            </a:extLst>
          </p:cNvPr>
          <p:cNvSpPr>
            <a:spLocks noGrp="1"/>
          </p:cNvSpPr>
          <p:nvPr/>
        </p:nvSpPr>
        <p:spPr>
          <a:xfrm>
            <a:off x="876300" y="9753600"/>
            <a:ext cx="7334250" cy="228600"/>
          </a:xfrm>
          <a:prstGeom prst="rect">
            <a:avLst/>
          </a:prstGeom>
          <a:noFill/>
          <a:ln w="0">
            <a:noFill/>
          </a:ln>
        </p:spPr>
        <p:txBody>
          <a:bodyPr wrap="none" lIns="0" tIns="0" rIns="0" bIns="0" anchor="ctr">
            <a:noAutofit/>
          </a:bodyPr>
          <a:lstStyle>
            <a:defPPr algn="ctr">
              <a:defRPr sz="1400" b="0" lang="ko-KR">
                <a:solidFill>
                  <a:srgbClr val="4A5563"/>
                </a:solidFill>
                <a:latin typeface="Calibri"/>
                <a:ea typeface="Calibri"/>
                <a:cs typeface="Calibri"/>
              </a:defRPr>
            </a:defPPr>
          </a:lstStyle>
          <a:p>
            <a:pPr algn="ctr">
              <a:defRPr sz="1400" b="0" lang="ko-KR">
                <a:solidFill>
                  <a:srgbClr val="4A5563"/>
                </a:solidFill>
                <a:latin typeface="Calibri"/>
                <a:ea typeface="Calibri"/>
                <a:cs typeface="Calibri"/>
              </a:defRPr>
            </a:pPr>
            <a:r>
              <a:rPr sz="1400" b="0" lang="ko-KR">
                <a:solidFill>
                  <a:srgbClr val="4A5563"/>
                </a:solidFill>
                <a:latin typeface="Calibri"/>
                <a:ea typeface="Calibri"/>
                <a:cs typeface="Calibri"/>
              </a:rPr>
              <a:t>OpenAI 공식 발표 2026.09.03  /  시연 발췌, 1.5배속</a:t>
            </a:r>
            <a:endParaRPr lang="ko-KR">
              <a:latin typeface="Calibri"/>
              <a:ea typeface="Calibri"/>
              <a:cs typeface="Calibri"/>
            </a:endParaRPr>
          </a:p>
        </p:txBody>
      </p:sp>
      <p:sp>
        <p:nvSpPr>
          <p:cNvPr id="13" name="trend-market-title">
            <a:extLst>
              <a:ext uri="{FF2B5EF4-FFF2-40B4-BE49-F238E27FC236}">
                <ns2:creationId id="{1F289D35-8EC6-4154-9DA0-05C009F8CE61}"/>
              </a:ext>
            </a:extLst>
          </p:cNvPr>
          <p:cNvSpPr>
            <a:spLocks noGrp="1"/>
          </p:cNvSpPr>
          <p:nvPr/>
        </p:nvSpPr>
        <p:spPr>
          <a:xfrm>
            <a:off x="9048750" y="1333500"/>
            <a:ext cx="8667750" cy="628650"/>
          </a:xfrm>
          <a:prstGeom prst="roundRect">
            <a:avLst>
              <a:gd name="adj" fmla="val 12121"/>
            </a:avLst>
          </a:prstGeom>
          <a:solidFill>
            <a:srgbClr val="082759"/>
          </a:solidFill>
          <a:ln w="0">
            <a:noFill/>
          </a:ln>
        </p:spPr>
        <p:txBody>
          <a:bodyPr wrap="none" lIns="0" tIns="0" rIns="0" bIns="0" anchor="ctr">
            <a:noAutofit/>
          </a:bodyPr>
          <a:lstStyle>
            <a:defPPr algn="ctr">
              <a:defRPr sz="2500" b="1" lang="ko-KR">
                <a:solidFill>
                  <a:srgbClr val="FFFFFF"/>
                </a:solidFill>
                <a:latin typeface="Calibri"/>
                <a:ea typeface="Calibri"/>
                <a:cs typeface="Calibri"/>
              </a:defRPr>
            </a:defPPr>
          </a:lstStyle>
          <a:p>
            <a:pPr algn="ctr">
              <a:defRPr sz="2500" b="1" lang="ko-KR">
                <a:solidFill>
                  <a:srgbClr val="FFFFFF"/>
                </a:solidFill>
                <a:latin typeface="Calibri"/>
                <a:ea typeface="Calibri"/>
                <a:cs typeface="Calibri"/>
              </a:defRPr>
            </a:pPr>
            <a:r>
              <a:rPr sz="2500" b="1" lang="ko-KR">
                <a:solidFill>
                  <a:srgbClr val="FFFFFF"/>
                </a:solidFill>
                <a:latin typeface="Calibri"/>
                <a:ea typeface="Calibri"/>
                <a:cs typeface="Calibri"/>
              </a:rPr>
              <a:t>음성 Agent 시장 확대와 주요 기업의 경쟁</a:t>
            </a:r>
            <a:endParaRPr lang="ko-KR">
              <a:latin typeface="Calibri"/>
              <a:ea typeface="Calibri"/>
              <a:cs typeface="Calibri"/>
            </a:endParaRPr>
          </a:p>
        </p:txBody>
      </p:sp>
      <p:sp>
        <p:nvSpPr>
          <p:cNvPr id="14" name="market-title">
            <a:extLst>
              <a:ext uri="{FF2B5EF4-FFF2-40B4-BE49-F238E27FC236}">
                <ns2:creationId id="{D82501A0-0D0B-447F-9D99-F58CC8D9797E}"/>
              </a:ext>
            </a:extLst>
          </p:cNvPr>
          <p:cNvSpPr>
            <a:spLocks noGrp="1"/>
          </p:cNvSpPr>
          <p:nvPr/>
        </p:nvSpPr>
        <p:spPr>
          <a:xfrm>
            <a:off x="9277350" y="2114550"/>
            <a:ext cx="3390900" cy="714375"/>
          </a:xfrm>
          <a:prstGeom prst="rect">
            <a:avLst/>
          </a:prstGeom>
          <a:noFill/>
          <a:ln w="0">
            <a:noFill/>
          </a:ln>
        </p:spPr>
        <p:txBody>
          <a:bodyPr wrap="none" lIns="0" tIns="0" rIns="0" bIns="0" anchor="ctr">
            <a:noAutofit/>
          </a:bodyPr>
          <a:lstStyle>
            <a:defPPr algn="l">
              <a:defRPr sz="2000" b="1" lang="ko-KR">
                <a:solidFill>
                  <a:srgbClr val="000000"/>
                </a:solidFill>
                <a:latin typeface="Calibri"/>
                <a:ea typeface="Calibri"/>
                <a:cs typeface="Calibri"/>
              </a:defRPr>
            </a:defP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VIA 관련 상위 시장</a:t>
            </a:r>
            <a:endParaRPr lang="ko-KR">
              <a:latin typeface="Calibri"/>
              <a:ea typeface="Calibri"/>
              <a:cs typeface="Calibri"/>
            </a:endParaRPr>
          </a:p>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음성 비서 애플리케이션</a:t>
            </a:r>
            <a:endParaRPr lang="ko-KR">
              <a:latin typeface="Calibri"/>
              <a:ea typeface="Calibri"/>
              <a:cs typeface="Calibri"/>
            </a:endParaRPr>
          </a:p>
        </p:txBody>
      </p:sp>
      <p:sp>
        <p:nvSpPr>
          <p:cNvPr id="15" name="market-cagr">
            <a:extLst>
              <a:ext uri="{FF2B5EF4-FFF2-40B4-BE49-F238E27FC236}">
                <ns2:creationId id="{BE93C29A-E045-43AA-88AE-6457786DD9D7}"/>
              </a:ext>
            </a:extLst>
          </p:cNvPr>
          <p:cNvSpPr>
            <a:spLocks noGrp="1"/>
          </p:cNvSpPr>
          <p:nvPr/>
        </p:nvSpPr>
        <p:spPr>
          <a:xfrm>
            <a:off x="9277350" y="2886075"/>
            <a:ext cx="3429000" cy="323850"/>
          </a:xfrm>
          <a:prstGeom prst="rect">
            <a:avLst/>
          </a:prstGeom>
          <a:noFill/>
          <a:ln w="0">
            <a:noFill/>
          </a:ln>
        </p:spPr>
        <p:txBody>
          <a:bodyPr wrap="none" lIns="0" tIns="0" rIns="0" bIns="0" anchor="ctr">
            <a:noAutofit/>
          </a:bodyPr>
          <a:lstStyle>
            <a:defPPr algn="l">
              <a:defRPr sz="2000" b="1" lang="ko-KR">
                <a:solidFill>
                  <a:srgbClr val="487139"/>
                </a:solidFill>
                <a:latin typeface="Calibri"/>
                <a:ea typeface="Calibri"/>
                <a:cs typeface="Calibri"/>
              </a:defRPr>
            </a:defPPr>
          </a:lstStyle>
          <a:p>
            <a:pPr algn="l">
              <a:defRPr sz="2000" b="1" lang="ko-KR">
                <a:solidFill>
                  <a:srgbClr val="487139"/>
                </a:solidFill>
                <a:latin typeface="Calibri"/>
                <a:ea typeface="Calibri"/>
                <a:cs typeface="Calibri"/>
              </a:defRPr>
            </a:pPr>
            <a:r>
              <a:rPr sz="2000" b="1" lang="ko-KR">
                <a:solidFill>
                  <a:srgbClr val="487139"/>
                </a:solidFill>
                <a:latin typeface="Calibri"/>
                <a:ea typeface="Calibri"/>
                <a:cs typeface="Calibri"/>
              </a:rPr>
              <a:t>연평균 15.27% 성장 전망</a:t>
            </a:r>
            <a:endParaRPr lang="ko-KR">
              <a:latin typeface="Calibri"/>
              <a:ea typeface="Calibri"/>
              <a:cs typeface="Calibri"/>
            </a:endParaRPr>
          </a:p>
        </p:txBody>
      </p:sp>
      <p:graphicFrame>
        <p:nvGraphicFramePr>
          <p:cNvPr id="16" name="Chart">
            <a:extLst>
              <a:ext uri="{FF2B5EF4-FFF2-40B4-BE49-F238E27FC236}">
                <ns2:creationId id="{CB3C054D-5D6D-40BA-ACAC-E960FADA17FB}"/>
              </a:ext>
            </a:extLst>
          </p:cNvPr>
          <p:cNvGraphicFramePr/>
          <p:nvPr/>
        </p:nvGraphicFramePr>
        <p:xfrm>
          <a:off x="9229725" y="3305175"/>
          <a:ext cx="3381375" cy="2181225"/>
        </p:xfrm>
        <a:graphic>
          <a:graphicData uri="http://schemas.openxmlformats.org/drawingml/2006/chart">
            <ns4:chart r:id="R5568b160e74c4c6b"/>
          </a:graphicData>
        </a:graphic>
      </p:graphicFrame>
      <p:sp>
        <p:nvSpPr>
          <p:cNvPr id="17" name="market-unit">
            <a:extLst>
              <a:ext uri="{FF2B5EF4-FFF2-40B4-BE49-F238E27FC236}">
                <ns2:creationId id="{0FBD6772-48E2-4D6B-9836-BC2A341F04F6}"/>
              </a:ext>
            </a:extLst>
          </p:cNvPr>
          <p:cNvSpPr>
            <a:spLocks noGrp="1"/>
          </p:cNvSpPr>
          <p:nvPr/>
        </p:nvSpPr>
        <p:spPr>
          <a:xfrm>
            <a:off x="9277350" y="5486400"/>
            <a:ext cx="3381375" cy="228600"/>
          </a:xfrm>
          <a:prstGeom prst="rect">
            <a:avLst/>
          </a:prstGeom>
          <a:noFill/>
          <a:ln w="0">
            <a:noFill/>
          </a:ln>
        </p:spPr>
        <p:txBody>
          <a:bodyPr wrap="none" lIns="0" tIns="0" rIns="0" bIns="0" anchor="ctr">
            <a:noAutofit/>
          </a:bodyPr>
          <a:lstStyle>
            <a:defPPr algn="l">
              <a:defRPr sz="1300" b="0" lang="ko-KR">
                <a:solidFill>
                  <a:srgbClr val="4A5563"/>
                </a:solidFill>
                <a:latin typeface="Calibri"/>
                <a:ea typeface="Calibri"/>
                <a:cs typeface="Calibri"/>
              </a:defRPr>
            </a:defPPr>
          </a:lstStyle>
          <a:p>
            <a:pPr algn="l">
              <a:defRPr sz="1300" b="0" lang="ko-KR">
                <a:solidFill>
                  <a:srgbClr val="4A5563"/>
                </a:solidFill>
                <a:latin typeface="Calibri"/>
                <a:ea typeface="Calibri"/>
                <a:cs typeface="Calibri"/>
              </a:defRPr>
            </a:pPr>
            <a:r>
              <a:rPr sz="1300" b="0" lang="ko-KR">
                <a:solidFill>
                  <a:srgbClr val="4A5563"/>
                </a:solidFill>
                <a:latin typeface="Calibri"/>
                <a:ea typeface="Calibri"/>
                <a:cs typeface="Calibri"/>
              </a:rPr>
              <a:t>단위: 십억 달러</a:t>
            </a:r>
            <a:endParaRPr lang="ko-KR">
              <a:latin typeface="Calibri"/>
              <a:ea typeface="Calibri"/>
              <a:cs typeface="Calibri"/>
            </a:endParaRPr>
          </a:p>
        </p:txBody>
      </p:sp>
      <p:sp>
        <p:nvSpPr>
          <p:cNvPr id="18" name="market-list-divider">
            <a:extLst>
              <a:ext uri="{FF2B5EF4-FFF2-40B4-BE49-F238E27FC236}">
                <ns2:creationId id="{91E8E416-74F5-463A-8774-3F9936B2B239}"/>
              </a:ext>
            </a:extLst>
          </p:cNvPr>
          <p:cNvSpPr>
            <a:spLocks noGrp="1"/>
          </p:cNvSpPr>
          <p:nvPr/>
        </p:nvSpPr>
        <p:spPr>
          <a:xfrm>
            <a:off x="12782550" y="2181225"/>
            <a:ext cx="14288" cy="3505200"/>
          </a:xfrm>
          <a:prstGeom prst="rect">
            <a:avLst/>
          </a:prstGeom>
          <a:solidFill>
            <a:srgbClr val="D4DBE4"/>
          </a:solidFill>
          <a:ln w="0">
            <a:noFill/>
          </a:ln>
        </p:spPr>
      </p:sp>
      <p:sp>
        <p:nvSpPr>
          <p:cNvPr id="19" name="company-0">
            <a:extLst>
              <a:ext uri="{FF2B5EF4-FFF2-40B4-BE49-F238E27FC236}">
                <ns2:creationId id="{8ADDEE6E-8A42-49AF-A737-57F8BC089A79}"/>
              </a:ext>
            </a:extLst>
          </p:cNvPr>
          <p:cNvSpPr>
            <a:spLocks noGrp="1"/>
          </p:cNvSpPr>
          <p:nvPr/>
        </p:nvSpPr>
        <p:spPr>
          <a:xfrm>
            <a:off x="13049250" y="2114550"/>
            <a:ext cx="1219200" cy="323850"/>
          </a:xfrm>
          <a:prstGeom prst="rect">
            <a:avLst/>
          </a:prstGeom>
          <a:noFill/>
          <a:ln w="0">
            <a:noFill/>
          </a:ln>
        </p:spPr>
        <p:txBody>
          <a:bodyPr wrap="none" lIns="0" tIns="0" rIns="0" bIns="0" anchor="ctr">
            <a:noAutofit/>
          </a:bodyPr>
          <a:lstStyle>
            <a:defPPr algn="l">
              <a:defRPr sz="2000" b="1" lang="ko-KR">
                <a:solidFill>
                  <a:srgbClr val="082759"/>
                </a:solidFill>
                <a:latin typeface="Calibri"/>
                <a:ea typeface="Calibri"/>
                <a:cs typeface="Calibri"/>
              </a:defRPr>
            </a:defPPr>
          </a:lstStyle>
          <a:p>
            <a:pPr algn="l">
              <a:defRPr sz="2000" b="1" lang="ko-KR">
                <a:solidFill>
                  <a:srgbClr val="082759"/>
                </a:solidFill>
                <a:latin typeface="Calibri"/>
                <a:ea typeface="Calibri"/>
                <a:cs typeface="Calibri"/>
              </a:defRPr>
            </a:pPr>
            <a:r>
              <a:rPr sz="2000" b="1" lang="ko-KR">
                <a:solidFill>
                  <a:srgbClr val="082759"/>
                </a:solidFill>
                <a:latin typeface="Calibri"/>
                <a:ea typeface="Calibri"/>
                <a:cs typeface="Calibri"/>
              </a:rPr>
              <a:t>Google</a:t>
            </a:r>
            <a:endParaRPr lang="ko-KR">
              <a:latin typeface="Calibri"/>
              <a:ea typeface="Calibri"/>
              <a:cs typeface="Calibri"/>
            </a:endParaRPr>
          </a:p>
        </p:txBody>
      </p:sp>
      <p:sp>
        <p:nvSpPr>
          <p:cNvPr id="20" name="product-0">
            <a:extLst>
              <a:ext uri="{FF2B5EF4-FFF2-40B4-BE49-F238E27FC236}">
                <ns2:creationId id="{D118655B-0D51-47AF-9734-83B4D14704E0}"/>
              </a:ext>
            </a:extLst>
          </p:cNvPr>
          <p:cNvSpPr>
            <a:spLocks noGrp="1"/>
          </p:cNvSpPr>
          <p:nvPr/>
        </p:nvSpPr>
        <p:spPr>
          <a:xfrm>
            <a:off x="14335125" y="2114550"/>
            <a:ext cx="3286125" cy="323850"/>
          </a:xfrm>
          <a:prstGeom prst="rect">
            <a:avLst/>
          </a:prstGeom>
          <a:noFill/>
          <a:ln w="0">
            <a:noFill/>
          </a:ln>
        </p:spPr>
        <p:txBody>
          <a:bodyPr wrap="none" lIns="0" tIns="0" rIns="0" bIns="0" anchor="ctr">
            <a:noAutofit/>
          </a:bodyPr>
          <a:lstStyle>
            <a:defPPr algn="l">
              <a:defRPr sz="2100" b="1" lang="ko-KR">
                <a:solidFill>
                  <a:srgbClr val="000000"/>
                </a:solidFill>
                <a:latin typeface="Calibri"/>
                <a:ea typeface="Calibri"/>
                <a:cs typeface="Calibri"/>
              </a:defRPr>
            </a:defP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Gemini Live</a:t>
            </a:r>
            <a:endParaRPr lang="ko-KR">
              <a:latin typeface="Calibri"/>
              <a:ea typeface="Calibri"/>
              <a:cs typeface="Calibri"/>
            </a:endParaRPr>
          </a:p>
        </p:txBody>
      </p:sp>
      <p:sp>
        <p:nvSpPr>
          <p:cNvPr id="21" name="case-0">
            <a:extLst>
              <a:ext uri="{FF2B5EF4-FFF2-40B4-BE49-F238E27FC236}">
                <ns2:creationId id="{9FE4180A-93C9-4B74-A128-CDD601064DB8}"/>
              </a:ext>
            </a:extLst>
          </p:cNvPr>
          <p:cNvSpPr>
            <a:spLocks noGrp="1"/>
          </p:cNvSpPr>
          <p:nvPr/>
        </p:nvSpPr>
        <p:spPr>
          <a:xfrm>
            <a:off x="13049250" y="2476500"/>
            <a:ext cx="4572000" cy="323850"/>
          </a:xfrm>
          <a:prstGeom prst="rect">
            <a:avLst/>
          </a:prstGeom>
          <a:noFill/>
          <a:ln w="0">
            <a:noFill/>
          </a:ln>
        </p:spPr>
        <p:txBody>
          <a:bodyPr wrap="none" lIns="0" tIns="0" rIns="0" bIns="0" anchor="ctr">
            <a:noAutofit/>
          </a:bodyPr>
          <a:lstStyle>
            <a:defPPr algn="l">
              <a:defRPr sz="1800" b="0" lang="ko-KR">
                <a:solidFill>
                  <a:srgbClr val="000000"/>
                </a:solidFill>
                <a:latin typeface="Calibri"/>
                <a:ea typeface="Calibri"/>
                <a:cs typeface="Calibri"/>
              </a:defRPr>
            </a:defP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음성과 화면 대화, 앱 연동</a:t>
            </a:r>
            <a:endParaRPr lang="ko-KR">
              <a:latin typeface="Calibri"/>
              <a:ea typeface="Calibri"/>
              <a:cs typeface="Calibri"/>
            </a:endParaRPr>
          </a:p>
        </p:txBody>
      </p:sp>
      <p:sp>
        <p:nvSpPr>
          <p:cNvPr id="22" name="case-rule-0">
            <a:extLst>
              <a:ext uri="{FF2B5EF4-FFF2-40B4-BE49-F238E27FC236}">
                <ns2:creationId id="{222C6524-8913-46B0-8E57-3D2EF9F56DD8}"/>
              </a:ext>
            </a:extLst>
          </p:cNvPr>
          <p:cNvSpPr>
            <a:spLocks noGrp="1"/>
          </p:cNvSpPr>
          <p:nvPr/>
        </p:nvSpPr>
        <p:spPr>
          <a:xfrm>
            <a:off x="13049250" y="2905125"/>
            <a:ext cx="4476750" cy="14288"/>
          </a:xfrm>
          <a:prstGeom prst="rect">
            <a:avLst/>
          </a:prstGeom>
          <a:solidFill>
            <a:srgbClr val="E3E7EC"/>
          </a:solidFill>
          <a:ln w="0">
            <a:noFill/>
          </a:ln>
        </p:spPr>
      </p:sp>
      <p:sp>
        <p:nvSpPr>
          <p:cNvPr id="23" name="company-1">
            <a:extLst>
              <a:ext uri="{FF2B5EF4-FFF2-40B4-BE49-F238E27FC236}">
                <ns2:creationId id="{9B181C3B-CAC6-4C34-BCE9-13D048E7321A}"/>
              </a:ext>
            </a:extLst>
          </p:cNvPr>
          <p:cNvSpPr>
            <a:spLocks noGrp="1"/>
          </p:cNvSpPr>
          <p:nvPr/>
        </p:nvSpPr>
        <p:spPr>
          <a:xfrm>
            <a:off x="13049250" y="3009900"/>
            <a:ext cx="1219200" cy="323850"/>
          </a:xfrm>
          <a:prstGeom prst="rect">
            <a:avLst/>
          </a:prstGeom>
          <a:noFill/>
          <a:ln w="0">
            <a:noFill/>
          </a:ln>
        </p:spPr>
        <p:txBody>
          <a:bodyPr wrap="none" lIns="0" tIns="0" rIns="0" bIns="0" anchor="ctr">
            <a:noAutofit/>
          </a:bodyPr>
          <a:lstStyle>
            <a:defPPr algn="l">
              <a:defRPr sz="2000" b="1" lang="ko-KR">
                <a:solidFill>
                  <a:srgbClr val="082759"/>
                </a:solidFill>
                <a:latin typeface="Calibri"/>
                <a:ea typeface="Calibri"/>
                <a:cs typeface="Calibri"/>
              </a:defRPr>
            </a:defPPr>
          </a:lstStyle>
          <a:p>
            <a:pPr algn="l">
              <a:defRPr sz="2000" b="1" lang="ko-KR">
                <a:solidFill>
                  <a:srgbClr val="082759"/>
                </a:solidFill>
                <a:latin typeface="Calibri"/>
                <a:ea typeface="Calibri"/>
                <a:cs typeface="Calibri"/>
              </a:defRPr>
            </a:pPr>
            <a:r>
              <a:rPr sz="2000" b="1" lang="ko-KR">
                <a:solidFill>
                  <a:srgbClr val="082759"/>
                </a:solidFill>
                <a:latin typeface="Calibri"/>
                <a:ea typeface="Calibri"/>
                <a:cs typeface="Calibri"/>
              </a:rPr>
              <a:t>Amazon</a:t>
            </a:r>
            <a:endParaRPr lang="ko-KR">
              <a:latin typeface="Calibri"/>
              <a:ea typeface="Calibri"/>
              <a:cs typeface="Calibri"/>
            </a:endParaRPr>
          </a:p>
        </p:txBody>
      </p:sp>
      <p:sp>
        <p:nvSpPr>
          <p:cNvPr id="24" name="product-1">
            <a:extLst>
              <a:ext uri="{FF2B5EF4-FFF2-40B4-BE49-F238E27FC236}">
                <ns2:creationId id="{BC12AA19-6CBF-45C5-A786-971E8E90535E}"/>
              </a:ext>
            </a:extLst>
          </p:cNvPr>
          <p:cNvSpPr>
            <a:spLocks noGrp="1"/>
          </p:cNvSpPr>
          <p:nvPr/>
        </p:nvSpPr>
        <p:spPr>
          <a:xfrm>
            <a:off x="14335125" y="3009900"/>
            <a:ext cx="3286125" cy="323850"/>
          </a:xfrm>
          <a:prstGeom prst="rect">
            <a:avLst/>
          </a:prstGeom>
          <a:noFill/>
          <a:ln w="0">
            <a:noFill/>
          </a:ln>
        </p:spPr>
        <p:txBody>
          <a:bodyPr wrap="none" lIns="0" tIns="0" rIns="0" bIns="0" anchor="ctr">
            <a:noAutofit/>
          </a:bodyPr>
          <a:lstStyle>
            <a:defPPr algn="l">
              <a:defRPr sz="2100" b="1" lang="ko-KR">
                <a:solidFill>
                  <a:srgbClr val="000000"/>
                </a:solidFill>
                <a:latin typeface="Calibri"/>
                <a:ea typeface="Calibri"/>
                <a:cs typeface="Calibri"/>
              </a:defRPr>
            </a:defP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Alexa+</a:t>
            </a:r>
            <a:endParaRPr lang="ko-KR">
              <a:latin typeface="Calibri"/>
              <a:ea typeface="Calibri"/>
              <a:cs typeface="Calibri"/>
            </a:endParaRPr>
          </a:p>
        </p:txBody>
      </p:sp>
      <p:sp>
        <p:nvSpPr>
          <p:cNvPr id="25" name="case-1">
            <a:extLst>
              <a:ext uri="{FF2B5EF4-FFF2-40B4-BE49-F238E27FC236}">
                <ns2:creationId id="{60BFCA46-1590-4784-B94C-561823283CB0}"/>
              </a:ext>
            </a:extLst>
          </p:cNvPr>
          <p:cNvSpPr>
            <a:spLocks noGrp="1"/>
          </p:cNvSpPr>
          <p:nvPr/>
        </p:nvSpPr>
        <p:spPr>
          <a:xfrm>
            <a:off x="13049250" y="3371850"/>
            <a:ext cx="4572000" cy="323850"/>
          </a:xfrm>
          <a:prstGeom prst="rect">
            <a:avLst/>
          </a:prstGeom>
          <a:noFill/>
          <a:ln w="0">
            <a:noFill/>
          </a:ln>
        </p:spPr>
        <p:txBody>
          <a:bodyPr wrap="none" lIns="0" tIns="0" rIns="0" bIns="0" anchor="ctr">
            <a:noAutofit/>
          </a:bodyPr>
          <a:lstStyle>
            <a:defPPr algn="l">
              <a:defRPr sz="1800" b="0" lang="ko-KR">
                <a:solidFill>
                  <a:srgbClr val="000000"/>
                </a:solidFill>
                <a:latin typeface="Calibri"/>
                <a:ea typeface="Calibri"/>
                <a:cs typeface="Calibri"/>
              </a:defRPr>
            </a:defP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자연어 대화, 생활 서비스 실행</a:t>
            </a:r>
            <a:endParaRPr lang="ko-KR">
              <a:latin typeface="Calibri"/>
              <a:ea typeface="Calibri"/>
              <a:cs typeface="Calibri"/>
            </a:endParaRPr>
          </a:p>
        </p:txBody>
      </p:sp>
      <p:sp>
        <p:nvSpPr>
          <p:cNvPr id="26" name="case-rule-1">
            <a:extLst>
              <a:ext uri="{FF2B5EF4-FFF2-40B4-BE49-F238E27FC236}">
                <ns2:creationId id="{157BF196-545A-488E-A941-E07383760E1F}"/>
              </a:ext>
            </a:extLst>
          </p:cNvPr>
          <p:cNvSpPr>
            <a:spLocks noGrp="1"/>
          </p:cNvSpPr>
          <p:nvPr/>
        </p:nvSpPr>
        <p:spPr>
          <a:xfrm>
            <a:off x="13049250" y="3800475"/>
            <a:ext cx="4476750" cy="14288"/>
          </a:xfrm>
          <a:prstGeom prst="rect">
            <a:avLst/>
          </a:prstGeom>
          <a:solidFill>
            <a:srgbClr val="E3E7EC"/>
          </a:solidFill>
          <a:ln w="0">
            <a:noFill/>
          </a:ln>
        </p:spPr>
      </p:sp>
      <p:sp>
        <p:nvSpPr>
          <p:cNvPr id="27" name="company-2">
            <a:extLst>
              <a:ext uri="{FF2B5EF4-FFF2-40B4-BE49-F238E27FC236}">
                <ns2:creationId id="{490B7F90-3355-4DDA-B66D-A97AD65F7AD7}"/>
              </a:ext>
            </a:extLst>
          </p:cNvPr>
          <p:cNvSpPr>
            <a:spLocks noGrp="1"/>
          </p:cNvSpPr>
          <p:nvPr/>
        </p:nvSpPr>
        <p:spPr>
          <a:xfrm>
            <a:off x="13049250" y="3905250"/>
            <a:ext cx="1219200" cy="323850"/>
          </a:xfrm>
          <a:prstGeom prst="rect">
            <a:avLst/>
          </a:prstGeom>
          <a:noFill/>
          <a:ln w="0">
            <a:noFill/>
          </a:ln>
        </p:spPr>
        <p:txBody>
          <a:bodyPr wrap="none" lIns="0" tIns="0" rIns="0" bIns="0" anchor="ctr">
            <a:noAutofit/>
          </a:bodyPr>
          <a:lstStyle>
            <a:defPPr algn="l">
              <a:defRPr sz="2000" b="1" lang="ko-KR">
                <a:solidFill>
                  <a:srgbClr val="082759"/>
                </a:solidFill>
                <a:latin typeface="Calibri"/>
                <a:ea typeface="Calibri"/>
                <a:cs typeface="Calibri"/>
              </a:defRPr>
            </a:defPPr>
          </a:lstStyle>
          <a:p>
            <a:pPr algn="l">
              <a:defRPr sz="2000" b="1" lang="ko-KR">
                <a:solidFill>
                  <a:srgbClr val="082759"/>
                </a:solidFill>
                <a:latin typeface="Calibri"/>
                <a:ea typeface="Calibri"/>
                <a:cs typeface="Calibri"/>
              </a:defRPr>
            </a:pPr>
            <a:r>
              <a:rPr sz="2000" b="1" lang="ko-KR">
                <a:solidFill>
                  <a:srgbClr val="082759"/>
                </a:solidFill>
                <a:latin typeface="Calibri"/>
                <a:ea typeface="Calibri"/>
                <a:cs typeface="Calibri"/>
              </a:rPr>
              <a:t>Apple</a:t>
            </a:r>
            <a:endParaRPr lang="ko-KR">
              <a:latin typeface="Calibri"/>
              <a:ea typeface="Calibri"/>
              <a:cs typeface="Calibri"/>
            </a:endParaRPr>
          </a:p>
        </p:txBody>
      </p:sp>
      <p:sp>
        <p:nvSpPr>
          <p:cNvPr id="28" name="product-2">
            <a:extLst>
              <a:ext uri="{FF2B5EF4-FFF2-40B4-BE49-F238E27FC236}">
                <ns2:creationId id="{D15E5D13-91C7-42F1-9C57-E0C6AEFF034D}"/>
              </a:ext>
            </a:extLst>
          </p:cNvPr>
          <p:cNvSpPr>
            <a:spLocks noGrp="1"/>
          </p:cNvSpPr>
          <p:nvPr/>
        </p:nvSpPr>
        <p:spPr>
          <a:xfrm>
            <a:off x="14335125" y="3905250"/>
            <a:ext cx="3286125" cy="323850"/>
          </a:xfrm>
          <a:prstGeom prst="rect">
            <a:avLst/>
          </a:prstGeom>
          <a:noFill/>
          <a:ln w="0">
            <a:noFill/>
          </a:ln>
        </p:spPr>
        <p:txBody>
          <a:bodyPr wrap="none" lIns="0" tIns="0" rIns="0" bIns="0" anchor="ctr">
            <a:noAutofit/>
          </a:bodyPr>
          <a:lstStyle>
            <a:defPPr algn="l">
              <a:defRPr sz="2100" b="1" lang="ko-KR">
                <a:solidFill>
                  <a:srgbClr val="000000"/>
                </a:solidFill>
                <a:latin typeface="Calibri"/>
                <a:ea typeface="Calibri"/>
                <a:cs typeface="Calibri"/>
              </a:defRPr>
            </a:defP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Siri AI</a:t>
            </a:r>
            <a:endParaRPr lang="ko-KR">
              <a:latin typeface="Calibri"/>
              <a:ea typeface="Calibri"/>
              <a:cs typeface="Calibri"/>
            </a:endParaRPr>
          </a:p>
        </p:txBody>
      </p:sp>
      <p:sp>
        <p:nvSpPr>
          <p:cNvPr id="29" name="case-2">
            <a:extLst>
              <a:ext uri="{FF2B5EF4-FFF2-40B4-BE49-F238E27FC236}">
                <ns2:creationId id="{37C83267-88FB-4E1C-9EC0-D83198A577B0}"/>
              </a:ext>
            </a:extLst>
          </p:cNvPr>
          <p:cNvSpPr>
            <a:spLocks noGrp="1"/>
          </p:cNvSpPr>
          <p:nvPr/>
        </p:nvSpPr>
        <p:spPr>
          <a:xfrm>
            <a:off x="13049250" y="4267200"/>
            <a:ext cx="4572000" cy="323850"/>
          </a:xfrm>
          <a:prstGeom prst="rect">
            <a:avLst/>
          </a:prstGeom>
          <a:noFill/>
          <a:ln w="0">
            <a:noFill/>
          </a:ln>
        </p:spPr>
        <p:txBody>
          <a:bodyPr wrap="none" lIns="0" tIns="0" rIns="0" bIns="0" anchor="ctr">
            <a:noAutofit/>
          </a:bodyPr>
          <a:lstStyle>
            <a:defPPr algn="l">
              <a:defRPr sz="1800" b="0" lang="ko-KR">
                <a:solidFill>
                  <a:srgbClr val="000000"/>
                </a:solidFill>
                <a:latin typeface="Calibri"/>
                <a:ea typeface="Calibri"/>
                <a:cs typeface="Calibri"/>
              </a:defRPr>
            </a:defP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개인 맥락과 화면 이해, 앱 연계</a:t>
            </a:r>
            <a:endParaRPr lang="ko-KR">
              <a:latin typeface="Calibri"/>
              <a:ea typeface="Calibri"/>
              <a:cs typeface="Calibri"/>
            </a:endParaRPr>
          </a:p>
        </p:txBody>
      </p:sp>
      <p:sp>
        <p:nvSpPr>
          <p:cNvPr id="30" name="case-rule-2">
            <a:extLst>
              <a:ext uri="{FF2B5EF4-FFF2-40B4-BE49-F238E27FC236}">
                <ns2:creationId id="{2587F61A-F464-4AB6-9CFE-56F023DF5896}"/>
              </a:ext>
            </a:extLst>
          </p:cNvPr>
          <p:cNvSpPr>
            <a:spLocks noGrp="1"/>
          </p:cNvSpPr>
          <p:nvPr/>
        </p:nvSpPr>
        <p:spPr>
          <a:xfrm>
            <a:off x="13049250" y="4695825"/>
            <a:ext cx="4476750" cy="14288"/>
          </a:xfrm>
          <a:prstGeom prst="rect">
            <a:avLst/>
          </a:prstGeom>
          <a:solidFill>
            <a:srgbClr val="E3E7EC"/>
          </a:solidFill>
          <a:ln w="0">
            <a:noFill/>
          </a:ln>
        </p:spPr>
      </p:sp>
      <p:sp>
        <p:nvSpPr>
          <p:cNvPr id="31" name="company-3">
            <a:extLst>
              <a:ext uri="{FF2B5EF4-FFF2-40B4-BE49-F238E27FC236}">
                <ns2:creationId id="{CC3B307C-EDEB-4302-B58C-894EAADEC7D4}"/>
              </a:ext>
            </a:extLst>
          </p:cNvPr>
          <p:cNvSpPr>
            <a:spLocks noGrp="1"/>
          </p:cNvSpPr>
          <p:nvPr/>
        </p:nvSpPr>
        <p:spPr>
          <a:xfrm>
            <a:off x="13049250" y="4800600"/>
            <a:ext cx="1219200" cy="323850"/>
          </a:xfrm>
          <a:prstGeom prst="rect">
            <a:avLst/>
          </a:prstGeom>
          <a:noFill/>
          <a:ln w="0">
            <a:noFill/>
          </a:ln>
        </p:spPr>
        <p:txBody>
          <a:bodyPr wrap="none" lIns="0" tIns="0" rIns="0" bIns="0" anchor="ctr">
            <a:noAutofit/>
          </a:bodyPr>
          <a:lstStyle>
            <a:defPPr algn="l">
              <a:defRPr sz="2000" b="1" lang="ko-KR">
                <a:solidFill>
                  <a:srgbClr val="082759"/>
                </a:solidFill>
                <a:latin typeface="Calibri"/>
                <a:ea typeface="Calibri"/>
                <a:cs typeface="Calibri"/>
              </a:defRPr>
            </a:defPPr>
          </a:lstStyle>
          <a:p>
            <a:pPr algn="l">
              <a:defRPr sz="2000" b="1" lang="ko-KR">
                <a:solidFill>
                  <a:srgbClr val="082759"/>
                </a:solidFill>
                <a:latin typeface="Calibri"/>
                <a:ea typeface="Calibri"/>
                <a:cs typeface="Calibri"/>
              </a:defRPr>
            </a:pPr>
            <a:r>
              <a:rPr sz="2000" b="1" lang="ko-KR">
                <a:solidFill>
                  <a:srgbClr val="082759"/>
                </a:solidFill>
                <a:latin typeface="Calibri"/>
                <a:ea typeface="Calibri"/>
                <a:cs typeface="Calibri"/>
              </a:rPr>
              <a:t>OpenAI</a:t>
            </a:r>
            <a:endParaRPr lang="ko-KR">
              <a:latin typeface="Calibri"/>
              <a:ea typeface="Calibri"/>
              <a:cs typeface="Calibri"/>
            </a:endParaRPr>
          </a:p>
        </p:txBody>
      </p:sp>
      <p:sp>
        <p:nvSpPr>
          <p:cNvPr id="32" name="product-3">
            <a:extLst>
              <a:ext uri="{FF2B5EF4-FFF2-40B4-BE49-F238E27FC236}">
                <ns2:creationId id="{88CDCED2-AFB7-4E18-ACBC-D5CC7E74CEE8}"/>
              </a:ext>
            </a:extLst>
          </p:cNvPr>
          <p:cNvSpPr>
            <a:spLocks noGrp="1"/>
          </p:cNvSpPr>
          <p:nvPr/>
        </p:nvSpPr>
        <p:spPr>
          <a:xfrm>
            <a:off x="14335125" y="4800600"/>
            <a:ext cx="3286125" cy="323850"/>
          </a:xfrm>
          <a:prstGeom prst="rect">
            <a:avLst/>
          </a:prstGeom>
          <a:noFill/>
          <a:ln w="0">
            <a:noFill/>
          </a:ln>
        </p:spPr>
        <p:txBody>
          <a:bodyPr wrap="none" lIns="0" tIns="0" rIns="0" bIns="0" anchor="ctr">
            <a:noAutofit/>
          </a:bodyPr>
          <a:lstStyle>
            <a:defPPr algn="l">
              <a:defRPr sz="2100" b="1" lang="ko-KR">
                <a:solidFill>
                  <a:srgbClr val="000000"/>
                </a:solidFill>
                <a:latin typeface="Calibri"/>
                <a:ea typeface="Calibri"/>
                <a:cs typeface="Calibri"/>
              </a:defRPr>
            </a:defP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GPT-6 Astra 시연</a:t>
            </a:r>
            <a:endParaRPr lang="ko-KR">
              <a:latin typeface="Calibri"/>
              <a:ea typeface="Calibri"/>
              <a:cs typeface="Calibri"/>
            </a:endParaRPr>
          </a:p>
        </p:txBody>
      </p:sp>
      <p:sp>
        <p:nvSpPr>
          <p:cNvPr id="33" name="case-3">
            <a:extLst>
              <a:ext uri="{FF2B5EF4-FFF2-40B4-BE49-F238E27FC236}">
                <ns2:creationId id="{F3923C9D-2BF8-4F85-A347-FF00954A06EF}"/>
              </a:ext>
            </a:extLst>
          </p:cNvPr>
          <p:cNvSpPr>
            <a:spLocks noGrp="1"/>
          </p:cNvSpPr>
          <p:nvPr/>
        </p:nvSpPr>
        <p:spPr>
          <a:xfrm>
            <a:off x="13049250" y="5162550"/>
            <a:ext cx="4572000" cy="323850"/>
          </a:xfrm>
          <a:prstGeom prst="rect">
            <a:avLst/>
          </a:prstGeom>
          <a:noFill/>
          <a:ln w="0">
            <a:noFill/>
          </a:ln>
        </p:spPr>
        <p:txBody>
          <a:bodyPr wrap="none" lIns="0" tIns="0" rIns="0" bIns="0" anchor="ctr">
            <a:noAutofit/>
          </a:bodyPr>
          <a:lstStyle>
            <a:defPPr algn="l">
              <a:defRPr sz="1800" b="0" lang="ko-KR">
                <a:solidFill>
                  <a:srgbClr val="000000"/>
                </a:solidFill>
                <a:latin typeface="Calibri"/>
                <a:ea typeface="Calibri"/>
                <a:cs typeface="Calibri"/>
              </a:defRPr>
            </a:defP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음성 기반 수정과 후속 작업 연결</a:t>
            </a:r>
            <a:endParaRPr lang="ko-KR">
              <a:latin typeface="Calibri"/>
              <a:ea typeface="Calibri"/>
              <a:cs typeface="Calibri"/>
            </a:endParaRPr>
          </a:p>
        </p:txBody>
      </p:sp>
      <p:sp>
        <p:nvSpPr>
          <p:cNvPr id="34" name="market-source">
            <a:extLst>
              <a:ext uri="{FF2B5EF4-FFF2-40B4-BE49-F238E27FC236}">
                <ns2:creationId id="{37D6899B-ED9D-47FF-BFCC-FB13B4830EC3}"/>
              </a:ext>
            </a:extLst>
          </p:cNvPr>
          <p:cNvSpPr>
            <a:spLocks noGrp="1"/>
          </p:cNvSpPr>
          <p:nvPr/>
        </p:nvSpPr>
        <p:spPr>
          <a:xfrm>
            <a:off x="9258300" y="5829300"/>
            <a:ext cx="8267700" cy="238125"/>
          </a:xfrm>
          <a:prstGeom prst="rect">
            <a:avLst/>
          </a:prstGeom>
          <a:noFill/>
          <a:ln w="0">
            <a:noFill/>
          </a:ln>
        </p:spPr>
        <p:txBody>
          <a:bodyPr wrap="none" lIns="0" tIns="0" rIns="0" bIns="0" anchor="ctr">
            <a:noAutofit/>
          </a:bodyPr>
          <a:lstStyle>
            <a:defPPr algn="l">
              <a:defRPr sz="1300" b="0" lang="ko-KR">
                <a:solidFill>
                  <a:srgbClr val="4A5563"/>
                </a:solidFill>
                <a:latin typeface="Calibri"/>
                <a:ea typeface="Calibri"/>
                <a:cs typeface="Calibri"/>
              </a:defRPr>
            </a:defPPr>
          </a:lstStyle>
          <a:p>
            <a:pPr algn="l">
              <a:defRPr sz="1300" b="0" lang="ko-KR">
                <a:solidFill>
                  <a:srgbClr val="4A5563"/>
                </a:solidFill>
                <a:latin typeface="Calibri"/>
                <a:ea typeface="Calibri"/>
                <a:cs typeface="Calibri"/>
              </a:defRPr>
            </a:pPr>
            <a:r>
              <a:rPr sz="1300" b="0" lang="ko-KR">
                <a:solidFill>
                  <a:srgbClr val="4A5563"/>
                </a:solidFill>
                <a:latin typeface="Calibri"/>
                <a:ea typeface="Calibri"/>
                <a:cs typeface="Calibri"/>
              </a:rPr>
              <a:t>시장: Mordor Intelligence, 2026.08  /  전 산업 음성 비서 SW 및 서비스</a:t>
            </a:r>
            <a:endParaRPr lang="ko-KR">
              <a:latin typeface="Calibri"/>
              <a:ea typeface="Calibri"/>
              <a:cs typeface="Calibri"/>
            </a:endParaRPr>
          </a:p>
        </p:txBody>
      </p:sp>
      <p:sp>
        <p:nvSpPr>
          <p:cNvPr id="35" name="cases-source">
            <a:extLst>
              <a:ext uri="{FF2B5EF4-FFF2-40B4-BE49-F238E27FC236}">
                <ns2:creationId id="{63D6DE29-584D-4AED-B6D1-6B34F23E7BC5}"/>
              </a:ext>
            </a:extLst>
          </p:cNvPr>
          <p:cNvSpPr>
            <a:spLocks noGrp="1"/>
          </p:cNvSpPr>
          <p:nvPr/>
        </p:nvSpPr>
        <p:spPr>
          <a:xfrm>
            <a:off x="9258300" y="6086475"/>
            <a:ext cx="8267700" cy="219075"/>
          </a:xfrm>
          <a:prstGeom prst="rect">
            <a:avLst/>
          </a:prstGeom>
          <a:noFill/>
          <a:ln w="0">
            <a:noFill/>
          </a:ln>
        </p:spPr>
        <p:txBody>
          <a:bodyPr wrap="none" lIns="0" tIns="0" rIns="0" bIns="0" anchor="ctr">
            <a:noAutofit/>
          </a:bodyPr>
          <a:lstStyle>
            <a:defPPr algn="l">
              <a:defRPr sz="1300" b="0" lang="ko-KR">
                <a:solidFill>
                  <a:srgbClr val="4A5563"/>
                </a:solidFill>
                <a:latin typeface="Calibri"/>
                <a:ea typeface="Calibri"/>
                <a:cs typeface="Calibri"/>
              </a:defRPr>
            </a:defPPr>
          </a:lstStyle>
          <a:p>
            <a:pPr algn="l">
              <a:defRPr sz="1300" b="0" lang="ko-KR">
                <a:solidFill>
                  <a:srgbClr val="4A5563"/>
                </a:solidFill>
                <a:latin typeface="Calibri"/>
                <a:ea typeface="Calibri"/>
                <a:cs typeface="Calibri"/>
              </a:defRPr>
            </a:pPr>
            <a:r>
              <a:rPr sz="1300" b="0" lang="ko-KR">
                <a:solidFill>
                  <a:srgbClr val="4A5563"/>
                </a:solidFill>
                <a:latin typeface="Calibri"/>
                <a:ea typeface="Calibri"/>
                <a:cs typeface="Calibri"/>
              </a:rPr>
              <a:t>PC 전용 시장 규모와 구별  /  기업 사례: 각 사 공식 자료, 발표자 노트 참조</a:t>
            </a:r>
            <a:endParaRPr lang="ko-KR">
              <a:latin typeface="Calibri"/>
              <a:ea typeface="Calibri"/>
              <a:cs typeface="Calibri"/>
            </a:endParaRPr>
          </a:p>
        </p:txBody>
      </p:sp>
      <p:sp>
        <p:nvSpPr>
          <p:cNvPr id="36" name="strategic-title">
            <a:extLst>
              <a:ext uri="{FF2B5EF4-FFF2-40B4-BE49-F238E27FC236}">
                <ns2:creationId id="{00653028-E6B5-4D65-8C0B-26A6E43BD306}"/>
              </a:ext>
            </a:extLst>
          </p:cNvPr>
          <p:cNvSpPr>
            <a:spLocks noGrp="1"/>
          </p:cNvSpPr>
          <p:nvPr/>
        </p:nvSpPr>
        <p:spPr>
          <a:xfrm>
            <a:off x="9048750" y="6600825"/>
            <a:ext cx="8667750" cy="628650"/>
          </a:xfrm>
          <a:prstGeom prst="roundRect">
            <a:avLst>
              <a:gd name="adj" fmla="val 12121"/>
            </a:avLst>
          </a:prstGeom>
          <a:solidFill>
            <a:srgbClr val="082759"/>
          </a:solidFill>
          <a:ln w="0">
            <a:noFill/>
          </a:ln>
        </p:spPr>
        <p:txBody>
          <a:bodyPr wrap="none" lIns="0" tIns="0" rIns="0" bIns="0" anchor="ctr">
            <a:noAutofit/>
          </a:bodyPr>
          <a:lstStyle>
            <a:defPPr algn="ctr">
              <a:defRPr sz="2500" b="1" lang="ko-KR">
                <a:solidFill>
                  <a:srgbClr val="FFFFFF"/>
                </a:solidFill>
                <a:latin typeface="Calibri"/>
                <a:ea typeface="Calibri"/>
                <a:cs typeface="Calibri"/>
              </a:defRPr>
            </a:defPPr>
          </a:lstStyle>
          <a:p>
            <a:pPr algn="ctr">
              <a:defRPr sz="2500" b="1" lang="ko-KR">
                <a:solidFill>
                  <a:srgbClr val="FFFFFF"/>
                </a:solidFill>
                <a:latin typeface="Calibri"/>
                <a:ea typeface="Calibri"/>
                <a:cs typeface="Calibri"/>
              </a:defRPr>
            </a:pPr>
            <a:r>
              <a:rPr sz="2500" b="1" lang="ko-KR">
                <a:solidFill>
                  <a:srgbClr val="FFFFFF"/>
                </a:solidFill>
                <a:latin typeface="Calibri"/>
                <a:ea typeface="Calibri"/>
                <a:cs typeface="Calibri"/>
              </a:rPr>
              <a:t>삼성의 방향: VIA를 통한 사용자 접점 확보</a:t>
            </a:r>
            <a:endParaRPr lang="ko-KR">
              <a:latin typeface="Calibri"/>
              <a:ea typeface="Calibri"/>
              <a:cs typeface="Calibri"/>
            </a:endParaRPr>
          </a:p>
        </p:txBody>
      </p:sp>
      <p:sp>
        <p:nvSpPr>
          <p:cNvPr id="37" name="quote-highlight">
            <a:extLst>
              <a:ext uri="{FF2B5EF4-FFF2-40B4-BE49-F238E27FC236}">
                <ns2:creationId id="{FBCC2805-A238-4A59-B3B4-C234D6DB2ACE}"/>
              </a:ext>
            </a:extLst>
          </p:cNvPr>
          <p:cNvSpPr>
            <a:spLocks noGrp="1"/>
          </p:cNvSpPr>
          <p:nvPr/>
        </p:nvSpPr>
        <p:spPr>
          <a:xfrm>
            <a:off x="9344025" y="8134350"/>
            <a:ext cx="5000625" cy="352425"/>
          </a:xfrm>
          <a:prstGeom prst="rect">
            <a:avLst/>
          </a:prstGeom>
          <a:solidFill>
            <a:srgbClr val="DDECCD"/>
          </a:solidFill>
          <a:ln w="0">
            <a:noFill/>
          </a:ln>
        </p:spPr>
      </p:sp>
      <p:sp>
        <p:nvSpPr>
          <p:cNvPr id="38" name="cto-quote">
            <a:extLst>
              <a:ext uri="{FF2B5EF4-FFF2-40B4-BE49-F238E27FC236}">
                <ns2:creationId id="{E265D602-22B8-4053-933C-BDDA9021CA45}"/>
              </a:ext>
            </a:extLst>
          </p:cNvPr>
          <p:cNvSpPr>
            <a:spLocks noGrp="1"/>
          </p:cNvSpPr>
          <p:nvPr/>
        </p:nvSpPr>
        <p:spPr>
          <a:xfrm>
            <a:off x="9344025" y="7381875"/>
            <a:ext cx="8048625" cy="1095375"/>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“실제 작업을 수행하는 AI Agent가 달라져도</a:t>
            </a:r>
            <a:endParaRPr lang="ko-KR">
              <a:latin typeface="Calibri"/>
              <a:ea typeface="Calibri"/>
              <a:cs typeface="Calibri"/>
            </a:endParaRPr>
          </a:p>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사용자와의 경험은 당사의</a:t>
            </a:r>
            <a:endParaRPr lang="ko-KR">
              <a:latin typeface="Calibri"/>
              <a:ea typeface="Calibri"/>
              <a:cs typeface="Calibri"/>
            </a:endParaRPr>
          </a:p>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Voice Interaction Agent(VIA)가 담당”</a:t>
            </a:r>
            <a:endParaRPr lang="ko-KR">
              <a:latin typeface="Calibri"/>
              <a:ea typeface="Calibri"/>
              <a:cs typeface="Calibri"/>
            </a:endParaRPr>
          </a:p>
        </p:txBody>
      </p:sp>
      <p:sp>
        <p:nvSpPr>
          <p:cNvPr id="39" name="cto-attribution">
            <a:extLst>
              <a:ext uri="{FF2B5EF4-FFF2-40B4-BE49-F238E27FC236}">
                <ns2:creationId id="{E60FEDC6-520B-4F58-9251-B9EE144BE7BB}"/>
              </a:ext>
            </a:extLst>
          </p:cNvPr>
          <p:cNvSpPr>
            <a:spLocks noGrp="1"/>
          </p:cNvSpPr>
          <p:nvPr/>
        </p:nvSpPr>
        <p:spPr>
          <a:xfrm>
            <a:off x="9344025" y="8467725"/>
            <a:ext cx="8048625" cy="333375"/>
          </a:xfrm>
          <a:prstGeom prst="rect">
            <a:avLst/>
          </a:prstGeom>
          <a:noFill/>
          <a:ln w="0">
            <a:noFill/>
          </a:ln>
        </p:spPr>
        <p:txBody>
          <a:bodyPr wrap="none" lIns="0" tIns="0" rIns="0" bIns="0" anchor="ctr">
            <a:noAutofit/>
          </a:bodyPr>
          <a:lstStyle>
            <a:defPPr algn="r">
              <a:defRPr sz="1900" b="0" lang="ko-KR">
                <a:solidFill>
                  <a:srgbClr val="000000"/>
                </a:solidFill>
                <a:latin typeface="Calibri"/>
                <a:ea typeface="Calibri"/>
                <a:cs typeface="Calibri"/>
              </a:defRPr>
            </a:defPPr>
          </a:lstStyle>
          <a:p>
            <a:pPr algn="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윤장현 사장(CTO)  |  2026.06</a:t>
            </a:r>
            <a:endParaRPr lang="ko-KR">
              <a:latin typeface="Calibri"/>
              <a:ea typeface="Calibri"/>
              <a:cs typeface="Calibri"/>
            </a:endParaRPr>
          </a:p>
        </p:txBody>
      </p:sp>
      <p:sp>
        <p:nvSpPr>
          <p:cNvPr id="40" name="user-role">
            <a:extLst>
              <a:ext uri="{FF2B5EF4-FFF2-40B4-BE49-F238E27FC236}">
                <ns2:creationId id="{70E2E5B7-AAA2-416F-9826-E64F034B5F9C}"/>
              </a:ext>
            </a:extLst>
          </p:cNvPr>
          <p:cNvSpPr>
            <a:spLocks noGrp="1"/>
          </p:cNvSpPr>
          <p:nvPr/>
        </p:nvSpPr>
        <p:spPr>
          <a:xfrm>
            <a:off x="9286875" y="9182100"/>
            <a:ext cx="1285875" cy="590550"/>
          </a:xfrm>
          <a:prstGeom prst="roundRect">
            <a:avLst>
              <a:gd name="adj" fmla="val 12903"/>
            </a:avLst>
          </a:prstGeom>
          <a:solidFill>
            <a:srgbClr val="F1F4F8"/>
          </a:solidFill>
          <a:ln w="0">
            <a:noFill/>
          </a:ln>
        </p:spPr>
        <p:txBody>
          <a:bodyPr wrap="none" lIns="0" tIns="0" rIns="0" bIns="0" anchor="ctr">
            <a:noAutofit/>
          </a:bodyPr>
          <a:lstStyle>
            <a:defPPr algn="ctr">
              <a:defRPr sz="2000" b="1" lang="ko-KR">
                <a:solidFill>
                  <a:srgbClr val="000000"/>
                </a:solidFill>
                <a:latin typeface="Calibri"/>
                <a:ea typeface="Calibri"/>
                <a:cs typeface="Calibri"/>
              </a:defRPr>
            </a:defP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사용자</a:t>
            </a:r>
            <a:endParaRPr lang="ko-KR">
              <a:latin typeface="Calibri"/>
              <a:ea typeface="Calibri"/>
              <a:cs typeface="Calibri"/>
            </a:endParaRPr>
          </a:p>
        </p:txBody>
      </p:sp>
      <p:sp>
        <p:nvSpPr>
          <p:cNvPr id="41" name="user-via-link">
            <a:extLst>
              <a:ext uri="{FF2B5EF4-FFF2-40B4-BE49-F238E27FC236}">
                <ns2:creationId id="{E49DAB89-9457-4705-8127-F11F18828E5F}"/>
              </a:ext>
            </a:extLst>
          </p:cNvPr>
          <p:cNvSpPr>
            <a:spLocks noGrp="1"/>
          </p:cNvSpPr>
          <p:nvPr/>
        </p:nvSpPr>
        <p:spPr>
          <a:xfrm>
            <a:off x="10648950" y="9353550"/>
            <a:ext cx="361950" cy="228600"/>
          </a:xfrm>
          <a:prstGeom prst="leftRightArrow">
            <a:avLst/>
          </a:prstGeom>
          <a:solidFill>
            <a:srgbClr val="8398AF"/>
          </a:solidFill>
          <a:ln w="0">
            <a:noFill/>
          </a:ln>
        </p:spPr>
      </p:sp>
      <p:sp>
        <p:nvSpPr>
          <p:cNvPr id="42" name="via-role">
            <a:extLst>
              <a:ext uri="{FF2B5EF4-FFF2-40B4-BE49-F238E27FC236}">
                <ns2:creationId id="{41E16D4E-0073-4BBE-8F4B-C3819C432BCD}"/>
              </a:ext>
            </a:extLst>
          </p:cNvPr>
          <p:cNvSpPr>
            <a:spLocks noGrp="1"/>
          </p:cNvSpPr>
          <p:nvPr/>
        </p:nvSpPr>
        <p:spPr>
          <a:xfrm>
            <a:off x="11087100" y="9048750"/>
            <a:ext cx="3200400" cy="866775"/>
          </a:xfrm>
          <a:prstGeom prst="roundRect">
            <a:avLst>
              <a:gd name="adj" fmla="val 8791"/>
            </a:avLst>
          </a:prstGeom>
          <a:solidFill>
            <a:srgbClr val="DDECCD"/>
          </a:solidFill>
          <a:ln w="0">
            <a:noFill/>
          </a:ln>
        </p:spPr>
        <p:txBody>
          <a:bodyPr wrap="none" lIns="0" tIns="0" rIns="0" bIns="0" anchor="ctr">
            <a:noAutofit/>
          </a:bodyPr>
          <a:lstStyle>
            <a:defPPr algn="ctr">
              <a:defRPr sz="2000" b="1" lang="ko-KR">
                <a:solidFill>
                  <a:srgbClr val="000000"/>
                </a:solidFill>
                <a:latin typeface="Calibri"/>
                <a:ea typeface="Calibri"/>
                <a:cs typeface="Calibri"/>
              </a:defRPr>
            </a:defP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VIA</a:t>
            </a:r>
            <a:endParaRPr lang="ko-KR">
              <a:latin typeface="Calibri"/>
              <a:ea typeface="Calibri"/>
              <a:cs typeface="Calibri"/>
            </a:endParaRPr>
          </a:p>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사용자 대화와 인터페이스</a:t>
            </a:r>
            <a:endParaRPr lang="ko-KR">
              <a:latin typeface="Calibri"/>
              <a:ea typeface="Calibri"/>
              <a:cs typeface="Calibri"/>
            </a:endParaRPr>
          </a:p>
        </p:txBody>
      </p:sp>
      <p:sp>
        <p:nvSpPr>
          <p:cNvPr id="43" name="via-agent-link">
            <a:extLst>
              <a:ext uri="{FF2B5EF4-FFF2-40B4-BE49-F238E27FC236}">
                <ns2:creationId id="{0616E1B7-CB53-4869-80AB-45C14BC4A91A}"/>
              </a:ext>
            </a:extLst>
          </p:cNvPr>
          <p:cNvSpPr>
            <a:spLocks noGrp="1"/>
          </p:cNvSpPr>
          <p:nvPr/>
        </p:nvSpPr>
        <p:spPr>
          <a:xfrm>
            <a:off x="14373225" y="9353550"/>
            <a:ext cx="361950" cy="228600"/>
          </a:xfrm>
          <a:prstGeom prst="leftRightArrow">
            <a:avLst/>
          </a:prstGeom>
          <a:solidFill>
            <a:srgbClr val="8398AF"/>
          </a:solidFill>
          <a:ln w="0">
            <a:noFill/>
          </a:ln>
        </p:spPr>
      </p:sp>
      <p:sp>
        <p:nvSpPr>
          <p:cNvPr id="44" name="agent-role">
            <a:extLst>
              <a:ext uri="{FF2B5EF4-FFF2-40B4-BE49-F238E27FC236}">
                <ns2:creationId id="{A1DD7031-A319-4EBD-B28C-88D2B9664E0F}"/>
              </a:ext>
            </a:extLst>
          </p:cNvPr>
          <p:cNvSpPr>
            <a:spLocks noGrp="1"/>
          </p:cNvSpPr>
          <p:nvPr/>
        </p:nvSpPr>
        <p:spPr>
          <a:xfrm>
            <a:off x="14811375" y="9048750"/>
            <a:ext cx="2771775" cy="866775"/>
          </a:xfrm>
          <a:prstGeom prst="roundRect">
            <a:avLst>
              <a:gd name="adj" fmla="val 8791"/>
            </a:avLst>
          </a:prstGeom>
          <a:solidFill>
            <a:srgbClr val="EDF1F6"/>
          </a:solidFill>
          <a:ln w="0">
            <a:noFill/>
          </a:ln>
        </p:spPr>
        <p:txBody>
          <a:bodyPr wrap="none" lIns="0" tIns="0" rIns="0" bIns="0" anchor="ctr">
            <a:noAutofit/>
          </a:bodyPr>
          <a:lstStyle>
            <a:defPPr algn="ctr">
              <a:defRPr sz="1900" b="1" lang="ko-KR">
                <a:solidFill>
                  <a:srgbClr val="000000"/>
                </a:solidFill>
                <a:latin typeface="Calibri"/>
                <a:ea typeface="Calibri"/>
                <a:cs typeface="Calibri"/>
              </a:defRPr>
            </a:defP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삼성 및 외부 Agent</a:t>
            </a:r>
            <a:endParaRPr lang="ko-KR">
              <a:latin typeface="Calibri"/>
              <a:ea typeface="Calibri"/>
              <a:cs typeface="Calibri"/>
            </a:endParaRPr>
          </a:p>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실제 업무 수행</a:t>
            </a:r>
            <a:endParaRPr lang="ko-KR">
              <a:latin typeface="Calibri"/>
              <a:ea typeface="Calibri"/>
              <a:cs typeface="Calibri"/>
            </a:endParaRPr>
          </a:p>
        </p:txBody>
      </p:sp>
      <p:sp>
        <p:nvSpPr>
          <p:cNvPr id="45" name="v6-header-title">
            <a:extLst>
              <a:ext uri="{FF2B5EF4-FFF2-40B4-BE49-F238E27FC236}">
                <ns2:creationId id="{EB63144F-50BC-471B-8EFA-C300638853A7}"/>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소개 | 관련 동향</a:t>
            </a:r>
            <a:endParaRPr lang="ko-KR">
              <a:latin typeface="Calibri"/>
              <a:ea typeface="Calibri"/>
              <a:cs typeface="Calibri"/>
            </a:endParaRPr>
          </a:p>
        </p:txBody>
      </p:sp>
      <p:sp>
        <p:nvSpPr>
          <p:cNvPr id="46" name="v6-header-rule">
            <a:extLst>
              <a:ext uri="{FF2B5EF4-FFF2-40B4-BE49-F238E27FC236}">
                <ns2:creationId id="{86B8C9B0-5231-4D9D-ADFF-E9E53B34C4D4}"/>
              </a:ext>
            </a:extLst>
          </p:cNvPr>
          <p:cNvSpPr>
            <a:spLocks noGrp="1"/>
          </p:cNvSpPr>
          <p:nvPr/>
        </p:nvSpPr>
        <p:spPr>
          <a:xfrm>
            <a:off x="495300" y="990600"/>
            <a:ext cx="17335500" cy="0"/>
          </a:xfrm>
          <a:prstGeom prst="line">
            <a:avLst/>
          </a:prstGeom>
          <a:noFill/>
          <a:ln w="19050">
            <a:solidFill>
              <a:srgbClr val="A6A6A6"/>
            </a:solidFill>
          </a:ln>
        </p:spPr>
      </p:sp>
      <p:sp>
        <p:nvSpPr>
          <p:cNvPr id="47" name="v6-header-stage-0">
            <a:extLst>
              <a:ext uri="{FF2B5EF4-FFF2-40B4-BE49-F238E27FC236}">
                <ns2:creationId id="{8295749F-970C-4941-9B9C-0B768E2DC731}"/>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8" name="v6-header-stage-1">
            <a:extLst>
              <a:ext uri="{FF2B5EF4-FFF2-40B4-BE49-F238E27FC236}">
                <ns2:creationId id="{632A97E6-4C81-4581-80F1-BAEA26589429}"/>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9" name="v6-header-stage-2">
            <a:extLst>
              <a:ext uri="{FF2B5EF4-FFF2-40B4-BE49-F238E27FC236}">
                <ns2:creationId id="{9A88E145-C5E6-42E9-82ED-36759C92E49F}"/>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50" name="v6-header-stage-3">
            <a:extLst>
              <a:ext uri="{FF2B5EF4-FFF2-40B4-BE49-F238E27FC236}">
                <ns2:creationId id="{E72F65C8-878C-423D-994C-2C9A96C1C56F}"/>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51" name="v6-header-stage-4">
            <a:extLst>
              <a:ext uri="{FF2B5EF4-FFF2-40B4-BE49-F238E27FC236}">
                <ns2:creationId id="{4A16CB0D-6F9D-4931-B91E-BA1A381D0AAA}"/>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52" name="v6-header-page">
            <a:extLst>
              <a:ext uri="{FF2B5EF4-FFF2-40B4-BE49-F238E27FC236}">
                <ns2:creationId id="{DA3B8F5E-9123-450E-941E-56DFEBF5D629}"/>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 / 33</a:t>
            </a:r>
            <a:endParaRPr lang="ko-KR">
              <a:latin typeface="Calibri"/>
              <a:ea typeface="Calibri"/>
              <a:cs typeface="Calibri"/>
            </a:endParaRPr>
          </a:p>
        </p:txBody>
      </p:sp>
    </p:spTree>
    <p:extLst>
      <p:ext uri="{BB962C8B-B14F-4D97-AF65-F5344CB8AC3E}">
        <p14:creationId val="2004982267"/>
      </p:ext>
    </p:extLst>
  </p:cSld>
</p:sld>
</file>

<file path=ppt/slides/slide34.xml><?xml version="1.0" encoding="utf-8"?>
<p:sld xmlns:a="http://schemas.openxmlformats.org/drawingml/2006/main" xmlns:ns2="http://schemas.microsoft.com/office/drawing/2014/main" xmlns:p="http://schemas.openxmlformats.org/presentationml/2006/main" xmlns:p14="http://schemas.microsoft.com/office/powerpoint/2010/main">
  <p:cSld name="role-v2">
    <p:bg>
      <p:bgPr>
        <a:solidFill>
          <a:srgbClr val="FFFFFF"/>
        </a:solidFill>
      </p:bgPr>
    </p:bg>
    <p:spTree>
      <p:nvGrpSpPr>
        <p:cNvPr id="1" name=""/>
        <p:cNvGrpSpPr/>
        <p:nvPr/>
      </p:nvGrpSpPr>
      <p:grpSpPr>
        <a:xfrm/>
      </p:grpSpPr>
      <p:sp>
        <p:nvSpPr>
          <p:cNvPr id="14" name="r3-68">
            <a:extLst>
              <a:ext uri="{FF2B5EF4-FFF2-40B4-BE49-F238E27FC236}">
                <ns2:creationId id="{40E96CE0-40F7-4FC2-8C60-11A6F666980B}"/>
              </a:ext>
            </a:extLst>
          </p:cNvPr>
          <p:cNvSpPr>
            <a:spLocks noGrp="1"/>
          </p:cNvSpPr>
          <p:nvPr/>
        </p:nvSpPr>
        <p:spPr>
          <a:xfrm>
            <a:off x="614362" y="1314450"/>
            <a:ext cx="17116425" cy="600075"/>
          </a:xfrm>
          <a:prstGeom prst="rect">
            <a:avLst/>
          </a:prstGeom>
          <a:noFill/>
          <a:ln w="0">
            <a:noFill/>
          </a:ln>
        </p:spPr>
        <p:txBody>
          <a:bodyPr wrap="none" lIns="0" tIns="0" rIns="0" bIns="0" anchor="ctr">
            <a:noAutofit/>
          </a:bodyPr>
          <a:lstStyle/>
          <a:p>
            <a:pPr algn="l">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VIA는 사용자의 요청과 AI의 업무 수행을 같은 대화와 업무 맥락으로 연결</a:t>
            </a:r>
            <a:endParaRPr lang="ko-KR">
              <a:solidFill>
                <a:srgbClr val="000000"/>
              </a:solidFill>
              <a:latin typeface="Calibri"/>
              <a:ea typeface="Calibri"/>
              <a:cs typeface="Calibri"/>
            </a:endParaRPr>
          </a:p>
        </p:txBody>
      </p:sp>
      <p:sp>
        <p:nvSpPr>
          <p:cNvPr id="15" name="r3-69">
            <a:extLst>
              <a:ext uri="{FF2B5EF4-FFF2-40B4-BE49-F238E27FC236}">
                <ns2:creationId id="{A49D47A5-50EE-4DAB-88F2-6085862A3268}"/>
              </a:ext>
            </a:extLst>
          </p:cNvPr>
          <p:cNvSpPr>
            <a:spLocks noGrp="1"/>
          </p:cNvSpPr>
          <p:nvPr/>
        </p:nvSpPr>
        <p:spPr>
          <a:xfrm>
            <a:off x="671512" y="2243138"/>
            <a:ext cx="10544175" cy="685800"/>
          </a:xfrm>
          <a:prstGeom prst="roundRect">
            <a:avLst>
              <a:gd name="adj" fmla="val 16667"/>
            </a:avLst>
          </a:prstGeom>
          <a:solidFill>
            <a:srgbClr val="EEEEEE"/>
          </a:solidFill>
          <a:ln w="14288">
            <a:solidFill>
              <a:srgbClr val="CAD2D9"/>
            </a:solidFill>
          </a:ln>
        </p:spPr>
        <p:txBody>
          <a:bodyPr wrap="none" lIns="114300" tIns="71437" rIns="114300" bIns="71438" anchor="ctr">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VIA: PC에서 대화와 업무 연결을 담당</a:t>
            </a:r>
            <a:endParaRPr lang="ko-KR">
              <a:solidFill>
                <a:srgbClr val="000000"/>
              </a:solidFill>
              <a:latin typeface="Calibri"/>
              <a:ea typeface="Calibri"/>
              <a:cs typeface="Calibri"/>
            </a:endParaRPr>
          </a:p>
        </p:txBody>
      </p:sp>
      <p:sp>
        <p:nvSpPr>
          <p:cNvPr id="17" name="r3-71">
            <a:extLst>
              <a:ext uri="{FF2B5EF4-FFF2-40B4-BE49-F238E27FC236}">
                <ns2:creationId id="{D643B815-6F76-4A8B-965B-C816B50B3C6E}"/>
              </a:ext>
            </a:extLst>
          </p:cNvPr>
          <p:cNvSpPr>
            <a:spLocks noGrp="1"/>
          </p:cNvSpPr>
          <p:nvPr/>
        </p:nvSpPr>
        <p:spPr>
          <a:xfrm>
            <a:off x="12530138" y="2243138"/>
            <a:ext cx="5143500" cy="685800"/>
          </a:xfrm>
          <a:prstGeom prst="roundRect">
            <a:avLst>
              <a:gd name="adj" fmla="val 16667"/>
            </a:avLst>
          </a:prstGeom>
          <a:solidFill>
            <a:srgbClr val="EEEEEE"/>
          </a:solidFill>
          <a:ln w="14288">
            <a:solidFill>
              <a:srgbClr val="CAD2D9"/>
            </a:solidFill>
          </a:ln>
        </p:spPr>
        <p:txBody>
          <a:bodyPr wrap="none" lIns="114300" tIns="71437" rIns="114300" bIns="71438" anchor="ctr">
            <a:noAutofit/>
          </a:bodyPr>
          <a:lstStyle/>
          <a:p>
            <a:pPr algn="ctr">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연결된 AI: 맡은 업무를 수행</a:t>
            </a:r>
            <a:endParaRPr lang="ko-KR">
              <a:solidFill>
                <a:srgbClr val="000000"/>
              </a:solidFill>
              <a:latin typeface="Calibri"/>
              <a:ea typeface="Calibri"/>
              <a:cs typeface="Calibri"/>
            </a:endParaRPr>
          </a:p>
        </p:txBody>
      </p:sp>
      <p:sp>
        <p:nvSpPr>
          <p:cNvPr id="19" name="r3-73">
            <a:extLst>
              <a:ext uri="{FF2B5EF4-FFF2-40B4-BE49-F238E27FC236}">
                <ns2:creationId id="{550DD2E1-D50D-410B-9F07-A3F15DB41D56}"/>
              </a:ext>
            </a:extLst>
          </p:cNvPr>
          <p:cNvSpPr>
            <a:spLocks noGrp="1"/>
          </p:cNvSpPr>
          <p:nvPr/>
        </p:nvSpPr>
        <p:spPr>
          <a:xfrm>
            <a:off x="957262" y="3114675"/>
            <a:ext cx="9772650" cy="457200"/>
          </a:xfrm>
          <a:prstGeom prst="rect">
            <a:avLst/>
          </a:prstGeom>
          <a:noFill/>
          <a:ln w="0">
            <a:noFill/>
          </a:ln>
        </p:spPr>
        <p:txBody>
          <a:bodyPr wrap="none" lIns="0" tIns="0" rIns="0" bIns="0" anchor="ctr">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음성 또는 텍스트 + 앞선 대화와 진행 업무 + 필요한 자료</a:t>
            </a:r>
            <a:endParaRPr lang="ko-KR">
              <a:solidFill>
                <a:srgbClr val="000000"/>
              </a:solidFill>
              <a:latin typeface="Calibri"/>
              <a:ea typeface="Calibri"/>
              <a:cs typeface="Calibri"/>
            </a:endParaRPr>
          </a:p>
        </p:txBody>
      </p:sp>
      <p:sp>
        <p:nvSpPr>
          <p:cNvPr id="20" name="line-74">
            <a:extLst>
              <a:ext uri="{FF2B5EF4-FFF2-40B4-BE49-F238E27FC236}">
                <ns2:creationId id="{9DA5F896-06A3-46B1-A6CE-D25DF6892C10}"/>
              </a:ext>
            </a:extLst>
          </p:cNvPr>
          <p:cNvSpPr>
            <a:spLocks noGrp="1"/>
          </p:cNvSpPr>
          <p:nvPr/>
        </p:nvSpPr>
        <p:spPr>
          <a:xfrm flipH="0">
            <a:off x="957262" y="3686175"/>
            <a:ext cx="9929812" cy="0"/>
          </a:xfrm>
          <a:prstGeom prst="line">
            <a:avLst/>
          </a:prstGeom>
          <a:noFill/>
          <a:ln w="14288">
            <a:solidFill>
              <a:srgbClr val="BDC4CA"/>
            </a:solidFill>
          </a:ln>
        </p:spPr>
      </p:sp>
      <p:sp>
        <p:nvSpPr>
          <p:cNvPr id="21" name="r3-75">
            <a:extLst>
              <a:ext uri="{FF2B5EF4-FFF2-40B4-BE49-F238E27FC236}">
                <ns2:creationId id="{3052DF42-A9AE-454A-816D-A8441D9B47FE}"/>
              </a:ext>
            </a:extLst>
          </p:cNvPr>
          <p:cNvSpPr>
            <a:spLocks noGrp="1"/>
          </p:cNvSpPr>
          <p:nvPr/>
        </p:nvSpPr>
        <p:spPr>
          <a:xfrm>
            <a:off x="957262" y="3900488"/>
            <a:ext cx="414338" cy="414338"/>
          </a:xfrm>
          <a:prstGeom prst="ellipse">
            <a:avLst/>
          </a:prstGeom>
          <a:solidFill>
            <a:srgbClr val="EEEEEE"/>
          </a:solidFill>
          <a:ln w="0">
            <a:noFill/>
          </a:ln>
        </p:spPr>
        <p:txBody>
          <a:bodyPr wrap="none" lIns="0" tIns="0" rIns="0" bIns="0" anchor="ctr">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1</a:t>
            </a:r>
            <a:endParaRPr lang="ko-KR">
              <a:solidFill>
                <a:srgbClr val="000000"/>
              </a:solidFill>
              <a:latin typeface="Calibri"/>
              <a:ea typeface="Calibri"/>
              <a:cs typeface="Calibri"/>
            </a:endParaRPr>
          </a:p>
        </p:txBody>
      </p:sp>
      <p:sp>
        <p:nvSpPr>
          <p:cNvPr id="23" name="r3-77">
            <a:extLst>
              <a:ext uri="{FF2B5EF4-FFF2-40B4-BE49-F238E27FC236}">
                <ns2:creationId id="{025E0116-580B-4B74-9D19-D24966F4D020}"/>
              </a:ext>
            </a:extLst>
          </p:cNvPr>
          <p:cNvSpPr>
            <a:spLocks noGrp="1"/>
          </p:cNvSpPr>
          <p:nvPr/>
        </p:nvSpPr>
        <p:spPr>
          <a:xfrm>
            <a:off x="1543050" y="3843338"/>
            <a:ext cx="9215438" cy="428625"/>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요청의 목표와 적용 범위 확정</a:t>
            </a:r>
            <a:endParaRPr lang="ko-KR">
              <a:solidFill>
                <a:srgbClr val="000000"/>
              </a:solidFill>
              <a:latin typeface="Calibri"/>
              <a:ea typeface="Calibri"/>
              <a:cs typeface="Calibri"/>
            </a:endParaRPr>
          </a:p>
        </p:txBody>
      </p:sp>
      <p:sp>
        <p:nvSpPr>
          <p:cNvPr id="24" name="r3-78">
            <a:extLst>
              <a:ext uri="{FF2B5EF4-FFF2-40B4-BE49-F238E27FC236}">
                <ns2:creationId id="{5E78FC7F-9277-4A39-82A4-77BC781926E1}"/>
              </a:ext>
            </a:extLst>
          </p:cNvPr>
          <p:cNvSpPr>
            <a:spLocks noGrp="1"/>
          </p:cNvSpPr>
          <p:nvPr/>
        </p:nvSpPr>
        <p:spPr>
          <a:xfrm>
            <a:off x="1543050" y="4271962"/>
            <a:ext cx="9215438" cy="62865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목표와 조건, 정정 내용 파악</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새 업무인지 기존 업무인지 판단</a:t>
            </a:r>
            <a:endParaRPr lang="ko-KR">
              <a:solidFill>
                <a:srgbClr val="000000"/>
              </a:solidFill>
              <a:latin typeface="Calibri"/>
              <a:ea typeface="Calibri"/>
              <a:cs typeface="Calibri"/>
            </a:endParaRPr>
          </a:p>
        </p:txBody>
      </p:sp>
      <p:sp>
        <p:nvSpPr>
          <p:cNvPr id="25" name="r3-79">
            <a:extLst>
              <a:ext uri="{FF2B5EF4-FFF2-40B4-BE49-F238E27FC236}">
                <ns2:creationId id="{D923310E-189D-499C-9DD1-483D843ACD58}"/>
              </a:ext>
            </a:extLst>
          </p:cNvPr>
          <p:cNvSpPr>
            <a:spLocks noGrp="1"/>
          </p:cNvSpPr>
          <p:nvPr/>
        </p:nvSpPr>
        <p:spPr>
          <a:xfrm>
            <a:off x="957262" y="5014912"/>
            <a:ext cx="414338" cy="414338"/>
          </a:xfrm>
          <a:prstGeom prst="ellipse">
            <a:avLst/>
          </a:prstGeom>
          <a:solidFill>
            <a:srgbClr val="EEEEEE"/>
          </a:solidFill>
          <a:ln w="0">
            <a:noFill/>
          </a:ln>
        </p:spPr>
        <p:txBody>
          <a:bodyPr wrap="none" lIns="0" tIns="0" rIns="0" bIns="0" anchor="ctr">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2</a:t>
            </a:r>
            <a:endParaRPr lang="ko-KR">
              <a:solidFill>
                <a:srgbClr val="000000"/>
              </a:solidFill>
              <a:latin typeface="Calibri"/>
              <a:ea typeface="Calibri"/>
              <a:cs typeface="Calibri"/>
            </a:endParaRPr>
          </a:p>
        </p:txBody>
      </p:sp>
      <p:sp>
        <p:nvSpPr>
          <p:cNvPr id="27" name="r3-81">
            <a:extLst>
              <a:ext uri="{FF2B5EF4-FFF2-40B4-BE49-F238E27FC236}">
                <ns2:creationId id="{A65A87E2-DBAB-4C51-A9D9-463319B64B5B}"/>
              </a:ext>
            </a:extLst>
          </p:cNvPr>
          <p:cNvSpPr>
            <a:spLocks noGrp="1"/>
          </p:cNvSpPr>
          <p:nvPr/>
        </p:nvSpPr>
        <p:spPr>
          <a:xfrm>
            <a:off x="1543050" y="4957762"/>
            <a:ext cx="9215438" cy="428625"/>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직접 응답 또는 업무 위임</a:t>
            </a:r>
            <a:endParaRPr lang="ko-KR">
              <a:solidFill>
                <a:srgbClr val="000000"/>
              </a:solidFill>
              <a:latin typeface="Calibri"/>
              <a:ea typeface="Calibri"/>
              <a:cs typeface="Calibri"/>
            </a:endParaRPr>
          </a:p>
        </p:txBody>
      </p:sp>
      <p:sp>
        <p:nvSpPr>
          <p:cNvPr id="28" name="r3-82">
            <a:extLst>
              <a:ext uri="{FF2B5EF4-FFF2-40B4-BE49-F238E27FC236}">
                <ns2:creationId id="{A15D4FFA-CDB2-4D02-8BCA-39986E1F1A94}"/>
              </a:ext>
            </a:extLst>
          </p:cNvPr>
          <p:cNvSpPr>
            <a:spLocks noGrp="1"/>
          </p:cNvSpPr>
          <p:nvPr/>
        </p:nvSpPr>
        <p:spPr>
          <a:xfrm>
            <a:off x="1543050" y="5414962"/>
            <a:ext cx="9215438" cy="414338"/>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범위가 명확한 설명은 직접 답하고, 실제 업무는 AI에 위임</a:t>
            </a:r>
            <a:endParaRPr lang="ko-KR">
              <a:solidFill>
                <a:srgbClr val="000000"/>
              </a:solidFill>
              <a:latin typeface="Calibri"/>
              <a:ea typeface="Calibri"/>
              <a:cs typeface="Calibri"/>
            </a:endParaRPr>
          </a:p>
        </p:txBody>
      </p:sp>
      <p:sp>
        <p:nvSpPr>
          <p:cNvPr id="29" name="r3-83">
            <a:extLst>
              <a:ext uri="{FF2B5EF4-FFF2-40B4-BE49-F238E27FC236}">
                <ns2:creationId id="{F0062F88-022F-467E-8BEB-072935757D4D}"/>
              </a:ext>
            </a:extLst>
          </p:cNvPr>
          <p:cNvSpPr>
            <a:spLocks noGrp="1"/>
          </p:cNvSpPr>
          <p:nvPr/>
        </p:nvSpPr>
        <p:spPr>
          <a:xfrm>
            <a:off x="957262" y="5972175"/>
            <a:ext cx="414338" cy="414338"/>
          </a:xfrm>
          <a:prstGeom prst="ellipse">
            <a:avLst/>
          </a:prstGeom>
          <a:solidFill>
            <a:srgbClr val="EEEEEE"/>
          </a:solidFill>
          <a:ln w="0">
            <a:noFill/>
          </a:ln>
        </p:spPr>
        <p:txBody>
          <a:bodyPr wrap="none" lIns="0" tIns="0" rIns="0" bIns="0" anchor="ctr">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3</a:t>
            </a:r>
            <a:endParaRPr lang="ko-KR">
              <a:solidFill>
                <a:srgbClr val="000000"/>
              </a:solidFill>
              <a:latin typeface="Calibri"/>
              <a:ea typeface="Calibri"/>
              <a:cs typeface="Calibri"/>
            </a:endParaRPr>
          </a:p>
        </p:txBody>
      </p:sp>
      <p:sp>
        <p:nvSpPr>
          <p:cNvPr id="31" name="r3-85">
            <a:extLst>
              <a:ext uri="{FF2B5EF4-FFF2-40B4-BE49-F238E27FC236}">
                <ns2:creationId id="{63C45FC8-7F2D-41AE-A7D7-4B823AC48EB4}"/>
              </a:ext>
            </a:extLst>
          </p:cNvPr>
          <p:cNvSpPr>
            <a:spLocks noGrp="1"/>
          </p:cNvSpPr>
          <p:nvPr/>
        </p:nvSpPr>
        <p:spPr>
          <a:xfrm>
            <a:off x="1543050" y="5915025"/>
            <a:ext cx="9215438" cy="428625"/>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대화와 업무 상태 관리</a:t>
            </a:r>
            <a:endParaRPr lang="ko-KR">
              <a:solidFill>
                <a:srgbClr val="000000"/>
              </a:solidFill>
              <a:latin typeface="Calibri"/>
              <a:ea typeface="Calibri"/>
              <a:cs typeface="Calibri"/>
            </a:endParaRPr>
          </a:p>
        </p:txBody>
      </p:sp>
      <p:sp>
        <p:nvSpPr>
          <p:cNvPr id="32" name="r3-86">
            <a:extLst>
              <a:ext uri="{FF2B5EF4-FFF2-40B4-BE49-F238E27FC236}">
                <ns2:creationId id="{B6CE67E3-DB03-4E92-8702-A61469EDC549}"/>
              </a:ext>
            </a:extLst>
          </p:cNvPr>
          <p:cNvSpPr>
            <a:spLocks noGrp="1"/>
          </p:cNvSpPr>
          <p:nvPr/>
        </p:nvSpPr>
        <p:spPr>
          <a:xfrm>
            <a:off x="1543050" y="6372225"/>
            <a:ext cx="9215438" cy="62865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질문과 추가 지시, 취소를 해당 업무에 연결</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진행 상황과 결과도 같은 업무에서 관리</a:t>
            </a:r>
            <a:endParaRPr lang="ko-KR">
              <a:solidFill>
                <a:srgbClr val="000000"/>
              </a:solidFill>
              <a:latin typeface="Calibri"/>
              <a:ea typeface="Calibri"/>
              <a:cs typeface="Calibri"/>
            </a:endParaRPr>
          </a:p>
        </p:txBody>
      </p:sp>
      <p:sp>
        <p:nvSpPr>
          <p:cNvPr id="33" name="r3-87">
            <a:extLst>
              <a:ext uri="{FF2B5EF4-FFF2-40B4-BE49-F238E27FC236}">
                <ns2:creationId id="{F8FDDC4A-7A5C-45E7-9EE8-199AE9514DC2}"/>
              </a:ext>
            </a:extLst>
          </p:cNvPr>
          <p:cNvSpPr>
            <a:spLocks noGrp="1"/>
          </p:cNvSpPr>
          <p:nvPr/>
        </p:nvSpPr>
        <p:spPr>
          <a:xfrm>
            <a:off x="11215688" y="3971925"/>
            <a:ext cx="1385888" cy="371475"/>
          </a:xfrm>
          <a:prstGeom prst="rect">
            <a:avLst/>
          </a:prstGeom>
          <a:noFill/>
          <a:ln w="0">
            <a:noFill/>
          </a:ln>
        </p:spPr>
        <p:txBody>
          <a:bodyPr wrap="none" lIns="0" tIns="0" rIns="0" bIns="0"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목표와 조건</a:t>
            </a:r>
            <a:endParaRPr lang="ko-KR">
              <a:solidFill>
                <a:srgbClr val="000000"/>
              </a:solidFill>
              <a:latin typeface="Calibri"/>
              <a:ea typeface="Calibri"/>
              <a:cs typeface="Calibri"/>
            </a:endParaRPr>
          </a:p>
        </p:txBody>
      </p:sp>
      <p:sp>
        <p:nvSpPr>
          <p:cNvPr id="34" name="line-88">
            <a:extLst>
              <a:ext uri="{FF2B5EF4-FFF2-40B4-BE49-F238E27FC236}">
                <ns2:creationId id="{F65DB34C-2CFB-4F69-AFA4-DF6DBE81C915}"/>
              </a:ext>
            </a:extLst>
          </p:cNvPr>
          <p:cNvSpPr>
            <a:spLocks noGrp="1"/>
          </p:cNvSpPr>
          <p:nvPr/>
        </p:nvSpPr>
        <p:spPr>
          <a:xfrm flipH="0">
            <a:off x="11244262" y="4471988"/>
            <a:ext cx="1243012" cy="0"/>
          </a:xfrm>
          <a:prstGeom prst="line">
            <a:avLst/>
          </a:prstGeom>
          <a:noFill/>
          <a:ln w="24290">
            <a:solidFill>
              <a:srgbClr val="258FAF"/>
            </a:solidFill>
          </a:ln>
        </p:spPr>
      </p:sp>
      <p:sp>
        <p:nvSpPr>
          <p:cNvPr id="35" name="line-89">
            <a:extLst>
              <a:ext uri="{FF2B5EF4-FFF2-40B4-BE49-F238E27FC236}">
                <ns2:creationId id="{58996F9C-CAA2-442F-A7F8-77FAF118416C}"/>
              </a:ext>
            </a:extLst>
          </p:cNvPr>
          <p:cNvSpPr>
            <a:spLocks noGrp="1"/>
          </p:cNvSpPr>
          <p:nvPr/>
        </p:nvSpPr>
        <p:spPr>
          <a:xfrm flipH="0">
            <a:off x="12387262" y="4414838"/>
            <a:ext cx="100012" cy="57150"/>
          </a:xfrm>
          <a:prstGeom prst="line">
            <a:avLst/>
          </a:prstGeom>
          <a:noFill/>
          <a:ln w="24290">
            <a:solidFill>
              <a:srgbClr val="258FAF"/>
            </a:solidFill>
          </a:ln>
        </p:spPr>
      </p:sp>
      <p:sp>
        <p:nvSpPr>
          <p:cNvPr id="36" name="line-90">
            <a:extLst>
              <a:ext uri="{FF2B5EF4-FFF2-40B4-BE49-F238E27FC236}">
                <ns2:creationId id="{7991858B-2EEF-4BCB-8B75-3835EEC5755F}"/>
              </a:ext>
            </a:extLst>
          </p:cNvPr>
          <p:cNvSpPr>
            <a:spLocks noGrp="1"/>
          </p:cNvSpPr>
          <p:nvPr/>
        </p:nvSpPr>
        <p:spPr>
          <a:xfrm flipH="1">
            <a:off x="12387262" y="4471988"/>
            <a:ext cx="100012" cy="57150"/>
          </a:xfrm>
          <a:prstGeom prst="line">
            <a:avLst/>
          </a:prstGeom>
          <a:noFill/>
          <a:ln w="24290">
            <a:solidFill>
              <a:srgbClr val="258FAF"/>
            </a:solidFill>
          </a:ln>
        </p:spPr>
      </p:sp>
      <p:sp>
        <p:nvSpPr>
          <p:cNvPr id="37" name="line-91">
            <a:extLst>
              <a:ext uri="{FF2B5EF4-FFF2-40B4-BE49-F238E27FC236}">
                <ns2:creationId id="{666D66A2-8A43-4C3F-88DF-0E02D97174C3}"/>
              </a:ext>
            </a:extLst>
          </p:cNvPr>
          <p:cNvSpPr>
            <a:spLocks noGrp="1"/>
          </p:cNvSpPr>
          <p:nvPr/>
        </p:nvSpPr>
        <p:spPr>
          <a:xfrm flipH="0">
            <a:off x="11244262" y="5757862"/>
            <a:ext cx="1243012" cy="0"/>
          </a:xfrm>
          <a:prstGeom prst="line">
            <a:avLst/>
          </a:prstGeom>
          <a:noFill/>
          <a:ln w="24290">
            <a:solidFill>
              <a:srgbClr val="258FAF"/>
            </a:solidFill>
          </a:ln>
        </p:spPr>
      </p:sp>
      <p:sp>
        <p:nvSpPr>
          <p:cNvPr id="38" name="line-92">
            <a:extLst>
              <a:ext uri="{FF2B5EF4-FFF2-40B4-BE49-F238E27FC236}">
                <ns2:creationId id="{1EA8433E-026E-4591-A3FF-6532C023B2EA}"/>
              </a:ext>
            </a:extLst>
          </p:cNvPr>
          <p:cNvSpPr>
            <a:spLocks noGrp="1"/>
          </p:cNvSpPr>
          <p:nvPr/>
        </p:nvSpPr>
        <p:spPr>
          <a:xfrm flipH="1">
            <a:off x="11244262" y="5700712"/>
            <a:ext cx="100012" cy="57150"/>
          </a:xfrm>
          <a:prstGeom prst="line">
            <a:avLst/>
          </a:prstGeom>
          <a:noFill/>
          <a:ln w="24290">
            <a:solidFill>
              <a:srgbClr val="258FAF"/>
            </a:solidFill>
          </a:ln>
        </p:spPr>
      </p:sp>
      <p:sp>
        <p:nvSpPr>
          <p:cNvPr id="39" name="line-93">
            <a:extLst>
              <a:ext uri="{FF2B5EF4-FFF2-40B4-BE49-F238E27FC236}">
                <ns2:creationId id="{82A8FDDE-4730-4DFA-8464-791F6FE48436}"/>
              </a:ext>
            </a:extLst>
          </p:cNvPr>
          <p:cNvSpPr>
            <a:spLocks noGrp="1"/>
          </p:cNvSpPr>
          <p:nvPr/>
        </p:nvSpPr>
        <p:spPr>
          <a:xfrm flipH="0">
            <a:off x="11244262" y="5757862"/>
            <a:ext cx="100012" cy="57150"/>
          </a:xfrm>
          <a:prstGeom prst="line">
            <a:avLst/>
          </a:prstGeom>
          <a:noFill/>
          <a:ln w="24290">
            <a:solidFill>
              <a:srgbClr val="258FAF"/>
            </a:solidFill>
          </a:ln>
        </p:spPr>
      </p:sp>
      <p:sp>
        <p:nvSpPr>
          <p:cNvPr id="40" name="r3-94">
            <a:extLst>
              <a:ext uri="{FF2B5EF4-FFF2-40B4-BE49-F238E27FC236}">
                <ns2:creationId id="{E31C9647-E896-4611-B221-0B4DCB01017C}"/>
              </a:ext>
            </a:extLst>
          </p:cNvPr>
          <p:cNvSpPr>
            <a:spLocks noGrp="1"/>
          </p:cNvSpPr>
          <p:nvPr/>
        </p:nvSpPr>
        <p:spPr>
          <a:xfrm>
            <a:off x="11215688" y="5900738"/>
            <a:ext cx="1385888" cy="328612"/>
          </a:xfrm>
          <a:prstGeom prst="rect">
            <a:avLst/>
          </a:prstGeom>
          <a:noFill/>
          <a:ln w="0">
            <a:noFill/>
          </a:ln>
        </p:spPr>
        <p:txBody>
          <a:bodyPr wrap="none" lIns="0" tIns="0" rIns="0" bIns="0"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질문과 상태</a:t>
            </a:r>
            <a:endParaRPr lang="ko-KR">
              <a:solidFill>
                <a:srgbClr val="000000"/>
              </a:solidFill>
              <a:latin typeface="Calibri"/>
              <a:ea typeface="Calibri"/>
              <a:cs typeface="Calibri"/>
            </a:endParaRPr>
          </a:p>
        </p:txBody>
      </p:sp>
      <p:sp>
        <p:nvSpPr>
          <p:cNvPr id="41" name="r3-95">
            <a:extLst>
              <a:ext uri="{FF2B5EF4-FFF2-40B4-BE49-F238E27FC236}">
                <ns2:creationId id="{D1230799-3BF4-415F-9CF7-BD6E5B405CB8}"/>
              </a:ext>
            </a:extLst>
          </p:cNvPr>
          <p:cNvSpPr>
            <a:spLocks noGrp="1"/>
          </p:cNvSpPr>
          <p:nvPr/>
        </p:nvSpPr>
        <p:spPr>
          <a:xfrm>
            <a:off x="11215688" y="6243638"/>
            <a:ext cx="1385888" cy="314325"/>
          </a:xfrm>
          <a:prstGeom prst="rect">
            <a:avLst/>
          </a:prstGeom>
          <a:noFill/>
          <a:ln w="0">
            <a:noFill/>
          </a:ln>
        </p:spPr>
        <p:txBody>
          <a:bodyPr wrap="none" lIns="0" tIns="0" rIns="0" bIns="0"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결과</a:t>
            </a:r>
            <a:endParaRPr lang="ko-KR">
              <a:solidFill>
                <a:srgbClr val="000000"/>
              </a:solidFill>
              <a:latin typeface="Calibri"/>
              <a:ea typeface="Calibri"/>
              <a:cs typeface="Calibri"/>
            </a:endParaRPr>
          </a:p>
        </p:txBody>
      </p:sp>
      <p:sp>
        <p:nvSpPr>
          <p:cNvPr id="42" name="r3-96">
            <a:extLst>
              <a:ext uri="{FF2B5EF4-FFF2-40B4-BE49-F238E27FC236}">
                <ns2:creationId id="{CC4784CC-B8CB-4E7E-B6EF-A8E27A9071AA}"/>
              </a:ext>
            </a:extLst>
          </p:cNvPr>
          <p:cNvSpPr>
            <a:spLocks noGrp="1"/>
          </p:cNvSpPr>
          <p:nvPr/>
        </p:nvSpPr>
        <p:spPr>
          <a:xfrm>
            <a:off x="12844462" y="3414712"/>
            <a:ext cx="4586288" cy="500062"/>
          </a:xfrm>
          <a:prstGeom prst="rect">
            <a:avLst/>
          </a:prstGeom>
          <a:noFill/>
          <a:ln w="0">
            <a:noFill/>
          </a:ln>
        </p:spPr>
        <p:txBody>
          <a:bodyPr wrap="none" lIns="0" tIns="0" rIns="0" bIns="0" anchor="ctr">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업무 방법과 도구 선택</a:t>
            </a:r>
            <a:endParaRPr lang="ko-KR">
              <a:solidFill>
                <a:srgbClr val="000000"/>
              </a:solidFill>
              <a:latin typeface="Calibri"/>
              <a:ea typeface="Calibri"/>
              <a:cs typeface="Calibri"/>
            </a:endParaRPr>
          </a:p>
        </p:txBody>
      </p:sp>
      <p:sp>
        <p:nvSpPr>
          <p:cNvPr id="43" name="line-97">
            <a:extLst>
              <a:ext uri="{FF2B5EF4-FFF2-40B4-BE49-F238E27FC236}">
                <ns2:creationId id="{E256A8AA-9488-49D8-BEB7-7E5BE2E90EC4}"/>
              </a:ext>
            </a:extLst>
          </p:cNvPr>
          <p:cNvSpPr>
            <a:spLocks noGrp="1"/>
          </p:cNvSpPr>
          <p:nvPr/>
        </p:nvSpPr>
        <p:spPr>
          <a:xfrm flipH="0">
            <a:off x="15144750" y="4029075"/>
            <a:ext cx="0" cy="400050"/>
          </a:xfrm>
          <a:prstGeom prst="line">
            <a:avLst/>
          </a:prstGeom>
          <a:noFill/>
          <a:ln w="24290">
            <a:solidFill>
              <a:srgbClr val="657079"/>
            </a:solidFill>
          </a:ln>
        </p:spPr>
      </p:sp>
      <p:sp>
        <p:nvSpPr>
          <p:cNvPr id="44" name="line-98">
            <a:extLst>
              <a:ext uri="{FF2B5EF4-FFF2-40B4-BE49-F238E27FC236}">
                <ns2:creationId id="{39A4B293-284C-459F-BC36-69B4F143C33C}"/>
              </a:ext>
            </a:extLst>
          </p:cNvPr>
          <p:cNvSpPr>
            <a:spLocks noGrp="1"/>
          </p:cNvSpPr>
          <p:nvPr/>
        </p:nvSpPr>
        <p:spPr>
          <a:xfrm flipH="0">
            <a:off x="15087600" y="4329112"/>
            <a:ext cx="57150" cy="100012"/>
          </a:xfrm>
          <a:prstGeom prst="line">
            <a:avLst/>
          </a:prstGeom>
          <a:noFill/>
          <a:ln w="24290">
            <a:solidFill>
              <a:srgbClr val="657079"/>
            </a:solidFill>
          </a:ln>
        </p:spPr>
      </p:sp>
      <p:sp>
        <p:nvSpPr>
          <p:cNvPr id="45" name="line-99">
            <a:extLst>
              <a:ext uri="{FF2B5EF4-FFF2-40B4-BE49-F238E27FC236}">
                <ns2:creationId id="{0437A239-626D-44D8-91DE-98E3973B65A7}"/>
              </a:ext>
            </a:extLst>
          </p:cNvPr>
          <p:cNvSpPr>
            <a:spLocks noGrp="1"/>
          </p:cNvSpPr>
          <p:nvPr/>
        </p:nvSpPr>
        <p:spPr>
          <a:xfrm flipH="1">
            <a:off x="15144750" y="4329112"/>
            <a:ext cx="57150" cy="100012"/>
          </a:xfrm>
          <a:prstGeom prst="line">
            <a:avLst/>
          </a:prstGeom>
          <a:noFill/>
          <a:ln w="24290">
            <a:solidFill>
              <a:srgbClr val="657079"/>
            </a:solidFill>
          </a:ln>
        </p:spPr>
      </p:sp>
      <p:sp>
        <p:nvSpPr>
          <p:cNvPr id="46" name="r3-100">
            <a:extLst>
              <a:ext uri="{FF2B5EF4-FFF2-40B4-BE49-F238E27FC236}">
                <ns2:creationId id="{083BB3A9-902D-4B48-9FAF-C5FBDEB45BE1}"/>
              </a:ext>
            </a:extLst>
          </p:cNvPr>
          <p:cNvSpPr>
            <a:spLocks noGrp="1"/>
          </p:cNvSpPr>
          <p:nvPr/>
        </p:nvSpPr>
        <p:spPr>
          <a:xfrm>
            <a:off x="12787312" y="4586288"/>
            <a:ext cx="4672012" cy="414338"/>
          </a:xfrm>
          <a:prstGeom prst="rect">
            <a:avLst/>
          </a:prstGeom>
          <a:noFill/>
          <a:ln w="0">
            <a:noFill/>
          </a:ln>
        </p:spPr>
        <p:txBody>
          <a:bodyPr wrap="none" lIns="0" tIns="0" rIns="0" bIns="0" anchor="ctr">
            <a:noAutofit/>
          </a:bodyPr>
          <a:lstStyle/>
          <a:p>
            <a:pPr algn="ctr">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자료 조사와 문서 작성</a:t>
            </a:r>
            <a:endParaRPr lang="ko-KR">
              <a:solidFill>
                <a:srgbClr val="000000"/>
              </a:solidFill>
              <a:latin typeface="Calibri"/>
              <a:ea typeface="Calibri"/>
              <a:cs typeface="Calibri"/>
            </a:endParaRPr>
          </a:p>
        </p:txBody>
      </p:sp>
      <p:sp>
        <p:nvSpPr>
          <p:cNvPr id="47" name="r3-101">
            <a:extLst>
              <a:ext uri="{FF2B5EF4-FFF2-40B4-BE49-F238E27FC236}">
                <ns2:creationId id="{48A4984D-00C5-4DE3-A661-93E02598DE4B}"/>
              </a:ext>
            </a:extLst>
          </p:cNvPr>
          <p:cNvSpPr>
            <a:spLocks noGrp="1"/>
          </p:cNvSpPr>
          <p:nvPr/>
        </p:nvSpPr>
        <p:spPr>
          <a:xfrm>
            <a:off x="12787312" y="5043488"/>
            <a:ext cx="4672012" cy="414338"/>
          </a:xfrm>
          <a:prstGeom prst="rect">
            <a:avLst/>
          </a:prstGeom>
          <a:noFill/>
          <a:ln w="0">
            <a:noFill/>
          </a:ln>
        </p:spPr>
        <p:txBody>
          <a:bodyPr wrap="none" lIns="0" tIns="0" rIns="0" bIns="0" anchor="ctr">
            <a:noAutofit/>
          </a:bodyPr>
          <a:lstStyle/>
          <a:p>
            <a:pPr algn="ct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앱 조작, 코드 수정과 시험 등</a:t>
            </a:r>
            <a:endParaRPr lang="ko-KR">
              <a:solidFill>
                <a:srgbClr val="000000"/>
              </a:solidFill>
              <a:latin typeface="Calibri"/>
              <a:ea typeface="Calibri"/>
              <a:cs typeface="Calibri"/>
            </a:endParaRPr>
          </a:p>
        </p:txBody>
      </p:sp>
      <p:sp>
        <p:nvSpPr>
          <p:cNvPr id="48" name="line-102">
            <a:extLst>
              <a:ext uri="{FF2B5EF4-FFF2-40B4-BE49-F238E27FC236}">
                <ns2:creationId id="{052B5794-0D1C-491A-A20C-BEFB7C022802}"/>
              </a:ext>
            </a:extLst>
          </p:cNvPr>
          <p:cNvSpPr>
            <a:spLocks noGrp="1"/>
          </p:cNvSpPr>
          <p:nvPr/>
        </p:nvSpPr>
        <p:spPr>
          <a:xfrm flipH="0">
            <a:off x="15144750" y="5586412"/>
            <a:ext cx="0" cy="400050"/>
          </a:xfrm>
          <a:prstGeom prst="line">
            <a:avLst/>
          </a:prstGeom>
          <a:noFill/>
          <a:ln w="24290">
            <a:solidFill>
              <a:srgbClr val="657079"/>
            </a:solidFill>
          </a:ln>
        </p:spPr>
      </p:sp>
      <p:sp>
        <p:nvSpPr>
          <p:cNvPr id="49" name="line-103">
            <a:extLst>
              <a:ext uri="{FF2B5EF4-FFF2-40B4-BE49-F238E27FC236}">
                <ns2:creationId id="{730E5816-ED30-4FD2-BFFF-2D5C05EBD78F}"/>
              </a:ext>
            </a:extLst>
          </p:cNvPr>
          <p:cNvSpPr>
            <a:spLocks noGrp="1"/>
          </p:cNvSpPr>
          <p:nvPr/>
        </p:nvSpPr>
        <p:spPr>
          <a:xfrm flipH="0">
            <a:off x="15087600" y="5886450"/>
            <a:ext cx="57150" cy="100012"/>
          </a:xfrm>
          <a:prstGeom prst="line">
            <a:avLst/>
          </a:prstGeom>
          <a:noFill/>
          <a:ln w="24290">
            <a:solidFill>
              <a:srgbClr val="657079"/>
            </a:solidFill>
          </a:ln>
        </p:spPr>
      </p:sp>
      <p:sp>
        <p:nvSpPr>
          <p:cNvPr id="50" name="line-104">
            <a:extLst>
              <a:ext uri="{FF2B5EF4-FFF2-40B4-BE49-F238E27FC236}">
                <ns2:creationId id="{177ACB4A-DB5E-4B09-950C-4A602EC636E8}"/>
              </a:ext>
            </a:extLst>
          </p:cNvPr>
          <p:cNvSpPr>
            <a:spLocks noGrp="1"/>
          </p:cNvSpPr>
          <p:nvPr/>
        </p:nvSpPr>
        <p:spPr>
          <a:xfrm flipH="1">
            <a:off x="15144750" y="5886450"/>
            <a:ext cx="57150" cy="100012"/>
          </a:xfrm>
          <a:prstGeom prst="line">
            <a:avLst/>
          </a:prstGeom>
          <a:noFill/>
          <a:ln w="24290">
            <a:solidFill>
              <a:srgbClr val="657079"/>
            </a:solidFill>
          </a:ln>
        </p:spPr>
      </p:sp>
      <p:sp>
        <p:nvSpPr>
          <p:cNvPr id="51" name="r3-105">
            <a:extLst>
              <a:ext uri="{FF2B5EF4-FFF2-40B4-BE49-F238E27FC236}">
                <ns2:creationId id="{798D6441-C4D2-46AD-B37C-2890EB8E92BF}"/>
              </a:ext>
            </a:extLst>
          </p:cNvPr>
          <p:cNvSpPr>
            <a:spLocks noGrp="1"/>
          </p:cNvSpPr>
          <p:nvPr/>
        </p:nvSpPr>
        <p:spPr>
          <a:xfrm>
            <a:off x="12744450" y="6157912"/>
            <a:ext cx="4772025" cy="442912"/>
          </a:xfrm>
          <a:prstGeom prst="rect">
            <a:avLst/>
          </a:prstGeom>
          <a:noFill/>
          <a:ln w="0">
            <a:noFill/>
          </a:ln>
        </p:spPr>
        <p:txBody>
          <a:bodyPr wrap="none" lIns="0" tIns="0" rIns="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결과를 확인하고 작업을 이어감</a:t>
            </a:r>
            <a:endParaRPr lang="ko-KR">
              <a:solidFill>
                <a:srgbClr val="000000"/>
              </a:solidFill>
              <a:latin typeface="Calibri"/>
              <a:ea typeface="Calibri"/>
              <a:cs typeface="Calibri"/>
            </a:endParaRPr>
          </a:p>
        </p:txBody>
      </p:sp>
      <p:sp>
        <p:nvSpPr>
          <p:cNvPr id="52" name="line-106">
            <a:extLst>
              <a:ext uri="{FF2B5EF4-FFF2-40B4-BE49-F238E27FC236}">
                <ns2:creationId id="{F1F78D25-F197-4E57-9F2F-0E09CF9CE618}"/>
              </a:ext>
            </a:extLst>
          </p:cNvPr>
          <p:cNvSpPr>
            <a:spLocks noGrp="1"/>
          </p:cNvSpPr>
          <p:nvPr/>
        </p:nvSpPr>
        <p:spPr>
          <a:xfrm flipH="0">
            <a:off x="600075" y="7086600"/>
            <a:ext cx="17073562" cy="0"/>
          </a:xfrm>
          <a:prstGeom prst="line">
            <a:avLst/>
          </a:prstGeom>
          <a:noFill/>
          <a:ln w="14288">
            <a:solidFill>
              <a:srgbClr val="BDC4CA"/>
            </a:solidFill>
          </a:ln>
        </p:spPr>
      </p:sp>
      <p:sp>
        <p:nvSpPr>
          <p:cNvPr id="53" name="r3-107">
            <a:extLst>
              <a:ext uri="{FF2B5EF4-FFF2-40B4-BE49-F238E27FC236}">
                <ns2:creationId id="{C0871C85-E493-43F7-B3A9-E9748A43F307}"/>
              </a:ext>
            </a:extLst>
          </p:cNvPr>
          <p:cNvSpPr>
            <a:spLocks noGrp="1"/>
          </p:cNvSpPr>
          <p:nvPr/>
        </p:nvSpPr>
        <p:spPr>
          <a:xfrm>
            <a:off x="657225" y="7272338"/>
            <a:ext cx="16959262" cy="471488"/>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같은 대화 안에서 두 업무를 구분하는 예</a:t>
            </a:r>
            <a:endParaRPr lang="ko-KR">
              <a:solidFill>
                <a:srgbClr val="000000"/>
              </a:solidFill>
              <a:latin typeface="Calibri"/>
              <a:ea typeface="Calibri"/>
              <a:cs typeface="Calibri"/>
            </a:endParaRPr>
          </a:p>
        </p:txBody>
      </p:sp>
      <p:sp>
        <p:nvSpPr>
          <p:cNvPr id="54" name="r3-108">
            <a:extLst>
              <a:ext uri="{FF2B5EF4-FFF2-40B4-BE49-F238E27FC236}">
                <ns2:creationId id="{C0A6B9A1-FFC4-43DA-B774-46267B5DDDF9}"/>
              </a:ext>
            </a:extLst>
          </p:cNvPr>
          <p:cNvSpPr>
            <a:spLocks noGrp="1"/>
          </p:cNvSpPr>
          <p:nvPr/>
        </p:nvSpPr>
        <p:spPr>
          <a:xfrm>
            <a:off x="685800" y="7929562"/>
            <a:ext cx="1828800" cy="414338"/>
          </a:xfrm>
          <a:prstGeom prst="rect">
            <a:avLst/>
          </a:prstGeom>
          <a:noFill/>
          <a:ln w="0">
            <a:noFill/>
          </a:ln>
        </p:spPr>
        <p:txBody>
          <a:bodyPr wrap="none" lIns="0" tIns="0" rIns="0" bIns="0" anchor="ctr">
            <a:noAutofit/>
          </a:body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사용자 요청</a:t>
            </a:r>
            <a:endParaRPr lang="ko-KR">
              <a:solidFill>
                <a:srgbClr val="000000"/>
              </a:solidFill>
              <a:latin typeface="Calibri"/>
              <a:ea typeface="Calibri"/>
              <a:cs typeface="Calibri"/>
            </a:endParaRPr>
          </a:p>
        </p:txBody>
      </p:sp>
      <p:sp>
        <p:nvSpPr>
          <p:cNvPr id="55" name="r3-109">
            <a:extLst>
              <a:ext uri="{FF2B5EF4-FFF2-40B4-BE49-F238E27FC236}">
                <ns2:creationId id="{63DE9316-8F24-40C3-945B-481297795F63}"/>
              </a:ext>
            </a:extLst>
          </p:cNvPr>
          <p:cNvSpPr>
            <a:spLocks noGrp="1"/>
          </p:cNvSpPr>
          <p:nvPr/>
        </p:nvSpPr>
        <p:spPr>
          <a:xfrm>
            <a:off x="2743200" y="7829550"/>
            <a:ext cx="5514975" cy="928688"/>
          </a:xfrm>
          <a:prstGeom prst="rect">
            <a:avLst/>
          </a:prstGeom>
          <a:noFill/>
          <a:ln w="0">
            <a:noFill/>
          </a:ln>
        </p:spPr>
        <p:txBody>
          <a:bodyPr wrap="none" lIns="0" tIns="0" rIns="0" bIns="0" anchor="ctr">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“이 표로 보고서 만들어줘.</a:t>
            </a:r>
            <a:endParaRPr lang="ko-KR">
              <a:solidFill>
                <a:srgbClr val="000000"/>
              </a:solidFill>
              <a:latin typeface="Calibri"/>
              <a:ea typeface="Calibri"/>
              <a:cs typeface="Calibri"/>
            </a:endParaRPr>
          </a:p>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아까 자료 조사는 계속해.”</a:t>
            </a:r>
            <a:endParaRPr lang="ko-KR">
              <a:solidFill>
                <a:srgbClr val="000000"/>
              </a:solidFill>
              <a:latin typeface="Calibri"/>
              <a:ea typeface="Calibri"/>
              <a:cs typeface="Calibri"/>
            </a:endParaRPr>
          </a:p>
        </p:txBody>
      </p:sp>
      <p:sp>
        <p:nvSpPr>
          <p:cNvPr id="56" name="line-110">
            <a:extLst>
              <a:ext uri="{FF2B5EF4-FFF2-40B4-BE49-F238E27FC236}">
                <ns2:creationId id="{9165C477-AA8C-4826-8D89-B6E6ABFFEEDD}"/>
              </a:ext>
            </a:extLst>
          </p:cNvPr>
          <p:cNvSpPr>
            <a:spLocks noGrp="1"/>
          </p:cNvSpPr>
          <p:nvPr/>
        </p:nvSpPr>
        <p:spPr>
          <a:xfrm flipH="0">
            <a:off x="8329612" y="8286750"/>
            <a:ext cx="542925" cy="0"/>
          </a:xfrm>
          <a:prstGeom prst="line">
            <a:avLst/>
          </a:prstGeom>
          <a:noFill/>
          <a:ln w="24290">
            <a:solidFill>
              <a:srgbClr val="258FAF"/>
            </a:solidFill>
          </a:ln>
        </p:spPr>
      </p:sp>
      <p:sp>
        <p:nvSpPr>
          <p:cNvPr id="57" name="line-111">
            <a:extLst>
              <a:ext uri="{FF2B5EF4-FFF2-40B4-BE49-F238E27FC236}">
                <ns2:creationId id="{BC6DBE98-C8F7-48DB-AC44-1C28F24F2A4B}"/>
              </a:ext>
            </a:extLst>
          </p:cNvPr>
          <p:cNvSpPr>
            <a:spLocks noGrp="1"/>
          </p:cNvSpPr>
          <p:nvPr/>
        </p:nvSpPr>
        <p:spPr>
          <a:xfrm flipH="0">
            <a:off x="8772525" y="8229600"/>
            <a:ext cx="100012" cy="57150"/>
          </a:xfrm>
          <a:prstGeom prst="line">
            <a:avLst/>
          </a:prstGeom>
          <a:noFill/>
          <a:ln w="24290">
            <a:solidFill>
              <a:srgbClr val="258FAF"/>
            </a:solidFill>
          </a:ln>
        </p:spPr>
      </p:sp>
      <p:sp>
        <p:nvSpPr>
          <p:cNvPr id="58" name="line-112">
            <a:extLst>
              <a:ext uri="{FF2B5EF4-FFF2-40B4-BE49-F238E27FC236}">
                <ns2:creationId id="{BEDD854A-1459-416B-8554-917A14071099}"/>
              </a:ext>
            </a:extLst>
          </p:cNvPr>
          <p:cNvSpPr>
            <a:spLocks noGrp="1"/>
          </p:cNvSpPr>
          <p:nvPr/>
        </p:nvSpPr>
        <p:spPr>
          <a:xfrm flipH="1">
            <a:off x="8772525" y="8286750"/>
            <a:ext cx="100012" cy="57150"/>
          </a:xfrm>
          <a:prstGeom prst="line">
            <a:avLst/>
          </a:prstGeom>
          <a:noFill/>
          <a:ln w="24290">
            <a:solidFill>
              <a:srgbClr val="258FAF"/>
            </a:solidFill>
          </a:ln>
        </p:spPr>
      </p:sp>
      <p:sp>
        <p:nvSpPr>
          <p:cNvPr id="59" name="r3-113">
            <a:extLst>
              <a:ext uri="{FF2B5EF4-FFF2-40B4-BE49-F238E27FC236}">
                <ns2:creationId id="{7A9AB08B-356C-44EA-91CD-54EE45CD69AA}"/>
              </a:ext>
            </a:extLst>
          </p:cNvPr>
          <p:cNvSpPr>
            <a:spLocks noGrp="1"/>
          </p:cNvSpPr>
          <p:nvPr/>
        </p:nvSpPr>
        <p:spPr>
          <a:xfrm>
            <a:off x="9158288" y="7829550"/>
            <a:ext cx="2343150" cy="400050"/>
          </a:xfrm>
          <a:prstGeom prst="rect">
            <a:avLst/>
          </a:prstGeom>
          <a:noFill/>
          <a:ln w="0">
            <a:noFill/>
          </a:ln>
        </p:spPr>
        <p:txBody>
          <a:bodyPr wrap="none" lIns="0" tIns="0" rIns="0" bIns="0" anchor="ctr">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보고서 작성</a:t>
            </a:r>
            <a:endParaRPr lang="ko-KR">
              <a:solidFill>
                <a:srgbClr val="000000"/>
              </a:solidFill>
              <a:latin typeface="Calibri"/>
              <a:ea typeface="Calibri"/>
              <a:cs typeface="Calibri"/>
            </a:endParaRPr>
          </a:p>
        </p:txBody>
      </p:sp>
      <p:sp>
        <p:nvSpPr>
          <p:cNvPr id="60" name="r3-114">
            <a:extLst>
              <a:ext uri="{FF2B5EF4-FFF2-40B4-BE49-F238E27FC236}">
                <ns2:creationId id="{7351902C-416E-434B-8212-026AB1FF0252}"/>
              </a:ext>
            </a:extLst>
          </p:cNvPr>
          <p:cNvSpPr>
            <a:spLocks noGrp="1"/>
          </p:cNvSpPr>
          <p:nvPr/>
        </p:nvSpPr>
        <p:spPr>
          <a:xfrm>
            <a:off x="11715750" y="7829550"/>
            <a:ext cx="5514975" cy="400050"/>
          </a:xfrm>
          <a:prstGeom prst="rect">
            <a:avLst/>
          </a:prstGeom>
          <a:noFill/>
          <a:ln w="0">
            <a:noFill/>
          </a:ln>
        </p:spPr>
        <p:txBody>
          <a:bodyPr wrap="none" lIns="0" tIns="0" rIns="0" bIns="0" anchor="ctr">
            <a:noAutofit/>
          </a:bodyPr>
          <a:lstStyle/>
          <a:p>
            <a:pPr algn="l">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새 업무로 위임</a:t>
            </a:r>
            <a:endParaRPr lang="ko-KR">
              <a:solidFill>
                <a:srgbClr val="000000"/>
              </a:solidFill>
              <a:latin typeface="Calibri"/>
              <a:ea typeface="Calibri"/>
              <a:cs typeface="Calibri"/>
            </a:endParaRPr>
          </a:p>
        </p:txBody>
      </p:sp>
      <p:sp>
        <p:nvSpPr>
          <p:cNvPr id="61" name="r3-115">
            <a:extLst>
              <a:ext uri="{FF2B5EF4-FFF2-40B4-BE49-F238E27FC236}">
                <ns2:creationId id="{9A2A461E-FC36-42EE-99EA-C95157AF9EA1}"/>
              </a:ext>
            </a:extLst>
          </p:cNvPr>
          <p:cNvSpPr>
            <a:spLocks noGrp="1"/>
          </p:cNvSpPr>
          <p:nvPr/>
        </p:nvSpPr>
        <p:spPr>
          <a:xfrm>
            <a:off x="9158288" y="8386762"/>
            <a:ext cx="2343150" cy="400050"/>
          </a:xfrm>
          <a:prstGeom prst="rect">
            <a:avLst/>
          </a:prstGeom>
          <a:noFill/>
          <a:ln w="0">
            <a:noFill/>
          </a:ln>
        </p:spPr>
        <p:txBody>
          <a:bodyPr wrap="none" lIns="0" tIns="0" rIns="0" bIns="0" anchor="ctr">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기존 자료 조사</a:t>
            </a:r>
            <a:endParaRPr lang="ko-KR">
              <a:solidFill>
                <a:srgbClr val="000000"/>
              </a:solidFill>
              <a:latin typeface="Calibri"/>
              <a:ea typeface="Calibri"/>
              <a:cs typeface="Calibri"/>
            </a:endParaRPr>
          </a:p>
        </p:txBody>
      </p:sp>
      <p:sp>
        <p:nvSpPr>
          <p:cNvPr id="62" name="r3-116">
            <a:extLst>
              <a:ext uri="{FF2B5EF4-FFF2-40B4-BE49-F238E27FC236}">
                <ns2:creationId id="{7770F0DE-D709-438A-AFC9-6716CC78C5DE}"/>
              </a:ext>
            </a:extLst>
          </p:cNvPr>
          <p:cNvSpPr>
            <a:spLocks noGrp="1"/>
          </p:cNvSpPr>
          <p:nvPr/>
        </p:nvSpPr>
        <p:spPr>
          <a:xfrm>
            <a:off x="11715750" y="8386762"/>
            <a:ext cx="5715000" cy="400050"/>
          </a:xfrm>
          <a:prstGeom prst="rect">
            <a:avLst/>
          </a:prstGeom>
          <a:noFill/>
          <a:ln w="0">
            <a:noFill/>
          </a:ln>
        </p:spPr>
        <p:txBody>
          <a:bodyPr wrap="none" lIns="0" tIns="0" rIns="0" bIns="0" anchor="ctr">
            <a:noAutofit/>
          </a:bodyPr>
          <a:lstStyle/>
          <a:p>
            <a:pPr algn="l">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진행 상태를 유지하며 별도로 추적</a:t>
            </a:r>
            <a:endParaRPr lang="ko-KR">
              <a:solidFill>
                <a:srgbClr val="000000"/>
              </a:solidFill>
              <a:latin typeface="Calibri"/>
              <a:ea typeface="Calibri"/>
              <a:cs typeface="Calibri"/>
            </a:endParaRPr>
          </a:p>
        </p:txBody>
      </p:sp>
      <p:sp>
        <p:nvSpPr>
          <p:cNvPr id="63" name="r3-117">
            <a:extLst>
              <a:ext uri="{FF2B5EF4-FFF2-40B4-BE49-F238E27FC236}">
                <ns2:creationId id="{F232015C-7A9E-45D9-B384-21EF82077322}"/>
              </a:ext>
            </a:extLst>
          </p:cNvPr>
          <p:cNvSpPr>
            <a:spLocks noGrp="1"/>
          </p:cNvSpPr>
          <p:nvPr/>
        </p:nvSpPr>
        <p:spPr>
          <a:xfrm>
            <a:off x="671512" y="9358312"/>
            <a:ext cx="16873538" cy="171450"/>
          </a:xfrm>
          <a:prstGeom prst="rect">
            <a:avLst/>
          </a:prstGeom>
          <a:solidFill>
            <a:srgbClr val="C6E0B4"/>
          </a:solidFill>
          <a:ln w="0">
            <a:noFill/>
          </a:ln>
        </p:spPr>
      </p:sp>
      <p:sp>
        <p:nvSpPr>
          <p:cNvPr id="64" name="r3-118">
            <a:extLst>
              <a:ext uri="{FF2B5EF4-FFF2-40B4-BE49-F238E27FC236}">
                <ns2:creationId id="{1A77A7AB-92D7-4735-9916-0F1D0E24D2A8}"/>
              </a:ext>
            </a:extLst>
          </p:cNvPr>
          <p:cNvSpPr>
            <a:spLocks noGrp="1"/>
          </p:cNvSpPr>
          <p:nvPr/>
        </p:nvSpPr>
        <p:spPr>
          <a:xfrm>
            <a:off x="671512" y="9101138"/>
            <a:ext cx="16873538" cy="471488"/>
          </a:xfrm>
          <a:prstGeom prst="rect">
            <a:avLst/>
          </a:prstGeom>
          <a:noFill/>
          <a:ln w="0">
            <a:noFill/>
          </a:ln>
        </p:spPr>
        <p:txBody>
          <a:bodyPr wrap="none" lIns="0" tIns="0" rIns="0" bIns="0" anchor="ctr">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후속 지시 “보고서만 취소해줘”도 해당 업무에 연결하고, 확인된 처리 상태를 전달</a:t>
            </a:r>
            <a:endParaRPr lang="ko-KR">
              <a:solidFill>
                <a:srgbClr val="000000"/>
              </a:solidFill>
              <a:latin typeface="Calibri"/>
              <a:ea typeface="Calibri"/>
              <a:cs typeface="Calibri"/>
            </a:endParaRPr>
          </a:p>
        </p:txBody>
      </p:sp>
      <p:sp>
        <p:nvSpPr>
          <p:cNvPr id="65" name="r3-119">
            <a:extLst>
              <a:ext uri="{FF2B5EF4-FFF2-40B4-BE49-F238E27FC236}">
                <ns2:creationId id="{D2B565C3-54D1-4DF3-9AF1-DFD6EE4EEBC4}"/>
              </a:ext>
            </a:extLst>
          </p:cNvPr>
          <p:cNvSpPr>
            <a:spLocks noGrp="1"/>
          </p:cNvSpPr>
          <p:nvPr/>
        </p:nvSpPr>
        <p:spPr>
          <a:xfrm>
            <a:off x="671512" y="9786938"/>
            <a:ext cx="16002000" cy="257175"/>
          </a:xfrm>
          <a:prstGeom prst="rect">
            <a:avLst/>
          </a:prstGeom>
          <a:noFill/>
          <a:ln w="0">
            <a:noFill/>
          </a:ln>
        </p:spPr>
        <p:txBody>
          <a:bodyPr wrap="none" lIns="0" tIns="0" rIns="0" bIns="0" anchor="ctr">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본 과제 범위: 요청 판단과 상호작용, 업무 연결과 상태 관리</a:t>
            </a:r>
            <a:endParaRPr lang="ko-KR">
              <a:solidFill>
                <a:srgbClr val="000000"/>
              </a:solidFill>
              <a:latin typeface="Calibri"/>
              <a:ea typeface="Calibri"/>
              <a:cs typeface="Calibri"/>
            </a:endParaRPr>
          </a:p>
        </p:txBody>
      </p:sp>
      <p:sp>
        <p:nvSpPr>
          <p:cNvPr id="66" name="v6-header-title">
            <a:extLst>
              <a:ext uri="{FF2B5EF4-FFF2-40B4-BE49-F238E27FC236}">
                <ns2:creationId id="{3D70ABC1-7A2B-4E66-8089-93D2CFC955A4}"/>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소개 | VIA의 역할</a:t>
            </a:r>
            <a:endParaRPr lang="ko-KR">
              <a:latin typeface="Calibri"/>
              <a:ea typeface="Calibri"/>
              <a:cs typeface="Calibri"/>
            </a:endParaRPr>
          </a:p>
        </p:txBody>
      </p:sp>
      <p:sp>
        <p:nvSpPr>
          <p:cNvPr id="67" name="v6-header-rule">
            <a:extLst>
              <a:ext uri="{FF2B5EF4-FFF2-40B4-BE49-F238E27FC236}">
                <ns2:creationId id="{7BC5569B-D9AE-4225-90C0-ABF5B5D2E750}"/>
              </a:ext>
            </a:extLst>
          </p:cNvPr>
          <p:cNvSpPr>
            <a:spLocks noGrp="1"/>
          </p:cNvSpPr>
          <p:nvPr/>
        </p:nvSpPr>
        <p:spPr>
          <a:xfrm>
            <a:off x="495300" y="990600"/>
            <a:ext cx="17335500" cy="0"/>
          </a:xfrm>
          <a:prstGeom prst="line">
            <a:avLst/>
          </a:prstGeom>
          <a:noFill/>
          <a:ln w="19050">
            <a:solidFill>
              <a:srgbClr val="A6A6A6"/>
            </a:solidFill>
          </a:ln>
        </p:spPr>
      </p:sp>
      <p:sp>
        <p:nvSpPr>
          <p:cNvPr id="68" name="v6-header-stage-0">
            <a:extLst>
              <a:ext uri="{FF2B5EF4-FFF2-40B4-BE49-F238E27FC236}">
                <ns2:creationId id="{3D84B9F1-97D2-4268-97D7-0886F0655E03}"/>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69" name="v6-header-stage-1">
            <a:extLst>
              <a:ext uri="{FF2B5EF4-FFF2-40B4-BE49-F238E27FC236}">
                <ns2:creationId id="{C74C14C8-1AA7-4B15-B75C-A257287C8AAD}"/>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70" name="v6-header-stage-2">
            <a:extLst>
              <a:ext uri="{FF2B5EF4-FFF2-40B4-BE49-F238E27FC236}">
                <ns2:creationId id="{65F70761-CA24-4F0F-8489-B95B00251FB6}"/>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71" name="v6-header-stage-3">
            <a:extLst>
              <a:ext uri="{FF2B5EF4-FFF2-40B4-BE49-F238E27FC236}">
                <ns2:creationId id="{12D57344-F511-4219-84AE-59B7ECD88179}"/>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72" name="v6-header-stage-4">
            <a:extLst>
              <a:ext uri="{FF2B5EF4-FFF2-40B4-BE49-F238E27FC236}">
                <ns2:creationId id="{E8FA5CC7-ECBC-4471-A4AE-684A195829F7}"/>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73" name="v6-header-page">
            <a:extLst>
              <a:ext uri="{FF2B5EF4-FFF2-40B4-BE49-F238E27FC236}">
                <ns2:creationId id="{1DEA2D71-C7A6-4CCE-9D89-4CF24E43ACE3}"/>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 / 33</a:t>
            </a:r>
            <a:endParaRPr lang="ko-KR">
              <a:latin typeface="Calibri"/>
              <a:ea typeface="Calibri"/>
              <a:cs typeface="Calibri"/>
            </a:endParaRPr>
          </a:p>
        </p:txBody>
      </p:sp>
    </p:spTree>
    <p:extLst>
      <p:ext uri="{BB962C8B-B14F-4D97-AF65-F5344CB8AC3E}">
        <p14:creationId val="763265530"/>
      </p:ext>
    </p:extLst>
  </p:cSld>
</p:sld>
</file>

<file path=ppt/slides/slide35.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scenario-v2">
    <p:bg>
      <p:bgPr>
        <a:solidFill>
          <a:srgbClr val="FFFFFF"/>
        </a:solidFill>
      </p:bgPr>
    </p:bg>
    <p:spTree>
      <p:nvGrpSpPr>
        <p:cNvPr id="1" name=""/>
        <p:cNvGrpSpPr/>
        <p:nvPr/>
      </p:nvGrpSpPr>
      <p:grpSpPr>
        <a:xfrm/>
      </p:grpSpPr>
      <p:sp>
        <p:nvSpPr>
          <p:cNvPr id="14" name="story-subtitle">
            <a:extLst>
              <a:ext uri="{FF2B5EF4-FFF2-40B4-BE49-F238E27FC236}">
                <ns2:creationId id="{47F356DB-9521-48F7-85C3-C5F3CD458536}"/>
              </a:ext>
            </a:extLst>
          </p:cNvPr>
          <p:cNvSpPr>
            <a:spLocks noGrp="1"/>
          </p:cNvSpPr>
          <p:nvPr/>
        </p:nvSpPr>
        <p:spPr>
          <a:xfrm>
            <a:off x="600075" y="1357312"/>
            <a:ext cx="17087850" cy="600075"/>
          </a:xfrm>
          <a:prstGeom prst="rect">
            <a:avLst/>
          </a:prstGeom>
          <a:noFill/>
          <a:ln w="0">
            <a:noFill/>
          </a:ln>
        </p:spPr>
        <p:txBody>
          <a:bodyPr wrap="none" lIns="0" tIns="0" rIns="0" bIns="0">
            <a:noAutofit/>
          </a:bodyPr>
          <a:lstStyle/>
          <a:p>
            <a:pPr algn="l">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표를 설명받고, 보고서와 메일 초안을 맡긴 뒤 대화로 작업을 이어가는 상황</a:t>
            </a:r>
            <a:endParaRPr lang="ko-KR">
              <a:solidFill>
                <a:srgbClr val="000000"/>
              </a:solidFill>
              <a:latin typeface="Calibri"/>
              <a:ea typeface="Calibri"/>
              <a:cs typeface="Calibri"/>
            </a:endParaRPr>
          </a:p>
        </p:txBody>
      </p:sp>
      <p:sp>
        <p:nvSpPr>
          <p:cNvPr id="15" name="scene-1-heading">
            <a:extLst>
              <a:ext uri="{FF2B5EF4-FFF2-40B4-BE49-F238E27FC236}">
                <ns2:creationId id="{C5511969-CEC3-491E-AB61-000EC3136B73}"/>
              </a:ext>
            </a:extLst>
          </p:cNvPr>
          <p:cNvSpPr>
            <a:spLocks noGrp="1"/>
          </p:cNvSpPr>
          <p:nvPr/>
        </p:nvSpPr>
        <p:spPr>
          <a:xfrm>
            <a:off x="57150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① 자료의 핵심을 질문</a:t>
            </a:r>
            <a:endParaRPr lang="ko-KR">
              <a:solidFill>
                <a:srgbClr val="000000"/>
              </a:solidFill>
              <a:latin typeface="Calibri"/>
              <a:ea typeface="Calibri"/>
              <a:cs typeface="Calibri"/>
            </a:endParaRPr>
          </a:p>
        </p:txBody>
      </p:sp>
      <p:pic>
        <p:nvPicPr>
          <p:cNvPr id="16" name=""/>
          <p:cNvPicPr>
            <a:picLocks noChangeAspect="1"/>
          </p:cNvPicPr>
          <p:nvPr/>
        </p:nvPicPr>
        <p:blipFill>
          <a:blip r:embed="R412e7293f74449f5"/>
          <a:stretch/>
        </p:blipFill>
        <p:spPr>
          <a:xfrm>
            <a:off x="571500" y="2686050"/>
            <a:ext cx="3200400" cy="2400300"/>
          </a:xfrm>
          <a:prstGeom prst="rect">
            <a:avLst/>
          </a:prstGeom>
        </p:spPr>
      </p:pic>
      <p:sp>
        <p:nvSpPr>
          <p:cNvPr id="17" name="scene-1-quote">
            <a:extLst>
              <a:ext uri="{FF2B5EF4-FFF2-40B4-BE49-F238E27FC236}">
                <ns2:creationId id="{691EB006-7091-4E58-A0DB-372F04BD0BE7}"/>
              </a:ext>
            </a:extLst>
          </p:cNvPr>
          <p:cNvSpPr>
            <a:spLocks noGrp="1"/>
          </p:cNvSpPr>
          <p:nvPr/>
        </p:nvSpPr>
        <p:spPr>
          <a:xfrm>
            <a:off x="57150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“이 표의 핵심을</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설명해줘.”</a:t>
            </a:r>
            <a:endParaRPr lang="ko-KR">
              <a:solidFill>
                <a:srgbClr val="000000"/>
              </a:solidFill>
              <a:latin typeface="Calibri"/>
              <a:ea typeface="Calibri"/>
              <a:cs typeface="Calibri"/>
            </a:endParaRPr>
          </a:p>
        </p:txBody>
      </p:sp>
      <p:sp>
        <p:nvSpPr>
          <p:cNvPr id="18" name="scene-1-behavior">
            <a:extLst>
              <a:ext uri="{FF2B5EF4-FFF2-40B4-BE49-F238E27FC236}">
                <ns2:creationId id="{D24BD105-AA78-44A0-83C1-FE0B8B4F10B1}"/>
              </a:ext>
            </a:extLst>
          </p:cNvPr>
          <p:cNvSpPr>
            <a:spLocks noGrp="1"/>
          </p:cNvSpPr>
          <p:nvPr/>
        </p:nvSpPr>
        <p:spPr>
          <a:xfrm>
            <a:off x="57150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매출 표에 대해 질문</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VIA가 핵심을 직접 설명</a:t>
            </a:r>
            <a:endParaRPr lang="ko-KR">
              <a:solidFill>
                <a:srgbClr val="000000"/>
              </a:solidFill>
              <a:latin typeface="Calibri"/>
              <a:ea typeface="Calibri"/>
              <a:cs typeface="Calibri"/>
            </a:endParaRPr>
          </a:p>
        </p:txBody>
      </p:sp>
      <p:sp>
        <p:nvSpPr>
          <p:cNvPr id="19" name="scene-2-heading">
            <a:extLst>
              <a:ext uri="{FF2B5EF4-FFF2-40B4-BE49-F238E27FC236}">
                <ns2:creationId id="{F444B45D-43D8-4C1A-8A6A-75510E1BFE21}"/>
              </a:ext>
            </a:extLst>
          </p:cNvPr>
          <p:cNvSpPr>
            <a:spLocks noGrp="1"/>
          </p:cNvSpPr>
          <p:nvPr/>
        </p:nvSpPr>
        <p:spPr>
          <a:xfrm>
            <a:off x="405765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② 두 업무를 위임</a:t>
            </a:r>
            <a:endParaRPr lang="ko-KR">
              <a:solidFill>
                <a:srgbClr val="000000"/>
              </a:solidFill>
              <a:latin typeface="Calibri"/>
              <a:ea typeface="Calibri"/>
              <a:cs typeface="Calibri"/>
            </a:endParaRPr>
          </a:p>
        </p:txBody>
      </p:sp>
      <p:pic>
        <p:nvPicPr>
          <p:cNvPr id="20" name=""/>
          <p:cNvPicPr>
            <a:picLocks noChangeAspect="1"/>
          </p:cNvPicPr>
          <p:nvPr/>
        </p:nvPicPr>
        <p:blipFill>
          <a:blip r:embed="R7d0fe689e32e4185"/>
          <a:stretch/>
        </p:blipFill>
        <p:spPr>
          <a:xfrm>
            <a:off x="4057650" y="2686050"/>
            <a:ext cx="3200400" cy="2400300"/>
          </a:xfrm>
          <a:prstGeom prst="rect">
            <a:avLst/>
          </a:prstGeom>
        </p:spPr>
      </p:pic>
      <p:sp>
        <p:nvSpPr>
          <p:cNvPr id="21" name="scene-2-quote">
            <a:extLst>
              <a:ext uri="{FF2B5EF4-FFF2-40B4-BE49-F238E27FC236}">
                <ns2:creationId id="{5C2FC624-B809-4890-B7CF-A40661BCF06A}"/>
              </a:ext>
            </a:extLst>
          </p:cNvPr>
          <p:cNvSpPr>
            <a:spLocks noGrp="1"/>
          </p:cNvSpPr>
          <p:nvPr/>
        </p:nvSpPr>
        <p:spPr>
          <a:xfrm>
            <a:off x="405765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“이 내용으로 PDF</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보고서 만들어줘.</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회의 안내 메일은</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초안만 작성해줘.”</a:t>
            </a:r>
            <a:endParaRPr lang="ko-KR">
              <a:solidFill>
                <a:srgbClr val="000000"/>
              </a:solidFill>
              <a:latin typeface="Calibri"/>
              <a:ea typeface="Calibri"/>
              <a:cs typeface="Calibri"/>
            </a:endParaRPr>
          </a:p>
        </p:txBody>
      </p:sp>
      <p:sp>
        <p:nvSpPr>
          <p:cNvPr id="22" name="scene-2-behavior">
            <a:extLst>
              <a:ext uri="{FF2B5EF4-FFF2-40B4-BE49-F238E27FC236}">
                <ns2:creationId id="{B49DEA0C-5527-4A70-B806-7F62CFCE5A8F}"/>
              </a:ext>
            </a:extLst>
          </p:cNvPr>
          <p:cNvSpPr>
            <a:spLocks noGrp="1"/>
          </p:cNvSpPr>
          <p:nvPr/>
        </p:nvSpPr>
        <p:spPr>
          <a:xfrm>
            <a:off x="405765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앞선 설명으로 두 업무 위임</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PDF와 ‘초안만’ 조건 보존</a:t>
            </a:r>
            <a:endParaRPr lang="ko-KR">
              <a:solidFill>
                <a:srgbClr val="000000"/>
              </a:solidFill>
              <a:latin typeface="Calibri"/>
              <a:ea typeface="Calibri"/>
              <a:cs typeface="Calibri"/>
            </a:endParaRPr>
          </a:p>
        </p:txBody>
      </p:sp>
      <p:sp>
        <p:nvSpPr>
          <p:cNvPr id="23" name="scene-3-heading">
            <a:extLst>
              <a:ext uri="{FF2B5EF4-FFF2-40B4-BE49-F238E27FC236}">
                <ns2:creationId id="{5955D440-3682-4EF4-BF97-B254C94F2564}"/>
              </a:ext>
            </a:extLst>
          </p:cNvPr>
          <p:cNvSpPr>
            <a:spLocks noGrp="1"/>
          </p:cNvSpPr>
          <p:nvPr/>
        </p:nvSpPr>
        <p:spPr>
          <a:xfrm>
            <a:off x="754380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③ 말하는 도중 정정</a:t>
            </a:r>
            <a:endParaRPr lang="ko-KR">
              <a:solidFill>
                <a:srgbClr val="000000"/>
              </a:solidFill>
              <a:latin typeface="Calibri"/>
              <a:ea typeface="Calibri"/>
              <a:cs typeface="Calibri"/>
            </a:endParaRPr>
          </a:p>
        </p:txBody>
      </p:sp>
      <p:pic>
        <p:nvPicPr>
          <p:cNvPr id="24" name=""/>
          <p:cNvPicPr>
            <a:picLocks noChangeAspect="1"/>
          </p:cNvPicPr>
          <p:nvPr/>
        </p:nvPicPr>
        <p:blipFill>
          <a:blip r:embed="Rdc14f194c893430b"/>
          <a:stretch/>
        </p:blipFill>
        <p:spPr>
          <a:xfrm>
            <a:off x="7543800" y="2686050"/>
            <a:ext cx="3200400" cy="2400300"/>
          </a:xfrm>
          <a:prstGeom prst="rect">
            <a:avLst/>
          </a:prstGeom>
        </p:spPr>
      </p:pic>
      <p:sp>
        <p:nvSpPr>
          <p:cNvPr id="25" name="scene-3-quote">
            <a:extLst>
              <a:ext uri="{FF2B5EF4-FFF2-40B4-BE49-F238E27FC236}">
                <ns2:creationId id="{CCE8EA90-40AF-42D8-8483-731D01F7CDF7}"/>
              </a:ext>
            </a:extLst>
          </p:cNvPr>
          <p:cNvSpPr>
            <a:spLocks noGrp="1"/>
          </p:cNvSpPr>
          <p:nvPr/>
        </p:nvSpPr>
        <p:spPr>
          <a:xfrm>
            <a:off x="754380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“잠깐, 보고서는 지난번</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고친 형식으로 만들어줘.</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메일은 그대로 진행해.”</a:t>
            </a:r>
            <a:endParaRPr lang="ko-KR">
              <a:solidFill>
                <a:srgbClr val="000000"/>
              </a:solidFill>
              <a:latin typeface="Calibri"/>
              <a:ea typeface="Calibri"/>
              <a:cs typeface="Calibri"/>
            </a:endParaRPr>
          </a:p>
        </p:txBody>
      </p:sp>
      <p:sp>
        <p:nvSpPr>
          <p:cNvPr id="26" name="scene-3-behavior">
            <a:extLst>
              <a:ext uri="{FF2B5EF4-FFF2-40B4-BE49-F238E27FC236}">
                <ns2:creationId id="{CCA6DEBB-4F56-42DC-AD0B-4607FC971EBD}"/>
              </a:ext>
            </a:extLst>
          </p:cNvPr>
          <p:cNvSpPr>
            <a:spLocks noGrp="1"/>
          </p:cNvSpPr>
          <p:nvPr/>
        </p:nvSpPr>
        <p:spPr>
          <a:xfrm>
            <a:off x="754380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음성 응답을 즉시 중단</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보고서의 형식만 변경</a:t>
            </a:r>
            <a:endParaRPr lang="ko-KR">
              <a:solidFill>
                <a:srgbClr val="000000"/>
              </a:solidFill>
              <a:latin typeface="Calibri"/>
              <a:ea typeface="Calibri"/>
              <a:cs typeface="Calibri"/>
            </a:endParaRPr>
          </a:p>
        </p:txBody>
      </p:sp>
      <p:sp>
        <p:nvSpPr>
          <p:cNvPr id="27" name="scene-4-heading">
            <a:extLst>
              <a:ext uri="{FF2B5EF4-FFF2-40B4-BE49-F238E27FC236}">
                <ns2:creationId id="{9DB00A0E-71FC-453F-80B7-2DD7772B4A75}"/>
              </a:ext>
            </a:extLst>
          </p:cNvPr>
          <p:cNvSpPr>
            <a:spLocks noGrp="1"/>
          </p:cNvSpPr>
          <p:nvPr/>
        </p:nvSpPr>
        <p:spPr>
          <a:xfrm>
            <a:off x="1102995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④ 해당 업무에 답변</a:t>
            </a:r>
            <a:endParaRPr lang="ko-KR">
              <a:solidFill>
                <a:srgbClr val="000000"/>
              </a:solidFill>
              <a:latin typeface="Calibri"/>
              <a:ea typeface="Calibri"/>
              <a:cs typeface="Calibri"/>
            </a:endParaRPr>
          </a:p>
        </p:txBody>
      </p:sp>
      <p:pic>
        <p:nvPicPr>
          <p:cNvPr id="28" name=""/>
          <p:cNvPicPr>
            <a:picLocks noChangeAspect="1"/>
          </p:cNvPicPr>
          <p:nvPr/>
        </p:nvPicPr>
        <p:blipFill>
          <a:blip r:embed="R926c21a837c1492e"/>
          <a:stretch/>
        </p:blipFill>
        <p:spPr>
          <a:xfrm>
            <a:off x="11029950" y="2686050"/>
            <a:ext cx="3200400" cy="2400300"/>
          </a:xfrm>
          <a:prstGeom prst="rect">
            <a:avLst/>
          </a:prstGeom>
        </p:spPr>
      </p:pic>
      <p:sp>
        <p:nvSpPr>
          <p:cNvPr id="29" name="scene-4-quote">
            <a:extLst>
              <a:ext uri="{FF2B5EF4-FFF2-40B4-BE49-F238E27FC236}">
                <ns2:creationId id="{4D94570C-5467-41D6-8C6E-E2AAAF0ADD90}"/>
              </a:ext>
            </a:extLst>
          </p:cNvPr>
          <p:cNvSpPr>
            <a:spLocks noGrp="1"/>
          </p:cNvSpPr>
          <p:nvPr/>
        </p:nvSpPr>
        <p:spPr>
          <a:xfrm>
            <a:off x="1102995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VIA “초안의</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받는 사람은?”</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사용자 “영업팀.”</a:t>
            </a:r>
            <a:endParaRPr lang="ko-KR">
              <a:solidFill>
                <a:srgbClr val="000000"/>
              </a:solidFill>
              <a:latin typeface="Calibri"/>
              <a:ea typeface="Calibri"/>
              <a:cs typeface="Calibri"/>
            </a:endParaRPr>
          </a:p>
        </p:txBody>
      </p:sp>
      <p:sp>
        <p:nvSpPr>
          <p:cNvPr id="30" name="scene-4-behavior">
            <a:extLst>
              <a:ext uri="{FF2B5EF4-FFF2-40B4-BE49-F238E27FC236}">
                <ns2:creationId id="{35249B1C-946B-40EB-964E-37DBC59AE3A6}"/>
              </a:ext>
            </a:extLst>
          </p:cNvPr>
          <p:cNvSpPr>
            <a:spLocks noGrp="1"/>
          </p:cNvSpPr>
          <p:nvPr/>
        </p:nvSpPr>
        <p:spPr>
          <a:xfrm>
            <a:off x="1102995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정정 중 도착한 질문을 보류</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발화 후 메일에 답변 연결</a:t>
            </a:r>
            <a:endParaRPr lang="ko-KR">
              <a:solidFill>
                <a:srgbClr val="000000"/>
              </a:solidFill>
              <a:latin typeface="Calibri"/>
              <a:ea typeface="Calibri"/>
              <a:cs typeface="Calibri"/>
            </a:endParaRPr>
          </a:p>
        </p:txBody>
      </p:sp>
      <p:sp>
        <p:nvSpPr>
          <p:cNvPr id="31" name="scene-5-heading">
            <a:extLst>
              <a:ext uri="{FF2B5EF4-FFF2-40B4-BE49-F238E27FC236}">
                <ns2:creationId id="{D2E74A05-3BE2-41CD-A790-11D160FBE758}"/>
              </a:ext>
            </a:extLst>
          </p:cNvPr>
          <p:cNvSpPr>
            <a:spLocks noGrp="1"/>
          </p:cNvSpPr>
          <p:nvPr/>
        </p:nvSpPr>
        <p:spPr>
          <a:xfrm>
            <a:off x="1451610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⑤ Text로 상태 확인</a:t>
            </a:r>
            <a:endParaRPr lang="ko-KR">
              <a:solidFill>
                <a:srgbClr val="000000"/>
              </a:solidFill>
              <a:latin typeface="Calibri"/>
              <a:ea typeface="Calibri"/>
              <a:cs typeface="Calibri"/>
            </a:endParaRPr>
          </a:p>
        </p:txBody>
      </p:sp>
      <p:pic>
        <p:nvPicPr>
          <p:cNvPr id="32" name=""/>
          <p:cNvPicPr>
            <a:picLocks noChangeAspect="1"/>
          </p:cNvPicPr>
          <p:nvPr/>
        </p:nvPicPr>
        <p:blipFill>
          <a:blip r:embed="Re7e7daa896bb48e9"/>
          <a:stretch/>
        </p:blipFill>
        <p:spPr>
          <a:xfrm>
            <a:off x="14516100" y="2686050"/>
            <a:ext cx="3200400" cy="2400300"/>
          </a:xfrm>
          <a:prstGeom prst="rect">
            <a:avLst/>
          </a:prstGeom>
        </p:spPr>
      </p:pic>
      <p:sp>
        <p:nvSpPr>
          <p:cNvPr id="33" name="scene-5-quote">
            <a:extLst>
              <a:ext uri="{FF2B5EF4-FFF2-40B4-BE49-F238E27FC236}">
                <ns2:creationId id="{893A4672-D5DF-455D-940A-8A6C3023211E}"/>
              </a:ext>
            </a:extLst>
          </p:cNvPr>
          <p:cNvSpPr>
            <a:spLocks noGrp="1"/>
          </p:cNvSpPr>
          <p:nvPr/>
        </p:nvSpPr>
        <p:spPr>
          <a:xfrm>
            <a:off x="1451610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“아까 보고서</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어디까지 됐어?”</a:t>
            </a:r>
            <a:endParaRPr lang="ko-KR">
              <a:solidFill>
                <a:srgbClr val="000000"/>
              </a:solidFill>
              <a:latin typeface="Calibri"/>
              <a:ea typeface="Calibri"/>
              <a:cs typeface="Calibri"/>
            </a:endParaRPr>
          </a:p>
        </p:txBody>
      </p:sp>
      <p:sp>
        <p:nvSpPr>
          <p:cNvPr id="34" name="scene-5-behavior">
            <a:extLst>
              <a:ext uri="{FF2B5EF4-FFF2-40B4-BE49-F238E27FC236}">
                <ns2:creationId id="{58D903F9-C2B1-4D00-91ED-95DE64352D92}"/>
              </a:ext>
            </a:extLst>
          </p:cNvPr>
          <p:cNvSpPr>
            <a:spLocks noGrp="1"/>
          </p:cNvSpPr>
          <p:nvPr/>
        </p:nvSpPr>
        <p:spPr>
          <a:xfrm>
            <a:off x="1451610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음성을 끄고 Text로 전환</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기존 업무의 확인된 상태 전달</a:t>
            </a:r>
            <a:endParaRPr lang="ko-KR">
              <a:solidFill>
                <a:srgbClr val="000000"/>
              </a:solidFill>
              <a:latin typeface="Calibri"/>
              <a:ea typeface="Calibri"/>
              <a:cs typeface="Calibri"/>
            </a:endParaRPr>
          </a:p>
        </p:txBody>
      </p:sp>
      <p:graphicFrame>
        <p:nvGraphicFramePr>
          <p:cNvPr id="35" name=""/>
          <p:cNvGraphicFramePr/>
          <p:nvPr/>
        </p:nvGraphicFramePr>
        <p:xfrm>
          <a:off x="571500" y="8343900"/>
          <a:ext cx="17145000" cy="1285875"/>
        </p:xfrm>
        <a:graphic>
          <a:graphicData uri="http://schemas.openxmlformats.org/drawingml/2006/table">
            <a:tbl>
              <a:tblPr firstRow="0" bandRow="0"/>
              <a:tblGrid>
                <a:gridCol w="3486150"/>
                <a:gridCol w="3414712"/>
                <a:gridCol w="3414712"/>
                <a:gridCol w="3414712"/>
                <a:gridCol w="3414712"/>
              </a:tblGrid>
              <a:tr h="428625">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업무 상태</a:t>
                      </a:r>
                      <a:endParaRPr lang="ko-KR">
                        <a:solidFill>
                          <a:srgbClr val="000000"/>
                        </a:solidFill>
                        <a:latin typeface="Calibri"/>
                        <a:ea typeface="Calibri"/>
                        <a:cs typeface="Calibri"/>
                      </a:endParaRPr>
                    </a:p>
                  </a:txBody>
                  <a:tcPr marL="128588" marR="128588" marT="14288" marB="14288"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② 위임</a:t>
                      </a:r>
                      <a:endParaRPr lang="ko-KR">
                        <a:solidFill>
                          <a:srgbClr val="000000"/>
                        </a:solidFill>
                        <a:latin typeface="Calibri"/>
                        <a:ea typeface="Calibri"/>
                        <a:cs typeface="Calibri"/>
                      </a:endParaRPr>
                    </a:p>
                  </a:txBody>
                  <a:tcPr marL="128588" marR="128588" marT="14288" marB="14288"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③ 부분 정정</a:t>
                      </a:r>
                      <a:endParaRPr lang="ko-KR">
                        <a:solidFill>
                          <a:srgbClr val="000000"/>
                        </a:solidFill>
                        <a:latin typeface="Calibri"/>
                        <a:ea typeface="Calibri"/>
                        <a:cs typeface="Calibri"/>
                      </a:endParaRPr>
                    </a:p>
                  </a:txBody>
                  <a:tcPr marL="128588" marR="128588" marT="14288" marB="14288"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④ 질문·답변</a:t>
                      </a:r>
                      <a:endParaRPr lang="ko-KR">
                        <a:solidFill>
                          <a:srgbClr val="000000"/>
                        </a:solidFill>
                        <a:latin typeface="Calibri"/>
                        <a:ea typeface="Calibri"/>
                        <a:cs typeface="Calibri"/>
                      </a:endParaRPr>
                    </a:p>
                  </a:txBody>
                  <a:tcPr marL="128588" marR="128588" marT="14288" marB="14288"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⑤ 상태 확인</a:t>
                      </a:r>
                      <a:endParaRPr lang="ko-KR">
                        <a:solidFill>
                          <a:srgbClr val="000000"/>
                        </a:solidFill>
                        <a:latin typeface="Calibri"/>
                        <a:ea typeface="Calibri"/>
                        <a:cs typeface="Calibri"/>
                      </a:endParaRPr>
                    </a:p>
                  </a:txBody>
                  <a:tcPr marL="128588" marR="128588" marT="14288" marB="14288" anchor="ctr">
                    <a:solidFill>
                      <a:srgbClr val="C6E0B4"/>
                    </a:solidFill>
                  </a:tcPr>
                </a:tc>
              </a:tr>
              <a:tr h="428625">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보고서</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PDF 작성</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이전 형식 적용, PDF 유지</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작성 계속</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확인된 진행 상태 전달</a:t>
                      </a:r>
                      <a:endParaRPr lang="ko-KR">
                        <a:solidFill>
                          <a:srgbClr val="000000"/>
                        </a:solidFill>
                        <a:latin typeface="Calibri"/>
                        <a:ea typeface="Calibri"/>
                        <a:cs typeface="Calibri"/>
                      </a:endParaRPr>
                    </a:p>
                  </a:txBody>
                  <a:tcPr marL="128588" marR="128588" marT="14288" marB="14288" anchor="ctr">
                    <a:solidFill>
                      <a:srgbClr val="FFFFFF"/>
                    </a:solidFill>
                  </a:tcPr>
                </a:tc>
              </a:tr>
              <a:tr h="428625">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메일 초안</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초안만 작성</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기존 지시 유지</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받는 사람: 영업팀</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초안 상태 유지</a:t>
                      </a:r>
                      <a:endParaRPr lang="ko-KR">
                        <a:solidFill>
                          <a:srgbClr val="000000"/>
                        </a:solidFill>
                        <a:latin typeface="Calibri"/>
                        <a:ea typeface="Calibri"/>
                        <a:cs typeface="Calibri"/>
                      </a:endParaRPr>
                    </a:p>
                  </a:txBody>
                  <a:tcPr marL="128588" marR="128588" marT="14288" marB="14288" anchor="ctr">
                    <a:solidFill>
                      <a:srgbClr val="FFFFFF"/>
                    </a:solidFill>
                  </a:tcPr>
                </a:tc>
              </a:tr>
            </a:tbl>
          </a:graphicData>
        </a:graphic>
      </p:graphicFrame>
      <p:sp>
        <p:nvSpPr>
          <p:cNvPr id="36" name="role-boundary">
            <a:extLst>
              <a:ext uri="{FF2B5EF4-FFF2-40B4-BE49-F238E27FC236}">
                <ns2:creationId id="{18F976E7-BC2C-4ABE-97FC-1718E9E62D45}"/>
              </a:ext>
            </a:extLst>
          </p:cNvPr>
          <p:cNvSpPr>
            <a:spLocks noGrp="1"/>
          </p:cNvSpPr>
          <p:nvPr/>
        </p:nvSpPr>
        <p:spPr>
          <a:xfrm>
            <a:off x="671512" y="9858375"/>
            <a:ext cx="16573500" cy="314325"/>
          </a:xfrm>
          <a:prstGeom prst="rect">
            <a:avLst/>
          </a:prstGeom>
          <a:noFill/>
          <a:ln w="0">
            <a:noFill/>
          </a:ln>
        </p:spPr>
        <p:txBody>
          <a:bodyPr wrap="none" lIns="0" tIns="0" rIns="0" bIns="0">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VIA: 요청 이해와 대화·업무 연결     Downstream Agent: 보고서·메일 초안의 실제 작성</a:t>
            </a:r>
            <a:endParaRPr lang="ko-KR">
              <a:solidFill>
                <a:srgbClr val="000000"/>
              </a:solidFill>
              <a:latin typeface="Calibri"/>
              <a:ea typeface="Calibri"/>
              <a:cs typeface="Calibri"/>
            </a:endParaRPr>
          </a:p>
        </p:txBody>
      </p:sp>
      <p:sp>
        <p:nvSpPr>
          <p:cNvPr id="37" name="v6-header-title">
            <a:extLst>
              <a:ext uri="{FF2B5EF4-FFF2-40B4-BE49-F238E27FC236}">
                <ns2:creationId id="{C2581F79-E03D-4460-BE8D-B2242152A2CE}"/>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대표 시나리오</a:t>
            </a:r>
            <a:endParaRPr lang="ko-KR">
              <a:latin typeface="Calibri"/>
              <a:ea typeface="Calibri"/>
              <a:cs typeface="Calibri"/>
            </a:endParaRPr>
          </a:p>
        </p:txBody>
      </p:sp>
      <p:sp>
        <p:nvSpPr>
          <p:cNvPr id="38" name="v6-header-rule">
            <a:extLst>
              <a:ext uri="{FF2B5EF4-FFF2-40B4-BE49-F238E27FC236}">
                <ns2:creationId id="{63206063-0F32-469C-AE4C-87325B12CBD3}"/>
              </a:ext>
            </a:extLst>
          </p:cNvPr>
          <p:cNvSpPr>
            <a:spLocks noGrp="1"/>
          </p:cNvSpPr>
          <p:nvPr/>
        </p:nvSpPr>
        <p:spPr>
          <a:xfrm>
            <a:off x="495300" y="990600"/>
            <a:ext cx="17335500" cy="0"/>
          </a:xfrm>
          <a:prstGeom prst="line">
            <a:avLst/>
          </a:prstGeom>
          <a:noFill/>
          <a:ln w="19050">
            <a:solidFill>
              <a:srgbClr val="A6A6A6"/>
            </a:solidFill>
          </a:ln>
        </p:spPr>
      </p:sp>
      <p:sp>
        <p:nvSpPr>
          <p:cNvPr id="39" name="v6-header-stage-0">
            <a:extLst>
              <a:ext uri="{FF2B5EF4-FFF2-40B4-BE49-F238E27FC236}">
                <ns2:creationId id="{900BB367-C560-4782-8E00-6E5321ADC2BA}"/>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0" name="v6-header-stage-1">
            <a:extLst>
              <a:ext uri="{FF2B5EF4-FFF2-40B4-BE49-F238E27FC236}">
                <ns2:creationId id="{6B4E0EC4-B0CA-4706-BD9B-2E36984D50BE}"/>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1" name="v6-header-stage-2">
            <a:extLst>
              <a:ext uri="{FF2B5EF4-FFF2-40B4-BE49-F238E27FC236}">
                <ns2:creationId id="{543B80B7-74C1-4533-842C-9D204D56C7F3}"/>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2" name="v6-header-stage-3">
            <a:extLst>
              <a:ext uri="{FF2B5EF4-FFF2-40B4-BE49-F238E27FC236}">
                <ns2:creationId id="{7A632C50-7D29-4A65-8F85-E8F547DB8EAE}"/>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3" name="v6-header-stage-4">
            <a:extLst>
              <a:ext uri="{FF2B5EF4-FFF2-40B4-BE49-F238E27FC236}">
                <ns2:creationId id="{40EDD7B2-D2B1-4F40-9CCA-3D25BE4629A1}"/>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44" name="v6-header-page">
            <a:extLst>
              <a:ext uri="{FF2B5EF4-FFF2-40B4-BE49-F238E27FC236}">
                <ns2:creationId id="{DA48528F-0527-40AD-92FE-EEE280C37FEE}"/>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5 / 33</a:t>
            </a:r>
            <a:endParaRPr lang="ko-KR">
              <a:latin typeface="Calibri"/>
              <a:ea typeface="Calibri"/>
              <a:cs typeface="Calibri"/>
            </a:endParaRPr>
          </a:p>
        </p:txBody>
      </p:sp>
    </p:spTree>
    <p:extLst>
      <p:ext uri="{BB962C8B-B14F-4D97-AF65-F5344CB8AC3E}">
        <p14:creationId val="679796911"/>
      </p:ext>
    </p:extLst>
  </p:cSld>
</p:sld>
</file>

<file path=ppt/slides/slide36.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responsibility-v2">
    <p:bg>
      <p:bgPr>
        <a:solidFill>
          <a:srgbClr val="FFFFFF"/>
        </a:solidFill>
      </p:bgPr>
    </p:bg>
    <p:spTree>
      <p:nvGrpSpPr>
        <p:cNvPr id="1" name=""/>
        <p:cNvGrpSpPr/>
        <p:nvPr/>
      </p:nvGrpSpPr>
      <p:grpSpPr>
        <a:xfrm/>
      </p:grpSpPr>
      <p:sp>
        <p:nvSpPr>
          <p:cNvPr id="4" name="via-v2-responsibilities / request / 1">
            <a:extLst>
              <a:ext uri="{FF2B5EF4-FFF2-40B4-BE49-F238E27FC236}">
                <ns2:creationId id="{85FB4578-D750-4F8D-BA00-641A7CA68189}"/>
              </a:ext>
            </a:extLst>
          </p:cNvPr>
          <p:cNvSpPr>
            <a:spLocks noGrp="1"/>
          </p:cNvSpPr>
          <p:nvPr/>
        </p:nvSpPr>
        <p:spPr>
          <a:xfrm>
            <a:off x="904875" y="1962150"/>
            <a:ext cx="16573500" cy="475774"/>
          </a:xfrm>
          <a:prstGeom prst="rect">
            <a:avLst/>
          </a:prstGeom>
          <a:noFill/>
          <a:ln w="0">
            <a:noFill/>
          </a:ln>
        </p:spPr>
        <p:txBody>
          <a:bodyPr wrap="none" lIns="0" tIns="0" rIns="0" bIns="0" anchor="t">
            <a:noAutofit/>
          </a:bodyPr>
          <a:lstStyle/>
          <a:p>
            <a:pPr algn="l">
              <a:defRPr sz="2800" b="1" lang="ko-KR">
                <a:solidFill>
                  <a:srgbClr val="000000"/>
                </a:solidFill>
                <a:latin typeface="Calibri"/>
                <a:ea typeface="Calibri"/>
                <a:cs typeface="Calibri"/>
              </a:defRPr>
            </a:pPr>
            <a:r>
              <a:rPr sz="2800" b="1" lang="ko-KR">
                <a:solidFill>
                  <a:srgbClr val="000000"/>
                </a:solidFill>
                <a:latin typeface="Calibri"/>
                <a:ea typeface="Calibri"/>
                <a:cs typeface="Calibri"/>
              </a:rPr>
              <a:t>“매출 자료와 지난달 매출보고서를 바탕으로</a:t>
            </a:r>
            <a:endParaRPr lang="ko-KR">
              <a:solidFill>
                <a:srgbClr val="000000"/>
              </a:solidFill>
              <a:latin typeface="Calibri"/>
              <a:ea typeface="Calibri"/>
              <a:cs typeface="Calibri"/>
            </a:endParaRPr>
          </a:p>
        </p:txBody>
      </p:sp>
      <p:sp>
        <p:nvSpPr>
          <p:cNvPr id="5" name="via-v2-responsibilities / request / 2">
            <a:extLst>
              <a:ext uri="{FF2B5EF4-FFF2-40B4-BE49-F238E27FC236}">
                <ns2:creationId id="{5597778F-3398-413D-8753-4AFB0EC52922}"/>
              </a:ext>
            </a:extLst>
          </p:cNvPr>
          <p:cNvSpPr>
            <a:spLocks noGrp="1"/>
          </p:cNvSpPr>
          <p:nvPr/>
        </p:nvSpPr>
        <p:spPr>
          <a:xfrm>
            <a:off x="904875" y="2402681"/>
            <a:ext cx="16573500" cy="475774"/>
          </a:xfrm>
          <a:prstGeom prst="rect">
            <a:avLst/>
          </a:prstGeom>
          <a:noFill/>
          <a:ln w="0">
            <a:noFill/>
          </a:ln>
        </p:spPr>
        <p:txBody>
          <a:bodyPr wrap="none" lIns="0" tIns="0" rIns="0" bIns="0" anchor="t">
            <a:noAutofit/>
          </a:bodyPr>
          <a:lstStyle/>
          <a:p>
            <a:pPr algn="l">
              <a:defRPr sz="2800" b="1" lang="ko-KR">
                <a:solidFill>
                  <a:srgbClr val="000000"/>
                </a:solidFill>
                <a:latin typeface="Calibri"/>
                <a:ea typeface="Calibri"/>
                <a:cs typeface="Calibri"/>
              </a:defRPr>
            </a:pPr>
            <a:r>
              <a:rPr sz="2800" b="1" lang="ko-KR">
                <a:solidFill>
                  <a:srgbClr val="000000"/>
                </a:solidFill>
                <a:latin typeface="Calibri"/>
                <a:ea typeface="Calibri"/>
                <a:cs typeface="Calibri"/>
              </a:rPr>
              <a:t>이번 달 매출보고서를 만들어줘.”</a:t>
            </a:r>
            <a:endParaRPr lang="ko-KR">
              <a:solidFill>
                <a:srgbClr val="000000"/>
              </a:solidFill>
              <a:latin typeface="Calibri"/>
              <a:ea typeface="Calibri"/>
              <a:cs typeface="Calibri"/>
            </a:endParaRPr>
          </a:p>
        </p:txBody>
      </p:sp>
      <p:pic>
        <p:nvPicPr>
          <p:cNvPr id="6" name=""/>
          <p:cNvPicPr>
            <a:picLocks noChangeAspect="1"/>
          </p:cNvPicPr>
          <p:nvPr/>
        </p:nvPicPr>
        <p:blipFill>
          <a:blip r:embed="RviaIntroImage1"/>
          <a:srcRect l="0" t="15000" r="70000" b="19000"/>
          <a:stretch>
            <a:fillRect l="0" t="0" r="0" b="0"/>
          </a:stretch>
        </p:blipFill>
        <p:spPr>
          <a:xfrm>
            <a:off x="1119188" y="2933700"/>
            <a:ext cx="4048125" cy="2952750"/>
          </a:xfrm>
          <a:prstGeom prst="rect">
            <a:avLst/>
          </a:prstGeom>
        </p:spPr>
      </p:pic>
      <p:pic>
        <p:nvPicPr>
          <p:cNvPr id="7" name=""/>
          <p:cNvPicPr>
            <a:picLocks noChangeAspect="1"/>
          </p:cNvPicPr>
          <p:nvPr/>
        </p:nvPicPr>
        <p:blipFill>
          <a:blip r:embed="RviaIntroImage2"/>
          <a:srcRect l="35000" t="25000" r="34000" b="17000"/>
          <a:stretch>
            <a:fillRect l="0" t="0" r="0" b="0"/>
          </a:stretch>
        </p:blipFill>
        <p:spPr>
          <a:xfrm>
            <a:off x="6810375" y="2933700"/>
            <a:ext cx="4762500" cy="2952750"/>
          </a:xfrm>
          <a:prstGeom prst="rect">
            <a:avLst/>
          </a:prstGeom>
        </p:spPr>
      </p:pic>
      <p:pic>
        <p:nvPicPr>
          <p:cNvPr id="8" name=""/>
          <p:cNvPicPr>
            <a:picLocks noChangeAspect="1"/>
          </p:cNvPicPr>
          <p:nvPr/>
        </p:nvPicPr>
        <p:blipFill>
          <a:blip r:embed="RviaIntroImage3"/>
          <a:srcRect l="73500" t="15000" r="500" b="17000"/>
          <a:stretch>
            <a:fillRect l="0" t="0" r="0" b="0"/>
          </a:stretch>
        </p:blipFill>
        <p:spPr>
          <a:xfrm>
            <a:off x="13454063" y="2933700"/>
            <a:ext cx="3381375" cy="2952750"/>
          </a:xfrm>
          <a:prstGeom prst="rect">
            <a:avLst/>
          </a:prstGeom>
        </p:spPr>
      </p:pic>
      <p:sp>
        <p:nvSpPr>
          <p:cNvPr id="9" name="via-v2-responsibilities / user / 1">
            <a:extLst>
              <a:ext uri="{FF2B5EF4-FFF2-40B4-BE49-F238E27FC236}">
                <ns2:creationId id="{23D95B26-BFA9-450B-BA41-0DDD36AE7AB3}"/>
              </a:ext>
            </a:extLst>
          </p:cNvPr>
          <p:cNvSpPr>
            <a:spLocks noGrp="1"/>
          </p:cNvSpPr>
          <p:nvPr/>
        </p:nvSpPr>
        <p:spPr>
          <a:xfrm>
            <a:off x="809625" y="5981700"/>
            <a:ext cx="4667250" cy="450056"/>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사용자</a:t>
            </a:r>
            <a:endParaRPr lang="ko-KR">
              <a:solidFill>
                <a:srgbClr val="000000"/>
              </a:solidFill>
              <a:latin typeface="Calibri"/>
              <a:ea typeface="Calibri"/>
              <a:cs typeface="Calibri"/>
            </a:endParaRPr>
          </a:p>
        </p:txBody>
      </p:sp>
      <p:sp>
        <p:nvSpPr>
          <p:cNvPr id="10" name="via-v2-responsibilities / via / 1">
            <a:extLst>
              <a:ext uri="{FF2B5EF4-FFF2-40B4-BE49-F238E27FC236}">
                <ns2:creationId id="{4946E43C-CD15-47E4-885E-05A2A9FE72B5}"/>
              </a:ext>
            </a:extLst>
          </p:cNvPr>
          <p:cNvSpPr>
            <a:spLocks noGrp="1"/>
          </p:cNvSpPr>
          <p:nvPr/>
        </p:nvSpPr>
        <p:spPr>
          <a:xfrm>
            <a:off x="6858000" y="5981700"/>
            <a:ext cx="4667250" cy="450056"/>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VIA</a:t>
            </a:r>
            <a:endParaRPr lang="ko-KR">
              <a:solidFill>
                <a:srgbClr val="000000"/>
              </a:solidFill>
              <a:latin typeface="Calibri"/>
              <a:ea typeface="Calibri"/>
              <a:cs typeface="Calibri"/>
            </a:endParaRPr>
          </a:p>
        </p:txBody>
      </p:sp>
      <p:sp>
        <p:nvSpPr>
          <p:cNvPr id="11" name="via-v2-responsibilities / agent / 1">
            <a:extLst>
              <a:ext uri="{FF2B5EF4-FFF2-40B4-BE49-F238E27FC236}">
                <ns2:creationId id="{7F97669D-DD59-4385-AFB8-D0779B541C34}"/>
              </a:ext>
            </a:extLst>
          </p:cNvPr>
          <p:cNvSpPr>
            <a:spLocks noGrp="1"/>
          </p:cNvSpPr>
          <p:nvPr/>
        </p:nvSpPr>
        <p:spPr>
          <a:xfrm>
            <a:off x="12811125" y="5981700"/>
            <a:ext cx="4667250" cy="450056"/>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업무 수행 Agent</a:t>
            </a:r>
            <a:endParaRPr lang="ko-KR">
              <a:solidFill>
                <a:srgbClr val="000000"/>
              </a:solidFill>
              <a:latin typeface="Calibri"/>
              <a:ea typeface="Calibri"/>
              <a:cs typeface="Calibri"/>
            </a:endParaRPr>
          </a:p>
        </p:txBody>
      </p:sp>
      <p:sp>
        <p:nvSpPr>
          <p:cNvPr id="12" name="via-v2-responsibilities / participant 330">
            <a:extLst>
              <a:ext uri="{FF2B5EF4-FFF2-40B4-BE49-F238E27FC236}">
                <ns2:creationId id="{E4348228-A04A-4BD1-AE02-EC1B50B53782}"/>
              </a:ext>
            </a:extLst>
          </p:cNvPr>
          <p:cNvSpPr>
            <a:spLocks noGrp="1"/>
          </p:cNvSpPr>
          <p:nvPr/>
        </p:nvSpPr>
        <p:spPr>
          <a:xfrm>
            <a:off x="3143250" y="6477000"/>
            <a:ext cx="953" cy="2857500"/>
          </a:xfrm>
          <a:custGeom>
            <a:pathLst>
              <a:path w="953" h="2857500">
                <a:moveTo>
                  <a:pt x="0" y="0"/>
                </a:moveTo>
                <a:lnTo>
                  <a:pt x="0" y="2857500"/>
                </a:lnTo>
              </a:path>
            </a:pathLst>
          </a:custGeom>
          <a:noFill/>
          <a:ln w="13335">
            <a:solidFill>
              <a:srgbClr val="CDD7DA"/>
            </a:solidFill>
            <a:prstDash val="dash"/>
          </a:ln>
        </p:spPr>
      </p:sp>
      <p:sp>
        <p:nvSpPr>
          <p:cNvPr id="13" name="via-v2-responsibilities / participant 965">
            <a:extLst>
              <a:ext uri="{FF2B5EF4-FFF2-40B4-BE49-F238E27FC236}">
                <ns2:creationId id="{7268593E-9B5B-4EAB-BAD8-6E3CE025C28F}"/>
              </a:ext>
            </a:extLst>
          </p:cNvPr>
          <p:cNvSpPr>
            <a:spLocks noGrp="1"/>
          </p:cNvSpPr>
          <p:nvPr/>
        </p:nvSpPr>
        <p:spPr>
          <a:xfrm>
            <a:off x="9191625" y="6477000"/>
            <a:ext cx="953" cy="2857500"/>
          </a:xfrm>
          <a:custGeom>
            <a:pathLst>
              <a:path w="953" h="2857500">
                <a:moveTo>
                  <a:pt x="0" y="0"/>
                </a:moveTo>
                <a:lnTo>
                  <a:pt x="0" y="2857500"/>
                </a:lnTo>
              </a:path>
            </a:pathLst>
          </a:custGeom>
          <a:noFill/>
          <a:ln w="13335">
            <a:solidFill>
              <a:srgbClr val="CDD7DA"/>
            </a:solidFill>
            <a:prstDash val="dash"/>
          </a:ln>
        </p:spPr>
      </p:sp>
      <p:sp>
        <p:nvSpPr>
          <p:cNvPr id="14" name="via-v2-responsibilities / participant 1590">
            <a:extLst>
              <a:ext uri="{FF2B5EF4-FFF2-40B4-BE49-F238E27FC236}">
                <ns2:creationId id="{B01BBB9E-7FCF-41D7-B9F7-CB182EC81B14}"/>
              </a:ext>
            </a:extLst>
          </p:cNvPr>
          <p:cNvSpPr>
            <a:spLocks noGrp="1"/>
          </p:cNvSpPr>
          <p:nvPr/>
        </p:nvSpPr>
        <p:spPr>
          <a:xfrm>
            <a:off x="15144750" y="6477000"/>
            <a:ext cx="953" cy="2857500"/>
          </a:xfrm>
          <a:custGeom>
            <a:pathLst>
              <a:path w="953" h="2857500">
                <a:moveTo>
                  <a:pt x="0" y="0"/>
                </a:moveTo>
                <a:lnTo>
                  <a:pt x="0" y="2857500"/>
                </a:lnTo>
              </a:path>
            </a:pathLst>
          </a:custGeom>
          <a:noFill/>
          <a:ln w="13335">
            <a:solidFill>
              <a:srgbClr val="CDD7DA"/>
            </a:solidFill>
            <a:prstDash val="dash"/>
          </a:ln>
        </p:spPr>
      </p:sp>
      <p:sp>
        <p:nvSpPr>
          <p:cNvPr id="15" name="via-v2-responsibilities / initial-input">
            <a:extLst>
              <a:ext uri="{FF2B5EF4-FFF2-40B4-BE49-F238E27FC236}">
                <ns2:creationId id="{384E52ED-2D0E-48F3-9358-9CF6E0C9D231}"/>
              </a:ext>
            </a:extLst>
          </p:cNvPr>
          <p:cNvSpPr>
            <a:spLocks noGrp="1"/>
          </p:cNvSpPr>
          <p:nvPr/>
        </p:nvSpPr>
        <p:spPr>
          <a:xfrm>
            <a:off x="3143250" y="6905625"/>
            <a:ext cx="6048375" cy="953"/>
          </a:xfrm>
          <a:custGeom>
            <a:pathLst>
              <a:path w="6048375" h="953">
                <a:moveTo>
                  <a:pt x="0" y="0"/>
                </a:moveTo>
                <a:lnTo>
                  <a:pt x="6048375" y="0"/>
                </a:lnTo>
              </a:path>
            </a:pathLst>
          </a:custGeom>
          <a:noFill/>
          <a:ln w="20003">
            <a:solidFill>
              <a:srgbClr val="397C80"/>
            </a:solidFill>
            <a:prstDash val="solid"/>
          </a:ln>
        </p:spPr>
      </p:sp>
      <p:sp>
        <p:nvSpPr>
          <p:cNvPr id="16" name="via-v2-responsibilities / initial-input / arrow">
            <a:extLst>
              <a:ext uri="{FF2B5EF4-FFF2-40B4-BE49-F238E27FC236}">
                <ns2:creationId id="{28E2C2C6-A539-4817-88BD-55978F443EFE}"/>
              </a:ext>
            </a:extLst>
          </p:cNvPr>
          <p:cNvSpPr>
            <a:spLocks noGrp="1"/>
          </p:cNvSpPr>
          <p:nvPr/>
        </p:nvSpPr>
        <p:spPr>
          <a:xfrm>
            <a:off x="9058275"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7" name="via-v2-responsibilities / initial-input label / 1">
            <a:extLst>
              <a:ext uri="{FF2B5EF4-FFF2-40B4-BE49-F238E27FC236}">
                <ns2:creationId id="{76578A66-B40F-49DB-83C3-3453E02B121D}"/>
              </a:ext>
            </a:extLst>
          </p:cNvPr>
          <p:cNvSpPr>
            <a:spLocks noGrp="1"/>
          </p:cNvSpPr>
          <p:nvPr/>
        </p:nvSpPr>
        <p:spPr>
          <a:xfrm>
            <a:off x="3381375" y="6457950"/>
            <a:ext cx="5572125"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음성 요청 + 매출 자료</a:t>
            </a:r>
            <a:endParaRPr lang="ko-KR">
              <a:solidFill>
                <a:srgbClr val="000000"/>
              </a:solidFill>
              <a:latin typeface="Calibri"/>
              <a:ea typeface="Calibri"/>
              <a:cs typeface="Calibri"/>
            </a:endParaRPr>
          </a:p>
        </p:txBody>
      </p:sp>
      <p:sp>
        <p:nvSpPr>
          <p:cNvPr id="18" name="via-v2-responsibilities / delegate">
            <a:extLst>
              <a:ext uri="{FF2B5EF4-FFF2-40B4-BE49-F238E27FC236}">
                <ns2:creationId id="{915B6279-EA1D-4545-A1A7-EA965DED3CF1}"/>
              </a:ext>
            </a:extLst>
          </p:cNvPr>
          <p:cNvSpPr>
            <a:spLocks noGrp="1"/>
          </p:cNvSpPr>
          <p:nvPr/>
        </p:nvSpPr>
        <p:spPr>
          <a:xfrm>
            <a:off x="9191625" y="6905625"/>
            <a:ext cx="5953125" cy="953"/>
          </a:xfrm>
          <a:custGeom>
            <a:pathLst>
              <a:path w="5953125" h="953">
                <a:moveTo>
                  <a:pt x="0" y="0"/>
                </a:moveTo>
                <a:lnTo>
                  <a:pt x="5953125" y="0"/>
                </a:lnTo>
              </a:path>
            </a:pathLst>
          </a:custGeom>
          <a:noFill/>
          <a:ln w="20003">
            <a:solidFill>
              <a:srgbClr val="397C80"/>
            </a:solidFill>
            <a:prstDash val="solid"/>
          </a:ln>
        </p:spPr>
      </p:sp>
      <p:sp>
        <p:nvSpPr>
          <p:cNvPr id="19" name="via-v2-responsibilities / delegate / arrow">
            <a:extLst>
              <a:ext uri="{FF2B5EF4-FFF2-40B4-BE49-F238E27FC236}">
                <ns2:creationId id="{045834FF-F60D-433D-9625-3EF6AFCAFD50}"/>
              </a:ext>
            </a:extLst>
          </p:cNvPr>
          <p:cNvSpPr>
            <a:spLocks noGrp="1"/>
          </p:cNvSpPr>
          <p:nvPr/>
        </p:nvSpPr>
        <p:spPr>
          <a:xfrm>
            <a:off x="15011400"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20" name="via-v2-responsibilities / delegate label / 1">
            <a:extLst>
              <a:ext uri="{FF2B5EF4-FFF2-40B4-BE49-F238E27FC236}">
                <ns2:creationId id="{588991A2-54F7-4B35-A0C3-877C2D284FBE}"/>
              </a:ext>
            </a:extLst>
          </p:cNvPr>
          <p:cNvSpPr>
            <a:spLocks noGrp="1"/>
          </p:cNvSpPr>
          <p:nvPr/>
        </p:nvSpPr>
        <p:spPr>
          <a:xfrm>
            <a:off x="9429750" y="6457950"/>
            <a:ext cx="5476875"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목표·자료·조건을 이해해 위임</a:t>
            </a:r>
            <a:endParaRPr lang="ko-KR">
              <a:solidFill>
                <a:srgbClr val="000000"/>
              </a:solidFill>
              <a:latin typeface="Calibri"/>
              <a:ea typeface="Calibri"/>
              <a:cs typeface="Calibri"/>
            </a:endParaRPr>
          </a:p>
        </p:txBody>
      </p:sp>
      <p:sp>
        <p:nvSpPr>
          <p:cNvPr id="21" name="via-v2-responsibilities / agent-question">
            <a:extLst>
              <a:ext uri="{FF2B5EF4-FFF2-40B4-BE49-F238E27FC236}">
                <ns2:creationId id="{24BE2FBB-7CA5-439D-9A21-4F6A58D32100}"/>
              </a:ext>
            </a:extLst>
          </p:cNvPr>
          <p:cNvSpPr>
            <a:spLocks noGrp="1"/>
          </p:cNvSpPr>
          <p:nvPr/>
        </p:nvSpPr>
        <p:spPr>
          <a:xfrm>
            <a:off x="9191625" y="7667625"/>
            <a:ext cx="5953125" cy="953"/>
          </a:xfrm>
          <a:custGeom>
            <a:pathLst>
              <a:path w="5953125" h="953">
                <a:moveTo>
                  <a:pt x="5953125" y="0"/>
                </a:moveTo>
                <a:lnTo>
                  <a:pt x="0" y="0"/>
                </a:lnTo>
              </a:path>
            </a:pathLst>
          </a:custGeom>
          <a:noFill/>
          <a:ln w="20003">
            <a:solidFill>
              <a:srgbClr val="A56237"/>
            </a:solidFill>
            <a:prstDash val="solid"/>
          </a:ln>
        </p:spPr>
      </p:sp>
      <p:sp>
        <p:nvSpPr>
          <p:cNvPr id="22" name="via-v2-responsibilities / agent-question / arrow">
            <a:extLst>
              <a:ext uri="{FF2B5EF4-FFF2-40B4-BE49-F238E27FC236}">
                <ns2:creationId id="{0FF6184F-3956-4192-9AB0-9017A92EF9AC}"/>
              </a:ext>
            </a:extLst>
          </p:cNvPr>
          <p:cNvSpPr>
            <a:spLocks noGrp="1"/>
          </p:cNvSpPr>
          <p:nvPr/>
        </p:nvSpPr>
        <p:spPr>
          <a:xfrm>
            <a:off x="9191625" y="7600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3" name="via-v2-responsibilities / agent-question label / 1">
            <a:extLst>
              <a:ext uri="{FF2B5EF4-FFF2-40B4-BE49-F238E27FC236}">
                <ns2:creationId id="{8DFA088B-1FAD-4197-97AF-6BCC8DBC8BD3}"/>
              </a:ext>
            </a:extLst>
          </p:cNvPr>
          <p:cNvSpPr>
            <a:spLocks noGrp="1"/>
          </p:cNvSpPr>
          <p:nvPr/>
        </p:nvSpPr>
        <p:spPr>
          <a:xfrm>
            <a:off x="9429750" y="7219950"/>
            <a:ext cx="547687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강조할 항목은 무엇인가요?</a:t>
            </a:r>
            <a:endParaRPr lang="ko-KR">
              <a:solidFill>
                <a:srgbClr val="000000"/>
              </a:solidFill>
              <a:latin typeface="Calibri"/>
              <a:ea typeface="Calibri"/>
              <a:cs typeface="Calibri"/>
            </a:endParaRPr>
          </a:p>
        </p:txBody>
      </p:sp>
      <p:sp>
        <p:nvSpPr>
          <p:cNvPr id="24" name="via-v2-responsibilities / ask-user">
            <a:extLst>
              <a:ext uri="{FF2B5EF4-FFF2-40B4-BE49-F238E27FC236}">
                <ns2:creationId id="{2004BFFC-31F4-4A00-ADFD-EDB79E52D038}"/>
              </a:ext>
            </a:extLst>
          </p:cNvPr>
          <p:cNvSpPr>
            <a:spLocks noGrp="1"/>
          </p:cNvSpPr>
          <p:nvPr/>
        </p:nvSpPr>
        <p:spPr>
          <a:xfrm>
            <a:off x="3143250" y="7667625"/>
            <a:ext cx="6048375" cy="953"/>
          </a:xfrm>
          <a:custGeom>
            <a:pathLst>
              <a:path w="6048375" h="953">
                <a:moveTo>
                  <a:pt x="6048375" y="0"/>
                </a:moveTo>
                <a:lnTo>
                  <a:pt x="0" y="0"/>
                </a:lnTo>
              </a:path>
            </a:pathLst>
          </a:custGeom>
          <a:noFill/>
          <a:ln w="20003">
            <a:solidFill>
              <a:srgbClr val="A56237"/>
            </a:solidFill>
            <a:prstDash val="solid"/>
          </a:ln>
        </p:spPr>
      </p:sp>
      <p:sp>
        <p:nvSpPr>
          <p:cNvPr id="25" name="via-v2-responsibilities / ask-user / arrow">
            <a:extLst>
              <a:ext uri="{FF2B5EF4-FFF2-40B4-BE49-F238E27FC236}">
                <ns2:creationId id="{1188A05A-7E40-4195-AD48-99C19072DBD0}"/>
              </a:ext>
            </a:extLst>
          </p:cNvPr>
          <p:cNvSpPr>
            <a:spLocks noGrp="1"/>
          </p:cNvSpPr>
          <p:nvPr/>
        </p:nvSpPr>
        <p:spPr>
          <a:xfrm>
            <a:off x="3143250" y="7600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6" name="via-v2-responsibilities / ask-user label / 1">
            <a:extLst>
              <a:ext uri="{FF2B5EF4-FFF2-40B4-BE49-F238E27FC236}">
                <ns2:creationId id="{3CFDED1B-2878-4062-8FC2-0399D6159E62}"/>
              </a:ext>
            </a:extLst>
          </p:cNvPr>
          <p:cNvSpPr>
            <a:spLocks noGrp="1"/>
          </p:cNvSpPr>
          <p:nvPr/>
        </p:nvSpPr>
        <p:spPr>
          <a:xfrm>
            <a:off x="3381375" y="7219950"/>
            <a:ext cx="557212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질문을 사용자에게 전달</a:t>
            </a:r>
            <a:endParaRPr lang="ko-KR">
              <a:solidFill>
                <a:srgbClr val="000000"/>
              </a:solidFill>
              <a:latin typeface="Calibri"/>
              <a:ea typeface="Calibri"/>
              <a:cs typeface="Calibri"/>
            </a:endParaRPr>
          </a:p>
        </p:txBody>
      </p:sp>
      <p:sp>
        <p:nvSpPr>
          <p:cNvPr id="27" name="via-v2-responsibilities / user-answer">
            <a:extLst>
              <a:ext uri="{FF2B5EF4-FFF2-40B4-BE49-F238E27FC236}">
                <ns2:creationId id="{E62BD93C-1922-43C8-A5D6-79C7C4A72886}"/>
              </a:ext>
            </a:extLst>
          </p:cNvPr>
          <p:cNvSpPr>
            <a:spLocks noGrp="1"/>
          </p:cNvSpPr>
          <p:nvPr/>
        </p:nvSpPr>
        <p:spPr>
          <a:xfrm>
            <a:off x="3143250" y="8429625"/>
            <a:ext cx="6048375" cy="953"/>
          </a:xfrm>
          <a:custGeom>
            <a:pathLst>
              <a:path w="6048375" h="953">
                <a:moveTo>
                  <a:pt x="0" y="0"/>
                </a:moveTo>
                <a:lnTo>
                  <a:pt x="6048375" y="0"/>
                </a:lnTo>
              </a:path>
            </a:pathLst>
          </a:custGeom>
          <a:noFill/>
          <a:ln w="20003">
            <a:solidFill>
              <a:srgbClr val="397C80"/>
            </a:solidFill>
            <a:prstDash val="solid"/>
          </a:ln>
        </p:spPr>
      </p:sp>
      <p:sp>
        <p:nvSpPr>
          <p:cNvPr id="28" name="via-v2-responsibilities / user-answer / arrow">
            <a:extLst>
              <a:ext uri="{FF2B5EF4-FFF2-40B4-BE49-F238E27FC236}">
                <ns2:creationId id="{96E3CF1E-09BF-43F7-A36C-17F51A79BAF4}"/>
              </a:ext>
            </a:extLst>
          </p:cNvPr>
          <p:cNvSpPr>
            <a:spLocks noGrp="1"/>
          </p:cNvSpPr>
          <p:nvPr/>
        </p:nvSpPr>
        <p:spPr>
          <a:xfrm>
            <a:off x="9058275" y="8362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29" name="via-v2-responsibilities / user-answer label / 1">
            <a:extLst>
              <a:ext uri="{FF2B5EF4-FFF2-40B4-BE49-F238E27FC236}">
                <ns2:creationId id="{F50F1662-C05B-42FA-8375-118ED88DA7B7}"/>
              </a:ext>
            </a:extLst>
          </p:cNvPr>
          <p:cNvSpPr>
            <a:spLocks noGrp="1"/>
          </p:cNvSpPr>
          <p:nvPr/>
        </p:nvSpPr>
        <p:spPr>
          <a:xfrm>
            <a:off x="3381375" y="7981950"/>
            <a:ext cx="557212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“국내 매출을 강조해줘.”</a:t>
            </a:r>
            <a:endParaRPr lang="ko-KR">
              <a:solidFill>
                <a:srgbClr val="000000"/>
              </a:solidFill>
              <a:latin typeface="Calibri"/>
              <a:ea typeface="Calibri"/>
              <a:cs typeface="Calibri"/>
            </a:endParaRPr>
          </a:p>
        </p:txBody>
      </p:sp>
      <p:sp>
        <p:nvSpPr>
          <p:cNvPr id="30" name="via-v2-responsibilities / relay-condition">
            <a:extLst>
              <a:ext uri="{FF2B5EF4-FFF2-40B4-BE49-F238E27FC236}">
                <ns2:creationId id="{D58987BE-978E-4E4D-A884-95ABA0A9C5C7}"/>
              </a:ext>
            </a:extLst>
          </p:cNvPr>
          <p:cNvSpPr>
            <a:spLocks noGrp="1"/>
          </p:cNvSpPr>
          <p:nvPr/>
        </p:nvSpPr>
        <p:spPr>
          <a:xfrm>
            <a:off x="9191625" y="8429625"/>
            <a:ext cx="5953125" cy="953"/>
          </a:xfrm>
          <a:custGeom>
            <a:pathLst>
              <a:path w="5953125" h="953">
                <a:moveTo>
                  <a:pt x="0" y="0"/>
                </a:moveTo>
                <a:lnTo>
                  <a:pt x="5953125" y="0"/>
                </a:lnTo>
              </a:path>
            </a:pathLst>
          </a:custGeom>
          <a:noFill/>
          <a:ln w="20003">
            <a:solidFill>
              <a:srgbClr val="397C80"/>
            </a:solidFill>
            <a:prstDash val="solid"/>
          </a:ln>
        </p:spPr>
      </p:sp>
      <p:sp>
        <p:nvSpPr>
          <p:cNvPr id="31" name="via-v2-responsibilities / relay-condition / arrow">
            <a:extLst>
              <a:ext uri="{FF2B5EF4-FFF2-40B4-BE49-F238E27FC236}">
                <ns2:creationId id="{72D968A9-5657-4A54-AD23-EB26E500B1A9}"/>
              </a:ext>
            </a:extLst>
          </p:cNvPr>
          <p:cNvSpPr>
            <a:spLocks noGrp="1"/>
          </p:cNvSpPr>
          <p:nvPr/>
        </p:nvSpPr>
        <p:spPr>
          <a:xfrm>
            <a:off x="15011400" y="8362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32" name="via-v2-responsibilities / relay-condition label / 1">
            <a:extLst>
              <a:ext uri="{FF2B5EF4-FFF2-40B4-BE49-F238E27FC236}">
                <ns2:creationId id="{AD9AD2F3-F111-4891-93F7-3602A42368D3}"/>
              </a:ext>
            </a:extLst>
          </p:cNvPr>
          <p:cNvSpPr>
            <a:spLocks noGrp="1"/>
          </p:cNvSpPr>
          <p:nvPr/>
        </p:nvSpPr>
        <p:spPr>
          <a:xfrm>
            <a:off x="9429750" y="7981950"/>
            <a:ext cx="547687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답변을 해당 업무에 연결</a:t>
            </a:r>
            <a:endParaRPr lang="ko-KR">
              <a:solidFill>
                <a:srgbClr val="000000"/>
              </a:solidFill>
              <a:latin typeface="Calibri"/>
              <a:ea typeface="Calibri"/>
              <a:cs typeface="Calibri"/>
            </a:endParaRPr>
          </a:p>
        </p:txBody>
      </p:sp>
      <p:sp>
        <p:nvSpPr>
          <p:cNvPr id="33" name="via-v2-responsibilities / report-result">
            <a:extLst>
              <a:ext uri="{FF2B5EF4-FFF2-40B4-BE49-F238E27FC236}">
                <ns2:creationId id="{4B5760A5-9F9A-4420-BE58-E22118EC14AF}"/>
              </a:ext>
            </a:extLst>
          </p:cNvPr>
          <p:cNvSpPr>
            <a:spLocks noGrp="1"/>
          </p:cNvSpPr>
          <p:nvPr/>
        </p:nvSpPr>
        <p:spPr>
          <a:xfrm>
            <a:off x="9191625" y="9191625"/>
            <a:ext cx="5953125" cy="953"/>
          </a:xfrm>
          <a:custGeom>
            <a:pathLst>
              <a:path w="5953125" h="953">
                <a:moveTo>
                  <a:pt x="5953125" y="0"/>
                </a:moveTo>
                <a:lnTo>
                  <a:pt x="0" y="0"/>
                </a:lnTo>
              </a:path>
            </a:pathLst>
          </a:custGeom>
          <a:noFill/>
          <a:ln w="20003">
            <a:solidFill>
              <a:srgbClr val="A56237"/>
            </a:solidFill>
            <a:prstDash val="solid"/>
          </a:ln>
        </p:spPr>
      </p:sp>
      <p:sp>
        <p:nvSpPr>
          <p:cNvPr id="34" name="via-v2-responsibilities / report-result / arrow">
            <a:extLst>
              <a:ext uri="{FF2B5EF4-FFF2-40B4-BE49-F238E27FC236}">
                <ns2:creationId id="{175E1F3B-288A-4337-A261-2A0B8A2CBBF7}"/>
              </a:ext>
            </a:extLst>
          </p:cNvPr>
          <p:cNvSpPr>
            <a:spLocks noGrp="1"/>
          </p:cNvSpPr>
          <p:nvPr/>
        </p:nvSpPr>
        <p:spPr>
          <a:xfrm>
            <a:off x="9191625"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5" name="via-v2-responsibilities / report-result label / 1">
            <a:extLst>
              <a:ext uri="{FF2B5EF4-FFF2-40B4-BE49-F238E27FC236}">
                <ns2:creationId id="{39DBBEEA-8AC7-4844-8C64-B6E85788A44B}"/>
              </a:ext>
            </a:extLst>
          </p:cNvPr>
          <p:cNvSpPr>
            <a:spLocks noGrp="1"/>
          </p:cNvSpPr>
          <p:nvPr/>
        </p:nvSpPr>
        <p:spPr>
          <a:xfrm>
            <a:off x="9429750" y="8743950"/>
            <a:ext cx="547687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완성된 보고서</a:t>
            </a:r>
            <a:endParaRPr lang="ko-KR">
              <a:solidFill>
                <a:srgbClr val="000000"/>
              </a:solidFill>
              <a:latin typeface="Calibri"/>
              <a:ea typeface="Calibri"/>
              <a:cs typeface="Calibri"/>
            </a:endParaRPr>
          </a:p>
        </p:txBody>
      </p:sp>
      <p:sp>
        <p:nvSpPr>
          <p:cNvPr id="36" name="via-v2-responsibilities / present-result">
            <a:extLst>
              <a:ext uri="{FF2B5EF4-FFF2-40B4-BE49-F238E27FC236}">
                <ns2:creationId id="{594C6614-BC8E-478F-8059-4062DFF8B5C6}"/>
              </a:ext>
            </a:extLst>
          </p:cNvPr>
          <p:cNvSpPr>
            <a:spLocks noGrp="1"/>
          </p:cNvSpPr>
          <p:nvPr/>
        </p:nvSpPr>
        <p:spPr>
          <a:xfrm>
            <a:off x="3143250" y="9191625"/>
            <a:ext cx="6048375" cy="953"/>
          </a:xfrm>
          <a:custGeom>
            <a:pathLst>
              <a:path w="6048375" h="953">
                <a:moveTo>
                  <a:pt x="6048375" y="0"/>
                </a:moveTo>
                <a:lnTo>
                  <a:pt x="0" y="0"/>
                </a:lnTo>
              </a:path>
            </a:pathLst>
          </a:custGeom>
          <a:noFill/>
          <a:ln w="20003">
            <a:solidFill>
              <a:srgbClr val="A56237"/>
            </a:solidFill>
            <a:prstDash val="solid"/>
          </a:ln>
        </p:spPr>
      </p:sp>
      <p:sp>
        <p:nvSpPr>
          <p:cNvPr id="37" name="via-v2-responsibilities / present-result / arrow">
            <a:extLst>
              <a:ext uri="{FF2B5EF4-FFF2-40B4-BE49-F238E27FC236}">
                <ns2:creationId id="{5ACF0242-2652-4D1B-A330-9A7FC1999CF7}"/>
              </a:ext>
            </a:extLst>
          </p:cNvPr>
          <p:cNvSpPr>
            <a:spLocks noGrp="1"/>
          </p:cNvSpPr>
          <p:nvPr/>
        </p:nvSpPr>
        <p:spPr>
          <a:xfrm>
            <a:off x="3143250"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8" name="via-v2-responsibilities / present-result label / 1">
            <a:extLst>
              <a:ext uri="{FF2B5EF4-FFF2-40B4-BE49-F238E27FC236}">
                <ns2:creationId id="{6FB3776B-7B40-4A83-8B77-809C59225350}"/>
              </a:ext>
            </a:extLst>
          </p:cNvPr>
          <p:cNvSpPr>
            <a:spLocks noGrp="1"/>
          </p:cNvSpPr>
          <p:nvPr/>
        </p:nvSpPr>
        <p:spPr>
          <a:xfrm>
            <a:off x="3381375" y="8743950"/>
            <a:ext cx="5572125" cy="334328"/>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화면에 결과, 음성으로 핵심 안내</a:t>
            </a:r>
            <a:endParaRPr lang="ko-KR">
              <a:solidFill>
                <a:srgbClr val="000000"/>
              </a:solidFill>
              <a:latin typeface="Calibri"/>
              <a:ea typeface="Calibri"/>
              <a:cs typeface="Calibri"/>
            </a:endParaRPr>
          </a:p>
        </p:txBody>
      </p:sp>
      <p:sp>
        <p:nvSpPr>
          <p:cNvPr id="39" name="via-v2-responsibilities / benefit / 1">
            <a:extLst>
              <a:ext uri="{FF2B5EF4-FFF2-40B4-BE49-F238E27FC236}">
                <ns2:creationId id="{6C46F95D-41F5-42F5-9A48-3A48F6B3D70C}"/>
              </a:ext>
            </a:extLst>
          </p:cNvPr>
          <p:cNvSpPr>
            <a:spLocks noGrp="1"/>
          </p:cNvSpPr>
          <p:nvPr/>
        </p:nvSpPr>
        <p:spPr>
          <a:xfrm>
            <a:off x="904875" y="9563100"/>
            <a:ext cx="16478250" cy="385763"/>
          </a:xfrm>
          <a:prstGeom prst="rect">
            <a:avLst/>
          </a:prstGeom>
          <a:noFill/>
          <a:ln w="0">
            <a:noFill/>
          </a:ln>
        </p:spPr>
        <p:txBody>
          <a:bodyPr wrap="none" lIns="0" tIns="0" rIns="0" bIns="0" anchor="t">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사용자는 VIA에서 대화를 이어가고, Agent는 실제 보고서 작성을 수행합니다</a:t>
            </a:r>
            <a:endParaRPr lang="ko-KR">
              <a:solidFill>
                <a:srgbClr val="000000"/>
              </a:solidFill>
              <a:latin typeface="Calibri"/>
              <a:ea typeface="Calibri"/>
              <a:cs typeface="Calibri"/>
            </a:endParaRPr>
          </a:p>
        </p:txBody>
      </p:sp>
      <p:sp>
        <p:nvSpPr>
          <p:cNvPr id="40" name="v6-header-title">
            <a:extLst>
              <a:ext uri="{FF2B5EF4-FFF2-40B4-BE49-F238E27FC236}">
                <ns2:creationId id="{D9C00C0B-0892-4CD5-A674-22A7DCD7BA75}"/>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업무 위임과 대화 연결</a:t>
            </a:r>
            <a:endParaRPr lang="ko-KR">
              <a:latin typeface="Calibri"/>
              <a:ea typeface="Calibri"/>
              <a:cs typeface="Calibri"/>
            </a:endParaRPr>
          </a:p>
        </p:txBody>
      </p:sp>
      <p:sp>
        <p:nvSpPr>
          <p:cNvPr id="41" name="v6-header-rule">
            <a:extLst>
              <a:ext uri="{FF2B5EF4-FFF2-40B4-BE49-F238E27FC236}">
                <ns2:creationId id="{7A7ACC2A-AA84-4D0F-B1A8-BD862796FD5D}"/>
              </a:ext>
            </a:extLst>
          </p:cNvPr>
          <p:cNvSpPr>
            <a:spLocks noGrp="1"/>
          </p:cNvSpPr>
          <p:nvPr/>
        </p:nvSpPr>
        <p:spPr>
          <a:xfrm>
            <a:off x="495300" y="990600"/>
            <a:ext cx="17335500" cy="0"/>
          </a:xfrm>
          <a:prstGeom prst="line">
            <a:avLst/>
          </a:prstGeom>
          <a:noFill/>
          <a:ln w="19050">
            <a:solidFill>
              <a:srgbClr val="A6A6A6"/>
            </a:solidFill>
          </a:ln>
        </p:spPr>
      </p:sp>
      <p:sp>
        <p:nvSpPr>
          <p:cNvPr id="42" name="v6-header-stage-0">
            <a:extLst>
              <a:ext uri="{FF2B5EF4-FFF2-40B4-BE49-F238E27FC236}">
                <ns2:creationId id="{8D1C2D2A-3EE6-4A61-919E-F7A858902F31}"/>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3" name="v6-header-stage-1">
            <a:extLst>
              <a:ext uri="{FF2B5EF4-FFF2-40B4-BE49-F238E27FC236}">
                <ns2:creationId id="{5CE7D356-8E9B-475B-9799-F0399DC17BD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4" name="v6-header-stage-2">
            <a:extLst>
              <a:ext uri="{FF2B5EF4-FFF2-40B4-BE49-F238E27FC236}">
                <ns2:creationId id="{D3E264A7-5DB1-4106-A9A7-2A2AABF4D6DE}"/>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5" name="v6-header-stage-3">
            <a:extLst>
              <a:ext uri="{FF2B5EF4-FFF2-40B4-BE49-F238E27FC236}">
                <ns2:creationId id="{5D49F0C5-E5CC-4ACF-909F-B58C99B43C48}"/>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6" name="v6-header-stage-4">
            <a:extLst>
              <a:ext uri="{FF2B5EF4-FFF2-40B4-BE49-F238E27FC236}">
                <ns2:creationId id="{3C432130-549B-46C4-9A53-C2A69D751E9E}"/>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47" name="v6-header-page">
            <a:extLst>
              <a:ext uri="{FF2B5EF4-FFF2-40B4-BE49-F238E27FC236}">
                <ns2:creationId id="{ACC8CA2E-2C51-4116-BFC1-FFA90131C953}"/>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6 / 33</a:t>
            </a:r>
            <a:endParaRPr lang="ko-KR">
              <a:latin typeface="Calibri"/>
              <a:ea typeface="Calibri"/>
              <a:cs typeface="Calibri"/>
            </a:endParaRPr>
          </a:p>
        </p:txBody>
      </p:sp>
    </p:spTree>
    <p:extLst>
      <p:ext uri="{BB962C8B-B14F-4D97-AF65-F5344CB8AC3E}">
        <p14:creationId val="1926313185"/>
      </p:ext>
    </p:extLst>
  </p:cSld>
</p:sld>
</file>

<file path=ppt/slides/slide37.xml><?xml version="1.0" encoding="utf-8"?>
<p:sld xmlns:a="http://schemas.openxmlformats.org/drawingml/2006/main" xmlns:ns2="http://schemas.microsoft.com/office/drawing/2014/main" xmlns:p="http://schemas.openxmlformats.org/presentationml/2006/main" xmlns:p14="http://schemas.microsoft.com/office/powerpoint/2010/main">
  <p:cSld name="requirements-v2">
    <p:bg>
      <p:bgPr>
        <a:solidFill>
          <a:srgbClr val="FFFFFF"/>
        </a:solidFill>
      </p:bgPr>
    </p:bg>
    <p:spTree>
      <p:nvGrpSpPr>
        <p:cNvPr id="1" name=""/>
        <p:cNvGrpSpPr/>
        <p:nvPr/>
      </p:nvGrpSpPr>
      <p:grpSpPr>
        <a:xfrm/>
      </p:grpSpPr>
      <p:sp>
        <p:nvSpPr>
          <p:cNvPr id="3" name="functional-heading">
            <a:extLst>
              <a:ext uri="{FF2B5EF4-FFF2-40B4-BE49-F238E27FC236}">
                <ns2:creationId id="{D342F900-6824-479E-8844-5EB8A5366A74}"/>
              </a:ext>
            </a:extLst>
          </p:cNvPr>
          <p:cNvSpPr>
            <a:spLocks noGrp="1"/>
          </p:cNvSpPr>
          <p:nvPr/>
        </p:nvSpPr>
        <p:spPr>
          <a:xfrm>
            <a:off x="457200" y="1266825"/>
            <a:ext cx="17373600" cy="438150"/>
          </a:xfrm>
          <a:prstGeom prst="rect">
            <a:avLst/>
          </a:prstGeom>
          <a:noFill/>
          <a:ln w="0">
            <a:noFill/>
          </a:ln>
        </p:spPr>
        <p:txBody>
          <a:bodyPr wrap="none" lIns="0" tIns="0" rIns="0" bIns="0">
            <a:noAutofit/>
          </a:bodyPr>
          <a:lstStyle/>
          <a:p>
            <a:pPr>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기능 요구사항</a:t>
            </a:r>
            <a:endParaRPr lang="ko-KR">
              <a:solidFill>
                <a:srgbClr val="000000"/>
              </a:solidFill>
              <a:latin typeface="Calibri"/>
              <a:ea typeface="Calibri"/>
              <a:cs typeface="Calibri"/>
            </a:endParaRPr>
          </a:p>
        </p:txBody>
      </p:sp>
      <p:graphicFrame>
        <p:nvGraphicFramePr>
          <p:cNvPr id="4" name=""/>
          <p:cNvGraphicFramePr/>
          <p:nvPr/>
        </p:nvGraphicFramePr>
        <p:xfrm>
          <a:off x="457200" y="1809750"/>
          <a:ext cx="17373600" cy="4991100"/>
        </p:xfrm>
        <a:graphic>
          <a:graphicData uri="http://schemas.openxmlformats.org/drawingml/2006/table">
            <a:tbl>
              <a:tblPr firstRow="0" bandRow="0"/>
              <a:tblGrid>
                <a:gridCol w="952500"/>
                <a:gridCol w="3333750"/>
                <a:gridCol w="10572750"/>
                <a:gridCol w="2514600"/>
              </a:tblGrid>
              <a:tr h="476250">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ID</a:t>
                      </a:r>
                      <a:endParaRPr lang="ko-KR">
                        <a:solidFill>
                          <a:srgbClr val="000000"/>
                        </a:solidFill>
                        <a:latin typeface="Calibri"/>
                        <a:ea typeface="Calibri"/>
                        <a:cs typeface="Calibri"/>
                      </a:endParaRPr>
                    </a:p>
                  </a:txBody>
                  <a:tcPr marL="95250" marR="95250" marT="19050" marB="190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기능 요구사항명</a:t>
                      </a:r>
                      <a:endParaRPr lang="ko-KR">
                        <a:solidFill>
                          <a:srgbClr val="000000"/>
                        </a:solidFill>
                        <a:latin typeface="Calibri"/>
                        <a:ea typeface="Calibri"/>
                        <a:cs typeface="Calibri"/>
                      </a:endParaRPr>
                    </a:p>
                  </a:txBody>
                  <a:tcPr marL="95250" marR="95250" marT="19050" marB="190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설명</a:t>
                      </a:r>
                      <a:endParaRPr lang="ko-KR">
                        <a:solidFill>
                          <a:srgbClr val="000000"/>
                        </a:solidFill>
                        <a:latin typeface="Calibri"/>
                        <a:ea typeface="Calibri"/>
                        <a:cs typeface="Calibri"/>
                      </a:endParaRPr>
                    </a:p>
                  </a:txBody>
                  <a:tcPr marL="152400" marR="152400" marT="19050" marB="190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관련 DP</a:t>
                      </a:r>
                      <a:endParaRPr lang="ko-KR">
                        <a:solidFill>
                          <a:srgbClr val="000000"/>
                        </a:solidFill>
                        <a:latin typeface="Calibri"/>
                        <a:ea typeface="Calibri"/>
                        <a:cs typeface="Calibri"/>
                      </a:endParaRPr>
                    </a:p>
                  </a:txBody>
                  <a:tcPr marL="95250" marR="95250" marT="19050" marB="19050" anchor="ctr">
                    <a:solidFill>
                      <a:srgbClr val="C6E0B4"/>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FR1</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지속 대화 처리</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VIA가 요청을 처리하거나 응답하는 동안에도 사용자의 음성 또는 텍스트 입력을 받아</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대화를 이어갈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04-44</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FR2</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맥락 기반 요청 해석</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자료와 대화 및 업무 맥락을 이용해 사용자 입력을 목표, 대상, 조건과 관련 업무가</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식별된 요청으로 해석할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04-41</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FR3</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복합 요청 처리</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한 입력에 포함된 여러 요청을 사용자가 명시한 순서, 조건과 결과 의존 관계에 따라</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처리할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04-41, 04-44</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FR4</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다중 업무 상호작용</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여러 업무의 질문, 진행 상황, 결과와 사용자 후속 지시를 각각</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해당 업무에 연결할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04-42, 04-44</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FR5</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업무 연속성 유지</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음성 연결 종료, 대화 전환 또는 VIA 재시작 이후에도 기존 업무를</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중복 실행 없이 확인 가능한 상태로 이어갈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04-42</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FR6</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과거 맥락 활용</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이전 대화의 정정 내용, 업무 결과와 허용된 사용자 기억을</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현재 요청에 필요한 맥락으로 활용할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04-45</a:t>
                      </a:r>
                      <a:endParaRPr lang="ko-KR">
                        <a:solidFill>
                          <a:srgbClr val="000000"/>
                        </a:solidFill>
                        <a:latin typeface="Calibri"/>
                        <a:ea typeface="Calibri"/>
                        <a:cs typeface="Calibri"/>
                      </a:endParaRPr>
                    </a:p>
                  </a:txBody>
                  <a:tcPr marL="95250" marR="95250" marT="19050" marB="19050" anchor="ctr">
                    <a:solidFill>
                      <a:srgbClr val="FFFFFF"/>
                    </a:solidFill>
                  </a:tcPr>
                </a:tc>
              </a:tr>
            </a:tbl>
          </a:graphicData>
        </a:graphic>
      </p:graphicFrame>
      <p:sp>
        <p:nvSpPr>
          <p:cNvPr id="5" name="constraints-heading">
            <a:extLst>
              <a:ext uri="{FF2B5EF4-FFF2-40B4-BE49-F238E27FC236}">
                <ns2:creationId id="{D36FAAF4-C26E-41F6-BBE5-D3138EC855F1}"/>
              </a:ext>
            </a:extLst>
          </p:cNvPr>
          <p:cNvSpPr>
            <a:spLocks noGrp="1"/>
          </p:cNvSpPr>
          <p:nvPr/>
        </p:nvSpPr>
        <p:spPr>
          <a:xfrm>
            <a:off x="457200" y="7162800"/>
            <a:ext cx="17373600" cy="438150"/>
          </a:xfrm>
          <a:prstGeom prst="rect">
            <a:avLst/>
          </a:prstGeom>
          <a:noFill/>
          <a:ln w="0">
            <a:noFill/>
          </a:ln>
        </p:spPr>
        <p:txBody>
          <a:bodyPr wrap="none" lIns="0" tIns="0" rIns="0" bIns="0">
            <a:noAutofit/>
          </a:bodyPr>
          <a:lstStyle/>
          <a:p>
            <a:pPr>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제약사항</a:t>
            </a:r>
            <a:endParaRPr lang="ko-KR">
              <a:solidFill>
                <a:srgbClr val="000000"/>
              </a:solidFill>
              <a:latin typeface="Calibri"/>
              <a:ea typeface="Calibri"/>
              <a:cs typeface="Calibri"/>
            </a:endParaRPr>
          </a:p>
        </p:txBody>
      </p:sp>
      <p:graphicFrame>
        <p:nvGraphicFramePr>
          <p:cNvPr id="6" name=""/>
          <p:cNvGraphicFramePr/>
          <p:nvPr/>
        </p:nvGraphicFramePr>
        <p:xfrm>
          <a:off x="457200" y="7686675"/>
          <a:ext cx="17373600" cy="2076450"/>
        </p:xfrm>
        <a:graphic>
          <a:graphicData uri="http://schemas.openxmlformats.org/drawingml/2006/table">
            <a:tbl>
              <a:tblPr firstRow="0" bandRow="0"/>
              <a:tblGrid>
                <a:gridCol w="952500"/>
                <a:gridCol w="3333750"/>
                <a:gridCol w="10572750"/>
                <a:gridCol w="2514600"/>
              </a:tblGrid>
              <a:tr h="476250">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ID</a:t>
                      </a:r>
                      <a:endParaRPr lang="ko-KR">
                        <a:solidFill>
                          <a:srgbClr val="000000"/>
                        </a:solidFill>
                        <a:latin typeface="Calibri"/>
                        <a:ea typeface="Calibri"/>
                        <a:cs typeface="Calibri"/>
                      </a:endParaRPr>
                    </a:p>
                  </a:txBody>
                  <a:tcPr marL="95250" marR="95250" marT="19050" marB="190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제약사항명</a:t>
                      </a:r>
                      <a:endParaRPr lang="ko-KR">
                        <a:solidFill>
                          <a:srgbClr val="000000"/>
                        </a:solidFill>
                        <a:latin typeface="Calibri"/>
                        <a:ea typeface="Calibri"/>
                        <a:cs typeface="Calibri"/>
                      </a:endParaRPr>
                    </a:p>
                  </a:txBody>
                  <a:tcPr marL="95250" marR="95250" marT="19050" marB="190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설명</a:t>
                      </a:r>
                      <a:endParaRPr lang="ko-KR">
                        <a:solidFill>
                          <a:srgbClr val="000000"/>
                        </a:solidFill>
                        <a:latin typeface="Calibri"/>
                        <a:ea typeface="Calibri"/>
                        <a:cs typeface="Calibri"/>
                      </a:endParaRPr>
                    </a:p>
                  </a:txBody>
                  <a:tcPr marL="152400" marR="152400" marT="19050" marB="190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관련 DP</a:t>
                      </a:r>
                      <a:endParaRPr lang="ko-KR">
                        <a:solidFill>
                          <a:srgbClr val="000000"/>
                        </a:solidFill>
                        <a:latin typeface="Calibri"/>
                        <a:ea typeface="Calibri"/>
                        <a:cs typeface="Calibri"/>
                      </a:endParaRPr>
                    </a:p>
                  </a:txBody>
                  <a:tcPr marL="95250" marR="95250" marT="19050" marB="19050" anchor="ctr">
                    <a:solidFill>
                      <a:srgbClr val="C6E0B4"/>
                    </a:solidFill>
                  </a:tcPr>
                </a:tc>
              </a:tr>
              <a:tr h="800100">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C1</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음성과 의미 모델 분리</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VIA와 VAD는 사용자 PC에서 실행하고, 음성과 의미 해석은 별도 클라우드 모델을</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Model Access를 통해 사용해야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04-41, 04-44,</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04-45</a:t>
                      </a:r>
                      <a:endParaRPr lang="ko-KR">
                        <a:solidFill>
                          <a:srgbClr val="000000"/>
                        </a:solidFill>
                        <a:latin typeface="Calibri"/>
                        <a:ea typeface="Calibri"/>
                        <a:cs typeface="Calibri"/>
                      </a:endParaRPr>
                    </a:p>
                  </a:txBody>
                  <a:tcPr marL="95250" marR="95250" marT="19050" marB="19050" anchor="ctr">
                    <a:solidFill>
                      <a:srgbClr val="FFFFFF"/>
                    </a:solidFill>
                  </a:tcPr>
                </a:tc>
              </a:tr>
              <a:tr h="800100">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C2</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업무 실행 위임</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실제 업무 수행에 필요한 도메인 추론, 계획, 도구 선택과 실행은</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Downstream Agent에 위임해야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04-41, 04-42,</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04-44</a:t>
                      </a:r>
                      <a:endParaRPr lang="ko-KR">
                        <a:solidFill>
                          <a:srgbClr val="000000"/>
                        </a:solidFill>
                        <a:latin typeface="Calibri"/>
                        <a:ea typeface="Calibri"/>
                        <a:cs typeface="Calibri"/>
                      </a:endParaRPr>
                    </a:p>
                  </a:txBody>
                  <a:tcPr marL="95250" marR="95250" marT="19050" marB="19050" anchor="ctr">
                    <a:solidFill>
                      <a:srgbClr val="FFFFFF"/>
                    </a:solidFill>
                  </a:tcPr>
                </a:tc>
              </a:tr>
            </a:tbl>
          </a:graphicData>
        </a:graphic>
      </p:graphicFrame>
      <p:sp>
        <p:nvSpPr>
          <p:cNvPr id="7" name="mapping-boundary">
            <a:extLst>
              <a:ext uri="{FF2B5EF4-FFF2-40B4-BE49-F238E27FC236}">
                <ns2:creationId id="{07A64B9E-7E9D-41F7-8E41-80C979F479CA}"/>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관련 DP는 직접 설계 영향만 표시한다. 로컬 VAD와 업무 상태의 권위는 VIA에 있으며 모델 공급자는 별도 reference다.</a:t>
            </a:r>
            <a:endParaRPr lang="ko-KR">
              <a:solidFill>
                <a:srgbClr val="000000"/>
              </a:solidFill>
              <a:latin typeface="Calibri"/>
              <a:ea typeface="Calibri"/>
              <a:cs typeface="Calibri"/>
            </a:endParaRPr>
          </a:p>
        </p:txBody>
      </p:sp>
      <p:sp>
        <p:nvSpPr>
          <p:cNvPr id="8" name="v6-header-title">
            <a:extLst>
              <a:ext uri="{FF2B5EF4-FFF2-40B4-BE49-F238E27FC236}">
                <ns2:creationId id="{2960351E-8A77-47BB-8BA6-126FFCC68A4B}"/>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기능 요구사항 및 제약사항</a:t>
            </a:r>
            <a:endParaRPr lang="ko-KR">
              <a:latin typeface="Calibri"/>
              <a:ea typeface="Calibri"/>
              <a:cs typeface="Calibri"/>
            </a:endParaRPr>
          </a:p>
        </p:txBody>
      </p:sp>
      <p:sp>
        <p:nvSpPr>
          <p:cNvPr id="9" name="v6-header-rule">
            <a:extLst>
              <a:ext uri="{FF2B5EF4-FFF2-40B4-BE49-F238E27FC236}">
                <ns2:creationId id="{F636E886-D891-4ED5-BFFF-1BDB4D632008}"/>
              </a:ext>
            </a:extLst>
          </p:cNvPr>
          <p:cNvSpPr>
            <a:spLocks noGrp="1"/>
          </p:cNvSpPr>
          <p:nvPr/>
        </p:nvSpPr>
        <p:spPr>
          <a:xfrm>
            <a:off x="495300" y="990600"/>
            <a:ext cx="17335500" cy="0"/>
          </a:xfrm>
          <a:prstGeom prst="line">
            <a:avLst/>
          </a:prstGeom>
          <a:noFill/>
          <a:ln w="19050">
            <a:solidFill>
              <a:srgbClr val="A6A6A6"/>
            </a:solidFill>
          </a:ln>
        </p:spPr>
      </p:sp>
      <p:sp>
        <p:nvSpPr>
          <p:cNvPr id="10" name="v6-header-stage-0">
            <a:extLst>
              <a:ext uri="{FF2B5EF4-FFF2-40B4-BE49-F238E27FC236}">
                <ns2:creationId id="{632ECE93-8BCD-42D1-945A-507F1130F56C}"/>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1" name="v6-header-stage-1">
            <a:extLst>
              <a:ext uri="{FF2B5EF4-FFF2-40B4-BE49-F238E27FC236}">
                <ns2:creationId id="{AC7329A6-0DB4-4F83-8240-943A997ED38A}"/>
              </a:ext>
            </a:extLst>
          </p:cNvPr>
          <p:cNvSpPr>
            <a:spLocks noGrp="1"/>
          </p:cNvSpPr>
          <p:nvPr/>
        </p:nvSpPr>
        <p:spPr>
          <a:xfrm>
            <a:off x="122491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2" name="v6-header-stage-2">
            <a:extLst>
              <a:ext uri="{FF2B5EF4-FFF2-40B4-BE49-F238E27FC236}">
                <ns2:creationId id="{CC33B0E9-EF9D-4019-B316-FB95B8754703}"/>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3" name="v6-header-stage-3">
            <a:extLst>
              <a:ext uri="{FF2B5EF4-FFF2-40B4-BE49-F238E27FC236}">
                <ns2:creationId id="{D17D2622-3D1A-4816-89AE-AB6F071BB72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4" name="v6-header-stage-4">
            <a:extLst>
              <a:ext uri="{FF2B5EF4-FFF2-40B4-BE49-F238E27FC236}">
                <ns2:creationId id="{1D426386-C74C-4276-85B8-29506182D693}"/>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5" name="v6-header-page">
            <a:extLst>
              <a:ext uri="{FF2B5EF4-FFF2-40B4-BE49-F238E27FC236}">
                <ns2:creationId id="{35582466-A133-46F8-BBBE-54557271B286}"/>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8 / 33</a:t>
            </a:r>
            <a:endParaRPr lang="ko-KR">
              <a:latin typeface="Calibri"/>
              <a:ea typeface="Calibri"/>
              <a:cs typeface="Calibri"/>
            </a:endParaRPr>
          </a:p>
        </p:txBody>
      </p:sp>
    </p:spTree>
    <p:extLst>
      <p:ext uri="{BB962C8B-B14F-4D97-AF65-F5344CB8AC3E}">
        <p14:creationId val="1503880560"/>
      </p:ext>
    </p:extLst>
  </p:cSld>
</p:sld>
</file>

<file path=ppt/slides/slide38.xml><?xml version="1.0" encoding="utf-8"?>
<p:sld xmlns:a="http://schemas.openxmlformats.org/drawingml/2006/main" xmlns:ns2="http://schemas.microsoft.com/office/drawing/2014/main" xmlns:p="http://schemas.openxmlformats.org/presentationml/2006/main" xmlns:p14="http://schemas.microsoft.com/office/powerpoint/2010/main">
  <p:cSld name="quality-01-03-v2">
    <p:bg>
      <p:bgPr>
        <a:solidFill>
          <a:srgbClr val="FFFFFF"/>
        </a:solidFill>
      </p:bgPr>
    </p:bg>
    <p:spTree>
      <p:nvGrpSpPr>
        <p:cNvPr id="2" name=""/>
        <p:cNvGrpSpPr/>
        <p:nvPr/>
      </p:nvGrpSpPr>
      <p:grpSpPr>
        <a:xfrm/>
      </p:grpSpPr>
      <p:sp>
        <p:nvSpPr>
          <p:cNvPr id="3" name="qa-summary-subtitle">
            <a:extLst>
              <a:ext uri="{FF2B5EF4-FFF2-40B4-BE49-F238E27FC236}">
                <ns2:creationId id="{BEA6CE1B-196E-42A9-92D4-51035EE270AF}"/>
              </a:ext>
            </a:extLst>
          </p:cNvPr>
          <p:cNvSpPr>
            <a:spLocks noGrp="1"/>
          </p:cNvSpPr>
          <p:nvPr/>
        </p:nvSpPr>
        <p:spPr>
          <a:xfrm>
            <a:off x="523875" y="1266825"/>
            <a:ext cx="17287875" cy="438150"/>
          </a:xfrm>
          <a:prstGeom prst="rect">
            <a:avLst/>
          </a:prstGeom>
          <a:noFill/>
          <a:ln w="0">
            <a:noFill/>
          </a:ln>
        </p:spPr>
        <p:txBody>
          <a:bodyPr lIns="0" tIns="0" rIns="0" bIns="0" anchor="ctr">
            <a:noAutofit/>
          </a:bodyPr>
          <a:lstStyle>
            <a:defPPr>
              <a:defRPr sz="2400" b="1" lang="ko-KR">
                <a:solidFill>
                  <a:srgbClr val="000000"/>
                </a:solidFill>
                <a:latin typeface="Calibri"/>
                <a:ea typeface="Calibri"/>
                <a:cs typeface="Calibri"/>
              </a:defRPr>
            </a:defPPr>
          </a:lstStyle>
          <a:p>
            <a:pP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공통 28개 시나리오로 같은 기능을 평가하고 QA별 대상 사건을 집계</a:t>
            </a:r>
            <a:endParaRPr lang="ko-KR">
              <a:latin typeface="Calibri"/>
              <a:ea typeface="Calibri"/>
              <a:cs typeface="Calibri"/>
            </a:endParaRPr>
          </a:p>
        </p:txBody>
      </p:sp>
      <p:graphicFrame>
        <p:nvGraphicFramePr>
          <p:cNvPr id="4" name="current-quality-summary">
            <a:extLst>
              <a:ext uri="{FF2B5EF4-FFF2-40B4-BE49-F238E27FC236}">
                <ns2:creationId id="{DC0FBEEF-598D-479A-908F-0830FE2A2AF3}"/>
              </a:ext>
            </a:extLst>
          </p:cNvPr>
          <p:cNvGraphicFramePr/>
          <p:nvPr/>
        </p:nvGraphicFramePr>
        <p:xfrm>
          <a:off x="457200" y="1905000"/>
          <a:ext cx="17373600" cy="6896100"/>
        </p:xfrm>
        <a:graphic>
          <a:graphicData uri="http://schemas.openxmlformats.org/drawingml/2006/table">
            <a:tbl>
              <a:tblPr/>
              <a:tblGrid>
                <a:gridCol w="1047750"/>
                <a:gridCol w="2047875"/>
                <a:gridCol w="2667000"/>
                <a:gridCol w="9848850"/>
                <a:gridCol w="1762125"/>
              </a:tblGrid>
              <a:tr h="495300">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ID</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분류</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Title</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Scenario</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중요도 / 난이도</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2133600">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QA01</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Performance</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첫 응답 지연시간</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사용자 요청이나 업무 사건에 대한 구체적인 첫 응답을 신속하게 화면에 표시해야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[평균 첫 응답 지연시간 ≤ 1초]</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28개 / 응답 사건 120건 × 5회 / 실제 사건 → 첫 내용 UI 표시</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Nielsen(1993) 사고 흐름 유지 1초와 Microsoft Windows 응답성 지침</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H(10) / H(9)</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2133600">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QA02</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Accuracy</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지칭 대상 식별 정확도</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사용자가 화면이나 과거 이력을 지칭할 때 의도한 대상 집합을 누락이나 추가 없이 정확하게 식별해야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[지칭 대상 집합 일치율 ≥ 93%]</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28개 중 지칭 판단 44건 × 5회 / 정답 대상 집합 전체 일치</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ReALM-3B 화면 지칭 93.0%의 집합 완전 일치 성능 참조</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H(9) / H(10)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2133600">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QA03</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Performance</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VIA 처리시간</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사용자 목표를 완료하는 과정에서 VIA가 담당하는 처리의 소요시간을 최소화해야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[평균 VIA 귀속 처리시간 ≤ 5초]</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28개 / 완료 목표 76개 × 5회 / 외부 대기를 제외한 완료 경로</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Microsoft Windows Long wait 상단 5초를 VIA 자체 처리 상한으로 적용</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H(8) / H(9)</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bl>
          </a:graphicData>
        </a:graphic>
      </p:graphicFrame>
      <p:sp>
        <p:nvSpPr>
          <p:cNvPr id="5" name="qa-summary-common">
            <a:extLst>
              <a:ext uri="{FF2B5EF4-FFF2-40B4-BE49-F238E27FC236}">
                <ns2:creationId id="{5A971DFC-D26D-4604-8169-775D952240A7}"/>
              </a:ext>
            </a:extLst>
          </p:cNvPr>
          <p:cNvSpPr>
            <a:spLocks noGrp="1"/>
          </p:cNvSpPr>
          <p:nvPr/>
        </p:nvSpPr>
        <p:spPr>
          <a:xfrm>
            <a:off x="523875" y="8905875"/>
            <a:ext cx="17287875" cy="41910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기본 시나리오 S01~S28 / 같은 입력과 외부 조건 / 각 5회 반복 / 세부 정의와 점수는 Appendix</a:t>
            </a:r>
            <a:endParaRPr lang="ko-KR">
              <a:latin typeface="Calibri"/>
              <a:ea typeface="Calibri"/>
              <a:cs typeface="Calibri"/>
            </a:endParaRPr>
          </a:p>
        </p:txBody>
      </p:sp>
      <p:sp>
        <p:nvSpPr>
          <p:cNvPr id="6" name="qa-summary-note">
            <a:extLst>
              <a:ext uri="{FF2B5EF4-FFF2-40B4-BE49-F238E27FC236}">
                <ns2:creationId id="{93A70F2D-26AF-4A5D-A763-322CF18E4C94}"/>
              </a:ext>
            </a:extLst>
          </p:cNvPr>
          <p:cNvSpPr>
            <a:spLocks noGrp="1"/>
          </p:cNvSpPr>
          <p:nvPr/>
        </p:nvSpPr>
        <p:spPr>
          <a:xfrm>
            <a:off x="523875" y="9420225"/>
            <a:ext cx="17287875" cy="428625"/>
          </a:xfrm>
          <a:prstGeom prst="rect">
            <a:avLst/>
          </a:prstGeom>
          <a:noFill/>
          <a:ln w="0">
            <a:noFill/>
          </a:ln>
        </p:spPr>
        <p:txBody>
          <a:bodyPr lIns="0" tIns="0" rIns="0" bIns="0" anchor="ctr">
            <a:noAutofit/>
          </a:bodyPr>
          <a:lstStyle>
            <a:defPPr>
              <a:defRPr sz="1800" b="0" lang="ko-KR">
                <a:solidFill>
                  <a:srgbClr val="000000"/>
                </a:solidFill>
                <a:latin typeface="Calibri"/>
                <a:ea typeface="Calibri"/>
                <a:cs typeface="Calibri"/>
              </a:defRPr>
            </a:defPPr>
          </a:lstStyle>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QA04는 공통 기능에서 파생한 변경 6건을 평가한다. QA07~QA09는 추가 후보이며 별도 상세 페이지에 정리한다.</a:t>
            </a:r>
            <a:endParaRPr lang="ko-KR">
              <a:latin typeface="Calibri"/>
              <a:ea typeface="Calibri"/>
              <a:cs typeface="Calibri"/>
            </a:endParaRPr>
          </a:p>
        </p:txBody>
      </p:sp>
      <p:sp>
        <p:nvSpPr>
          <p:cNvPr id="7" name="v6-header-title">
            <a:extLst>
              <a:ext uri="{FF2B5EF4-FFF2-40B4-BE49-F238E27FC236}">
                <ns2:creationId id="{46F50403-4712-469B-9C6B-BBDF7C91B868}"/>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품질 요구사항 01~03</a:t>
            </a:r>
            <a:endParaRPr lang="ko-KR">
              <a:latin typeface="Calibri"/>
              <a:ea typeface="Calibri"/>
              <a:cs typeface="Calibri"/>
            </a:endParaRPr>
          </a:p>
        </p:txBody>
      </p:sp>
      <p:sp>
        <p:nvSpPr>
          <p:cNvPr id="8" name="v6-header-rule">
            <a:extLst>
              <a:ext uri="{FF2B5EF4-FFF2-40B4-BE49-F238E27FC236}">
                <ns2:creationId id="{3A987CC6-5C08-44C3-963E-3D03C28E05A0}"/>
              </a:ext>
            </a:extLst>
          </p:cNvPr>
          <p:cNvSpPr>
            <a:spLocks noGrp="1"/>
          </p:cNvSpPr>
          <p:nvPr/>
        </p:nvSpPr>
        <p:spPr>
          <a:xfrm>
            <a:off x="495300" y="990600"/>
            <a:ext cx="17335500" cy="0"/>
          </a:xfrm>
          <a:prstGeom prst="line">
            <a:avLst/>
          </a:prstGeom>
          <a:noFill/>
          <a:ln w="19050">
            <a:solidFill>
              <a:srgbClr val="A6A6A6"/>
            </a:solidFill>
          </a:ln>
        </p:spPr>
      </p:sp>
      <p:sp>
        <p:nvSpPr>
          <p:cNvPr id="9" name="v6-header-stage-0">
            <a:extLst>
              <a:ext uri="{FF2B5EF4-FFF2-40B4-BE49-F238E27FC236}">
                <ns2:creationId id="{B57E4DE0-C56A-4446-AB95-1C4C7303DE83}"/>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0" name="v6-header-stage-1">
            <a:extLst>
              <a:ext uri="{FF2B5EF4-FFF2-40B4-BE49-F238E27FC236}">
                <ns2:creationId id="{AFBCB809-4EA2-42CB-9C41-24DD6E98762E}"/>
              </a:ext>
            </a:extLst>
          </p:cNvPr>
          <p:cNvSpPr>
            <a:spLocks noGrp="1"/>
          </p:cNvSpPr>
          <p:nvPr/>
        </p:nvSpPr>
        <p:spPr>
          <a:xfrm>
            <a:off x="122491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1" name="v6-header-stage-2">
            <a:extLst>
              <a:ext uri="{FF2B5EF4-FFF2-40B4-BE49-F238E27FC236}">
                <ns2:creationId id="{1495277E-C2D6-4005-9ECB-FC60A3E97C73}"/>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2" name="v6-header-stage-3">
            <a:extLst>
              <a:ext uri="{FF2B5EF4-FFF2-40B4-BE49-F238E27FC236}">
                <ns2:creationId id="{36D8FB4A-521D-4E49-B430-2BDB92AFC0E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3" name="v6-header-stage-4">
            <a:extLst>
              <a:ext uri="{FF2B5EF4-FFF2-40B4-BE49-F238E27FC236}">
                <ns2:creationId id="{DB364B8C-7C63-44A7-9C6D-372ACC844F68}"/>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4" name="v6-header-page">
            <a:extLst>
              <a:ext uri="{FF2B5EF4-FFF2-40B4-BE49-F238E27FC236}">
                <ns2:creationId id="{DB15CABC-A67E-49CD-8226-3CEAABD4B1C5}"/>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9 / 33</a:t>
            </a:r>
            <a:endParaRPr lang="ko-KR">
              <a:latin typeface="Calibri"/>
              <a:ea typeface="Calibri"/>
              <a:cs typeface="Calibri"/>
            </a:endParaRPr>
          </a:p>
        </p:txBody>
      </p:sp>
    </p:spTree>
    <p:extLst>
      <p:ext uri="{BB962C8B-B14F-4D97-AF65-F5344CB8AC3E}">
        <p14:creationId val="566981297"/>
      </p:ext>
    </p:extLst>
  </p:cSld>
</p:sld>
</file>

<file path=ppt/slides/slide39.xml><?xml version="1.0" encoding="utf-8"?>
<p:sld xmlns:a="http://schemas.openxmlformats.org/drawingml/2006/main" xmlns:ns2="http://schemas.microsoft.com/office/drawing/2014/main" xmlns:p="http://schemas.openxmlformats.org/presentationml/2006/main" xmlns:p14="http://schemas.microsoft.com/office/powerpoint/2010/main">
  <p:cSld name="quality-04-06-v2">
    <p:bg>
      <p:bgPr>
        <a:solidFill>
          <a:srgbClr val="FFFFFF"/>
        </a:solidFill>
      </p:bgPr>
    </p:bg>
    <p:spTree>
      <p:nvGrpSpPr>
        <p:cNvPr id="2" name=""/>
        <p:cNvGrpSpPr/>
        <p:nvPr/>
      </p:nvGrpSpPr>
      <p:grpSpPr>
        <a:xfrm/>
      </p:grpSpPr>
      <p:sp>
        <p:nvSpPr>
          <p:cNvPr id="3" name="qa-summary-subtitle">
            <a:extLst>
              <a:ext uri="{FF2B5EF4-FFF2-40B4-BE49-F238E27FC236}">
                <ns2:creationId id="{6912053A-5091-4602-9CC6-D83FFC79F6C9}"/>
              </a:ext>
            </a:extLst>
          </p:cNvPr>
          <p:cNvSpPr>
            <a:spLocks noGrp="1"/>
          </p:cNvSpPr>
          <p:nvPr/>
        </p:nvSpPr>
        <p:spPr>
          <a:xfrm>
            <a:off x="523875" y="1266825"/>
            <a:ext cx="17287875" cy="438150"/>
          </a:xfrm>
          <a:prstGeom prst="rect">
            <a:avLst/>
          </a:prstGeom>
          <a:noFill/>
          <a:ln w="0">
            <a:noFill/>
          </a:ln>
        </p:spPr>
        <p:txBody>
          <a:bodyPr lIns="0" tIns="0" rIns="0" bIns="0" anchor="ctr">
            <a:noAutofit/>
          </a:bodyPr>
          <a:lstStyle>
            <a:defPPr>
              <a:defRPr sz="2400" b="1" lang="ko-KR">
                <a:solidFill>
                  <a:srgbClr val="000000"/>
                </a:solidFill>
                <a:latin typeface="Calibri"/>
                <a:ea typeface="Calibri"/>
                <a:cs typeface="Calibri"/>
              </a:defRPr>
            </a:defPPr>
          </a:lstStyle>
          <a:p>
            <a:pP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공통 28개 시나리오로 같은 기능을 평가하고 QA별 대상 사건을 집계</a:t>
            </a:r>
            <a:endParaRPr lang="ko-KR">
              <a:latin typeface="Calibri"/>
              <a:ea typeface="Calibri"/>
              <a:cs typeface="Calibri"/>
            </a:endParaRPr>
          </a:p>
        </p:txBody>
      </p:sp>
      <p:graphicFrame>
        <p:nvGraphicFramePr>
          <p:cNvPr id="4" name="current-quality-summary">
            <a:extLst>
              <a:ext uri="{FF2B5EF4-FFF2-40B4-BE49-F238E27FC236}">
                <ns2:creationId id="{C4DEB27E-CA85-42AD-B0D1-DB6153E80472}"/>
              </a:ext>
            </a:extLst>
          </p:cNvPr>
          <p:cNvGraphicFramePr/>
          <p:nvPr/>
        </p:nvGraphicFramePr>
        <p:xfrm>
          <a:off x="457200" y="1905000"/>
          <a:ext cx="17373600" cy="6896100"/>
        </p:xfrm>
        <a:graphic>
          <a:graphicData uri="http://schemas.openxmlformats.org/drawingml/2006/table">
            <a:tbl>
              <a:tblPr/>
              <a:tblGrid>
                <a:gridCol w="1047750"/>
                <a:gridCol w="2047875"/>
                <a:gridCol w="2667000"/>
                <a:gridCol w="9848850"/>
                <a:gridCol w="1762125"/>
              </a:tblGrid>
              <a:tr h="495300">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ID</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분류</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Title</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Scenario</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중요도 / 난이도</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2133600">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QA04</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Maintainability</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변경 범위</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기능을 추가하거나 VIA가 주고받는 데이터 형식을 바꿀 때 수정해야 하는 Rust 모듈 수를 작게 유지해야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[변경 과제당 평균 변경 Rust 모듈 수 ≤ 3개]</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기능의 형식 변경 3건 + 기능 확장 3건 / 변경 모듈 수와 28개 기능 회귀</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ARGO PR 145건 평균 5.4개 × 60% = 3.24개 → 3개</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H(8) / H(8)</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2133600">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QA05</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Cost Efficiency</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모델 사용 비용</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동일한 사용자 활동을 처리하는 데 필요한 음성 / 의미 모델의 총사용 비용을 최소화해야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[공통 28개 묶음당 평균 총 모델 비용 ≤ $2.55]</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28개 전체 × 5회 / 초기 준비부터 후속 청구까지 총비용 평균</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같은 28개 활동의 gpt-realtime과 Luna 참조 견적 $2.54604 → $2.55</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M(7) / M(7)</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2133600">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QA06</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Resource Efficiency</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최대 RAM 사용량</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삼성 노트북의 다른 앱과 함께 실행될 수 있도록 사용 중 VIA의 실제 RAM 최고량을 제한해야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[VIA 전체 RAM 관측 최고량 ≤ 512 MB]</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28개 전체 × 5회 / Windows 11과 클라우드 모델 / 전체 VIA의 동시 RAM 최고량</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PC 플랫폼 및 기술기획 측 시스템 요구사항 512 MB / 과제에서 사용자 지정</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M(6) / M(6)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bl>
          </a:graphicData>
        </a:graphic>
      </p:graphicFrame>
      <p:sp>
        <p:nvSpPr>
          <p:cNvPr id="5" name="qa-summary-common">
            <a:extLst>
              <a:ext uri="{FF2B5EF4-FFF2-40B4-BE49-F238E27FC236}">
                <ns2:creationId id="{207822C1-D53F-48D2-A615-E34F28FCEAE3}"/>
              </a:ext>
            </a:extLst>
          </p:cNvPr>
          <p:cNvSpPr>
            <a:spLocks noGrp="1"/>
          </p:cNvSpPr>
          <p:nvPr/>
        </p:nvSpPr>
        <p:spPr>
          <a:xfrm>
            <a:off x="523875" y="8905875"/>
            <a:ext cx="17287875" cy="41910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기본 시나리오 S01~S28 / 같은 입력과 외부 조건 / 각 5회 반복 / 세부 정의와 점수는 Appendix</a:t>
            </a:r>
            <a:endParaRPr lang="ko-KR">
              <a:latin typeface="Calibri"/>
              <a:ea typeface="Calibri"/>
              <a:cs typeface="Calibri"/>
            </a:endParaRPr>
          </a:p>
        </p:txBody>
      </p:sp>
      <p:sp>
        <p:nvSpPr>
          <p:cNvPr id="6" name="qa-summary-note">
            <a:extLst>
              <a:ext uri="{FF2B5EF4-FFF2-40B4-BE49-F238E27FC236}">
                <ns2:creationId id="{C1D0E9E1-A4EC-40CD-8C04-B0BA107D9795}"/>
              </a:ext>
            </a:extLst>
          </p:cNvPr>
          <p:cNvSpPr>
            <a:spLocks noGrp="1"/>
          </p:cNvSpPr>
          <p:nvPr/>
        </p:nvSpPr>
        <p:spPr>
          <a:xfrm>
            <a:off x="523875" y="9420225"/>
            <a:ext cx="17287875" cy="428625"/>
          </a:xfrm>
          <a:prstGeom prst="rect">
            <a:avLst/>
          </a:prstGeom>
          <a:noFill/>
          <a:ln w="0">
            <a:noFill/>
          </a:ln>
        </p:spPr>
        <p:txBody>
          <a:bodyPr lIns="0" tIns="0" rIns="0" bIns="0" anchor="ctr">
            <a:noAutofit/>
          </a:bodyPr>
          <a:lstStyle>
            <a:defPPr>
              <a:defRPr sz="1800" b="0" lang="ko-KR">
                <a:solidFill>
                  <a:srgbClr val="000000"/>
                </a:solidFill>
                <a:latin typeface="Calibri"/>
                <a:ea typeface="Calibri"/>
                <a:cs typeface="Calibri"/>
              </a:defRPr>
            </a:defPPr>
          </a:lstStyle>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QA04는 공통 기능에서 파생한 변경 6건을 평가한다. QA07~QA09는 추가 후보이며 별도 상세 페이지에 정리한다.</a:t>
            </a:r>
            <a:endParaRPr lang="ko-KR">
              <a:latin typeface="Calibri"/>
              <a:ea typeface="Calibri"/>
              <a:cs typeface="Calibri"/>
            </a:endParaRPr>
          </a:p>
        </p:txBody>
      </p:sp>
      <p:sp>
        <p:nvSpPr>
          <p:cNvPr id="7" name="v6-header-title">
            <a:extLst>
              <a:ext uri="{FF2B5EF4-FFF2-40B4-BE49-F238E27FC236}">
                <ns2:creationId id="{46F50403-4712-469B-9C6B-BBDF7C91B868}"/>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품질 요구사항 04~06</a:t>
            </a:r>
            <a:endParaRPr lang="ko-KR">
              <a:latin typeface="Calibri"/>
              <a:ea typeface="Calibri"/>
              <a:cs typeface="Calibri"/>
            </a:endParaRPr>
          </a:p>
        </p:txBody>
      </p:sp>
      <p:sp>
        <p:nvSpPr>
          <p:cNvPr id="8" name="v6-header-rule">
            <a:extLst>
              <a:ext uri="{FF2B5EF4-FFF2-40B4-BE49-F238E27FC236}">
                <ns2:creationId id="{3A987CC6-5C08-44C3-963E-3D03C28E05A0}"/>
              </a:ext>
            </a:extLst>
          </p:cNvPr>
          <p:cNvSpPr>
            <a:spLocks noGrp="1"/>
          </p:cNvSpPr>
          <p:nvPr/>
        </p:nvSpPr>
        <p:spPr>
          <a:xfrm>
            <a:off x="495300" y="990600"/>
            <a:ext cx="17335500" cy="0"/>
          </a:xfrm>
          <a:prstGeom prst="line">
            <a:avLst/>
          </a:prstGeom>
          <a:noFill/>
          <a:ln w="19050">
            <a:solidFill>
              <a:srgbClr val="A6A6A6"/>
            </a:solidFill>
          </a:ln>
        </p:spPr>
      </p:sp>
      <p:sp>
        <p:nvSpPr>
          <p:cNvPr id="9" name="v6-header-stage-0">
            <a:extLst>
              <a:ext uri="{FF2B5EF4-FFF2-40B4-BE49-F238E27FC236}">
                <ns2:creationId id="{B57E4DE0-C56A-4446-AB95-1C4C7303DE83}"/>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0" name="v6-header-stage-1">
            <a:extLst>
              <a:ext uri="{FF2B5EF4-FFF2-40B4-BE49-F238E27FC236}">
                <ns2:creationId id="{AFBCB809-4EA2-42CB-9C41-24DD6E98762E}"/>
              </a:ext>
            </a:extLst>
          </p:cNvPr>
          <p:cNvSpPr>
            <a:spLocks noGrp="1"/>
          </p:cNvSpPr>
          <p:nvPr/>
        </p:nvSpPr>
        <p:spPr>
          <a:xfrm>
            <a:off x="122491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1" name="v6-header-stage-2">
            <a:extLst>
              <a:ext uri="{FF2B5EF4-FFF2-40B4-BE49-F238E27FC236}">
                <ns2:creationId id="{1495277E-C2D6-4005-9ECB-FC60A3E97C73}"/>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2" name="v6-header-stage-3">
            <a:extLst>
              <a:ext uri="{FF2B5EF4-FFF2-40B4-BE49-F238E27FC236}">
                <ns2:creationId id="{36D8FB4A-521D-4E49-B430-2BDB92AFC0E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3" name="v6-header-stage-4">
            <a:extLst>
              <a:ext uri="{FF2B5EF4-FFF2-40B4-BE49-F238E27FC236}">
                <ns2:creationId id="{DB364B8C-7C63-44A7-9C6D-372ACC844F68}"/>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4" name="v6-header-page">
            <a:extLst>
              <a:ext uri="{FF2B5EF4-FFF2-40B4-BE49-F238E27FC236}">
                <ns2:creationId id="{DB15CABC-A67E-49CD-8226-3CEAABD4B1C5}"/>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10 / 33</a:t>
            </a:r>
            <a:endParaRPr lang="ko-KR">
              <a:latin typeface="Calibri"/>
              <a:ea typeface="Calibri"/>
              <a:cs typeface="Calibri"/>
            </a:endParaRPr>
          </a:p>
        </p:txBody>
      </p:sp>
    </p:spTree>
    <p:extLst>
      <p:ext uri="{BB962C8B-B14F-4D97-AF65-F5344CB8AC3E}">
        <p14:creationId val="1486922730"/>
      </p:ext>
    </p:extLst>
  </p:cSld>
</p:sld>
</file>

<file path=ppt/slides/slide40.xml><?xml version="1.0" encoding="utf-8"?>
<p:sld xmlns:a="http://schemas.openxmlformats.org/drawingml/2006/main" xmlns:ns2="http://schemas.microsoft.com/office/drawing/2014/main" xmlns:p="http://schemas.openxmlformats.org/presentationml/2006/main" xmlns:p14="http://schemas.microsoft.com/office/powerpoint/2010/main">
  <p:cSld name="overview-v2">
    <p:bg>
      <p:bgPr>
        <a:solidFill>
          <a:srgbClr val="FFFFFF"/>
        </a:solidFill>
      </p:bgPr>
    </p:bg>
    <p:spTree>
      <p:nvGrpSpPr>
        <p:cNvPr id="1" name=""/>
        <p:cNvGrpSpPr/>
        <p:nvPr/>
      </p:nvGrpSpPr>
      <p:grpSpPr>
        <a:xfrm/>
      </p:grpSpPr>
      <p:sp>
        <p:nvSpPr>
          <p:cNvPr id="14" name="overview-left-heading">
            <a:extLst>
              <a:ext uri="{FF2B5EF4-FFF2-40B4-BE49-F238E27FC236}">
                <ns2:creationId id="{B1FA0C3E-E018-4953-854E-03F4CFA7E889}"/>
              </a:ext>
            </a:extLst>
          </p:cNvPr>
          <p:cNvSpPr>
            <a:spLocks noGrp="1"/>
          </p:cNvSpPr>
          <p:nvPr/>
        </p:nvSpPr>
        <p:spPr>
          <a:xfrm>
            <a:off x="495300" y="1571625"/>
            <a:ext cx="7429500" cy="457200"/>
          </a:xfrm>
          <a:prstGeom prst="rect">
            <a:avLst/>
          </a:prstGeom>
          <a:noFill/>
          <a:ln w="0">
            <a:noFill/>
            <a:prstDash val="solid"/>
          </a:ln>
        </p:spPr>
        <p:txBody>
          <a:bodyPr wrap="none" lIns="0" tIns="0" rIns="0" bIns="0" anchor="ctr">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품질 목표와 주요 설계 질문</a:t>
            </a:r>
            <a:endParaRPr lang="ko-KR">
              <a:solidFill>
                <a:srgbClr val="000000"/>
              </a:solidFill>
              <a:latin typeface="Calibri"/>
              <a:ea typeface="Calibri"/>
              <a:cs typeface="Calibri"/>
            </a:endParaRPr>
          </a:p>
        </p:txBody>
      </p:sp>
      <ns0:sp xmlns:ns0="http://schemas.openxmlformats.org/presentationml/2006/main" xmlns:ns1="http://schemas.openxmlformats.org/drawingml/2006/main" xmlns:ns2="http://schemas.microsoft.com/office/drawing/2014/main">
        <ns0:nvSpPr>
          <ns0:cNvPr id="15" name="overview-quality-contract">
            <ns1:extLst>
              <ns1:ext uri="{FF2B5EF4-FFF2-40B4-BE49-F238E27FC236}">
                <ns2:creationId id="{6F52088C-2D65-4F63-8B41-AC849B3D4C0C}"/>
              </ns1:ext>
            </ns1:extLst>
          </ns0:cNvPr>
          <ns0:cNvSpPr>
            <ns1:spLocks noGrp="1"/>
          </ns0:cNvSpPr>
          <ns0:nvPr/>
        </ns0:nvSpPr>
        <ns0:spPr>
          <ns1:xfrm>
            <ns1:off x="495300" y="2057400"/>
            <ns1:ext cx="7429500" cy="285750"/>
          </ns1:xfrm>
          <ns1:prstGeom prst="rect">
            <ns1:avLst/>
          </ns1:prstGeom>
          <ns1:noFill/>
          <ns1:ln w="0">
            <ns1:noFill/>
            <ns1:prstDash val="solid"/>
          </ns1:ln>
        </ns0:spPr>
        <ns0:txBody>
          <ns1:bodyPr wrap="none" lIns="0" tIns="0" rIns="0" bIns="0" anchor="ctr">
            <ns1:noAutofit/>
          </ns1:bodyPr>
          <ns1:lstStyle/>
          <ns1:p>
            <ns1:pPr algn="l">
              <ns1:defRPr sz="1700" b="0"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COMMON-28-v1 / QA01~06</ns1:t>
            </ns1:r>
            <ns1:endParaRPr lang="ko-KR">
              <ns1:solidFill>
                <ns1:srgbClr val="000000"/>
              </ns1:solidFill>
              <ns1:latin typeface="Calibri"/>
              <ns1:ea typeface="Calibri"/>
              <ns1:cs typeface="Calibri"/>
            </ns1:endParaRPr>
          </ns1:p>
        </ns0:txBody>
      </ns0:sp>
      <ns0:sp xmlns:ns0="http://schemas.openxmlformats.org/presentationml/2006/main" xmlns:ns1="http://schemas.openxmlformats.org/drawingml/2006/main" xmlns:ns2="http://schemas.microsoft.com/office/drawing/2014/main">
        <ns0:nvSpPr>
          <ns0:cNvPr id="18" name="overview-goal-ASR-QA-01">
            <ns1:extLst>
              <ns1:ext uri="{FF2B5EF4-FFF2-40B4-BE49-F238E27FC236}">
                <ns2:creationId id="{C40B0269-1EE0-45CA-9A6A-AADAF6EF1E0F}"/>
              </ns1:ext>
            </ns1:extLst>
          </ns0:cNvPr>
          <ns0:cNvSpPr>
            <ns1:spLocks noGrp="1"/>
          </ns0:cNvSpPr>
          <ns0:nvPr/>
        </ns0:nvSpPr>
        <ns0:spPr>
          <ns1:xfrm>
            <ns1:off x="495300" y="2409825"/>
            <ns1:ext cx="2743200" cy="771525"/>
          </ns1:xfrm>
          <ns1:prstGeom prst="rect">
            <ns1:avLst/>
          </ns1:prstGeom>
          <ns1:solidFill>
            <ns1:srgbClr val="EEEEEE"/>
          </ns1:solidFill>
          <ns1:ln w="19050">
            <ns1:solidFill>
              <ns1:srgbClr val="45699B"/>
            </ns1:solidFill>
            <ns1:prstDash val="solid"/>
          </ns1:ln>
        </ns0:spPr>
        <ns0:txBody>
          <ns1:bodyPr wrap="none" lIns="57150" tIns="47625" rIns="57150" bIns="76200" anchor="t">
            <ns1:noAutofit/>
          </ns1:bodyPr>
          <ns1:lstStyle/>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01 첫 응답 지연시간</ns1:t>
            </ns1:r>
            <ns1:endParaRPr lang="ko-KR">
              <ns1:solidFill>
                <ns1:srgbClr val="000000"/>
              </ns1:solidFill>
              <ns1:latin typeface="Calibri"/>
              <ns1:ea typeface="Calibri"/>
              <ns1:cs typeface="Calibri"/>
            </ns1:endParaRPr>
          </ns1:p>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평균 1초 이하</ns1:t>
            </ns1:r>
            <ns1:endParaRPr lang="ko-KR">
              <ns1:solidFill>
                <ns1:srgbClr val="000000"/>
              </ns1:solidFill>
              <ns1:latin typeface="Calibri"/>
              <ns1:ea typeface="Calibri"/>
              <ns1:cs typeface="Calibri"/>
            </ns1:endParaRPr>
          </ns1:p>
        </ns0:txBody>
      </ns0:sp>
      <ns0:sp xmlns:ns0="http://schemas.openxmlformats.org/presentationml/2006/main" xmlns:ns1="http://schemas.openxmlformats.org/drawingml/2006/main" xmlns:ns2="http://schemas.microsoft.com/office/drawing/2014/main">
        <ns0:nvSpPr>
          <ns0:cNvPr id="22" name="overview-goal-ASR-QA-02">
            <ns1:extLst>
              <ns1:ext uri="{FF2B5EF4-FFF2-40B4-BE49-F238E27FC236}">
                <ns2:creationId id="{47DE8FFE-70BC-4BE8-A3BD-98E8EC716A87}"/>
              </ns1:ext>
            </ns1:extLst>
          </ns0:cNvPr>
          <ns0:cNvSpPr>
            <ns1:spLocks noGrp="1"/>
          </ns0:cNvSpPr>
          <ns0:nvPr/>
        </ns0:nvSpPr>
        <ns0:spPr>
          <ns1:xfrm>
            <ns1:off x="495300" y="3333750"/>
            <ns1:ext cx="2743200" cy="771525"/>
          </ns1:xfrm>
          <ns1:prstGeom prst="rect">
            <ns1:avLst/>
          </ns1:prstGeom>
          <ns1:solidFill>
            <ns1:srgbClr val="EEEEEE"/>
          </ns1:solidFill>
          <ns1:ln w="19050">
            <ns1:solidFill>
              <ns1:srgbClr val="45699B"/>
            </ns1:solidFill>
            <ns1:prstDash val="solid"/>
          </ns1:ln>
        </ns0:spPr>
        <ns0:txBody>
          <ns1:bodyPr wrap="none" lIns="57150" tIns="47625" rIns="57150" bIns="76200" anchor="t">
            <ns1:noAutofit/>
          </ns1:bodyPr>
          <ns1:lstStyle/>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02 지칭 대상 식별 정확도</ns1:t>
            </ns1:r>
            <ns1:endParaRPr lang="ko-KR">
              <ns1:solidFill>
                <ns1:srgbClr val="000000"/>
              </ns1:solidFill>
              <ns1:latin typeface="Calibri"/>
              <ns1:ea typeface="Calibri"/>
              <ns1:cs typeface="Calibri"/>
            </ns1:endParaRPr>
          </ns1:p>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집합 일치율 93% 이상</ns1:t>
            </ns1:r>
            <ns1:endParaRPr lang="ko-KR">
              <ns1:solidFill>
                <ns1:srgbClr val="000000"/>
              </ns1:solidFill>
              <ns1:latin typeface="Calibri"/>
              <ns1:ea typeface="Calibri"/>
              <ns1:cs typeface="Calibri"/>
            </ns1:endParaRPr>
          </ns1:p>
        </ns0:txBody>
      </ns0:sp>
      <ns0:sp xmlns:ns0="http://schemas.openxmlformats.org/presentationml/2006/main" xmlns:ns1="http://schemas.openxmlformats.org/drawingml/2006/main" xmlns:ns2="http://schemas.microsoft.com/office/drawing/2014/main">
        <ns0:nvSpPr>
          <ns0:cNvPr id="26" name="overview-goal-ASR-QA-03">
            <ns1:extLst>
              <ns1:ext uri="{FF2B5EF4-FFF2-40B4-BE49-F238E27FC236}">
                <ns2:creationId id="{94039416-4C98-455A-81FF-820108EF8A6C}"/>
              </ns1:ext>
            </ns1:extLst>
          </ns0:cNvPr>
          <ns0:cNvSpPr>
            <ns1:spLocks noGrp="1"/>
          </ns0:cNvSpPr>
          <ns0:nvPr/>
        </ns0:nvSpPr>
        <ns0:spPr>
          <ns1:xfrm>
            <ns1:off x="495300" y="4257675"/>
            <ns1:ext cx="2743200" cy="771525"/>
          </ns1:xfrm>
          <ns1:prstGeom prst="rect">
            <ns1:avLst/>
          </ns1:prstGeom>
          <ns1:solidFill>
            <ns1:srgbClr val="EEEEEE"/>
          </ns1:solidFill>
          <ns1:ln w="19050">
            <ns1:solidFill>
              <ns1:srgbClr val="45699B"/>
            </ns1:solidFill>
            <ns1:prstDash val="solid"/>
          </ns1:ln>
        </ns0:spPr>
        <ns0:txBody>
          <ns1:bodyPr wrap="none" lIns="57150" tIns="47625" rIns="57150" bIns="76200" anchor="t">
            <ns1:noAutofit/>
          </ns1:bodyPr>
          <ns1:lstStyle/>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03 VIA 처리시간</ns1:t>
            </ns1:r>
            <ns1:endParaRPr lang="ko-KR">
              <ns1:solidFill>
                <ns1:srgbClr val="000000"/>
              </ns1:solidFill>
              <ns1:latin typeface="Calibri"/>
              <ns1:ea typeface="Calibri"/>
              <ns1:cs typeface="Calibri"/>
            </ns1:endParaRPr>
          </ns1:p>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평균 5초 이하</ns1:t>
            </ns1:r>
            <ns1:endParaRPr lang="ko-KR">
              <ns1:solidFill>
                <ns1:srgbClr val="000000"/>
              </ns1:solidFill>
              <ns1:latin typeface="Calibri"/>
              <ns1:ea typeface="Calibri"/>
              <ns1:cs typeface="Calibri"/>
            </ns1:endParaRPr>
          </ns1:p>
        </ns0:txBody>
      </ns0:sp>
      <ns0:sp xmlns:ns0="http://schemas.openxmlformats.org/presentationml/2006/main" xmlns:ns1="http://schemas.openxmlformats.org/drawingml/2006/main" xmlns:ns2="http://schemas.microsoft.com/office/drawing/2014/main">
        <ns0:nvSpPr>
          <ns0:cNvPr id="31" name="overview-goal-ASR-QA-04">
            <ns1:extLst>
              <ns1:ext uri="{FF2B5EF4-FFF2-40B4-BE49-F238E27FC236}">
                <ns2:creationId id="{A5442B45-AF8D-431B-BA53-B1FFF3A95BC4}"/>
              </ns1:ext>
            </ns1:extLst>
          </ns0:cNvPr>
          <ns0:cNvSpPr>
            <ns1:spLocks noGrp="1"/>
          </ns0:cNvSpPr>
          <ns0:nvPr/>
        </ns0:nvSpPr>
        <ns0:spPr>
          <ns1:xfrm>
            <ns1:off x="495300" y="5181600"/>
            <ns1:ext cx="2743200" cy="771525"/>
          </ns1:xfrm>
          <ns1:prstGeom prst="rect">
            <ns1:avLst/>
          </ns1:prstGeom>
          <ns1:solidFill>
            <ns1:srgbClr val="EEEEEE"/>
          </ns1:solidFill>
          <ns1:ln w="19050">
            <ns1:solidFill>
              <ns1:srgbClr val="45699B"/>
            </ns1:solidFill>
            <ns1:prstDash val="solid"/>
          </ns1:ln>
        </ns0:spPr>
        <ns0:txBody>
          <ns1:bodyPr wrap="none" lIns="57150" tIns="47625" rIns="57150" bIns="76200" anchor="t">
            <ns1:noAutofit/>
          </ns1:bodyPr>
          <ns1:lstStyle/>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04 변경 범위</ns1:t>
            </ns1:r>
            <ns1:endParaRPr lang="ko-KR">
              <ns1:solidFill>
                <ns1:srgbClr val="000000"/>
              </ns1:solidFill>
              <ns1:latin typeface="Calibri"/>
              <ns1:ea typeface="Calibri"/>
              <ns1:cs typeface="Calibri"/>
            </ns1:endParaRPr>
          </ns1:p>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평균 Rust 모듈 3개 이하</ns1:t>
            </ns1:r>
            <ns1:endParaRPr lang="ko-KR">
              <ns1:solidFill>
                <ns1:srgbClr val="000000"/>
              </ns1:solidFill>
              <ns1:latin typeface="Calibri"/>
              <ns1:ea typeface="Calibri"/>
              <ns1:cs typeface="Calibri"/>
            </ns1:endParaRPr>
          </ns1:p>
        </ns0:txBody>
      </ns0:sp>
      <ns0:sp xmlns:ns0="http://schemas.openxmlformats.org/presentationml/2006/main" xmlns:ns1="http://schemas.openxmlformats.org/drawingml/2006/main" xmlns:ns2="http://schemas.microsoft.com/office/drawing/2014/main">
        <ns0:nvSpPr>
          <ns0:cNvPr id="35" name="overview-goal-ASR-QA-05">
            <ns1:extLst>
              <ns1:ext uri="{FF2B5EF4-FFF2-40B4-BE49-F238E27FC236}">
                <ns2:creationId id="{0A55BD03-61FF-4CB6-9B47-5BA39B81C553}"/>
              </ns1:ext>
            </ns1:extLst>
          </ns0:cNvPr>
          <ns0:cNvSpPr>
            <ns1:spLocks noGrp="1"/>
          </ns0:cNvSpPr>
          <ns0:nvPr/>
        </ns0:nvSpPr>
        <ns0:spPr>
          <ns1:xfrm>
            <ns1:off x="495300" y="6105525"/>
            <ns1:ext cx="2743200" cy="771525"/>
          </ns1:xfrm>
          <ns1:prstGeom prst="rect">
            <ns1:avLst/>
          </ns1:prstGeom>
          <ns1:solidFill>
            <ns1:srgbClr val="EEEEEE"/>
          </ns1:solidFill>
          <ns1:ln w="19050">
            <ns1:solidFill>
              <ns1:srgbClr val="45699B"/>
            </ns1:solidFill>
            <ns1:prstDash val="solid"/>
          </ns1:ln>
        </ns0:spPr>
        <ns0:txBody>
          <ns1:bodyPr wrap="none" lIns="57150" tIns="47625" rIns="57150" bIns="76200" anchor="t">
            <ns1:noAutofit/>
          </ns1:bodyPr>
          <ns1:lstStyle/>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05 모델 사용 비용</ns1:t>
            </ns1:r>
            <ns1:endParaRPr lang="ko-KR">
              <ns1:solidFill>
                <ns1:srgbClr val="000000"/>
              </ns1:solidFill>
              <ns1:latin typeface="Calibri"/>
              <ns1:ea typeface="Calibri"/>
              <ns1:cs typeface="Calibri"/>
            </ns1:endParaRPr>
          </ns1:p>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$2.55 / 공통 28개 묶음</ns1:t>
            </ns1:r>
            <ns1:endParaRPr lang="ko-KR">
              <ns1:solidFill>
                <ns1:srgbClr val="000000"/>
              </ns1:solidFill>
              <ns1:latin typeface="Calibri"/>
              <ns1:ea typeface="Calibri"/>
              <ns1:cs typeface="Calibri"/>
            </ns1:endParaRPr>
          </ns1:p>
        </ns0:txBody>
      </ns0:sp>
      <ns0:sp xmlns:ns0="http://schemas.openxmlformats.org/presentationml/2006/main" xmlns:ns1="http://schemas.openxmlformats.org/drawingml/2006/main" xmlns:ns2="http://schemas.microsoft.com/office/drawing/2014/main">
        <ns0:nvSpPr>
          <ns0:cNvPr id="39" name="overview-goal-ASR-QA-06">
            <ns1:extLst>
              <ns1:ext uri="{FF2B5EF4-FFF2-40B4-BE49-F238E27FC236}">
                <ns2:creationId id="{FB062707-8159-4FC1-B8B7-81A8266AC0ED}"/>
              </ns1:ext>
            </ns1:extLst>
          </ns0:cNvPr>
          <ns0:cNvSpPr>
            <ns1:spLocks noGrp="1"/>
          </ns0:cNvSpPr>
          <ns0:nvPr/>
        </ns0:nvSpPr>
        <ns0:spPr>
          <ns1:xfrm>
            <ns1:off x="495300" y="7029450"/>
            <ns1:ext cx="2743200" cy="771525"/>
          </ns1:xfrm>
          <ns1:prstGeom prst="rect">
            <ns1:avLst/>
          </ns1:prstGeom>
          <ns1:solidFill>
            <ns1:srgbClr val="EEEEEE"/>
          </ns1:solidFill>
          <ns1:ln w="19050">
            <ns1:solidFill>
              <ns1:srgbClr val="45699B"/>
            </ns1:solidFill>
            <ns1:prstDash val="solid"/>
          </ns1:ln>
        </ns0:spPr>
        <ns0:txBody>
          <ns1:bodyPr wrap="none" lIns="57150" tIns="47625" rIns="57150" bIns="76200" anchor="t">
            <ns1:noAutofit/>
          </ns1:bodyPr>
          <ns1:lstStyle/>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06 최대 RAM 사용량</ns1:t>
            </ns1:r>
            <ns1:endParaRPr lang="ko-KR">
              <ns1:solidFill>
                <ns1:srgbClr val="000000"/>
              </ns1:solidFill>
              <ns1:latin typeface="Calibri"/>
              <ns1:ea typeface="Calibri"/>
              <ns1:cs typeface="Calibri"/>
            </ns1:endParaRPr>
          </ns1:p>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512 MB 이하</ns1:t>
            </ns1:r>
            <ns1:endParaRPr lang="ko-KR">
              <ns1:solidFill>
                <ns1:srgbClr val="000000"/>
              </ns1:solidFill>
              <ns1:latin typeface="Calibri"/>
              <ns1:ea typeface="Calibri"/>
              <ns1:cs typeface="Calibri"/>
            </ns1:endParaRPr>
          </ns1:p>
        </ns0:txBody>
      </ns0:sp>
      <p:sp>
        <p:nvSpPr>
          <p:cNvPr id="42" name="overview-swatch-41">
            <a:extLst>
              <a:ext uri="{FF2B5EF4-FFF2-40B4-BE49-F238E27FC236}">
                <ns2:creationId id="{4FE98749-1B01-4D16-8D0F-AC39908EE617}"/>
              </a:ext>
            </a:extLst>
          </p:cNvPr>
          <p:cNvSpPr>
            <a:spLocks noGrp="1"/>
          </p:cNvSpPr>
          <p:nvPr/>
        </p:nvSpPr>
        <p:spPr>
          <a:xfrm>
            <a:off x="3276600" y="2486025"/>
            <a:ext cx="228600" cy="400050"/>
          </a:xfrm>
          <a:prstGeom prst="rect">
            <a:avLst/>
          </a:prstGeom>
          <a:solidFill>
            <a:srgbClr val="FFF6DE"/>
          </a:solidFill>
          <a:ln w="0">
            <a:solidFill>
              <a:srgbClr val="E5A700"/>
            </a:solidFill>
            <a:prstDash val="solid"/>
          </a:ln>
        </p:spPr>
      </p:sp>
      <p:sp xmlns:a="http://schemas.openxmlformats.org/drawingml/2006/main" xmlns:ns2="http://schemas.microsoft.com/office/drawing/2014/main" xmlns:p="http://schemas.openxmlformats.org/presentationml/2006/main">
        <p:nvSpPr>
          <p:cNvPr id="43" name="overview-decision-title-41">
            <a:extLst>
              <a:ext uri="{FF2B5EF4-FFF2-40B4-BE49-F238E27FC236}">
                <ns2:creationId id="{8793EE45-9E91-4D78-917A-FE44C52A39E5}"/>
              </a:ext>
            </a:extLst>
          </p:cNvPr>
          <p:cNvSpPr>
            <a:spLocks noGrp="1"/>
          </p:cNvSpPr>
          <p:nvPr/>
        </p:nvSpPr>
        <p:spPr>
          <a:xfrm>
            <a:off x="3714750" y="2381250"/>
            <a:ext cx="4438650" cy="476250"/>
          </a:xfrm>
          <a:prstGeom prst="rect">
            <a:avLst/>
          </a:prstGeom>
          <a:noFill/>
          <a:ln w="0">
            <a:noFill/>
            <a:prstDash val="solid"/>
          </a:ln>
        </p:spPr>
        <p:txBody>
          <a:bodyPr wrap="none" lIns="0" tIns="0" rIns="0" bIns="0" anchor="ctr">
            <a:noAutofit/>
          </a:bodyPr>
          <a:lstStyle/>
          <a:p>
            <a:pPr algn="l">
              <a:buNone/>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화면·음성 지칭 (문제 탐색)</a:t>
            </a:r>
            <a:endParaRPr lang="ko-KR">
              <a:solidFill>
                <a:srgbClr val="000000"/>
              </a:solidFill>
              <a:latin typeface="Calibri"/>
              <a:ea typeface="Calibri"/>
              <a:cs typeface="Calibri"/>
            </a:endParaRPr>
          </a:p>
        </p:txBody>
      </p:sp>
      <p:sp xmlns:a="http://schemas.openxmlformats.org/drawingml/2006/main" xmlns:ns2="http://schemas.microsoft.com/office/drawing/2014/main" xmlns:p="http://schemas.openxmlformats.org/presentationml/2006/main">
        <p:nvSpPr>
          <p:cNvPr id="44" name="overview-decision-detail-41">
            <a:extLst>
              <a:ext uri="{FF2B5EF4-FFF2-40B4-BE49-F238E27FC236}">
                <ns2:creationId id="{8F0BF26E-F29A-4D5A-B4E2-1D6FF876EE05}"/>
              </a:ext>
            </a:extLst>
          </p:cNvPr>
          <p:cNvSpPr>
            <a:spLocks noGrp="1"/>
          </p:cNvSpPr>
          <p:nvPr/>
        </p:nvSpPr>
        <p:spPr>
          <a:xfrm>
            <a:off x="3714750" y="2876550"/>
            <a:ext cx="4429125" cy="371475"/>
          </a:xfrm>
          <a:prstGeom prst="rect">
            <a:avLst/>
          </a:prstGeom>
          <a:noFill/>
          <a:ln w="0">
            <a:noFill/>
            <a:prstDash val="solid"/>
          </a:ln>
        </p:spPr>
        <p:txBody>
          <a:bodyPr wrap="none" lIns="0" tIns="0" rIns="0" bIns="0" anchor="ctr">
            <a:noAutofit/>
          </a:bodyPr>
          <a:lstStyle/>
          <a:p>
            <a:pPr algn="l">
              <a:buNone/>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말과 손동작을 당시 화면에 연결</a:t>
            </a:r>
            <a:endParaRPr lang="ko-KR">
              <a:solidFill>
                <a:srgbClr val="000000"/>
              </a:solidFill>
              <a:latin typeface="Calibri"/>
              <a:ea typeface="Calibri"/>
              <a:cs typeface="Calibri"/>
            </a:endParaRPr>
          </a:p>
        </p:txBody>
      </p:sp>
      <p:sp>
        <p:nvSpPr>
          <p:cNvPr id="45" name="overview-swatch-44">
            <a:extLst>
              <a:ext uri="{FF2B5EF4-FFF2-40B4-BE49-F238E27FC236}">
                <ns2:creationId id="{396106B6-E4BB-48FB-A36B-16A5D0EDE0EA}"/>
              </a:ext>
            </a:extLst>
          </p:cNvPr>
          <p:cNvSpPr>
            <a:spLocks noGrp="1"/>
          </p:cNvSpPr>
          <p:nvPr/>
        </p:nvSpPr>
        <p:spPr>
          <a:xfrm>
            <a:off x="3276600" y="4105275"/>
            <a:ext cx="228600" cy="400050"/>
          </a:xfrm>
          <a:prstGeom prst="rect">
            <a:avLst/>
          </a:prstGeom>
          <a:solidFill>
            <a:srgbClr val="C6E0B4"/>
          </a:solidFill>
          <a:ln w="0">
            <a:solidFill>
              <a:srgbClr val="00A65A"/>
            </a:solidFill>
            <a:prstDash val="solid"/>
          </a:ln>
        </p:spPr>
      </p:sp>
      <p:sp>
        <p:nvSpPr>
          <p:cNvPr id="46" name="overview-decision-title-44">
            <a:extLst>
              <a:ext uri="{FF2B5EF4-FFF2-40B4-BE49-F238E27FC236}">
                <ns2:creationId id="{D8ADDD93-DD7E-4DE8-A135-B1840395FD00}"/>
              </a:ext>
            </a:extLst>
          </p:cNvPr>
          <p:cNvSpPr>
            <a:spLocks noGrp="1"/>
          </p:cNvSpPr>
          <p:nvPr/>
        </p:nvSpPr>
        <p:spPr>
          <a:xfrm>
            <a:off x="3714750" y="4000500"/>
            <a:ext cx="4438650" cy="476250"/>
          </a:xfrm>
          <a:prstGeom prst="rect">
            <a:avLst/>
          </a:prstGeom>
          <a:noFill/>
          <a:ln w="0">
            <a:noFill/>
            <a:prstDash val="solid"/>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04-44. 지속 대화 실행</a:t>
            </a:r>
            <a:endParaRPr lang="ko-KR">
              <a:solidFill>
                <a:srgbClr val="000000"/>
              </a:solidFill>
              <a:latin typeface="Calibri"/>
              <a:ea typeface="Calibri"/>
              <a:cs typeface="Calibri"/>
            </a:endParaRPr>
          </a:p>
        </p:txBody>
      </p:sp>
      <p:sp>
        <p:nvSpPr>
          <p:cNvPr id="47" name="overview-decision-detail-44">
            <a:extLst>
              <a:ext uri="{FF2B5EF4-FFF2-40B4-BE49-F238E27FC236}">
                <ns2:creationId id="{A4BF74CB-1700-46F4-BD48-A33A11BFC304}"/>
              </a:ext>
            </a:extLst>
          </p:cNvPr>
          <p:cNvSpPr>
            <a:spLocks noGrp="1"/>
          </p:cNvSpPr>
          <p:nvPr/>
        </p:nvSpPr>
        <p:spPr>
          <a:xfrm>
            <a:off x="3714750" y="4495800"/>
            <a:ext cx="4429125" cy="371475"/>
          </a:xfrm>
          <a:prstGeom prst="rect">
            <a:avLst/>
          </a:prstGeom>
          <a:noFill/>
          <a:ln w="0">
            <a:noFill/>
            <a:prstDash val="solid"/>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입력과 질문 및 결과의 후속 실행</a:t>
            </a:r>
            <a:endParaRPr lang="ko-KR">
              <a:solidFill>
                <a:srgbClr val="000000"/>
              </a:solidFill>
              <a:latin typeface="Calibri"/>
              <a:ea typeface="Calibri"/>
              <a:cs typeface="Calibri"/>
            </a:endParaRPr>
          </a:p>
        </p:txBody>
      </p:sp>
      <p:sp>
        <p:nvSpPr>
          <p:cNvPr id="48" name="overview-swatch-45">
            <a:extLst>
              <a:ext uri="{FF2B5EF4-FFF2-40B4-BE49-F238E27FC236}">
                <ns2:creationId id="{7631732F-1137-4649-9478-389F0E363914}"/>
              </a:ext>
            </a:extLst>
          </p:cNvPr>
          <p:cNvSpPr>
            <a:spLocks noGrp="1"/>
          </p:cNvSpPr>
          <p:nvPr/>
        </p:nvSpPr>
        <p:spPr>
          <a:xfrm>
            <a:off x="3276600" y="5724525"/>
            <a:ext cx="228600" cy="400050"/>
          </a:xfrm>
          <a:prstGeom prst="rect">
            <a:avLst/>
          </a:prstGeom>
          <a:solidFill>
            <a:srgbClr val="E8EEF7"/>
          </a:solidFill>
          <a:ln w="0">
            <a:solidFill>
              <a:srgbClr val="8D49B8"/>
            </a:solidFill>
            <a:prstDash val="solid"/>
          </a:ln>
        </p:spPr>
      </p:sp>
      <p:sp>
        <p:nvSpPr>
          <p:cNvPr id="49" name="overview-decision-title-45">
            <a:extLst>
              <a:ext uri="{FF2B5EF4-FFF2-40B4-BE49-F238E27FC236}">
                <ns2:creationId id="{E52F407F-FDC8-4EFC-A9D2-E53C5F03CC76}"/>
              </a:ext>
            </a:extLst>
          </p:cNvPr>
          <p:cNvSpPr>
            <a:spLocks noGrp="1"/>
          </p:cNvSpPr>
          <p:nvPr/>
        </p:nvSpPr>
        <p:spPr>
          <a:xfrm>
            <a:off x="3714750" y="5619750"/>
            <a:ext cx="4438650" cy="476250"/>
          </a:xfrm>
          <a:prstGeom prst="rect">
            <a:avLst/>
          </a:prstGeom>
          <a:noFill/>
          <a:ln w="0">
            <a:noFill/>
            <a:prstDash val="solid"/>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04-45. 기억과 Context</a:t>
            </a:r>
            <a:endParaRPr lang="ko-KR">
              <a:solidFill>
                <a:srgbClr val="000000"/>
              </a:solidFill>
              <a:latin typeface="Calibri"/>
              <a:ea typeface="Calibri"/>
              <a:cs typeface="Calibri"/>
            </a:endParaRPr>
          </a:p>
        </p:txBody>
      </p:sp>
      <p:sp>
        <p:nvSpPr>
          <p:cNvPr id="50" name="overview-decision-detail-45">
            <a:extLst>
              <a:ext uri="{FF2B5EF4-FFF2-40B4-BE49-F238E27FC236}">
                <ns2:creationId id="{6DB70456-EF81-48E7-A9F0-F58A943556D5}"/>
              </a:ext>
            </a:extLst>
          </p:cNvPr>
          <p:cNvSpPr>
            <a:spLocks noGrp="1"/>
          </p:cNvSpPr>
          <p:nvPr/>
        </p:nvSpPr>
        <p:spPr>
          <a:xfrm>
            <a:off x="3714750" y="6115050"/>
            <a:ext cx="4429125" cy="371475"/>
          </a:xfrm>
          <a:prstGeom prst="rect">
            <a:avLst/>
          </a:prstGeom>
          <a:noFill/>
          <a:ln w="0">
            <a:noFill/>
            <a:prstDash val="solid"/>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과거 근거의 구성 및 공통 기억 제공</a:t>
            </a:r>
            <a:endParaRPr lang="ko-KR">
              <a:solidFill>
                <a:srgbClr val="000000"/>
              </a:solidFill>
              <a:latin typeface="Calibri"/>
              <a:ea typeface="Calibri"/>
              <a:cs typeface="Calibri"/>
            </a:endParaRPr>
          </a:p>
        </p:txBody>
      </p:sp>
      <p:sp>
        <p:nvSpPr>
          <p:cNvPr id="51" name="overview-swatch-42">
            <a:extLst>
              <a:ext uri="{FF2B5EF4-FFF2-40B4-BE49-F238E27FC236}">
                <ns2:creationId id="{D9B0A4C1-2205-4E7E-9E07-3F1217E974EE}"/>
              </a:ext>
            </a:extLst>
          </p:cNvPr>
          <p:cNvSpPr>
            <a:spLocks noGrp="1"/>
          </p:cNvSpPr>
          <p:nvPr/>
        </p:nvSpPr>
        <p:spPr>
          <a:xfrm>
            <a:off x="3276600" y="7153275"/>
            <a:ext cx="228600" cy="400050"/>
          </a:xfrm>
          <a:prstGeom prst="rect">
            <a:avLst/>
          </a:prstGeom>
          <a:solidFill>
            <a:srgbClr val="E8EEF7"/>
          </a:solidFill>
          <a:ln w="0">
            <a:solidFill>
              <a:srgbClr val="2463DD"/>
            </a:solidFill>
            <a:prstDash val="solid"/>
          </a:ln>
        </p:spPr>
      </p:sp>
      <p:sp>
        <p:nvSpPr>
          <p:cNvPr id="52" name="overview-decision-title-42">
            <a:extLst>
              <a:ext uri="{FF2B5EF4-FFF2-40B4-BE49-F238E27FC236}">
                <ns2:creationId id="{58124065-1888-4363-BE35-0F6260A72F08}"/>
              </a:ext>
            </a:extLst>
          </p:cNvPr>
          <p:cNvSpPr>
            <a:spLocks noGrp="1"/>
          </p:cNvSpPr>
          <p:nvPr/>
        </p:nvSpPr>
        <p:spPr>
          <a:xfrm>
            <a:off x="3714750" y="7048500"/>
            <a:ext cx="4438650" cy="476250"/>
          </a:xfrm>
          <a:prstGeom prst="rect">
            <a:avLst/>
          </a:prstGeom>
          <a:noFill/>
          <a:ln w="0">
            <a:noFill/>
            <a:prstDash val="solid"/>
          </a:ln>
        </p:spPr>
        <p:txBody>
          <a:bodyPr wrap="none" lIns="0" tIns="0" rIns="0" bIns="0" anchor="ctr">
            <a:noAutofit/>
          </a:body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04-42. Conversation과 Task 관리</a:t>
            </a:r>
            <a:endParaRPr lang="ko-KR">
              <a:solidFill>
                <a:srgbClr val="000000"/>
              </a:solidFill>
              <a:latin typeface="Calibri"/>
              <a:ea typeface="Calibri"/>
              <a:cs typeface="Calibri"/>
            </a:endParaRPr>
          </a:p>
        </p:txBody>
      </p:sp>
      <p:sp>
        <p:nvSpPr>
          <p:cNvPr id="53" name="overview-decision-detail-42">
            <a:extLst>
              <a:ext uri="{FF2B5EF4-FFF2-40B4-BE49-F238E27FC236}">
                <ns2:creationId id="{466D25E9-1831-40FB-80F8-1D449E64168E}"/>
              </a:ext>
            </a:extLst>
          </p:cNvPr>
          <p:cNvSpPr>
            <a:spLocks noGrp="1"/>
          </p:cNvSpPr>
          <p:nvPr/>
        </p:nvSpPr>
        <p:spPr>
          <a:xfrm>
            <a:off x="3714750" y="7543800"/>
            <a:ext cx="4429125" cy="371475"/>
          </a:xfrm>
          <a:prstGeom prst="rect">
            <a:avLst/>
          </a:prstGeom>
          <a:noFill/>
          <a:ln w="0">
            <a:noFill/>
            <a:prstDash val="solid"/>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상태 소유와 실행 수명의 분리 방식</a:t>
            </a:r>
            <a:endParaRPr lang="ko-KR">
              <a:solidFill>
                <a:srgbClr val="000000"/>
              </a:solidFill>
              <a:latin typeface="Calibri"/>
              <a:ea typeface="Calibri"/>
              <a:cs typeface="Calibri"/>
            </a:endParaRPr>
          </a:p>
        </p:txBody>
      </p:sp>
      <p:sp>
        <p:nvSpPr>
          <p:cNvPr id="54" name="overview-VIA-boundary">
            <a:extLst>
              <a:ext uri="{FF2B5EF4-FFF2-40B4-BE49-F238E27FC236}">
                <ns2:creationId id="{0667F901-341B-44E1-B622-EDA03A2B690A}"/>
              </a:ext>
            </a:extLst>
          </p:cNvPr>
          <p:cNvSpPr>
            <a:spLocks noGrp="1"/>
          </p:cNvSpPr>
          <p:nvPr/>
        </p:nvSpPr>
        <p:spPr>
          <a:xfrm>
            <a:off x="8439150" y="1285875"/>
            <a:ext cx="9372600" cy="7324725"/>
          </a:xfrm>
          <a:prstGeom prst="rect">
            <a:avLst/>
          </a:prstGeom>
          <a:solidFill>
            <a:srgbClr val="FFFFFF"/>
          </a:solidFill>
          <a:ln w="16193">
            <a:solidFill>
              <a:srgbClr val="141414"/>
            </a:solidFill>
            <a:prstDash val="solid"/>
          </a:ln>
        </p:spPr>
        <p:txBody>
          <a:bodyPr wrap="none" lIns="219075" tIns="95250" rIns="7058025" bIns="6848475" anchor="ctr">
            <a:noAutofit/>
          </a:bodyPr>
          <a:lstStyle/>
          <a:p>
            <a:pPr algn="l">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VIA</a:t>
            </a:r>
            <a:endParaRPr lang="ko-KR">
              <a:solidFill>
                <a:srgbClr val="000000"/>
              </a:solidFill>
              <a:latin typeface="Calibri"/>
              <a:ea typeface="Calibri"/>
              <a:cs typeface="Calibri"/>
            </a:endParaRPr>
          </a:p>
        </p:txBody>
      </p:sp>
      <p:sp>
        <p:nvSpPr>
          <p:cNvPr id="56" name="overview-Interaction">
            <a:extLst>
              <a:ext uri="{FF2B5EF4-FFF2-40B4-BE49-F238E27FC236}">
                <ns2:creationId id="{05444503-736C-4A46-88AE-BAF5E3E47471}"/>
              </a:ext>
            </a:extLst>
          </p:cNvPr>
          <p:cNvSpPr>
            <a:spLocks noGrp="1"/>
          </p:cNvSpPr>
          <p:nvPr/>
        </p:nvSpPr>
        <p:spPr>
          <a:xfrm>
            <a:off x="8620125" y="1857375"/>
            <a:ext cx="9001125" cy="1381125"/>
          </a:xfrm>
          <a:prstGeom prst="rect">
            <a:avLst/>
          </a:prstGeom>
          <a:solidFill>
            <a:srgbClr val="E8EEF7"/>
          </a:solidFill>
          <a:ln w="16193">
            <a:solidFill>
              <a:srgbClr val="141414"/>
            </a:solidFill>
            <a:prstDash val="solid"/>
          </a:ln>
        </p:spPr>
        <p:txBody>
          <a:bodyPr wrap="none" lIns="180975" tIns="28575" rIns="4533900" bIns="97155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Interaction</a:t>
            </a:r>
            <a:endParaRPr lang="ko-KR">
              <a:solidFill>
                <a:srgbClr val="000000"/>
              </a:solidFill>
              <a:latin typeface="Calibri"/>
              <a:ea typeface="Calibri"/>
              <a:cs typeface="Calibri"/>
            </a:endParaRPr>
          </a:p>
        </p:txBody>
      </p:sp>
      <p:sp>
        <p:nvSpPr>
          <p:cNvPr id="58" name="overview-component-Interaction Manager">
            <a:extLst>
              <a:ext uri="{FF2B5EF4-FFF2-40B4-BE49-F238E27FC236}">
                <ns2:creationId id="{B311954B-3254-4B9A-B492-21E04BEA0852}"/>
              </a:ext>
            </a:extLst>
          </p:cNvPr>
          <p:cNvSpPr>
            <a:spLocks noGrp="1"/>
          </p:cNvSpPr>
          <p:nvPr/>
        </p:nvSpPr>
        <p:spPr>
          <a:xfrm>
            <a:off x="8915400" y="2400300"/>
            <a:ext cx="4105275" cy="5334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60" name="overview-component-Response Manager">
            <a:extLst>
              <a:ext uri="{FF2B5EF4-FFF2-40B4-BE49-F238E27FC236}">
                <ns2:creationId id="{7452EC8B-254E-4254-94E5-6DC88F7E64B3}"/>
              </a:ext>
            </a:extLst>
          </p:cNvPr>
          <p:cNvSpPr>
            <a:spLocks noGrp="1"/>
          </p:cNvSpPr>
          <p:nvPr/>
        </p:nvSpPr>
        <p:spPr>
          <a:xfrm>
            <a:off x="13296900" y="2400300"/>
            <a:ext cx="4105275" cy="5334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Response Manager</a:t>
            </a:r>
            <a:endParaRPr lang="ko-KR">
              <a:solidFill>
                <a:srgbClr val="000000"/>
              </a:solidFill>
              <a:latin typeface="Calibri"/>
              <a:ea typeface="Calibri"/>
              <a:cs typeface="Calibri"/>
            </a:endParaRPr>
          </a:p>
        </p:txBody>
      </p:sp>
      <p:sp>
        <p:nvSpPr>
          <p:cNvPr id="62" name="overview-Orchestration">
            <a:extLst>
              <a:ext uri="{FF2B5EF4-FFF2-40B4-BE49-F238E27FC236}">
                <ns2:creationId id="{AEBA02E5-2698-46DB-93E7-C9282787FD6E}"/>
              </a:ext>
            </a:extLst>
          </p:cNvPr>
          <p:cNvSpPr>
            <a:spLocks noGrp="1"/>
          </p:cNvSpPr>
          <p:nvPr/>
        </p:nvSpPr>
        <p:spPr>
          <a:xfrm>
            <a:off x="8620125" y="3371850"/>
            <a:ext cx="9001125" cy="3486150"/>
          </a:xfrm>
          <a:prstGeom prst="rect">
            <a:avLst/>
          </a:prstGeom>
          <a:solidFill>
            <a:srgbClr val="E8EEF7"/>
          </a:solidFill>
          <a:ln w="16193">
            <a:solidFill>
              <a:srgbClr val="141414"/>
            </a:solidFill>
            <a:prstDash val="solid"/>
          </a:ln>
        </p:spPr>
        <p:txBody>
          <a:bodyPr wrap="none" lIns="180975" tIns="28575" rIns="6486525" bIns="304800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Orchestration</a:t>
            </a:r>
            <a:endParaRPr lang="ko-KR">
              <a:solidFill>
                <a:srgbClr val="000000"/>
              </a:solidFill>
              <a:latin typeface="Calibri"/>
              <a:ea typeface="Calibri"/>
              <a:cs typeface="Calibri"/>
            </a:endParaRPr>
          </a:p>
        </p:txBody>
      </p:sp>
      <p:sp>
        <p:nvSpPr>
          <p:cNvPr id="64" name="overview-component-Request Controller">
            <a:extLst>
              <a:ext uri="{FF2B5EF4-FFF2-40B4-BE49-F238E27FC236}">
                <ns2:creationId id="{DF4BE49B-E898-4802-91C1-CDCB6CCF8989}"/>
              </a:ext>
            </a:extLst>
          </p:cNvPr>
          <p:cNvSpPr>
            <a:spLocks noGrp="1"/>
          </p:cNvSpPr>
          <p:nvPr/>
        </p:nvSpPr>
        <p:spPr>
          <a:xfrm>
            <a:off x="8915400" y="4076700"/>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66" name="overview-component-Request Interpreter">
            <a:extLst>
              <a:ext uri="{FF2B5EF4-FFF2-40B4-BE49-F238E27FC236}">
                <ns2:creationId id="{29E90C18-0D26-48D1-B96C-57CFD1F364AF}"/>
              </a:ext>
            </a:extLst>
          </p:cNvPr>
          <p:cNvSpPr>
            <a:spLocks noGrp="1"/>
          </p:cNvSpPr>
          <p:nvPr/>
        </p:nvSpPr>
        <p:spPr>
          <a:xfrm>
            <a:off x="13296900" y="4076700"/>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68" name="overview-component-Context Manager">
            <a:extLst>
              <a:ext uri="{FF2B5EF4-FFF2-40B4-BE49-F238E27FC236}">
                <ns2:creationId id="{CC588BA3-0092-4123-BD68-119001462853}"/>
              </a:ext>
            </a:extLst>
          </p:cNvPr>
          <p:cNvSpPr>
            <a:spLocks noGrp="1"/>
          </p:cNvSpPr>
          <p:nvPr/>
        </p:nvSpPr>
        <p:spPr>
          <a:xfrm>
            <a:off x="8915400" y="4981575"/>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Context Manager</a:t>
            </a:r>
            <a:endParaRPr lang="ko-KR">
              <a:solidFill>
                <a:srgbClr val="000000"/>
              </a:solidFill>
              <a:latin typeface="Calibri"/>
              <a:ea typeface="Calibri"/>
              <a:cs typeface="Calibri"/>
            </a:endParaRPr>
          </a:p>
        </p:txBody>
      </p:sp>
      <p:sp>
        <p:nvSpPr>
          <p:cNvPr id="70" name="overview-component-Policy Manager">
            <a:extLst>
              <a:ext uri="{FF2B5EF4-FFF2-40B4-BE49-F238E27FC236}">
                <ns2:creationId id="{B3071E9C-F3B5-4F3F-AC3C-BE3E74A2379B}"/>
              </a:ext>
            </a:extLst>
          </p:cNvPr>
          <p:cNvSpPr>
            <a:spLocks noGrp="1"/>
          </p:cNvSpPr>
          <p:nvPr/>
        </p:nvSpPr>
        <p:spPr>
          <a:xfrm>
            <a:off x="13296900" y="4981575"/>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Policy Manager</a:t>
            </a:r>
            <a:endParaRPr lang="ko-KR">
              <a:solidFill>
                <a:srgbClr val="000000"/>
              </a:solidFill>
              <a:latin typeface="Calibri"/>
              <a:ea typeface="Calibri"/>
              <a:cs typeface="Calibri"/>
            </a:endParaRPr>
          </a:p>
        </p:txBody>
      </p:sp>
      <p:sp>
        <p:nvSpPr>
          <p:cNvPr id="72" name="overview-component-Task Manager">
            <a:extLst>
              <a:ext uri="{FF2B5EF4-FFF2-40B4-BE49-F238E27FC236}">
                <ns2:creationId id="{05DADF7B-2DA2-4E57-AAA1-8107E13776E1}"/>
              </a:ext>
            </a:extLst>
          </p:cNvPr>
          <p:cNvSpPr>
            <a:spLocks noGrp="1"/>
          </p:cNvSpPr>
          <p:nvPr/>
        </p:nvSpPr>
        <p:spPr>
          <a:xfrm>
            <a:off x="8915400" y="5886450"/>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74" name="overview-component-Agent Gateway">
            <a:extLst>
              <a:ext uri="{FF2B5EF4-FFF2-40B4-BE49-F238E27FC236}">
                <ns2:creationId id="{8C58E22E-3D1B-4AAD-B5F8-66B4250D6F51}"/>
              </a:ext>
            </a:extLst>
          </p:cNvPr>
          <p:cNvSpPr>
            <a:spLocks noGrp="1"/>
          </p:cNvSpPr>
          <p:nvPr/>
        </p:nvSpPr>
        <p:spPr>
          <a:xfrm>
            <a:off x="13296900" y="5886450"/>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Agent Gateway</a:t>
            </a:r>
            <a:endParaRPr lang="ko-KR">
              <a:solidFill>
                <a:srgbClr val="000000"/>
              </a:solidFill>
              <a:latin typeface="Calibri"/>
              <a:ea typeface="Calibri"/>
              <a:cs typeface="Calibri"/>
            </a:endParaRPr>
          </a:p>
        </p:txBody>
      </p:sp>
      <p:sp>
        <p:nvSpPr>
          <p:cNvPr id="76" name="overview-Shared">
            <a:extLst>
              <a:ext uri="{FF2B5EF4-FFF2-40B4-BE49-F238E27FC236}">
                <ns2:creationId id="{7DCACDBD-8F04-48D7-A14C-B4352ED1E801}"/>
              </a:ext>
            </a:extLst>
          </p:cNvPr>
          <p:cNvSpPr>
            <a:spLocks noGrp="1"/>
          </p:cNvSpPr>
          <p:nvPr/>
        </p:nvSpPr>
        <p:spPr>
          <a:xfrm>
            <a:off x="8620125" y="7029450"/>
            <a:ext cx="9001125" cy="1400175"/>
          </a:xfrm>
          <a:prstGeom prst="rect">
            <a:avLst/>
          </a:prstGeom>
          <a:solidFill>
            <a:srgbClr val="E8EEF7"/>
          </a:solidFill>
          <a:ln w="16193">
            <a:solidFill>
              <a:srgbClr val="141414"/>
            </a:solidFill>
            <a:prstDash val="solid"/>
          </a:ln>
        </p:spPr>
        <p:txBody>
          <a:bodyPr wrap="none" lIns="180975" tIns="57150" rIns="6915150" bIns="93345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Shared</a:t>
            </a:r>
            <a:endParaRPr lang="ko-KR">
              <a:solidFill>
                <a:srgbClr val="000000"/>
              </a:solidFill>
              <a:latin typeface="Calibri"/>
              <a:ea typeface="Calibri"/>
              <a:cs typeface="Calibri"/>
            </a:endParaRPr>
          </a:p>
        </p:txBody>
      </p:sp>
      <p:sp>
        <p:nvSpPr>
          <p:cNvPr id="78" name="overview-component-State Store">
            <a:extLst>
              <a:ext uri="{FF2B5EF4-FFF2-40B4-BE49-F238E27FC236}">
                <ns2:creationId id="{8DB15C76-A40F-4752-8C92-AA89EA15F4F5}"/>
              </a:ext>
            </a:extLst>
          </p:cNvPr>
          <p:cNvSpPr>
            <a:spLocks noGrp="1"/>
          </p:cNvSpPr>
          <p:nvPr/>
        </p:nvSpPr>
        <p:spPr>
          <a:xfrm>
            <a:off x="8915400" y="7781925"/>
            <a:ext cx="4105275" cy="447675"/>
          </a:xfrm>
          <a:prstGeom prst="can">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State Store</a:t>
            </a:r>
            <a:endParaRPr lang="ko-KR">
              <a:solidFill>
                <a:srgbClr val="000000"/>
              </a:solidFill>
              <a:latin typeface="Calibri"/>
              <a:ea typeface="Calibri"/>
              <a:cs typeface="Calibri"/>
            </a:endParaRPr>
          </a:p>
        </p:txBody>
      </p:sp>
      <p:sp>
        <p:nvSpPr>
          <p:cNvPr id="80" name="overview-component-Model Access">
            <a:extLst>
              <a:ext uri="{FF2B5EF4-FFF2-40B4-BE49-F238E27FC236}">
                <ns2:creationId id="{7C955D5F-BF32-4962-915B-6F6B0C41FA8B}"/>
              </a:ext>
            </a:extLst>
          </p:cNvPr>
          <p:cNvSpPr>
            <a:spLocks noGrp="1"/>
          </p:cNvSpPr>
          <p:nvPr/>
        </p:nvSpPr>
        <p:spPr>
          <a:xfrm>
            <a:off x="13296900" y="7781925"/>
            <a:ext cx="4105275" cy="447675"/>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Model Access</a:t>
            </a:r>
            <a:endParaRPr lang="ko-KR">
              <a:solidFill>
                <a:srgbClr val="000000"/>
              </a:solidFill>
              <a:latin typeface="Calibri"/>
              <a:ea typeface="Calibri"/>
              <a:cs typeface="Calibri"/>
            </a:endParaRPr>
          </a:p>
        </p:txBody>
      </p:sp>
      <p:sp>
        <p:nvSpPr>
          <p:cNvPr id="82" name="overview-External-boundary">
            <a:extLst>
              <a:ext uri="{FF2B5EF4-FFF2-40B4-BE49-F238E27FC236}">
                <ns2:creationId id="{4468BEAD-2D6B-4CA1-B88F-D85C9C8B2AB8}"/>
              </a:ext>
            </a:extLst>
          </p:cNvPr>
          <p:cNvSpPr>
            <a:spLocks noGrp="1"/>
          </p:cNvSpPr>
          <p:nvPr/>
        </p:nvSpPr>
        <p:spPr>
          <a:xfrm>
            <a:off x="8439150" y="8782050"/>
            <a:ext cx="9372600" cy="1066800"/>
          </a:xfrm>
          <a:prstGeom prst="rect">
            <a:avLst/>
          </a:prstGeom>
          <a:solidFill>
            <a:srgbClr val="FFFFFF"/>
          </a:solidFill>
          <a:ln w="16193">
            <a:solidFill>
              <a:srgbClr val="141414"/>
            </a:solidFill>
            <a:prstDash val="solid"/>
          </a:ln>
        </p:spPr>
        <p:txBody>
          <a:bodyPr wrap="none" lIns="219075" tIns="47625" rIns="3438525" bIns="66675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External Components</a:t>
            </a:r>
            <a:endParaRPr lang="ko-KR">
              <a:solidFill>
                <a:srgbClr val="000000"/>
              </a:solidFill>
              <a:latin typeface="Calibri"/>
              <a:ea typeface="Calibri"/>
              <a:cs typeface="Calibri"/>
            </a:endParaRPr>
          </a:p>
        </p:txBody>
      </p:sp>
      <p:sp>
        <p:nvSpPr>
          <p:cNvPr id="84" name="overview-component-Context Sources">
            <a:extLst>
              <a:ext uri="{FF2B5EF4-FFF2-40B4-BE49-F238E27FC236}">
                <ns2:creationId id="{BE81075E-A92F-4D40-B9D4-DF438D10168E}"/>
              </a:ext>
            </a:extLst>
          </p:cNvPr>
          <p:cNvSpPr>
            <a:spLocks noGrp="1"/>
          </p:cNvSpPr>
          <p:nvPr/>
        </p:nvSpPr>
        <p:spPr>
          <a:xfrm>
            <a:off x="8648700" y="9296400"/>
            <a:ext cx="2181225" cy="381000"/>
          </a:xfrm>
          <a:prstGeom prst="rect">
            <a:avLst/>
          </a:prstGeom>
          <a:solidFill>
            <a:srgbClr val="E8EEF7"/>
          </a:solidFill>
          <a:ln w="16193">
            <a:solidFill>
              <a:srgbClr val="141414"/>
            </a:solidFill>
            <a:prstDash val="solid"/>
          </a:ln>
        </p:spPr>
        <p:txBody>
          <a:bodyPr wrap="none" lIns="66675" tIns="0" rIns="66675" bIns="0" anchor="ctr">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Context Sources</a:t>
            </a:r>
            <a:endParaRPr lang="ko-KR">
              <a:solidFill>
                <a:srgbClr val="000000"/>
              </a:solidFill>
              <a:latin typeface="Calibri"/>
              <a:ea typeface="Calibri"/>
              <a:cs typeface="Calibri"/>
            </a:endParaRPr>
          </a:p>
        </p:txBody>
      </p:sp>
      <p:sp>
        <p:nvSpPr>
          <p:cNvPr id="86" name="overview-component-Downstream Agents">
            <a:extLst>
              <a:ext uri="{FF2B5EF4-FFF2-40B4-BE49-F238E27FC236}">
                <ns2:creationId id="{325498E5-EE7A-4CE6-8D76-2A1FAC17DAB5}"/>
              </a:ext>
            </a:extLst>
          </p:cNvPr>
          <p:cNvSpPr>
            <a:spLocks noGrp="1"/>
          </p:cNvSpPr>
          <p:nvPr/>
        </p:nvSpPr>
        <p:spPr>
          <a:xfrm>
            <a:off x="10991850" y="9296400"/>
            <a:ext cx="2314575" cy="381000"/>
          </a:xfrm>
          <a:prstGeom prst="rect">
            <a:avLst/>
          </a:prstGeom>
          <a:solidFill>
            <a:srgbClr val="E8EEF7"/>
          </a:solidFill>
          <a:ln w="16193">
            <a:solidFill>
              <a:srgbClr val="141414"/>
            </a:solidFill>
            <a:prstDash val="solid"/>
          </a:ln>
        </p:spPr>
        <p:txBody>
          <a:bodyPr wrap="none" lIns="66675" tIns="0" rIns="66675" bIns="0" anchor="ctr">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Downstream Agents</a:t>
            </a:r>
            <a:endParaRPr lang="ko-KR">
              <a:solidFill>
                <a:srgbClr val="000000"/>
              </a:solidFill>
              <a:latin typeface="Calibri"/>
              <a:ea typeface="Calibri"/>
              <a:cs typeface="Calibri"/>
            </a:endParaRPr>
          </a:p>
        </p:txBody>
      </p:sp>
      <p:sp>
        <p:nvSpPr>
          <p:cNvPr id="88" name="overview-Model-runtime">
            <a:extLst>
              <a:ext uri="{FF2B5EF4-FFF2-40B4-BE49-F238E27FC236}">
                <ns2:creationId id="{D4B4485E-D4E7-4E0F-8BE2-8DAFF861E64B}"/>
              </a:ext>
            </a:extLst>
          </p:cNvPr>
          <p:cNvSpPr>
            <a:spLocks noGrp="1"/>
          </p:cNvSpPr>
          <p:nvPr/>
        </p:nvSpPr>
        <p:spPr>
          <a:xfrm>
            <a:off x="13468350" y="9134475"/>
            <a:ext cx="4124325" cy="619125"/>
          </a:xfrm>
          <a:prstGeom prst="rect">
            <a:avLst/>
          </a:prstGeom>
          <a:solidFill>
            <a:srgbClr val="E8EEF7"/>
          </a:solidFill>
          <a:ln w="16193">
            <a:solidFill>
              <a:srgbClr val="141414"/>
            </a:solidFill>
            <a:prstDash val="solid"/>
          </a:ln>
        </p:spPr>
        <p:txBody>
          <a:bodyPr wrap="none" lIns="114300" tIns="9525" rIns="200025" bIns="381000" anchor="ctr">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Cloud Model Runtime</a:t>
            </a:r>
            <a:endParaRPr lang="ko-KR">
              <a:solidFill>
                <a:srgbClr val="000000"/>
              </a:solidFill>
              <a:latin typeface="Calibri"/>
              <a:ea typeface="Calibri"/>
              <a:cs typeface="Calibri"/>
            </a:endParaRPr>
          </a:p>
        </p:txBody>
      </p:sp>
      <p:sp>
        <p:nvSpPr>
          <p:cNvPr id="90" name="overview-component-음성 모델">
            <a:extLst>
              <a:ext uri="{FF2B5EF4-FFF2-40B4-BE49-F238E27FC236}">
                <ns2:creationId id="{73112365-6EA3-4C63-B7C9-7F4E911E6556}"/>
              </a:ext>
            </a:extLst>
          </p:cNvPr>
          <p:cNvSpPr>
            <a:spLocks noGrp="1"/>
          </p:cNvSpPr>
          <p:nvPr/>
        </p:nvSpPr>
        <p:spPr>
          <a:xfrm>
            <a:off x="13601700" y="9429750"/>
            <a:ext cx="1657350" cy="238125"/>
          </a:xfrm>
          <a:prstGeom prst="rect">
            <a:avLst/>
          </a:prstGeom>
          <a:solidFill>
            <a:srgbClr val="E8EEF7"/>
          </a:solidFill>
          <a:ln w="16193">
            <a:solidFill>
              <a:srgbClr val="141414"/>
            </a:solidFill>
            <a:prstDash val="solid"/>
          </a:ln>
        </p:spPr>
        <p:txBody>
          <a:bodyPr wrap="none" lIns="66675" tIns="0" rIns="66675" bIns="0" anchor="ctr">
            <a:noAutofit/>
          </a:bodyPr>
          <a:lstStyle/>
          <a:p>
            <a:pPr algn="ctr">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음성 모델</a:t>
            </a:r>
            <a:endParaRPr lang="ko-KR">
              <a:solidFill>
                <a:srgbClr val="000000"/>
              </a:solidFill>
              <a:latin typeface="Calibri"/>
              <a:ea typeface="Calibri"/>
              <a:cs typeface="Calibri"/>
            </a:endParaRPr>
          </a:p>
        </p:txBody>
      </p:sp>
      <p:sp>
        <p:nvSpPr>
          <p:cNvPr id="92" name="overview-component-의미 LLM">
            <a:extLst>
              <a:ext uri="{FF2B5EF4-FFF2-40B4-BE49-F238E27FC236}">
                <ns2:creationId id="{A9C7AEAD-6EDD-4BFB-803F-D8F8641AB2AF}"/>
              </a:ext>
            </a:extLst>
          </p:cNvPr>
          <p:cNvSpPr>
            <a:spLocks noGrp="1"/>
          </p:cNvSpPr>
          <p:nvPr/>
        </p:nvSpPr>
        <p:spPr>
          <a:xfrm>
            <a:off x="15430500" y="9429750"/>
            <a:ext cx="2019300" cy="238125"/>
          </a:xfrm>
          <a:prstGeom prst="rect">
            <a:avLst/>
          </a:prstGeom>
          <a:solidFill>
            <a:srgbClr val="E8EEF7"/>
          </a:solidFill>
          <a:ln w="16193">
            <a:solidFill>
              <a:srgbClr val="141414"/>
            </a:solidFill>
            <a:prstDash val="solid"/>
          </a:ln>
        </p:spPr>
        <p:txBody>
          <a:bodyPr wrap="none" lIns="66675" tIns="0" rIns="66675" bIns="0" anchor="ctr">
            <a:noAutofit/>
          </a:bodyPr>
          <a:lstStyle/>
          <a:p>
            <a:pPr algn="ctr">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의미 LLM</a:t>
            </a:r>
            <a:endParaRPr lang="ko-KR">
              <a:solidFill>
                <a:srgbClr val="000000"/>
              </a:solidFill>
              <a:latin typeface="Calibri"/>
              <a:ea typeface="Calibri"/>
              <a:cs typeface="Calibri"/>
            </a:endParaRPr>
          </a:p>
        </p:txBody>
      </p:sp>
      <p:sp>
        <p:nvSpPr>
          <p:cNvPr id="94" name="overview-dp44-interaction-and-control">
            <a:extLst>
              <a:ext uri="{FF2B5EF4-FFF2-40B4-BE49-F238E27FC236}">
                <ns2:creationId id="{8155A883-55CA-4C69-A00E-94D0ABE3A153}"/>
              </a:ext>
            </a:extLst>
          </p:cNvPr>
          <p:cNvSpPr>
            <a:spLocks noGrp="1"/>
          </p:cNvSpPr>
          <p:nvPr/>
        </p:nvSpPr>
        <p:spPr>
          <a:xfrm>
            <a:off x="8734425" y="2324100"/>
            <a:ext cx="8772525" cy="2352675"/>
          </a:xfrm>
          <a:custGeom>
            <a:pathLst>
              <a:path w="8772525" h="2352675">
                <a:moveTo>
                  <a:pt x="0" y="0"/>
                </a:moveTo>
                <a:lnTo>
                  <a:pt x="8772525" y="0"/>
                </a:lnTo>
                <a:lnTo>
                  <a:pt x="8772525" y="685800"/>
                </a:lnTo>
                <a:lnTo>
                  <a:pt x="4371975" y="685800"/>
                </a:lnTo>
                <a:lnTo>
                  <a:pt x="4371975" y="2352675"/>
                </a:lnTo>
                <a:lnTo>
                  <a:pt x="0" y="2352675"/>
                </a:lnTo>
                <a:lnTo>
                  <a:pt x="0" y="0"/>
                </a:lnTo>
              </a:path>
            </a:pathLst>
          </a:custGeom>
          <a:noFill/>
          <a:ln w="38100">
            <a:solidFill>
              <a:srgbClr val="00A65A"/>
            </a:solidFill>
            <a:prstDash val="dash"/>
          </a:ln>
        </p:spPr>
      </p:sp>
      <p:sp>
        <p:nvSpPr>
          <p:cNvPr id="95" name="overview-tag-44-interaction">
            <a:extLst>
              <a:ext uri="{FF2B5EF4-FFF2-40B4-BE49-F238E27FC236}">
                <ns2:creationId id="{C9AC9D45-BFC1-4646-AFD1-93C69A20FE6E}"/>
              </a:ext>
            </a:extLst>
          </p:cNvPr>
          <p:cNvSpPr>
            <a:spLocks noGrp="1"/>
          </p:cNvSpPr>
          <p:nvPr/>
        </p:nvSpPr>
        <p:spPr>
          <a:xfrm>
            <a:off x="16440150" y="1933575"/>
            <a:ext cx="1000125" cy="342900"/>
          </a:xfrm>
          <a:prstGeom prst="rect">
            <a:avLst/>
          </a:prstGeom>
          <a:solidFill>
            <a:srgbClr val="C6E0B4"/>
          </a:solidFill>
          <a:ln w="28575">
            <a:solidFill>
              <a:srgbClr val="00A65A"/>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04-44</a:t>
            </a:r>
            <a:endParaRPr lang="ko-KR">
              <a:solidFill>
                <a:srgbClr val="000000"/>
              </a:solidFill>
              <a:latin typeface="Calibri"/>
              <a:ea typeface="Calibri"/>
              <a:cs typeface="Calibri"/>
            </a:endParaRPr>
          </a:p>
        </p:txBody>
      </p:sp>
      <p:sp>
        <p:nvSpPr>
          <p:cNvPr id="101" name="overview-dp42-dialogue-authority">
            <a:extLst>
              <a:ext uri="{FF2B5EF4-FFF2-40B4-BE49-F238E27FC236}">
                <ns2:creationId id="{972BD342-6CD2-49C0-8124-56DF0B46C676}"/>
              </a:ext>
            </a:extLst>
          </p:cNvPr>
          <p:cNvSpPr>
            <a:spLocks noGrp="1"/>
          </p:cNvSpPr>
          <p:nvPr/>
        </p:nvSpPr>
        <p:spPr>
          <a:xfrm>
            <a:off x="8858250" y="4010025"/>
            <a:ext cx="4210050" cy="600075"/>
          </a:xfrm>
          <a:prstGeom prst="rect">
            <a:avLst/>
          </a:prstGeom>
          <a:noFill/>
          <a:ln w="38100">
            <a:solidFill>
              <a:srgbClr val="2463DD"/>
            </a:solidFill>
            <a:prstDash val="dash"/>
          </a:ln>
        </p:spPr>
      </p:sp>
      <p:sp>
        <p:nvSpPr>
          <p:cNvPr id="102" name="overview-tag-42-dialogue">
            <a:extLst>
              <a:ext uri="{FF2B5EF4-FFF2-40B4-BE49-F238E27FC236}">
                <ns2:creationId id="{48D07129-7BFE-4338-ACAE-4723C40C8682}"/>
              </a:ext>
            </a:extLst>
          </p:cNvPr>
          <p:cNvSpPr>
            <a:spLocks noGrp="1"/>
          </p:cNvSpPr>
          <p:nvPr/>
        </p:nvSpPr>
        <p:spPr>
          <a:xfrm>
            <a:off x="11125200" y="3495675"/>
            <a:ext cx="1000125" cy="342900"/>
          </a:xfrm>
          <a:prstGeom prst="rect">
            <a:avLst/>
          </a:prstGeom>
          <a:solidFill>
            <a:srgbClr val="E8EEF7"/>
          </a:solidFill>
          <a:ln w="28575">
            <a:solidFill>
              <a:srgbClr val="2463DD"/>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04-42</a:t>
            </a:r>
            <a:endParaRPr lang="ko-KR">
              <a:solidFill>
                <a:srgbClr val="000000"/>
              </a:solidFill>
              <a:latin typeface="Calibri"/>
              <a:ea typeface="Calibri"/>
              <a:cs typeface="Calibri"/>
            </a:endParaRPr>
          </a:p>
        </p:txBody>
      </p:sp>
      <p:sp>
        <p:nvSpPr>
          <p:cNvPr id="104" name="overview-dp42-dialogue-tag-link">
            <a:extLst>
              <a:ext uri="{FF2B5EF4-FFF2-40B4-BE49-F238E27FC236}">
                <ns2:creationId id="{CD209373-DC99-4E3C-9316-54B29A7B59F5}"/>
              </a:ext>
            </a:extLst>
          </p:cNvPr>
          <p:cNvSpPr>
            <a:spLocks noGrp="1"/>
          </p:cNvSpPr>
          <p:nvPr/>
        </p:nvSpPr>
        <p:spPr>
          <a:xfrm>
            <a:off x="11620500" y="3838575"/>
            <a:ext cx="953" cy="171450"/>
          </a:xfrm>
          <a:custGeom>
            <a:pathLst>
              <a:path w="953" h="171450">
                <a:moveTo>
                  <a:pt x="0" y="0"/>
                </a:moveTo>
                <a:lnTo>
                  <a:pt x="0" y="171450"/>
                </a:lnTo>
              </a:path>
            </a:pathLst>
          </a:custGeom>
          <a:noFill/>
          <a:ln w="28575">
            <a:solidFill>
              <a:srgbClr val="2463DD"/>
            </a:solidFill>
            <a:prstDash val="solid"/>
          </a:ln>
        </p:spPr>
      </p:sp>
      <p:sp>
        <p:nvSpPr>
          <p:cNvPr id="105" name="overview-dp42-work-authority">
            <a:extLst>
              <a:ext uri="{FF2B5EF4-FFF2-40B4-BE49-F238E27FC236}">
                <ns2:creationId id="{13813961-2DAB-4B76-A620-849617853E5A}"/>
              </a:ext>
            </a:extLst>
          </p:cNvPr>
          <p:cNvSpPr>
            <a:spLocks noGrp="1"/>
          </p:cNvSpPr>
          <p:nvPr/>
        </p:nvSpPr>
        <p:spPr>
          <a:xfrm>
            <a:off x="8791575" y="5800725"/>
            <a:ext cx="8715375" cy="657225"/>
          </a:xfrm>
          <a:prstGeom prst="rect">
            <a:avLst/>
          </a:prstGeom>
          <a:noFill/>
          <a:ln w="38100">
            <a:solidFill>
              <a:srgbClr val="2463DD"/>
            </a:solidFill>
            <a:prstDash val="dash"/>
          </a:ln>
        </p:spPr>
      </p:sp>
      <p:sp>
        <p:nvSpPr>
          <p:cNvPr id="106" name="overview-tag-42-work">
            <a:extLst>
              <a:ext uri="{FF2B5EF4-FFF2-40B4-BE49-F238E27FC236}">
                <ns2:creationId id="{B8BF9D41-0F7A-472D-B04D-4514F4E9BD6B}"/>
              </a:ext>
            </a:extLst>
          </p:cNvPr>
          <p:cNvSpPr>
            <a:spLocks noGrp="1"/>
          </p:cNvSpPr>
          <p:nvPr/>
        </p:nvSpPr>
        <p:spPr>
          <a:xfrm>
            <a:off x="16344900" y="6486525"/>
            <a:ext cx="1000125" cy="342900"/>
          </a:xfrm>
          <a:prstGeom prst="rect">
            <a:avLst/>
          </a:prstGeom>
          <a:solidFill>
            <a:srgbClr val="E8EEF7"/>
          </a:solidFill>
          <a:ln w="28575">
            <a:solidFill>
              <a:srgbClr val="2463DD"/>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04-42</a:t>
            </a:r>
            <a:endParaRPr lang="ko-KR">
              <a:solidFill>
                <a:srgbClr val="000000"/>
              </a:solidFill>
              <a:latin typeface="Calibri"/>
              <a:ea typeface="Calibri"/>
              <a:cs typeface="Calibri"/>
            </a:endParaRPr>
          </a:p>
        </p:txBody>
      </p:sp>
      <p:sp>
        <p:nvSpPr>
          <p:cNvPr id="108" name="overview-dp45-context-production">
            <a:extLst>
              <a:ext uri="{FF2B5EF4-FFF2-40B4-BE49-F238E27FC236}">
                <ns2:creationId id="{34199849-1520-46B4-A3BD-5008B9DA8D89}"/>
              </a:ext>
            </a:extLst>
          </p:cNvPr>
          <p:cNvSpPr>
            <a:spLocks noGrp="1"/>
          </p:cNvSpPr>
          <p:nvPr/>
        </p:nvSpPr>
        <p:spPr>
          <a:xfrm>
            <a:off x="8791575" y="4886325"/>
            <a:ext cx="4333875" cy="676275"/>
          </a:xfrm>
          <a:prstGeom prst="rect">
            <a:avLst/>
          </a:prstGeom>
          <a:noFill/>
          <a:ln w="38100">
            <a:solidFill>
              <a:srgbClr val="8D49B8"/>
            </a:solidFill>
            <a:prstDash val="dash"/>
          </a:ln>
        </p:spPr>
      </p:sp>
      <p:sp>
        <p:nvSpPr>
          <p:cNvPr id="109" name="overview-tag-45-context">
            <a:extLst>
              <a:ext uri="{FF2B5EF4-FFF2-40B4-BE49-F238E27FC236}">
                <ns2:creationId id="{58B80AB7-FB2F-4483-9363-92589F3C7BD1}"/>
              </a:ext>
            </a:extLst>
          </p:cNvPr>
          <p:cNvSpPr>
            <a:spLocks noGrp="1"/>
          </p:cNvSpPr>
          <p:nvPr/>
        </p:nvSpPr>
        <p:spPr>
          <a:xfrm>
            <a:off x="11858625" y="4695825"/>
            <a:ext cx="1000125" cy="266700"/>
          </a:xfrm>
          <a:prstGeom prst="rect">
            <a:avLst/>
          </a:prstGeom>
          <a:solidFill>
            <a:srgbClr val="E8EEF7"/>
          </a:solidFill>
          <a:ln w="28575">
            <a:solidFill>
              <a:srgbClr val="8D49B8"/>
            </a:solidFill>
            <a:prstDash val="solid"/>
          </a:ln>
        </p:spPr>
        <p:txBody>
          <a:bodyPr wrap="none" lIns="0" tIns="0" rIns="0" bIns="0" anchor="ctr">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04-45</a:t>
            </a:r>
            <a:endParaRPr lang="ko-KR">
              <a:solidFill>
                <a:srgbClr val="000000"/>
              </a:solidFill>
              <a:latin typeface="Calibri"/>
              <a:ea typeface="Calibri"/>
              <a:cs typeface="Calibri"/>
            </a:endParaRPr>
          </a:p>
        </p:txBody>
      </p:sp>
      <p:sp>
        <p:nvSpPr>
          <p:cNvPr id="111" name="overview-dp42-durable-ownership">
            <a:extLst>
              <a:ext uri="{FF2B5EF4-FFF2-40B4-BE49-F238E27FC236}">
                <ns2:creationId id="{EB38A937-9B8F-4BF3-A45F-5F2F52FB96EB}"/>
              </a:ext>
            </a:extLst>
          </p:cNvPr>
          <p:cNvSpPr>
            <a:spLocks noGrp="1"/>
          </p:cNvSpPr>
          <p:nvPr/>
        </p:nvSpPr>
        <p:spPr>
          <a:xfrm>
            <a:off x="8791575" y="7639050"/>
            <a:ext cx="4333875" cy="695325"/>
          </a:xfrm>
          <a:prstGeom prst="rect">
            <a:avLst/>
          </a:prstGeom>
          <a:noFill/>
          <a:ln w="38100">
            <a:solidFill>
              <a:srgbClr val="2463DD"/>
            </a:solidFill>
            <a:prstDash val="dash"/>
          </a:ln>
        </p:spPr>
      </p:sp>
      <p:sp>
        <p:nvSpPr>
          <p:cNvPr id="112" name="overview-dp45-memory-storage">
            <a:extLst>
              <a:ext uri="{FF2B5EF4-FFF2-40B4-BE49-F238E27FC236}">
                <ns2:creationId id="{C8BEE31E-2EA9-4135-A30C-9E49EF83C500}"/>
              </a:ext>
            </a:extLst>
          </p:cNvPr>
          <p:cNvSpPr>
            <a:spLocks noGrp="1"/>
          </p:cNvSpPr>
          <p:nvPr/>
        </p:nvSpPr>
        <p:spPr>
          <a:xfrm>
            <a:off x="8858250" y="7705725"/>
            <a:ext cx="4200525" cy="561975"/>
          </a:xfrm>
          <a:prstGeom prst="rect">
            <a:avLst/>
          </a:prstGeom>
          <a:noFill/>
          <a:ln w="38100">
            <a:solidFill>
              <a:srgbClr val="8D49B8"/>
            </a:solidFill>
            <a:prstDash val="dash"/>
          </a:ln>
        </p:spPr>
      </p:sp>
      <p:sp>
        <p:nvSpPr>
          <p:cNvPr id="113" name="overview-tag-42-store">
            <a:extLst>
              <a:ext uri="{FF2B5EF4-FFF2-40B4-BE49-F238E27FC236}">
                <ns2:creationId id="{229759EA-FD8E-4444-B482-C3ABDA93ECAC}"/>
              </a:ext>
            </a:extLst>
          </p:cNvPr>
          <p:cNvSpPr>
            <a:spLocks noGrp="1"/>
          </p:cNvSpPr>
          <p:nvPr/>
        </p:nvSpPr>
        <p:spPr>
          <a:xfrm>
            <a:off x="10982325" y="7143750"/>
            <a:ext cx="1000125" cy="342900"/>
          </a:xfrm>
          <a:prstGeom prst="rect">
            <a:avLst/>
          </a:prstGeom>
          <a:solidFill>
            <a:srgbClr val="E8EEF7"/>
          </a:solidFill>
          <a:ln w="28575">
            <a:solidFill>
              <a:srgbClr val="2463DD"/>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04-42</a:t>
            </a:r>
            <a:endParaRPr lang="ko-KR">
              <a:solidFill>
                <a:srgbClr val="000000"/>
              </a:solidFill>
              <a:latin typeface="Calibri"/>
              <a:ea typeface="Calibri"/>
              <a:cs typeface="Calibri"/>
            </a:endParaRPr>
          </a:p>
        </p:txBody>
      </p:sp>
      <p:sp>
        <p:nvSpPr>
          <p:cNvPr id="115" name="overview-tag-45-store">
            <a:extLst>
              <a:ext uri="{FF2B5EF4-FFF2-40B4-BE49-F238E27FC236}">
                <ns2:creationId id="{1DF3F2AF-9CA8-42F8-9781-6D41D9E4C84E}"/>
              </a:ext>
            </a:extLst>
          </p:cNvPr>
          <p:cNvSpPr>
            <a:spLocks noGrp="1"/>
          </p:cNvSpPr>
          <p:nvPr/>
        </p:nvSpPr>
        <p:spPr>
          <a:xfrm>
            <a:off x="12125325" y="7143750"/>
            <a:ext cx="1000125" cy="342900"/>
          </a:xfrm>
          <a:prstGeom prst="rect">
            <a:avLst/>
          </a:prstGeom>
          <a:solidFill>
            <a:srgbClr val="E8EEF7"/>
          </a:solidFill>
          <a:ln w="28575">
            <a:solidFill>
              <a:srgbClr val="8D49B8"/>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04-45</a:t>
            </a:r>
            <a:endParaRPr lang="ko-KR">
              <a:solidFill>
                <a:srgbClr val="000000"/>
              </a:solidFill>
              <a:latin typeface="Calibri"/>
              <a:ea typeface="Calibri"/>
              <a:cs typeface="Calibri"/>
            </a:endParaRPr>
          </a:p>
        </p:txBody>
      </p:sp>
      <p:sp>
        <p:nvSpPr>
          <p:cNvPr id="117" name="overview-dp42-store-tag-link">
            <a:extLst>
              <a:ext uri="{FF2B5EF4-FFF2-40B4-BE49-F238E27FC236}">
                <ns2:creationId id="{C7DE68C1-9ACF-4859-A3EC-276F5124E0A6}"/>
              </a:ext>
            </a:extLst>
          </p:cNvPr>
          <p:cNvSpPr>
            <a:spLocks noGrp="1"/>
          </p:cNvSpPr>
          <p:nvPr/>
        </p:nvSpPr>
        <p:spPr>
          <a:xfrm>
            <a:off x="11477625" y="7486650"/>
            <a:ext cx="953" cy="152400"/>
          </a:xfrm>
          <a:custGeom>
            <a:pathLst>
              <a:path w="953" h="152400">
                <a:moveTo>
                  <a:pt x="0" y="0"/>
                </a:moveTo>
                <a:lnTo>
                  <a:pt x="0" y="152400"/>
                </a:lnTo>
              </a:path>
            </a:pathLst>
          </a:custGeom>
          <a:noFill/>
          <a:ln w="28575">
            <a:solidFill>
              <a:srgbClr val="2463DD"/>
            </a:solidFill>
            <a:prstDash val="solid"/>
          </a:ln>
        </p:spPr>
      </p:sp>
      <p:sp>
        <p:nvSpPr>
          <p:cNvPr id="118" name="overview-dp45-store-tag-link">
            <a:extLst>
              <a:ext uri="{FF2B5EF4-FFF2-40B4-BE49-F238E27FC236}">
                <ns2:creationId id="{1E0CC9FB-0922-433B-8916-5B48D92EEF86}"/>
              </a:ext>
            </a:extLst>
          </p:cNvPr>
          <p:cNvSpPr>
            <a:spLocks noGrp="1"/>
          </p:cNvSpPr>
          <p:nvPr/>
        </p:nvSpPr>
        <p:spPr>
          <a:xfrm>
            <a:off x="12620625" y="7486650"/>
            <a:ext cx="953" cy="219075"/>
          </a:xfrm>
          <a:custGeom>
            <a:pathLst>
              <a:path w="953" h="219075">
                <a:moveTo>
                  <a:pt x="0" y="0"/>
                </a:moveTo>
                <a:lnTo>
                  <a:pt x="0" y="219075"/>
                </a:lnTo>
              </a:path>
            </a:pathLst>
          </a:custGeom>
          <a:noFill/>
          <a:ln w="28575">
            <a:solidFill>
              <a:srgbClr val="8D49B8"/>
            </a:solidFill>
            <a:prstDash val="solid"/>
          </a:ln>
        </p:spPr>
      </p:sp>
      <p:sp>
        <p:nvSpPr>
          <p:cNvPr id="119" name="overview-legend">
            <a:extLst>
              <a:ext uri="{FF2B5EF4-FFF2-40B4-BE49-F238E27FC236}">
                <ns2:creationId id="{13D46BAB-2A34-47FA-BA80-0897576421A2}"/>
              </a:ext>
            </a:extLst>
          </p:cNvPr>
          <p:cNvSpPr>
            <a:spLocks noGrp="1"/>
          </p:cNvSpPr>
          <p:nvPr/>
        </p:nvSpPr>
        <p:spPr>
          <a:xfrm>
            <a:off x="495300" y="8429625"/>
            <a:ext cx="7419975" cy="1419225"/>
          </a:xfrm>
          <a:prstGeom prst="rect">
            <a:avLst/>
          </a:prstGeom>
          <a:solidFill>
            <a:srgbClr val="FFFFFF"/>
          </a:solidFill>
          <a:ln w="16193">
            <a:solidFill>
              <a:srgbClr val="141414"/>
            </a:solidFill>
            <a:prstDash val="solid"/>
          </a:ln>
        </p:spPr>
        <p:txBody>
          <a:bodyPr wrap="none" lIns="0" tIns="19050" rIns="0" bIns="106680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Legend</a:t>
            </a:r>
            <a:endParaRPr lang="ko-KR">
              <a:solidFill>
                <a:srgbClr val="000000"/>
              </a:solidFill>
              <a:latin typeface="Calibri"/>
              <a:ea typeface="Calibri"/>
              <a:cs typeface="Calibri"/>
            </a:endParaRPr>
          </a:p>
        </p:txBody>
      </p:sp>
      <p:sp>
        <p:nvSpPr>
          <p:cNvPr id="121" name="overview-legend-module">
            <a:extLst>
              <a:ext uri="{FF2B5EF4-FFF2-40B4-BE49-F238E27FC236}">
                <ns2:creationId id="{C9ED8F48-4DF7-4532-B079-54EF52075876}"/>
              </a:ext>
            </a:extLst>
          </p:cNvPr>
          <p:cNvSpPr>
            <a:spLocks noGrp="1"/>
          </p:cNvSpPr>
          <p:nvPr/>
        </p:nvSpPr>
        <p:spPr>
          <a:xfrm>
            <a:off x="685800" y="8953500"/>
            <a:ext cx="561975" cy="266700"/>
          </a:xfrm>
          <a:prstGeom prst="rect">
            <a:avLst/>
          </a:prstGeom>
          <a:solidFill>
            <a:srgbClr val="FFFFFF"/>
          </a:solidFill>
          <a:ln w="16193">
            <a:solidFill>
              <a:srgbClr val="141414"/>
            </a:solidFill>
            <a:prstDash val="solid"/>
          </a:ln>
        </p:spPr>
      </p:sp>
      <p:sp>
        <p:nvSpPr>
          <p:cNvPr id="122" name="overview-legend-module-text">
            <a:extLst>
              <a:ext uri="{FF2B5EF4-FFF2-40B4-BE49-F238E27FC236}">
                <ns2:creationId id="{DE079278-585C-4E79-943A-523412311CDC}"/>
              </a:ext>
            </a:extLst>
          </p:cNvPr>
          <p:cNvSpPr>
            <a:spLocks noGrp="1"/>
          </p:cNvSpPr>
          <p:nvPr/>
        </p:nvSpPr>
        <p:spPr>
          <a:xfrm>
            <a:off x="1381125" y="8905875"/>
            <a:ext cx="1743075" cy="361950"/>
          </a:xfrm>
          <a:prstGeom prst="rect">
            <a:avLst/>
          </a:prstGeom>
          <a:noFill/>
          <a:ln w="0">
            <a:noFill/>
            <a:prstDash val="solid"/>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기능 모듈</a:t>
            </a:r>
            <a:endParaRPr lang="ko-KR">
              <a:solidFill>
                <a:srgbClr val="000000"/>
              </a:solidFill>
              <a:latin typeface="Calibri"/>
              <a:ea typeface="Calibri"/>
              <a:cs typeface="Calibri"/>
            </a:endParaRPr>
          </a:p>
        </p:txBody>
      </p:sp>
      <p:sp>
        <p:nvSpPr>
          <p:cNvPr id="123" name="overview-legend-external">
            <a:extLst>
              <a:ext uri="{FF2B5EF4-FFF2-40B4-BE49-F238E27FC236}">
                <ns2:creationId id="{1DE87AB3-99BE-42D8-9DFE-7BEB74ED7F61}"/>
              </a:ext>
            </a:extLst>
          </p:cNvPr>
          <p:cNvSpPr>
            <a:spLocks noGrp="1"/>
          </p:cNvSpPr>
          <p:nvPr/>
        </p:nvSpPr>
        <p:spPr>
          <a:xfrm>
            <a:off x="3543300" y="8953500"/>
            <a:ext cx="561975" cy="266700"/>
          </a:xfrm>
          <a:prstGeom prst="rect">
            <a:avLst/>
          </a:prstGeom>
          <a:solidFill>
            <a:srgbClr val="E8EEF7"/>
          </a:solidFill>
          <a:ln w="16193">
            <a:solidFill>
              <a:srgbClr val="141414"/>
            </a:solidFill>
            <a:prstDash val="solid"/>
          </a:ln>
        </p:spPr>
      </p:sp>
      <p:sp>
        <p:nvSpPr>
          <p:cNvPr id="124" name="overview-legend-external-text">
            <a:extLst>
              <a:ext uri="{FF2B5EF4-FFF2-40B4-BE49-F238E27FC236}">
                <ns2:creationId id="{5A439BB7-A4F9-4D17-B310-817DE17EF3B9}"/>
              </a:ext>
            </a:extLst>
          </p:cNvPr>
          <p:cNvSpPr>
            <a:spLocks noGrp="1"/>
          </p:cNvSpPr>
          <p:nvPr/>
        </p:nvSpPr>
        <p:spPr>
          <a:xfrm>
            <a:off x="4238625" y="8905875"/>
            <a:ext cx="2905125" cy="361950"/>
          </a:xfrm>
          <a:prstGeom prst="rect">
            <a:avLst/>
          </a:prstGeom>
          <a:noFill/>
          <a:ln w="0">
            <a:noFill/>
            <a:prstDash val="solid"/>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외부 책임 모듈</a:t>
            </a:r>
            <a:endParaRPr lang="ko-KR">
              <a:solidFill>
                <a:srgbClr val="000000"/>
              </a:solidFill>
              <a:latin typeface="Calibri"/>
              <a:ea typeface="Calibri"/>
              <a:cs typeface="Calibri"/>
            </a:endParaRPr>
          </a:p>
        </p:txBody>
      </p:sp>
      <p:sp>
        <p:nvSpPr>
          <p:cNvPr id="125" name="overview-legend-store">
            <a:extLst>
              <a:ext uri="{FF2B5EF4-FFF2-40B4-BE49-F238E27FC236}">
                <ns2:creationId id="{0035B82A-BA50-41A5-AF88-3A8518F373E6}"/>
              </a:ext>
            </a:extLst>
          </p:cNvPr>
          <p:cNvSpPr>
            <a:spLocks noGrp="1"/>
          </p:cNvSpPr>
          <p:nvPr/>
        </p:nvSpPr>
        <p:spPr>
          <a:xfrm>
            <a:off x="685800" y="9439275"/>
            <a:ext cx="561975" cy="257175"/>
          </a:xfrm>
          <a:prstGeom prst="can">
            <a:avLst/>
          </a:prstGeom>
          <a:solidFill>
            <a:srgbClr val="FFFFFF"/>
          </a:solidFill>
          <a:ln w="16193">
            <a:solidFill>
              <a:srgbClr val="141414"/>
            </a:solidFill>
            <a:prstDash val="solid"/>
          </a:ln>
        </p:spPr>
      </p:sp>
      <p:sp>
        <p:nvSpPr>
          <p:cNvPr id="126" name="overview-legend-store-text">
            <a:extLst>
              <a:ext uri="{FF2B5EF4-FFF2-40B4-BE49-F238E27FC236}">
                <ns2:creationId id="{6D7E8E32-97F1-4035-AF97-84215950B93D}"/>
              </a:ext>
            </a:extLst>
          </p:cNvPr>
          <p:cNvSpPr>
            <a:spLocks noGrp="1"/>
          </p:cNvSpPr>
          <p:nvPr/>
        </p:nvSpPr>
        <p:spPr>
          <a:xfrm>
            <a:off x="1381125" y="9382125"/>
            <a:ext cx="1809750" cy="361950"/>
          </a:xfrm>
          <a:prstGeom prst="rect">
            <a:avLst/>
          </a:prstGeom>
          <a:noFill/>
          <a:ln w="0">
            <a:noFill/>
            <a:prstDash val="solid"/>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영속 저장소</a:t>
            </a:r>
            <a:endParaRPr lang="ko-KR">
              <a:solidFill>
                <a:srgbClr val="000000"/>
              </a:solidFill>
              <a:latin typeface="Calibri"/>
              <a:ea typeface="Calibri"/>
              <a:cs typeface="Calibri"/>
            </a:endParaRPr>
          </a:p>
        </p:txBody>
      </p:sp>
      <p:sp>
        <p:nvSpPr>
          <p:cNvPr id="127" name="overview-legend-dp">
            <a:extLst>
              <a:ext uri="{FF2B5EF4-FFF2-40B4-BE49-F238E27FC236}">
                <ns2:creationId id="{59742401-6355-4FBE-9BFA-06A3FC25A8A1}"/>
              </a:ext>
            </a:extLst>
          </p:cNvPr>
          <p:cNvSpPr>
            <a:spLocks noGrp="1"/>
          </p:cNvSpPr>
          <p:nvPr/>
        </p:nvSpPr>
        <p:spPr>
          <a:xfrm>
            <a:off x="3543300" y="9439275"/>
            <a:ext cx="561975" cy="257175"/>
          </a:xfrm>
          <a:prstGeom prst="rect">
            <a:avLst/>
          </a:prstGeom>
          <a:noFill/>
          <a:ln w="28575">
            <a:solidFill>
              <a:srgbClr val="2463DD"/>
            </a:solidFill>
            <a:prstDash val="dash"/>
          </a:ln>
        </p:spPr>
      </p:sp>
      <p:sp xmlns:a="http://schemas.openxmlformats.org/drawingml/2006/main" xmlns:ns2="http://schemas.microsoft.com/office/drawing/2014/main" xmlns:p="http://schemas.openxmlformats.org/presentationml/2006/main">
        <p:nvSpPr>
          <p:cNvPr id="128" name="overview-legend-dp-text">
            <a:extLst>
              <a:ext uri="{FF2B5EF4-FFF2-40B4-BE49-F238E27FC236}">
                <ns2:creationId id="{2B4F234E-E757-4F46-8CDD-D7859ABBA813}"/>
              </a:ext>
            </a:extLst>
          </p:cNvPr>
          <p:cNvSpPr>
            <a:spLocks noGrp="1"/>
          </p:cNvSpPr>
          <p:nvPr/>
        </p:nvSpPr>
        <p:spPr>
          <a:xfrm>
            <a:off x="4238625" y="9382125"/>
            <a:ext cx="3371850" cy="361950"/>
          </a:xfrm>
          <a:prstGeom prst="rect">
            <a:avLst/>
          </a:prstGeom>
          <a:noFill/>
          <a:ln w="0">
            <a:noFill/>
            <a:prstDash val="solid"/>
          </a:ln>
        </p:spPr>
        <p:txBody>
          <a:bodyPr wrap="none" lIns="0" tIns="0" rIns="0" bIns="0" anchor="ctr">
            <a:noAutofit/>
          </a:bodyPr>
          <a:lstStyle/>
          <a:p>
            <a:pPr algn="l">
              <a:buNone/>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색상 점선: 기존 A/B 비교 범위</a:t>
            </a:r>
            <a:endParaRPr lang="ko-KR">
              <a:solidFill>
                <a:srgbClr val="000000"/>
              </a:solidFill>
              <a:latin typeface="Calibri"/>
              <a:ea typeface="Calibri"/>
              <a:cs typeface="Calibri"/>
            </a:endParaRPr>
          </a:p>
        </p:txBody>
      </p:sp>
      <p:sp xmlns:a="http://schemas.openxmlformats.org/drawingml/2006/main" xmlns:ns2="http://schemas.microsoft.com/office/drawing/2014/main" xmlns:p="http://schemas.openxmlformats.org/presentationml/2006/main">
        <p:nvSpPr>
          <p:cNvPr id="129" name="overview-scope-footnote">
            <a:extLst>
              <a:ext uri="{FF2B5EF4-FFF2-40B4-BE49-F238E27FC236}">
                <ns2:creationId id="{E77E531B-F943-4860-BCCB-062254FAFF7F}"/>
              </a:ext>
            </a:extLst>
          </p:cNvPr>
          <p:cNvSpPr>
            <a:spLocks noGrp="1"/>
          </p:cNvSpPr>
          <p:nvPr/>
        </p:nvSpPr>
        <p:spPr>
          <a:xfrm>
            <a:off x="495300" y="9934575"/>
            <a:ext cx="17316450" cy="285750"/>
          </a:xfrm>
          <a:prstGeom prst="rect">
            <a:avLst/>
          </a:prstGeom>
          <a:noFill/>
          <a:ln w="0">
            <a:noFill/>
            <a:prstDash val="solid"/>
          </a:ln>
        </p:spPr>
        <p:txBody>
          <a:bodyPr wrap="none" lIns="0" tIns="0" rIns="0" bIns="0" anchor="ctr">
            <a:noAutofit/>
          </a:bodyPr>
          <a:lstStyle/>
          <a:p>
            <a:pPr algn="l">
              <a:buNone/>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44·45·42의 기존 A/B 범위입니다. 화면·음성 주제의 구조는 미정이며, VIA의 요청 이해 기능은 유지합니다.</a:t>
            </a:r>
            <a:endParaRPr lang="ko-KR">
              <a:solidFill>
                <a:srgbClr val="000000"/>
              </a:solidFill>
              <a:latin typeface="Calibri"/>
              <a:ea typeface="Calibri"/>
              <a:cs typeface="Calibri"/>
            </a:endParaRPr>
          </a:p>
        </p:txBody>
      </p:sp>
      <p:sp>
        <p:nvSpPr>
          <p:cNvPr id="130" name="v6-header-title">
            <a:extLst>
              <a:ext uri="{FF2B5EF4-FFF2-40B4-BE49-F238E27FC236}">
                <ns2:creationId id="{BE92472F-572A-49AF-8FCC-3E3DA049C8F1}"/>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설계 Overview</a:t>
            </a:r>
            <a:endParaRPr lang="ko-KR">
              <a:latin typeface="Calibri"/>
              <a:ea typeface="Calibri"/>
              <a:cs typeface="Calibri"/>
            </a:endParaRPr>
          </a:p>
        </p:txBody>
      </p:sp>
      <p:sp>
        <p:nvSpPr>
          <p:cNvPr id="131" name="v6-header-rule">
            <a:extLst>
              <a:ext uri="{FF2B5EF4-FFF2-40B4-BE49-F238E27FC236}">
                <ns2:creationId id="{640967A6-433A-47EE-A27F-DD58EC537341}"/>
              </a:ext>
            </a:extLst>
          </p:cNvPr>
          <p:cNvSpPr>
            <a:spLocks noGrp="1"/>
          </p:cNvSpPr>
          <p:nvPr/>
        </p:nvSpPr>
        <p:spPr>
          <a:xfrm>
            <a:off x="495300" y="990600"/>
            <a:ext cx="17335500" cy="0"/>
          </a:xfrm>
          <a:prstGeom prst="line">
            <a:avLst/>
          </a:prstGeom>
          <a:noFill/>
          <a:ln w="19050">
            <a:solidFill>
              <a:srgbClr val="A6A6A6"/>
            </a:solidFill>
          </a:ln>
        </p:spPr>
      </p:sp>
      <p:sp>
        <p:nvSpPr>
          <p:cNvPr id="132" name="v6-header-stage-0">
            <a:extLst>
              <a:ext uri="{FF2B5EF4-FFF2-40B4-BE49-F238E27FC236}">
                <ns2:creationId id="{E9486B47-44E4-45CF-BC0D-01525CFC7D89}"/>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33" name="v6-header-stage-1">
            <a:extLst>
              <a:ext uri="{FF2B5EF4-FFF2-40B4-BE49-F238E27FC236}">
                <ns2:creationId id="{22AE6F03-ACF9-4953-A355-4DBE45FC28EB}"/>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34" name="v6-header-stage-2">
            <a:extLst>
              <a:ext uri="{FF2B5EF4-FFF2-40B4-BE49-F238E27FC236}">
                <ns2:creationId id="{DD972DC0-E8E0-45F1-B673-474F5693D9A2}"/>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35" name="v6-header-stage-3">
            <a:extLst>
              <a:ext uri="{FF2B5EF4-FFF2-40B4-BE49-F238E27FC236}">
                <ns2:creationId id="{775E0F9A-A2B4-4D80-BD51-5BFA545AA31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36" name="v6-header-stage-4">
            <a:extLst>
              <a:ext uri="{FF2B5EF4-FFF2-40B4-BE49-F238E27FC236}">
                <ns2:creationId id="{687BBC16-B3C8-4A3B-B234-F79ECB57B9BE}"/>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37" name="v6-header-page">
            <a:extLst>
              <a:ext uri="{FF2B5EF4-FFF2-40B4-BE49-F238E27FC236}">
                <ns2:creationId id="{03BA389B-9CA1-4B17-96F5-7D683BCDC1B7}"/>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13 / 33</a:t>
            </a:r>
            <a:endParaRPr lang="ko-KR">
              <a:latin typeface="Calibri"/>
              <a:ea typeface="Calibri"/>
              <a:cs typeface="Calibri"/>
            </a:endParaRPr>
          </a:p>
        </p:txBody>
      </p:sp>
    </p:spTree>
    <p:extLst>
      <p:ext uri="{BB962C8B-B14F-4D97-AF65-F5344CB8AC3E}">
        <p14:creationId val="95298337"/>
      </p:ext>
    </p:extLst>
  </p:cSld>
</p:sld>
</file>

<file path=ppt/slides/slide41.xml><?xml version="1.0" encoding="utf-8"?>
<p:sld xmlns:a="http://schemas.openxmlformats.org/drawingml/2006/main" xmlns:ns2="http://schemas.microsoft.com/office/drawing/2014/main" xmlns:p="http://schemas.openxmlformats.org/presentationml/2006/main" xmlns:p14="http://schemas.microsoft.com/office/powerpoint/2010/main">
  <p:cSld name="via-common-request-background-v8">
    <p:bg>
      <p:bgPr>
        <a:solidFill>
          <a:srgbClr val="FFFFFF"/>
        </a:solidFill>
      </p:bgPr>
    </p:bg>
    <p:spTree>
      <p:nvGrpSpPr>
        <p:cNvPr id="2" name=""/>
        <p:cNvGrpSpPr/>
        <p:nvPr/>
      </p:nvGrpSpPr>
      <p:grpSpPr>
        <a:xfrm/>
      </p:grpSpPr>
      <p:sp>
        <p:nvSpPr>
          <p:cNvPr id="3" name="via-common-request-background-1">
            <a:extLst>
              <a:ext uri="{FF2B5EF4-FFF2-40B4-BE49-F238E27FC236}">
                <ns2:creationId id="{075CA812-9544-441A-B82C-3D4DBA4263A0}"/>
              </a:ext>
            </a:extLst>
          </p:cNvPr>
          <p:cNvSpPr>
            <a:spLocks noGrp="1"/>
          </p:cNvSpPr>
          <p:nvPr/>
        </p:nvSpPr>
        <p:spPr>
          <a:xfrm>
            <a:off x="571500" y="285750"/>
            <a:ext cx="9906000" cy="571500"/>
          </a:xfrm>
          <a:prstGeom prst="rect">
            <a:avLst/>
          </a:prstGeom>
          <a:noFill/>
          <a:ln w="0">
            <a:noFill/>
          </a:ln>
        </p:spPr>
        <p:txBody>
          <a:bodyPr wrap="none" lIns="0" tIns="0" rIns="0" bIns="0" anchor="ctr">
            <a:noAutofit/>
          </a:bodyPr>
          <a:lstStyle>
            <a:defPPr algn="l">
              <a:defRPr sz="3000" b="1" lang="ko-KR">
                <a:solidFill>
                  <a:srgbClr val="000000"/>
                </a:solidFill>
                <a:latin typeface="Calibri"/>
                <a:ea typeface="Calibri"/>
                <a:cs typeface="Calibri"/>
              </a:defRPr>
            </a:defP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말과 화면, 이전 업무를 섞은 요청</a:t>
            </a:r>
            <a:endParaRPr lang="ko-KR">
              <a:latin typeface="Calibri"/>
              <a:ea typeface="Calibri"/>
              <a:cs typeface="Calibri"/>
            </a:endParaRPr>
          </a:p>
        </p:txBody>
      </p:sp>
      <p:sp>
        <p:nvSpPr>
          <p:cNvPr id="4" name="via-common-request-background-2">
            <a:extLst>
              <a:ext uri="{FF2B5EF4-FFF2-40B4-BE49-F238E27FC236}">
                <ns2:creationId id="{D20CB2A1-DCC9-456F-BE2C-ADBFEF1DB0C5}"/>
              </a:ext>
            </a:extLst>
          </p:cNvPr>
          <p:cNvSpPr>
            <a:spLocks noGrp="1"/>
          </p:cNvSpPr>
          <p:nvPr/>
        </p:nvSpPr>
        <p:spPr>
          <a:xfrm>
            <a:off x="495300" y="990600"/>
            <a:ext cx="17335500" cy="9525"/>
          </a:xfrm>
          <a:custGeom>
            <a:pathLst>
              <a:path w="17335500" h="9525">
                <a:moveTo>
                  <a:pt x="0" y="0"/>
                </a:moveTo>
                <a:lnTo>
                  <a:pt x="17335500" y="0"/>
                </a:lnTo>
              </a:path>
            </a:pathLst>
          </a:custGeom>
          <a:noFill/>
          <a:ln w="14288">
            <a:solidFill>
              <a:srgbClr val="A6A6A6"/>
            </a:solidFill>
            <a:prstDash val="solid"/>
          </a:ln>
        </p:spPr>
      </p:sp>
      <p:sp>
        <p:nvSpPr>
          <p:cNvPr id="5" name="via-common-request-background-3">
            <a:extLst>
              <a:ext uri="{FF2B5EF4-FFF2-40B4-BE49-F238E27FC236}">
                <ns2:creationId id="{34A44CB7-98F9-4C32-BA6B-ED63611B1777}"/>
              </a:ext>
            </a:extLst>
          </p:cNvPr>
          <p:cNvSpPr>
            <a:spLocks noGrp="1"/>
          </p:cNvSpPr>
          <p:nvPr/>
        </p:nvSpPr>
        <p:spPr>
          <a:xfrm>
            <a:off x="495300" y="8648700"/>
            <a:ext cx="17297400" cy="9525"/>
          </a:xfrm>
          <a:custGeom>
            <a:pathLst>
              <a:path w="17297400" h="9525">
                <a:moveTo>
                  <a:pt x="0" y="0"/>
                </a:moveTo>
                <a:lnTo>
                  <a:pt x="17297400" y="0"/>
                </a:lnTo>
              </a:path>
            </a:pathLst>
          </a:custGeom>
          <a:noFill/>
          <a:ln w="14288">
            <a:solidFill>
              <a:srgbClr val="A6A6A6"/>
            </a:solidFill>
            <a:prstDash val="solid"/>
          </a:ln>
        </p:spPr>
      </p:sp>
      <p:sp>
        <p:nvSpPr>
          <p:cNvPr id="6" name="via-common-request-background-4">
            <a:extLst>
              <a:ext uri="{FF2B5EF4-FFF2-40B4-BE49-F238E27FC236}">
                <ns2:creationId id="{A18E8A85-6B94-4DDD-A23C-1602456BFCDB}"/>
              </a:ext>
            </a:extLst>
          </p:cNvPr>
          <p:cNvSpPr>
            <a:spLocks noGrp="1"/>
          </p:cNvSpPr>
          <p:nvPr/>
        </p:nvSpPr>
        <p:spPr>
          <a:xfrm>
            <a:off x="495300" y="8905875"/>
            <a:ext cx="1714500" cy="476250"/>
          </a:xfrm>
          <a:prstGeom prst="rect">
            <a:avLst/>
          </a:prstGeom>
          <a:noFill/>
          <a:ln w="0">
            <a:noFill/>
          </a:ln>
        </p:spPr>
        <p:txBody>
          <a:bodyPr wrap="none" lIns="0" tIns="0" rIns="0" bIns="0" anchor="ctr">
            <a:noAutofit/>
          </a:bodyPr>
          <a:lstStyle>
            <a:defPPr algn="l">
              <a:defRPr sz="2300" b="1" lang="ko-KR">
                <a:solidFill>
                  <a:srgbClr val="C00000"/>
                </a:solidFill>
                <a:latin typeface="Calibri"/>
                <a:ea typeface="Calibri"/>
                <a:cs typeface="Calibri"/>
              </a:defRPr>
            </a:defPPr>
          </a:lstStyle>
          <a:p>
            <a:pPr algn="l">
              <a:defRPr sz="2300" b="1" lang="ko-KR">
                <a:solidFill>
                  <a:srgbClr val="C00000"/>
                </a:solidFill>
                <a:latin typeface="Calibri"/>
                <a:ea typeface="Calibri"/>
                <a:cs typeface="Calibri"/>
              </a:defRPr>
            </a:pPr>
            <a:r>
              <a:rPr sz="2300" b="1" lang="ko-KR">
                <a:solidFill>
                  <a:srgbClr val="C00000"/>
                </a:solidFill>
                <a:latin typeface="Calibri"/>
                <a:ea typeface="Calibri"/>
                <a:cs typeface="Calibri"/>
              </a:rPr>
              <a:t>설계 질문</a:t>
            </a:r>
            <a:endParaRPr lang="ko-KR">
              <a:latin typeface="Calibri"/>
              <a:ea typeface="Calibri"/>
              <a:cs typeface="Calibri"/>
            </a:endParaRPr>
          </a:p>
        </p:txBody>
      </p:sp>
      <p:sp>
        <p:nvSpPr>
          <p:cNvPr id="7" name="via-common-request-background-5">
            <a:extLst>
              <a:ext uri="{FF2B5EF4-FFF2-40B4-BE49-F238E27FC236}">
                <ns2:creationId id="{406B8F29-B38F-4A85-8058-F50DE9461481}"/>
              </a:ext>
            </a:extLst>
          </p:cNvPr>
          <p:cNvSpPr>
            <a:spLocks noGrp="1"/>
          </p:cNvSpPr>
          <p:nvPr/>
        </p:nvSpPr>
        <p:spPr>
          <a:xfrm>
            <a:off x="2476500" y="8877300"/>
            <a:ext cx="15316200" cy="9525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이 연결을 유지하며 새 입력, 과거 맥락과 업무를 어떻게 다룰까?</a:t>
            </a:r>
            <a:endParaRPr lang="ko-KR">
              <a:latin typeface="Calibri"/>
              <a:ea typeface="Calibri"/>
              <a:cs typeface="Calibri"/>
            </a:endParaRPr>
          </a:p>
        </p:txBody>
      </p:sp>
      <p:sp>
        <p:nvSpPr>
          <p:cNvPr id="8" name="via-common-request-background-6">
            <a:extLst>
              <a:ext uri="{FF2B5EF4-FFF2-40B4-BE49-F238E27FC236}">
                <ns2:creationId id="{658F0883-5BEB-4972-B2CC-2D3CE9EA4E9F}"/>
              </a:ext>
            </a:extLst>
          </p:cNvPr>
          <p:cNvSpPr>
            <a:spLocks noGrp="1"/>
          </p:cNvSpPr>
          <p:nvPr/>
        </p:nvSpPr>
        <p:spPr>
          <a:xfrm>
            <a:off x="495300" y="1428750"/>
            <a:ext cx="17297400" cy="1047750"/>
          </a:xfrm>
          <a:prstGeom prst="rect">
            <a:avLst/>
          </a:prstGeom>
          <a:noFill/>
          <a:ln w="0">
            <a:noFill/>
          </a:ln>
        </p:spPr>
        <p:txBody>
          <a:bodyPr wrap="none" lIns="0" tIns="0" rIns="0" bIns="0" anchor="ctr">
            <a:noAutofit/>
          </a:bodyPr>
          <a:lstStyle>
            <a:defPPr algn="l">
              <a:defRPr sz="2700" b="1" lang="ko-KR">
                <a:solidFill>
                  <a:srgbClr val="000000"/>
                </a:solidFill>
                <a:latin typeface="Calibri"/>
                <a:ea typeface="Calibri"/>
                <a:cs typeface="Calibri"/>
              </a:defRPr>
            </a:defPPr>
          </a:lstStyle>
          <a:p>
            <a:pPr algn="l">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“이 표를 아까 보고서에 넣어줘.</a:t>
            </a:r>
            <a:endParaRPr lang="ko-KR">
              <a:latin typeface="Calibri"/>
              <a:ea typeface="Calibri"/>
              <a:cs typeface="Calibri"/>
            </a:endParaRPr>
          </a:p>
          <a:p>
            <a:pPr algn="l">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아니, 두 번째 표만. 메일은 보내지 말고.”</a:t>
            </a:r>
            <a:endParaRPr lang="ko-KR">
              <a:latin typeface="Calibri"/>
              <a:ea typeface="Calibri"/>
              <a:cs typeface="Calibri"/>
            </a:endParaRPr>
          </a:p>
        </p:txBody>
      </p:sp>
      <p:sp>
        <p:nvSpPr>
          <p:cNvPr id="9" name="via-common-request-background-7">
            <a:extLst>
              <a:ext uri="{FF2B5EF4-FFF2-40B4-BE49-F238E27FC236}">
                <ns2:creationId id="{1103AD56-E022-4148-AF65-26BF21003AB6}"/>
              </a:ext>
            </a:extLst>
          </p:cNvPr>
          <p:cNvSpPr>
            <a:spLocks noGrp="1"/>
          </p:cNvSpPr>
          <p:nvPr/>
        </p:nvSpPr>
        <p:spPr>
          <a:xfrm>
            <a:off x="495300" y="2781300"/>
            <a:ext cx="5410200" cy="4953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화면에서 가리킨 자료</a:t>
            </a:r>
            <a:endParaRPr lang="ko-KR">
              <a:latin typeface="Calibri"/>
              <a:ea typeface="Calibri"/>
              <a:cs typeface="Calibri"/>
            </a:endParaRPr>
          </a:p>
        </p:txBody>
      </p:sp>
      <p:sp>
        <p:nvSpPr>
          <p:cNvPr id="10" name="via-common-request-background-8">
            <a:extLst>
              <a:ext uri="{FF2B5EF4-FFF2-40B4-BE49-F238E27FC236}">
                <ns2:creationId id="{30F5CEEE-06D4-489D-8A97-BE2EAA115291}"/>
              </a:ext>
            </a:extLst>
          </p:cNvPr>
          <p:cNvSpPr>
            <a:spLocks noGrp="1"/>
          </p:cNvSpPr>
          <p:nvPr/>
        </p:nvSpPr>
        <p:spPr>
          <a:xfrm>
            <a:off x="6438900" y="2781300"/>
            <a:ext cx="5410200" cy="4953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앞서 진행한 업무</a:t>
            </a:r>
            <a:endParaRPr lang="ko-KR">
              <a:latin typeface="Calibri"/>
              <a:ea typeface="Calibri"/>
              <a:cs typeface="Calibri"/>
            </a:endParaRPr>
          </a:p>
        </p:txBody>
      </p:sp>
      <p:sp>
        <p:nvSpPr>
          <p:cNvPr id="11" name="via-common-request-background-9">
            <a:extLst>
              <a:ext uri="{FF2B5EF4-FFF2-40B4-BE49-F238E27FC236}">
                <ns2:creationId id="{6CAA2590-6F91-481D-AFCA-F17CBFD3B8DE}"/>
              </a:ext>
            </a:extLst>
          </p:cNvPr>
          <p:cNvSpPr>
            <a:spLocks noGrp="1"/>
          </p:cNvSpPr>
          <p:nvPr/>
        </p:nvSpPr>
        <p:spPr>
          <a:xfrm>
            <a:off x="12382500" y="2781300"/>
            <a:ext cx="5410200" cy="4953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바꾼 부분과 유지할 조건</a:t>
            </a:r>
            <a:endParaRPr lang="ko-KR">
              <a:latin typeface="Calibri"/>
              <a:ea typeface="Calibri"/>
              <a:cs typeface="Calibri"/>
            </a:endParaRPr>
          </a:p>
        </p:txBody>
      </p:sp>
      <p:sp>
        <p:nvSpPr>
          <p:cNvPr id="12" name="via-common-request-background-10">
            <a:extLst>
              <a:ext uri="{FF2B5EF4-FFF2-40B4-BE49-F238E27FC236}">
                <ns2:creationId id="{85936C5B-418C-459F-A1E5-003801A09D41}"/>
              </a:ext>
            </a:extLst>
          </p:cNvPr>
          <p:cNvSpPr>
            <a:spLocks noGrp="1"/>
          </p:cNvSpPr>
          <p:nvPr/>
        </p:nvSpPr>
        <p:spPr>
          <a:xfrm>
            <a:off x="762000" y="3476625"/>
            <a:ext cx="4800600" cy="685800"/>
          </a:xfrm>
          <a:prstGeom prst="rect">
            <a:avLst/>
          </a:prstGeom>
          <a:solidFill>
            <a:srgbClr val="F2F2F2"/>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첫 번째 표</a:t>
            </a:r>
            <a:endParaRPr lang="ko-KR">
              <a:latin typeface="Calibri"/>
              <a:ea typeface="Calibri"/>
              <a:cs typeface="Calibri"/>
            </a:endParaRPr>
          </a:p>
        </p:txBody>
      </p:sp>
      <p:sp>
        <p:nvSpPr>
          <p:cNvPr id="13" name="via-common-request-background-11">
            <a:extLst>
              <a:ext uri="{FF2B5EF4-FFF2-40B4-BE49-F238E27FC236}">
                <ns2:creationId id="{23BE390D-03A5-4026-8336-A011595074CB}"/>
              </a:ext>
            </a:extLst>
          </p:cNvPr>
          <p:cNvSpPr>
            <a:spLocks noGrp="1"/>
          </p:cNvSpPr>
          <p:nvPr/>
        </p:nvSpPr>
        <p:spPr>
          <a:xfrm>
            <a:off x="762000" y="4381500"/>
            <a:ext cx="4800600" cy="685800"/>
          </a:xfrm>
          <a:prstGeom prst="rect">
            <a:avLst/>
          </a:prstGeom>
          <a:solidFill>
            <a:srgbClr val="FFFFFF"/>
          </a:solidFill>
          <a:ln w="19050">
            <a:solidFill>
              <a:srgbClr val="00889A"/>
            </a:solidFill>
          </a:ln>
        </p:spPr>
        <p:txBody>
          <a:bodyPr wrap="none" lIns="133350" tIns="0" rIns="133350" bIns="0" anchor="ctr">
            <a:noAutofit/>
          </a:bodyPr>
          <a:lstStyle>
            <a:defPPr algn="ctr">
              <a:defRPr sz="2200" b="1" lang="ko-KR">
                <a:solidFill>
                  <a:srgbClr val="000000"/>
                </a:solidFill>
                <a:latin typeface="Calibri"/>
                <a:ea typeface="Calibri"/>
                <a:cs typeface="Calibri"/>
              </a:defRPr>
            </a:defPPr>
          </a:lstStyle>
          <a:p>
            <a:pPr algn="ct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두 번째 표</a:t>
            </a:r>
            <a:endParaRPr lang="ko-KR">
              <a:latin typeface="Calibri"/>
              <a:ea typeface="Calibri"/>
              <a:cs typeface="Calibri"/>
            </a:endParaRPr>
          </a:p>
        </p:txBody>
      </p:sp>
      <p:sp>
        <p:nvSpPr>
          <p:cNvPr id="14" name="via-common-request-background-12">
            <a:extLst>
              <a:ext uri="{FF2B5EF4-FFF2-40B4-BE49-F238E27FC236}">
                <ns2:creationId id="{B924A21A-B780-4CA0-8DC1-A929D05E2C39}"/>
              </a:ext>
            </a:extLst>
          </p:cNvPr>
          <p:cNvSpPr>
            <a:spLocks noGrp="1"/>
          </p:cNvSpPr>
          <p:nvPr/>
        </p:nvSpPr>
        <p:spPr>
          <a:xfrm>
            <a:off x="6705600" y="3476625"/>
            <a:ext cx="4800600" cy="685800"/>
          </a:xfrm>
          <a:prstGeom prst="rect">
            <a:avLst/>
          </a:prstGeom>
          <a:solidFill>
            <a:srgbClr val="FFFFFF"/>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보고서 작성 업무</a:t>
            </a:r>
            <a:endParaRPr lang="ko-KR">
              <a:latin typeface="Calibri"/>
              <a:ea typeface="Calibri"/>
              <a:cs typeface="Calibri"/>
            </a:endParaRPr>
          </a:p>
        </p:txBody>
      </p:sp>
      <p:sp>
        <p:nvSpPr>
          <p:cNvPr id="15" name="via-common-request-background-13">
            <a:extLst>
              <a:ext uri="{FF2B5EF4-FFF2-40B4-BE49-F238E27FC236}">
                <ns2:creationId id="{79F37C84-2AD3-4444-A966-8320E2AB4D5A}"/>
              </a:ext>
            </a:extLst>
          </p:cNvPr>
          <p:cNvSpPr>
            <a:spLocks noGrp="1"/>
          </p:cNvSpPr>
          <p:nvPr/>
        </p:nvSpPr>
        <p:spPr>
          <a:xfrm>
            <a:off x="6705600" y="4381500"/>
            <a:ext cx="4800600" cy="685800"/>
          </a:xfrm>
          <a:prstGeom prst="rect">
            <a:avLst/>
          </a:prstGeom>
          <a:solidFill>
            <a:srgbClr val="FFFFFF"/>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메일 초안 업무</a:t>
            </a:r>
            <a:endParaRPr lang="ko-KR">
              <a:latin typeface="Calibri"/>
              <a:ea typeface="Calibri"/>
              <a:cs typeface="Calibri"/>
            </a:endParaRPr>
          </a:p>
        </p:txBody>
      </p:sp>
      <p:sp>
        <p:nvSpPr>
          <p:cNvPr id="16" name="via-common-request-background-14">
            <a:extLst>
              <a:ext uri="{FF2B5EF4-FFF2-40B4-BE49-F238E27FC236}">
                <ns2:creationId id="{B21A2688-8926-4163-8264-945A512FB45B}"/>
              </a:ext>
            </a:extLst>
          </p:cNvPr>
          <p:cNvSpPr>
            <a:spLocks noGrp="1"/>
          </p:cNvSpPr>
          <p:nvPr/>
        </p:nvSpPr>
        <p:spPr>
          <a:xfrm>
            <a:off x="12649200" y="3543300"/>
            <a:ext cx="4800600" cy="1428750"/>
          </a:xfrm>
          <a:prstGeom prst="rect">
            <a:avLst/>
          </a:prstGeom>
          <a:noFill/>
          <a:ln w="0">
            <a:noFill/>
          </a:ln>
        </p:spPr>
        <p:txBody>
          <a:bodyPr wrap="none" lIns="0" tIns="0" rIns="0" bIns="0" anchor="ctr">
            <a:noAutofit/>
          </a:bodyPr>
          <a:lstStyle>
            <a:defPPr algn="l">
              <a:defRPr sz="2400" b="1" lang="ko-KR">
                <a:solidFill>
                  <a:srgbClr val="000000"/>
                </a:solidFill>
                <a:latin typeface="Calibri"/>
                <a:ea typeface="Calibri"/>
                <a:cs typeface="Calibri"/>
              </a:defRPr>
            </a:defP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표는 두 번째만</a:t>
            </a:r>
            <a:endParaRPr lang="ko-KR">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메일 발송 금지 유지</a:t>
            </a:r>
            <a:endParaRPr lang="ko-KR">
              <a:latin typeface="Calibri"/>
              <a:ea typeface="Calibri"/>
              <a:cs typeface="Calibri"/>
            </a:endParaRPr>
          </a:p>
        </p:txBody>
      </p:sp>
      <p:sp>
        <p:nvSpPr>
          <p:cNvPr id="17" name="via-common-request-background-15">
            <a:extLst>
              <a:ext uri="{FF2B5EF4-FFF2-40B4-BE49-F238E27FC236}">
                <ns2:creationId id="{E4EA977E-ED9E-4D0E-96AD-5FF467D8599F}"/>
              </a:ext>
            </a:extLst>
          </p:cNvPr>
          <p:cNvSpPr>
            <a:spLocks noGrp="1"/>
          </p:cNvSpPr>
          <p:nvPr/>
        </p:nvSpPr>
        <p:spPr>
          <a:xfrm>
            <a:off x="3162300" y="5334000"/>
            <a:ext cx="9525" cy="361950"/>
          </a:xfrm>
          <a:custGeom>
            <a:pathLst>
              <a:path w="9525" h="361950">
                <a:moveTo>
                  <a:pt x="0" y="0"/>
                </a:moveTo>
                <a:lnTo>
                  <a:pt x="0" y="361950"/>
                </a:lnTo>
              </a:path>
            </a:pathLst>
          </a:custGeom>
          <a:noFill/>
          <a:ln w="23813">
            <a:solidFill>
              <a:srgbClr val="00889A"/>
            </a:solidFill>
            <a:prstDash val="solid"/>
          </a:ln>
        </p:spPr>
      </p:sp>
      <p:sp>
        <p:nvSpPr>
          <p:cNvPr id="18" name="via-common-request-background-15-arrow">
            <a:extLst>
              <a:ext uri="{FF2B5EF4-FFF2-40B4-BE49-F238E27FC236}">
                <ns2:creationId id="{6E8B9350-E6E5-483F-807F-34C7A2478856}"/>
              </a:ext>
            </a:extLst>
          </p:cNvPr>
          <p:cNvSpPr>
            <a:spLocks noGrp="1"/>
          </p:cNvSpPr>
          <p:nvPr/>
        </p:nvSpPr>
        <p:spPr>
          <a:xfrm>
            <a:off x="3102935" y="5587283"/>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19" name="via-common-request-background-16">
            <a:extLst>
              <a:ext uri="{FF2B5EF4-FFF2-40B4-BE49-F238E27FC236}">
                <ns2:creationId id="{6BF298EF-26E8-4764-853A-E566C253DF1D}"/>
              </a:ext>
            </a:extLst>
          </p:cNvPr>
          <p:cNvSpPr>
            <a:spLocks noGrp="1"/>
          </p:cNvSpPr>
          <p:nvPr/>
        </p:nvSpPr>
        <p:spPr>
          <a:xfrm>
            <a:off x="9105900" y="5334000"/>
            <a:ext cx="9525" cy="361950"/>
          </a:xfrm>
          <a:custGeom>
            <a:pathLst>
              <a:path w="9525" h="361950">
                <a:moveTo>
                  <a:pt x="0" y="0"/>
                </a:moveTo>
                <a:lnTo>
                  <a:pt x="0" y="361950"/>
                </a:lnTo>
              </a:path>
            </a:pathLst>
          </a:custGeom>
          <a:noFill/>
          <a:ln w="23813">
            <a:solidFill>
              <a:srgbClr val="00889A"/>
            </a:solidFill>
            <a:prstDash val="solid"/>
          </a:ln>
        </p:spPr>
      </p:sp>
      <p:sp>
        <p:nvSpPr>
          <p:cNvPr id="20" name="via-common-request-background-16-arrow">
            <a:extLst>
              <a:ext uri="{FF2B5EF4-FFF2-40B4-BE49-F238E27FC236}">
                <ns2:creationId id="{5E05E353-8E81-4EE4-B242-1103688A4CDB}"/>
              </a:ext>
            </a:extLst>
          </p:cNvPr>
          <p:cNvSpPr>
            <a:spLocks noGrp="1"/>
          </p:cNvSpPr>
          <p:nvPr/>
        </p:nvSpPr>
        <p:spPr>
          <a:xfrm>
            <a:off x="9046535" y="5587283"/>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21" name="via-common-request-background-17">
            <a:extLst>
              <a:ext uri="{FF2B5EF4-FFF2-40B4-BE49-F238E27FC236}">
                <ns2:creationId id="{41DCFEB3-04CE-49C9-BD48-2AFDEB7DBC03}"/>
              </a:ext>
            </a:extLst>
          </p:cNvPr>
          <p:cNvSpPr>
            <a:spLocks noGrp="1"/>
          </p:cNvSpPr>
          <p:nvPr/>
        </p:nvSpPr>
        <p:spPr>
          <a:xfrm>
            <a:off x="15049500" y="5334000"/>
            <a:ext cx="9525" cy="361950"/>
          </a:xfrm>
          <a:custGeom>
            <a:pathLst>
              <a:path w="9525" h="361950">
                <a:moveTo>
                  <a:pt x="0" y="0"/>
                </a:moveTo>
                <a:lnTo>
                  <a:pt x="0" y="361950"/>
                </a:lnTo>
              </a:path>
            </a:pathLst>
          </a:custGeom>
          <a:noFill/>
          <a:ln w="23813">
            <a:solidFill>
              <a:srgbClr val="00889A"/>
            </a:solidFill>
            <a:prstDash val="solid"/>
          </a:ln>
        </p:spPr>
      </p:sp>
      <p:sp>
        <p:nvSpPr>
          <p:cNvPr id="22" name="via-common-request-background-17-arrow">
            <a:extLst>
              <a:ext uri="{FF2B5EF4-FFF2-40B4-BE49-F238E27FC236}">
                <ns2:creationId id="{B2C8E606-B9C4-4D91-98F4-130DA0CF584D}"/>
              </a:ext>
            </a:extLst>
          </p:cNvPr>
          <p:cNvSpPr>
            <a:spLocks noGrp="1"/>
          </p:cNvSpPr>
          <p:nvPr/>
        </p:nvSpPr>
        <p:spPr>
          <a:xfrm>
            <a:off x="14990135" y="5587283"/>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23" name="via-common-request-background-18">
            <a:extLst>
              <a:ext uri="{FF2B5EF4-FFF2-40B4-BE49-F238E27FC236}">
                <ns2:creationId id="{AAD32AE3-D6F4-495A-97A2-9CAA5E5A30FD}"/>
              </a:ext>
            </a:extLst>
          </p:cNvPr>
          <p:cNvSpPr>
            <a:spLocks noGrp="1"/>
          </p:cNvSpPr>
          <p:nvPr/>
        </p:nvSpPr>
        <p:spPr>
          <a:xfrm>
            <a:off x="495300" y="5857875"/>
            <a:ext cx="5410200" cy="495300"/>
          </a:xfrm>
          <a:prstGeom prst="rect">
            <a:avLst/>
          </a:prstGeom>
          <a:noFill/>
          <a:ln w="0">
            <a:noFill/>
          </a:ln>
        </p:spPr>
        <p:txBody>
          <a:bodyPr wrap="none" lIns="0" tIns="0" rIns="0" bIns="0" anchor="ctr">
            <a:noAutofit/>
          </a:bodyPr>
          <a:lstStyle>
            <a:defPPr algn="ctr">
              <a:defRPr sz="2400" b="1" lang="ko-KR">
                <a:solidFill>
                  <a:srgbClr val="000000"/>
                </a:solidFill>
                <a:latin typeface="Calibri"/>
                <a:ea typeface="Calibri"/>
                <a:cs typeface="Calibri"/>
              </a:defRPr>
            </a:defP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실제 자료와 범위</a:t>
            </a:r>
            <a:endParaRPr lang="ko-KR">
              <a:latin typeface="Calibri"/>
              <a:ea typeface="Calibri"/>
              <a:cs typeface="Calibri"/>
            </a:endParaRPr>
          </a:p>
        </p:txBody>
      </p:sp>
      <p:sp>
        <p:nvSpPr>
          <p:cNvPr id="24" name="via-common-request-background-19">
            <a:extLst>
              <a:ext uri="{FF2B5EF4-FFF2-40B4-BE49-F238E27FC236}">
                <ns2:creationId id="{015B5C40-89CA-48E6-8731-D3E7D782434F}"/>
              </a:ext>
            </a:extLst>
          </p:cNvPr>
          <p:cNvSpPr>
            <a:spLocks noGrp="1"/>
          </p:cNvSpPr>
          <p:nvPr/>
        </p:nvSpPr>
        <p:spPr>
          <a:xfrm>
            <a:off x="6438900" y="5857875"/>
            <a:ext cx="5410200" cy="495300"/>
          </a:xfrm>
          <a:prstGeom prst="rect">
            <a:avLst/>
          </a:prstGeom>
          <a:noFill/>
          <a:ln w="0">
            <a:noFill/>
          </a:ln>
        </p:spPr>
        <p:txBody>
          <a:bodyPr wrap="none" lIns="0" tIns="0" rIns="0" bIns="0" anchor="ctr">
            <a:noAutofit/>
          </a:bodyPr>
          <a:lstStyle>
            <a:defPPr algn="ctr">
              <a:defRPr sz="2400" b="1" lang="ko-KR">
                <a:solidFill>
                  <a:srgbClr val="000000"/>
                </a:solidFill>
                <a:latin typeface="Calibri"/>
                <a:ea typeface="Calibri"/>
                <a:cs typeface="Calibri"/>
              </a:defRPr>
            </a:defP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수정할 보고서 업무</a:t>
            </a:r>
            <a:endParaRPr lang="ko-KR">
              <a:latin typeface="Calibri"/>
              <a:ea typeface="Calibri"/>
              <a:cs typeface="Calibri"/>
            </a:endParaRPr>
          </a:p>
        </p:txBody>
      </p:sp>
      <p:sp>
        <p:nvSpPr>
          <p:cNvPr id="25" name="via-common-request-background-20">
            <a:extLst>
              <a:ext uri="{FF2B5EF4-FFF2-40B4-BE49-F238E27FC236}">
                <ns2:creationId id="{A4CDC5ED-134C-4CC9-9091-45CCC4404853}"/>
              </a:ext>
            </a:extLst>
          </p:cNvPr>
          <p:cNvSpPr>
            <a:spLocks noGrp="1"/>
          </p:cNvSpPr>
          <p:nvPr/>
        </p:nvSpPr>
        <p:spPr>
          <a:xfrm>
            <a:off x="12382500" y="5857875"/>
            <a:ext cx="5410200" cy="495300"/>
          </a:xfrm>
          <a:prstGeom prst="rect">
            <a:avLst/>
          </a:prstGeom>
          <a:noFill/>
          <a:ln w="0">
            <a:noFill/>
          </a:ln>
        </p:spPr>
        <p:txBody>
          <a:bodyPr wrap="none" lIns="0" tIns="0" rIns="0" bIns="0" anchor="ctr">
            <a:noAutofit/>
          </a:bodyPr>
          <a:lstStyle>
            <a:defPPr algn="ctr">
              <a:defRPr sz="2400" b="1" lang="ko-KR">
                <a:solidFill>
                  <a:srgbClr val="000000"/>
                </a:solidFill>
                <a:latin typeface="Calibri"/>
                <a:ea typeface="Calibri"/>
                <a:cs typeface="Calibri"/>
              </a:defRPr>
            </a:defP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정정 범위와 기존 조건</a:t>
            </a:r>
            <a:endParaRPr lang="ko-KR">
              <a:latin typeface="Calibri"/>
              <a:ea typeface="Calibri"/>
              <a:cs typeface="Calibri"/>
            </a:endParaRPr>
          </a:p>
        </p:txBody>
      </p:sp>
      <p:sp>
        <p:nvSpPr>
          <p:cNvPr id="26" name="via-common-request-background-21">
            <a:extLst>
              <a:ext uri="{FF2B5EF4-FFF2-40B4-BE49-F238E27FC236}">
                <ns2:creationId id="{C4F63D7B-867F-4D7E-BCCF-61CF056DB812}"/>
              </a:ext>
            </a:extLst>
          </p:cNvPr>
          <p:cNvSpPr>
            <a:spLocks noGrp="1"/>
          </p:cNvSpPr>
          <p:nvPr/>
        </p:nvSpPr>
        <p:spPr>
          <a:xfrm>
            <a:off x="495300" y="6800850"/>
            <a:ext cx="17297400" cy="47625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잘못 연결하면 다른 자료를 넣거나, 금지한 메일을 보내게 됩니다.</a:t>
            </a:r>
            <a:endParaRPr lang="ko-KR">
              <a:latin typeface="Calibri"/>
              <a:ea typeface="Calibri"/>
              <a:cs typeface="Calibri"/>
            </a:endParaRPr>
          </a:p>
        </p:txBody>
      </p:sp>
      <p:sp>
        <p:nvSpPr>
          <p:cNvPr id="27" name="via-common-request-background-22">
            <a:extLst>
              <a:ext uri="{FF2B5EF4-FFF2-40B4-BE49-F238E27FC236}">
                <ns2:creationId id="{F03A4937-92A8-4641-A651-8D8A4CAF284B}"/>
              </a:ext>
            </a:extLst>
          </p:cNvPr>
          <p:cNvSpPr>
            <a:spLocks noGrp="1"/>
          </p:cNvSpPr>
          <p:nvPr/>
        </p:nvSpPr>
        <p:spPr>
          <a:xfrm>
            <a:off x="495300" y="7486650"/>
            <a:ext cx="17297400" cy="476250"/>
          </a:xfrm>
          <a:prstGeom prst="rect">
            <a:avLst/>
          </a:prstGeom>
          <a:noFill/>
          <a:ln w="0">
            <a:noFill/>
          </a:ln>
        </p:spPr>
        <p:txBody>
          <a:bodyPr wrap="none" lIns="0" tIns="0" rIns="0" bIns="0" anchor="ctr">
            <a:noAutofit/>
          </a:bodyPr>
          <a:lstStyle>
            <a:defPPr algn="l">
              <a:defRPr sz="2200" b="0" lang="ko-KR">
                <a:solidFill>
                  <a:srgbClr val="000000"/>
                </a:solidFill>
                <a:latin typeface="Calibri"/>
                <a:ea typeface="Calibri"/>
                <a:cs typeface="Calibri"/>
              </a:defRPr>
            </a:defP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VIA는 대상과 업무 연결, 정정 범위를 함께 판단하고 기존 조건을 보존해야 합니다.</a:t>
            </a:r>
            <a:endParaRPr lang="ko-KR">
              <a:latin typeface="Calibri"/>
              <a:ea typeface="Calibri"/>
              <a:cs typeface="Calibri"/>
            </a:endParaRPr>
          </a:p>
        </p:txBody>
      </p:sp>
      <p:sp>
        <p:nvSpPr>
          <p:cNvPr id="28" name="via-common-request-background-23">
            <a:extLst>
              <a:ext uri="{FF2B5EF4-FFF2-40B4-BE49-F238E27FC236}">
                <ns2:creationId id="{41708486-2B1D-4832-8EFE-F2A7B2D86967}"/>
              </a:ext>
            </a:extLst>
          </p:cNvPr>
          <p:cNvSpPr>
            <a:spLocks noGrp="1"/>
          </p:cNvSpPr>
          <p:nvPr/>
        </p:nvSpPr>
        <p:spPr>
          <a:xfrm>
            <a:off x="495300" y="8029575"/>
            <a:ext cx="17297400" cy="43815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보고서를 어떻게 작성할지 추론하고 실제로 만드는 일은 Downstream Agent가 맡습니다.</a:t>
            </a:r>
            <a:endParaRPr lang="ko-KR">
              <a:latin typeface="Calibri"/>
              <a:ea typeface="Calibri"/>
              <a:cs typeface="Calibri"/>
            </a:endParaRPr>
          </a:p>
        </p:txBody>
      </p:sp>
      <p:sp>
        <p:nvSpPr>
          <p:cNvPr id="29" name="v6-header-stage-0">
            <a:extLst>
              <a:ext uri="{FF2B5EF4-FFF2-40B4-BE49-F238E27FC236}">
                <ns2:creationId id="{5676C74C-BCC9-41ED-A4AB-788611456452}"/>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0" name="v6-header-stage-1">
            <a:extLst>
              <a:ext uri="{FF2B5EF4-FFF2-40B4-BE49-F238E27FC236}">
                <ns2:creationId id="{9015CB6D-EEE6-48B3-BF47-5C347CD7613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1" name="v6-header-stage-2">
            <a:extLst>
              <a:ext uri="{FF2B5EF4-FFF2-40B4-BE49-F238E27FC236}">
                <ns2:creationId id="{4F3BDCA7-F0E0-4B0D-B8A8-BBF8772A7E8B}"/>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2" name="v6-header-stage-3">
            <a:extLst>
              <a:ext uri="{FF2B5EF4-FFF2-40B4-BE49-F238E27FC236}">
                <ns2:creationId id="{81864711-46F3-4BE3-ACFB-A8E7F1E039B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3" name="v6-header-stage-4">
            <a:extLst>
              <a:ext uri="{FF2B5EF4-FFF2-40B4-BE49-F238E27FC236}">
                <ns2:creationId id="{099A8CDA-2A8F-4344-B9C0-28743A02E0B3}"/>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4" name="v6-header-page">
            <a:extLst>
              <a:ext uri="{FF2B5EF4-FFF2-40B4-BE49-F238E27FC236}">
                <ns2:creationId id="{FF5E01B6-949A-4C3C-8E41-1644B5A3CE1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14 / 33</a:t>
            </a:r>
            <a:endParaRPr lang="ko-KR">
              <a:latin typeface="Calibri"/>
              <a:ea typeface="Calibri"/>
              <a:cs typeface="Calibri"/>
            </a:endParaRPr>
          </a:p>
        </p:txBody>
      </p:sp>
    </p:spTree>
    <p:extLst>
      <p:ext uri="{BB962C8B-B14F-4D97-AF65-F5344CB8AC3E}">
        <p14:creationId val="1734597294"/>
      </p:ext>
    </p:extLst>
  </p:cSld>
</p:sld>
</file>

<file path=ppt/slides/slide46.xml><?xml version="1.0" encoding="utf-8"?>
<p:sld xmlns:a="http://schemas.openxmlformats.org/drawingml/2006/main" xmlns:ns2="http://schemas.microsoft.com/office/drawing/2014/main" xmlns:p="http://schemas.openxmlformats.org/presentationml/2006/main" xmlns:p14="http://schemas.microsoft.com/office/powerpoint/2010/main">
  <p:cSld name="project-intro-v10-2">
    <p:bg>
      <p:bgPr>
        <a:solidFill>
          <a:srgbClr val="FFFFFF"/>
        </a:solidFill>
      </p:bgPr>
    </p:bg>
    <p:spTree>
      <p:nvGrpSpPr>
        <p:cNvPr id="2" name=""/>
        <p:cNvGrpSpPr/>
        <p:nvPr/>
      </p:nvGrpSpPr>
      <p:grpSpPr>
        <a:xfrm/>
      </p:grpSpPr>
      <p:sp>
        <p:nvSpPr>
          <p:cNvPr id="3" name="need-panel-0">
            <a:extLst>
              <a:ext uri="{FF2B5EF4-FFF2-40B4-BE49-F238E27FC236}">
                <ns2:creationId id="{224D4487-57BF-4373-8FB4-707ECAF7A333}"/>
              </a:ext>
            </a:extLst>
          </p:cNvPr>
          <p:cNvSpPr>
            <a:spLocks noGrp="1"/>
          </p:cNvSpPr>
          <p:nvPr/>
        </p:nvSpPr>
        <p:spPr>
          <a:xfrm>
            <a:off x="571500" y="1781175"/>
            <a:ext cx="5524500" cy="7953375"/>
          </a:xfrm>
          <a:prstGeom prst="roundRect">
            <a:avLst>
              <a:gd name="adj" fmla="val 1379"/>
            </a:avLst>
          </a:prstGeom>
          <a:solidFill>
            <a:srgbClr val="FFFFFF"/>
          </a:solidFill>
          <a:ln w="14288">
            <a:solidFill>
              <a:srgbClr val="D4DBE4"/>
            </a:solidFill>
          </a:ln>
        </p:spPr>
      </p:sp>
      <p:sp>
        <p:nvSpPr>
          <p:cNvPr id="4" name="need-heading-0">
            <a:extLst>
              <a:ext uri="{FF2B5EF4-FFF2-40B4-BE49-F238E27FC236}">
                <ns2:creationId id="{E024A275-EBCE-4114-993F-0E78C8D7B958}"/>
              </a:ext>
            </a:extLst>
          </p:cNvPr>
          <p:cNvSpPr>
            <a:spLocks noGrp="1"/>
          </p:cNvSpPr>
          <p:nvPr/>
        </p:nvSpPr>
        <p:spPr>
          <a:xfrm>
            <a:off x="666750" y="1457325"/>
            <a:ext cx="5334000" cy="628650"/>
          </a:xfrm>
          <a:prstGeom prst="roundRect">
            <a:avLst>
              <a:gd name="adj" fmla="val 12121"/>
            </a:avLst>
          </a:prstGeom>
          <a:solidFill>
            <a:srgbClr val="082759"/>
          </a:solidFill>
          <a:ln w="0">
            <a:noFill/>
          </a:ln>
        </p:spPr>
        <p:txBody>
          <a:bodyPr wrap="none" lIns="0" tIns="0" rIns="0" bIns="0" anchor="ctr">
            <a:noAutofit/>
          </a:bodyPr>
          <a:lstStyle>
            <a:defPPr algn="ctr">
              <a:defRPr sz="2400" b="1" lang="ko-KR">
                <a:solidFill>
                  <a:srgbClr val="FFFFFF"/>
                </a:solidFill>
                <a:latin typeface="Calibri"/>
                <a:ea typeface="Calibri"/>
                <a:cs typeface="Calibri"/>
              </a:defRPr>
            </a:defPPr>
          </a:lstStyle>
          <a:p>
            <a:pPr algn="ctr">
              <a:defRPr sz="2400" b="1" lang="ko-KR">
                <a:solidFill>
                  <a:srgbClr val="FFFFFF"/>
                </a:solidFill>
                <a:latin typeface="Calibri"/>
                <a:ea typeface="Calibri"/>
                <a:cs typeface="Calibri"/>
              </a:defRPr>
            </a:pPr>
            <a:r>
              <a:rPr sz="2400" b="1" lang="ko-KR">
                <a:solidFill>
                  <a:srgbClr val="FFFFFF"/>
                </a:solidFill>
                <a:latin typeface="Calibri"/>
                <a:ea typeface="Calibri"/>
                <a:cs typeface="Calibri"/>
              </a:rPr>
              <a:t>자연스러운 대화 경험 확보</a:t>
            </a:r>
            <a:endParaRPr lang="ko-KR">
              <a:latin typeface="Calibri"/>
              <a:ea typeface="Calibri"/>
              <a:cs typeface="Calibri"/>
            </a:endParaRPr>
          </a:p>
        </p:txBody>
      </p:sp>
      <p:sp>
        <p:nvSpPr>
          <p:cNvPr id="5" name="need-copy-a-0">
            <a:extLst>
              <a:ext uri="{FF2B5EF4-FFF2-40B4-BE49-F238E27FC236}">
                <ns2:creationId id="{5FBB2EB7-E41C-4650-B37D-490D3FB273BF}"/>
              </a:ext>
            </a:extLst>
          </p:cNvPr>
          <p:cNvSpPr>
            <a:spLocks noGrp="1"/>
          </p:cNvSpPr>
          <p:nvPr/>
        </p:nvSpPr>
        <p:spPr>
          <a:xfrm>
            <a:off x="857250" y="6610350"/>
            <a:ext cx="4953000" cy="685800"/>
          </a:xfrm>
          <a:prstGeom prst="rect">
            <a:avLst/>
          </a:prstGeom>
          <a:noFill/>
          <a:ln w="0">
            <a:noFill/>
          </a:ln>
        </p:spPr>
        <p:txBody>
          <a:bodyPr wrap="none" lIns="0" tIns="0" rIns="0" bIns="0" anchor="ctr">
            <a:noAutofit/>
          </a:bodyPr>
          <a:lstStyle>
            <a:defPPr algn="ctr">
              <a:defRPr sz="2300" b="1" lang="ko-KR">
                <a:solidFill>
                  <a:srgbClr val="000000"/>
                </a:solidFill>
                <a:latin typeface="Calibri"/>
                <a:ea typeface="Calibri"/>
                <a:cs typeface="Calibri"/>
              </a:defRPr>
            </a:defP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사용자 입력과 업무 응답의</a:t>
            </a:r>
            <a:endParaRPr lang="ko-KR">
              <a:latin typeface="Calibri"/>
              <a:ea typeface="Calibri"/>
              <a:cs typeface="Calibri"/>
            </a:endParaRPr>
          </a:p>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끊김 없는 연결</a:t>
            </a:r>
            <a:endParaRPr lang="ko-KR">
              <a:latin typeface="Calibri"/>
              <a:ea typeface="Calibri"/>
              <a:cs typeface="Calibri"/>
            </a:endParaRPr>
          </a:p>
        </p:txBody>
      </p:sp>
      <p:sp>
        <p:nvSpPr>
          <p:cNvPr id="6" name="need-copy-rule-0">
            <a:extLst>
              <a:ext uri="{FF2B5EF4-FFF2-40B4-BE49-F238E27FC236}">
                <ns2:creationId id="{E98903A0-115F-470E-AAC5-FBA34F2F826E}"/>
              </a:ext>
            </a:extLst>
          </p:cNvPr>
          <p:cNvSpPr>
            <a:spLocks noGrp="1"/>
          </p:cNvSpPr>
          <p:nvPr/>
        </p:nvSpPr>
        <p:spPr>
          <a:xfrm>
            <a:off x="895350" y="7505700"/>
            <a:ext cx="4876800" cy="14288"/>
          </a:xfrm>
          <a:prstGeom prst="rect">
            <a:avLst/>
          </a:prstGeom>
          <a:solidFill>
            <a:srgbClr val="D4DBE4"/>
          </a:solidFill>
          <a:ln w="0">
            <a:noFill/>
          </a:ln>
        </p:spPr>
      </p:sp>
      <p:sp>
        <p:nvSpPr>
          <p:cNvPr id="7" name="need-copy-b-0">
            <a:extLst>
              <a:ext uri="{FF2B5EF4-FFF2-40B4-BE49-F238E27FC236}">
                <ns2:creationId id="{F4CA0AA5-6D80-4BD9-AD47-DF9AD6420940}"/>
              </a:ext>
            </a:extLst>
          </p:cNvPr>
          <p:cNvSpPr>
            <a:spLocks noGrp="1"/>
          </p:cNvSpPr>
          <p:nvPr/>
        </p:nvSpPr>
        <p:spPr>
          <a:xfrm>
            <a:off x="857250" y="7696200"/>
            <a:ext cx="4953000" cy="1257300"/>
          </a:xfrm>
          <a:prstGeom prst="rect">
            <a:avLst/>
          </a:prstGeom>
          <a:noFill/>
          <a:ln w="0">
            <a:noFill/>
          </a:ln>
        </p:spPr>
        <p:txBody>
          <a:bodyPr wrap="none" lIns="0" tIns="0" rIns="0" bIns="0" anchor="t">
            <a:noAutofit/>
          </a:bodyPr>
          <a:lstStyle>
            <a:defPPr algn="l">
              <a:defRPr sz="2000" b="0" lang="ko-KR">
                <a:solidFill>
                  <a:srgbClr val="000000"/>
                </a:solidFill>
                <a:latin typeface="Calibri"/>
                <a:ea typeface="Calibri"/>
                <a:cs typeface="Calibri"/>
              </a:defRPr>
            </a:defPPr>
          </a:lstStyle>
          <a:p>
            <a:pPr marL="190500" indent="-114300" algn="l">
              <a:spcAft>
                <a:spcPts val="1000"/>
              </a:spcAft>
              <a:buChar char="•"/>
              <a:defRPr sz="2000" b="0" lang="ko-KR">
                <a:solidFill>
                  <a:srgbClr val="000000"/>
                </a:solidFill>
                <a:latin typeface="Calibri"/>
                <a:ea typeface="Calibri"/>
                <a:cs typeface="Calibri"/>
              </a:defRPr>
            </a:pPr>
            <a:r>
              <a:rPr sz="2000" lang="ko-KR">
                <a:solidFill>
                  <a:srgbClr val="000000"/>
                </a:solidFill>
                <a:latin typeface="Calibri"/>
                <a:ea typeface="Calibri"/>
                <a:cs typeface="Calibri"/>
              </a:rPr>
              <a:t>끼어들기와 정정의 신속한 반영</a:t>
            </a:r>
            <a:endParaRPr lang="ko-KR">
              <a:latin typeface="Calibri"/>
              <a:ea typeface="Calibri"/>
              <a:cs typeface="Calibri"/>
            </a:endParaRPr>
          </a:p>
          <a:p>
            <a:pPr marL="190500" indent="-114300" algn="l">
              <a:spcAft>
                <a:spcPts val="1000"/>
              </a:spcAft>
              <a:buChar char="•"/>
              <a:defRPr sz="2000" b="0" lang="ko-KR">
                <a:solidFill>
                  <a:srgbClr val="000000"/>
                </a:solidFill>
                <a:latin typeface="Calibri"/>
                <a:ea typeface="Calibri"/>
                <a:cs typeface="Calibri"/>
              </a:defRPr>
            </a:pPr>
            <a:r>
              <a:rPr sz="2000" lang="ko-KR">
                <a:solidFill>
                  <a:srgbClr val="000000"/>
                </a:solidFill>
                <a:latin typeface="Calibri"/>
                <a:ea typeface="Calibri"/>
                <a:cs typeface="Calibri"/>
              </a:rPr>
              <a:t>질문과 결과의 적절한 전달</a:t>
            </a:r>
            <a:endParaRPr lang="ko-KR">
              <a:latin typeface="Calibri"/>
              <a:ea typeface="Calibri"/>
              <a:cs typeface="Calibri"/>
            </a:endParaRPr>
          </a:p>
          <a:p>
            <a:pPr marL="190500" indent="-114300" algn="l">
              <a:spcAft>
                <a:spcPts val="1000"/>
              </a:spcAft>
              <a:buChar char="•"/>
              <a:defRPr sz="2000" b="0" lang="ko-KR">
                <a:solidFill>
                  <a:srgbClr val="000000"/>
                </a:solidFill>
                <a:latin typeface="Calibri"/>
                <a:ea typeface="Calibri"/>
                <a:cs typeface="Calibri"/>
              </a:defRPr>
            </a:pPr>
            <a:r>
              <a:rPr sz="2000" lang="ko-KR">
                <a:solidFill>
                  <a:srgbClr val="000000"/>
                </a:solidFill>
                <a:latin typeface="Calibri"/>
                <a:ea typeface="Calibri"/>
                <a:cs typeface="Calibri"/>
              </a:rPr>
              <a:t>대화, 요청, 업무와 실행의 연결</a:t>
            </a:r>
            <a:endParaRPr lang="ko-KR">
              <a:latin typeface="Calibri"/>
              <a:ea typeface="Calibri"/>
              <a:cs typeface="Calibri"/>
            </a:endParaRPr>
          </a:p>
        </p:txBody>
      </p:sp>
      <p:sp>
        <p:nvSpPr>
          <p:cNvPr id="8" name="need-quality-0">
            <a:extLst>
              <a:ext uri="{FF2B5EF4-FFF2-40B4-BE49-F238E27FC236}">
                <ns2:creationId id="{BD0CCCBB-C5B4-4091-9173-E3011E60B54B}"/>
              </a:ext>
            </a:extLst>
          </p:cNvPr>
          <p:cNvSpPr>
            <a:spLocks noGrp="1"/>
          </p:cNvSpPr>
          <p:nvPr/>
        </p:nvSpPr>
        <p:spPr>
          <a:xfrm>
            <a:off x="819150" y="9124950"/>
            <a:ext cx="5029200" cy="438150"/>
          </a:xfrm>
          <a:prstGeom prst="roundRect">
            <a:avLst>
              <a:gd name="adj" fmla="val 17391"/>
            </a:avLst>
          </a:prstGeom>
          <a:solidFill>
            <a:srgbClr val="DDECCD"/>
          </a:solidFill>
          <a:ln w="0">
            <a:noFill/>
          </a:ln>
        </p:spPr>
        <p:txBody>
          <a:bodyPr wrap="none" lIns="0" tIns="0" rIns="0" bIns="0" anchor="ctr">
            <a:noAutofit/>
          </a:bodyPr>
          <a:lstStyle>
            <a:defPPr algn="ctr">
              <a:defRPr sz="2000" b="1" lang="ko-KR">
                <a:solidFill>
                  <a:srgbClr val="000000"/>
                </a:solidFill>
                <a:latin typeface="Calibri"/>
                <a:ea typeface="Calibri"/>
                <a:cs typeface="Calibri"/>
              </a:defRPr>
            </a:defP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응답 지연 최소화</a:t>
            </a:r>
            <a:endParaRPr lang="ko-KR">
              <a:latin typeface="Calibri"/>
              <a:ea typeface="Calibri"/>
              <a:cs typeface="Calibri"/>
            </a:endParaRPr>
          </a:p>
        </p:txBody>
      </p:sp>
      <p:sp>
        <p:nvSpPr>
          <p:cNvPr id="9" name="need-panel-1">
            <a:extLst>
              <a:ext uri="{FF2B5EF4-FFF2-40B4-BE49-F238E27FC236}">
                <ns2:creationId id="{8DAFE209-9D2F-4980-BEC3-6C67DE62251E}"/>
              </a:ext>
            </a:extLst>
          </p:cNvPr>
          <p:cNvSpPr>
            <a:spLocks noGrp="1"/>
          </p:cNvSpPr>
          <p:nvPr/>
        </p:nvSpPr>
        <p:spPr>
          <a:xfrm>
            <a:off x="6381750" y="1781175"/>
            <a:ext cx="5524500" cy="7953375"/>
          </a:xfrm>
          <a:prstGeom prst="roundRect">
            <a:avLst>
              <a:gd name="adj" fmla="val 1379"/>
            </a:avLst>
          </a:prstGeom>
          <a:solidFill>
            <a:srgbClr val="FFFFFF"/>
          </a:solidFill>
          <a:ln w="14288">
            <a:solidFill>
              <a:srgbClr val="D4DBE4"/>
            </a:solidFill>
          </a:ln>
        </p:spPr>
      </p:sp>
      <p:sp>
        <p:nvSpPr>
          <p:cNvPr id="10" name="need-heading-1">
            <a:extLst>
              <a:ext uri="{FF2B5EF4-FFF2-40B4-BE49-F238E27FC236}">
                <ns2:creationId id="{777CE776-B1CB-4FF9-AFFF-B9C3E7EA3A84}"/>
              </a:ext>
            </a:extLst>
          </p:cNvPr>
          <p:cNvSpPr>
            <a:spLocks noGrp="1"/>
          </p:cNvSpPr>
          <p:nvPr/>
        </p:nvSpPr>
        <p:spPr>
          <a:xfrm>
            <a:off x="6477000" y="1457325"/>
            <a:ext cx="5334000" cy="628650"/>
          </a:xfrm>
          <a:prstGeom prst="roundRect">
            <a:avLst>
              <a:gd name="adj" fmla="val 12121"/>
            </a:avLst>
          </a:prstGeom>
          <a:solidFill>
            <a:srgbClr val="082759"/>
          </a:solidFill>
          <a:ln w="0">
            <a:noFill/>
          </a:ln>
        </p:spPr>
        <p:txBody>
          <a:bodyPr wrap="none" lIns="0" tIns="0" rIns="0" bIns="0" anchor="ctr">
            <a:noAutofit/>
          </a:bodyPr>
          <a:lstStyle>
            <a:defPPr algn="ctr">
              <a:defRPr sz="2400" b="1" lang="ko-KR">
                <a:solidFill>
                  <a:srgbClr val="FFFFFF"/>
                </a:solidFill>
                <a:latin typeface="Calibri"/>
                <a:ea typeface="Calibri"/>
                <a:cs typeface="Calibri"/>
              </a:defRPr>
            </a:defPPr>
          </a:lstStyle>
          <a:p>
            <a:pPr algn="ctr">
              <a:defRPr sz="2400" b="1" lang="ko-KR">
                <a:solidFill>
                  <a:srgbClr val="FFFFFF"/>
                </a:solidFill>
                <a:latin typeface="Calibri"/>
                <a:ea typeface="Calibri"/>
                <a:cs typeface="Calibri"/>
              </a:defRPr>
            </a:pPr>
            <a:r>
              <a:rPr sz="2400" b="1" lang="ko-KR">
                <a:solidFill>
                  <a:srgbClr val="FFFFFF"/>
                </a:solidFill>
                <a:latin typeface="Calibri"/>
                <a:ea typeface="Calibri"/>
                <a:cs typeface="Calibri"/>
              </a:rPr>
              <a:t>사용자 맥락의 정확한 이해</a:t>
            </a:r>
            <a:endParaRPr lang="ko-KR">
              <a:latin typeface="Calibri"/>
              <a:ea typeface="Calibri"/>
              <a:cs typeface="Calibri"/>
            </a:endParaRPr>
          </a:p>
        </p:txBody>
      </p:sp>
      <p:sp>
        <p:nvSpPr>
          <p:cNvPr id="11" name="need-copy-a-1">
            <a:extLst>
              <a:ext uri="{FF2B5EF4-FFF2-40B4-BE49-F238E27FC236}">
                <ns2:creationId id="{4AD6B398-0403-4929-B5DD-89BA199ADDE0}"/>
              </a:ext>
            </a:extLst>
          </p:cNvPr>
          <p:cNvSpPr>
            <a:spLocks noGrp="1"/>
          </p:cNvSpPr>
          <p:nvPr/>
        </p:nvSpPr>
        <p:spPr>
          <a:xfrm>
            <a:off x="6667500" y="6610350"/>
            <a:ext cx="4953000" cy="685800"/>
          </a:xfrm>
          <a:prstGeom prst="rect">
            <a:avLst/>
          </a:prstGeom>
          <a:noFill/>
          <a:ln w="0">
            <a:noFill/>
          </a:ln>
        </p:spPr>
        <p:txBody>
          <a:bodyPr wrap="none" lIns="0" tIns="0" rIns="0" bIns="0" anchor="ctr">
            <a:noAutofit/>
          </a:bodyPr>
          <a:lstStyle>
            <a:defPPr algn="ctr">
              <a:defRPr sz="2300" b="1" lang="ko-KR">
                <a:solidFill>
                  <a:srgbClr val="000000"/>
                </a:solidFill>
                <a:latin typeface="Calibri"/>
                <a:ea typeface="Calibri"/>
                <a:cs typeface="Calibri"/>
              </a:defRPr>
            </a:defP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발화, 화면과 이력에 근거한</a:t>
            </a:r>
            <a:endParaRPr lang="ko-KR">
              <a:latin typeface="Calibri"/>
              <a:ea typeface="Calibri"/>
              <a:cs typeface="Calibri"/>
            </a:endParaRPr>
          </a:p>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현재 요청 이해</a:t>
            </a:r>
            <a:endParaRPr lang="ko-KR">
              <a:latin typeface="Calibri"/>
              <a:ea typeface="Calibri"/>
              <a:cs typeface="Calibri"/>
            </a:endParaRPr>
          </a:p>
        </p:txBody>
      </p:sp>
      <p:sp>
        <p:nvSpPr>
          <p:cNvPr id="12" name="need-copy-rule-1">
            <a:extLst>
              <a:ext uri="{FF2B5EF4-FFF2-40B4-BE49-F238E27FC236}">
                <ns2:creationId id="{E9CE2D55-FD76-43D1-ABE1-65E259D51E8D}"/>
              </a:ext>
            </a:extLst>
          </p:cNvPr>
          <p:cNvSpPr>
            <a:spLocks noGrp="1"/>
          </p:cNvSpPr>
          <p:nvPr/>
        </p:nvSpPr>
        <p:spPr>
          <a:xfrm>
            <a:off x="6705600" y="7505700"/>
            <a:ext cx="4876800" cy="14288"/>
          </a:xfrm>
          <a:prstGeom prst="rect">
            <a:avLst/>
          </a:prstGeom>
          <a:solidFill>
            <a:srgbClr val="D4DBE4"/>
          </a:solidFill>
          <a:ln w="0">
            <a:noFill/>
          </a:ln>
        </p:spPr>
      </p:sp>
      <p:sp>
        <p:nvSpPr>
          <p:cNvPr id="13" name="need-copy-b-1">
            <a:extLst>
              <a:ext uri="{FF2B5EF4-FFF2-40B4-BE49-F238E27FC236}">
                <ns2:creationId id="{68756CD8-22C0-4E1A-A726-74D19D9C7B51}"/>
              </a:ext>
            </a:extLst>
          </p:cNvPr>
          <p:cNvSpPr>
            <a:spLocks noGrp="1"/>
          </p:cNvSpPr>
          <p:nvPr/>
        </p:nvSpPr>
        <p:spPr>
          <a:xfrm>
            <a:off x="6667500" y="7696200"/>
            <a:ext cx="4953000" cy="1257300"/>
          </a:xfrm>
          <a:prstGeom prst="rect">
            <a:avLst/>
          </a:prstGeom>
          <a:noFill/>
          <a:ln w="0">
            <a:noFill/>
          </a:ln>
        </p:spPr>
        <p:txBody>
          <a:bodyPr wrap="none" lIns="0" tIns="0" rIns="0" bIns="0" anchor="t">
            <a:noAutofit/>
          </a:bodyPr>
          <a:lstStyle>
            <a:defPPr algn="l">
              <a:defRPr sz="2000" b="0" lang="ko-KR">
                <a:solidFill>
                  <a:srgbClr val="000000"/>
                </a:solidFill>
                <a:latin typeface="Calibri"/>
                <a:ea typeface="Calibri"/>
                <a:cs typeface="Calibri"/>
              </a:defRPr>
            </a:defPPr>
          </a:lstStyle>
          <a:p>
            <a:pPr marL="190500" indent="-114300" algn="l">
              <a:spcAft>
                <a:spcPts val="1000"/>
              </a:spcAft>
              <a:buChar char="•"/>
              <a:defRPr sz="2000" b="0" lang="ko-KR">
                <a:solidFill>
                  <a:srgbClr val="000000"/>
                </a:solidFill>
                <a:latin typeface="Calibri"/>
                <a:ea typeface="Calibri"/>
                <a:cs typeface="Calibri"/>
              </a:defRPr>
            </a:pPr>
            <a:r>
              <a:rPr sz="2000" lang="ko-KR">
                <a:solidFill>
                  <a:srgbClr val="000000"/>
                </a:solidFill>
                <a:latin typeface="Calibri"/>
                <a:ea typeface="Calibri"/>
                <a:cs typeface="Calibri"/>
              </a:rPr>
              <a:t>발화 당시 화면과 조작 정보 결합</a:t>
            </a:r>
            <a:endParaRPr lang="ko-KR">
              <a:latin typeface="Calibri"/>
              <a:ea typeface="Calibri"/>
              <a:cs typeface="Calibri"/>
            </a:endParaRPr>
          </a:p>
          <a:p>
            <a:pPr marL="190500" indent="-114300" algn="l">
              <a:spcAft>
                <a:spcPts val="1000"/>
              </a:spcAft>
              <a:buChar char="•"/>
              <a:defRPr sz="2000" b="0" lang="ko-KR">
                <a:solidFill>
                  <a:srgbClr val="000000"/>
                </a:solidFill>
                <a:latin typeface="Calibri"/>
                <a:ea typeface="Calibri"/>
                <a:cs typeface="Calibri"/>
              </a:defRPr>
            </a:pPr>
            <a:r>
              <a:rPr sz="2000" lang="ko-KR">
                <a:solidFill>
                  <a:srgbClr val="000000"/>
                </a:solidFill>
                <a:latin typeface="Calibri"/>
                <a:ea typeface="Calibri"/>
                <a:cs typeface="Calibri"/>
              </a:rPr>
              <a:t>과거 대화와 업무 결과의 활용</a:t>
            </a:r>
            <a:endParaRPr lang="ko-KR">
              <a:latin typeface="Calibri"/>
              <a:ea typeface="Calibri"/>
              <a:cs typeface="Calibri"/>
            </a:endParaRPr>
          </a:p>
          <a:p>
            <a:pPr marL="190500" indent="-114300" algn="l">
              <a:spcAft>
                <a:spcPts val="1000"/>
              </a:spcAft>
              <a:buChar char="•"/>
              <a:defRPr sz="2000" b="0" lang="ko-KR">
                <a:solidFill>
                  <a:srgbClr val="000000"/>
                </a:solidFill>
                <a:latin typeface="Calibri"/>
                <a:ea typeface="Calibri"/>
                <a:cs typeface="Calibri"/>
              </a:defRPr>
            </a:pPr>
            <a:r>
              <a:rPr sz="2000" lang="ko-KR">
                <a:solidFill>
                  <a:srgbClr val="000000"/>
                </a:solidFill>
                <a:latin typeface="Calibri"/>
                <a:ea typeface="Calibri"/>
                <a:cs typeface="Calibri"/>
              </a:rPr>
              <a:t>지칭 대상과 정정 범위의 정확한 식별</a:t>
            </a:r>
            <a:endParaRPr lang="ko-KR">
              <a:latin typeface="Calibri"/>
              <a:ea typeface="Calibri"/>
              <a:cs typeface="Calibri"/>
            </a:endParaRPr>
          </a:p>
        </p:txBody>
      </p:sp>
      <p:sp>
        <p:nvSpPr>
          <p:cNvPr id="14" name="need-quality-1">
            <a:extLst>
              <a:ext uri="{FF2B5EF4-FFF2-40B4-BE49-F238E27FC236}">
                <ns2:creationId id="{AB581090-C6B7-423E-A3F9-66B7F15ADC6F}"/>
              </a:ext>
            </a:extLst>
          </p:cNvPr>
          <p:cNvSpPr>
            <a:spLocks noGrp="1"/>
          </p:cNvSpPr>
          <p:nvPr/>
        </p:nvSpPr>
        <p:spPr>
          <a:xfrm>
            <a:off x="6629400" y="9124950"/>
            <a:ext cx="5029200" cy="438150"/>
          </a:xfrm>
          <a:prstGeom prst="roundRect">
            <a:avLst>
              <a:gd name="adj" fmla="val 17391"/>
            </a:avLst>
          </a:prstGeom>
          <a:solidFill>
            <a:srgbClr val="DDECCD"/>
          </a:solidFill>
          <a:ln w="0">
            <a:noFill/>
          </a:ln>
        </p:spPr>
        <p:txBody>
          <a:bodyPr wrap="none" lIns="0" tIns="0" rIns="0" bIns="0" anchor="ctr">
            <a:noAutofit/>
          </a:bodyPr>
          <a:lstStyle>
            <a:defPPr algn="ctr">
              <a:defRPr sz="2000" b="1" lang="ko-KR">
                <a:solidFill>
                  <a:srgbClr val="000000"/>
                </a:solidFill>
                <a:latin typeface="Calibri"/>
                <a:ea typeface="Calibri"/>
                <a:cs typeface="Calibri"/>
              </a:defRPr>
            </a:defP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사용자 의도와 지칭의 정확성 확보</a:t>
            </a:r>
            <a:endParaRPr lang="ko-KR">
              <a:latin typeface="Calibri"/>
              <a:ea typeface="Calibri"/>
              <a:cs typeface="Calibri"/>
            </a:endParaRPr>
          </a:p>
        </p:txBody>
      </p:sp>
      <p:sp>
        <p:nvSpPr>
          <p:cNvPr id="15" name="need-panel-2">
            <a:extLst>
              <a:ext uri="{FF2B5EF4-FFF2-40B4-BE49-F238E27FC236}">
                <ns2:creationId id="{BB38E869-327F-4DA5-928B-D45414BBA61D}"/>
              </a:ext>
            </a:extLst>
          </p:cNvPr>
          <p:cNvSpPr>
            <a:spLocks noGrp="1"/>
          </p:cNvSpPr>
          <p:nvPr/>
        </p:nvSpPr>
        <p:spPr>
          <a:xfrm>
            <a:off x="12192000" y="1781175"/>
            <a:ext cx="5524500" cy="7953375"/>
          </a:xfrm>
          <a:prstGeom prst="roundRect">
            <a:avLst>
              <a:gd name="adj" fmla="val 1379"/>
            </a:avLst>
          </a:prstGeom>
          <a:solidFill>
            <a:srgbClr val="FFFFFF"/>
          </a:solidFill>
          <a:ln w="14288">
            <a:solidFill>
              <a:srgbClr val="D4DBE4"/>
            </a:solidFill>
          </a:ln>
        </p:spPr>
      </p:sp>
      <p:sp>
        <p:nvSpPr>
          <p:cNvPr id="16" name="need-heading-2">
            <a:extLst>
              <a:ext uri="{FF2B5EF4-FFF2-40B4-BE49-F238E27FC236}">
                <ns2:creationId id="{CAAEC176-E15B-4E66-9C4E-A1A4E2718D34}"/>
              </a:ext>
            </a:extLst>
          </p:cNvPr>
          <p:cNvSpPr>
            <a:spLocks noGrp="1"/>
          </p:cNvSpPr>
          <p:nvPr/>
        </p:nvSpPr>
        <p:spPr>
          <a:xfrm>
            <a:off x="12287250" y="1457325"/>
            <a:ext cx="5334000" cy="628650"/>
          </a:xfrm>
          <a:prstGeom prst="roundRect">
            <a:avLst>
              <a:gd name="adj" fmla="val 12121"/>
            </a:avLst>
          </a:prstGeom>
          <a:solidFill>
            <a:srgbClr val="082759"/>
          </a:solidFill>
          <a:ln w="0">
            <a:noFill/>
          </a:ln>
        </p:spPr>
        <p:txBody>
          <a:bodyPr wrap="none" lIns="0" tIns="0" rIns="0" bIns="0" anchor="ctr">
            <a:noAutofit/>
          </a:bodyPr>
          <a:lstStyle>
            <a:defPPr algn="ctr">
              <a:defRPr sz="2400" b="1" lang="ko-KR">
                <a:solidFill>
                  <a:srgbClr val="FFFFFF"/>
                </a:solidFill>
                <a:latin typeface="Calibri"/>
                <a:ea typeface="Calibri"/>
                <a:cs typeface="Calibri"/>
              </a:defRPr>
            </a:defPPr>
          </a:lstStyle>
          <a:p>
            <a:pPr algn="ctr">
              <a:defRPr sz="2400" b="1" lang="ko-KR">
                <a:solidFill>
                  <a:srgbClr val="FFFFFF"/>
                </a:solidFill>
                <a:latin typeface="Calibri"/>
                <a:ea typeface="Calibri"/>
                <a:cs typeface="Calibri"/>
              </a:defRPr>
            </a:pPr>
            <a:r>
              <a:rPr sz="2400" b="1" lang="ko-KR">
                <a:solidFill>
                  <a:srgbClr val="FFFFFF"/>
                </a:solidFill>
                <a:latin typeface="Calibri"/>
                <a:ea typeface="Calibri"/>
                <a:cs typeface="Calibri"/>
              </a:rPr>
              <a:t>지속적인 서비스 제공과 확장</a:t>
            </a:r>
            <a:endParaRPr lang="ko-KR">
              <a:latin typeface="Calibri"/>
              <a:ea typeface="Calibri"/>
              <a:cs typeface="Calibri"/>
            </a:endParaRPr>
          </a:p>
        </p:txBody>
      </p:sp>
      <p:sp>
        <p:nvSpPr>
          <p:cNvPr id="17" name="need-copy-a-2">
            <a:extLst>
              <a:ext uri="{FF2B5EF4-FFF2-40B4-BE49-F238E27FC236}">
                <ns2:creationId id="{F3D1720C-70AC-44B3-A5F3-1AFF52219D6E}"/>
              </a:ext>
            </a:extLst>
          </p:cNvPr>
          <p:cNvSpPr>
            <a:spLocks noGrp="1"/>
          </p:cNvSpPr>
          <p:nvPr/>
        </p:nvSpPr>
        <p:spPr>
          <a:xfrm>
            <a:off x="12477750" y="6610350"/>
            <a:ext cx="4953000" cy="685800"/>
          </a:xfrm>
          <a:prstGeom prst="rect">
            <a:avLst/>
          </a:prstGeom>
          <a:noFill/>
          <a:ln w="0">
            <a:noFill/>
          </a:ln>
        </p:spPr>
        <p:txBody>
          <a:bodyPr wrap="none" lIns="0" tIns="0" rIns="0" bIns="0" anchor="ctr">
            <a:noAutofit/>
          </a:bodyPr>
          <a:lstStyle>
            <a:defPPr algn="ctr">
              <a:defRPr sz="2300" b="1" lang="ko-KR">
                <a:solidFill>
                  <a:srgbClr val="000000"/>
                </a:solidFill>
                <a:latin typeface="Calibri"/>
                <a:ea typeface="Calibri"/>
                <a:cs typeface="Calibri"/>
              </a:defRPr>
            </a:defP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지속 사용에 따른 운영 부담과</a:t>
            </a:r>
            <a:endParaRPr lang="ko-KR">
              <a:latin typeface="Calibri"/>
              <a:ea typeface="Calibri"/>
              <a:cs typeface="Calibri"/>
            </a:endParaRPr>
          </a:p>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기술 변경 비용의 관리</a:t>
            </a:r>
            <a:endParaRPr lang="ko-KR">
              <a:latin typeface="Calibri"/>
              <a:ea typeface="Calibri"/>
              <a:cs typeface="Calibri"/>
            </a:endParaRPr>
          </a:p>
        </p:txBody>
      </p:sp>
      <p:sp>
        <p:nvSpPr>
          <p:cNvPr id="18" name="need-copy-rule-2">
            <a:extLst>
              <a:ext uri="{FF2B5EF4-FFF2-40B4-BE49-F238E27FC236}">
                <ns2:creationId id="{EC3A1F05-F7C0-43EE-9D1F-D5FD48B50C78}"/>
              </a:ext>
            </a:extLst>
          </p:cNvPr>
          <p:cNvSpPr>
            <a:spLocks noGrp="1"/>
          </p:cNvSpPr>
          <p:nvPr/>
        </p:nvSpPr>
        <p:spPr>
          <a:xfrm>
            <a:off x="12515850" y="7505700"/>
            <a:ext cx="4876800" cy="14288"/>
          </a:xfrm>
          <a:prstGeom prst="rect">
            <a:avLst/>
          </a:prstGeom>
          <a:solidFill>
            <a:srgbClr val="D4DBE4"/>
          </a:solidFill>
          <a:ln w="0">
            <a:noFill/>
          </a:ln>
        </p:spPr>
      </p:sp>
      <p:sp>
        <p:nvSpPr>
          <p:cNvPr id="19" name="need-copy-b-2">
            <a:extLst>
              <a:ext uri="{FF2B5EF4-FFF2-40B4-BE49-F238E27FC236}">
                <ns2:creationId id="{6BD0BE71-8D75-4CE5-8EC5-EEE020EFA053}"/>
              </a:ext>
            </a:extLst>
          </p:cNvPr>
          <p:cNvSpPr>
            <a:spLocks noGrp="1"/>
          </p:cNvSpPr>
          <p:nvPr/>
        </p:nvSpPr>
        <p:spPr>
          <a:xfrm>
            <a:off x="12477750" y="7696200"/>
            <a:ext cx="4953000" cy="1257300"/>
          </a:xfrm>
          <a:prstGeom prst="rect">
            <a:avLst/>
          </a:prstGeom>
          <a:noFill/>
          <a:ln w="0">
            <a:noFill/>
          </a:ln>
        </p:spPr>
        <p:txBody>
          <a:bodyPr wrap="none" lIns="0" tIns="0" rIns="0" bIns="0" anchor="t">
            <a:noAutofit/>
          </a:bodyPr>
          <a:lstStyle>
            <a:defPPr algn="l">
              <a:defRPr sz="2000" b="0" lang="ko-KR">
                <a:solidFill>
                  <a:srgbClr val="000000"/>
                </a:solidFill>
                <a:latin typeface="Calibri"/>
                <a:ea typeface="Calibri"/>
                <a:cs typeface="Calibri"/>
              </a:defRPr>
            </a:defPPr>
          </a:lstStyle>
          <a:p>
            <a:pPr marL="190500" indent="-114300" algn="l">
              <a:spcAft>
                <a:spcPts val="1000"/>
              </a:spcAft>
              <a:buChar char="•"/>
              <a:defRPr sz="2000" b="0" lang="ko-KR">
                <a:solidFill>
                  <a:srgbClr val="000000"/>
                </a:solidFill>
                <a:latin typeface="Calibri"/>
                <a:ea typeface="Calibri"/>
                <a:cs typeface="Calibri"/>
              </a:defRPr>
            </a:pPr>
            <a:r>
              <a:rPr sz="2000" lang="ko-KR">
                <a:solidFill>
                  <a:srgbClr val="000000"/>
                </a:solidFill>
                <a:latin typeface="Calibri"/>
                <a:ea typeface="Calibri"/>
                <a:cs typeface="Calibri"/>
              </a:rPr>
              <a:t>반복 추론과 불필요한 호출 최소화</a:t>
            </a:r>
            <a:endParaRPr lang="ko-KR">
              <a:latin typeface="Calibri"/>
              <a:ea typeface="Calibri"/>
              <a:cs typeface="Calibri"/>
            </a:endParaRPr>
          </a:p>
          <a:p>
            <a:pPr marL="190500" indent="-114300" algn="l">
              <a:spcAft>
                <a:spcPts val="1000"/>
              </a:spcAft>
              <a:buChar char="•"/>
              <a:defRPr sz="2000" b="0" lang="ko-KR">
                <a:solidFill>
                  <a:srgbClr val="000000"/>
                </a:solidFill>
                <a:latin typeface="Calibri"/>
                <a:ea typeface="Calibri"/>
                <a:cs typeface="Calibri"/>
              </a:defRPr>
            </a:pPr>
            <a:r>
              <a:rPr sz="2000" lang="ko-KR">
                <a:solidFill>
                  <a:srgbClr val="000000"/>
                </a:solidFill>
                <a:latin typeface="Calibri"/>
                <a:ea typeface="Calibri"/>
                <a:cs typeface="Calibri"/>
              </a:rPr>
              <a:t>화면 기록과 대화 상태의 메모리 관리</a:t>
            </a:r>
            <a:endParaRPr lang="ko-KR">
              <a:latin typeface="Calibri"/>
              <a:ea typeface="Calibri"/>
              <a:cs typeface="Calibri"/>
            </a:endParaRPr>
          </a:p>
          <a:p>
            <a:pPr marL="190500" indent="-114300" algn="l">
              <a:spcAft>
                <a:spcPts val="1000"/>
              </a:spcAft>
              <a:buChar char="•"/>
              <a:defRPr sz="2000" b="0" lang="ko-KR">
                <a:solidFill>
                  <a:srgbClr val="000000"/>
                </a:solidFill>
                <a:latin typeface="Calibri"/>
                <a:ea typeface="Calibri"/>
                <a:cs typeface="Calibri"/>
              </a:defRPr>
            </a:pPr>
            <a:r>
              <a:rPr sz="2000" lang="ko-KR">
                <a:solidFill>
                  <a:srgbClr val="000000"/>
                </a:solidFill>
                <a:latin typeface="Calibri"/>
                <a:ea typeface="Calibri"/>
                <a:cs typeface="Calibri"/>
              </a:rPr>
              <a:t>모델 및 Agent 변경의 영향 범위 축소</a:t>
            </a:r>
            <a:endParaRPr lang="ko-KR">
              <a:latin typeface="Calibri"/>
              <a:ea typeface="Calibri"/>
              <a:cs typeface="Calibri"/>
            </a:endParaRPr>
          </a:p>
        </p:txBody>
      </p:sp>
      <p:sp>
        <p:nvSpPr>
          <p:cNvPr id="20" name="need-quality-2">
            <a:extLst>
              <a:ext uri="{FF2B5EF4-FFF2-40B4-BE49-F238E27FC236}">
                <ns2:creationId id="{160850FD-40D5-454E-BE81-8E585A64B858}"/>
              </a:ext>
            </a:extLst>
          </p:cNvPr>
          <p:cNvSpPr>
            <a:spLocks noGrp="1"/>
          </p:cNvSpPr>
          <p:nvPr/>
        </p:nvSpPr>
        <p:spPr>
          <a:xfrm>
            <a:off x="12439650" y="9124950"/>
            <a:ext cx="5029200" cy="438150"/>
          </a:xfrm>
          <a:prstGeom prst="roundRect">
            <a:avLst>
              <a:gd name="adj" fmla="val 17391"/>
            </a:avLst>
          </a:prstGeom>
          <a:solidFill>
            <a:srgbClr val="DDECCD"/>
          </a:solidFill>
          <a:ln w="0">
            <a:noFill/>
          </a:ln>
        </p:spPr>
        <p:txBody>
          <a:bodyPr wrap="none" lIns="0" tIns="0" rIns="0" bIns="0" anchor="ctr">
            <a:noAutofit/>
          </a:bodyPr>
          <a:lstStyle>
            <a:defPPr algn="ctr">
              <a:defRPr sz="2000" b="1" lang="ko-KR">
                <a:solidFill>
                  <a:srgbClr val="000000"/>
                </a:solidFill>
                <a:latin typeface="Calibri"/>
                <a:ea typeface="Calibri"/>
                <a:cs typeface="Calibri"/>
              </a:defRPr>
            </a:defP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운영 부담과 변경 비용 절감</a:t>
            </a:r>
            <a:endParaRPr lang="ko-KR">
              <a:latin typeface="Calibri"/>
              <a:ea typeface="Calibri"/>
              <a:cs typeface="Calibri"/>
            </a:endParaRPr>
          </a:p>
        </p:txBody>
      </p:sp>
      <p:sp>
        <p:nvSpPr>
          <p:cNvPr id="21" name="continuity-caption">
            <a:extLst>
              <a:ext uri="{FF2B5EF4-FFF2-40B4-BE49-F238E27FC236}">
                <ns2:creationId id="{F40AAB10-789B-418A-9A9C-6653DDC00C9D}"/>
              </a:ext>
            </a:extLst>
          </p:cNvPr>
          <p:cNvSpPr>
            <a:spLocks noGrp="1"/>
          </p:cNvSpPr>
          <p:nvPr/>
        </p:nvSpPr>
        <p:spPr>
          <a:xfrm>
            <a:off x="857250" y="2343150"/>
            <a:ext cx="4953000" cy="342900"/>
          </a:xfrm>
          <a:prstGeom prst="rect">
            <a:avLst/>
          </a:prstGeom>
          <a:noFill/>
          <a:ln w="0">
            <a:noFill/>
          </a:ln>
        </p:spPr>
        <p:txBody>
          <a:bodyPr wrap="none" lIns="0" tIns="0" rIns="0" bIns="0" anchor="ctr">
            <a:noAutofit/>
          </a:bodyPr>
          <a:lstStyle>
            <a:defPPr algn="l">
              <a:defRPr sz="1900" b="1" lang="ko-KR">
                <a:solidFill>
                  <a:srgbClr val="000000"/>
                </a:solidFill>
                <a:latin typeface="Calibri"/>
                <a:ea typeface="Calibri"/>
                <a:cs typeface="Calibri"/>
              </a:defRPr>
            </a:defPPr>
          </a:lstStyle>
          <a:p>
            <a:pPr algn="l">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사용자 발화와 Agent 응답의 중첩</a:t>
            </a:r>
            <a:endParaRPr lang="ko-KR">
              <a:latin typeface="Calibri"/>
              <a:ea typeface="Calibri"/>
              <a:cs typeface="Calibri"/>
            </a:endParaRPr>
          </a:p>
        </p:txBody>
      </p:sp>
      <p:sp>
        <p:nvSpPr>
          <p:cNvPr id="22" name="overlap-region">
            <a:extLst>
              <a:ext uri="{FF2B5EF4-FFF2-40B4-BE49-F238E27FC236}">
                <ns2:creationId id="{724EA4FA-1286-4248-B0E8-B7E5B360DD22}"/>
              </a:ext>
            </a:extLst>
          </p:cNvPr>
          <p:cNvSpPr>
            <a:spLocks noGrp="1"/>
          </p:cNvSpPr>
          <p:nvPr/>
        </p:nvSpPr>
        <p:spPr>
          <a:xfrm>
            <a:off x="3248025" y="2809875"/>
            <a:ext cx="1066800" cy="1676400"/>
          </a:xfrm>
          <a:prstGeom prst="rect">
            <a:avLst/>
          </a:prstGeom>
          <a:solidFill>
            <a:srgbClr val="EEF4E8"/>
          </a:solidFill>
          <a:ln w="0">
            <a:noFill/>
          </a:ln>
        </p:spPr>
      </p:sp>
      <p:sp>
        <p:nvSpPr>
          <p:cNvPr id="23" name="user-lane">
            <a:extLst>
              <a:ext uri="{FF2B5EF4-FFF2-40B4-BE49-F238E27FC236}">
                <ns2:creationId id="{4824201B-0D44-495F-B992-D7B4FF11FE0C}"/>
              </a:ext>
            </a:extLst>
          </p:cNvPr>
          <p:cNvSpPr>
            <a:spLocks noGrp="1"/>
          </p:cNvSpPr>
          <p:nvPr/>
        </p:nvSpPr>
        <p:spPr>
          <a:xfrm>
            <a:off x="857250" y="2762250"/>
            <a:ext cx="2286000" cy="285750"/>
          </a:xfrm>
          <a:prstGeom prst="rect">
            <a:avLst/>
          </a:prstGeom>
          <a:noFill/>
          <a:ln w="0">
            <a:noFill/>
          </a:ln>
        </p:spPr>
        <p:txBody>
          <a:bodyPr wrap="none" lIns="0" tIns="0" rIns="0" bIns="0" anchor="ctr">
            <a:noAutofit/>
          </a:bodyPr>
          <a:lstStyle>
            <a:defPPr algn="l">
              <a:defRPr sz="1700" b="0" lang="ko-KR">
                <a:solidFill>
                  <a:srgbClr val="000000"/>
                </a:solidFill>
                <a:latin typeface="Calibri"/>
                <a:ea typeface="Calibri"/>
                <a:cs typeface="Calibri"/>
              </a:defRPr>
            </a:defP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사용자 발화</a:t>
            </a:r>
            <a:endParaRPr lang="ko-KR">
              <a:latin typeface="Calibri"/>
              <a:ea typeface="Calibri"/>
              <a:cs typeface="Calibri"/>
            </a:endParaRPr>
          </a:p>
        </p:txBody>
      </p:sp>
      <p:sp>
        <p:nvSpPr>
          <p:cNvPr id="24" name="user-time-axis">
            <a:extLst>
              <a:ext uri="{FF2B5EF4-FFF2-40B4-BE49-F238E27FC236}">
                <ns2:creationId id="{0CE124EC-FC9B-4A75-88AF-DFD63FF90B9B}"/>
              </a:ext>
            </a:extLst>
          </p:cNvPr>
          <p:cNvSpPr>
            <a:spLocks noGrp="1"/>
          </p:cNvSpPr>
          <p:nvPr/>
        </p:nvSpPr>
        <p:spPr>
          <a:xfrm>
            <a:off x="857250" y="3362325"/>
            <a:ext cx="4933950" cy="95250"/>
          </a:xfrm>
          <a:prstGeom prst="rightArrow">
            <a:avLst/>
          </a:prstGeom>
          <a:solidFill>
            <a:srgbClr val="8398AF"/>
          </a:solidFill>
          <a:ln w="0">
            <a:noFill/>
          </a:ln>
        </p:spPr>
      </p:sp>
      <p:sp>
        <p:nvSpPr>
          <p:cNvPr id="25" name="new-request">
            <a:extLst>
              <a:ext uri="{FF2B5EF4-FFF2-40B4-BE49-F238E27FC236}">
                <ns2:creationId id="{87B9DDB0-C00D-4A0F-A284-FE1FC8D8426B}"/>
              </a:ext>
            </a:extLst>
          </p:cNvPr>
          <p:cNvSpPr>
            <a:spLocks noGrp="1"/>
          </p:cNvSpPr>
          <p:nvPr/>
        </p:nvSpPr>
        <p:spPr>
          <a:xfrm>
            <a:off x="857250" y="3114675"/>
            <a:ext cx="1371600" cy="476250"/>
          </a:xfrm>
          <a:prstGeom prst="roundRect">
            <a:avLst>
              <a:gd name="adj" fmla="val 16000"/>
            </a:avLst>
          </a:prstGeom>
          <a:solidFill>
            <a:srgbClr val="E7F4F8"/>
          </a:solidFill>
          <a:ln w="14288">
            <a:solidFill>
              <a:srgbClr val="D4DBE4"/>
            </a:solidFill>
          </a:ln>
        </p:spPr>
        <p:txBody>
          <a:bodyPr wrap="none" lIns="0" tIns="0" rIns="0" bIns="0" anchor="ctr">
            <a:noAutofit/>
          </a:bodyPr>
          <a:lstStyle>
            <a:defPPr algn="ctr">
              <a:defRPr sz="1800" b="1" lang="ko-KR">
                <a:solidFill>
                  <a:srgbClr val="000000"/>
                </a:solidFill>
                <a:latin typeface="Calibri"/>
                <a:ea typeface="Calibri"/>
                <a:cs typeface="Calibri"/>
              </a:defRPr>
            </a:defP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새 요청</a:t>
            </a:r>
            <a:endParaRPr lang="ko-KR">
              <a:latin typeface="Calibri"/>
              <a:ea typeface="Calibri"/>
              <a:cs typeface="Calibri"/>
            </a:endParaRPr>
          </a:p>
        </p:txBody>
      </p:sp>
      <p:sp>
        <p:nvSpPr>
          <p:cNvPr id="26" name="interruption-correction">
            <a:extLst>
              <a:ext uri="{FF2B5EF4-FFF2-40B4-BE49-F238E27FC236}">
                <ns2:creationId id="{B00B2B35-9026-400A-9F89-3C35C274384F}"/>
              </a:ext>
            </a:extLst>
          </p:cNvPr>
          <p:cNvSpPr>
            <a:spLocks noGrp="1"/>
          </p:cNvSpPr>
          <p:nvPr/>
        </p:nvSpPr>
        <p:spPr>
          <a:xfrm>
            <a:off x="3286125" y="3114675"/>
            <a:ext cx="2505075" cy="476250"/>
          </a:xfrm>
          <a:prstGeom prst="roundRect">
            <a:avLst>
              <a:gd name="adj" fmla="val 16000"/>
            </a:avLst>
          </a:prstGeom>
          <a:solidFill>
            <a:srgbClr val="E7F4F8"/>
          </a:solidFill>
          <a:ln w="14288">
            <a:solidFill>
              <a:srgbClr val="D4DBE4"/>
            </a:solidFill>
          </a:ln>
        </p:spPr>
        <p:txBody>
          <a:bodyPr wrap="none" lIns="0" tIns="0" rIns="0" bIns="0" anchor="ctr">
            <a:noAutofit/>
          </a:bodyPr>
          <a:lstStyle>
            <a:defPPr algn="ctr">
              <a:defRPr sz="1800" b="1" lang="ko-KR">
                <a:solidFill>
                  <a:srgbClr val="000000"/>
                </a:solidFill>
                <a:latin typeface="Calibri"/>
                <a:ea typeface="Calibri"/>
                <a:cs typeface="Calibri"/>
              </a:defRPr>
            </a:defP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끼어들기와 정정</a:t>
            </a:r>
            <a:endParaRPr lang="ko-KR">
              <a:latin typeface="Calibri"/>
              <a:ea typeface="Calibri"/>
              <a:cs typeface="Calibri"/>
            </a:endParaRPr>
          </a:p>
        </p:txBody>
      </p:sp>
      <p:sp>
        <p:nvSpPr>
          <p:cNvPr id="27" name="agent-lane">
            <a:extLst>
              <a:ext uri="{FF2B5EF4-FFF2-40B4-BE49-F238E27FC236}">
                <ns2:creationId id="{5442C392-5D24-4F55-9B65-98BFDF761511}"/>
              </a:ext>
            </a:extLst>
          </p:cNvPr>
          <p:cNvSpPr>
            <a:spLocks noGrp="1"/>
          </p:cNvSpPr>
          <p:nvPr/>
        </p:nvSpPr>
        <p:spPr>
          <a:xfrm>
            <a:off x="857250" y="3762375"/>
            <a:ext cx="3810000" cy="285750"/>
          </a:xfrm>
          <a:prstGeom prst="rect">
            <a:avLst/>
          </a:prstGeom>
          <a:noFill/>
          <a:ln w="0">
            <a:noFill/>
          </a:ln>
        </p:spPr>
        <p:txBody>
          <a:bodyPr wrap="none" lIns="0" tIns="0" rIns="0" bIns="0" anchor="ctr">
            <a:noAutofit/>
          </a:bodyPr>
          <a:lstStyle>
            <a:defPPr algn="l">
              <a:defRPr sz="1700" b="0" lang="ko-KR">
                <a:solidFill>
                  <a:srgbClr val="000000"/>
                </a:solidFill>
                <a:latin typeface="Calibri"/>
                <a:ea typeface="Calibri"/>
                <a:cs typeface="Calibri"/>
              </a:defRPr>
            </a:defP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Downstream Agent</a:t>
            </a:r>
            <a:endParaRPr lang="ko-KR">
              <a:latin typeface="Calibri"/>
              <a:ea typeface="Calibri"/>
              <a:cs typeface="Calibri"/>
            </a:endParaRPr>
          </a:p>
        </p:txBody>
      </p:sp>
      <p:sp>
        <p:nvSpPr>
          <p:cNvPr id="28" name="agent-time-axis">
            <a:extLst>
              <a:ext uri="{FF2B5EF4-FFF2-40B4-BE49-F238E27FC236}">
                <ns2:creationId id="{E0849DA2-5609-4767-A71E-26EB5B7CC1FD}"/>
              </a:ext>
            </a:extLst>
          </p:cNvPr>
          <p:cNvSpPr>
            <a:spLocks noGrp="1"/>
          </p:cNvSpPr>
          <p:nvPr/>
        </p:nvSpPr>
        <p:spPr>
          <a:xfrm>
            <a:off x="857250" y="4314825"/>
            <a:ext cx="4933950" cy="95250"/>
          </a:xfrm>
          <a:prstGeom prst="rightArrow">
            <a:avLst/>
          </a:prstGeom>
          <a:solidFill>
            <a:srgbClr val="8398AF"/>
          </a:solidFill>
          <a:ln w="0">
            <a:noFill/>
          </a:ln>
        </p:spPr>
      </p:sp>
      <p:sp>
        <p:nvSpPr>
          <p:cNvPr id="29" name="agent-question">
            <a:extLst>
              <a:ext uri="{FF2B5EF4-FFF2-40B4-BE49-F238E27FC236}">
                <ns2:creationId id="{8BED7837-FC1F-4408-9569-6EA946A0C26E}"/>
              </a:ext>
            </a:extLst>
          </p:cNvPr>
          <p:cNvSpPr>
            <a:spLocks noGrp="1"/>
          </p:cNvSpPr>
          <p:nvPr/>
        </p:nvSpPr>
        <p:spPr>
          <a:xfrm>
            <a:off x="2524125" y="4067175"/>
            <a:ext cx="1333500" cy="476250"/>
          </a:xfrm>
          <a:prstGeom prst="roundRect">
            <a:avLst>
              <a:gd name="adj" fmla="val 16000"/>
            </a:avLst>
          </a:prstGeom>
          <a:solidFill>
            <a:srgbClr val="F1F5F9"/>
          </a:solidFill>
          <a:ln w="14288">
            <a:solidFill>
              <a:srgbClr val="D4DBE4"/>
            </a:solidFill>
          </a:ln>
        </p:spPr>
        <p:txBody>
          <a:bodyPr wrap="none" lIns="0" tIns="0" rIns="0" bIns="0" anchor="ctr">
            <a:noAutofit/>
          </a:bodyPr>
          <a:lstStyle>
            <a:defPPr algn="ctr">
              <a:defRPr sz="1800" b="1" lang="ko-KR">
                <a:solidFill>
                  <a:srgbClr val="000000"/>
                </a:solidFill>
                <a:latin typeface="Calibri"/>
                <a:ea typeface="Calibri"/>
                <a:cs typeface="Calibri"/>
              </a:defRPr>
            </a:defP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질문</a:t>
            </a:r>
            <a:endParaRPr lang="ko-KR">
              <a:latin typeface="Calibri"/>
              <a:ea typeface="Calibri"/>
              <a:cs typeface="Calibri"/>
            </a:endParaRPr>
          </a:p>
        </p:txBody>
      </p:sp>
      <p:sp>
        <p:nvSpPr>
          <p:cNvPr id="30" name="agent-result">
            <a:extLst>
              <a:ext uri="{FF2B5EF4-FFF2-40B4-BE49-F238E27FC236}">
                <ns2:creationId id="{CF55F259-9A5A-4C3F-AAEA-F72E08C8D7B0}"/>
              </a:ext>
            </a:extLst>
          </p:cNvPr>
          <p:cNvSpPr>
            <a:spLocks noGrp="1"/>
          </p:cNvSpPr>
          <p:nvPr/>
        </p:nvSpPr>
        <p:spPr>
          <a:xfrm>
            <a:off x="4429125" y="4067175"/>
            <a:ext cx="1362075" cy="476250"/>
          </a:xfrm>
          <a:prstGeom prst="roundRect">
            <a:avLst>
              <a:gd name="adj" fmla="val 16000"/>
            </a:avLst>
          </a:prstGeom>
          <a:solidFill>
            <a:srgbClr val="F1F5F9"/>
          </a:solidFill>
          <a:ln w="14288">
            <a:solidFill>
              <a:srgbClr val="D4DBE4"/>
            </a:solidFill>
          </a:ln>
        </p:spPr>
        <p:txBody>
          <a:bodyPr wrap="none" lIns="0" tIns="0" rIns="0" bIns="0" anchor="ctr">
            <a:noAutofit/>
          </a:bodyPr>
          <a:lstStyle>
            <a:defPPr algn="ctr">
              <a:defRPr sz="1800" b="1" lang="ko-KR">
                <a:solidFill>
                  <a:srgbClr val="000000"/>
                </a:solidFill>
                <a:latin typeface="Calibri"/>
                <a:ea typeface="Calibri"/>
                <a:cs typeface="Calibri"/>
              </a:defRPr>
            </a:defP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결과</a:t>
            </a:r>
            <a:endParaRPr lang="ko-KR">
              <a:latin typeface="Calibri"/>
              <a:ea typeface="Calibri"/>
              <a:cs typeface="Calibri"/>
            </a:endParaRPr>
          </a:p>
        </p:txBody>
      </p:sp>
      <p:sp>
        <p:nvSpPr>
          <p:cNvPr id="31" name="overlap-label">
            <a:extLst>
              <a:ext uri="{FF2B5EF4-FFF2-40B4-BE49-F238E27FC236}">
                <ns2:creationId id="{3C77E548-D725-4FD6-AA84-00E580BF9E62}"/>
              </a:ext>
            </a:extLst>
          </p:cNvPr>
          <p:cNvSpPr>
            <a:spLocks noGrp="1"/>
          </p:cNvSpPr>
          <p:nvPr/>
        </p:nvSpPr>
        <p:spPr>
          <a:xfrm>
            <a:off x="3267075" y="4591050"/>
            <a:ext cx="1295400" cy="247650"/>
          </a:xfrm>
          <a:prstGeom prst="rect">
            <a:avLst/>
          </a:prstGeom>
          <a:noFill/>
          <a:ln w="0">
            <a:noFill/>
          </a:ln>
        </p:spPr>
        <p:txBody>
          <a:bodyPr wrap="none" lIns="0" tIns="0" rIns="0" bIns="0" anchor="ctr">
            <a:noAutofit/>
          </a:bodyPr>
          <a:lstStyle>
            <a:defPPr algn="ctr">
              <a:defRPr sz="1600" b="1" lang="ko-KR">
                <a:solidFill>
                  <a:srgbClr val="082759"/>
                </a:solidFill>
                <a:latin typeface="Calibri"/>
                <a:ea typeface="Calibri"/>
                <a:cs typeface="Calibri"/>
              </a:defRPr>
            </a:defPPr>
          </a:lstStyle>
          <a:p>
            <a:pPr algn="ctr">
              <a:defRPr sz="1600" b="1" lang="ko-KR">
                <a:solidFill>
                  <a:srgbClr val="082759"/>
                </a:solidFill>
                <a:latin typeface="Calibri"/>
                <a:ea typeface="Calibri"/>
                <a:cs typeface="Calibri"/>
              </a:defRPr>
            </a:pPr>
            <a:r>
              <a:rPr sz="1600" b="1" lang="ko-KR">
                <a:solidFill>
                  <a:srgbClr val="082759"/>
                </a:solidFill>
                <a:latin typeface="Calibri"/>
                <a:ea typeface="Calibri"/>
                <a:cs typeface="Calibri"/>
              </a:rPr>
              <a:t>동시 발생</a:t>
            </a:r>
            <a:endParaRPr lang="ko-KR">
              <a:latin typeface="Calibri"/>
              <a:ea typeface="Calibri"/>
              <a:cs typeface="Calibri"/>
            </a:endParaRPr>
          </a:p>
        </p:txBody>
      </p:sp>
      <p:sp>
        <p:nvSpPr>
          <p:cNvPr id="32" name="time-label">
            <a:extLst>
              <a:ext uri="{FF2B5EF4-FFF2-40B4-BE49-F238E27FC236}">
                <ns2:creationId id="{09606304-AF1B-4AEF-B4D4-60E7542DFB53}"/>
              </a:ext>
            </a:extLst>
          </p:cNvPr>
          <p:cNvSpPr>
            <a:spLocks noGrp="1"/>
          </p:cNvSpPr>
          <p:nvPr/>
        </p:nvSpPr>
        <p:spPr>
          <a:xfrm>
            <a:off x="5248275" y="4591050"/>
            <a:ext cx="533400" cy="247650"/>
          </a:xfrm>
          <a:prstGeom prst="rect">
            <a:avLst/>
          </a:prstGeom>
          <a:noFill/>
          <a:ln w="0">
            <a:noFill/>
          </a:ln>
        </p:spPr>
        <p:txBody>
          <a:bodyPr wrap="none" lIns="0" tIns="0" rIns="0" bIns="0" anchor="ctr">
            <a:noAutofit/>
          </a:bodyPr>
          <a:lstStyle>
            <a:defPPr algn="r">
              <a:defRPr sz="1400" b="0" lang="ko-KR">
                <a:solidFill>
                  <a:srgbClr val="4A5563"/>
                </a:solidFill>
                <a:latin typeface="Calibri"/>
                <a:ea typeface="Calibri"/>
                <a:cs typeface="Calibri"/>
              </a:defRPr>
            </a:defPPr>
          </a:lstStyle>
          <a:p>
            <a:pPr algn="r">
              <a:defRPr sz="1400" b="0" lang="ko-KR">
                <a:solidFill>
                  <a:srgbClr val="4A5563"/>
                </a:solidFill>
                <a:latin typeface="Calibri"/>
                <a:ea typeface="Calibri"/>
                <a:cs typeface="Calibri"/>
              </a:defRPr>
            </a:pPr>
            <a:r>
              <a:rPr sz="1400" b="0" lang="ko-KR">
                <a:solidFill>
                  <a:srgbClr val="4A5563"/>
                </a:solidFill>
                <a:latin typeface="Calibri"/>
                <a:ea typeface="Calibri"/>
                <a:cs typeface="Calibri"/>
              </a:rPr>
              <a:t>시간</a:t>
            </a:r>
            <a:endParaRPr lang="ko-KR">
              <a:latin typeface="Calibri"/>
              <a:ea typeface="Calibri"/>
              <a:cs typeface="Calibri"/>
            </a:endParaRPr>
          </a:p>
        </p:txBody>
      </p:sp>
      <p:sp>
        <p:nvSpPr>
          <p:cNvPr id="33" name="relations-label">
            <a:extLst>
              <a:ext uri="{FF2B5EF4-FFF2-40B4-BE49-F238E27FC236}">
                <ns2:creationId id="{DD177C67-386B-4A92-A7A2-90321EBA1082}"/>
              </a:ext>
            </a:extLst>
          </p:cNvPr>
          <p:cNvSpPr>
            <a:spLocks noGrp="1"/>
          </p:cNvSpPr>
          <p:nvPr/>
        </p:nvSpPr>
        <p:spPr>
          <a:xfrm>
            <a:off x="857250" y="5048250"/>
            <a:ext cx="2381250" cy="285750"/>
          </a:xfrm>
          <a:prstGeom prst="rect">
            <a:avLst/>
          </a:prstGeom>
          <a:noFill/>
          <a:ln w="0">
            <a:noFill/>
          </a:ln>
        </p:spPr>
        <p:txBody>
          <a:bodyPr wrap="none" lIns="0" tIns="0" rIns="0" bIns="0" anchor="ctr">
            <a:noAutofit/>
          </a:bodyPr>
          <a:lstStyle>
            <a:defPPr algn="l">
              <a:defRPr sz="1700" b="1" lang="ko-KR">
                <a:solidFill>
                  <a:srgbClr val="000000"/>
                </a:solidFill>
                <a:latin typeface="Calibri"/>
                <a:ea typeface="Calibri"/>
                <a:cs typeface="Calibri"/>
              </a:defRPr>
            </a:defP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대화와 업무의 관계</a:t>
            </a:r>
            <a:endParaRPr lang="ko-KR">
              <a:latin typeface="Calibri"/>
              <a:ea typeface="Calibri"/>
              <a:cs typeface="Calibri"/>
            </a:endParaRPr>
          </a:p>
        </p:txBody>
      </p:sp>
      <p:sp>
        <p:nvSpPr>
          <p:cNvPr id="34" name="relation-question">
            <a:extLst>
              <a:ext uri="{FF2B5EF4-FFF2-40B4-BE49-F238E27FC236}">
                <ns2:creationId id="{63C353A3-3962-4A8F-A03C-B25DCB8BAC8E}"/>
              </a:ext>
            </a:extLst>
          </p:cNvPr>
          <p:cNvSpPr>
            <a:spLocks noGrp="1"/>
          </p:cNvSpPr>
          <p:nvPr/>
        </p:nvSpPr>
        <p:spPr>
          <a:xfrm>
            <a:off x="2047875" y="5429250"/>
            <a:ext cx="876300" cy="400050"/>
          </a:xfrm>
          <a:prstGeom prst="roundRect">
            <a:avLst>
              <a:gd name="adj" fmla="val 19048"/>
            </a:avLst>
          </a:prstGeom>
          <a:solidFill>
            <a:srgbClr val="FFFFFF"/>
          </a:solidFill>
          <a:ln w="14288">
            <a:solidFill>
              <a:srgbClr val="D4DBE4"/>
            </a:solidFill>
          </a:ln>
        </p:spPr>
        <p:txBody>
          <a:bodyPr wrap="none" lIns="0" tIns="0" rIns="0" bIns="0" anchor="ctr">
            <a:noAutofit/>
          </a:bodyPr>
          <a:lstStyle>
            <a:defPPr algn="ctr">
              <a:defRPr sz="1700" b="1" lang="ko-KR">
                <a:solidFill>
                  <a:srgbClr val="000000"/>
                </a:solidFill>
                <a:latin typeface="Calibri"/>
                <a:ea typeface="Calibri"/>
                <a:cs typeface="Calibri"/>
              </a:defRPr>
            </a:defP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질문</a:t>
            </a:r>
            <a:endParaRPr lang="ko-KR">
              <a:latin typeface="Calibri"/>
              <a:ea typeface="Calibri"/>
              <a:cs typeface="Calibri"/>
            </a:endParaRPr>
          </a:p>
        </p:txBody>
      </p:sp>
      <p:sp>
        <p:nvSpPr>
          <p:cNvPr id="35" name="question-request-link">
            <a:extLst>
              <a:ext uri="{FF2B5EF4-FFF2-40B4-BE49-F238E27FC236}">
                <ns2:creationId id="{CE98BAEC-8ADE-45B0-80C7-004AC47480A6}"/>
              </a:ext>
            </a:extLst>
          </p:cNvPr>
          <p:cNvSpPr>
            <a:spLocks noGrp="1"/>
          </p:cNvSpPr>
          <p:nvPr/>
        </p:nvSpPr>
        <p:spPr>
          <a:xfrm>
            <a:off x="2476500" y="5829300"/>
            <a:ext cx="19050" cy="190500"/>
          </a:xfrm>
          <a:prstGeom prst="rect">
            <a:avLst/>
          </a:prstGeom>
          <a:solidFill>
            <a:srgbClr val="8398AF"/>
          </a:solidFill>
          <a:ln w="0">
            <a:noFill/>
          </a:ln>
        </p:spPr>
      </p:sp>
      <p:sp>
        <p:nvSpPr>
          <p:cNvPr id="36" name="relation-0">
            <a:extLst>
              <a:ext uri="{FF2B5EF4-FFF2-40B4-BE49-F238E27FC236}">
                <ns2:creationId id="{ACD1DA3D-0D0B-4E3C-8C4C-78BFB6816D52}"/>
              </a:ext>
            </a:extLst>
          </p:cNvPr>
          <p:cNvSpPr>
            <a:spLocks noGrp="1"/>
          </p:cNvSpPr>
          <p:nvPr/>
        </p:nvSpPr>
        <p:spPr>
          <a:xfrm>
            <a:off x="857250" y="6019800"/>
            <a:ext cx="895350" cy="400050"/>
          </a:xfrm>
          <a:prstGeom prst="roundRect">
            <a:avLst>
              <a:gd name="adj" fmla="val 19048"/>
            </a:avLst>
          </a:prstGeom>
          <a:solidFill>
            <a:srgbClr val="F1F5F9"/>
          </a:solidFill>
          <a:ln w="14288">
            <a:solidFill>
              <a:srgbClr val="D4DBE4"/>
            </a:solidFill>
          </a:ln>
        </p:spPr>
        <p:txBody>
          <a:bodyPr wrap="none" lIns="0" tIns="0" rIns="0" bIns="0" anchor="ctr">
            <a:noAutofit/>
          </a:bodyPr>
          <a:lstStyle>
            <a:defPPr algn="ctr">
              <a:defRPr sz="1700" b="1" lang="ko-KR">
                <a:solidFill>
                  <a:srgbClr val="000000"/>
                </a:solidFill>
                <a:latin typeface="Calibri"/>
                <a:ea typeface="Calibri"/>
                <a:cs typeface="Calibri"/>
              </a:defRPr>
            </a:defP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대화</a:t>
            </a:r>
            <a:endParaRPr lang="ko-KR">
              <a:latin typeface="Calibri"/>
              <a:ea typeface="Calibri"/>
              <a:cs typeface="Calibri"/>
            </a:endParaRPr>
          </a:p>
        </p:txBody>
      </p:sp>
      <p:sp>
        <p:nvSpPr>
          <p:cNvPr id="37" name="relation-edge-0">
            <a:extLst>
              <a:ext uri="{FF2B5EF4-FFF2-40B4-BE49-F238E27FC236}">
                <ns2:creationId id="{A4B79ADE-46B6-47C0-97E1-3683C992B64C}"/>
              </a:ext>
            </a:extLst>
          </p:cNvPr>
          <p:cNvSpPr>
            <a:spLocks noGrp="1"/>
          </p:cNvSpPr>
          <p:nvPr/>
        </p:nvSpPr>
        <p:spPr>
          <a:xfrm>
            <a:off x="1752600" y="6210300"/>
            <a:ext cx="295275" cy="19050"/>
          </a:xfrm>
          <a:prstGeom prst="rect">
            <a:avLst/>
          </a:prstGeom>
          <a:solidFill>
            <a:srgbClr val="8398AF"/>
          </a:solidFill>
          <a:ln w="0">
            <a:noFill/>
          </a:ln>
        </p:spPr>
      </p:sp>
      <p:sp>
        <p:nvSpPr>
          <p:cNvPr id="38" name="relation-1">
            <a:extLst>
              <a:ext uri="{FF2B5EF4-FFF2-40B4-BE49-F238E27FC236}">
                <ns2:creationId id="{F23CA529-F09A-4F19-A392-41460FC786E1}"/>
              </a:ext>
            </a:extLst>
          </p:cNvPr>
          <p:cNvSpPr>
            <a:spLocks noGrp="1"/>
          </p:cNvSpPr>
          <p:nvPr/>
        </p:nvSpPr>
        <p:spPr>
          <a:xfrm>
            <a:off x="2047875" y="6019800"/>
            <a:ext cx="876300" cy="400050"/>
          </a:xfrm>
          <a:prstGeom prst="roundRect">
            <a:avLst>
              <a:gd name="adj" fmla="val 19048"/>
            </a:avLst>
          </a:prstGeom>
          <a:solidFill>
            <a:srgbClr val="DDECCD"/>
          </a:solidFill>
          <a:ln w="14288">
            <a:solidFill>
              <a:srgbClr val="D4DBE4"/>
            </a:solidFill>
          </a:ln>
        </p:spPr>
        <p:txBody>
          <a:bodyPr wrap="none" lIns="0" tIns="0" rIns="0" bIns="0" anchor="ctr">
            <a:noAutofit/>
          </a:bodyPr>
          <a:lstStyle>
            <a:defPPr algn="ctr">
              <a:defRPr sz="1700" b="1" lang="ko-KR">
                <a:solidFill>
                  <a:srgbClr val="000000"/>
                </a:solidFill>
                <a:latin typeface="Calibri"/>
                <a:ea typeface="Calibri"/>
                <a:cs typeface="Calibri"/>
              </a:defRPr>
            </a:defP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요청</a:t>
            </a:r>
            <a:endParaRPr lang="ko-KR">
              <a:latin typeface="Calibri"/>
              <a:ea typeface="Calibri"/>
              <a:cs typeface="Calibri"/>
            </a:endParaRPr>
          </a:p>
        </p:txBody>
      </p:sp>
      <p:sp>
        <p:nvSpPr>
          <p:cNvPr id="39" name="relation-edge-1">
            <a:extLst>
              <a:ext uri="{FF2B5EF4-FFF2-40B4-BE49-F238E27FC236}">
                <ns2:creationId id="{977DE543-A3A5-4FE6-99A7-1CAF948576E6}"/>
              </a:ext>
            </a:extLst>
          </p:cNvPr>
          <p:cNvSpPr>
            <a:spLocks noGrp="1"/>
          </p:cNvSpPr>
          <p:nvPr/>
        </p:nvSpPr>
        <p:spPr>
          <a:xfrm>
            <a:off x="2924175" y="6210300"/>
            <a:ext cx="295275" cy="19050"/>
          </a:xfrm>
          <a:prstGeom prst="rect">
            <a:avLst/>
          </a:prstGeom>
          <a:solidFill>
            <a:srgbClr val="8398AF"/>
          </a:solidFill>
          <a:ln w="0">
            <a:noFill/>
          </a:ln>
        </p:spPr>
      </p:sp>
      <p:sp>
        <p:nvSpPr>
          <p:cNvPr id="40" name="relation-2">
            <a:extLst>
              <a:ext uri="{FF2B5EF4-FFF2-40B4-BE49-F238E27FC236}">
                <ns2:creationId id="{10056226-722D-4FB5-BA33-FE16AFC7B821}"/>
              </a:ext>
            </a:extLst>
          </p:cNvPr>
          <p:cNvSpPr>
            <a:spLocks noGrp="1"/>
          </p:cNvSpPr>
          <p:nvPr/>
        </p:nvSpPr>
        <p:spPr>
          <a:xfrm>
            <a:off x="3238500" y="6019800"/>
            <a:ext cx="876300" cy="400050"/>
          </a:xfrm>
          <a:prstGeom prst="roundRect">
            <a:avLst>
              <a:gd name="adj" fmla="val 19048"/>
            </a:avLst>
          </a:prstGeom>
          <a:solidFill>
            <a:srgbClr val="F1F5F9"/>
          </a:solidFill>
          <a:ln w="14288">
            <a:solidFill>
              <a:srgbClr val="D4DBE4"/>
            </a:solidFill>
          </a:ln>
        </p:spPr>
        <p:txBody>
          <a:bodyPr wrap="none" lIns="0" tIns="0" rIns="0" bIns="0" anchor="ctr">
            <a:noAutofit/>
          </a:bodyPr>
          <a:lstStyle>
            <a:defPPr algn="ctr">
              <a:defRPr sz="1700" b="1" lang="ko-KR">
                <a:solidFill>
                  <a:srgbClr val="000000"/>
                </a:solidFill>
                <a:latin typeface="Calibri"/>
                <a:ea typeface="Calibri"/>
                <a:cs typeface="Calibri"/>
              </a:defRPr>
            </a:defP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업무</a:t>
            </a:r>
            <a:endParaRPr lang="ko-KR">
              <a:latin typeface="Calibri"/>
              <a:ea typeface="Calibri"/>
              <a:cs typeface="Calibri"/>
            </a:endParaRPr>
          </a:p>
        </p:txBody>
      </p:sp>
      <p:sp>
        <p:nvSpPr>
          <p:cNvPr id="41" name="relation-edge-2">
            <a:extLst>
              <a:ext uri="{FF2B5EF4-FFF2-40B4-BE49-F238E27FC236}">
                <ns2:creationId id="{0BF3EA68-1341-4292-B988-EF589B3B9BB1}"/>
              </a:ext>
            </a:extLst>
          </p:cNvPr>
          <p:cNvSpPr>
            <a:spLocks noGrp="1"/>
          </p:cNvSpPr>
          <p:nvPr/>
        </p:nvSpPr>
        <p:spPr>
          <a:xfrm>
            <a:off x="4114800" y="6210300"/>
            <a:ext cx="295275" cy="19050"/>
          </a:xfrm>
          <a:prstGeom prst="rect">
            <a:avLst/>
          </a:prstGeom>
          <a:solidFill>
            <a:srgbClr val="8398AF"/>
          </a:solidFill>
          <a:ln w="0">
            <a:noFill/>
          </a:ln>
        </p:spPr>
      </p:sp>
      <p:sp>
        <p:nvSpPr>
          <p:cNvPr id="42" name="relation-3">
            <a:extLst>
              <a:ext uri="{FF2B5EF4-FFF2-40B4-BE49-F238E27FC236}">
                <ns2:creationId id="{6F103742-6044-4C80-8400-49591DCF1DE7}"/>
              </a:ext>
            </a:extLst>
          </p:cNvPr>
          <p:cNvSpPr>
            <a:spLocks noGrp="1"/>
          </p:cNvSpPr>
          <p:nvPr/>
        </p:nvSpPr>
        <p:spPr>
          <a:xfrm>
            <a:off x="4429125" y="6019800"/>
            <a:ext cx="1362075" cy="400050"/>
          </a:xfrm>
          <a:prstGeom prst="roundRect">
            <a:avLst>
              <a:gd name="adj" fmla="val 19048"/>
            </a:avLst>
          </a:prstGeom>
          <a:solidFill>
            <a:srgbClr val="F1F5F9"/>
          </a:solidFill>
          <a:ln w="14288">
            <a:solidFill>
              <a:srgbClr val="D4DBE4"/>
            </a:solidFill>
          </a:ln>
        </p:spPr>
        <p:txBody>
          <a:bodyPr wrap="none" lIns="0" tIns="0" rIns="0" bIns="0" anchor="ctr">
            <a:noAutofit/>
          </a:bodyPr>
          <a:lstStyle>
            <a:defPPr algn="ctr">
              <a:defRPr sz="1700" b="1" lang="ko-KR">
                <a:solidFill>
                  <a:srgbClr val="000000"/>
                </a:solidFill>
                <a:latin typeface="Calibri"/>
                <a:ea typeface="Calibri"/>
                <a:cs typeface="Calibri"/>
              </a:defRPr>
            </a:defP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Agent 실행</a:t>
            </a:r>
            <a:endParaRPr lang="ko-KR">
              <a:latin typeface="Calibri"/>
              <a:ea typeface="Calibri"/>
              <a:cs typeface="Calibri"/>
            </a:endParaRPr>
          </a:p>
        </p:txBody>
      </p:sp>
      <p:sp>
        <p:nvSpPr>
          <p:cNvPr id="43" name="context-caption">
            <a:extLst>
              <a:ext uri="{FF2B5EF4-FFF2-40B4-BE49-F238E27FC236}">
                <ns2:creationId id="{A99C9A7B-B612-4CC2-BF5A-552F647E79E2}"/>
              </a:ext>
            </a:extLst>
          </p:cNvPr>
          <p:cNvSpPr>
            <a:spLocks noGrp="1"/>
          </p:cNvSpPr>
          <p:nvPr/>
        </p:nvSpPr>
        <p:spPr>
          <a:xfrm>
            <a:off x="6667500" y="2343150"/>
            <a:ext cx="4953000" cy="342900"/>
          </a:xfrm>
          <a:prstGeom prst="rect">
            <a:avLst/>
          </a:prstGeom>
          <a:noFill/>
          <a:ln w="0">
            <a:noFill/>
          </a:ln>
        </p:spPr>
        <p:txBody>
          <a:bodyPr wrap="none" lIns="0" tIns="0" rIns="0" bIns="0" anchor="ctr">
            <a:noAutofit/>
          </a:bodyPr>
          <a:lstStyle>
            <a:defPPr algn="l">
              <a:defRPr sz="1900" b="1" lang="ko-KR">
                <a:solidFill>
                  <a:srgbClr val="000000"/>
                </a:solidFill>
                <a:latin typeface="Calibri"/>
                <a:ea typeface="Calibri"/>
                <a:cs typeface="Calibri"/>
              </a:defRPr>
            </a:defPPr>
          </a:lstStyle>
          <a:p>
            <a:pPr algn="l">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현재 요청에 필요한 정보의 결합</a:t>
            </a:r>
            <a:endParaRPr lang="ko-KR">
              <a:latin typeface="Calibri"/>
              <a:ea typeface="Calibri"/>
              <a:cs typeface="Calibri"/>
            </a:endParaRPr>
          </a:p>
        </p:txBody>
      </p:sp>
      <p:sp>
        <p:nvSpPr>
          <p:cNvPr id="44" name="context-input-0">
            <a:extLst>
              <a:ext uri="{FF2B5EF4-FFF2-40B4-BE49-F238E27FC236}">
                <ns2:creationId id="{B30A3055-A594-4B22-9372-62328E57F5E7}"/>
              </a:ext>
            </a:extLst>
          </p:cNvPr>
          <p:cNvSpPr>
            <a:spLocks noGrp="1"/>
          </p:cNvSpPr>
          <p:nvPr/>
        </p:nvSpPr>
        <p:spPr>
          <a:xfrm>
            <a:off x="6667500" y="2867025"/>
            <a:ext cx="2514600" cy="1009650"/>
          </a:xfrm>
          <a:prstGeom prst="roundRect">
            <a:avLst>
              <a:gd name="adj" fmla="val 7547"/>
            </a:avLst>
          </a:prstGeom>
          <a:solidFill>
            <a:srgbClr val="E7F4F8"/>
          </a:solidFill>
          <a:ln w="14288">
            <a:solidFill>
              <a:srgbClr val="D4DBE4"/>
            </a:solidFill>
          </a:ln>
        </p:spPr>
        <p:txBody>
          <a:bodyPr wrap="none" lIns="0" tIns="0" rIns="0" bIns="0" anchor="ctr">
            <a:noAutofit/>
          </a:bodyPr>
          <a:lstStyle>
            <a:defPPr algn="ctr">
              <a:defRPr sz="1800" b="1" lang="ko-KR">
                <a:solidFill>
                  <a:srgbClr val="000000"/>
                </a:solidFill>
                <a:latin typeface="Calibri"/>
                <a:ea typeface="Calibri"/>
                <a:cs typeface="Calibri"/>
              </a:defRPr>
            </a:defP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음성</a:t>
            </a:r>
            <a:endParaRPr lang="ko-KR">
              <a:latin typeface="Calibri"/>
              <a:ea typeface="Calibri"/>
              <a:cs typeface="Calibri"/>
            </a:endParaRPr>
          </a:p>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발화 내용과 정정</a:t>
            </a:r>
            <a:endParaRPr lang="ko-KR">
              <a:latin typeface="Calibri"/>
              <a:ea typeface="Calibri"/>
              <a:cs typeface="Calibri"/>
            </a:endParaRPr>
          </a:p>
        </p:txBody>
      </p:sp>
      <p:sp>
        <p:nvSpPr>
          <p:cNvPr id="45" name="context-wire-0">
            <a:extLst>
              <a:ext uri="{FF2B5EF4-FFF2-40B4-BE49-F238E27FC236}">
                <ns2:creationId id="{39716019-23DD-4776-9862-B4E070564942}"/>
              </a:ext>
            </a:extLst>
          </p:cNvPr>
          <p:cNvSpPr>
            <a:spLocks noGrp="1"/>
          </p:cNvSpPr>
          <p:nvPr/>
        </p:nvSpPr>
        <p:spPr>
          <a:xfrm>
            <a:off x="9182100" y="3362325"/>
            <a:ext cx="323850" cy="19050"/>
          </a:xfrm>
          <a:prstGeom prst="rect">
            <a:avLst/>
          </a:prstGeom>
          <a:solidFill>
            <a:srgbClr val="8398AF"/>
          </a:solidFill>
          <a:ln w="0">
            <a:noFill/>
          </a:ln>
        </p:spPr>
      </p:sp>
      <p:sp>
        <p:nvSpPr>
          <p:cNvPr id="46" name="context-input-1">
            <a:extLst>
              <a:ext uri="{FF2B5EF4-FFF2-40B4-BE49-F238E27FC236}">
                <ns2:creationId id="{C5CC9D07-D789-4CD4-9327-D9B3C4BA7382}"/>
              </a:ext>
            </a:extLst>
          </p:cNvPr>
          <p:cNvSpPr>
            <a:spLocks noGrp="1"/>
          </p:cNvSpPr>
          <p:nvPr/>
        </p:nvSpPr>
        <p:spPr>
          <a:xfrm>
            <a:off x="6667500" y="4029075"/>
            <a:ext cx="2514600" cy="1009650"/>
          </a:xfrm>
          <a:prstGeom prst="roundRect">
            <a:avLst>
              <a:gd name="adj" fmla="val 7547"/>
            </a:avLst>
          </a:prstGeom>
          <a:solidFill>
            <a:srgbClr val="E7F4F8"/>
          </a:solidFill>
          <a:ln w="14288">
            <a:solidFill>
              <a:srgbClr val="D4DBE4"/>
            </a:solidFill>
          </a:ln>
        </p:spPr>
        <p:txBody>
          <a:bodyPr wrap="none" lIns="0" tIns="0" rIns="0" bIns="0" anchor="ctr">
            <a:noAutofit/>
          </a:bodyPr>
          <a:lstStyle>
            <a:defPPr algn="ctr">
              <a:defRPr sz="1800" b="1" lang="ko-KR">
                <a:solidFill>
                  <a:srgbClr val="000000"/>
                </a:solidFill>
                <a:latin typeface="Calibri"/>
                <a:ea typeface="Calibri"/>
                <a:cs typeface="Calibri"/>
              </a:defRPr>
            </a:defP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당시 화면</a:t>
            </a:r>
            <a:endParaRPr lang="ko-KR">
              <a:latin typeface="Calibri"/>
              <a:ea typeface="Calibri"/>
              <a:cs typeface="Calibri"/>
            </a:endParaRPr>
          </a:p>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활성 창, 포인터</a:t>
            </a:r>
            <a:endParaRPr lang="ko-KR">
              <a:latin typeface="Calibri"/>
              <a:ea typeface="Calibri"/>
              <a:cs typeface="Calibri"/>
            </a:endParaRPr>
          </a:p>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클릭, 선택 범위</a:t>
            </a:r>
            <a:endParaRPr lang="ko-KR">
              <a:latin typeface="Calibri"/>
              <a:ea typeface="Calibri"/>
              <a:cs typeface="Calibri"/>
            </a:endParaRPr>
          </a:p>
        </p:txBody>
      </p:sp>
      <p:sp>
        <p:nvSpPr>
          <p:cNvPr id="47" name="context-wire-1">
            <a:extLst>
              <a:ext uri="{FF2B5EF4-FFF2-40B4-BE49-F238E27FC236}">
                <ns2:creationId id="{5AAB65C3-10BD-4BE5-9ADB-BAF599844CD0}"/>
              </a:ext>
            </a:extLst>
          </p:cNvPr>
          <p:cNvSpPr>
            <a:spLocks noGrp="1"/>
          </p:cNvSpPr>
          <p:nvPr/>
        </p:nvSpPr>
        <p:spPr>
          <a:xfrm>
            <a:off x="9182100" y="4524375"/>
            <a:ext cx="323850" cy="19050"/>
          </a:xfrm>
          <a:prstGeom prst="rect">
            <a:avLst/>
          </a:prstGeom>
          <a:solidFill>
            <a:srgbClr val="8398AF"/>
          </a:solidFill>
          <a:ln w="0">
            <a:noFill/>
          </a:ln>
        </p:spPr>
      </p:sp>
      <p:sp>
        <p:nvSpPr>
          <p:cNvPr id="48" name="context-input-2">
            <a:extLst>
              <a:ext uri="{FF2B5EF4-FFF2-40B4-BE49-F238E27FC236}">
                <ns2:creationId id="{277BBF91-9D0A-4D9F-9C6F-E2D9D2276755}"/>
              </a:ext>
            </a:extLst>
          </p:cNvPr>
          <p:cNvSpPr>
            <a:spLocks noGrp="1"/>
          </p:cNvSpPr>
          <p:nvPr/>
        </p:nvSpPr>
        <p:spPr>
          <a:xfrm>
            <a:off x="6667500" y="5191125"/>
            <a:ext cx="2514600" cy="1009650"/>
          </a:xfrm>
          <a:prstGeom prst="roundRect">
            <a:avLst>
              <a:gd name="adj" fmla="val 7547"/>
            </a:avLst>
          </a:prstGeom>
          <a:solidFill>
            <a:srgbClr val="F1F5F9"/>
          </a:solidFill>
          <a:ln w="14288">
            <a:solidFill>
              <a:srgbClr val="D4DBE4"/>
            </a:solidFill>
          </a:ln>
        </p:spPr>
        <p:txBody>
          <a:bodyPr wrap="none" lIns="0" tIns="0" rIns="0" bIns="0" anchor="ctr">
            <a:noAutofit/>
          </a:bodyPr>
          <a:lstStyle>
            <a:defPPr algn="ctr">
              <a:defRPr sz="1800" b="1" lang="ko-KR">
                <a:solidFill>
                  <a:srgbClr val="000000"/>
                </a:solidFill>
                <a:latin typeface="Calibri"/>
                <a:ea typeface="Calibri"/>
                <a:cs typeface="Calibri"/>
              </a:defRPr>
            </a:defP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과거 이력</a:t>
            </a:r>
            <a:endParaRPr lang="ko-KR">
              <a:latin typeface="Calibri"/>
              <a:ea typeface="Calibri"/>
              <a:cs typeface="Calibri"/>
            </a:endParaRPr>
          </a:p>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대화와 업무 결과</a:t>
            </a:r>
            <a:endParaRPr lang="ko-KR">
              <a:latin typeface="Calibri"/>
              <a:ea typeface="Calibri"/>
              <a:cs typeface="Calibri"/>
            </a:endParaRPr>
          </a:p>
        </p:txBody>
      </p:sp>
      <p:sp>
        <p:nvSpPr>
          <p:cNvPr id="49" name="context-wire-2">
            <a:extLst>
              <a:ext uri="{FF2B5EF4-FFF2-40B4-BE49-F238E27FC236}">
                <ns2:creationId id="{10BECB4F-FC94-4391-B060-E94473E2DBCD}"/>
              </a:ext>
            </a:extLst>
          </p:cNvPr>
          <p:cNvSpPr>
            <a:spLocks noGrp="1"/>
          </p:cNvSpPr>
          <p:nvPr/>
        </p:nvSpPr>
        <p:spPr>
          <a:xfrm>
            <a:off x="9182100" y="5686425"/>
            <a:ext cx="323850" cy="19050"/>
          </a:xfrm>
          <a:prstGeom prst="rect">
            <a:avLst/>
          </a:prstGeom>
          <a:solidFill>
            <a:srgbClr val="8398AF"/>
          </a:solidFill>
          <a:ln w="0">
            <a:noFill/>
          </a:ln>
        </p:spPr>
      </p:sp>
      <p:sp>
        <p:nvSpPr>
          <p:cNvPr id="50" name="context-bus">
            <a:extLst>
              <a:ext uri="{FF2B5EF4-FFF2-40B4-BE49-F238E27FC236}">
                <ns2:creationId id="{0C975E28-515D-44A6-8F02-9B6B11330F85}"/>
              </a:ext>
            </a:extLst>
          </p:cNvPr>
          <p:cNvSpPr>
            <a:spLocks noGrp="1"/>
          </p:cNvSpPr>
          <p:nvPr/>
        </p:nvSpPr>
        <p:spPr>
          <a:xfrm>
            <a:off x="9486900" y="3371850"/>
            <a:ext cx="19050" cy="2324100"/>
          </a:xfrm>
          <a:prstGeom prst="rect">
            <a:avLst/>
          </a:prstGeom>
          <a:solidFill>
            <a:srgbClr val="8398AF"/>
          </a:solidFill>
          <a:ln w="0">
            <a:noFill/>
          </a:ln>
        </p:spPr>
      </p:sp>
      <p:sp>
        <p:nvSpPr>
          <p:cNvPr id="51" name="context-adoption">
            <a:extLst>
              <a:ext uri="{FF2B5EF4-FFF2-40B4-BE49-F238E27FC236}">
                <ns2:creationId id="{2C89DDD7-DB47-4E2C-A4BB-A64DF868EB06}"/>
              </a:ext>
            </a:extLst>
          </p:cNvPr>
          <p:cNvSpPr>
            <a:spLocks noGrp="1"/>
          </p:cNvSpPr>
          <p:nvPr/>
        </p:nvSpPr>
        <p:spPr>
          <a:xfrm>
            <a:off x="9505950" y="4429125"/>
            <a:ext cx="266700" cy="209550"/>
          </a:xfrm>
          <a:prstGeom prst="rightArrow">
            <a:avLst/>
          </a:prstGeom>
          <a:solidFill>
            <a:srgbClr val="8398AF"/>
          </a:solidFill>
          <a:ln w="0">
            <a:noFill/>
          </a:ln>
        </p:spPr>
      </p:sp>
      <p:sp>
        <p:nvSpPr>
          <p:cNvPr id="52" name="context-output">
            <a:extLst>
              <a:ext uri="{FF2B5EF4-FFF2-40B4-BE49-F238E27FC236}">
                <ns2:creationId id="{42F66553-FDD5-429A-BE21-4056AE66ADDD}"/>
              </a:ext>
            </a:extLst>
          </p:cNvPr>
          <p:cNvSpPr>
            <a:spLocks noGrp="1"/>
          </p:cNvSpPr>
          <p:nvPr/>
        </p:nvSpPr>
        <p:spPr>
          <a:xfrm>
            <a:off x="9791700" y="3467100"/>
            <a:ext cx="1828800" cy="2133600"/>
          </a:xfrm>
          <a:prstGeom prst="roundRect">
            <a:avLst>
              <a:gd name="adj" fmla="val 4167"/>
            </a:avLst>
          </a:prstGeom>
          <a:solidFill>
            <a:srgbClr val="DDECCD"/>
          </a:solidFill>
          <a:ln w="14288">
            <a:solidFill>
              <a:srgbClr val="D4DBE4"/>
            </a:solidFill>
          </a:ln>
        </p:spPr>
        <p:txBody>
          <a:bodyPr wrap="none" lIns="0" tIns="0" rIns="0" bIns="0" anchor="ctr">
            <a:noAutofit/>
          </a:bodyPr>
          <a:lstStyle>
            <a:defPPr algn="ctr">
              <a:defRPr sz="1900" b="1" lang="ko-KR">
                <a:solidFill>
                  <a:srgbClr val="000000"/>
                </a:solidFill>
                <a:latin typeface="Calibri"/>
                <a:ea typeface="Calibri"/>
                <a:cs typeface="Calibri"/>
              </a:defRPr>
            </a:defP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현재 요청 이해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대상과 조건</a:t>
            </a:r>
            <a:endParaRPr lang="ko-KR">
              <a:latin typeface="Calibri"/>
              <a:ea typeface="Calibri"/>
              <a:cs typeface="Calibri"/>
            </a:endParaRPr>
          </a:p>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관련 업무</a:t>
            </a:r>
            <a:endParaRPr lang="ko-KR">
              <a:latin typeface="Calibri"/>
              <a:ea typeface="Calibri"/>
              <a:cs typeface="Calibri"/>
            </a:endParaRPr>
          </a:p>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정정 범위</a:t>
            </a:r>
            <a:endParaRPr lang="ko-KR">
              <a:latin typeface="Calibri"/>
              <a:ea typeface="Calibri"/>
              <a:cs typeface="Calibri"/>
            </a:endParaRPr>
          </a:p>
        </p:txBody>
      </p:sp>
      <p:sp>
        <p:nvSpPr>
          <p:cNvPr id="53" name="resource-caption">
            <a:extLst>
              <a:ext uri="{FF2B5EF4-FFF2-40B4-BE49-F238E27FC236}">
                <ns2:creationId id="{04B538E0-2F57-4A2C-A8DA-ABF15C59C6F7}"/>
              </a:ext>
            </a:extLst>
          </p:cNvPr>
          <p:cNvSpPr>
            <a:spLocks noGrp="1"/>
          </p:cNvSpPr>
          <p:nvPr/>
        </p:nvSpPr>
        <p:spPr>
          <a:xfrm>
            <a:off x="12477750" y="2343150"/>
            <a:ext cx="4953000" cy="342900"/>
          </a:xfrm>
          <a:prstGeom prst="rect">
            <a:avLst/>
          </a:prstGeom>
          <a:noFill/>
          <a:ln w="0">
            <a:noFill/>
          </a:ln>
        </p:spPr>
        <p:txBody>
          <a:bodyPr wrap="none" lIns="0" tIns="0" rIns="0" bIns="0" anchor="ctr">
            <a:noAutofit/>
          </a:bodyPr>
          <a:lstStyle>
            <a:defPPr algn="l">
              <a:defRPr sz="1900" b="1" lang="ko-KR">
                <a:solidFill>
                  <a:srgbClr val="000000"/>
                </a:solidFill>
                <a:latin typeface="Calibri"/>
                <a:ea typeface="Calibri"/>
                <a:cs typeface="Calibri"/>
              </a:defRPr>
            </a:defPPr>
          </a:lstStyle>
          <a:p>
            <a:pPr algn="l">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운영 조건에 따른 부담</a:t>
            </a:r>
            <a:endParaRPr lang="ko-KR">
              <a:latin typeface="Calibri"/>
              <a:ea typeface="Calibri"/>
              <a:cs typeface="Calibri"/>
            </a:endParaRPr>
          </a:p>
        </p:txBody>
      </p:sp>
      <p:sp>
        <p:nvSpPr>
          <p:cNvPr id="54" name="resource-cause-0">
            <a:extLst>
              <a:ext uri="{FF2B5EF4-FFF2-40B4-BE49-F238E27FC236}">
                <ns2:creationId id="{85FE23F6-45A4-420F-9F98-9177CE3BBECC}"/>
              </a:ext>
            </a:extLst>
          </p:cNvPr>
          <p:cNvSpPr>
            <a:spLocks noGrp="1"/>
          </p:cNvSpPr>
          <p:nvPr/>
        </p:nvSpPr>
        <p:spPr>
          <a:xfrm>
            <a:off x="12477750" y="2924175"/>
            <a:ext cx="2533650" cy="876300"/>
          </a:xfrm>
          <a:prstGeom prst="roundRect">
            <a:avLst>
              <a:gd name="adj" fmla="val 8696"/>
            </a:avLst>
          </a:prstGeom>
          <a:solidFill>
            <a:srgbClr val="F1F5F9"/>
          </a:solidFill>
          <a:ln w="14288">
            <a:solidFill>
              <a:srgbClr val="D4DBE4"/>
            </a:solidFill>
          </a:ln>
        </p:spPr>
        <p:txBody>
          <a:bodyPr wrap="none" lIns="0" tIns="0" rIns="0" bIns="0" anchor="ctr">
            <a:noAutofit/>
          </a:bodyPr>
          <a:lstStyle>
            <a:defPPr algn="ctr">
              <a:defRPr sz="1800" b="1" lang="ko-KR">
                <a:solidFill>
                  <a:srgbClr val="000000"/>
                </a:solidFill>
                <a:latin typeface="Calibri"/>
                <a:ea typeface="Calibri"/>
                <a:cs typeface="Calibri"/>
              </a:defRPr>
            </a:defP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지속적인 대화</a:t>
            </a:r>
            <a:endParaRPr lang="ko-KR">
              <a:latin typeface="Calibri"/>
              <a:ea typeface="Calibri"/>
              <a:cs typeface="Calibri"/>
            </a:endParaRPr>
          </a:p>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반복적인 맥락 처리</a:t>
            </a:r>
            <a:endParaRPr lang="ko-KR">
              <a:latin typeface="Calibri"/>
              <a:ea typeface="Calibri"/>
              <a:cs typeface="Calibri"/>
            </a:endParaRPr>
          </a:p>
        </p:txBody>
      </p:sp>
      <p:sp>
        <p:nvSpPr>
          <p:cNvPr id="55" name="resource-arrow-0">
            <a:extLst>
              <a:ext uri="{FF2B5EF4-FFF2-40B4-BE49-F238E27FC236}">
                <ns2:creationId id="{F5943F93-8030-4C36-8A33-AB314CF0A888}"/>
              </a:ext>
            </a:extLst>
          </p:cNvPr>
          <p:cNvSpPr>
            <a:spLocks noGrp="1"/>
          </p:cNvSpPr>
          <p:nvPr/>
        </p:nvSpPr>
        <p:spPr>
          <a:xfrm>
            <a:off x="15049500" y="3257550"/>
            <a:ext cx="352425" cy="209550"/>
          </a:xfrm>
          <a:prstGeom prst="rightArrow">
            <a:avLst/>
          </a:prstGeom>
          <a:solidFill>
            <a:srgbClr val="8398AF"/>
          </a:solidFill>
          <a:ln w="0">
            <a:noFill/>
          </a:ln>
        </p:spPr>
      </p:sp>
      <p:sp>
        <p:nvSpPr>
          <p:cNvPr id="56" name="resource-effect-0">
            <a:extLst>
              <a:ext uri="{FF2B5EF4-FFF2-40B4-BE49-F238E27FC236}">
                <ns2:creationId id="{2456B684-7B0A-4C50-BEF9-3788D5E3C35D}"/>
              </a:ext>
            </a:extLst>
          </p:cNvPr>
          <p:cNvSpPr>
            <a:spLocks noGrp="1"/>
          </p:cNvSpPr>
          <p:nvPr/>
        </p:nvSpPr>
        <p:spPr>
          <a:xfrm>
            <a:off x="15468600" y="2924175"/>
            <a:ext cx="1962150" cy="876300"/>
          </a:xfrm>
          <a:prstGeom prst="roundRect">
            <a:avLst>
              <a:gd name="adj" fmla="val 8696"/>
            </a:avLst>
          </a:prstGeom>
          <a:solidFill>
            <a:srgbClr val="E7F4F8"/>
          </a:solidFill>
          <a:ln w="14288">
            <a:solidFill>
              <a:srgbClr val="D4DBE4"/>
            </a:solidFill>
          </a:ln>
        </p:spPr>
        <p:txBody>
          <a:bodyPr wrap="none" lIns="0" tIns="0" rIns="0" bIns="0" anchor="ctr">
            <a:noAutofit/>
          </a:bodyPr>
          <a:lstStyle>
            <a:defPPr algn="ctr">
              <a:defRPr sz="1900" b="1" lang="ko-KR">
                <a:solidFill>
                  <a:srgbClr val="000000"/>
                </a:solidFill>
                <a:latin typeface="Calibri"/>
                <a:ea typeface="Calibri"/>
                <a:cs typeface="Calibri"/>
              </a:defRPr>
            </a:defP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모델 사용 비용</a:t>
            </a:r>
            <a:endParaRPr lang="ko-KR">
              <a:latin typeface="Calibri"/>
              <a:ea typeface="Calibri"/>
              <a:cs typeface="Calibri"/>
            </a:endParaRPr>
          </a:p>
        </p:txBody>
      </p:sp>
      <p:sp>
        <p:nvSpPr>
          <p:cNvPr id="57" name="resource-cause-1">
            <a:extLst>
              <a:ext uri="{FF2B5EF4-FFF2-40B4-BE49-F238E27FC236}">
                <ns2:creationId id="{99B02B0E-C35A-4461-8D5A-1258E7CB3AED}"/>
              </a:ext>
            </a:extLst>
          </p:cNvPr>
          <p:cNvSpPr>
            <a:spLocks noGrp="1"/>
          </p:cNvSpPr>
          <p:nvPr/>
        </p:nvSpPr>
        <p:spPr>
          <a:xfrm>
            <a:off x="12477750" y="4143375"/>
            <a:ext cx="2533650" cy="876300"/>
          </a:xfrm>
          <a:prstGeom prst="roundRect">
            <a:avLst>
              <a:gd name="adj" fmla="val 8696"/>
            </a:avLst>
          </a:prstGeom>
          <a:solidFill>
            <a:srgbClr val="F1F5F9"/>
          </a:solidFill>
          <a:ln w="14288">
            <a:solidFill>
              <a:srgbClr val="D4DBE4"/>
            </a:solidFill>
          </a:ln>
        </p:spPr>
        <p:txBody>
          <a:bodyPr wrap="none" lIns="0" tIns="0" rIns="0" bIns="0" anchor="ctr">
            <a:noAutofit/>
          </a:bodyPr>
          <a:lstStyle>
            <a:defPPr algn="ctr">
              <a:defRPr sz="1800" b="1" lang="ko-KR">
                <a:solidFill>
                  <a:srgbClr val="000000"/>
                </a:solidFill>
                <a:latin typeface="Calibri"/>
                <a:ea typeface="Calibri"/>
                <a:cs typeface="Calibri"/>
              </a:defRPr>
            </a:defP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화면 기록</a:t>
            </a:r>
            <a:endParaRPr lang="ko-KR">
              <a:latin typeface="Calibri"/>
              <a:ea typeface="Calibri"/>
              <a:cs typeface="Calibri"/>
            </a:endParaRPr>
          </a:p>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대화와 업무 상태</a:t>
            </a:r>
            <a:endParaRPr lang="ko-KR">
              <a:latin typeface="Calibri"/>
              <a:ea typeface="Calibri"/>
              <a:cs typeface="Calibri"/>
            </a:endParaRPr>
          </a:p>
        </p:txBody>
      </p:sp>
      <p:sp>
        <p:nvSpPr>
          <p:cNvPr id="58" name="resource-arrow-1">
            <a:extLst>
              <a:ext uri="{FF2B5EF4-FFF2-40B4-BE49-F238E27FC236}">
                <ns2:creationId id="{DDC7D74E-009E-4C35-AA7E-08156E12FA72}"/>
              </a:ext>
            </a:extLst>
          </p:cNvPr>
          <p:cNvSpPr>
            <a:spLocks noGrp="1"/>
          </p:cNvSpPr>
          <p:nvPr/>
        </p:nvSpPr>
        <p:spPr>
          <a:xfrm>
            <a:off x="15049500" y="4476750"/>
            <a:ext cx="352425" cy="209550"/>
          </a:xfrm>
          <a:prstGeom prst="rightArrow">
            <a:avLst/>
          </a:prstGeom>
          <a:solidFill>
            <a:srgbClr val="8398AF"/>
          </a:solidFill>
          <a:ln w="0">
            <a:noFill/>
          </a:ln>
        </p:spPr>
      </p:sp>
      <p:sp>
        <p:nvSpPr>
          <p:cNvPr id="59" name="resource-effect-1">
            <a:extLst>
              <a:ext uri="{FF2B5EF4-FFF2-40B4-BE49-F238E27FC236}">
                <ns2:creationId id="{AB9D1B01-BB23-4E08-88C1-1271767C0D91}"/>
              </a:ext>
            </a:extLst>
          </p:cNvPr>
          <p:cNvSpPr>
            <a:spLocks noGrp="1"/>
          </p:cNvSpPr>
          <p:nvPr/>
        </p:nvSpPr>
        <p:spPr>
          <a:xfrm>
            <a:off x="15468600" y="4143375"/>
            <a:ext cx="1962150" cy="876300"/>
          </a:xfrm>
          <a:prstGeom prst="roundRect">
            <a:avLst>
              <a:gd name="adj" fmla="val 8696"/>
            </a:avLst>
          </a:prstGeom>
          <a:solidFill>
            <a:srgbClr val="E7F4F8"/>
          </a:solidFill>
          <a:ln w="14288">
            <a:solidFill>
              <a:srgbClr val="D4DBE4"/>
            </a:solidFill>
          </a:ln>
        </p:spPr>
        <p:txBody>
          <a:bodyPr wrap="none" lIns="0" tIns="0" rIns="0" bIns="0" anchor="ctr">
            <a:noAutofit/>
          </a:bodyPr>
          <a:lstStyle>
            <a:defPPr algn="ctr">
              <a:defRPr sz="1900" b="1" lang="ko-KR">
                <a:solidFill>
                  <a:srgbClr val="000000"/>
                </a:solidFill>
                <a:latin typeface="Calibri"/>
                <a:ea typeface="Calibri"/>
                <a:cs typeface="Calibri"/>
              </a:defRPr>
            </a:defP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PC 메모리 점유</a:t>
            </a:r>
            <a:endParaRPr lang="ko-KR">
              <a:latin typeface="Calibri"/>
              <a:ea typeface="Calibri"/>
              <a:cs typeface="Calibri"/>
            </a:endParaRPr>
          </a:p>
        </p:txBody>
      </p:sp>
      <p:sp>
        <p:nvSpPr>
          <p:cNvPr id="60" name="resource-cause-2">
            <a:extLst>
              <a:ext uri="{FF2B5EF4-FFF2-40B4-BE49-F238E27FC236}">
                <ns2:creationId id="{2CE8440E-DE4A-4343-9425-1C996627EED3}"/>
              </a:ext>
            </a:extLst>
          </p:cNvPr>
          <p:cNvSpPr>
            <a:spLocks noGrp="1"/>
          </p:cNvSpPr>
          <p:nvPr/>
        </p:nvSpPr>
        <p:spPr>
          <a:xfrm>
            <a:off x="12477750" y="5362575"/>
            <a:ext cx="2533650" cy="876300"/>
          </a:xfrm>
          <a:prstGeom prst="roundRect">
            <a:avLst>
              <a:gd name="adj" fmla="val 8696"/>
            </a:avLst>
          </a:prstGeom>
          <a:solidFill>
            <a:srgbClr val="F1F5F9"/>
          </a:solidFill>
          <a:ln w="14288">
            <a:solidFill>
              <a:srgbClr val="D4DBE4"/>
            </a:solidFill>
          </a:ln>
        </p:spPr>
        <p:txBody>
          <a:bodyPr wrap="none" lIns="0" tIns="0" rIns="0" bIns="0" anchor="ctr">
            <a:noAutofit/>
          </a:bodyPr>
          <a:lstStyle>
            <a:defPPr algn="ctr">
              <a:defRPr sz="1800" b="1" lang="ko-KR">
                <a:solidFill>
                  <a:srgbClr val="000000"/>
                </a:solidFill>
                <a:latin typeface="Calibri"/>
                <a:ea typeface="Calibri"/>
                <a:cs typeface="Calibri"/>
              </a:defRPr>
            </a:defP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모델과 Agent의</a:t>
            </a:r>
            <a:endParaRPr lang="ko-KR">
              <a:latin typeface="Calibri"/>
              <a:ea typeface="Calibri"/>
              <a:cs typeface="Calibri"/>
            </a:endParaRPr>
          </a:p>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기능 및 규격 변화</a:t>
            </a:r>
            <a:endParaRPr lang="ko-KR">
              <a:latin typeface="Calibri"/>
              <a:ea typeface="Calibri"/>
              <a:cs typeface="Calibri"/>
            </a:endParaRPr>
          </a:p>
        </p:txBody>
      </p:sp>
      <p:sp>
        <p:nvSpPr>
          <p:cNvPr id="61" name="resource-arrow-2">
            <a:extLst>
              <a:ext uri="{FF2B5EF4-FFF2-40B4-BE49-F238E27FC236}">
                <ns2:creationId id="{170814D5-1A0E-4DA6-9F88-06BD79BBEE0D}"/>
              </a:ext>
            </a:extLst>
          </p:cNvPr>
          <p:cNvSpPr>
            <a:spLocks noGrp="1"/>
          </p:cNvSpPr>
          <p:nvPr/>
        </p:nvSpPr>
        <p:spPr>
          <a:xfrm>
            <a:off x="15049500" y="5695950"/>
            <a:ext cx="352425" cy="209550"/>
          </a:xfrm>
          <a:prstGeom prst="rightArrow">
            <a:avLst/>
          </a:prstGeom>
          <a:solidFill>
            <a:srgbClr val="8398AF"/>
          </a:solidFill>
          <a:ln w="0">
            <a:noFill/>
          </a:ln>
        </p:spPr>
      </p:sp>
      <p:sp>
        <p:nvSpPr>
          <p:cNvPr id="62" name="resource-effect-2">
            <a:extLst>
              <a:ext uri="{FF2B5EF4-FFF2-40B4-BE49-F238E27FC236}">
                <ns2:creationId id="{118EF20A-4841-46DD-8EC2-95436492E68C}"/>
              </a:ext>
            </a:extLst>
          </p:cNvPr>
          <p:cNvSpPr>
            <a:spLocks noGrp="1"/>
          </p:cNvSpPr>
          <p:nvPr/>
        </p:nvSpPr>
        <p:spPr>
          <a:xfrm>
            <a:off x="15468600" y="5362575"/>
            <a:ext cx="1962150" cy="876300"/>
          </a:xfrm>
          <a:prstGeom prst="roundRect">
            <a:avLst>
              <a:gd name="adj" fmla="val 8696"/>
            </a:avLst>
          </a:prstGeom>
          <a:solidFill>
            <a:srgbClr val="DDECCD"/>
          </a:solidFill>
          <a:ln w="14288">
            <a:solidFill>
              <a:srgbClr val="D4DBE4"/>
            </a:solidFill>
          </a:ln>
        </p:spPr>
        <p:txBody>
          <a:bodyPr wrap="none" lIns="0" tIns="0" rIns="0" bIns="0" anchor="ctr">
            <a:noAutofit/>
          </a:bodyPr>
          <a:lstStyle>
            <a:defPPr algn="ctr">
              <a:defRPr sz="1900" b="1" lang="ko-KR">
                <a:solidFill>
                  <a:srgbClr val="000000"/>
                </a:solidFill>
                <a:latin typeface="Calibri"/>
                <a:ea typeface="Calibri"/>
                <a:cs typeface="Calibri"/>
              </a:defRPr>
            </a:defP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수정과 재검증</a:t>
            </a:r>
            <a:endParaRPr lang="ko-KR">
              <a:latin typeface="Calibri"/>
              <a:ea typeface="Calibri"/>
              <a:cs typeface="Calibri"/>
            </a:endParaRPr>
          </a:p>
        </p:txBody>
      </p:sp>
      <p:sp>
        <p:nvSpPr>
          <p:cNvPr id="63" name="v6-header-title">
            <a:extLst>
              <a:ext uri="{FF2B5EF4-FFF2-40B4-BE49-F238E27FC236}">
                <ns2:creationId id="{0FD03E68-3227-4B61-9F4B-650A6CF284A3}"/>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소개 | 과제 필요성</a:t>
            </a:r>
            <a:endParaRPr lang="ko-KR">
              <a:latin typeface="Calibri"/>
              <a:ea typeface="Calibri"/>
              <a:cs typeface="Calibri"/>
            </a:endParaRPr>
          </a:p>
        </p:txBody>
      </p:sp>
      <p:sp>
        <p:nvSpPr>
          <p:cNvPr id="64" name="v6-header-rule">
            <a:extLst>
              <a:ext uri="{FF2B5EF4-FFF2-40B4-BE49-F238E27FC236}">
                <ns2:creationId id="{0B1EB211-BD2B-4FBD-A94D-98D67C2B6BAB}"/>
              </a:ext>
            </a:extLst>
          </p:cNvPr>
          <p:cNvSpPr>
            <a:spLocks noGrp="1"/>
          </p:cNvSpPr>
          <p:nvPr/>
        </p:nvSpPr>
        <p:spPr>
          <a:xfrm>
            <a:off x="495300" y="990600"/>
            <a:ext cx="17335500" cy="0"/>
          </a:xfrm>
          <a:prstGeom prst="line">
            <a:avLst/>
          </a:prstGeom>
          <a:noFill/>
          <a:ln w="19050">
            <a:solidFill>
              <a:srgbClr val="A6A6A6"/>
            </a:solidFill>
          </a:ln>
        </p:spPr>
      </p:sp>
      <p:sp>
        <p:nvSpPr>
          <p:cNvPr id="65" name="v6-header-stage-0">
            <a:extLst>
              <a:ext uri="{FF2B5EF4-FFF2-40B4-BE49-F238E27FC236}">
                <ns2:creationId id="{7FC695F8-E044-4C5D-85D0-ACF6260898B6}"/>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66" name="v6-header-stage-1">
            <a:extLst>
              <a:ext uri="{FF2B5EF4-FFF2-40B4-BE49-F238E27FC236}">
                <ns2:creationId id="{367A31A7-07B2-4DE2-8C38-FD8BA4C1552C}"/>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7" name="v6-header-stage-2">
            <a:extLst>
              <a:ext uri="{FF2B5EF4-FFF2-40B4-BE49-F238E27FC236}">
                <ns2:creationId id="{2CBD9E48-DFB3-44B1-A7E8-5BF73BDAFA3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68" name="v6-header-stage-3">
            <a:extLst>
              <a:ext uri="{FF2B5EF4-FFF2-40B4-BE49-F238E27FC236}">
                <ns2:creationId id="{EC76A86E-350D-464A-931D-C6BB21312E2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69" name="v6-header-stage-4">
            <a:extLst>
              <a:ext uri="{FF2B5EF4-FFF2-40B4-BE49-F238E27FC236}">
                <ns2:creationId id="{C0746345-3919-4F2A-8BF6-FE9593319085}"/>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70" name="v6-header-page">
            <a:extLst>
              <a:ext uri="{FF2B5EF4-FFF2-40B4-BE49-F238E27FC236}">
                <ns2:creationId id="{7E6D0068-28BB-4E17-A047-C442BFFCE190}"/>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 / 33</a:t>
            </a:r>
            <a:endParaRPr lang="ko-KR">
              <a:latin typeface="Calibri"/>
              <a:ea typeface="Calibri"/>
              <a:cs typeface="Calibri"/>
            </a:endParaRPr>
          </a:p>
        </p:txBody>
      </p:sp>
    </p:spTree>
    <p:extLst>
      <p:ext uri="{BB962C8B-B14F-4D97-AF65-F5344CB8AC3E}">
        <p14:creationId val="811630019"/>
      </p:ext>
    </p:extLst>
  </p:cSld>
</p:sld>
</file>

<file path=ppt/slides/slide47.xml><?xml version="1.0" encoding="utf-8"?>
<p:sld xmlns:a="http://schemas.openxmlformats.org/drawingml/2006/main" xmlns:ns2="http://schemas.microsoft.com/office/drawing/2014/main" xmlns:p="http://schemas.openxmlformats.org/presentationml/2006/main" xmlns:p14="http://schemas.microsoft.com/office/powerpoint/2010/main">
  <p:cSld name="domain-primer">
    <p:bg>
      <p:bgPr>
        <a:solidFill>
          <a:srgbClr val="FFFFFF"/>
        </a:solidFill>
      </p:bgPr>
    </p:bg>
    <p:spTree>
      <p:nvGrpSpPr>
        <p:cNvPr id="1" name=""/>
        <p:cNvGrpSpPr/>
        <p:nvPr/>
      </p:nvGrpSpPr>
      <p:grpSpPr>
        <a:xfrm/>
      </p:grpSpPr>
      <p:sp>
        <p:nvSpPr>
          <p:cNvPr id="5" name="v2-25-note">
            <a:extLst>
              <a:ext uri="{FF2B5EF4-FFF2-40B4-BE49-F238E27FC236}">
                <ns2:creationId id="{4A710B79-A224-4755-8227-2B7A89B6BFCD}"/>
              </a:ext>
            </a:extLst>
          </p:cNvPr>
          <p:cNvSpPr>
            <a:spLocks noGrp="1"/>
          </p:cNvSpPr>
          <p:nvPr/>
        </p:nvSpPr>
        <p:spPr>
          <a:xfrm>
            <a:off x="495300" y="1562100"/>
            <a:ext cx="17145000" cy="514350"/>
          </a:xfrm>
          <a:prstGeom prst="rect">
            <a:avLst/>
          </a:prstGeom>
          <a:noFill/>
          <a:ln w="0">
            <a:noFill/>
          </a:ln>
        </p:spPr>
        <p:txBody>
          <a:bodyPr wrap="none" lIns="0" tIns="0" rIns="0" bIns="0" anchor="ctr">
            <a:noAutofit/>
          </a:bodyPr>
          <a:lstStyle/>
          <a:p>
            <a:pPr algn="l">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Voice Interaction Agent: 음성과 텍스트로 PC 업무를 맡기고, 대화와 진행 상태를 이어주는 프로그램</a:t>
            </a:r>
            <a:endParaRPr lang="ko-KR">
              <a:solidFill>
                <a:srgbClr val="000000"/>
              </a:solidFill>
              <a:latin typeface="Calibri"/>
              <a:ea typeface="Calibri"/>
              <a:cs typeface="Calibri"/>
            </a:endParaRPr>
          </a:p>
        </p:txBody>
      </p:sp>
      <p:sp>
        <p:nvSpPr>
          <p:cNvPr id="6" name="v2-26-사용자">
            <a:extLst>
              <a:ext uri="{FF2B5EF4-FFF2-40B4-BE49-F238E27FC236}">
                <ns2:creationId id="{58E696E2-FF66-4406-99F0-0D47FE5950EB}"/>
              </a:ext>
            </a:extLst>
          </p:cNvPr>
          <p:cNvSpPr>
            <a:spLocks noGrp="1"/>
          </p:cNvSpPr>
          <p:nvPr/>
        </p:nvSpPr>
        <p:spPr>
          <a:xfrm>
            <a:off x="495300" y="2857500"/>
            <a:ext cx="2476500" cy="809625"/>
          </a:xfrm>
          <a:prstGeom prst="rect">
            <a:avLst/>
          </a:prstGeom>
          <a:solidFill>
            <a:srgbClr val="E8EEF7"/>
          </a:solidFill>
          <a:ln w="19050">
            <a:solidFill>
              <a:srgbClr val="576773"/>
            </a:solidFill>
          </a:ln>
        </p:spPr>
        <p:txBody>
          <a:bodyPr wrap="none" lIns="76200" tIns="0" rIns="76200" bIns="0" anchor="ctr">
            <a:noAutofit/>
          </a:bodyPr>
          <a:lstStyle/>
          <a:p>
            <a:pPr algn="ctr">
              <a:defRPr sz="2900" b="0" lang="ko-KR">
                <a:solidFill>
                  <a:srgbClr val="000000"/>
                </a:solidFill>
                <a:latin typeface="Calibri"/>
                <a:ea typeface="Calibri"/>
                <a:cs typeface="Calibri"/>
              </a:defRPr>
            </a:pPr>
            <a:r>
              <a:rPr sz="2900" b="0" lang="ko-KR">
                <a:solidFill>
                  <a:srgbClr val="000000"/>
                </a:solidFill>
                <a:latin typeface="Calibri"/>
                <a:ea typeface="Calibri"/>
                <a:cs typeface="Calibri"/>
              </a:rPr>
              <a:t>사용자</a:t>
            </a:r>
            <a:endParaRPr lang="ko-KR">
              <a:solidFill>
                <a:srgbClr val="000000"/>
              </a:solidFill>
              <a:latin typeface="Calibri"/>
              <a:ea typeface="Calibri"/>
              <a:cs typeface="Calibri"/>
            </a:endParaRPr>
          </a:p>
        </p:txBody>
      </p:sp>
      <p:sp>
        <p:nvSpPr>
          <p:cNvPr id="8" name="v2-28-로컬 VIA">
            <a:extLst>
              <a:ext uri="{FF2B5EF4-FFF2-40B4-BE49-F238E27FC236}">
                <ns2:creationId id="{224D553C-10F7-4679-A7A7-DFDC36468F64}"/>
              </a:ext>
            </a:extLst>
          </p:cNvPr>
          <p:cNvSpPr>
            <a:spLocks noGrp="1"/>
          </p:cNvSpPr>
          <p:nvPr/>
        </p:nvSpPr>
        <p:spPr>
          <a:xfrm>
            <a:off x="5000625" y="2857500"/>
            <a:ext cx="4286250" cy="809625"/>
          </a:xfrm>
          <a:prstGeom prst="rect">
            <a:avLst/>
          </a:prstGeom>
          <a:solidFill>
            <a:srgbClr val="E8EEF7"/>
          </a:solidFill>
          <a:ln w="19050">
            <a:solidFill>
              <a:srgbClr val="576773"/>
            </a:solidFill>
          </a:ln>
        </p:spPr>
        <p:txBody>
          <a:bodyPr wrap="none" lIns="76200" tIns="0" rIns="76200" bIns="0" anchor="ctr">
            <a:noAutofit/>
          </a:bodyPr>
          <a:lstStyle/>
          <a:p>
            <a:pPr algn="ctr">
              <a:defRPr sz="2900" b="0" lang="ko-KR">
                <a:solidFill>
                  <a:srgbClr val="000000"/>
                </a:solidFill>
                <a:latin typeface="Calibri"/>
                <a:ea typeface="Calibri"/>
                <a:cs typeface="Calibri"/>
              </a:defRPr>
            </a:pPr>
            <a:r>
              <a:rPr sz="2900" b="0" lang="ko-KR">
                <a:solidFill>
                  <a:srgbClr val="000000"/>
                </a:solidFill>
                <a:latin typeface="Calibri"/>
                <a:ea typeface="Calibri"/>
                <a:cs typeface="Calibri"/>
              </a:rPr>
              <a:t>로컬 VIA</a:t>
            </a:r>
            <a:endParaRPr lang="ko-KR">
              <a:solidFill>
                <a:srgbClr val="000000"/>
              </a:solidFill>
              <a:latin typeface="Calibri"/>
              <a:ea typeface="Calibri"/>
              <a:cs typeface="Calibri"/>
            </a:endParaRPr>
          </a:p>
        </p:txBody>
      </p:sp>
      <p:sp>
        <p:nvSpPr>
          <p:cNvPr id="10" name="v2-30-Downstream Agent">
            <a:extLst>
              <a:ext uri="{FF2B5EF4-FFF2-40B4-BE49-F238E27FC236}">
                <ns2:creationId id="{223AE7CB-B3A5-4EE6-BD90-C9EA8BD5C65E}"/>
              </a:ext>
            </a:extLst>
          </p:cNvPr>
          <p:cNvSpPr>
            <a:spLocks noGrp="1"/>
          </p:cNvSpPr>
          <p:nvPr/>
        </p:nvSpPr>
        <p:spPr>
          <a:xfrm>
            <a:off x="12715875" y="2857500"/>
            <a:ext cx="4905375" cy="809625"/>
          </a:xfrm>
          <a:prstGeom prst="rect">
            <a:avLst/>
          </a:prstGeom>
          <a:solidFill>
            <a:srgbClr val="E8EEF7"/>
          </a:solidFill>
          <a:ln w="19050">
            <a:solidFill>
              <a:srgbClr val="576773"/>
            </a:solidFill>
          </a:ln>
        </p:spPr>
        <p:txBody>
          <a:bodyPr wrap="none" lIns="76200" tIns="0" rIns="76200" bIns="0" anchor="ctr">
            <a:noAutofit/>
          </a:bodyPr>
          <a:lstStyle/>
          <a:p>
            <a:pPr algn="ctr">
              <a:defRPr sz="2700" b="0" lang="ko-KR">
                <a:solidFill>
                  <a:srgbClr val="000000"/>
                </a:solidFill>
                <a:latin typeface="Calibri"/>
                <a:ea typeface="Calibri"/>
                <a:cs typeface="Calibri"/>
              </a:defRPr>
            </a:pPr>
            <a:r>
              <a:rPr sz="2700" b="0" lang="ko-KR">
                <a:solidFill>
                  <a:srgbClr val="000000"/>
                </a:solidFill>
                <a:latin typeface="Calibri"/>
                <a:ea typeface="Calibri"/>
                <a:cs typeface="Calibri"/>
              </a:rPr>
              <a:t>Downstream Agent</a:t>
            </a:r>
            <a:endParaRPr lang="ko-KR">
              <a:solidFill>
                <a:srgbClr val="000000"/>
              </a:solidFill>
              <a:latin typeface="Calibri"/>
              <a:ea typeface="Calibri"/>
              <a:cs typeface="Calibri"/>
            </a:endParaRPr>
          </a:p>
        </p:txBody>
      </p:sp>
      <p:sp>
        <p:nvSpPr>
          <p:cNvPr id="12" name="v2-32-user-via">
            <a:extLst>
              <a:ext uri="{FF2B5EF4-FFF2-40B4-BE49-F238E27FC236}">
                <ns2:creationId id="{AA26E279-855D-491B-8BB9-DCD85DD43610}"/>
              </a:ext>
            </a:extLst>
          </p:cNvPr>
          <p:cNvSpPr>
            <a:spLocks noGrp="1"/>
          </p:cNvSpPr>
          <p:nvPr/>
        </p:nvSpPr>
        <p:spPr>
          <a:xfrm>
            <a:off x="2971800" y="3257550"/>
            <a:ext cx="2028825" cy="9525"/>
          </a:xfrm>
          <a:custGeom>
            <a:pathLst>
              <a:path w="2028825" h="9525">
                <a:moveTo>
                  <a:pt x="0" y="0"/>
                </a:moveTo>
                <a:lnTo>
                  <a:pt x="2028825" y="0"/>
                </a:lnTo>
              </a:path>
            </a:pathLst>
          </a:custGeom>
          <a:noFill/>
          <a:ln w="28575">
            <a:solidFill>
              <a:srgbClr val="00889A"/>
            </a:solidFill>
            <a:prstDash val="solid"/>
          </a:ln>
        </p:spPr>
      </p:sp>
      <p:sp>
        <p:nvSpPr>
          <p:cNvPr id="13" name="v2-33-user-via-head">
            <a:extLst>
              <a:ext uri="{FF2B5EF4-FFF2-40B4-BE49-F238E27FC236}">
                <ns2:creationId id="{ACBC43A9-322E-45E4-BB47-FFA028FFF98C}"/>
              </a:ext>
            </a:extLst>
          </p:cNvPr>
          <p:cNvSpPr>
            <a:spLocks noGrp="1"/>
          </p:cNvSpPr>
          <p:nvPr/>
        </p:nvSpPr>
        <p:spPr>
          <a:xfrm>
            <a:off x="4900317" y="3202752"/>
            <a:ext cx="100308" cy="109597"/>
          </a:xfrm>
          <a:custGeom>
            <a:pathLst>
              <a:path w="100308" h="109597">
                <a:moveTo>
                  <a:pt x="0" y="109597"/>
                </a:moveTo>
                <a:lnTo>
                  <a:pt x="100308" y="54798"/>
                </a:lnTo>
                <a:lnTo>
                  <a:pt x="0" y="0"/>
                </a:lnTo>
              </a:path>
            </a:pathLst>
          </a:custGeom>
          <a:noFill/>
          <a:ln w="28575">
            <a:solidFill>
              <a:srgbClr val="00889A"/>
            </a:solidFill>
            <a:prstDash val="solid"/>
          </a:ln>
        </p:spPr>
      </p:sp>
      <p:sp>
        <p:nvSpPr>
          <p:cNvPr id="14" name="v2-34-note">
            <a:extLst>
              <a:ext uri="{FF2B5EF4-FFF2-40B4-BE49-F238E27FC236}">
                <ns2:creationId id="{72F237B1-E19D-4162-8F5D-9EF510E1A547}"/>
              </a:ext>
            </a:extLst>
          </p:cNvPr>
          <p:cNvSpPr>
            <a:spLocks noGrp="1"/>
          </p:cNvSpPr>
          <p:nvPr/>
        </p:nvSpPr>
        <p:spPr>
          <a:xfrm>
            <a:off x="3114675" y="2609850"/>
            <a:ext cx="2000250" cy="428625"/>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입력과 관련 맥락</a:t>
            </a:r>
            <a:endParaRPr lang="ko-KR">
              <a:solidFill>
                <a:srgbClr val="000000"/>
              </a:solidFill>
              <a:latin typeface="Calibri"/>
              <a:ea typeface="Calibri"/>
              <a:cs typeface="Calibri"/>
            </a:endParaRPr>
          </a:p>
        </p:txBody>
      </p:sp>
      <p:sp>
        <p:nvSpPr>
          <p:cNvPr id="15" name="v2-35-via-agent">
            <a:extLst>
              <a:ext uri="{FF2B5EF4-FFF2-40B4-BE49-F238E27FC236}">
                <ns2:creationId id="{20F824F2-EBDF-451F-BBF0-4AD4F6EF9EF2}"/>
              </a:ext>
            </a:extLst>
          </p:cNvPr>
          <p:cNvSpPr>
            <a:spLocks noGrp="1"/>
          </p:cNvSpPr>
          <p:nvPr/>
        </p:nvSpPr>
        <p:spPr>
          <a:xfrm>
            <a:off x="9286875" y="3257550"/>
            <a:ext cx="3429000" cy="9525"/>
          </a:xfrm>
          <a:custGeom>
            <a:pathLst>
              <a:path w="3429000" h="9525">
                <a:moveTo>
                  <a:pt x="0" y="0"/>
                </a:moveTo>
                <a:lnTo>
                  <a:pt x="3429000" y="0"/>
                </a:lnTo>
              </a:path>
            </a:pathLst>
          </a:custGeom>
          <a:noFill/>
          <a:ln w="28575">
            <a:solidFill>
              <a:srgbClr val="00889A"/>
            </a:solidFill>
            <a:prstDash val="solid"/>
          </a:ln>
        </p:spPr>
      </p:sp>
      <p:sp>
        <p:nvSpPr>
          <p:cNvPr id="16" name="v2-36-via-agent-head">
            <a:extLst>
              <a:ext uri="{FF2B5EF4-FFF2-40B4-BE49-F238E27FC236}">
                <ns2:creationId id="{D7FEB17F-12DD-401F-9341-9E6B45FBA186}"/>
              </a:ext>
            </a:extLst>
          </p:cNvPr>
          <p:cNvSpPr>
            <a:spLocks noGrp="1"/>
          </p:cNvSpPr>
          <p:nvPr/>
        </p:nvSpPr>
        <p:spPr>
          <a:xfrm>
            <a:off x="12615567" y="3202752"/>
            <a:ext cx="100308" cy="109597"/>
          </a:xfrm>
          <a:custGeom>
            <a:pathLst>
              <a:path w="100308" h="109597">
                <a:moveTo>
                  <a:pt x="0" y="109597"/>
                </a:moveTo>
                <a:lnTo>
                  <a:pt x="100308" y="54798"/>
                </a:lnTo>
                <a:lnTo>
                  <a:pt x="0" y="0"/>
                </a:lnTo>
              </a:path>
            </a:pathLst>
          </a:custGeom>
          <a:noFill/>
          <a:ln w="28575">
            <a:solidFill>
              <a:srgbClr val="00889A"/>
            </a:solidFill>
            <a:prstDash val="solid"/>
          </a:ln>
        </p:spPr>
      </p:sp>
      <p:sp>
        <p:nvSpPr>
          <p:cNvPr id="17" name="v2-37-note">
            <a:extLst>
              <a:ext uri="{FF2B5EF4-FFF2-40B4-BE49-F238E27FC236}">
                <ns2:creationId id="{FC96D12E-46C5-4A21-B9EA-5432D92B4913}"/>
              </a:ext>
            </a:extLst>
          </p:cNvPr>
          <p:cNvSpPr>
            <a:spLocks noGrp="1"/>
          </p:cNvSpPr>
          <p:nvPr/>
        </p:nvSpPr>
        <p:spPr>
          <a:xfrm>
            <a:off x="9658350" y="2571750"/>
            <a:ext cx="2952750" cy="45720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검사 후 업무 위임</a:t>
            </a:r>
            <a:endParaRPr lang="ko-KR">
              <a:solidFill>
                <a:srgbClr val="000000"/>
              </a:solidFill>
              <a:latin typeface="Calibri"/>
              <a:ea typeface="Calibri"/>
              <a:cs typeface="Calibri"/>
            </a:endParaRPr>
          </a:p>
        </p:txBody>
      </p:sp>
      <p:sp>
        <p:nvSpPr>
          <p:cNvPr id="18" name="v2-38-agent-return">
            <a:extLst>
              <a:ext uri="{FF2B5EF4-FFF2-40B4-BE49-F238E27FC236}">
                <ns2:creationId id="{00AB7417-DB56-4020-A735-14D1F22398C8}"/>
              </a:ext>
            </a:extLst>
          </p:cNvPr>
          <p:cNvSpPr>
            <a:spLocks noGrp="1"/>
          </p:cNvSpPr>
          <p:nvPr/>
        </p:nvSpPr>
        <p:spPr>
          <a:xfrm>
            <a:off x="7143750" y="3667125"/>
            <a:ext cx="5572125" cy="219075"/>
          </a:xfrm>
          <a:custGeom>
            <a:pathLst>
              <a:path w="5572125" h="219075">
                <a:moveTo>
                  <a:pt x="5572125" y="219075"/>
                </a:moveTo>
                <a:lnTo>
                  <a:pt x="0" y="219075"/>
                </a:lnTo>
                <a:lnTo>
                  <a:pt x="0" y="0"/>
                </a:lnTo>
              </a:path>
            </a:pathLst>
          </a:custGeom>
          <a:noFill/>
          <a:ln w="28575">
            <a:solidFill>
              <a:srgbClr val="576773"/>
            </a:solidFill>
            <a:prstDash val="solid"/>
          </a:ln>
        </p:spPr>
      </p:sp>
      <p:sp>
        <p:nvSpPr>
          <p:cNvPr id="19" name="v2-39-agent-return-head">
            <a:extLst>
              <a:ext uri="{FF2B5EF4-FFF2-40B4-BE49-F238E27FC236}">
                <ns2:creationId id="{2CD96EC4-5387-4BE5-840C-EB405FFD2839}"/>
              </a:ext>
            </a:extLst>
          </p:cNvPr>
          <p:cNvSpPr>
            <a:spLocks noGrp="1"/>
          </p:cNvSpPr>
          <p:nvPr/>
        </p:nvSpPr>
        <p:spPr>
          <a:xfrm>
            <a:off x="7088952" y="3667125"/>
            <a:ext cx="109597" cy="100308"/>
          </a:xfrm>
          <a:custGeom>
            <a:pathLst>
              <a:path w="109597" h="100308">
                <a:moveTo>
                  <a:pt x="109597" y="100308"/>
                </a:moveTo>
                <a:lnTo>
                  <a:pt x="54798" y="0"/>
                </a:lnTo>
                <a:lnTo>
                  <a:pt x="0" y="100308"/>
                </a:lnTo>
              </a:path>
            </a:pathLst>
          </a:custGeom>
          <a:noFill/>
          <a:ln w="28575">
            <a:solidFill>
              <a:srgbClr val="576773"/>
            </a:solidFill>
            <a:prstDash val="solid"/>
          </a:ln>
        </p:spPr>
      </p:sp>
      <p:sp>
        <p:nvSpPr>
          <p:cNvPr id="20" name="v2-40-note">
            <a:extLst>
              <a:ext uri="{FF2B5EF4-FFF2-40B4-BE49-F238E27FC236}">
                <ns2:creationId id="{F27A43BB-C5D8-4204-8CC8-7D6196795198}"/>
              </a:ext>
            </a:extLst>
          </p:cNvPr>
          <p:cNvSpPr>
            <a:spLocks noGrp="1"/>
          </p:cNvSpPr>
          <p:nvPr/>
        </p:nvSpPr>
        <p:spPr>
          <a:xfrm>
            <a:off x="8877300" y="3962400"/>
            <a:ext cx="6477000" cy="457200"/>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질문, 확인된 진행과 결과</a:t>
            </a:r>
            <a:endParaRPr lang="ko-KR">
              <a:solidFill>
                <a:srgbClr val="000000"/>
              </a:solidFill>
              <a:latin typeface="Calibri"/>
              <a:ea typeface="Calibri"/>
              <a:cs typeface="Calibri"/>
            </a:endParaRPr>
          </a:p>
        </p:txBody>
      </p:sp>
      <p:sp>
        <p:nvSpPr>
          <p:cNvPr id="21" name="v2-41-Model Access">
            <a:extLst>
              <a:ext uri="{FF2B5EF4-FFF2-40B4-BE49-F238E27FC236}">
                <ns2:creationId id="{BB2DF0B2-836F-4B83-A54A-D41EDA6296C5}"/>
              </a:ext>
            </a:extLst>
          </p:cNvPr>
          <p:cNvSpPr>
            <a:spLocks noGrp="1"/>
          </p:cNvSpPr>
          <p:nvPr/>
        </p:nvSpPr>
        <p:spPr>
          <a:xfrm>
            <a:off x="5000625" y="4667250"/>
            <a:ext cx="4286250" cy="619125"/>
          </a:xfrm>
          <a:prstGeom prst="rect">
            <a:avLst/>
          </a:prstGeom>
          <a:solidFill>
            <a:srgbClr val="FFFFFF"/>
          </a:solidFill>
          <a:ln w="19050">
            <a:solidFill>
              <a:srgbClr val="576773"/>
            </a:solidFill>
          </a:ln>
        </p:spPr>
        <p:txBody>
          <a:bodyPr wrap="none" lIns="76200" tIns="0" rIns="76200"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Model Access</a:t>
            </a:r>
            <a:endParaRPr lang="ko-KR">
              <a:solidFill>
                <a:srgbClr val="000000"/>
              </a:solidFill>
              <a:latin typeface="Calibri"/>
              <a:ea typeface="Calibri"/>
              <a:cs typeface="Calibri"/>
            </a:endParaRPr>
          </a:p>
        </p:txBody>
      </p:sp>
      <p:sp>
        <p:nvSpPr>
          <p:cNvPr id="23" name="v2-43-클라우드 음성 모델">
            <a:extLst>
              <a:ext uri="{FF2B5EF4-FFF2-40B4-BE49-F238E27FC236}">
                <ns2:creationId id="{3790AE97-2705-499F-8630-32F0E42CEF3E}"/>
              </a:ext>
            </a:extLst>
          </p:cNvPr>
          <p:cNvSpPr>
            <a:spLocks noGrp="1"/>
          </p:cNvSpPr>
          <p:nvPr/>
        </p:nvSpPr>
        <p:spPr>
          <a:xfrm>
            <a:off x="10953750" y="4667250"/>
            <a:ext cx="3048000" cy="619125"/>
          </a:xfrm>
          <a:prstGeom prst="rect">
            <a:avLst/>
          </a:prstGeom>
          <a:solidFill>
            <a:srgbClr val="E8EEF7"/>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클라우드 음성 모델</a:t>
            </a:r>
            <a:endParaRPr lang="ko-KR">
              <a:solidFill>
                <a:srgbClr val="000000"/>
              </a:solidFill>
              <a:latin typeface="Calibri"/>
              <a:ea typeface="Calibri"/>
              <a:cs typeface="Calibri"/>
            </a:endParaRPr>
          </a:p>
        </p:txBody>
      </p:sp>
      <p:sp>
        <p:nvSpPr>
          <p:cNvPr id="25" name="v2-45-클라우드 의미 LLM">
            <a:extLst>
              <a:ext uri="{FF2B5EF4-FFF2-40B4-BE49-F238E27FC236}">
                <ns2:creationId id="{D8F81462-06E6-42A5-A07A-06EC37F3EA01}"/>
              </a:ext>
            </a:extLst>
          </p:cNvPr>
          <p:cNvSpPr>
            <a:spLocks noGrp="1"/>
          </p:cNvSpPr>
          <p:nvPr/>
        </p:nvSpPr>
        <p:spPr>
          <a:xfrm>
            <a:off x="14287500" y="4667250"/>
            <a:ext cx="3333750" cy="619125"/>
          </a:xfrm>
          <a:prstGeom prst="rect">
            <a:avLst/>
          </a:prstGeom>
          <a:solidFill>
            <a:srgbClr val="E8EEF7"/>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클라우드 의미 LLM</a:t>
            </a:r>
            <a:endParaRPr lang="ko-KR">
              <a:solidFill>
                <a:srgbClr val="000000"/>
              </a:solidFill>
              <a:latin typeface="Calibri"/>
              <a:ea typeface="Calibri"/>
              <a:cs typeface="Calibri"/>
            </a:endParaRPr>
          </a:p>
        </p:txBody>
      </p:sp>
      <p:sp>
        <p:nvSpPr>
          <p:cNvPr id="27" name="v2-47-via-model">
            <a:extLst>
              <a:ext uri="{FF2B5EF4-FFF2-40B4-BE49-F238E27FC236}">
                <ns2:creationId id="{42545227-DEB6-49E5-8A46-2D03A25E20E9}"/>
              </a:ext>
            </a:extLst>
          </p:cNvPr>
          <p:cNvSpPr>
            <a:spLocks noGrp="1"/>
          </p:cNvSpPr>
          <p:nvPr/>
        </p:nvSpPr>
        <p:spPr>
          <a:xfrm>
            <a:off x="7143750" y="3667125"/>
            <a:ext cx="9525" cy="1000125"/>
          </a:xfrm>
          <a:custGeom>
            <a:pathLst>
              <a:path w="9525" h="1000125">
                <a:moveTo>
                  <a:pt x="0" y="0"/>
                </a:moveTo>
                <a:lnTo>
                  <a:pt x="0" y="1000125"/>
                </a:lnTo>
              </a:path>
            </a:pathLst>
          </a:custGeom>
          <a:noFill/>
          <a:ln w="28575">
            <a:solidFill>
              <a:srgbClr val="00889A"/>
            </a:solidFill>
            <a:prstDash val="solid"/>
          </a:ln>
        </p:spPr>
      </p:sp>
      <p:sp>
        <p:nvSpPr>
          <p:cNvPr id="28" name="v2-48-via-model-head">
            <a:extLst>
              <a:ext uri="{FF2B5EF4-FFF2-40B4-BE49-F238E27FC236}">
                <ns2:creationId id="{6F7DC035-1B4C-40E9-BC9A-80FA9A1AEF12}"/>
              </a:ext>
            </a:extLst>
          </p:cNvPr>
          <p:cNvSpPr>
            <a:spLocks noGrp="1"/>
          </p:cNvSpPr>
          <p:nvPr/>
        </p:nvSpPr>
        <p:spPr>
          <a:xfrm>
            <a:off x="7088952" y="4566942"/>
            <a:ext cx="109597" cy="100308"/>
          </a:xfrm>
          <a:custGeom>
            <a:pathLst>
              <a:path w="109597" h="100308">
                <a:moveTo>
                  <a:pt x="0" y="0"/>
                </a:moveTo>
                <a:lnTo>
                  <a:pt x="54798" y="100308"/>
                </a:lnTo>
                <a:lnTo>
                  <a:pt x="109597" y="0"/>
                </a:lnTo>
              </a:path>
            </a:pathLst>
          </a:custGeom>
          <a:noFill/>
          <a:ln w="28575">
            <a:solidFill>
              <a:srgbClr val="00889A"/>
            </a:solidFill>
            <a:prstDash val="solid"/>
          </a:ln>
        </p:spPr>
      </p:sp>
      <p:sp>
        <p:nvSpPr>
          <p:cNvPr id="29" name="v2-49-model-voice">
            <a:extLst>
              <a:ext uri="{FF2B5EF4-FFF2-40B4-BE49-F238E27FC236}">
                <ns2:creationId id="{144485ED-CC7C-41E3-8221-219B4EACF002}"/>
              </a:ext>
            </a:extLst>
          </p:cNvPr>
          <p:cNvSpPr>
            <a:spLocks noGrp="1"/>
          </p:cNvSpPr>
          <p:nvPr/>
        </p:nvSpPr>
        <p:spPr>
          <a:xfrm>
            <a:off x="9286875" y="4991100"/>
            <a:ext cx="1666875" cy="9525"/>
          </a:xfrm>
          <a:custGeom>
            <a:pathLst>
              <a:path w="1666875" h="9525">
                <a:moveTo>
                  <a:pt x="0" y="0"/>
                </a:moveTo>
                <a:lnTo>
                  <a:pt x="1666875" y="0"/>
                </a:lnTo>
              </a:path>
            </a:pathLst>
          </a:custGeom>
          <a:noFill/>
          <a:ln w="28575">
            <a:solidFill>
              <a:srgbClr val="576773"/>
            </a:solidFill>
            <a:prstDash val="solid"/>
          </a:ln>
        </p:spPr>
      </p:sp>
      <p:sp>
        <p:nvSpPr>
          <p:cNvPr id="30" name="v2-50-model-voice-head">
            <a:extLst>
              <a:ext uri="{FF2B5EF4-FFF2-40B4-BE49-F238E27FC236}">
                <ns2:creationId id="{AE2135DC-B061-4A56-8D00-CC107E2AAF83}"/>
              </a:ext>
            </a:extLst>
          </p:cNvPr>
          <p:cNvSpPr>
            <a:spLocks noGrp="1"/>
          </p:cNvSpPr>
          <p:nvPr/>
        </p:nvSpPr>
        <p:spPr>
          <a:xfrm>
            <a:off x="10853442" y="4936302"/>
            <a:ext cx="100308" cy="109597"/>
          </a:xfrm>
          <a:custGeom>
            <a:pathLst>
              <a:path w="100308" h="109597">
                <a:moveTo>
                  <a:pt x="0" y="109597"/>
                </a:moveTo>
                <a:lnTo>
                  <a:pt x="100308" y="54798"/>
                </a:lnTo>
                <a:lnTo>
                  <a:pt x="0" y="0"/>
                </a:lnTo>
              </a:path>
            </a:pathLst>
          </a:custGeom>
          <a:noFill/>
          <a:ln w="28575">
            <a:solidFill>
              <a:srgbClr val="576773"/>
            </a:solidFill>
            <a:prstDash val="solid"/>
          </a:ln>
        </p:spPr>
      </p:sp>
      <p:sp>
        <p:nvSpPr>
          <p:cNvPr id="31" name="v2-51-model-meaning">
            <a:extLst>
              <a:ext uri="{FF2B5EF4-FFF2-40B4-BE49-F238E27FC236}">
                <ns2:creationId id="{B7B4DD31-3441-468E-B879-967F59EF7AF9}"/>
              </a:ext>
            </a:extLst>
          </p:cNvPr>
          <p:cNvSpPr>
            <a:spLocks noGrp="1"/>
          </p:cNvSpPr>
          <p:nvPr/>
        </p:nvSpPr>
        <p:spPr>
          <a:xfrm>
            <a:off x="9286875" y="5286375"/>
            <a:ext cx="6667500" cy="123825"/>
          </a:xfrm>
          <a:custGeom>
            <a:pathLst>
              <a:path w="6667500" h="123825">
                <a:moveTo>
                  <a:pt x="0" y="123825"/>
                </a:moveTo>
                <a:lnTo>
                  <a:pt x="6667500" y="123825"/>
                </a:lnTo>
                <a:lnTo>
                  <a:pt x="6667500" y="0"/>
                </a:lnTo>
              </a:path>
            </a:pathLst>
          </a:custGeom>
          <a:noFill/>
          <a:ln w="28575">
            <a:solidFill>
              <a:srgbClr val="576773"/>
            </a:solidFill>
            <a:prstDash val="solid"/>
          </a:ln>
        </p:spPr>
      </p:sp>
      <p:sp>
        <p:nvSpPr>
          <p:cNvPr id="32" name="v2-52-model-meaning-head">
            <a:extLst>
              <a:ext uri="{FF2B5EF4-FFF2-40B4-BE49-F238E27FC236}">
                <ns2:creationId id="{B0654220-EEFE-435C-BABA-0F4EECF023AC}"/>
              </a:ext>
            </a:extLst>
          </p:cNvPr>
          <p:cNvSpPr>
            <a:spLocks noGrp="1"/>
          </p:cNvSpPr>
          <p:nvPr/>
        </p:nvSpPr>
        <p:spPr>
          <a:xfrm>
            <a:off x="15899577" y="5286375"/>
            <a:ext cx="109597" cy="100308"/>
          </a:xfrm>
          <a:custGeom>
            <a:pathLst>
              <a:path w="109597" h="100308">
                <a:moveTo>
                  <a:pt x="109597" y="100308"/>
                </a:moveTo>
                <a:lnTo>
                  <a:pt x="54798" y="0"/>
                </a:lnTo>
                <a:lnTo>
                  <a:pt x="0" y="100308"/>
                </a:lnTo>
              </a:path>
            </a:pathLst>
          </a:custGeom>
          <a:noFill/>
          <a:ln w="28575">
            <a:solidFill>
              <a:srgbClr val="576773"/>
            </a:solidFill>
            <a:prstDash val="solid"/>
          </a:ln>
        </p:spPr>
      </p:sp>
      <p:sp>
        <p:nvSpPr>
          <p:cNvPr id="33" name="v2-53-note">
            <a:extLst>
              <a:ext uri="{FF2B5EF4-FFF2-40B4-BE49-F238E27FC236}">
                <ns2:creationId id="{823A08C4-4E55-4A6F-8545-BA3AF00AA9EB}"/>
              </a:ext>
            </a:extLst>
          </p:cNvPr>
          <p:cNvSpPr>
            <a:spLocks noGrp="1"/>
          </p:cNvSpPr>
          <p:nvPr/>
        </p:nvSpPr>
        <p:spPr>
          <a:xfrm>
            <a:off x="495300" y="5753100"/>
            <a:ext cx="17049750" cy="495300"/>
          </a:xfrm>
          <a:prstGeom prst="rect">
            <a:avLst/>
          </a:prstGeom>
          <a:noFill/>
          <a:ln w="0">
            <a:noFill/>
          </a:ln>
        </p:spPr>
        <p:txBody>
          <a:bodyPr wrap="none" lIns="0" tIns="0" rIns="0" bIns="0" anchor="ctr">
            <a:noAutofit/>
          </a:bodyPr>
          <a:lstStyle/>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발화 시작/끝 탐지는 로컬 VAD. 전사와 뜻 해석은 별도입니다.</a:t>
            </a:r>
            <a:endParaRPr lang="ko-KR">
              <a:solidFill>
                <a:srgbClr val="000000"/>
              </a:solidFill>
              <a:latin typeface="Calibri"/>
              <a:ea typeface="Calibri"/>
              <a:cs typeface="Calibri"/>
            </a:endParaRPr>
          </a:p>
        </p:txBody>
      </p:sp>
      <p:graphicFrame>
        <p:nvGraphicFramePr>
          <p:cNvPr id="69" name=""/>
          <p:cNvGraphicFramePr/>
          <p:nvPr/>
        </p:nvGraphicFramePr>
        <p:xfrm>
          <a:off x="495300" y="6524625"/>
          <a:ext cx="17297400" cy="2676525"/>
        </p:xfrm>
        <a:graphic>
          <a:graphicData uri="http://schemas.openxmlformats.org/drawingml/2006/table">
            <a:tbl>
              <a:tblPr/>
              <a:tblGrid>
                <a:gridCol w="3829050"/>
                <a:gridCol w="3695700"/>
                <a:gridCol w="9772650"/>
              </a:tblGrid>
              <a:tr h="552450">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일반 SW 관점</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VIA에서 쓰는 이름</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보고서와 메일 사례</a:t>
                      </a:r>
                      <a:endParaRPr lang="ko-KR">
                        <a:solidFill>
                          <a:srgbClr val="000000"/>
                        </a:solidFill>
                        <a:latin typeface="Calibri"/>
                        <a:ea typeface="Calibri"/>
                        <a:cs typeface="Calibri"/>
                      </a:endParaRPr>
                    </a:p>
                  </a:txBody>
                  <a:tcPr marL="114300" marR="76200" marT="47625" marB="47625" anchor="ctr">
                    <a:solidFill>
                      <a:srgbClr val="C6E0B4"/>
                    </a:solidFill>
                  </a:tcPr>
                </a:tc>
              </a:tr>
              <a:tr h="531019">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이번 입력의 처리</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Request</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“보고서는 이전 형식으로, 메일은 그대로”라는 이번 요청</a:t>
                      </a:r>
                      <a:endParaRPr lang="ko-KR">
                        <a:solidFill>
                          <a:srgbClr val="000000"/>
                        </a:solidFill>
                        <a:latin typeface="Calibri"/>
                        <a:ea typeface="Calibri"/>
                        <a:cs typeface="Calibri"/>
                      </a:endParaRPr>
                    </a:p>
                  </a:txBody>
                  <a:tcPr marL="114300" marR="76200" marT="47625" marB="47625" anchor="ctr">
                    <a:solidFill>
                      <a:srgbClr val="FFFFFF"/>
                    </a:solidFill>
                  </a:tcPr>
                </a:tc>
              </a:tr>
              <a:tr h="531019">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계속 추적하는 사용자 업무</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Task</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보고서와 메일 초안을 별도 업무로 유지</a:t>
                      </a:r>
                      <a:endParaRPr lang="ko-KR">
                        <a:solidFill>
                          <a:srgbClr val="000000"/>
                        </a:solidFill>
                        <a:latin typeface="Calibri"/>
                        <a:ea typeface="Calibri"/>
                        <a:cs typeface="Calibri"/>
                      </a:endParaRPr>
                    </a:p>
                  </a:txBody>
                  <a:tcPr marL="114300" marR="76200" marT="47625" marB="47625" anchor="ctr">
                    <a:solidFill>
                      <a:srgbClr val="FFFFFF"/>
                    </a:solidFill>
                  </a:tcPr>
                </a:tc>
              </a:tr>
              <a:tr h="531019">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실제 작업 실행</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Execution</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외부 업무 AI의 작성 실행. 대화 종료와 수명이 다름</a:t>
                      </a:r>
                      <a:endParaRPr lang="ko-KR">
                        <a:solidFill>
                          <a:srgbClr val="000000"/>
                        </a:solidFill>
                        <a:latin typeface="Calibri"/>
                        <a:ea typeface="Calibri"/>
                        <a:cs typeface="Calibri"/>
                      </a:endParaRPr>
                    </a:p>
                  </a:txBody>
                  <a:tcPr marL="114300" marR="76200" marT="47625" marB="47625" anchor="ctr">
                    <a:solidFill>
                      <a:srgbClr val="FFFFFF"/>
                    </a:solidFill>
                  </a:tcPr>
                </a:tc>
              </a:tr>
              <a:tr h="531019">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이어지는 대화 / 해석 근거</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Conversation / Context</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음성이 꺼져도 대화 기록과 업무 연결을 유지 / 자료와 과거 기록</a:t>
                      </a:r>
                      <a:endParaRPr lang="ko-KR">
                        <a:solidFill>
                          <a:srgbClr val="000000"/>
                        </a:solidFill>
                        <a:latin typeface="Calibri"/>
                        <a:ea typeface="Calibri"/>
                        <a:cs typeface="Calibri"/>
                      </a:endParaRPr>
                    </a:p>
                  </a:txBody>
                  <a:tcPr marL="114300" marR="76200" marT="47625" marB="47625" anchor="ctr">
                    <a:solidFill>
                      <a:srgbClr val="FFFFFF"/>
                    </a:solidFill>
                  </a:tcPr>
                </a:tc>
              </a:tr>
            </a:tbl>
          </a:graphicData>
        </a:graphic>
      </p:graphicFrame>
      <p:sp>
        <p:nvSpPr>
          <p:cNvPr id="35" name="v2-54-note">
            <a:extLst>
              <a:ext uri="{FF2B5EF4-FFF2-40B4-BE49-F238E27FC236}">
                <ns2:creationId id="{8B58B7D3-E00C-413C-A31A-B822AE49E432}"/>
              </a:ext>
            </a:extLst>
          </p:cNvPr>
          <p:cNvSpPr>
            <a:spLocks noGrp="1"/>
          </p:cNvSpPr>
          <p:nvPr/>
        </p:nvSpPr>
        <p:spPr>
          <a:xfrm>
            <a:off x="495300" y="9410700"/>
            <a:ext cx="17297400" cy="504825"/>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다음 장면의 시작 상태: 매출 표가 준비되어 있고, 이전 보고서에서 수정한 형식이 허용된 기록으로 남아 있습니다.</a:t>
            </a:r>
            <a:endParaRPr lang="ko-KR">
              <a:solidFill>
                <a:srgbClr val="000000"/>
              </a:solidFill>
              <a:latin typeface="Calibri"/>
              <a:ea typeface="Calibri"/>
              <a:cs typeface="Calibri"/>
            </a:endParaRPr>
          </a:p>
        </p:txBody>
      </p:sp>
      <p:sp>
        <p:nvSpPr>
          <p:cNvPr id="70" name="v6-header-title">
            <a:extLst>
              <a:ext uri="{FF2B5EF4-FFF2-40B4-BE49-F238E27FC236}">
                <ns2:creationId id="{9F5B940F-9206-406C-89FF-06411993240B}"/>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소개 | 시스템 구조</a:t>
            </a:r>
            <a:endParaRPr lang="ko-KR">
              <a:latin typeface="Calibri"/>
              <a:ea typeface="Calibri"/>
              <a:cs typeface="Calibri"/>
            </a:endParaRPr>
          </a:p>
        </p:txBody>
      </p:sp>
      <p:sp>
        <p:nvSpPr>
          <p:cNvPr id="71" name="v6-header-rule">
            <a:extLst>
              <a:ext uri="{FF2B5EF4-FFF2-40B4-BE49-F238E27FC236}">
                <ns2:creationId id="{1BB5E029-C85D-4111-812E-F8056AAE6184}"/>
              </a:ext>
            </a:extLst>
          </p:cNvPr>
          <p:cNvSpPr>
            <a:spLocks noGrp="1"/>
          </p:cNvSpPr>
          <p:nvPr/>
        </p:nvSpPr>
        <p:spPr>
          <a:xfrm>
            <a:off x="495300" y="990600"/>
            <a:ext cx="17335500" cy="0"/>
          </a:xfrm>
          <a:prstGeom prst="line">
            <a:avLst/>
          </a:prstGeom>
          <a:noFill/>
          <a:ln w="19050">
            <a:solidFill>
              <a:srgbClr val="A6A6A6"/>
            </a:solidFill>
          </a:ln>
        </p:spPr>
      </p:sp>
      <p:sp>
        <p:nvSpPr>
          <p:cNvPr id="72" name="v6-header-stage-0">
            <a:extLst>
              <a:ext uri="{FF2B5EF4-FFF2-40B4-BE49-F238E27FC236}">
                <ns2:creationId id="{7ADF0FD2-1525-409A-8BE6-45C327231E30}"/>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73" name="v6-header-stage-1">
            <a:extLst>
              <a:ext uri="{FF2B5EF4-FFF2-40B4-BE49-F238E27FC236}">
                <ns2:creationId id="{40199977-EC20-4D4C-89C6-E5D2E7450EE1}"/>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74" name="v6-header-stage-2">
            <a:extLst>
              <a:ext uri="{FF2B5EF4-FFF2-40B4-BE49-F238E27FC236}">
                <ns2:creationId id="{1695252F-4B4C-451E-90B8-7096921DA335}"/>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75" name="v6-header-stage-3">
            <a:extLst>
              <a:ext uri="{FF2B5EF4-FFF2-40B4-BE49-F238E27FC236}">
                <ns2:creationId id="{2D581164-2D48-4D59-9F37-25BD18483029}"/>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76" name="v6-header-stage-4">
            <a:extLst>
              <a:ext uri="{FF2B5EF4-FFF2-40B4-BE49-F238E27FC236}">
                <ns2:creationId id="{38C793DB-87C8-492F-A515-B9711FD3F45D}"/>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77" name="v6-header-page">
            <a:extLst>
              <a:ext uri="{FF2B5EF4-FFF2-40B4-BE49-F238E27FC236}">
                <ns2:creationId id="{3929917E-9D38-441C-A6A6-8CC7C68F23D1}"/>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 / 33</a:t>
            </a:r>
            <a:endParaRPr lang="ko-KR">
              <a:latin typeface="Calibri"/>
              <a:ea typeface="Calibri"/>
              <a:cs typeface="Calibri"/>
            </a:endParaRPr>
          </a:p>
        </p:txBody>
      </p:sp>
    </p:spTree>
    <p:extLst>
      <p:ext uri="{BB962C8B-B14F-4D97-AF65-F5344CB8AC3E}">
        <p14:creationId val="144154101"/>
      </p:ext>
    </p:extLst>
  </p:cSld>
</p:sld>
</file>

<file path=ppt/slides/slide48.xml><?xml version="1.0" encoding="utf-8"?>
<p:sld xmlns:a="http://schemas.openxmlformats.org/drawingml/2006/main" xmlns:ns2="http://schemas.microsoft.com/office/drawing/2014/main" xmlns:p="http://schemas.openxmlformats.org/presentationml/2006/main" xmlns:p14="http://schemas.microsoft.com/office/powerpoint/2010/main">
  <p:cSld name="requirements-rationale">
    <p:bg>
      <p:bgPr>
        <a:solidFill>
          <a:srgbClr val="FFFFFF"/>
        </a:solidFill>
      </p:bgPr>
    </p:bg>
    <p:spTree>
      <p:nvGrpSpPr>
        <p:cNvPr id="1" name=""/>
        <p:cNvGrpSpPr/>
        <p:nvPr/>
      </p:nvGrpSpPr>
      <p:grpSpPr>
        <a:xfrm/>
      </p:grpSpPr>
      <p:sp>
        <p:nvSpPr>
          <p:cNvPr id="5" name="v2-59-source-label">
            <a:extLst>
              <a:ext uri="{FF2B5EF4-FFF2-40B4-BE49-F238E27FC236}">
                <ns2:creationId id="{B171FF76-1ED5-4554-95FF-4907193DDEAB}"/>
              </a:ext>
            </a:extLst>
          </p:cNvPr>
          <p:cNvSpPr>
            <a:spLocks noGrp="1"/>
          </p:cNvSpPr>
          <p:nvPr/>
        </p:nvSpPr>
        <p:spPr>
          <a:xfrm>
            <a:off x="495300" y="1866900"/>
            <a:ext cx="5143500" cy="609600"/>
          </a:xfrm>
          <a:prstGeom prst="rect">
            <a:avLst/>
          </a:prstGeom>
          <a:noFill/>
          <a:ln w="0">
            <a:noFill/>
          </a:ln>
        </p:spPr>
        <p:txBody>
          <a:bodyPr wrap="none" lIns="0" tIns="0" rIns="0" bIns="0" anchor="ctr">
            <a:noAutofit/>
          </a:bodyPr>
          <a:lstStyle/>
          <a:p>
            <a:pPr algn="l">
              <a:defRPr sz="3100" b="1" lang="ko-KR">
                <a:solidFill>
                  <a:srgbClr val="000000"/>
                </a:solidFill>
                <a:latin typeface="Calibri"/>
                <a:ea typeface="Calibri"/>
                <a:cs typeface="Calibri"/>
              </a:defRPr>
            </a:pPr>
            <a:r>
              <a:rPr sz="3100" b="1" lang="ko-KR">
                <a:solidFill>
                  <a:srgbClr val="000000"/>
                </a:solidFill>
                <a:latin typeface="Calibri"/>
                <a:ea typeface="Calibri"/>
                <a:cs typeface="Calibri"/>
              </a:rPr>
              <a:t>요구의 근거</a:t>
            </a:r>
            <a:endParaRPr lang="ko-KR">
              <a:solidFill>
                <a:srgbClr val="000000"/>
              </a:solidFill>
              <a:latin typeface="Calibri"/>
              <a:ea typeface="Calibri"/>
              <a:cs typeface="Calibri"/>
            </a:endParaRPr>
          </a:p>
        </p:txBody>
      </p:sp>
      <p:sp>
        <p:nvSpPr>
          <p:cNvPr id="6" name="v2-60-sources">
            <a:extLst>
              <a:ext uri="{FF2B5EF4-FFF2-40B4-BE49-F238E27FC236}">
                <ns2:creationId id="{CF68C1EA-57B1-4DF1-AD28-6EB91E1BBFD4}"/>
              </a:ext>
            </a:extLst>
          </p:cNvPr>
          <p:cNvSpPr>
            <a:spLocks noGrp="1"/>
          </p:cNvSpPr>
          <p:nvPr/>
        </p:nvSpPr>
        <p:spPr>
          <a:xfrm>
            <a:off x="495300" y="2867025"/>
            <a:ext cx="5095875" cy="2352675"/>
          </a:xfrm>
          <a:prstGeom prst="rect">
            <a:avLst/>
          </a:prstGeom>
          <a:noFill/>
          <a:ln w="0">
            <a:noFill/>
          </a:ln>
        </p:spPr>
        <p:txBody>
          <a:bodyPr wrap="none" lIns="0" tIns="0" rIns="0" bIns="0" anchor="ctr">
            <a:noAutofit/>
          </a:bodyPr>
          <a:lstStyle/>
          <a:p>
            <a:pPr algn="l">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고정 Use Case와 변형 시나리오</a:t>
            </a:r>
            <a:endParaRPr lang="ko-KR">
              <a:solidFill>
                <a:srgbClr val="000000"/>
              </a:solidFill>
              <a:latin typeface="Calibri"/>
              <a:ea typeface="Calibri"/>
              <a:cs typeface="Calibri"/>
            </a:endParaRPr>
          </a:p>
          <a:p>
            <a:pPr algn="l">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현재 시스템의 책임과 경계</a:t>
            </a:r>
            <a:endParaRPr lang="ko-KR">
              <a:solidFill>
                <a:srgbClr val="000000"/>
              </a:solidFill>
              <a:latin typeface="Calibri"/>
              <a:ea typeface="Calibri"/>
              <a:cs typeface="Calibri"/>
            </a:endParaRPr>
          </a:p>
          <a:p>
            <a:pPr algn="l">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공통 실행 계약과 품질 정의</a:t>
            </a:r>
            <a:endParaRPr lang="ko-KR">
              <a:solidFill>
                <a:srgbClr val="000000"/>
              </a:solidFill>
              <a:latin typeface="Calibri"/>
              <a:ea typeface="Calibri"/>
              <a:cs typeface="Calibri"/>
            </a:endParaRPr>
          </a:p>
        </p:txBody>
      </p:sp>
      <p:sp>
        <p:nvSpPr>
          <p:cNvPr id="7" name="v2-61-req-source">
            <a:extLst>
              <a:ext uri="{FF2B5EF4-FFF2-40B4-BE49-F238E27FC236}">
                <ns2:creationId id="{798C4272-8763-4127-9533-FA39E67D029C}"/>
              </a:ext>
            </a:extLst>
          </p:cNvPr>
          <p:cNvSpPr>
            <a:spLocks noGrp="1"/>
          </p:cNvSpPr>
          <p:nvPr/>
        </p:nvSpPr>
        <p:spPr>
          <a:xfrm>
            <a:off x="5838825" y="3876675"/>
            <a:ext cx="1219200" cy="9525"/>
          </a:xfrm>
          <a:custGeom>
            <a:pathLst>
              <a:path w="1219200" h="9525">
                <a:moveTo>
                  <a:pt x="0" y="0"/>
                </a:moveTo>
                <a:lnTo>
                  <a:pt x="1219200" y="0"/>
                </a:lnTo>
              </a:path>
            </a:pathLst>
          </a:custGeom>
          <a:noFill/>
          <a:ln w="28575">
            <a:solidFill>
              <a:srgbClr val="00889A"/>
            </a:solidFill>
            <a:prstDash val="solid"/>
          </a:ln>
        </p:spPr>
      </p:sp>
      <p:sp>
        <p:nvSpPr>
          <p:cNvPr id="8" name="v2-62-req-source-head">
            <a:extLst>
              <a:ext uri="{FF2B5EF4-FFF2-40B4-BE49-F238E27FC236}">
                <ns2:creationId id="{2F2DD275-FDAC-4DCA-94E6-9EB19E4374FF}"/>
              </a:ext>
            </a:extLst>
          </p:cNvPr>
          <p:cNvSpPr>
            <a:spLocks noGrp="1"/>
          </p:cNvSpPr>
          <p:nvPr/>
        </p:nvSpPr>
        <p:spPr>
          <a:xfrm>
            <a:off x="6957717" y="3821877"/>
            <a:ext cx="100308" cy="109597"/>
          </a:xfrm>
          <a:custGeom>
            <a:pathLst>
              <a:path w="100308" h="109597">
                <a:moveTo>
                  <a:pt x="0" y="109597"/>
                </a:moveTo>
                <a:lnTo>
                  <a:pt x="100308" y="54798"/>
                </a:lnTo>
                <a:lnTo>
                  <a:pt x="0" y="0"/>
                </a:lnTo>
              </a:path>
            </a:pathLst>
          </a:custGeom>
          <a:noFill/>
          <a:ln w="28575">
            <a:solidFill>
              <a:srgbClr val="00889A"/>
            </a:solidFill>
            <a:prstDash val="solid"/>
          </a:ln>
        </p:spPr>
      </p:sp>
      <p:sp>
        <p:nvSpPr>
          <p:cNvPr id="9" name="v2-63-scope-label">
            <a:extLst>
              <a:ext uri="{FF2B5EF4-FFF2-40B4-BE49-F238E27FC236}">
                <ns2:creationId id="{E38E70BA-5156-4C48-A71D-92ECA36B7CC7}"/>
              </a:ext>
            </a:extLst>
          </p:cNvPr>
          <p:cNvSpPr>
            <a:spLocks noGrp="1"/>
          </p:cNvSpPr>
          <p:nvPr/>
        </p:nvSpPr>
        <p:spPr>
          <a:xfrm>
            <a:off x="7400925" y="1866900"/>
            <a:ext cx="10382250" cy="609600"/>
          </a:xfrm>
          <a:prstGeom prst="rect">
            <a:avLst/>
          </a:prstGeom>
          <a:noFill/>
          <a:ln w="0">
            <a:noFill/>
          </a:ln>
        </p:spPr>
        <p:txBody>
          <a:bodyPr wrap="none" lIns="0" tIns="0" rIns="0" bIns="0" anchor="ctr">
            <a:noAutofit/>
          </a:bodyPr>
          <a:lstStyle/>
          <a:p>
            <a:pPr algn="l">
              <a:defRPr sz="3100" b="1" lang="ko-KR">
                <a:solidFill>
                  <a:srgbClr val="000000"/>
                </a:solidFill>
                <a:latin typeface="Calibri"/>
                <a:ea typeface="Calibri"/>
                <a:cs typeface="Calibri"/>
              </a:defRPr>
            </a:pPr>
            <a:r>
              <a:rPr sz="3100" b="1" lang="ko-KR">
                <a:solidFill>
                  <a:srgbClr val="000000"/>
                </a:solidFill>
                <a:latin typeface="Calibri"/>
                <a:ea typeface="Calibri"/>
                <a:cs typeface="Calibri"/>
              </a:rPr>
              <a:t>발표에서 설명할 기능</a:t>
            </a:r>
            <a:endParaRPr lang="ko-KR">
              <a:solidFill>
                <a:srgbClr val="000000"/>
              </a:solidFill>
              <a:latin typeface="Calibri"/>
              <a:ea typeface="Calibri"/>
              <a:cs typeface="Calibri"/>
            </a:endParaRPr>
          </a:p>
        </p:txBody>
      </p:sp>
      <p:graphicFrame>
        <p:nvGraphicFramePr>
          <p:cNvPr id="23" name=""/>
          <p:cNvGraphicFramePr/>
          <p:nvPr/>
        </p:nvGraphicFramePr>
        <p:xfrm>
          <a:off x="7400925" y="2800350"/>
          <a:ext cx="10391775" cy="3429000"/>
        </p:xfrm>
        <a:graphic>
          <a:graphicData uri="http://schemas.openxmlformats.org/drawingml/2006/table">
            <a:tbl>
              <a:tblPr/>
              <a:tblGrid>
                <a:gridCol w="4000500"/>
                <a:gridCol w="4381500"/>
                <a:gridCol w="2009775"/>
              </a:tblGrid>
              <a:tr h="552450">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사용 중 생기는 일</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필요한 기능</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연결</a:t>
                      </a:r>
                      <a:endParaRPr lang="ko-KR">
                        <a:solidFill>
                          <a:srgbClr val="000000"/>
                        </a:solidFill>
                        <a:latin typeface="Calibri"/>
                        <a:ea typeface="Calibri"/>
                        <a:cs typeface="Calibri"/>
                      </a:endParaRPr>
                    </a:p>
                  </a:txBody>
                  <a:tcPr marL="114300" marR="76200" marT="47625" marB="47625" anchor="ctr">
                    <a:solidFill>
                      <a:srgbClr val="C6E0B4"/>
                    </a:solidFill>
                  </a:tcPr>
                </a:tc>
              </a:tr>
              <a:tr h="719138">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말하는 중 정정, 늦은 응답 도착</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지속 입력과 맥락 기반 해석</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FR1 / FR2</a:t>
                      </a:r>
                      <a:endParaRPr lang="ko-KR">
                        <a:solidFill>
                          <a:srgbClr val="000000"/>
                        </a:solidFill>
                        <a:latin typeface="Calibri"/>
                        <a:ea typeface="Calibri"/>
                        <a:cs typeface="Calibri"/>
                      </a:endParaRPr>
                    </a:p>
                  </a:txBody>
                  <a:tcPr marL="114300" marR="76200" marT="47625" marB="47625" anchor="ctr">
                    <a:solidFill>
                      <a:srgbClr val="FFFFFF"/>
                    </a:solidFill>
                  </a:tcPr>
                </a:tc>
              </a:tr>
              <a:tr h="719138">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보고서 결과로 메일 초안 작성</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순서, 조건과 결과 의존 보존</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FR3</a:t>
                      </a:r>
                      <a:endParaRPr lang="ko-KR">
                        <a:solidFill>
                          <a:srgbClr val="000000"/>
                        </a:solidFill>
                        <a:latin typeface="Calibri"/>
                        <a:ea typeface="Calibri"/>
                        <a:cs typeface="Calibri"/>
                      </a:endParaRPr>
                    </a:p>
                  </a:txBody>
                  <a:tcPr marL="114300" marR="76200" marT="47625" marB="47625" anchor="ctr">
                    <a:solidFill>
                      <a:srgbClr val="FFFFFF"/>
                    </a:solidFill>
                  </a:tcPr>
                </a:tc>
              </a:tr>
              <a:tr h="719138">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여러 업무의 질문과 결과 도착</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해당 업무와 연결, 기존 업무 계속</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FR4 / FR5</a:t>
                      </a:r>
                      <a:endParaRPr lang="ko-KR">
                        <a:solidFill>
                          <a:srgbClr val="000000"/>
                        </a:solidFill>
                        <a:latin typeface="Calibri"/>
                        <a:ea typeface="Calibri"/>
                        <a:cs typeface="Calibri"/>
                      </a:endParaRPr>
                    </a:p>
                  </a:txBody>
                  <a:tcPr marL="114300" marR="76200" marT="47625" marB="47625" anchor="ctr">
                    <a:solidFill>
                      <a:srgbClr val="FFFFFF"/>
                    </a:solidFill>
                  </a:tcPr>
                </a:tc>
              </a:tr>
              <a:tr h="719138">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“지난번 형식 / 평가 기준” 재사용</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허용된 과거 맥락 공급</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FR6</a:t>
                      </a:r>
                      <a:endParaRPr lang="ko-KR">
                        <a:solidFill>
                          <a:srgbClr val="000000"/>
                        </a:solidFill>
                        <a:latin typeface="Calibri"/>
                        <a:ea typeface="Calibri"/>
                        <a:cs typeface="Calibri"/>
                      </a:endParaRPr>
                    </a:p>
                  </a:txBody>
                  <a:tcPr marL="114300" marR="76200" marT="47625" marB="47625" anchor="ctr">
                    <a:solidFill>
                      <a:srgbClr val="FFFFFF"/>
                    </a:solidFill>
                  </a:tcPr>
                </a:tc>
              </a:tr>
            </a:tbl>
          </a:graphicData>
        </a:graphic>
      </p:graphicFrame>
      <p:sp>
        <p:nvSpPr>
          <p:cNvPr id="11" name="v2-64-constraints-heading">
            <a:extLst>
              <a:ext uri="{FF2B5EF4-FFF2-40B4-BE49-F238E27FC236}">
                <ns2:creationId id="{5877D09C-181B-429B-B2FE-EFA2D4BD1A97}"/>
              </a:ext>
            </a:extLst>
          </p:cNvPr>
          <p:cNvSpPr>
            <a:spLocks noGrp="1"/>
          </p:cNvSpPr>
          <p:nvPr/>
        </p:nvSpPr>
        <p:spPr>
          <a:xfrm>
            <a:off x="495300" y="6953250"/>
            <a:ext cx="17049750" cy="571500"/>
          </a:xfrm>
          <a:prstGeom prst="rect">
            <a:avLst/>
          </a:prstGeom>
          <a:noFill/>
          <a:ln w="0">
            <a:noFill/>
          </a:ln>
        </p:spPr>
        <p:txBody>
          <a:bodyPr wrap="none" lIns="0" tIns="0" rIns="0" bIns="0" anchor="ctr">
            <a:noAutofit/>
          </a:bodyPr>
          <a:lstStyle/>
          <a:p>
            <a:pPr algn="l">
              <a:defRPr sz="2900" b="1" lang="ko-KR">
                <a:solidFill>
                  <a:srgbClr val="000000"/>
                </a:solidFill>
                <a:latin typeface="Calibri"/>
                <a:ea typeface="Calibri"/>
                <a:cs typeface="Calibri"/>
              </a:defRPr>
            </a:pPr>
            <a:r>
              <a:rPr sz="2900" b="1" lang="ko-KR">
                <a:solidFill>
                  <a:srgbClr val="000000"/>
                </a:solidFill>
                <a:latin typeface="Calibri"/>
                <a:ea typeface="Calibri"/>
                <a:cs typeface="Calibri"/>
              </a:rPr>
              <a:t>이 기능을 구현할 때 지킬 경계</a:t>
            </a:r>
            <a:endParaRPr lang="ko-KR">
              <a:solidFill>
                <a:srgbClr val="000000"/>
              </a:solidFill>
              <a:latin typeface="Calibri"/>
              <a:ea typeface="Calibri"/>
              <a:cs typeface="Calibri"/>
            </a:endParaRPr>
          </a:p>
        </p:txBody>
      </p:sp>
      <p:sp>
        <p:nvSpPr>
          <p:cNvPr id="12" name="v2-65-constraints">
            <a:extLst>
              <a:ext uri="{FF2B5EF4-FFF2-40B4-BE49-F238E27FC236}">
                <ns2:creationId id="{F8ADD162-3B63-4891-B0E2-F8BDB3E51399}"/>
              </a:ext>
            </a:extLst>
          </p:cNvPr>
          <p:cNvSpPr>
            <a:spLocks noGrp="1"/>
          </p:cNvSpPr>
          <p:nvPr/>
        </p:nvSpPr>
        <p:spPr>
          <a:xfrm>
            <a:off x="495300" y="7905750"/>
            <a:ext cx="16859250" cy="1238250"/>
          </a:xfrm>
          <a:prstGeom prst="rect">
            <a:avLst/>
          </a:prstGeom>
          <a:noFill/>
          <a:ln w="0">
            <a:noFill/>
          </a:ln>
        </p:spPr>
        <p:txBody>
          <a:bodyPr wrap="none" lIns="0" tIns="0" rIns="0" bIns="0" anchor="ctr">
            <a:noAutofit/>
          </a:bodyPr>
          <a:lstStyle/>
          <a:p>
            <a:pPr algn="l">
              <a:defRPr sz="2500" b="0" lang="ko-KR">
                <a:solidFill>
                  <a:srgbClr val="000000"/>
                </a:solidFill>
                <a:latin typeface="Calibri"/>
                <a:ea typeface="Calibri"/>
                <a:cs typeface="Calibri"/>
              </a:defRPr>
            </a:pPr>
            <a:r>
              <a:rPr sz="2500" b="0" lang="ko-KR">
                <a:solidFill>
                  <a:srgbClr val="000000"/>
                </a:solidFill>
                <a:latin typeface="Calibri"/>
                <a:ea typeface="Calibri"/>
                <a:cs typeface="Calibri"/>
              </a:rPr>
              <a:t>C1  로컬 VIA와 VAD, 별도 클라우드 음성/의미 모델</a:t>
            </a:r>
            <a:endParaRPr lang="ko-KR">
              <a:solidFill>
                <a:srgbClr val="000000"/>
              </a:solidFill>
              <a:latin typeface="Calibri"/>
              <a:ea typeface="Calibri"/>
              <a:cs typeface="Calibri"/>
            </a:endParaRPr>
          </a:p>
          <a:p>
            <a:pPr algn="l">
              <a:defRPr sz="2500" b="0" lang="ko-KR">
                <a:solidFill>
                  <a:srgbClr val="000000"/>
                </a:solidFill>
                <a:latin typeface="Calibri"/>
                <a:ea typeface="Calibri"/>
                <a:cs typeface="Calibri"/>
              </a:defRPr>
            </a:pPr>
            <a:r>
              <a:rPr sz="2500" b="0" lang="ko-KR">
                <a:solidFill>
                  <a:srgbClr val="000000"/>
                </a:solidFill>
                <a:latin typeface="Calibri"/>
                <a:ea typeface="Calibri"/>
                <a:cs typeface="Calibri"/>
              </a:rPr>
              <a:t>C2  도메인 추론, 계획, 도구 선택과 실제 업무 실행은 Downstream Agent</a:t>
            </a:r>
            <a:endParaRPr lang="ko-KR">
              <a:solidFill>
                <a:srgbClr val="000000"/>
              </a:solidFill>
              <a:latin typeface="Calibri"/>
              <a:ea typeface="Calibri"/>
              <a:cs typeface="Calibri"/>
            </a:endParaRPr>
          </a:p>
        </p:txBody>
      </p:sp>
      <p:sp>
        <p:nvSpPr>
          <p:cNvPr id="13" name="v2-66-note">
            <a:extLst>
              <a:ext uri="{FF2B5EF4-FFF2-40B4-BE49-F238E27FC236}">
                <ns2:creationId id="{03AA631B-B572-44EA-9167-483C53F94DBC}"/>
              </a:ext>
            </a:extLst>
          </p:cNvPr>
          <p:cNvSpPr>
            <a:spLocks noGrp="1"/>
          </p:cNvSpPr>
          <p:nvPr/>
        </p:nvSpPr>
        <p:spPr>
          <a:xfrm>
            <a:off x="495300" y="9525000"/>
            <a:ext cx="17145000" cy="45720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다음 표는 네 설계 질문과 직접 관련된 기능 6개와 제약 2개입니다. 전체 VIA 기능 목록은 별도 기준 문서에 보존합니다.</a:t>
            </a:r>
            <a:endParaRPr lang="ko-KR">
              <a:solidFill>
                <a:srgbClr val="000000"/>
              </a:solidFill>
              <a:latin typeface="Calibri"/>
              <a:ea typeface="Calibri"/>
              <a:cs typeface="Calibri"/>
            </a:endParaRPr>
          </a:p>
        </p:txBody>
      </p:sp>
      <p:sp>
        <p:nvSpPr>
          <p:cNvPr id="24" name="v6-header-title">
            <a:extLst>
              <a:ext uri="{FF2B5EF4-FFF2-40B4-BE49-F238E27FC236}">
                <ns2:creationId id="{81B4D19B-9877-46E8-A49A-4589A2FA7A4C}"/>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요구사항 도출</a:t>
            </a:r>
            <a:endParaRPr lang="ko-KR">
              <a:latin typeface="Calibri"/>
              <a:ea typeface="Calibri"/>
              <a:cs typeface="Calibri"/>
            </a:endParaRPr>
          </a:p>
        </p:txBody>
      </p:sp>
      <p:sp>
        <p:nvSpPr>
          <p:cNvPr id="25" name="v6-header-rule">
            <a:extLst>
              <a:ext uri="{FF2B5EF4-FFF2-40B4-BE49-F238E27FC236}">
                <ns2:creationId id="{E39F706A-C84D-4499-BB0D-799C069626E5}"/>
              </a:ext>
            </a:extLst>
          </p:cNvPr>
          <p:cNvSpPr>
            <a:spLocks noGrp="1"/>
          </p:cNvSpPr>
          <p:nvPr/>
        </p:nvSpPr>
        <p:spPr>
          <a:xfrm>
            <a:off x="495300" y="990600"/>
            <a:ext cx="17335500" cy="0"/>
          </a:xfrm>
          <a:prstGeom prst="line">
            <a:avLst/>
          </a:prstGeom>
          <a:noFill/>
          <a:ln w="19050">
            <a:solidFill>
              <a:srgbClr val="A6A6A6"/>
            </a:solidFill>
          </a:ln>
        </p:spPr>
      </p:sp>
      <p:sp>
        <p:nvSpPr>
          <p:cNvPr id="26" name="v6-header-stage-0">
            <a:extLst>
              <a:ext uri="{FF2B5EF4-FFF2-40B4-BE49-F238E27FC236}">
                <ns2:creationId id="{AD2F0A68-CD79-4BC7-BEE7-A73EECAC9E83}"/>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27" name="v6-header-stage-1">
            <a:extLst>
              <a:ext uri="{FF2B5EF4-FFF2-40B4-BE49-F238E27FC236}">
                <ns2:creationId id="{4A1C2C27-74FE-46B3-B4CB-81DCC20BECE0}"/>
              </a:ext>
            </a:extLst>
          </p:cNvPr>
          <p:cNvSpPr>
            <a:spLocks noGrp="1"/>
          </p:cNvSpPr>
          <p:nvPr/>
        </p:nvSpPr>
        <p:spPr>
          <a:xfrm>
            <a:off x="122491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8" name="v6-header-stage-2">
            <a:extLst>
              <a:ext uri="{FF2B5EF4-FFF2-40B4-BE49-F238E27FC236}">
                <ns2:creationId id="{FDF15824-8906-4676-B08A-A57062DBEEE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9" name="v6-header-stage-3">
            <a:extLst>
              <a:ext uri="{FF2B5EF4-FFF2-40B4-BE49-F238E27FC236}">
                <ns2:creationId id="{3A913AC6-1055-4C97-912E-356CE1E8D255}"/>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0" name="v6-header-stage-4">
            <a:extLst>
              <a:ext uri="{FF2B5EF4-FFF2-40B4-BE49-F238E27FC236}">
                <ns2:creationId id="{FA59692C-7872-425B-B1DE-7DCA700F1B29}"/>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1" name="v6-header-page">
            <a:extLst>
              <a:ext uri="{FF2B5EF4-FFF2-40B4-BE49-F238E27FC236}">
                <ns2:creationId id="{4530E5E3-C039-4286-953E-9DC75AF384CD}"/>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7 / 33</a:t>
            </a:r>
            <a:endParaRPr lang="ko-KR">
              <a:latin typeface="Calibri"/>
              <a:ea typeface="Calibri"/>
              <a:cs typeface="Calibri"/>
            </a:endParaRPr>
          </a:p>
        </p:txBody>
      </p:sp>
    </p:spTree>
    <p:extLst>
      <p:ext uri="{BB962C8B-B14F-4D97-AF65-F5344CB8AC3E}">
        <p14:creationId val="1237208146"/>
      </p:ext>
    </p:extLst>
  </p:cSld>
</p:sld>
</file>

<file path=ppt/slides/slide49.xml><?xml version="1.0" encoding="utf-8"?>
<p:sld xmlns:a="http://schemas.openxmlformats.org/drawingml/2006/main" xmlns:ns2="http://schemas.microsoft.com/office/drawing/2014/main" xmlns:p="http://schemas.openxmlformats.org/presentationml/2006/main" xmlns:p14="http://schemas.microsoft.com/office/powerpoint/2010/main">
  <p:cSld name="time-boundaries">
    <p:bg>
      <p:bgPr>
        <a:solidFill>
          <a:srgbClr val="FFFFFF"/>
        </a:solidFill>
      </p:bgPr>
    </p:bg>
    <p:spTree>
      <p:nvGrpSpPr>
        <p:cNvPr id="2" name=""/>
        <p:cNvGrpSpPr/>
        <p:nvPr/>
      </p:nvGrpSpPr>
      <p:grpSpPr>
        <a:xfrm/>
      </p:grpSpPr>
      <p:sp>
        <p:nvSpPr>
          <p:cNvPr id="3" name="response-subtitle">
            <a:extLst>
              <a:ext uri="{FF2B5EF4-FFF2-40B4-BE49-F238E27FC236}">
                <ns2:creationId id="{9361BC21-4C22-4A57-B618-AC69DE2BB539}"/>
              </a:ext>
            </a:extLst>
          </p:cNvPr>
          <p:cNvSpPr>
            <a:spLocks noGrp="1"/>
          </p:cNvSpPr>
          <p:nvPr/>
        </p:nvSpPr>
        <p:spPr>
          <a:xfrm>
            <a:off x="523875" y="1276350"/>
            <a:ext cx="17287875" cy="457200"/>
          </a:xfrm>
          <a:prstGeom prst="rect">
            <a:avLst/>
          </a:prstGeom>
          <a:noFill/>
          <a:ln w="0">
            <a:noFill/>
          </a:ln>
        </p:spPr>
        <p:txBody>
          <a:bodyPr lIns="0" tIns="0" rIns="0" bIns="0" anchor="ctr">
            <a:noAutofit/>
          </a:bodyPr>
          <a:lstStyle>
            <a:defPPr>
              <a:defRPr sz="2400" b="1" lang="ko-KR">
                <a:solidFill>
                  <a:srgbClr val="000000"/>
                </a:solidFill>
                <a:latin typeface="Calibri"/>
                <a:ea typeface="Calibri"/>
                <a:cs typeface="Calibri"/>
              </a:defRPr>
            </a:defPPr>
          </a:lstStyle>
          <a:p>
            <a:pP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첫 안내와 VIA 처리 완료 및 음성 전달을 서로 다른 시점에서 평가</a:t>
            </a:r>
            <a:endParaRPr lang="ko-KR">
              <a:latin typeface="Calibri"/>
              <a:ea typeface="Calibri"/>
              <a:cs typeface="Calibri"/>
            </a:endParaRPr>
          </a:p>
        </p:txBody>
      </p:sp>
      <p:graphicFrame>
        <p:nvGraphicFramePr>
          <p:cNvPr id="4" name="three-time-boundaries">
            <a:extLst>
              <a:ext uri="{FF2B5EF4-FFF2-40B4-BE49-F238E27FC236}">
                <ns2:creationId id="{46C02A8F-7750-4D9F-82AF-E589107E5C45}"/>
              </a:ext>
            </a:extLst>
          </p:cNvPr>
          <p:cNvGraphicFramePr/>
          <p:nvPr/>
        </p:nvGraphicFramePr>
        <p:xfrm>
          <a:off x="457200" y="2038350"/>
          <a:ext cx="17373600" cy="5105400"/>
        </p:xfrm>
        <a:graphic>
          <a:graphicData uri="http://schemas.openxmlformats.org/drawingml/2006/table">
            <a:tbl>
              <a:tblPr/>
              <a:tblGrid>
                <a:gridCol w="3143250"/>
                <a:gridCol w="7048500"/>
                <a:gridCol w="4953000"/>
                <a:gridCol w="2228850"/>
              </a:tblGrid>
              <a:tr h="533400">
                <a:tc>
                  <a:txBody>
                    <a:bodyPr lIns="114300" tIns="47625" rIns="114300" bIns="47625">
                      <a:noAutofit/>
                    </a:bodyPr>
                    <a:lstStyle/>
                    <a:p>
                      <a:pPr algn="ctr">
                        <a:defRPr lang="ko-KR">
                          <a:latin typeface="Calibri"/>
                          <a:ea typeface="Calibri"/>
                          <a:cs typeface="Calibri"/>
                        </a:defRPr>
                      </a:pPr>
                      <a:r>
                        <a:rPr sz="2100" b="1" lang="ko-KR">
                          <a:solidFill>
                            <a:srgbClr val="000000"/>
                          </a:solidFill>
                          <a:latin typeface="Calibri"/>
                          <a:ea typeface="Calibri"/>
                          <a:cs typeface="Calibri"/>
                        </a:rPr>
                        <a:t>지표</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100" b="1" lang="ko-KR">
                          <a:solidFill>
                            <a:srgbClr val="000000"/>
                          </a:solidFill>
                          <a:latin typeface="Calibri"/>
                          <a:ea typeface="Calibri"/>
                          <a:cs typeface="Calibri"/>
                        </a:rPr>
                        <a:t>시작과 종료</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100" b="1" lang="ko-KR">
                          <a:solidFill>
                            <a:srgbClr val="000000"/>
                          </a:solidFill>
                          <a:latin typeface="Calibri"/>
                          <a:ea typeface="Calibri"/>
                          <a:cs typeface="Calibri"/>
                        </a:rPr>
                        <a:t>포함하는 대기</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100" b="1" lang="ko-KR">
                          <a:solidFill>
                            <a:srgbClr val="000000"/>
                          </a:solidFill>
                          <a:latin typeface="Calibri"/>
                          <a:ea typeface="Calibri"/>
                          <a:cs typeface="Calibri"/>
                        </a:rPr>
                        <a:t>목표</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1524000">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QA01</a:t>
                      </a:r>
                      <a:endParaRPr lang="ko-KR">
                        <a:latin typeface="Calibri"/>
                        <a:ea typeface="Calibri"/>
                        <a:cs typeface="Calibri"/>
                      </a:endParaRPr>
                    </a:p>
                    <a:p>
                      <a:pPr algn="ctr">
                        <a:defRPr lang="ko-KR">
                          <a:latin typeface="Calibri"/>
                          <a:ea typeface="Calibri"/>
                          <a:cs typeface="Calibri"/>
                        </a:defRPr>
                      </a:pPr>
                      <a:r>
                        <a:rPr sz="2100" b="0" lang="ko-KR">
                          <a:solidFill>
                            <a:srgbClr val="000000"/>
                          </a:solidFill>
                          <a:latin typeface="Calibri"/>
                          <a:ea typeface="Calibri"/>
                          <a:cs typeface="Calibri"/>
                        </a:rPr>
                        <a:t>첫 응답 지연시간</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실제 발화 종료 / Text 제출 / Agent source 제공</a:t>
                      </a:r>
                      <a:endParaRPr lang="ko-KR">
                        <a:latin typeface="Calibri"/>
                        <a:ea typeface="Calibri"/>
                        <a:cs typeface="Calibri"/>
                      </a:endParaRPr>
                    </a:p>
                    <a:p>
                      <a:pPr algn="ctr">
                        <a:defRPr lang="ko-KR">
                          <a:latin typeface="Calibri"/>
                          <a:ea typeface="Calibri"/>
                          <a:cs typeface="Calibri"/>
                        </a:defRPr>
                      </a:pPr>
                      <a:r>
                        <a:rPr sz="2100" b="0" lang="ko-KR">
                          <a:solidFill>
                            <a:srgbClr val="000000"/>
                          </a:solidFill>
                          <a:latin typeface="Calibri"/>
                          <a:ea typeface="Calibri"/>
                          <a:cs typeface="Calibri"/>
                        </a:rPr>
                        <a:t>첫 완결된 내용의 실제 UI 표시까지</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VAD와 전사 및 polling 대기</a:t>
                      </a:r>
                      <a:endParaRPr lang="ko-KR">
                        <a:latin typeface="Calibri"/>
                        <a:ea typeface="Calibri"/>
                        <a:cs typeface="Calibri"/>
                      </a:endParaRPr>
                    </a:p>
                    <a:p>
                      <a:pPr algn="ctr">
                        <a:defRPr lang="ko-KR">
                          <a:latin typeface="Calibri"/>
                          <a:ea typeface="Calibri"/>
                          <a:cs typeface="Calibri"/>
                        </a:defRPr>
                      </a:pPr>
                      <a:r>
                        <a:rPr sz="2100" b="0" lang="ko-KR">
                          <a:solidFill>
                            <a:srgbClr val="000000"/>
                          </a:solidFill>
                          <a:latin typeface="Calibri"/>
                          <a:ea typeface="Calibri"/>
                          <a:cs typeface="Calibri"/>
                        </a:rPr>
                        <a:t>오답도 실제 시간을 포함하고 오류는 별도 판정</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평균 1초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1524000">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QA03</a:t>
                      </a:r>
                      <a:endParaRPr lang="ko-KR">
                        <a:latin typeface="Calibri"/>
                        <a:ea typeface="Calibri"/>
                        <a:cs typeface="Calibri"/>
                      </a:endParaRPr>
                    </a:p>
                    <a:p>
                      <a:pPr algn="ctr">
                        <a:defRPr lang="ko-KR">
                          <a:latin typeface="Calibri"/>
                          <a:ea typeface="Calibri"/>
                          <a:cs typeface="Calibri"/>
                        </a:defRPr>
                      </a:pPr>
                      <a:r>
                        <a:rPr sz="2100" b="0" lang="ko-KR">
                          <a:solidFill>
                            <a:srgbClr val="000000"/>
                          </a:solidFill>
                          <a:latin typeface="Calibri"/>
                          <a:ea typeface="Calibri"/>
                          <a:cs typeface="Calibri"/>
                        </a:rPr>
                        <a:t>VIA 처리시간</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실제 사건부터 목표 완료까지의 실행 경로</a:t>
                      </a:r>
                      <a:endParaRPr lang="ko-KR">
                        <a:latin typeface="Calibri"/>
                        <a:ea typeface="Calibri"/>
                        <a:cs typeface="Calibri"/>
                      </a:endParaRPr>
                    </a:p>
                    <a:p>
                      <a:pPr algn="ctr">
                        <a:defRPr lang="ko-KR">
                          <a:latin typeface="Calibri"/>
                          <a:ea typeface="Calibri"/>
                          <a:cs typeface="Calibri"/>
                        </a:defRPr>
                      </a:pPr>
                      <a:r>
                        <a:rPr sz="2100" b="0" lang="ko-KR">
                          <a:solidFill>
                            <a:srgbClr val="000000"/>
                          </a:solidFill>
                          <a:latin typeface="Calibri"/>
                          <a:ea typeface="Calibri"/>
                          <a:cs typeface="Calibri"/>
                        </a:rPr>
                        <a:t>외부 대기를 0으로 바꾼 경로 길이</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모델과 내부 대기 및 출력 준비</a:t>
                      </a:r>
                      <a:endParaRPr lang="ko-KR">
                        <a:latin typeface="Calibri"/>
                        <a:ea typeface="Calibri"/>
                        <a:cs typeface="Calibri"/>
                      </a:endParaRPr>
                    </a:p>
                    <a:p>
                      <a:pPr algn="ctr">
                        <a:defRPr lang="ko-KR">
                          <a:latin typeface="Calibri"/>
                          <a:ea typeface="Calibri"/>
                          <a:cs typeface="Calibri"/>
                        </a:defRPr>
                      </a:pPr>
                      <a:r>
                        <a:rPr sz="2100" b="0" lang="ko-KR">
                          <a:solidFill>
                            <a:srgbClr val="000000"/>
                          </a:solidFill>
                          <a:latin typeface="Calibri"/>
                          <a:ea typeface="Calibri"/>
                          <a:cs typeface="Calibri"/>
                        </a:rPr>
                        <a:t>오답도 실제 시간을 포함하고 오류는 별도 판정</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평균 5초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1524000">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QA09</a:t>
                      </a:r>
                      <a:endParaRPr lang="ko-KR">
                        <a:latin typeface="Calibri"/>
                        <a:ea typeface="Calibri"/>
                        <a:cs typeface="Calibri"/>
                      </a:endParaRPr>
                    </a:p>
                    <a:p>
                      <a:pPr algn="ctr">
                        <a:defRPr lang="ko-KR">
                          <a:latin typeface="Calibri"/>
                          <a:ea typeface="Calibri"/>
                          <a:cs typeface="Calibri"/>
                        </a:defRPr>
                      </a:pPr>
                      <a:r>
                        <a:rPr sz="2100" b="0" lang="ko-KR">
                          <a:solidFill>
                            <a:srgbClr val="000000"/>
                          </a:solidFill>
                          <a:latin typeface="Calibri"/>
                          <a:ea typeface="Calibri"/>
                          <a:cs typeface="Calibri"/>
                        </a:rPr>
                        <a:t>음성 전달 지연</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첫 응답 내용 채택부터 실제 첫 요약 음성까지</a:t>
                      </a:r>
                      <a:endParaRPr lang="ko-KR">
                        <a:latin typeface="Calibri"/>
                        <a:ea typeface="Calibri"/>
                        <a:cs typeface="Calibri"/>
                      </a:endParaRPr>
                    </a:p>
                    <a:p>
                      <a:pPr algn="ctr">
                        <a:defRPr lang="ko-KR">
                          <a:latin typeface="Calibri"/>
                          <a:ea typeface="Calibri"/>
                          <a:cs typeface="Calibri"/>
                        </a:defRPr>
                      </a:pPr>
                      <a:r>
                        <a:rPr sz="2100" b="0" lang="ko-KR">
                          <a:solidFill>
                            <a:srgbClr val="000000"/>
                          </a:solidFill>
                          <a:latin typeface="Calibri"/>
                          <a:ea typeface="Calibri"/>
                          <a:cs typeface="Calibri"/>
                        </a:rPr>
                        <a:t>들을 수 없는 차례의 순수 대기는 제외</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생성과 준비 및 VIA 출력 대기</a:t>
                      </a:r>
                      <a:endParaRPr lang="ko-KR">
                        <a:latin typeface="Calibri"/>
                        <a:ea typeface="Calibri"/>
                        <a:cs typeface="Calibri"/>
                      </a:endParaRPr>
                    </a:p>
                    <a:p>
                      <a:pPr algn="ctr">
                        <a:defRPr lang="ko-KR">
                          <a:latin typeface="Calibri"/>
                          <a:ea typeface="Calibri"/>
                          <a:cs typeface="Calibri"/>
                        </a:defRPr>
                      </a:pPr>
                      <a:r>
                        <a:rPr sz="2100" b="0" lang="ko-KR">
                          <a:solidFill>
                            <a:srgbClr val="000000"/>
                          </a:solidFill>
                          <a:latin typeface="Calibri"/>
                          <a:ea typeface="Calibri"/>
                          <a:cs typeface="Calibri"/>
                        </a:rPr>
                        <a:t>VIA가 자의적으로 미룬 시간도 포함</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평균 500 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5" name="response-example-heading">
            <a:extLst>
              <a:ext uri="{FF2B5EF4-FFF2-40B4-BE49-F238E27FC236}">
                <ns2:creationId id="{7D9BD4C7-3026-4A20-9A1C-B4A1293B9E2F}"/>
              </a:ext>
            </a:extLst>
          </p:cNvPr>
          <p:cNvSpPr>
            <a:spLocks noGrp="1"/>
          </p:cNvSpPr>
          <p:nvPr/>
        </p:nvSpPr>
        <p:spPr>
          <a:xfrm>
            <a:off x="523875" y="7610475"/>
            <a:ext cx="17287875" cy="419100"/>
          </a:xfrm>
          <a:prstGeom prst="rect">
            <a:avLst/>
          </a:prstGeom>
          <a:noFill/>
          <a:ln w="0">
            <a:noFill/>
          </a:ln>
        </p:spPr>
        <p:txBody>
          <a:bodyPr lIns="0" tIns="0" rIns="0" bIns="0" anchor="ctr">
            <a:noAutofit/>
          </a:bodyPr>
          <a:lstStyle>
            <a:defPPr>
              <a:defRPr sz="2300" b="1" lang="ko-KR">
                <a:solidFill>
                  <a:srgbClr val="000000"/>
                </a:solidFill>
                <a:latin typeface="Calibri"/>
                <a:ea typeface="Calibri"/>
                <a:cs typeface="Calibri"/>
              </a:defRPr>
            </a:defPPr>
          </a:lstStyle>
          <a:p>
            <a:pP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예: 구체적인 수행 안내를 Agent 위임 전에 보여주는 경우</a:t>
            </a:r>
            <a:endParaRPr lang="ko-KR">
              <a:latin typeface="Calibri"/>
              <a:ea typeface="Calibri"/>
              <a:cs typeface="Calibri"/>
            </a:endParaRPr>
          </a:p>
        </p:txBody>
      </p:sp>
      <p:graphicFrame>
        <p:nvGraphicFramePr>
          <p:cNvPr id="6" name="response-timeline">
            <a:extLst>
              <a:ext uri="{FF2B5EF4-FFF2-40B4-BE49-F238E27FC236}">
                <ns2:creationId id="{3BEADD2C-B380-4A1F-AFCF-726D723D2D36}"/>
              </a:ext>
            </a:extLst>
          </p:cNvPr>
          <p:cNvGraphicFramePr/>
          <p:nvPr/>
        </p:nvGraphicFramePr>
        <p:xfrm>
          <a:off x="523875" y="8172450"/>
          <a:ext cx="17287875" cy="1171575"/>
        </p:xfrm>
        <a:graphic>
          <a:graphicData uri="http://schemas.openxmlformats.org/drawingml/2006/table">
            <a:tbl>
              <a:tblPr/>
              <a:tblGrid>
                <a:gridCol w="2476500"/>
                <a:gridCol w="2476500"/>
                <a:gridCol w="5905500"/>
                <a:gridCol w="3048000"/>
                <a:gridCol w="3381375"/>
              </a:tblGrid>
              <a:tr h="428625">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0.0초</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0.1초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0.8초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1.3초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2.5초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742950">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발화 종료</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“네” 표시</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“표와 그래프를</a:t>
                      </a:r>
                      <a:endParaRPr lang="ko-KR">
                        <a:latin typeface="Calibri"/>
                        <a:ea typeface="Calibri"/>
                        <a:cs typeface="Calibri"/>
                      </a:endParaRPr>
                    </a:p>
                    <a:p>
                      <a:pPr algn="ctr">
                        <a:defRPr lang="ko-KR">
                          <a:latin typeface="Calibri"/>
                          <a:ea typeface="Calibri"/>
                          <a:cs typeface="Calibri"/>
                        </a:defRPr>
                      </a:pPr>
                      <a:r>
                        <a:rPr sz="2000" b="0" lang="ko-KR">
                          <a:solidFill>
                            <a:srgbClr val="000000"/>
                          </a:solidFill>
                          <a:latin typeface="Calibri"/>
                          <a:ea typeface="Calibri"/>
                          <a:cs typeface="Calibri"/>
                        </a:rPr>
                        <a:t>비교하겠습니다”</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Agent 전송</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음성 요약 재생</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7" name="response-example-result">
            <a:extLst>
              <a:ext uri="{FF2B5EF4-FFF2-40B4-BE49-F238E27FC236}">
                <ns2:creationId id="{3B9AADAC-8CD0-4AB3-9993-3F2CEDF76FF4}"/>
              </a:ext>
            </a:extLst>
          </p:cNvPr>
          <p:cNvSpPr>
            <a:spLocks noGrp="1"/>
          </p:cNvSpPr>
          <p:nvPr/>
        </p:nvSpPr>
        <p:spPr>
          <a:xfrm>
            <a:off x="523875" y="9544050"/>
            <a:ext cx="17287875" cy="400050"/>
          </a:xfrm>
          <a:prstGeom prst="rect">
            <a:avLst/>
          </a:prstGeom>
          <a:noFill/>
          <a:ln w="0">
            <a:noFill/>
          </a:ln>
        </p:spPr>
        <p:txBody>
          <a:bodyPr lIns="0" tIns="0" rIns="0" bIns="0" anchor="ctr">
            <a:noAutofit/>
          </a:bodyPr>
          <a:lstStyle>
            <a:defPPr>
              <a:defRPr sz="1900" b="1" lang="ko-KR">
                <a:solidFill>
                  <a:srgbClr val="000000"/>
                </a:solidFill>
                <a:latin typeface="Calibri"/>
                <a:ea typeface="Calibri"/>
                <a:cs typeface="Calibri"/>
              </a:defRPr>
            </a:defPPr>
          </a:lstStyle>
          <a:p>
            <a:pP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대상과 수행 범위를 실제로 채택했다면 QA01은 0.8초다. Agent 전송과 실제 음성 재생은 첫 UI 응답의 종료점이 아니다.</a:t>
            </a:r>
            <a:endParaRPr lang="ko-KR">
              <a:latin typeface="Calibri"/>
              <a:ea typeface="Calibri"/>
              <a:cs typeface="Calibri"/>
            </a:endParaRPr>
          </a:p>
        </p:txBody>
      </p:sp>
      <p:sp>
        <p:nvSpPr>
          <p:cNvPr id="8" name="v6-header-title">
            <a:extLst>
              <a:ext uri="{FF2B5EF4-FFF2-40B4-BE49-F238E27FC236}">
                <ns2:creationId id="{46F50403-4712-469B-9C6B-BBDF7C91B868}"/>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응답 시점과 시간 지표</a:t>
            </a:r>
            <a:endParaRPr lang="ko-KR">
              <a:latin typeface="Calibri"/>
              <a:ea typeface="Calibri"/>
              <a:cs typeface="Calibri"/>
            </a:endParaRPr>
          </a:p>
        </p:txBody>
      </p:sp>
      <p:sp>
        <p:nvSpPr>
          <p:cNvPr id="9" name="v6-header-rule">
            <a:extLst>
              <a:ext uri="{FF2B5EF4-FFF2-40B4-BE49-F238E27FC236}">
                <ns2:creationId id="{3A987CC6-5C08-44C3-963E-3D03C28E05A0}"/>
              </a:ext>
            </a:extLst>
          </p:cNvPr>
          <p:cNvSpPr>
            <a:spLocks noGrp="1"/>
          </p:cNvSpPr>
          <p:nvPr/>
        </p:nvSpPr>
        <p:spPr>
          <a:xfrm>
            <a:off x="495300" y="990600"/>
            <a:ext cx="17335500" cy="0"/>
          </a:xfrm>
          <a:prstGeom prst="line">
            <a:avLst/>
          </a:prstGeom>
          <a:noFill/>
          <a:ln w="19050">
            <a:solidFill>
              <a:srgbClr val="A6A6A6"/>
            </a:solidFill>
          </a:ln>
        </p:spPr>
      </p:sp>
      <p:sp>
        <p:nvSpPr>
          <p:cNvPr id="10" name="v6-header-stage-0">
            <a:extLst>
              <a:ext uri="{FF2B5EF4-FFF2-40B4-BE49-F238E27FC236}">
                <ns2:creationId id="{B57E4DE0-C56A-4446-AB95-1C4C7303DE83}"/>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1" name="v6-header-stage-1">
            <a:extLst>
              <a:ext uri="{FF2B5EF4-FFF2-40B4-BE49-F238E27FC236}">
                <ns2:creationId id="{AFBCB809-4EA2-42CB-9C41-24DD6E98762E}"/>
              </a:ext>
            </a:extLst>
          </p:cNvPr>
          <p:cNvSpPr>
            <a:spLocks noGrp="1"/>
          </p:cNvSpPr>
          <p:nvPr/>
        </p:nvSpPr>
        <p:spPr>
          <a:xfrm>
            <a:off x="122491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2" name="v6-header-stage-2">
            <a:extLst>
              <a:ext uri="{FF2B5EF4-FFF2-40B4-BE49-F238E27FC236}">
                <ns2:creationId id="{1495277E-C2D6-4005-9ECB-FC60A3E97C73}"/>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3" name="v6-header-stage-3">
            <a:extLst>
              <a:ext uri="{FF2B5EF4-FFF2-40B4-BE49-F238E27FC236}">
                <ns2:creationId id="{36D8FB4A-521D-4E49-B430-2BDB92AFC0E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4" name="v6-header-stage-4">
            <a:extLst>
              <a:ext uri="{FF2B5EF4-FFF2-40B4-BE49-F238E27FC236}">
                <ns2:creationId id="{DB364B8C-7C63-44A7-9C6D-372ACC844F68}"/>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5" name="v6-header-page">
            <a:extLst>
              <a:ext uri="{FF2B5EF4-FFF2-40B4-BE49-F238E27FC236}">
                <ns2:creationId id="{DB15CABC-A67E-49CD-8226-3CEAABD4B1C5}"/>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11 / 33</a:t>
            </a:r>
            <a:endParaRPr lang="ko-KR">
              <a:latin typeface="Calibri"/>
              <a:ea typeface="Calibri"/>
              <a:cs typeface="Calibri"/>
            </a:endParaRPr>
          </a:p>
        </p:txBody>
      </p:sp>
    </p:spTree>
    <p:extLst>
      <p:ext uri="{BB962C8B-B14F-4D97-AF65-F5344CB8AC3E}">
        <p14:creationId val="117525244"/>
      </p:ext>
    </p:extLst>
  </p:cSld>
</p:sld>
</file>

<file path=ppt/slides/slide50.xml><?xml version="1.0" encoding="utf-8"?>
<p:sld xmlns:a="http://schemas.openxmlformats.org/drawingml/2006/main" xmlns:ns2="http://schemas.microsoft.com/office/drawing/2014/main" xmlns:p="http://schemas.openxmlformats.org/presentationml/2006/main" xmlns:p14="http://schemas.microsoft.com/office/powerpoint/2010/main">
  <p:cSld name="drivers">
    <p:bg>
      <p:bgPr>
        <a:solidFill>
          <a:srgbClr val="FFFFFF"/>
        </a:solidFill>
      </p:bgPr>
    </p:bg>
    <p:spTree>
      <p:nvGrpSpPr>
        <p:cNvPr id="1" name=""/>
        <p:cNvGrpSpPr/>
        <p:nvPr/>
      </p:nvGrpSpPr>
      <p:grpSpPr>
        <a:xfrm/>
      </p:grpSpPr>
      <ns0:graphicFrame xmlns:ns0="http://schemas.openxmlformats.org/presentationml/2006/main" xmlns:ns1="http://schemas.openxmlformats.org/drawingml/2006/main">
        <ns0:nvGraphicFramePr>
          <ns0:cNvPr id="12" name=""/>
          <ns0:cNvGraphicFramePr/>
          <ns0:nvPr/>
        </ns0:nvGraphicFramePr>
        <ns0:xfrm>
          <ns1:off x="495300" y="2019300"/>
          <ns1:ext cx="17297400" cy="4362450"/>
        </ns0:xfrm>
        <ns1:graphic>
          <ns1:graphicData uri="http://schemas.openxmlformats.org/drawingml/2006/table">
            <ns1:tbl>
              <ns1:tblPr/>
              <ns1:tblGrid>
                <ns1:gridCol w="4619625"/>
                <ns1:gridCol w="4857750"/>
                <ns1:gridCol w="7820025"/>
              </ns1:tblGrid>
              <ns1:tr h="552450">
                <ns1:tc>
                  <ns1:txBody>
                    <ns1:bodyPr/>
                    <ns1:lstStyle/>
                    <ns1:p>
                      <ns1:pPr algn="l">
                        <ns1:defRPr lang="ko-KR">
                          <ns1:solidFill>
                            <ns1:srgbClr val="000000"/>
                          </ns1:solidFill>
                          <ns1:latin typeface="Calibri"/>
                          <ns1:ea typeface="Calibri"/>
                          <ns1:cs typeface="Calibri"/>
                        </ns1:defRPr>
                      </ns1:pPr>
                      <ns1:r>
                        <ns1:rPr sz="2300" b="1" lang="ko-KR">
                          <ns1:solidFill>
                            <ns1:srgbClr val="000000"/>
                          </ns1:solidFill>
                          <ns1:latin typeface="Calibri"/>
                          <ns1:ea typeface="Calibri"/>
                          <ns1:cs typeface="Calibri"/>
                        </ns1:rPr>
                        <ns1:t>필요한 기능과 제약</ns1:t>
                      </ns1:r>
                      <ns1:endParaRPr lang="ko-KR">
                        <ns1:solidFill>
                          <ns1:srgbClr val="000000"/>
                        </ns1:solidFill>
                        <ns1:latin typeface="Calibri"/>
                        <ns1:ea typeface="Calibri"/>
                        <ns1:cs typeface="Calibri"/>
                      </ns1:endParaRPr>
                    </ns1:p>
                  </ns1:txBody>
                  <ns1:tcPr marL="114300" marR="76200" marT="47625" marB="47625" anchor="ctr">
                    <ns1:solidFill>
                      <ns1:srgbClr val="C6E0B4"/>
                    </ns1:solidFill>
                  </ns1:tcPr>
                </ns1:tc>
                <ns1:tc>
                  <ns1:txBody>
                    <ns1:bodyPr/>
                    <ns1:lstStyle/>
                    <ns1:p>
                      <ns1:pPr algn="l">
                        <ns1:defRPr lang="ko-KR">
                          <ns1:solidFill>
                            <ns1:srgbClr val="000000"/>
                          </ns1:solidFill>
                          <ns1:latin typeface="Calibri"/>
                          <ns1:ea typeface="Calibri"/>
                          <ns1:cs typeface="Calibri"/>
                        </ns1:defRPr>
                      </ns1:pPr>
                      <ns1:r>
                        <ns1:rPr sz="2300" b="1" lang="ko-KR">
                          <ns1:solidFill>
                            <ns1:srgbClr val="000000"/>
                          </ns1:solidFill>
                          <ns1:latin typeface="Calibri"/>
                          <ns1:ea typeface="Calibri"/>
                          <ns1:cs typeface="Calibri"/>
                        </ns1:rPr>
                        <ns1:t>비교할 품질 경로</ns1:t>
                      </ns1:r>
                      <ns1:endParaRPr lang="ko-KR">
                        <ns1:solidFill>
                          <ns1:srgbClr val="000000"/>
                        </ns1:solidFill>
                        <ns1:latin typeface="Calibri"/>
                        <ns1:ea typeface="Calibri"/>
                        <ns1:cs typeface="Calibri"/>
                      </ns1:endParaRPr>
                    </ns1:p>
                  </ns1:txBody>
                  <ns1:tcPr marL="114300" marR="76200" marT="47625" marB="47625" anchor="ctr">
                    <ns1:solidFill>
                      <ns1:srgbClr val="C6E0B4"/>
                    </ns1:solidFill>
                  </ns1:tcPr>
                </ns1:tc>
                <ns1:tc>
                  <ns1:txBody>
                    <ns1:bodyPr/>
                    <ns1:lstStyle/>
                    <ns1:p>
                      <ns1:pPr algn="l">
                        <ns1:defRPr lang="ko-KR">
                          <ns1:solidFill>
                            <ns1:srgbClr val="000000"/>
                          </ns1:solidFill>
                          <ns1:latin typeface="Calibri"/>
                          <ns1:ea typeface="Calibri"/>
                          <ns1:cs typeface="Calibri"/>
                        </ns1:defRPr>
                      </ns1:pPr>
                      <ns1:r>
                        <ns1:rPr sz="2300" b="1" lang="ko-KR">
                          <ns1:solidFill>
                            <ns1:srgbClr val="000000"/>
                          </ns1:solidFill>
                          <ns1:latin typeface="Calibri"/>
                          <ns1:ea typeface="Calibri"/>
                          <ns1:cs typeface="Calibri"/>
                        </ns1:rPr>
                        <ns1:t>설계 질문</ns1:t>
                      </ns1:r>
                      <ns1:endParaRPr lang="ko-KR">
                        <ns1:solidFill>
                          <ns1:srgbClr val="000000"/>
                        </ns1:solidFill>
                        <ns1:latin typeface="Calibri"/>
                        <ns1:ea typeface="Calibri"/>
                        <ns1:cs typeface="Calibri"/>
                      </ns1:endParaRPr>
                    </ns1:p>
                  </ns1:txBody>
                  <ns1:tcPr marL="114300" marR="76200" marT="47625" marB="47625" anchor="ctr">
                    <ns1:solidFill>
                      <ns1:srgbClr val="C6E0B4"/>
                    </ns1:solidFill>
                  </ns1:tcPr>
                </ns1:tc>
              </ns1:tr>
              <ns1:tr h="952500">
                <ns1:tc>
                  <ns1:txBody>
                    <ns1:bodyPr/>
                    <ns1:lstStyle/>
                    <ns1:p>
                      <ns1:pPr algn="l">
                        <ns1:buNone/>
                        <ns1:defRPr lang="ko-KR">
                          <ns1:latin typeface="Calibri"/>
                          <ns1:ea typeface="Calibri"/>
                          <ns1:cs typeface="Calibri"/>
                        </ns1:defRPr>
                      </ns1:pPr>
                      <ns1:r>
                        <ns1:rPr sz="2300" b="0" lang="ko-KR">
                          <ns1:solidFill>
                            <ns1:srgbClr val="000000"/>
                          </ns1:solidFill>
                          <ns1:latin typeface="Calibri"/>
                          <ns1:ea typeface="Calibri"/>
                          <ns1:cs typeface="Calibri"/>
                        </ns1:rPr>
                        <ns1:t>FR1 / FR2  화면·발화 근거와 지칭</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지칭 대상 식별 정확도 / VIA 처리시간 / 모델 비용</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buNone/>
                        <ns1:defRPr lang="ko-KR">
                          <ns1:latin typeface="Calibri"/>
                          <ns1:ea typeface="Calibri"/>
                          <ns1:cs typeface="Calibri"/>
                        </ns1:defRPr>
                      </ns1:pPr>
                      <ns1:r>
                        <ns1:rPr sz="2300" b="0" lang="ko-KR">
                          <ns1:solidFill>
                            <ns1:srgbClr val="000000"/>
                          </ns1:solidFill>
                          <ns1:latin typeface="Calibri"/>
                          <ns1:ea typeface="Calibri"/>
                          <ns1:cs typeface="Calibri"/>
                        </ns1:rPr>
                        <ns1:t>화면·음성  말한 순간의 대상을 어떻게 찾을까? (탐색)</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r>
              <ns1:tr h="952500">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FR1 / FR3 / FR4  지속 입력과 후속 전달</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첫 응답 지연시간 / VIA 처리시간 / 변경 범위</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buNone/>
                        <ns1:defRPr lang="ko-KR">
                          <ns1:latin typeface="Calibri"/>
                          <ns1:ea typeface="Calibri"/>
                          <ns1:cs typeface="Calibri"/>
                        </ns1:defRPr>
                      </ns1:pPr>
                      <ns1:r>
                        <ns1:rPr sz="2300" b="0" lang="ko-KR">
                          <ns1:solidFill>
                            <ns1:srgbClr val="000000"/>
                          </ns1:solidFill>
                          <ns1:latin typeface="Calibri"/>
                          <ns1:ea typeface="Calibri"/>
                          <ns1:cs typeface="Calibri"/>
                        </ns1:rPr>
                        <ns1:t>44  정정·질문·결과가 겹쳐도 사용자 통제를 어떻게 유지할까?</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r>
              <ns1:tr h="952500">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FR6  허용된 과거 맥락 제공</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지칭 대상 식별 정확도 / VIA 처리시간 / 모델 비용</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buNone/>
                        <ns1:defRPr lang="ko-KR">
                          <ns1:latin typeface="Calibri"/>
                          <ns1:ea typeface="Calibri"/>
                          <ns1:cs typeface="Calibri"/>
                        </ns1:defRPr>
                      </ns1:pPr>
                      <ns1:r>
                        <ns1:rPr sz="2300" b="0" lang="ko-KR">
                          <ns1:solidFill>
                            <ns1:srgbClr val="000000"/>
                          </ns1:solidFill>
                          <ns1:latin typeface="Calibri"/>
                          <ns1:ea typeface="Calibri"/>
                          <ns1:cs typeface="Calibri"/>
                        </ns1:rPr>
                        <ns1:t>45  설명·결과·정정의 과거 맥락을 어떻게 다시 사용할까?</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r>
              <ns1:tr h="952500">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FR4 / FR5  업무 연결과 연속성</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첫 응답 지연시간 / 변경 범위 / 최대 RAM 사용량</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buNone/>
                        <ns1:defRPr lang="ko-KR">
                          <ns1:latin typeface="Calibri"/>
                          <ns1:ea typeface="Calibri"/>
                          <ns1:cs typeface="Calibri"/>
                        </ns1:defRPr>
                      </ns1:pPr>
                      <ns1:r>
                        <ns1:rPr sz="2300" b="0" lang="ko-KR">
                          <ns1:solidFill>
                            <ns1:srgbClr val="000000"/>
                          </ns1:solidFill>
                          <ns1:latin typeface="Calibri"/>
                          <ns1:ea typeface="Calibri"/>
                          <ns1:cs typeface="Calibri"/>
                        </ns1:rPr>
                        <ns1:t>42  대화·요청·질문·업무·실행의 수명을 어떻게 연결할까?</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r>
            </ns1:tbl>
          </ns1:graphicData>
        </ns1:graphic>
      </ns0:graphicFrame>
      <p:sp xmlns:a="http://schemas.openxmlformats.org/drawingml/2006/main" xmlns:ns2="http://schemas.microsoft.com/office/drawing/2014/main" xmlns:p="http://schemas.openxmlformats.org/presentationml/2006/main">
        <p:nvSpPr>
          <p:cNvPr id="6" name="v2-99-drivers-common">
            <a:extLst>
              <a:ext uri="{FF2B5EF4-FFF2-40B4-BE49-F238E27FC236}">
                <ns2:creationId id="{DBD12002-1462-42DC-87FD-389E3E19F039}"/>
              </a:ext>
            </a:extLst>
          </p:cNvPr>
          <p:cNvSpPr>
            <a:spLocks noGrp="1"/>
          </p:cNvSpPr>
          <p:nvPr/>
        </p:nvSpPr>
        <p:spPr>
          <a:xfrm>
            <a:off x="495300" y="6943725"/>
            <a:ext cx="16954500" cy="600075"/>
          </a:xfrm>
          <a:prstGeom prst="rect">
            <a:avLst/>
          </a:prstGeom>
          <a:noFill/>
          <a:ln w="0">
            <a:noFill/>
          </a:ln>
        </p:spPr>
        <p:txBody>
          <a:bodyPr wrap="none" lIns="0" tIns="0" rIns="0" bIns="0" anchor="ctr">
            <a:noAutofit/>
          </a:bodyPr>
          <a:lstStyle/>
          <a:p>
            <a:pPr algn="l">
              <a:buNone/>
              <a:defRPr sz="2900" b="1" lang="ko-KR">
                <a:solidFill>
                  <a:srgbClr val="000000"/>
                </a:solidFill>
                <a:latin typeface="Calibri"/>
                <a:ea typeface="Calibri"/>
                <a:cs typeface="Calibri"/>
              </a:defRPr>
            </a:pPr>
            <a:r>
              <a:rPr sz="2900" b="1" lang="ko-KR">
                <a:solidFill>
                  <a:srgbClr val="000000"/>
                </a:solidFill>
                <a:latin typeface="Calibri"/>
                <a:ea typeface="Calibri"/>
                <a:cs typeface="Calibri"/>
              </a:rPr>
              <a:t>공통 제약 C1/C2는 모든 주제에서 지킵니다.</a:t>
            </a:r>
            <a:endParaRPr lang="ko-KR">
              <a:solidFill>
                <a:srgbClr val="000000"/>
              </a:solidFill>
              <a:latin typeface="Calibri"/>
              <a:ea typeface="Calibri"/>
              <a:cs typeface="Calibri"/>
            </a:endParaRPr>
          </a:p>
        </p:txBody>
      </p:sp>
      <ns0:sp xmlns:ns0="http://schemas.openxmlformats.org/presentationml/2006/main" xmlns:ns1="http://schemas.openxmlformats.org/drawingml/2006/main" xmlns:ns2="http://schemas.microsoft.com/office/drawing/2014/main">
        <ns0:nvSpPr>
          <ns0:cNvPr id="7" name="v2-100-drivers-qa">
            <ns1:extLst>
              <ns1:ext uri="{FF2B5EF4-FFF2-40B4-BE49-F238E27FC236}">
                <ns2:creationId id="{525BB69C-F790-41AF-8026-FC7D6FC2B0F0}"/>
              </ns1:ext>
            </ns1:extLst>
          </ns0:cNvPr>
          <ns0:cNvSpPr>
            <ns1:spLocks noGrp="1"/>
          </ns0:cNvSpPr>
          <ns0:nvPr/>
        </ns0:nvSpPr>
        <ns0:spPr>
          <ns1:xfrm>
            <ns1:off x="495300" y="8001000"/>
            <ns1:ext cx="17049750" cy="1323975"/>
          </ns1:xfrm>
          <ns1:prstGeom prst="rect">
            <ns1:avLst/>
          </ns1:prstGeom>
          <ns1:noFill/>
          <ns1:ln w="0">
            <ns1:noFill/>
          </ns1:ln>
        </ns0:spPr>
        <ns0:txBody>
          <ns1:bodyPr wrap="none" lIns="0" tIns="0" rIns="0" bIns="0" anchor="ctr">
            <ns1:noAutofit/>
          </ns1:bodyPr>
          <ns1:lstStyle/>
          <ns1:p>
            <ns1:pPr algn="l">
              <ns1:buNone/>
              <ns1:defRPr sz="2500" b="0" lang="ko-KR">
                <ns1:solidFill>
                  <ns1:srgbClr val="000000"/>
                </ns1:solidFill>
                <ns1:latin typeface="Calibri"/>
                <ns1:ea typeface="Calibri"/>
                <ns1:cs typeface="Calibri"/>
              </ns1:defRPr>
            </ns1:pPr>
            <ns1:r>
              <ns1:rPr sz="2500" b="0" lang="ko-KR">
                <ns1:solidFill>
                  <ns1:srgbClr val="000000"/>
                </ns1:solidFill>
                <ns1:latin typeface="Calibri"/>
                <ns1:ea typeface="Calibri"/>
                <ns1:cs typeface="Calibri"/>
              </ns1:rPr>
              <ns1:t>핵심 QA01~QA06과 추가 후보 QA07~QA09를 정리했습니다. 표는 구조별 주요 영향 경로를 보여줍니다.</ns1:t>
            </ns1:r>
            <ns1:endParaRPr lang="ko-KR">
              <ns1:solidFill>
                <ns1:srgbClr val="000000"/>
              </ns1:solidFill>
              <ns1:latin typeface="Calibri"/>
              <ns1:ea typeface="Calibri"/>
              <ns1:cs typeface="Calibri"/>
            </ns1:endParaRPr>
          </ns1:p>
          <ns1:p>
            <ns1:pPr algn="l">
              <ns1:buNone/>
              <ns1:defRPr sz="2500" b="0" lang="ko-KR">
                <ns1:solidFill>
                  <ns1:srgbClr val="000000"/>
                </ns1:solidFill>
                <ns1:latin typeface="Calibri"/>
                <ns1:ea typeface="Calibri"/>
                <ns1:cs typeface="Calibri"/>
              </ns1:defRPr>
            </ns1:pPr>
            <ns1:r>
              <ns1:rPr sz="2500" b="0" lang="ko-KR">
                <ns1:solidFill>
                  <ns1:srgbClr val="000000"/>
                </ns1:solidFill>
                <ns1:latin typeface="Calibri"/>
                <ns1:ea typeface="Calibri"/>
                <ns1:cs typeface="Calibri"/>
              </ns1:rPr>
              <ns1:t>대안별 영향과 실제 차이는 같은 입력과 외부 조건에서 확인합니다.</ns1:t>
            </ns1:r>
            <ns1:endParaRPr lang="ko-KR">
              <ns1:solidFill>
                <ns1:srgbClr val="000000"/>
              </ns1:solidFill>
              <ns1:latin typeface="Calibri"/>
              <ns1:ea typeface="Calibri"/>
              <ns1:cs typeface="Calibri"/>
            </ns1:endParaRPr>
          </ns1:p>
        </ns0:txBody>
      </ns0:sp>
      <p:sp>
        <p:nvSpPr>
          <p:cNvPr id="13" name="v6-header-title">
            <a:extLst>
              <a:ext uri="{FF2B5EF4-FFF2-40B4-BE49-F238E27FC236}">
                <ns2:creationId id="{CC0DF3FB-6F85-44D7-9070-8CFB1E7F7417}"/>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요구사항과 설계 질문</a:t>
            </a:r>
            <a:endParaRPr lang="ko-KR">
              <a:latin typeface="Calibri"/>
              <a:ea typeface="Calibri"/>
              <a:cs typeface="Calibri"/>
            </a:endParaRPr>
          </a:p>
        </p:txBody>
      </p:sp>
      <p:sp>
        <p:nvSpPr>
          <p:cNvPr id="14" name="v6-header-rule">
            <a:extLst>
              <a:ext uri="{FF2B5EF4-FFF2-40B4-BE49-F238E27FC236}">
                <ns2:creationId id="{818E77EE-2B3E-4F37-B826-0E9DAA08D453}"/>
              </a:ext>
            </a:extLst>
          </p:cNvPr>
          <p:cNvSpPr>
            <a:spLocks noGrp="1"/>
          </p:cNvSpPr>
          <p:nvPr/>
        </p:nvSpPr>
        <p:spPr>
          <a:xfrm>
            <a:off x="495300" y="990600"/>
            <a:ext cx="17335500" cy="0"/>
          </a:xfrm>
          <a:prstGeom prst="line">
            <a:avLst/>
          </a:prstGeom>
          <a:noFill/>
          <a:ln w="19050">
            <a:solidFill>
              <a:srgbClr val="A6A6A6"/>
            </a:solidFill>
          </a:ln>
        </p:spPr>
      </p:sp>
      <p:sp>
        <p:nvSpPr>
          <p:cNvPr id="15" name="v6-header-stage-0">
            <a:extLst>
              <a:ext uri="{FF2B5EF4-FFF2-40B4-BE49-F238E27FC236}">
                <ns2:creationId id="{5199B679-9291-498D-B275-64ACBA409F9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6" name="v6-header-stage-1">
            <a:extLst>
              <a:ext uri="{FF2B5EF4-FFF2-40B4-BE49-F238E27FC236}">
                <ns2:creationId id="{C1304838-93BD-465C-A24C-8786AD2A128A}"/>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7" name="v6-header-stage-2">
            <a:extLst>
              <a:ext uri="{FF2B5EF4-FFF2-40B4-BE49-F238E27FC236}">
                <ns2:creationId id="{574452F7-84BD-44B6-AE44-125D5045FAD2}"/>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8" name="v6-header-stage-3">
            <a:extLst>
              <a:ext uri="{FF2B5EF4-FFF2-40B4-BE49-F238E27FC236}">
                <ns2:creationId id="{F03214F6-5A8E-40B5-9223-45DE3E092769}"/>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9" name="v6-header-stage-4">
            <a:extLst>
              <a:ext uri="{FF2B5EF4-FFF2-40B4-BE49-F238E27FC236}">
                <ns2:creationId id="{51B3B348-ABD5-4DF2-A5B4-BC99EE5E3537}"/>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0" name="v6-header-page">
            <a:extLst>
              <a:ext uri="{FF2B5EF4-FFF2-40B4-BE49-F238E27FC236}">
                <ns2:creationId id="{E746A0CC-7AD9-49E2-B3E5-20B39B07E68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12 / 33</a:t>
            </a:r>
            <a:endParaRPr lang="ko-KR">
              <a:latin typeface="Calibri"/>
              <a:ea typeface="Calibri"/>
              <a:cs typeface="Calibri"/>
            </a:endParaRPr>
          </a:p>
        </p:txBody>
      </p:sp>
    </p:spTree>
    <p:extLst>
      <p:ext uri="{BB962C8B-B14F-4D97-AF65-F5344CB8AC3E}">
        <p14:creationId val="944121076"/>
      </p:ext>
    </p:extLst>
  </p:cSld>
</p:sld>
</file>

<file path=ppt/slides/slide52.xml><?xml version="1.0" encoding="utf-8"?>
<p:sld xmlns:a="http://schemas.openxmlformats.org/drawingml/2006/main" xmlns:ns2="http://schemas.microsoft.com/office/drawing/2014/main" xmlns:p="http://schemas.openxmlformats.org/presentationml/2006/main" xmlns:p14="http://schemas.microsoft.com/office/powerpoint/2010/main">
  <p:cSld name="dp44-comparison-v2">
    <p:bg>
      <p:bgPr>
        <a:solidFill>
          <a:srgbClr val="FFFFFF"/>
        </a:solidFill>
      </p:bgPr>
    </p:bg>
    <p:spTree>
      <p:nvGrpSpPr>
        <p:cNvPr id="1" name=""/>
        <p:cNvGrpSpPr/>
        <p:nvPr/>
      </p:nvGrpSpPr>
      <p:grpSpPr>
        <a:xfrm/>
      </p:grpSpPr>
      <p:sp>
        <p:nvSpPr>
          <p:cNvPr id="5" name="v2-227-note">
            <a:extLst>
              <a:ext uri="{FF2B5EF4-FFF2-40B4-BE49-F238E27FC236}">
                <ns2:creationId id="{3920B635-CC86-4452-9F21-854F33BEA64C}"/>
              </a:ext>
            </a:extLst>
          </p:cNvPr>
          <p:cNvSpPr>
            <a:spLocks noGrp="1"/>
          </p:cNvSpPr>
          <p:nvPr/>
        </p:nvSpPr>
        <p:spPr>
          <a:xfrm>
            <a:off x="495300" y="1457325"/>
            <a:ext cx="17297400" cy="457200"/>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같은 사건: 새 “표부터 설명해줘” + 메일 수신자 질문 + 이전 응답 준비의 늦은 완료</a:t>
            </a:r>
            <a:endParaRPr lang="ko-KR">
              <a:solidFill>
                <a:srgbClr val="000000"/>
              </a:solidFill>
              <a:latin typeface="Calibri"/>
              <a:ea typeface="Calibri"/>
              <a:cs typeface="Calibri"/>
            </a:endParaRPr>
          </a:p>
        </p:txBody>
      </p:sp>
      <p:sp>
        <p:nvSpPr>
          <p:cNvPr id="6" name="v2-228-option-a">
            <a:extLst>
              <a:ext uri="{FF2B5EF4-FFF2-40B4-BE49-F238E27FC236}">
                <ns2:creationId id="{1C349DDE-BB2A-4356-AB27-2A6B5BB40C49}"/>
              </a:ext>
            </a:extLst>
          </p:cNvPr>
          <p:cNvSpPr>
            <a:spLocks noGrp="1"/>
          </p:cNvSpPr>
          <p:nvPr/>
        </p:nvSpPr>
        <p:spPr>
          <a:xfrm>
            <a:off x="495300" y="2000250"/>
            <a:ext cx="8391525" cy="476250"/>
          </a:xfrm>
          <a:prstGeom prst="rect">
            <a:avLst/>
          </a:prstGeom>
          <a:solidFill>
            <a:srgbClr val="E8EEF7"/>
          </a:solidFill>
          <a:ln w="9525">
            <a:solidFill>
              <a:srgbClr val="BCCAD2"/>
            </a:solidFill>
          </a:ln>
        </p:spPr>
        <p:txBody>
          <a:bodyPr wrap="none" lIns="123825" tIns="0" rIns="17145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A  중앙이 완료를 회수하고 후속 지시</a:t>
            </a:r>
            <a:endParaRPr lang="ko-KR">
              <a:solidFill>
                <a:srgbClr val="000000"/>
              </a:solidFill>
              <a:latin typeface="Calibri"/>
              <a:ea typeface="Calibri"/>
              <a:cs typeface="Calibri"/>
            </a:endParaRPr>
          </a:p>
        </p:txBody>
      </p:sp>
      <p:sp>
        <p:nvSpPr>
          <p:cNvPr id="7" name="v2-229-option-b">
            <a:extLst>
              <a:ext uri="{FF2B5EF4-FFF2-40B4-BE49-F238E27FC236}">
                <ns2:creationId id="{19F101DC-0E54-43DB-ABC6-102F155AEC48}"/>
              </a:ext>
            </a:extLst>
          </p:cNvPr>
          <p:cNvSpPr>
            <a:spLocks noGrp="1"/>
          </p:cNvSpPr>
          <p:nvPr/>
        </p:nvSpPr>
        <p:spPr>
          <a:xfrm>
            <a:off x="9229725" y="2000250"/>
            <a:ext cx="8562975" cy="476250"/>
          </a:xfrm>
          <a:prstGeom prst="rect">
            <a:avLst/>
          </a:prstGeom>
          <a:solidFill>
            <a:srgbClr val="FFF6DE"/>
          </a:solidFill>
          <a:ln w="9525">
            <a:solidFill>
              <a:srgbClr val="BCCAD2"/>
            </a:solidFill>
          </a:ln>
        </p:spPr>
        <p:txBody>
          <a:bodyPr wrap="none" lIns="123825" tIns="0" rIns="15240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B  단계와 Join이 조건을 보고 실행</a:t>
            </a:r>
            <a:endParaRPr lang="ko-KR">
              <a:solidFill>
                <a:srgbClr val="000000"/>
              </a:solidFill>
              <a:latin typeface="Calibri"/>
              <a:ea typeface="Calibri"/>
              <a:cs typeface="Calibri"/>
            </a:endParaRPr>
          </a:p>
        </p:txBody>
      </p:sp>
      <p:sp>
        <p:nvSpPr>
          <p:cNvPr id="10" name="v2-232-Interaction Manager">
            <a:extLst>
              <a:ext uri="{FF2B5EF4-FFF2-40B4-BE49-F238E27FC236}">
                <ns2:creationId id="{6358AFF3-98E2-48FF-AEE8-A93BA66CD60B}"/>
              </a:ext>
            </a:extLst>
          </p:cNvPr>
          <p:cNvSpPr>
            <a:spLocks noGrp="1"/>
          </p:cNvSpPr>
          <p:nvPr/>
        </p:nvSpPr>
        <p:spPr>
          <a:xfrm>
            <a:off x="723900" y="2657475"/>
            <a:ext cx="3638550" cy="4953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12" name="v2-234-Task Manager">
            <a:extLst>
              <a:ext uri="{FF2B5EF4-FFF2-40B4-BE49-F238E27FC236}">
                <ns2:creationId id="{E6F460AB-48F0-466C-AB34-23F291B23E53}"/>
              </a:ext>
            </a:extLst>
          </p:cNvPr>
          <p:cNvSpPr>
            <a:spLocks noGrp="1"/>
          </p:cNvSpPr>
          <p:nvPr/>
        </p:nvSpPr>
        <p:spPr>
          <a:xfrm>
            <a:off x="5153025" y="2657475"/>
            <a:ext cx="3505200" cy="4953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14" name="v2-236-Interaction Manager">
            <a:extLst>
              <a:ext uri="{FF2B5EF4-FFF2-40B4-BE49-F238E27FC236}">
                <ns2:creationId id="{EE42A785-8692-4892-BFDD-55F317DDC51E}"/>
              </a:ext>
            </a:extLst>
          </p:cNvPr>
          <p:cNvSpPr>
            <a:spLocks noGrp="1"/>
          </p:cNvSpPr>
          <p:nvPr/>
        </p:nvSpPr>
        <p:spPr>
          <a:xfrm>
            <a:off x="9458325" y="2657475"/>
            <a:ext cx="3638550" cy="4953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16" name="v2-238-Task Manager">
            <a:extLst>
              <a:ext uri="{FF2B5EF4-FFF2-40B4-BE49-F238E27FC236}">
                <ns2:creationId id="{86FC882E-8E92-4BB0-B701-4327E1CE3475}"/>
              </a:ext>
            </a:extLst>
          </p:cNvPr>
          <p:cNvSpPr>
            <a:spLocks noGrp="1"/>
          </p:cNvSpPr>
          <p:nvPr/>
        </p:nvSpPr>
        <p:spPr>
          <a:xfrm>
            <a:off x="13887450" y="2657475"/>
            <a:ext cx="3505200" cy="4953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18" name="v2-240-Request Controller">
            <a:extLst>
              <a:ext uri="{FF2B5EF4-FFF2-40B4-BE49-F238E27FC236}">
                <ns2:creationId id="{8C0BF3DF-3739-488F-8771-DAA0DCDA6F8F}"/>
              </a:ext>
            </a:extLst>
          </p:cNvPr>
          <p:cNvSpPr>
            <a:spLocks noGrp="1"/>
          </p:cNvSpPr>
          <p:nvPr/>
        </p:nvSpPr>
        <p:spPr>
          <a:xfrm>
            <a:off x="600075" y="3371850"/>
            <a:ext cx="8105775" cy="1552575"/>
          </a:xfrm>
          <a:prstGeom prst="rect">
            <a:avLst/>
          </a:prstGeom>
          <a:noFill/>
          <a:ln w="19050">
            <a:solidFill>
              <a:srgbClr val="BCCAD2"/>
            </a:solidFill>
          </a:ln>
        </p:spPr>
        <p:txBody>
          <a:bodyPr wrap="none" lIns="133350" tIns="38100" rIns="4829175" bIns="1152525"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20" name="v2-242-Dialogue Dispatcher">
            <a:extLst>
              <a:ext uri="{FF2B5EF4-FFF2-40B4-BE49-F238E27FC236}">
                <ns2:creationId id="{B9CCD998-3CE2-4140-977F-5A4350CFD0B7}"/>
              </a:ext>
            </a:extLst>
          </p:cNvPr>
          <p:cNvSpPr>
            <a:spLocks noGrp="1"/>
          </p:cNvSpPr>
          <p:nvPr/>
        </p:nvSpPr>
        <p:spPr>
          <a:xfrm>
            <a:off x="2305050" y="3829050"/>
            <a:ext cx="3524250" cy="571500"/>
          </a:xfrm>
          <a:prstGeom prst="rect">
            <a:avLst/>
          </a:prstGeom>
          <a:solidFill>
            <a:srgbClr val="FFF6DE"/>
          </a:solidFill>
          <a:ln w="19050">
            <a:solidFill>
              <a:srgbClr val="576773"/>
            </a:solidFill>
          </a:ln>
        </p:spPr>
        <p:txBody>
          <a:bodyPr wrap="none" lIns="76200" tIns="0" rIns="76200"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Dialogue Dispatcher</a:t>
            </a:r>
            <a:endParaRPr lang="ko-KR">
              <a:solidFill>
                <a:srgbClr val="000000"/>
              </a:solidFill>
              <a:latin typeface="Calibri"/>
              <a:ea typeface="Calibri"/>
              <a:cs typeface="Calibri"/>
            </a:endParaRPr>
          </a:p>
        </p:txBody>
      </p:sp>
      <p:sp>
        <p:nvSpPr>
          <p:cNvPr id="22" name="v2-244-Dialogue Progress State">
            <a:extLst>
              <a:ext uri="{FF2B5EF4-FFF2-40B4-BE49-F238E27FC236}">
                <ns2:creationId id="{71128F4C-99C5-4F2B-B0F8-B6520009F420}"/>
              </a:ext>
            </a:extLst>
          </p:cNvPr>
          <p:cNvSpPr>
            <a:spLocks noGrp="1"/>
          </p:cNvSpPr>
          <p:nvPr/>
        </p:nvSpPr>
        <p:spPr>
          <a:xfrm>
            <a:off x="6229350" y="3876675"/>
            <a:ext cx="2209800" cy="504825"/>
          </a:xfrm>
          <a:prstGeom prst="can">
            <a:avLst/>
          </a:prstGeom>
          <a:solidFill>
            <a:srgbClr val="FFFFFF"/>
          </a:solidFill>
          <a:ln w="19050">
            <a:solidFill>
              <a:srgbClr val="576773"/>
            </a:solidFill>
          </a:ln>
        </p:spPr>
        <p:txBody>
          <a:bodyPr wrap="none" lIns="76200" tIns="0" rIns="76200" bIns="0" anchor="ctr">
            <a:noAutofit/>
          </a:bodyPr>
          <a:lstStyle/>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Dialogue Progress State</a:t>
            </a:r>
            <a:endParaRPr lang="ko-KR">
              <a:solidFill>
                <a:srgbClr val="000000"/>
              </a:solidFill>
              <a:latin typeface="Calibri"/>
              <a:ea typeface="Calibri"/>
              <a:cs typeface="Calibri"/>
            </a:endParaRPr>
          </a:p>
        </p:txBody>
      </p:sp>
      <p:sp>
        <p:nvSpPr>
          <p:cNvPr id="24" name="v2-246-Request Interpreter">
            <a:extLst>
              <a:ext uri="{FF2B5EF4-FFF2-40B4-BE49-F238E27FC236}">
                <ns2:creationId id="{10515061-9C96-4A77-9466-47004398756F}"/>
              </a:ext>
            </a:extLst>
          </p:cNvPr>
          <p:cNvSpPr>
            <a:spLocks noGrp="1"/>
          </p:cNvSpPr>
          <p:nvPr/>
        </p:nvSpPr>
        <p:spPr>
          <a:xfrm>
            <a:off x="809625" y="5391150"/>
            <a:ext cx="3238500" cy="4572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26" name="v2-248-Response Manager">
            <a:extLst>
              <a:ext uri="{FF2B5EF4-FFF2-40B4-BE49-F238E27FC236}">
                <ns2:creationId id="{C9E84AAA-8BDC-4B33-A292-FF9D35BBF6FC}"/>
              </a:ext>
            </a:extLst>
          </p:cNvPr>
          <p:cNvSpPr>
            <a:spLocks noGrp="1"/>
          </p:cNvSpPr>
          <p:nvPr/>
        </p:nvSpPr>
        <p:spPr>
          <a:xfrm>
            <a:off x="5191125" y="5076825"/>
            <a:ext cx="3429000" cy="1028700"/>
          </a:xfrm>
          <a:prstGeom prst="rect">
            <a:avLst/>
          </a:prstGeom>
          <a:noFill/>
          <a:ln w="19050">
            <a:solidFill>
              <a:srgbClr val="BCCAD2"/>
            </a:solidFill>
          </a:ln>
        </p:spPr>
        <p:txBody>
          <a:bodyPr wrap="none" lIns="133350" tIns="38100" rIns="152400" bIns="628650"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Response Manager</a:t>
            </a:r>
            <a:endParaRPr lang="ko-KR">
              <a:solidFill>
                <a:srgbClr val="000000"/>
              </a:solidFill>
              <a:latin typeface="Calibri"/>
              <a:ea typeface="Calibri"/>
              <a:cs typeface="Calibri"/>
            </a:endParaRPr>
          </a:p>
        </p:txBody>
      </p:sp>
      <p:sp>
        <p:nvSpPr>
          <p:cNvPr id="28" name="v2-250-Response Composer">
            <a:extLst>
              <a:ext uri="{FF2B5EF4-FFF2-40B4-BE49-F238E27FC236}">
                <ns2:creationId id="{DEA13993-EBAE-46FF-9CA4-6B3DC6A76ABE}"/>
              </a:ext>
            </a:extLst>
          </p:cNvPr>
          <p:cNvSpPr>
            <a:spLocks noGrp="1"/>
          </p:cNvSpPr>
          <p:nvPr/>
        </p:nvSpPr>
        <p:spPr>
          <a:xfrm>
            <a:off x="5295900" y="5505450"/>
            <a:ext cx="3200400" cy="428625"/>
          </a:xfrm>
          <a:prstGeom prst="rect">
            <a:avLst/>
          </a:prstGeom>
          <a:solidFill>
            <a:srgbClr val="FFFFFF"/>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Response Composer</a:t>
            </a:r>
            <a:endParaRPr lang="ko-KR">
              <a:solidFill>
                <a:srgbClr val="000000"/>
              </a:solidFill>
              <a:latin typeface="Calibri"/>
              <a:ea typeface="Calibri"/>
              <a:cs typeface="Calibri"/>
            </a:endParaRPr>
          </a:p>
        </p:txBody>
      </p:sp>
      <p:sp>
        <p:nvSpPr>
          <p:cNvPr id="30" name="v2-252-a-progress-state">
            <a:extLst>
              <a:ext uri="{FF2B5EF4-FFF2-40B4-BE49-F238E27FC236}">
                <ns2:creationId id="{75DE4B8E-E875-442A-B918-A99AE3E3AE48}"/>
              </a:ext>
            </a:extLst>
          </p:cNvPr>
          <p:cNvSpPr>
            <a:spLocks noGrp="1"/>
          </p:cNvSpPr>
          <p:nvPr/>
        </p:nvSpPr>
        <p:spPr>
          <a:xfrm>
            <a:off x="5829300" y="4114800"/>
            <a:ext cx="400050" cy="9525"/>
          </a:xfrm>
          <a:custGeom>
            <a:pathLst>
              <a:path w="400050" h="9525">
                <a:moveTo>
                  <a:pt x="0" y="0"/>
                </a:moveTo>
                <a:lnTo>
                  <a:pt x="400050" y="0"/>
                </a:lnTo>
              </a:path>
            </a:pathLst>
          </a:custGeom>
          <a:noFill/>
          <a:ln w="19050">
            <a:solidFill>
              <a:srgbClr val="576773"/>
            </a:solidFill>
            <a:prstDash val="solid"/>
          </a:ln>
        </p:spPr>
      </p:sp>
      <p:sp>
        <p:nvSpPr>
          <p:cNvPr id="31" name="v2-253-a-progress-state-head">
            <a:extLst>
              <a:ext uri="{FF2B5EF4-FFF2-40B4-BE49-F238E27FC236}">
                <ns2:creationId id="{91E10480-327E-4948-B062-C0D4189160F2}"/>
              </a:ext>
            </a:extLst>
          </p:cNvPr>
          <p:cNvSpPr>
            <a:spLocks noGrp="1"/>
          </p:cNvSpPr>
          <p:nvPr/>
        </p:nvSpPr>
        <p:spPr>
          <a:xfrm>
            <a:off x="6129042" y="4060002"/>
            <a:ext cx="100308" cy="109597"/>
          </a:xfrm>
          <a:custGeom>
            <a:pathLst>
              <a:path w="100308" h="109597">
                <a:moveTo>
                  <a:pt x="0" y="109597"/>
                </a:moveTo>
                <a:lnTo>
                  <a:pt x="100308" y="54798"/>
                </a:lnTo>
                <a:lnTo>
                  <a:pt x="0" y="0"/>
                </a:lnTo>
              </a:path>
            </a:pathLst>
          </a:custGeom>
          <a:noFill/>
          <a:ln w="19050">
            <a:solidFill>
              <a:srgbClr val="576773"/>
            </a:solidFill>
            <a:prstDash val="solid"/>
          </a:ln>
        </p:spPr>
      </p:sp>
      <p:sp>
        <p:nvSpPr>
          <p:cNvPr id="32" name="v2-254-a-input">
            <a:extLst>
              <a:ext uri="{FF2B5EF4-FFF2-40B4-BE49-F238E27FC236}">
                <ns2:creationId id="{F2DBB809-146D-42F7-8545-32C38767E080}"/>
              </a:ext>
            </a:extLst>
          </p:cNvPr>
          <p:cNvSpPr>
            <a:spLocks noGrp="1"/>
          </p:cNvSpPr>
          <p:nvPr/>
        </p:nvSpPr>
        <p:spPr>
          <a:xfrm>
            <a:off x="2543175" y="3152775"/>
            <a:ext cx="1524000" cy="676275"/>
          </a:xfrm>
          <a:custGeom>
            <a:pathLst>
              <a:path w="1524000" h="676275">
                <a:moveTo>
                  <a:pt x="0" y="0"/>
                </a:moveTo>
                <a:lnTo>
                  <a:pt x="0" y="495300"/>
                </a:lnTo>
                <a:lnTo>
                  <a:pt x="1524000" y="495300"/>
                </a:lnTo>
                <a:lnTo>
                  <a:pt x="1524000" y="676275"/>
                </a:lnTo>
              </a:path>
            </a:pathLst>
          </a:custGeom>
          <a:noFill/>
          <a:ln w="28575">
            <a:solidFill>
              <a:srgbClr val="00889A"/>
            </a:solidFill>
            <a:prstDash val="solid"/>
          </a:ln>
        </p:spPr>
      </p:sp>
      <p:sp>
        <p:nvSpPr>
          <p:cNvPr id="33" name="v2-255-a-input-head">
            <a:extLst>
              <a:ext uri="{FF2B5EF4-FFF2-40B4-BE49-F238E27FC236}">
                <ns2:creationId id="{128D5E54-A7A4-4975-921F-60990F46E123}"/>
              </a:ext>
            </a:extLst>
          </p:cNvPr>
          <p:cNvSpPr>
            <a:spLocks noGrp="1"/>
          </p:cNvSpPr>
          <p:nvPr/>
        </p:nvSpPr>
        <p:spPr>
          <a:xfrm>
            <a:off x="4012377" y="3728742"/>
            <a:ext cx="109597" cy="100308"/>
          </a:xfrm>
          <a:custGeom>
            <a:pathLst>
              <a:path w="109597" h="100308">
                <a:moveTo>
                  <a:pt x="0" y="0"/>
                </a:moveTo>
                <a:lnTo>
                  <a:pt x="54798" y="100308"/>
                </a:lnTo>
                <a:lnTo>
                  <a:pt x="109597" y="0"/>
                </a:lnTo>
              </a:path>
            </a:pathLst>
          </a:custGeom>
          <a:noFill/>
          <a:ln w="28575">
            <a:solidFill>
              <a:srgbClr val="00889A"/>
            </a:solidFill>
            <a:prstDash val="solid"/>
          </a:ln>
        </p:spPr>
      </p:sp>
      <p:sp>
        <p:nvSpPr>
          <p:cNvPr id="34" name="v2-256-a-task">
            <a:extLst>
              <a:ext uri="{FF2B5EF4-FFF2-40B4-BE49-F238E27FC236}">
                <ns2:creationId id="{F23881D9-16E9-45E4-8A6E-D69B9E73B7A7}"/>
              </a:ext>
            </a:extLst>
          </p:cNvPr>
          <p:cNvSpPr>
            <a:spLocks noGrp="1"/>
          </p:cNvSpPr>
          <p:nvPr/>
        </p:nvSpPr>
        <p:spPr>
          <a:xfrm>
            <a:off x="4067175" y="3152775"/>
            <a:ext cx="2838450" cy="495300"/>
          </a:xfrm>
          <a:custGeom>
            <a:pathLst>
              <a:path w="2838450" h="495300">
                <a:moveTo>
                  <a:pt x="2838450" y="0"/>
                </a:moveTo>
                <a:lnTo>
                  <a:pt x="2838450" y="495300"/>
                </a:lnTo>
                <a:lnTo>
                  <a:pt x="0" y="495300"/>
                </a:lnTo>
              </a:path>
            </a:pathLst>
          </a:custGeom>
          <a:noFill/>
          <a:ln w="28575">
            <a:solidFill>
              <a:srgbClr val="00889A"/>
            </a:solidFill>
            <a:prstDash val="solid"/>
          </a:ln>
        </p:spPr>
      </p:sp>
      <p:sp>
        <p:nvSpPr>
          <p:cNvPr id="35" name="v2-257-a-infer">
            <a:extLst>
              <a:ext uri="{FF2B5EF4-FFF2-40B4-BE49-F238E27FC236}">
                <ns2:creationId id="{7A3372B2-1020-4795-A27D-37D30287F342}"/>
              </a:ext>
            </a:extLst>
          </p:cNvPr>
          <p:cNvSpPr>
            <a:spLocks noGrp="1"/>
          </p:cNvSpPr>
          <p:nvPr/>
        </p:nvSpPr>
        <p:spPr>
          <a:xfrm>
            <a:off x="2428875" y="4400550"/>
            <a:ext cx="942975" cy="990600"/>
          </a:xfrm>
          <a:custGeom>
            <a:pathLst>
              <a:path w="942975" h="990600">
                <a:moveTo>
                  <a:pt x="942975" y="0"/>
                </a:moveTo>
                <a:lnTo>
                  <a:pt x="942975" y="409575"/>
                </a:lnTo>
                <a:lnTo>
                  <a:pt x="0" y="409575"/>
                </a:lnTo>
                <a:lnTo>
                  <a:pt x="0" y="990600"/>
                </a:lnTo>
              </a:path>
            </a:pathLst>
          </a:custGeom>
          <a:noFill/>
          <a:ln w="24765">
            <a:solidFill>
              <a:srgbClr val="00889A"/>
            </a:solidFill>
            <a:prstDash val="solid"/>
          </a:ln>
        </p:spPr>
      </p:sp>
      <p:sp>
        <p:nvSpPr>
          <p:cNvPr id="36" name="v2-258-a-infer-head">
            <a:extLst>
              <a:ext uri="{FF2B5EF4-FFF2-40B4-BE49-F238E27FC236}">
                <ns2:creationId id="{A46EE732-3280-433E-9E02-2E350937B860}"/>
              </a:ext>
            </a:extLst>
          </p:cNvPr>
          <p:cNvSpPr>
            <a:spLocks noGrp="1"/>
          </p:cNvSpPr>
          <p:nvPr/>
        </p:nvSpPr>
        <p:spPr>
          <a:xfrm>
            <a:off x="2374077" y="5290842"/>
            <a:ext cx="109597" cy="100308"/>
          </a:xfrm>
          <a:custGeom>
            <a:pathLst>
              <a:path w="109597" h="100308">
                <a:moveTo>
                  <a:pt x="0" y="0"/>
                </a:moveTo>
                <a:lnTo>
                  <a:pt x="54798" y="100308"/>
                </a:lnTo>
                <a:lnTo>
                  <a:pt x="109597" y="0"/>
                </a:lnTo>
              </a:path>
            </a:pathLst>
          </a:custGeom>
          <a:noFill/>
          <a:ln w="24765">
            <a:solidFill>
              <a:srgbClr val="00889A"/>
            </a:solidFill>
            <a:prstDash val="solid"/>
          </a:ln>
        </p:spPr>
      </p:sp>
      <p:sp>
        <p:nvSpPr>
          <p:cNvPr id="37" name="v2-259-note">
            <a:extLst>
              <a:ext uri="{FF2B5EF4-FFF2-40B4-BE49-F238E27FC236}">
                <ns2:creationId id="{A5FB2E84-E2DC-4E40-B46B-6B68309D8A29}"/>
              </a:ext>
            </a:extLst>
          </p:cNvPr>
          <p:cNvSpPr>
            <a:spLocks noGrp="1"/>
          </p:cNvSpPr>
          <p:nvPr/>
        </p:nvSpPr>
        <p:spPr>
          <a:xfrm>
            <a:off x="819150" y="4410075"/>
            <a:ext cx="1714500" cy="304800"/>
          </a:xfrm>
          <a:prstGeom prst="rect">
            <a:avLst/>
          </a:prstGeom>
          <a:noFill/>
          <a:ln w="0">
            <a:noFill/>
          </a:ln>
        </p:spPr>
        <p:txBody>
          <a:bodyPr wrap="none" lIns="0" tIns="0" rIns="0" bIns="0" anchor="ctr">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① 지시</a:t>
            </a:r>
            <a:endParaRPr lang="ko-KR">
              <a:solidFill>
                <a:srgbClr val="000000"/>
              </a:solidFill>
              <a:latin typeface="Calibri"/>
              <a:ea typeface="Calibri"/>
              <a:cs typeface="Calibri"/>
            </a:endParaRPr>
          </a:p>
        </p:txBody>
      </p:sp>
      <p:sp>
        <p:nvSpPr>
          <p:cNvPr id="38" name="v2-260-a-infer-return">
            <a:extLst>
              <a:ext uri="{FF2B5EF4-FFF2-40B4-BE49-F238E27FC236}">
                <ns2:creationId id="{B79F5ADE-7773-44C6-822C-1B87009CBC02}"/>
              </a:ext>
            </a:extLst>
          </p:cNvPr>
          <p:cNvSpPr>
            <a:spLocks noGrp="1"/>
          </p:cNvSpPr>
          <p:nvPr/>
        </p:nvSpPr>
        <p:spPr>
          <a:xfrm>
            <a:off x="4048125" y="4400550"/>
            <a:ext cx="466725" cy="1219200"/>
          </a:xfrm>
          <a:custGeom>
            <a:pathLst>
              <a:path w="466725" h="1219200">
                <a:moveTo>
                  <a:pt x="0" y="1219200"/>
                </a:moveTo>
                <a:lnTo>
                  <a:pt x="466725" y="1219200"/>
                </a:lnTo>
                <a:lnTo>
                  <a:pt x="466725" y="0"/>
                </a:lnTo>
              </a:path>
            </a:pathLst>
          </a:custGeom>
          <a:noFill/>
          <a:ln w="24765">
            <a:solidFill>
              <a:srgbClr val="576773"/>
            </a:solidFill>
            <a:prstDash val="solid"/>
          </a:ln>
        </p:spPr>
      </p:sp>
      <p:sp>
        <p:nvSpPr>
          <p:cNvPr id="39" name="v2-261-a-infer-return-head">
            <a:extLst>
              <a:ext uri="{FF2B5EF4-FFF2-40B4-BE49-F238E27FC236}">
                <ns2:creationId id="{3BDA8E63-1A25-4814-933A-AC67476D6684}"/>
              </a:ext>
            </a:extLst>
          </p:cNvPr>
          <p:cNvSpPr>
            <a:spLocks noGrp="1"/>
          </p:cNvSpPr>
          <p:nvPr/>
        </p:nvSpPr>
        <p:spPr>
          <a:xfrm>
            <a:off x="4460052" y="4400550"/>
            <a:ext cx="109597" cy="100308"/>
          </a:xfrm>
          <a:custGeom>
            <a:pathLst>
              <a:path w="109597" h="100308">
                <a:moveTo>
                  <a:pt x="109597" y="100308"/>
                </a:moveTo>
                <a:lnTo>
                  <a:pt x="54798" y="0"/>
                </a:lnTo>
                <a:lnTo>
                  <a:pt x="0" y="100308"/>
                </a:lnTo>
              </a:path>
            </a:pathLst>
          </a:custGeom>
          <a:noFill/>
          <a:ln w="24765">
            <a:solidFill>
              <a:srgbClr val="576773"/>
            </a:solidFill>
            <a:prstDash val="solid"/>
          </a:ln>
        </p:spPr>
      </p:sp>
      <p:sp>
        <p:nvSpPr>
          <p:cNvPr id="40" name="v2-262-note">
            <a:extLst>
              <a:ext uri="{FF2B5EF4-FFF2-40B4-BE49-F238E27FC236}">
                <ns2:creationId id="{90254A0B-BD9B-42F5-A9E4-D002865D89CA}"/>
              </a:ext>
            </a:extLst>
          </p:cNvPr>
          <p:cNvSpPr>
            <a:spLocks noGrp="1"/>
          </p:cNvSpPr>
          <p:nvPr/>
        </p:nvSpPr>
        <p:spPr>
          <a:xfrm>
            <a:off x="3314700" y="4857750"/>
            <a:ext cx="2105025" cy="304800"/>
          </a:xfrm>
          <a:prstGeom prst="rect">
            <a:avLst/>
          </a:prstGeom>
          <a:noFill/>
          <a:ln w="0">
            <a:noFill/>
          </a:ln>
        </p:spPr>
        <p:txBody>
          <a:bodyPr wrap="none" lIns="0" tIns="0" rIns="0" bIns="0" anchor="ctr">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② 완료 회수</a:t>
            </a:r>
            <a:endParaRPr lang="ko-KR">
              <a:solidFill>
                <a:srgbClr val="000000"/>
              </a:solidFill>
              <a:latin typeface="Calibri"/>
              <a:ea typeface="Calibri"/>
              <a:cs typeface="Calibri"/>
            </a:endParaRPr>
          </a:p>
        </p:txBody>
      </p:sp>
      <p:sp>
        <p:nvSpPr>
          <p:cNvPr id="41" name="v2-263-a-compose">
            <a:extLst>
              <a:ext uri="{FF2B5EF4-FFF2-40B4-BE49-F238E27FC236}">
                <ns2:creationId id="{B66C43C1-4B45-420D-92A8-531E2611D112}"/>
              </a:ext>
            </a:extLst>
          </p:cNvPr>
          <p:cNvSpPr>
            <a:spLocks noGrp="1"/>
          </p:cNvSpPr>
          <p:nvPr/>
        </p:nvSpPr>
        <p:spPr>
          <a:xfrm>
            <a:off x="5076825" y="4400550"/>
            <a:ext cx="1819275" cy="1104900"/>
          </a:xfrm>
          <a:custGeom>
            <a:pathLst>
              <a:path w="1819275" h="1104900">
                <a:moveTo>
                  <a:pt x="0" y="0"/>
                </a:moveTo>
                <a:lnTo>
                  <a:pt x="0" y="371475"/>
                </a:lnTo>
                <a:lnTo>
                  <a:pt x="1819275" y="371475"/>
                </a:lnTo>
                <a:lnTo>
                  <a:pt x="1819275" y="1104900"/>
                </a:lnTo>
              </a:path>
            </a:pathLst>
          </a:custGeom>
          <a:noFill/>
          <a:ln w="24765">
            <a:solidFill>
              <a:srgbClr val="00889A"/>
            </a:solidFill>
            <a:prstDash val="solid"/>
          </a:ln>
        </p:spPr>
      </p:sp>
      <p:sp>
        <p:nvSpPr>
          <p:cNvPr id="42" name="v2-264-a-compose-head">
            <a:extLst>
              <a:ext uri="{FF2B5EF4-FFF2-40B4-BE49-F238E27FC236}">
                <ns2:creationId id="{BB79F469-C51D-4622-9CB4-657DF2206553}"/>
              </a:ext>
            </a:extLst>
          </p:cNvPr>
          <p:cNvSpPr>
            <a:spLocks noGrp="1"/>
          </p:cNvSpPr>
          <p:nvPr/>
        </p:nvSpPr>
        <p:spPr>
          <a:xfrm>
            <a:off x="6841302" y="5405142"/>
            <a:ext cx="109597" cy="100308"/>
          </a:xfrm>
          <a:custGeom>
            <a:pathLst>
              <a:path w="109597" h="100308">
                <a:moveTo>
                  <a:pt x="0" y="0"/>
                </a:moveTo>
                <a:lnTo>
                  <a:pt x="54798" y="100308"/>
                </a:lnTo>
                <a:lnTo>
                  <a:pt x="109597" y="0"/>
                </a:lnTo>
              </a:path>
            </a:pathLst>
          </a:custGeom>
          <a:noFill/>
          <a:ln w="24765">
            <a:solidFill>
              <a:srgbClr val="00889A"/>
            </a:solidFill>
            <a:prstDash val="solid"/>
          </a:ln>
        </p:spPr>
      </p:sp>
      <p:sp>
        <p:nvSpPr>
          <p:cNvPr id="43" name="v2-265-note">
            <a:extLst>
              <a:ext uri="{FF2B5EF4-FFF2-40B4-BE49-F238E27FC236}">
                <ns2:creationId id="{FA75560D-11D4-42D2-B84F-6F525F4DD23F}"/>
              </a:ext>
            </a:extLst>
          </p:cNvPr>
          <p:cNvSpPr>
            <a:spLocks noGrp="1"/>
          </p:cNvSpPr>
          <p:nvPr/>
        </p:nvSpPr>
        <p:spPr>
          <a:xfrm>
            <a:off x="6334125" y="4438650"/>
            <a:ext cx="2047875" cy="304800"/>
          </a:xfrm>
          <a:prstGeom prst="rect">
            <a:avLst/>
          </a:prstGeom>
          <a:noFill/>
          <a:ln w="0">
            <a:noFill/>
          </a:ln>
        </p:spPr>
        <p:txBody>
          <a:bodyPr wrap="none" lIns="0" tIns="0" rIns="0" bIns="0" anchor="ctr">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③ 준비 지시</a:t>
            </a:r>
            <a:endParaRPr lang="ko-KR">
              <a:solidFill>
                <a:srgbClr val="000000"/>
              </a:solidFill>
              <a:latin typeface="Calibri"/>
              <a:ea typeface="Calibri"/>
              <a:cs typeface="Calibri"/>
            </a:endParaRPr>
          </a:p>
        </p:txBody>
      </p:sp>
      <p:sp>
        <p:nvSpPr>
          <p:cNvPr id="44" name="v2-266-a-comp-return">
            <a:extLst>
              <a:ext uri="{FF2B5EF4-FFF2-40B4-BE49-F238E27FC236}">
                <ns2:creationId id="{32E03223-F0F8-4936-9326-42CE56686BA1}"/>
              </a:ext>
            </a:extLst>
          </p:cNvPr>
          <p:cNvSpPr>
            <a:spLocks noGrp="1"/>
          </p:cNvSpPr>
          <p:nvPr/>
        </p:nvSpPr>
        <p:spPr>
          <a:xfrm>
            <a:off x="4724400" y="4400550"/>
            <a:ext cx="571500" cy="1323975"/>
          </a:xfrm>
          <a:custGeom>
            <a:pathLst>
              <a:path w="571500" h="1323975">
                <a:moveTo>
                  <a:pt x="571500" y="1323975"/>
                </a:moveTo>
                <a:lnTo>
                  <a:pt x="0" y="1323975"/>
                </a:lnTo>
                <a:lnTo>
                  <a:pt x="0" y="0"/>
                </a:lnTo>
              </a:path>
            </a:pathLst>
          </a:custGeom>
          <a:noFill/>
          <a:ln w="24765">
            <a:solidFill>
              <a:srgbClr val="576773"/>
            </a:solidFill>
            <a:prstDash val="solid"/>
          </a:ln>
        </p:spPr>
      </p:sp>
      <p:sp>
        <p:nvSpPr>
          <p:cNvPr id="45" name="v2-267-a-comp-return-head">
            <a:extLst>
              <a:ext uri="{FF2B5EF4-FFF2-40B4-BE49-F238E27FC236}">
                <ns2:creationId id="{D5A3F212-A008-430F-85DD-B1E63907A13E}"/>
              </a:ext>
            </a:extLst>
          </p:cNvPr>
          <p:cNvSpPr>
            <a:spLocks noGrp="1"/>
          </p:cNvSpPr>
          <p:nvPr/>
        </p:nvSpPr>
        <p:spPr>
          <a:xfrm>
            <a:off x="4669602" y="4400550"/>
            <a:ext cx="109597" cy="100308"/>
          </a:xfrm>
          <a:custGeom>
            <a:pathLst>
              <a:path w="109597" h="100308">
                <a:moveTo>
                  <a:pt x="109597" y="100308"/>
                </a:moveTo>
                <a:lnTo>
                  <a:pt x="54798" y="0"/>
                </a:lnTo>
                <a:lnTo>
                  <a:pt x="0" y="100308"/>
                </a:lnTo>
              </a:path>
            </a:pathLst>
          </a:custGeom>
          <a:noFill/>
          <a:ln w="24765">
            <a:solidFill>
              <a:srgbClr val="576773"/>
            </a:solidFill>
            <a:prstDash val="solid"/>
          </a:ln>
        </p:spPr>
      </p:sp>
      <p:sp>
        <p:nvSpPr>
          <p:cNvPr id="46" name="v2-268-Request Controller">
            <a:extLst>
              <a:ext uri="{FF2B5EF4-FFF2-40B4-BE49-F238E27FC236}">
                <ns2:creationId id="{AA4ACB19-B03A-4D44-A5D6-77D887B38511}"/>
              </a:ext>
            </a:extLst>
          </p:cNvPr>
          <p:cNvSpPr>
            <a:spLocks noGrp="1"/>
          </p:cNvSpPr>
          <p:nvPr/>
        </p:nvSpPr>
        <p:spPr>
          <a:xfrm>
            <a:off x="9334500" y="3371850"/>
            <a:ext cx="8372475" cy="1552575"/>
          </a:xfrm>
          <a:prstGeom prst="rect">
            <a:avLst/>
          </a:prstGeom>
          <a:noFill/>
          <a:ln w="19050">
            <a:solidFill>
              <a:srgbClr val="BCCAD2"/>
            </a:solidFill>
          </a:ln>
        </p:spPr>
        <p:txBody>
          <a:bodyPr wrap="none" lIns="133350" tIns="38100" rIns="5095875" bIns="1152525"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48" name="v2-270-Input Resolution Stage">
            <a:extLst>
              <a:ext uri="{FF2B5EF4-FFF2-40B4-BE49-F238E27FC236}">
                <ns2:creationId id="{5C643E7F-22F3-44F1-9C86-F355B4BF8A2B}"/>
              </a:ext>
            </a:extLst>
          </p:cNvPr>
          <p:cNvSpPr>
            <a:spLocks noGrp="1"/>
          </p:cNvSpPr>
          <p:nvPr/>
        </p:nvSpPr>
        <p:spPr>
          <a:xfrm>
            <a:off x="9448800" y="3800475"/>
            <a:ext cx="3857625" cy="485775"/>
          </a:xfrm>
          <a:prstGeom prst="rect">
            <a:avLst/>
          </a:prstGeom>
          <a:solidFill>
            <a:srgbClr val="FFF6DE"/>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Input Resolution Stage</a:t>
            </a:r>
            <a:endParaRPr lang="ko-KR">
              <a:solidFill>
                <a:srgbClr val="000000"/>
              </a:solidFill>
              <a:latin typeface="Calibri"/>
              <a:ea typeface="Calibri"/>
              <a:cs typeface="Calibri"/>
            </a:endParaRPr>
          </a:p>
        </p:txBody>
      </p:sp>
      <p:sp>
        <p:nvSpPr>
          <p:cNvPr id="50" name="v2-272-Task Notice Stage">
            <a:extLst>
              <a:ext uri="{FF2B5EF4-FFF2-40B4-BE49-F238E27FC236}">
                <ns2:creationId id="{BA862099-4D56-4EB4-AAC8-0BB6CA9AF7E8}"/>
              </a:ext>
            </a:extLst>
          </p:cNvPr>
          <p:cNvSpPr>
            <a:spLocks noGrp="1"/>
          </p:cNvSpPr>
          <p:nvPr/>
        </p:nvSpPr>
        <p:spPr>
          <a:xfrm>
            <a:off x="14011275" y="3800475"/>
            <a:ext cx="3524250" cy="485775"/>
          </a:xfrm>
          <a:prstGeom prst="rect">
            <a:avLst/>
          </a:prstGeom>
          <a:solidFill>
            <a:srgbClr val="FFF6DE"/>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Task Notice Stage</a:t>
            </a:r>
            <a:endParaRPr lang="ko-KR">
              <a:solidFill>
                <a:srgbClr val="000000"/>
              </a:solidFill>
              <a:latin typeface="Calibri"/>
              <a:ea typeface="Calibri"/>
              <a:cs typeface="Calibri"/>
            </a:endParaRPr>
          </a:p>
        </p:txBody>
      </p:sp>
      <p:sp>
        <p:nvSpPr>
          <p:cNvPr id="52" name="v2-274-Input Window">
            <a:extLst>
              <a:ext uri="{FF2B5EF4-FFF2-40B4-BE49-F238E27FC236}">
                <ns2:creationId id="{C8BA59D1-1B33-4D24-80B6-7B525134C4B8}"/>
              </a:ext>
            </a:extLst>
          </p:cNvPr>
          <p:cNvSpPr>
            <a:spLocks noGrp="1"/>
          </p:cNvSpPr>
          <p:nvPr/>
        </p:nvSpPr>
        <p:spPr>
          <a:xfrm>
            <a:off x="9448800" y="4438650"/>
            <a:ext cx="2190750" cy="428625"/>
          </a:xfrm>
          <a:prstGeom prst="can">
            <a:avLst/>
          </a:prstGeom>
          <a:solidFill>
            <a:srgbClr val="FFFFFF"/>
          </a:solidFill>
          <a:ln w="19050">
            <a:solidFill>
              <a:srgbClr val="576773"/>
            </a:solidFill>
          </a:ln>
        </p:spPr>
        <p:txBody>
          <a:bodyPr wrap="none" lIns="76200" tIns="0" rIns="76200" bIns="0"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Input Window</a:t>
            </a:r>
            <a:endParaRPr lang="ko-KR">
              <a:solidFill>
                <a:srgbClr val="000000"/>
              </a:solidFill>
              <a:latin typeface="Calibri"/>
              <a:ea typeface="Calibri"/>
              <a:cs typeface="Calibri"/>
            </a:endParaRPr>
          </a:p>
        </p:txBody>
      </p:sp>
      <p:sp>
        <p:nvSpPr>
          <p:cNvPr id="54" name="v2-276-Notice Window">
            <a:extLst>
              <a:ext uri="{FF2B5EF4-FFF2-40B4-BE49-F238E27FC236}">
                <ns2:creationId id="{90A77247-D0D0-4278-948B-1A0E84688BC3}"/>
              </a:ext>
            </a:extLst>
          </p:cNvPr>
          <p:cNvSpPr>
            <a:spLocks noGrp="1"/>
          </p:cNvSpPr>
          <p:nvPr/>
        </p:nvSpPr>
        <p:spPr>
          <a:xfrm>
            <a:off x="15344775" y="4438650"/>
            <a:ext cx="2190750" cy="428625"/>
          </a:xfrm>
          <a:prstGeom prst="can">
            <a:avLst/>
          </a:prstGeom>
          <a:solidFill>
            <a:srgbClr val="FFFFFF"/>
          </a:solidFill>
          <a:ln w="19050">
            <a:solidFill>
              <a:srgbClr val="576773"/>
            </a:solidFill>
          </a:ln>
        </p:spPr>
        <p:txBody>
          <a:bodyPr wrap="none" lIns="76200" tIns="0" rIns="76200" bIns="0"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Notice Window</a:t>
            </a:r>
            <a:endParaRPr lang="ko-KR">
              <a:solidFill>
                <a:srgbClr val="000000"/>
              </a:solidFill>
              <a:latin typeface="Calibri"/>
              <a:ea typeface="Calibri"/>
              <a:cs typeface="Calibri"/>
            </a:endParaRPr>
          </a:p>
        </p:txBody>
      </p:sp>
      <p:sp>
        <p:nvSpPr>
          <p:cNvPr id="56" name="v2-278-b-input">
            <a:extLst>
              <a:ext uri="{FF2B5EF4-FFF2-40B4-BE49-F238E27FC236}">
                <ns2:creationId id="{3E9CB588-B3BF-4ADE-8E2E-2F2C5E54CB70}"/>
              </a:ext>
            </a:extLst>
          </p:cNvPr>
          <p:cNvSpPr>
            <a:spLocks noGrp="1"/>
          </p:cNvSpPr>
          <p:nvPr/>
        </p:nvSpPr>
        <p:spPr>
          <a:xfrm>
            <a:off x="11277600" y="3152775"/>
            <a:ext cx="9525" cy="647700"/>
          </a:xfrm>
          <a:custGeom>
            <a:pathLst>
              <a:path w="9525" h="647700">
                <a:moveTo>
                  <a:pt x="0" y="0"/>
                </a:moveTo>
                <a:lnTo>
                  <a:pt x="0" y="647700"/>
                </a:lnTo>
              </a:path>
            </a:pathLst>
          </a:custGeom>
          <a:noFill/>
          <a:ln w="28575">
            <a:solidFill>
              <a:srgbClr val="00889A"/>
            </a:solidFill>
            <a:prstDash val="solid"/>
          </a:ln>
        </p:spPr>
      </p:sp>
      <p:sp>
        <p:nvSpPr>
          <p:cNvPr id="57" name="v2-279-b-input-head">
            <a:extLst>
              <a:ext uri="{FF2B5EF4-FFF2-40B4-BE49-F238E27FC236}">
                <ns2:creationId id="{3721A980-E25B-47FE-8753-28D745AF9D61}"/>
              </a:ext>
            </a:extLst>
          </p:cNvPr>
          <p:cNvSpPr>
            <a:spLocks noGrp="1"/>
          </p:cNvSpPr>
          <p:nvPr/>
        </p:nvSpPr>
        <p:spPr>
          <a:xfrm>
            <a:off x="11222802" y="3700167"/>
            <a:ext cx="109597" cy="100308"/>
          </a:xfrm>
          <a:custGeom>
            <a:pathLst>
              <a:path w="109597" h="100308">
                <a:moveTo>
                  <a:pt x="0" y="0"/>
                </a:moveTo>
                <a:lnTo>
                  <a:pt x="54798" y="100308"/>
                </a:lnTo>
                <a:lnTo>
                  <a:pt x="109597" y="0"/>
                </a:lnTo>
              </a:path>
            </a:pathLst>
          </a:custGeom>
          <a:noFill/>
          <a:ln w="28575">
            <a:solidFill>
              <a:srgbClr val="00889A"/>
            </a:solidFill>
            <a:prstDash val="solid"/>
          </a:ln>
        </p:spPr>
      </p:sp>
      <p:sp>
        <p:nvSpPr>
          <p:cNvPr id="58" name="v2-280-b-task">
            <a:extLst>
              <a:ext uri="{FF2B5EF4-FFF2-40B4-BE49-F238E27FC236}">
                <ns2:creationId id="{93FCC4A5-EDCD-4929-9428-0579DF94C9AC}"/>
              </a:ext>
            </a:extLst>
          </p:cNvPr>
          <p:cNvSpPr>
            <a:spLocks noGrp="1"/>
          </p:cNvSpPr>
          <p:nvPr/>
        </p:nvSpPr>
        <p:spPr>
          <a:xfrm>
            <a:off x="15792450" y="3152775"/>
            <a:ext cx="9525" cy="647700"/>
          </a:xfrm>
          <a:custGeom>
            <a:pathLst>
              <a:path w="9525" h="647700">
                <a:moveTo>
                  <a:pt x="0" y="0"/>
                </a:moveTo>
                <a:lnTo>
                  <a:pt x="0" y="647700"/>
                </a:lnTo>
              </a:path>
            </a:pathLst>
          </a:custGeom>
          <a:noFill/>
          <a:ln w="28575">
            <a:solidFill>
              <a:srgbClr val="00889A"/>
            </a:solidFill>
            <a:prstDash val="solid"/>
          </a:ln>
        </p:spPr>
      </p:sp>
      <p:sp>
        <p:nvSpPr>
          <p:cNvPr id="59" name="v2-281-b-task-head">
            <a:extLst>
              <a:ext uri="{FF2B5EF4-FFF2-40B4-BE49-F238E27FC236}">
                <ns2:creationId id="{59D1A660-5CF6-47AD-99D0-209C083EEA57}"/>
              </a:ext>
            </a:extLst>
          </p:cNvPr>
          <p:cNvSpPr>
            <a:spLocks noGrp="1"/>
          </p:cNvSpPr>
          <p:nvPr/>
        </p:nvSpPr>
        <p:spPr>
          <a:xfrm>
            <a:off x="15737652" y="3700167"/>
            <a:ext cx="109597" cy="100308"/>
          </a:xfrm>
          <a:custGeom>
            <a:pathLst>
              <a:path w="109597" h="100308">
                <a:moveTo>
                  <a:pt x="0" y="0"/>
                </a:moveTo>
                <a:lnTo>
                  <a:pt x="54798" y="100308"/>
                </a:lnTo>
                <a:lnTo>
                  <a:pt x="109597" y="0"/>
                </a:lnTo>
              </a:path>
            </a:pathLst>
          </a:custGeom>
          <a:noFill/>
          <a:ln w="28575">
            <a:solidFill>
              <a:srgbClr val="00889A"/>
            </a:solidFill>
            <a:prstDash val="solid"/>
          </a:ln>
        </p:spPr>
      </p:sp>
      <p:sp>
        <p:nvSpPr>
          <p:cNvPr id="60" name="v2-282-b-input-state">
            <a:extLst>
              <a:ext uri="{FF2B5EF4-FFF2-40B4-BE49-F238E27FC236}">
                <ns2:creationId id="{23CF3CF7-6445-4FC2-92FF-9D2B96A0E884}"/>
              </a:ext>
            </a:extLst>
          </p:cNvPr>
          <p:cNvSpPr>
            <a:spLocks noGrp="1"/>
          </p:cNvSpPr>
          <p:nvPr/>
        </p:nvSpPr>
        <p:spPr>
          <a:xfrm>
            <a:off x="10544175" y="4286250"/>
            <a:ext cx="9525" cy="152400"/>
          </a:xfrm>
          <a:custGeom>
            <a:pathLst>
              <a:path w="9525" h="152400">
                <a:moveTo>
                  <a:pt x="0" y="0"/>
                </a:moveTo>
                <a:lnTo>
                  <a:pt x="0" y="152400"/>
                </a:lnTo>
              </a:path>
            </a:pathLst>
          </a:custGeom>
          <a:noFill/>
          <a:ln w="19050">
            <a:solidFill>
              <a:srgbClr val="576773"/>
            </a:solidFill>
            <a:prstDash val="solid"/>
          </a:ln>
        </p:spPr>
      </p:sp>
      <p:sp>
        <p:nvSpPr>
          <p:cNvPr id="61" name="v2-283-b-input-state-head">
            <a:extLst>
              <a:ext uri="{FF2B5EF4-FFF2-40B4-BE49-F238E27FC236}">
                <ns2:creationId id="{23273D72-5773-48EE-9397-A43B0F31756A}"/>
              </a:ext>
            </a:extLst>
          </p:cNvPr>
          <p:cNvSpPr>
            <a:spLocks noGrp="1"/>
          </p:cNvSpPr>
          <p:nvPr/>
        </p:nvSpPr>
        <p:spPr>
          <a:xfrm>
            <a:off x="10489377" y="4338342"/>
            <a:ext cx="109597" cy="100308"/>
          </a:xfrm>
          <a:custGeom>
            <a:pathLst>
              <a:path w="109597" h="100308">
                <a:moveTo>
                  <a:pt x="0" y="0"/>
                </a:moveTo>
                <a:lnTo>
                  <a:pt x="54798" y="100308"/>
                </a:lnTo>
                <a:lnTo>
                  <a:pt x="109597" y="0"/>
                </a:lnTo>
              </a:path>
            </a:pathLst>
          </a:custGeom>
          <a:noFill/>
          <a:ln w="19050">
            <a:solidFill>
              <a:srgbClr val="576773"/>
            </a:solidFill>
            <a:prstDash val="solid"/>
          </a:ln>
        </p:spPr>
      </p:sp>
      <p:sp>
        <p:nvSpPr>
          <p:cNvPr id="62" name="v2-284-b-notice-state">
            <a:extLst>
              <a:ext uri="{FF2B5EF4-FFF2-40B4-BE49-F238E27FC236}">
                <ns2:creationId id="{888F5816-5AD2-41AC-A875-D707AEA4CA17}"/>
              </a:ext>
            </a:extLst>
          </p:cNvPr>
          <p:cNvSpPr>
            <a:spLocks noGrp="1"/>
          </p:cNvSpPr>
          <p:nvPr/>
        </p:nvSpPr>
        <p:spPr>
          <a:xfrm>
            <a:off x="16440150" y="4286250"/>
            <a:ext cx="9525" cy="152400"/>
          </a:xfrm>
          <a:custGeom>
            <a:pathLst>
              <a:path w="9525" h="152400">
                <a:moveTo>
                  <a:pt x="0" y="0"/>
                </a:moveTo>
                <a:lnTo>
                  <a:pt x="0" y="152400"/>
                </a:lnTo>
              </a:path>
            </a:pathLst>
          </a:custGeom>
          <a:noFill/>
          <a:ln w="19050">
            <a:solidFill>
              <a:srgbClr val="576773"/>
            </a:solidFill>
            <a:prstDash val="solid"/>
          </a:ln>
        </p:spPr>
      </p:sp>
      <p:sp>
        <p:nvSpPr>
          <p:cNvPr id="63" name="v2-285-b-notice-state-head">
            <a:extLst>
              <a:ext uri="{FF2B5EF4-FFF2-40B4-BE49-F238E27FC236}">
                <ns2:creationId id="{2466763E-E991-4D62-B10C-E537C805ABAD}"/>
              </a:ext>
            </a:extLst>
          </p:cNvPr>
          <p:cNvSpPr>
            <a:spLocks noGrp="1"/>
          </p:cNvSpPr>
          <p:nvPr/>
        </p:nvSpPr>
        <p:spPr>
          <a:xfrm>
            <a:off x="16385352" y="4338342"/>
            <a:ext cx="109597" cy="100308"/>
          </a:xfrm>
          <a:custGeom>
            <a:pathLst>
              <a:path w="109597" h="100308">
                <a:moveTo>
                  <a:pt x="0" y="0"/>
                </a:moveTo>
                <a:lnTo>
                  <a:pt x="54798" y="100308"/>
                </a:lnTo>
                <a:lnTo>
                  <a:pt x="109597" y="0"/>
                </a:lnTo>
              </a:path>
            </a:pathLst>
          </a:custGeom>
          <a:noFill/>
          <a:ln w="19050">
            <a:solidFill>
              <a:srgbClr val="576773"/>
            </a:solidFill>
            <a:prstDash val="solid"/>
          </a:ln>
        </p:spPr>
      </p:sp>
      <p:sp>
        <p:nvSpPr>
          <p:cNvPr id="64" name="v2-286-Request Interpreter">
            <a:extLst>
              <a:ext uri="{FF2B5EF4-FFF2-40B4-BE49-F238E27FC236}">
                <ns2:creationId id="{4B7B331B-356C-43EE-BF6E-12DE7A6DCB8A}"/>
              </a:ext>
            </a:extLst>
          </p:cNvPr>
          <p:cNvSpPr>
            <a:spLocks noGrp="1"/>
          </p:cNvSpPr>
          <p:nvPr/>
        </p:nvSpPr>
        <p:spPr>
          <a:xfrm>
            <a:off x="9477375" y="5314950"/>
            <a:ext cx="3857625" cy="428625"/>
          </a:xfrm>
          <a:prstGeom prst="rect">
            <a:avLst/>
          </a:prstGeom>
          <a:solidFill>
            <a:srgbClr val="FFFFFF"/>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66" name="v2-288-Response Manager">
            <a:extLst>
              <a:ext uri="{FF2B5EF4-FFF2-40B4-BE49-F238E27FC236}">
                <ns2:creationId id="{B768E91E-6077-47EE-B5F9-76E90E1FA16B}"/>
              </a:ext>
            </a:extLst>
          </p:cNvPr>
          <p:cNvSpPr>
            <a:spLocks noGrp="1"/>
          </p:cNvSpPr>
          <p:nvPr/>
        </p:nvSpPr>
        <p:spPr>
          <a:xfrm>
            <a:off x="13839825" y="5010150"/>
            <a:ext cx="3886200" cy="1114425"/>
          </a:xfrm>
          <a:prstGeom prst="rect">
            <a:avLst/>
          </a:prstGeom>
          <a:noFill/>
          <a:ln w="19050">
            <a:solidFill>
              <a:srgbClr val="BCCAD2"/>
            </a:solidFill>
          </a:ln>
        </p:spPr>
        <p:txBody>
          <a:bodyPr wrap="none" lIns="133350" tIns="38100" rIns="609600" bIns="714375"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Response Manager</a:t>
            </a:r>
            <a:endParaRPr lang="ko-KR">
              <a:solidFill>
                <a:srgbClr val="000000"/>
              </a:solidFill>
              <a:latin typeface="Calibri"/>
              <a:ea typeface="Calibri"/>
              <a:cs typeface="Calibri"/>
            </a:endParaRPr>
          </a:p>
        </p:txBody>
      </p:sp>
      <p:sp>
        <p:nvSpPr>
          <p:cNvPr id="68" name="v2-290-Response Composer">
            <a:extLst>
              <a:ext uri="{FF2B5EF4-FFF2-40B4-BE49-F238E27FC236}">
                <ns2:creationId id="{8E7B5E4B-9B13-40D0-8F2A-F6B6C2DAE3BE}"/>
              </a:ext>
            </a:extLst>
          </p:cNvPr>
          <p:cNvSpPr>
            <a:spLocks noGrp="1"/>
          </p:cNvSpPr>
          <p:nvPr/>
        </p:nvSpPr>
        <p:spPr>
          <a:xfrm>
            <a:off x="14001750" y="5391150"/>
            <a:ext cx="3552825" cy="304800"/>
          </a:xfrm>
          <a:prstGeom prst="rect">
            <a:avLst/>
          </a:prstGeom>
          <a:solidFill>
            <a:srgbClr val="FFFFFF"/>
          </a:solidFill>
          <a:ln w="19050">
            <a:solidFill>
              <a:srgbClr val="576773"/>
            </a:solidFill>
          </a:ln>
        </p:spPr>
        <p:txBody>
          <a:bodyPr wrap="none" lIns="76200" tIns="0" rIns="76200" bIns="0"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Response Composer</a:t>
            </a:r>
            <a:endParaRPr lang="ko-KR">
              <a:solidFill>
                <a:srgbClr val="000000"/>
              </a:solidFill>
              <a:latin typeface="Calibri"/>
              <a:ea typeface="Calibri"/>
              <a:cs typeface="Calibri"/>
            </a:endParaRPr>
          </a:p>
        </p:txBody>
      </p:sp>
      <p:sp>
        <p:nvSpPr>
          <p:cNvPr id="70" name="v2-292-Publication Join">
            <a:extLst>
              <a:ext uri="{FF2B5EF4-FFF2-40B4-BE49-F238E27FC236}">
                <ns2:creationId id="{460C16DC-E3B8-481D-992A-61E1601A23A1}"/>
              </a:ext>
            </a:extLst>
          </p:cNvPr>
          <p:cNvSpPr>
            <a:spLocks noGrp="1"/>
          </p:cNvSpPr>
          <p:nvPr/>
        </p:nvSpPr>
        <p:spPr>
          <a:xfrm>
            <a:off x="14001750" y="5772150"/>
            <a:ext cx="3552825" cy="304800"/>
          </a:xfrm>
          <a:prstGeom prst="rect">
            <a:avLst/>
          </a:prstGeom>
          <a:solidFill>
            <a:srgbClr val="FFF6DE"/>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Publication Join</a:t>
            </a:r>
            <a:endParaRPr lang="ko-KR">
              <a:solidFill>
                <a:srgbClr val="000000"/>
              </a:solidFill>
              <a:latin typeface="Calibri"/>
              <a:ea typeface="Calibri"/>
              <a:cs typeface="Calibri"/>
            </a:endParaRPr>
          </a:p>
        </p:txBody>
      </p:sp>
      <p:sp>
        <p:nvSpPr>
          <p:cNvPr id="72" name="v2-294-b-meaning">
            <a:extLst>
              <a:ext uri="{FF2B5EF4-FFF2-40B4-BE49-F238E27FC236}">
                <ns2:creationId id="{35F51184-54C3-4A97-89B5-6C9523D64795}"/>
              </a:ext>
            </a:extLst>
          </p:cNvPr>
          <p:cNvSpPr>
            <a:spLocks noGrp="1"/>
          </p:cNvSpPr>
          <p:nvPr/>
        </p:nvSpPr>
        <p:spPr>
          <a:xfrm>
            <a:off x="11401425" y="4048125"/>
            <a:ext cx="2162175" cy="1266825"/>
          </a:xfrm>
          <a:custGeom>
            <a:pathLst>
              <a:path w="2162175" h="1266825">
                <a:moveTo>
                  <a:pt x="1905000" y="0"/>
                </a:moveTo>
                <a:lnTo>
                  <a:pt x="2162175" y="0"/>
                </a:lnTo>
                <a:lnTo>
                  <a:pt x="2162175" y="1104900"/>
                </a:lnTo>
                <a:lnTo>
                  <a:pt x="0" y="1104900"/>
                </a:lnTo>
                <a:lnTo>
                  <a:pt x="0" y="1266825"/>
                </a:lnTo>
              </a:path>
            </a:pathLst>
          </a:custGeom>
          <a:noFill/>
          <a:ln w="23813">
            <a:solidFill>
              <a:srgbClr val="00889A"/>
            </a:solidFill>
            <a:prstDash val="solid"/>
          </a:ln>
        </p:spPr>
      </p:sp>
      <p:sp>
        <p:nvSpPr>
          <p:cNvPr id="73" name="v2-295-b-meaning-head">
            <a:extLst>
              <a:ext uri="{FF2B5EF4-FFF2-40B4-BE49-F238E27FC236}">
                <ns2:creationId id="{A24B0CDA-B05B-4A86-877A-A8078C0E6A00}"/>
              </a:ext>
            </a:extLst>
          </p:cNvPr>
          <p:cNvSpPr>
            <a:spLocks noGrp="1"/>
          </p:cNvSpPr>
          <p:nvPr/>
        </p:nvSpPr>
        <p:spPr>
          <a:xfrm>
            <a:off x="11346627" y="5214642"/>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74" name="v2-296-b-proposal-return">
            <a:extLst>
              <a:ext uri="{FF2B5EF4-FFF2-40B4-BE49-F238E27FC236}">
                <ns2:creationId id="{9D1B66C4-45F0-4EC7-B37A-D1EE02713380}"/>
              </a:ext>
            </a:extLst>
          </p:cNvPr>
          <p:cNvSpPr>
            <a:spLocks noGrp="1"/>
          </p:cNvSpPr>
          <p:nvPr/>
        </p:nvSpPr>
        <p:spPr>
          <a:xfrm>
            <a:off x="12992100" y="3667125"/>
            <a:ext cx="666750" cy="1866900"/>
          </a:xfrm>
          <a:custGeom>
            <a:pathLst>
              <a:path w="666750" h="1866900">
                <a:moveTo>
                  <a:pt x="342900" y="1866900"/>
                </a:moveTo>
                <a:lnTo>
                  <a:pt x="666750" y="1866900"/>
                </a:lnTo>
                <a:lnTo>
                  <a:pt x="666750" y="0"/>
                </a:lnTo>
                <a:lnTo>
                  <a:pt x="0" y="0"/>
                </a:lnTo>
                <a:lnTo>
                  <a:pt x="0" y="133350"/>
                </a:lnTo>
              </a:path>
            </a:pathLst>
          </a:custGeom>
          <a:noFill/>
          <a:ln w="23813">
            <a:solidFill>
              <a:srgbClr val="576773"/>
            </a:solidFill>
            <a:prstDash val="solid"/>
          </a:ln>
        </p:spPr>
      </p:sp>
      <p:sp>
        <p:nvSpPr>
          <p:cNvPr id="75" name="v2-297-b-proposal-return-head">
            <a:extLst>
              <a:ext uri="{FF2B5EF4-FFF2-40B4-BE49-F238E27FC236}">
                <ns2:creationId id="{2CD80145-B2CC-4268-8830-937F7D1E2F3D}"/>
              </a:ext>
            </a:extLst>
          </p:cNvPr>
          <p:cNvSpPr>
            <a:spLocks noGrp="1"/>
          </p:cNvSpPr>
          <p:nvPr/>
        </p:nvSpPr>
        <p:spPr>
          <a:xfrm>
            <a:off x="12937302" y="3700167"/>
            <a:ext cx="109597" cy="100308"/>
          </a:xfrm>
          <a:custGeom>
            <a:pathLst>
              <a:path w="109597" h="100308">
                <a:moveTo>
                  <a:pt x="0" y="0"/>
                </a:moveTo>
                <a:lnTo>
                  <a:pt x="54798" y="100308"/>
                </a:lnTo>
                <a:lnTo>
                  <a:pt x="109597" y="0"/>
                </a:lnTo>
              </a:path>
            </a:pathLst>
          </a:custGeom>
          <a:noFill/>
          <a:ln w="23813">
            <a:solidFill>
              <a:srgbClr val="576773"/>
            </a:solidFill>
            <a:prstDash val="solid"/>
          </a:ln>
        </p:spPr>
      </p:sp>
      <p:sp>
        <p:nvSpPr>
          <p:cNvPr id="76" name="v2-298-b-adopted-compose">
            <a:extLst>
              <a:ext uri="{FF2B5EF4-FFF2-40B4-BE49-F238E27FC236}">
                <ns2:creationId id="{4FFA312A-0D73-44FD-947B-CEFC085D8432}"/>
              </a:ext>
            </a:extLst>
          </p:cNvPr>
          <p:cNvSpPr>
            <a:spLocks noGrp="1"/>
          </p:cNvSpPr>
          <p:nvPr/>
        </p:nvSpPr>
        <p:spPr>
          <a:xfrm>
            <a:off x="13306425" y="4219575"/>
            <a:ext cx="695325" cy="1314450"/>
          </a:xfrm>
          <a:custGeom>
            <a:pathLst>
              <a:path w="695325" h="1314450">
                <a:moveTo>
                  <a:pt x="0" y="0"/>
                </a:moveTo>
                <a:lnTo>
                  <a:pt x="457200" y="0"/>
                </a:lnTo>
                <a:lnTo>
                  <a:pt x="457200" y="1314450"/>
                </a:lnTo>
                <a:lnTo>
                  <a:pt x="695325" y="1314450"/>
                </a:lnTo>
              </a:path>
            </a:pathLst>
          </a:custGeom>
          <a:noFill/>
          <a:ln w="23813">
            <a:solidFill>
              <a:srgbClr val="00889A"/>
            </a:solidFill>
            <a:prstDash val="solid"/>
          </a:ln>
        </p:spPr>
      </p:sp>
      <p:sp>
        <p:nvSpPr>
          <p:cNvPr id="77" name="v2-299-b-adopted-compose-head">
            <a:extLst>
              <a:ext uri="{FF2B5EF4-FFF2-40B4-BE49-F238E27FC236}">
                <ns2:creationId id="{1F3A3607-E7B8-421A-B243-844A3A1FEA8B}"/>
              </a:ext>
            </a:extLst>
          </p:cNvPr>
          <p:cNvSpPr>
            <a:spLocks noGrp="1"/>
          </p:cNvSpPr>
          <p:nvPr/>
        </p:nvSpPr>
        <p:spPr>
          <a:xfrm>
            <a:off x="13901442" y="5479227"/>
            <a:ext cx="100308" cy="109597"/>
          </a:xfrm>
          <a:custGeom>
            <a:pathLst>
              <a:path w="100308" h="109597">
                <a:moveTo>
                  <a:pt x="0" y="109597"/>
                </a:moveTo>
                <a:lnTo>
                  <a:pt x="100308" y="54798"/>
                </a:lnTo>
                <a:lnTo>
                  <a:pt x="0" y="0"/>
                </a:lnTo>
              </a:path>
            </a:pathLst>
          </a:custGeom>
          <a:noFill/>
          <a:ln w="23813">
            <a:solidFill>
              <a:srgbClr val="00889A"/>
            </a:solidFill>
            <a:prstDash val="solid"/>
          </a:ln>
        </p:spPr>
      </p:sp>
      <p:sp>
        <p:nvSpPr>
          <p:cNvPr id="78" name="v2-300-note">
            <a:extLst>
              <a:ext uri="{FF2B5EF4-FFF2-40B4-BE49-F238E27FC236}">
                <ns2:creationId id="{E20219C1-1523-42FD-A7FF-7423C64ABFF5}"/>
              </a:ext>
            </a:extLst>
          </p:cNvPr>
          <p:cNvSpPr>
            <a:spLocks noGrp="1"/>
          </p:cNvSpPr>
          <p:nvPr/>
        </p:nvSpPr>
        <p:spPr>
          <a:xfrm>
            <a:off x="9477375" y="5067300"/>
            <a:ext cx="1809750" cy="209550"/>
          </a:xfrm>
          <a:prstGeom prst="rect">
            <a:avLst/>
          </a:prstGeom>
          <a:noFill/>
          <a:ln w="0">
            <a:noFill/>
          </a:ln>
        </p:spPr>
        <p:txBody>
          <a:bodyPr wrap="none" lIns="0" tIns="0" rIns="0" bIns="0" anchor="ctr">
            <a:noAutofit/>
          </a:bodyPr>
          <a:lstStyle/>
          <a:p>
            <a:pPr algn="l">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제안 반환 후 채택</a:t>
            </a:r>
            <a:endParaRPr lang="ko-KR">
              <a:solidFill>
                <a:srgbClr val="000000"/>
              </a:solidFill>
              <a:latin typeface="Calibri"/>
              <a:ea typeface="Calibri"/>
              <a:cs typeface="Calibri"/>
            </a:endParaRPr>
          </a:p>
        </p:txBody>
      </p:sp>
      <p:sp>
        <p:nvSpPr>
          <p:cNvPr id="79" name="v2-301-b-notice-compose">
            <a:extLst>
              <a:ext uri="{FF2B5EF4-FFF2-40B4-BE49-F238E27FC236}">
                <ns2:creationId id="{5CBD4FDF-8E10-46A1-8BC3-176A2FF094F2}"/>
              </a:ext>
            </a:extLst>
          </p:cNvPr>
          <p:cNvSpPr>
            <a:spLocks noGrp="1"/>
          </p:cNvSpPr>
          <p:nvPr/>
        </p:nvSpPr>
        <p:spPr>
          <a:xfrm>
            <a:off x="17535525" y="4095750"/>
            <a:ext cx="428625" cy="1438275"/>
          </a:xfrm>
          <a:custGeom>
            <a:pathLst>
              <a:path w="428625" h="1438275">
                <a:moveTo>
                  <a:pt x="0" y="0"/>
                </a:moveTo>
                <a:lnTo>
                  <a:pt x="428625" y="0"/>
                </a:lnTo>
                <a:lnTo>
                  <a:pt x="428625" y="1438275"/>
                </a:lnTo>
                <a:lnTo>
                  <a:pt x="19050" y="1438275"/>
                </a:lnTo>
              </a:path>
            </a:pathLst>
          </a:custGeom>
          <a:noFill/>
          <a:ln w="23813">
            <a:solidFill>
              <a:srgbClr val="00889A"/>
            </a:solidFill>
            <a:prstDash val="solid"/>
          </a:ln>
        </p:spPr>
      </p:sp>
      <p:sp>
        <p:nvSpPr>
          <p:cNvPr id="80" name="v2-302-b-notice-compose-head">
            <a:extLst>
              <a:ext uri="{FF2B5EF4-FFF2-40B4-BE49-F238E27FC236}">
                <ns2:creationId id="{79C2861B-E61B-4443-880A-C64AC0DFFF49}"/>
              </a:ext>
            </a:extLst>
          </p:cNvPr>
          <p:cNvSpPr>
            <a:spLocks noGrp="1"/>
          </p:cNvSpPr>
          <p:nvPr/>
        </p:nvSpPr>
        <p:spPr>
          <a:xfrm>
            <a:off x="17554575" y="5479227"/>
            <a:ext cx="100308" cy="109597"/>
          </a:xfrm>
          <a:custGeom>
            <a:pathLst>
              <a:path w="100308" h="109597">
                <a:moveTo>
                  <a:pt x="100308" y="0"/>
                </a:moveTo>
                <a:lnTo>
                  <a:pt x="0" y="54798"/>
                </a:lnTo>
                <a:lnTo>
                  <a:pt x="100308" y="109597"/>
                </a:lnTo>
              </a:path>
            </a:pathLst>
          </a:custGeom>
          <a:noFill/>
          <a:ln w="23813">
            <a:solidFill>
              <a:srgbClr val="00889A"/>
            </a:solidFill>
            <a:prstDash val="solid"/>
          </a:ln>
        </p:spPr>
      </p:sp>
      <p:sp>
        <p:nvSpPr>
          <p:cNvPr id="81" name="v2-303-note">
            <a:extLst>
              <a:ext uri="{FF2B5EF4-FFF2-40B4-BE49-F238E27FC236}">
                <ns2:creationId id="{71B3062C-EC78-4722-B69D-E77C1FF2B851}"/>
              </a:ext>
            </a:extLst>
          </p:cNvPr>
          <p:cNvSpPr>
            <a:spLocks noGrp="1"/>
          </p:cNvSpPr>
          <p:nvPr/>
        </p:nvSpPr>
        <p:spPr>
          <a:xfrm>
            <a:off x="16192500" y="3438525"/>
            <a:ext cx="1466850" cy="238125"/>
          </a:xfrm>
          <a:prstGeom prst="rect">
            <a:avLst/>
          </a:prstGeom>
          <a:noFill/>
          <a:ln w="0">
            <a:noFill/>
          </a:ln>
        </p:spPr>
        <p:txBody>
          <a:bodyPr wrap="none" lIns="0" tIns="0" rIns="0" bIns="0" anchor="ctr">
            <a:noAutofit/>
          </a:bodyPr>
          <a:lstStyle/>
          <a:p>
            <a:pPr algn="l">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유효 Notice</a:t>
            </a:r>
            <a:endParaRPr lang="ko-KR">
              <a:solidFill>
                <a:srgbClr val="000000"/>
              </a:solidFill>
              <a:latin typeface="Calibri"/>
              <a:ea typeface="Calibri"/>
              <a:cs typeface="Calibri"/>
            </a:endParaRPr>
          </a:p>
        </p:txBody>
      </p:sp>
      <p:sp>
        <p:nvSpPr>
          <p:cNvPr id="82" name="v2-304-b-candidate">
            <a:extLst>
              <a:ext uri="{FF2B5EF4-FFF2-40B4-BE49-F238E27FC236}">
                <ns2:creationId id="{FF620E1D-59E0-40CF-A23E-EF6071003DF5}"/>
              </a:ext>
            </a:extLst>
          </p:cNvPr>
          <p:cNvSpPr>
            <a:spLocks noGrp="1"/>
          </p:cNvSpPr>
          <p:nvPr/>
        </p:nvSpPr>
        <p:spPr>
          <a:xfrm>
            <a:off x="15773400" y="5695950"/>
            <a:ext cx="9525" cy="76200"/>
          </a:xfrm>
          <a:custGeom>
            <a:pathLst>
              <a:path w="9525" h="76200">
                <a:moveTo>
                  <a:pt x="0" y="0"/>
                </a:moveTo>
                <a:lnTo>
                  <a:pt x="0" y="76200"/>
                </a:lnTo>
              </a:path>
            </a:pathLst>
          </a:custGeom>
          <a:noFill/>
          <a:ln w="23813">
            <a:solidFill>
              <a:srgbClr val="00889A"/>
            </a:solidFill>
            <a:prstDash val="solid"/>
          </a:ln>
        </p:spPr>
      </p:sp>
      <p:sp>
        <p:nvSpPr>
          <p:cNvPr id="83" name="v2-305-b-candidate-head">
            <a:extLst>
              <a:ext uri="{FF2B5EF4-FFF2-40B4-BE49-F238E27FC236}">
                <ns2:creationId id="{B034E452-2423-4663-B174-E7B4E71A904A}"/>
              </a:ext>
            </a:extLst>
          </p:cNvPr>
          <p:cNvSpPr>
            <a:spLocks noGrp="1"/>
          </p:cNvSpPr>
          <p:nvPr/>
        </p:nvSpPr>
        <p:spPr>
          <a:xfrm>
            <a:off x="15718602" y="5671842"/>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84" name="v2-306-b-join-input">
            <a:extLst>
              <a:ext uri="{FF2B5EF4-FFF2-40B4-BE49-F238E27FC236}">
                <ns2:creationId id="{8659B599-F90A-4F70-A80D-B35B019FED2C}"/>
              </a:ext>
            </a:extLst>
          </p:cNvPr>
          <p:cNvSpPr>
            <a:spLocks noGrp="1"/>
          </p:cNvSpPr>
          <p:nvPr/>
        </p:nvSpPr>
        <p:spPr>
          <a:xfrm>
            <a:off x="9372600" y="4867275"/>
            <a:ext cx="4629150" cy="1057275"/>
          </a:xfrm>
          <a:custGeom>
            <a:pathLst>
              <a:path w="4629150" h="1057275">
                <a:moveTo>
                  <a:pt x="1171575" y="0"/>
                </a:moveTo>
                <a:lnTo>
                  <a:pt x="1171575" y="152400"/>
                </a:lnTo>
                <a:lnTo>
                  <a:pt x="0" y="152400"/>
                </a:lnTo>
                <a:lnTo>
                  <a:pt x="0" y="1057275"/>
                </a:lnTo>
                <a:lnTo>
                  <a:pt x="4629150" y="1057275"/>
                </a:lnTo>
              </a:path>
            </a:pathLst>
          </a:custGeom>
          <a:noFill/>
          <a:ln w="23813">
            <a:solidFill>
              <a:srgbClr val="00889A"/>
            </a:solidFill>
            <a:prstDash val="solid"/>
          </a:ln>
        </p:spPr>
      </p:sp>
      <p:sp>
        <p:nvSpPr>
          <p:cNvPr id="85" name="v2-307-b-join-input-head">
            <a:extLst>
              <a:ext uri="{FF2B5EF4-FFF2-40B4-BE49-F238E27FC236}">
                <ns2:creationId id="{9F21ABB8-FBD7-4D17-9747-344EC748C62D}"/>
              </a:ext>
            </a:extLst>
          </p:cNvPr>
          <p:cNvSpPr>
            <a:spLocks noGrp="1"/>
          </p:cNvSpPr>
          <p:nvPr/>
        </p:nvSpPr>
        <p:spPr>
          <a:xfrm>
            <a:off x="13901442" y="5869752"/>
            <a:ext cx="100308" cy="109597"/>
          </a:xfrm>
          <a:custGeom>
            <a:pathLst>
              <a:path w="100308" h="109597">
                <a:moveTo>
                  <a:pt x="0" y="109597"/>
                </a:moveTo>
                <a:lnTo>
                  <a:pt x="100308" y="54798"/>
                </a:lnTo>
                <a:lnTo>
                  <a:pt x="0" y="0"/>
                </a:lnTo>
              </a:path>
            </a:pathLst>
          </a:custGeom>
          <a:noFill/>
          <a:ln w="23813">
            <a:solidFill>
              <a:srgbClr val="00889A"/>
            </a:solidFill>
            <a:prstDash val="solid"/>
          </a:ln>
        </p:spPr>
      </p:sp>
      <p:sp>
        <p:nvSpPr>
          <p:cNvPr id="86" name="v2-308-b-join-notice">
            <a:extLst>
              <a:ext uri="{FF2B5EF4-FFF2-40B4-BE49-F238E27FC236}">
                <ns2:creationId id="{AC621F8A-9A8F-49A6-BFC1-9BF06BF8082F}"/>
              </a:ext>
            </a:extLst>
          </p:cNvPr>
          <p:cNvSpPr>
            <a:spLocks noGrp="1"/>
          </p:cNvSpPr>
          <p:nvPr/>
        </p:nvSpPr>
        <p:spPr>
          <a:xfrm>
            <a:off x="16440150" y="4867275"/>
            <a:ext cx="1390650" cy="1057275"/>
          </a:xfrm>
          <a:custGeom>
            <a:pathLst>
              <a:path w="1390650" h="1057275">
                <a:moveTo>
                  <a:pt x="0" y="0"/>
                </a:moveTo>
                <a:lnTo>
                  <a:pt x="1390650" y="0"/>
                </a:lnTo>
                <a:lnTo>
                  <a:pt x="1390650" y="1057275"/>
                </a:lnTo>
                <a:lnTo>
                  <a:pt x="1114425" y="1057275"/>
                </a:lnTo>
              </a:path>
            </a:pathLst>
          </a:custGeom>
          <a:noFill/>
          <a:ln w="23813">
            <a:solidFill>
              <a:srgbClr val="00889A"/>
            </a:solidFill>
            <a:prstDash val="solid"/>
          </a:ln>
        </p:spPr>
      </p:sp>
      <p:sp>
        <p:nvSpPr>
          <p:cNvPr id="87" name="v2-309-b-join-notice-head">
            <a:extLst>
              <a:ext uri="{FF2B5EF4-FFF2-40B4-BE49-F238E27FC236}">
                <ns2:creationId id="{073526A7-C758-401E-8964-B44414282891}"/>
              </a:ext>
            </a:extLst>
          </p:cNvPr>
          <p:cNvSpPr>
            <a:spLocks noGrp="1"/>
          </p:cNvSpPr>
          <p:nvPr/>
        </p:nvSpPr>
        <p:spPr>
          <a:xfrm>
            <a:off x="17554575" y="5869752"/>
            <a:ext cx="100308" cy="109597"/>
          </a:xfrm>
          <a:custGeom>
            <a:pathLst>
              <a:path w="100308" h="109597">
                <a:moveTo>
                  <a:pt x="100308" y="0"/>
                </a:moveTo>
                <a:lnTo>
                  <a:pt x="0" y="54798"/>
                </a:lnTo>
                <a:lnTo>
                  <a:pt x="100308" y="109597"/>
                </a:lnTo>
              </a:path>
            </a:pathLst>
          </a:custGeom>
          <a:noFill/>
          <a:ln w="23813">
            <a:solidFill>
              <a:srgbClr val="00889A"/>
            </a:solidFill>
            <a:prstDash val="solid"/>
          </a:ln>
        </p:spPr>
      </p:sp>
      <p:sp>
        <p:nvSpPr>
          <p:cNvPr id="88" name="v2-310-note">
            <a:extLst>
              <a:ext uri="{FF2B5EF4-FFF2-40B4-BE49-F238E27FC236}">
                <ns2:creationId id="{82A583D3-411A-4741-B1D5-621882DD8530}"/>
              </a:ext>
            </a:extLst>
          </p:cNvPr>
          <p:cNvSpPr>
            <a:spLocks noGrp="1"/>
          </p:cNvSpPr>
          <p:nvPr/>
        </p:nvSpPr>
        <p:spPr>
          <a:xfrm>
            <a:off x="9477375" y="6115050"/>
            <a:ext cx="8096250" cy="219075"/>
          </a:xfrm>
          <a:prstGeom prst="rect">
            <a:avLst/>
          </a:prstGeom>
          <a:noFill/>
          <a:ln w="0">
            <a:noFill/>
          </a:ln>
        </p:spPr>
        <p:txBody>
          <a:bodyPr wrap="none" lIns="0" tIns="0" rIns="0" bIns="0" anchor="ctr">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입력/알림 조건 + 준비된 후보 → 게시 가능 여부</a:t>
            </a:r>
            <a:endParaRPr lang="ko-KR">
              <a:solidFill>
                <a:srgbClr val="000000"/>
              </a:solidFill>
              <a:latin typeface="Calibri"/>
              <a:ea typeface="Calibri"/>
              <a:cs typeface="Calibri"/>
            </a:endParaRPr>
          </a:p>
        </p:txBody>
      </p:sp>
      <p:sp>
        <p:nvSpPr>
          <p:cNvPr id="89" name="v2-311-note">
            <a:extLst>
              <a:ext uri="{FF2B5EF4-FFF2-40B4-BE49-F238E27FC236}">
                <ns2:creationId id="{A012552B-6836-45C3-B8B3-7E7A816A27D2}"/>
              </a:ext>
            </a:extLst>
          </p:cNvPr>
          <p:cNvSpPr>
            <a:spLocks noGrp="1"/>
          </p:cNvSpPr>
          <p:nvPr/>
        </p:nvSpPr>
        <p:spPr>
          <a:xfrm>
            <a:off x="495300" y="6334125"/>
            <a:ext cx="17297400" cy="38100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공통: Publication Control의 검사 → Interaction Manager 실제 표시/재생 → Response Manager 전달 기록. 옛 후보 폐기 / 질문은 별도 허용</a:t>
            </a:r>
            <a:endParaRPr lang="ko-KR">
              <a:solidFill>
                <a:srgbClr val="000000"/>
              </a:solidFill>
              <a:latin typeface="Calibri"/>
              <a:ea typeface="Calibri"/>
              <a:cs typeface="Calibri"/>
            </a:endParaRPr>
          </a:p>
        </p:txBody>
      </p:sp>
      <p:sp>
        <p:nvSpPr>
          <p:cNvPr id="90" name="v2-312-a-cost">
            <a:extLst>
              <a:ext uri="{FF2B5EF4-FFF2-40B4-BE49-F238E27FC236}">
                <ns2:creationId id="{F263034A-F85B-4CA3-9DB2-70221C31A9BE}"/>
              </a:ext>
            </a:extLst>
          </p:cNvPr>
          <p:cNvSpPr>
            <a:spLocks noGrp="1"/>
          </p:cNvSpPr>
          <p:nvPr/>
        </p:nvSpPr>
        <p:spPr>
          <a:xfrm>
            <a:off x="495300" y="6743700"/>
            <a:ext cx="8372475"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A도 비동기, 병렬 실행과 우선순위 처리 가능</a:t>
            </a:r>
            <a:endParaRPr lang="ko-KR">
              <a:solidFill>
                <a:srgbClr val="000000"/>
              </a:solidFill>
              <a:latin typeface="Calibri"/>
              <a:ea typeface="Calibri"/>
              <a:cs typeface="Calibri"/>
            </a:endParaRPr>
          </a:p>
        </p:txBody>
      </p:sp>
      <p:sp>
        <p:nvSpPr>
          <p:cNvPr id="91" name="v2-313-b-cost">
            <a:extLst>
              <a:ext uri="{FF2B5EF4-FFF2-40B4-BE49-F238E27FC236}">
                <ns2:creationId id="{C3D09DC4-687D-43E8-9103-7CEFFDA09DE6}"/>
              </a:ext>
            </a:extLst>
          </p:cNvPr>
          <p:cNvSpPr>
            <a:spLocks noGrp="1"/>
          </p:cNvSpPr>
          <p:nvPr/>
        </p:nvSpPr>
        <p:spPr>
          <a:xfrm>
            <a:off x="9239250" y="6743700"/>
            <a:ext cx="8553450"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B는 Stage/Window, credit와 Join 상태 비용</a:t>
            </a:r>
            <a:endParaRPr lang="ko-KR">
              <a:solidFill>
                <a:srgbClr val="000000"/>
              </a:solidFill>
              <a:latin typeface="Calibri"/>
              <a:ea typeface="Calibri"/>
              <a:cs typeface="Calibri"/>
            </a:endParaRPr>
          </a:p>
        </p:txBody>
      </p:sp>
      <ns0:graphicFrame xmlns:ns0="http://schemas.openxmlformats.org/presentationml/2006/main" xmlns:ns1="http://schemas.openxmlformats.org/drawingml/2006/main">
        <ns0:nvGraphicFramePr>
          <ns0:cNvPr id="185" name=""/>
          <ns0:cNvGraphicFramePr/>
          <ns0:nvPr/>
        </ns0:nvGraphicFramePr>
        <ns0:xfrm>
          <ns1:off x="495300" y="7258050"/>
          <ns1:ext cx="17297400" cy="2533650"/>
        </ns0:xfrm>
        <ns1:graphic>
          <ns1:graphicData uri="http://schemas.openxmlformats.org/drawingml/2006/table">
            <ns1:tbl>
              <ns1:tblPr/>
              <ns1:tblGrid>
                <ns1:gridCol w="4038600"/>
                <ns1:gridCol w="6629400"/>
                <ns1:gridCol w="6629400"/>
              </ns1:tblGrid>
              <ns1:tr h="381000">
                <ns1:tc>
                  <ns1:txBody>
                    <ns1:bodyPr/>
                    <ns1:lstStyle/>
                    <ns1:p>
                      <ns1:pPr algn="l">
                        <ns1:defRPr lang="ko-KR">
                          <ns1:solidFill>
                            <ns1:srgbClr val="000000"/>
                          </ns1:solidFill>
                          <ns1:latin typeface="Calibri"/>
                          <ns1:ea typeface="Calibri"/>
                          <ns1:cs typeface="Calibri"/>
                        </ns1:defRPr>
                      </ns1:pPr>
                      <ns1:r>
                        <ns1:rPr sz="1700" b="1" lang="ko-KR">
                          <ns1:solidFill>
                            <ns1:srgbClr val="000000"/>
                          </ns1:solidFill>
                          <ns1:latin typeface="Calibri"/>
                          <ns1:ea typeface="Calibri"/>
                          <ns1:cs typeface="Calibri"/>
                        </ns1:rPr>
                        <ns1:t>품질 지표 / 공통 28개</ns1:t>
                      </ns1:r>
                      <ns1:endParaRPr lang="ko-KR">
                        <ns1:solidFill>
                          <ns1:srgbClr val="000000"/>
                        </ns1:solidFill>
                        <ns1:latin typeface="Calibri"/>
                        <ns1:ea typeface="Calibri"/>
                        <ns1:cs typeface="Calibri"/>
                      </ns1:endParaRPr>
                    </ns1:p>
                  </ns1:txBody>
                  <ns1:tcPr marL="114300" marR="76200" marT="9525" marB="9525" anchor="ctr">
                    <ns1:solidFill>
                      <ns1:srgbClr val="C6E0B4"/>
                    </ns1:solidFill>
                  </ns1:tcPr>
                </ns1:tc>
                <ns1:tc>
                  <ns1:txBody>
                    <ns1:bodyPr/>
                    <ns1:lstStyle/>
                    <ns1:p>
                      <ns1:pPr algn="l">
                        <ns1:defRPr lang="ko-KR">
                          <ns1:solidFill>
                            <ns1:srgbClr val="000000"/>
                          </ns1:solidFill>
                          <ns1:latin typeface="Calibri"/>
                          <ns1:ea typeface="Calibri"/>
                          <ns1:cs typeface="Calibri"/>
                        </ns1:defRPr>
                      </ns1:pPr>
                      <ns1:r>
                        <ns1:rPr sz="1700" b="1" lang="ko-KR">
                          <ns1:solidFill>
                            <ns1:srgbClr val="000000"/>
                          </ns1:solidFill>
                          <ns1:latin typeface="Calibri"/>
                          <ns1:ea typeface="Calibri"/>
                          <ns1:cs typeface="Calibri"/>
                        </ns1:rPr>
                        <ns1:t>A: 평가 경로와 현재 상태</ns1:t>
                      </ns1:r>
                      <ns1:endParaRPr lang="ko-KR">
                        <ns1:solidFill>
                          <ns1:srgbClr val="000000"/>
                        </ns1:solidFill>
                        <ns1:latin typeface="Calibri"/>
                        <ns1:ea typeface="Calibri"/>
                        <ns1:cs typeface="Calibri"/>
                      </ns1:endParaRPr>
                    </ns1:p>
                  </ns1:txBody>
                  <ns1:tcPr marL="114300" marR="76200" marT="9525" marB="9525" anchor="ctr">
                    <ns1:solidFill>
                      <ns1:srgbClr val="C6E0B4"/>
                    </ns1:solidFill>
                  </ns1:tcPr>
                </ns1:tc>
                <ns1:tc>
                  <ns1:txBody>
                    <ns1:bodyPr/>
                    <ns1:lstStyle/>
                    <ns1:p>
                      <ns1:pPr algn="l">
                        <ns1:defRPr lang="ko-KR">
                          <ns1:solidFill>
                            <ns1:srgbClr val="000000"/>
                          </ns1:solidFill>
                          <ns1:latin typeface="Calibri"/>
                          <ns1:ea typeface="Calibri"/>
                          <ns1:cs typeface="Calibri"/>
                        </ns1:defRPr>
                      </ns1:pPr>
                      <ns1:r>
                        <ns1:rPr sz="1700" b="1" lang="ko-KR">
                          <ns1:solidFill>
                            <ns1:srgbClr val="000000"/>
                          </ns1:solidFill>
                          <ns1:latin typeface="Calibri"/>
                          <ns1:ea typeface="Calibri"/>
                          <ns1:cs typeface="Calibri"/>
                        </ns1:rPr>
                        <ns1:t>B: 평가 경로와 현재 상태</ns1:t>
                      </ns1:r>
                      <ns1:endParaRPr lang="ko-KR">
                        <ns1:solidFill>
                          <ns1:srgbClr val="000000"/>
                        </ns1:solidFill>
                        <ns1:latin typeface="Calibri"/>
                        <ns1:ea typeface="Calibri"/>
                        <ns1:cs typeface="Calibri"/>
                      </ns1:endParaRPr>
                    </ns1:p>
                  </ns1:txBody>
                  <ns1:tcPr marL="114300" marR="76200" marT="9525" marB="9525" anchor="ctr">
                    <ns1:solidFill>
                      <ns1:srgbClr val="C6E0B4"/>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QA01  첫 응답 지연시간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중앙 queue와 회수 대기</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Stage, Join과 수용량 대기</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QA02  지칭 대상 식별 정확도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공통 검증 / 같은 지칭 결과 전달</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공통 검증 / 같은 지칭 결과 전달</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QA03  VIA 처리시간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회수와 다음 실행 연결</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단계 활성화와 게시 Join</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QA04  변경 범위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후속 규칙과 사건 규칙과 형식</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단계와 Join 규칙과 형식</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QA05  모델 사용 비용</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실제 호출, retry와 폐기</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실제 호출, retry와 폐기</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QA06  최대 RAM 사용량</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측정 전 / 중앙 상태와 queue</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측정 전 / Window, credit, copy</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bl>
          </ns1:graphicData>
        </ns1:graphic>
      </ns0:graphicFrame>
      <ns0:sp xmlns:ns0="http://schemas.openxmlformats.org/presentationml/2006/main" xmlns:ns1="http://schemas.openxmlformats.org/drawingml/2006/main" xmlns:ns2="http://schemas.microsoft.com/office/drawing/2014/main">
        <ns0:nvSpPr>
          <ns0:cNvPr id="93" name="v2-314-note">
            <ns1:extLst>
              <ns1:ext uri="{FF2B5EF4-FFF2-40B4-BE49-F238E27FC236}">
                <ns2:creationId id="{6378C499-39A5-40BF-8572-67798CF3B82A}"/>
              </ns1:ext>
            </ns1:extLst>
          </ns0:cNvPr>
          <ns0:cNvSpPr>
            <ns1:spLocks noGrp="1"/>
          </ns0:cNvSpPr>
          <ns0:nvPr/>
        </ns0:nvSpPr>
        <ns0:spPr>
          <ns1:xfrm>
            <ns1:off x="495300" y="9839325"/>
            <ns1:ext cx="17297400" cy="333375"/>
          </ns1:xfrm>
          <ns1:prstGeom prst="rect">
            <ns1:avLst/>
          </ns1:prstGeom>
          <ns1:noFill/>
          <ns1:ln w="0">
            <ns1:noFill/>
          </ns1:ln>
        </ns0:spPr>
        <ns0:txBody>
          <ns1:bodyPr wrap="none" lIns="0" tIns="0" rIns="0" bIns="0" anchor="ctr">
            <ns1:noAutofit/>
          </ns1:bodyPr>
          <ns1:lstStyle/>
          <ns1:p>
            <ns1:pPr algn="l">
              <ns1:defRPr sz="1700" b="0"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미측정. 공통 28개를 사용하며 지표와 목표 및 0~6점 기준은 Appendix QA01~QA09에서 확인한다.</ns1:t>
            </ns1:r>
            <ns1:endParaRPr lang="ko-KR">
              <ns1:solidFill>
                <ns1:srgbClr val="000000"/>
              </ns1:solidFill>
              <ns1:latin typeface="Calibri"/>
              <ns1:ea typeface="Calibri"/>
              <ns1:cs typeface="Calibri"/>
            </ns1:endParaRPr>
          </ns1:p>
        </ns0:txBody>
      </ns0:sp>
      <p:sp>
        <p:nvSpPr>
          <p:cNvPr id="186" name="v6-header-title">
            <a:extLst>
              <a:ext uri="{FF2B5EF4-FFF2-40B4-BE49-F238E27FC236}">
                <ns2:creationId id="{5AC2212F-310C-42A3-978F-DB268CF686AE}"/>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DP44. 응답시간을 위한 지속 대화 설계</a:t>
            </a:r>
            <a:endParaRPr lang="ko-KR">
              <a:latin typeface="Calibri"/>
              <a:ea typeface="Calibri"/>
              <a:cs typeface="Calibri"/>
            </a:endParaRPr>
          </a:p>
        </p:txBody>
      </p:sp>
      <p:sp>
        <p:nvSpPr>
          <p:cNvPr id="187" name="v6-header-rule">
            <a:extLst>
              <a:ext uri="{FF2B5EF4-FFF2-40B4-BE49-F238E27FC236}">
                <ns2:creationId id="{E3A9514F-EB40-4655-B4A6-1C2045E886FF}"/>
              </a:ext>
            </a:extLst>
          </p:cNvPr>
          <p:cNvSpPr>
            <a:spLocks noGrp="1"/>
          </p:cNvSpPr>
          <p:nvPr/>
        </p:nvSpPr>
        <p:spPr>
          <a:xfrm>
            <a:off x="495300" y="990600"/>
            <a:ext cx="17335500" cy="0"/>
          </a:xfrm>
          <a:prstGeom prst="line">
            <a:avLst/>
          </a:prstGeom>
          <a:noFill/>
          <a:ln w="19050">
            <a:solidFill>
              <a:srgbClr val="A6A6A6"/>
            </a:solidFill>
          </a:ln>
        </p:spPr>
      </p:sp>
      <p:sp>
        <p:nvSpPr>
          <p:cNvPr id="188" name="v6-header-stage-0">
            <a:extLst>
              <a:ext uri="{FF2B5EF4-FFF2-40B4-BE49-F238E27FC236}">
                <ns2:creationId id="{92FBB545-BD74-48E1-BDBE-A23E41880848}"/>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89" name="v6-header-stage-1">
            <a:extLst>
              <a:ext uri="{FF2B5EF4-FFF2-40B4-BE49-F238E27FC236}">
                <ns2:creationId id="{A3E03338-8471-47E2-B3C3-1896574AE874}"/>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90" name="v6-header-stage-2">
            <a:extLst>
              <a:ext uri="{FF2B5EF4-FFF2-40B4-BE49-F238E27FC236}">
                <ns2:creationId id="{206C822A-6F24-4092-A79E-8B9D6A80AA73}"/>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91" name="v6-header-stage-3">
            <a:extLst>
              <a:ext uri="{FF2B5EF4-FFF2-40B4-BE49-F238E27FC236}">
                <ns2:creationId id="{B6A86B10-0C60-4390-A644-65FD1CED2B1A}"/>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92" name="v6-header-stage-4">
            <a:extLst>
              <a:ext uri="{FF2B5EF4-FFF2-40B4-BE49-F238E27FC236}">
                <ns2:creationId id="{0E616C9A-0570-4CC1-A3BE-1B76ED41BF3A}"/>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93" name="v6-header-page">
            <a:extLst>
              <a:ext uri="{FF2B5EF4-FFF2-40B4-BE49-F238E27FC236}">
                <ns2:creationId id="{339B1D73-C91D-475B-990C-8426D154D54E}"/>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16 / 33</a:t>
            </a:r>
            <a:endParaRPr lang="ko-KR">
              <a:latin typeface="Calibri"/>
              <a:ea typeface="Calibri"/>
              <a:cs typeface="Calibri"/>
            </a:endParaRPr>
          </a:p>
        </p:txBody>
      </p:sp>
    </p:spTree>
    <p:extLst>
      <p:ext uri="{BB962C8B-B14F-4D97-AF65-F5344CB8AC3E}">
        <p14:creationId val="1964571774"/>
      </p:ext>
    </p:extLst>
  </p:cSld>
</p:sld>
</file>

<file path=ppt/slides/slide53.xml><?xml version="1.0" encoding="utf-8"?>
<p:sld xmlns:a="http://schemas.openxmlformats.org/drawingml/2006/main" xmlns:ns2="http://schemas.microsoft.com/office/drawing/2014/main" xmlns:p="http://schemas.openxmlformats.org/presentationml/2006/main" xmlns:p14="http://schemas.microsoft.com/office/powerpoint/2010/main">
  <p:cSld name="dp45-comparison-v2">
    <p:bg>
      <p:bgPr>
        <a:solidFill>
          <a:srgbClr val="FFFFFF"/>
        </a:solidFill>
      </p:bgPr>
    </p:bg>
    <p:spTree>
      <p:nvGrpSpPr>
        <p:cNvPr id="1" name=""/>
        <p:cNvGrpSpPr/>
        <p:nvPr/>
      </p:nvGrpSpPr>
      <p:grpSpPr>
        <a:xfrm/>
      </p:grpSpPr>
      <p:sp>
        <p:nvSpPr>
          <p:cNvPr id="5" name="v2-319-note">
            <a:extLst>
              <a:ext uri="{FF2B5EF4-FFF2-40B4-BE49-F238E27FC236}">
                <ns2:creationId id="{5A199CA3-8279-49EA-B70C-E8DCCEF2BB9E}"/>
              </a:ext>
            </a:extLst>
          </p:cNvPr>
          <p:cNvSpPr>
            <a:spLocks noGrp="1"/>
          </p:cNvSpPr>
          <p:nvPr/>
        </p:nvSpPr>
        <p:spPr>
          <a:xfrm>
            <a:off x="495300" y="1457325"/>
            <a:ext cx="17297400" cy="457200"/>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같은 요청: “지난번 평가 기준으로 제품 비교와 견적 결과를 함께 써서 제안서를 만들어줘.”</a:t>
            </a:r>
            <a:endParaRPr lang="ko-KR">
              <a:solidFill>
                <a:srgbClr val="000000"/>
              </a:solidFill>
              <a:latin typeface="Calibri"/>
              <a:ea typeface="Calibri"/>
              <a:cs typeface="Calibri"/>
            </a:endParaRPr>
          </a:p>
        </p:txBody>
      </p:sp>
      <p:sp>
        <p:nvSpPr>
          <p:cNvPr id="6" name="v2-320-option-a">
            <a:extLst>
              <a:ext uri="{FF2B5EF4-FFF2-40B4-BE49-F238E27FC236}">
                <ns2:creationId id="{7FFCAB25-74E5-4BA6-A4BF-E3CBDF2CE393}"/>
              </a:ext>
            </a:extLst>
          </p:cNvPr>
          <p:cNvSpPr>
            <a:spLocks noGrp="1"/>
          </p:cNvSpPr>
          <p:nvPr/>
        </p:nvSpPr>
        <p:spPr>
          <a:xfrm>
            <a:off x="495300" y="2000250"/>
            <a:ext cx="8391525" cy="476250"/>
          </a:xfrm>
          <a:prstGeom prst="rect">
            <a:avLst/>
          </a:prstGeom>
          <a:solidFill>
            <a:srgbClr val="E8EEF7"/>
          </a:solidFill>
          <a:ln w="9525">
            <a:solidFill>
              <a:srgbClr val="BCCAD2"/>
            </a:solidFill>
          </a:ln>
        </p:spPr>
        <p:txBody>
          <a:bodyPr wrap="none" lIns="123825" tIns="0" rIns="17145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A  현재 요청에 맞춰 원본을 조합</a:t>
            </a:r>
            <a:endParaRPr lang="ko-KR">
              <a:solidFill>
                <a:srgbClr val="000000"/>
              </a:solidFill>
              <a:latin typeface="Calibri"/>
              <a:ea typeface="Calibri"/>
              <a:cs typeface="Calibri"/>
            </a:endParaRPr>
          </a:p>
        </p:txBody>
      </p:sp>
      <p:sp>
        <p:nvSpPr>
          <p:cNvPr id="7" name="v2-321-option-b">
            <a:extLst>
              <a:ext uri="{FF2B5EF4-FFF2-40B4-BE49-F238E27FC236}">
                <ns2:creationId id="{04163C29-2963-4406-8EEB-9B2C983301F7}"/>
              </a:ext>
            </a:extLst>
          </p:cNvPr>
          <p:cNvSpPr>
            <a:spLocks noGrp="1"/>
          </p:cNvSpPr>
          <p:nvPr/>
        </p:nvSpPr>
        <p:spPr>
          <a:xfrm>
            <a:off x="9229725" y="2000250"/>
            <a:ext cx="8562975" cy="476250"/>
          </a:xfrm>
          <a:prstGeom prst="rect">
            <a:avLst/>
          </a:prstGeom>
          <a:solidFill>
            <a:srgbClr val="FFF6DE"/>
          </a:solidFill>
          <a:ln w="9525">
            <a:solidFill>
              <a:srgbClr val="BCCAD2"/>
            </a:solidFill>
          </a:ln>
        </p:spPr>
        <p:txBody>
          <a:bodyPr wrap="none" lIns="123825" tIns="0" rIns="15240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B  과거 관계를 공통 생산하고 조회</a:t>
            </a:r>
            <a:endParaRPr lang="ko-KR">
              <a:solidFill>
                <a:srgbClr val="000000"/>
              </a:solidFill>
              <a:latin typeface="Calibri"/>
              <a:ea typeface="Calibri"/>
              <a:cs typeface="Calibri"/>
            </a:endParaRPr>
          </a:p>
        </p:txBody>
      </p:sp>
      <p:sp>
        <p:nvSpPr>
          <p:cNvPr id="10" name="v2-324-note">
            <a:extLst>
              <a:ext uri="{FF2B5EF4-FFF2-40B4-BE49-F238E27FC236}">
                <ns2:creationId id="{61E7D39F-CCE5-422F-8663-50E14892FAD5}"/>
              </a:ext>
            </a:extLst>
          </p:cNvPr>
          <p:cNvSpPr>
            <a:spLocks noGrp="1"/>
          </p:cNvSpPr>
          <p:nvPr/>
        </p:nvSpPr>
        <p:spPr>
          <a:xfrm>
            <a:off x="495300" y="2552700"/>
            <a:ext cx="6391275" cy="43815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원본: 실제 전달한 설명과 업무 결과</a:t>
            </a:r>
            <a:endParaRPr lang="ko-KR">
              <a:solidFill>
                <a:srgbClr val="000000"/>
              </a:solidFill>
              <a:latin typeface="Calibri"/>
              <a:ea typeface="Calibri"/>
              <a:cs typeface="Calibri"/>
            </a:endParaRPr>
          </a:p>
        </p:txBody>
      </p:sp>
      <p:sp>
        <p:nvSpPr>
          <p:cNvPr id="11" name="v2-325-Model Access">
            <a:extLst>
              <a:ext uri="{FF2B5EF4-FFF2-40B4-BE49-F238E27FC236}">
                <ns2:creationId id="{EB368250-516F-4AE9-9B24-DAF74AE24C3D}"/>
              </a:ext>
            </a:extLst>
          </p:cNvPr>
          <p:cNvSpPr>
            <a:spLocks noGrp="1"/>
          </p:cNvSpPr>
          <p:nvPr/>
        </p:nvSpPr>
        <p:spPr>
          <a:xfrm>
            <a:off x="7143750" y="2628900"/>
            <a:ext cx="4095750" cy="428625"/>
          </a:xfrm>
          <a:prstGeom prst="rect">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Model Access</a:t>
            </a:r>
            <a:endParaRPr lang="ko-KR">
              <a:solidFill>
                <a:srgbClr val="000000"/>
              </a:solidFill>
              <a:latin typeface="Calibri"/>
              <a:ea typeface="Calibri"/>
              <a:cs typeface="Calibri"/>
            </a:endParaRPr>
          </a:p>
        </p:txBody>
      </p:sp>
      <p:sp>
        <p:nvSpPr>
          <p:cNvPr id="13" name="v2-327-클라우드 의미 LLM">
            <a:extLst>
              <a:ext uri="{FF2B5EF4-FFF2-40B4-BE49-F238E27FC236}">
                <ns2:creationId id="{D106CF12-2AB3-49FB-9878-58CA9844772E}"/>
              </a:ext>
            </a:extLst>
          </p:cNvPr>
          <p:cNvSpPr>
            <a:spLocks noGrp="1"/>
          </p:cNvSpPr>
          <p:nvPr/>
        </p:nvSpPr>
        <p:spPr>
          <a:xfrm>
            <a:off x="13430250" y="2628900"/>
            <a:ext cx="4181475" cy="428625"/>
          </a:xfrm>
          <a:prstGeom prst="rect">
            <a:avLst/>
          </a:prstGeom>
          <a:solidFill>
            <a:srgbClr val="E8EEF7"/>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클라우드 의미 LLM</a:t>
            </a:r>
            <a:endParaRPr lang="ko-KR">
              <a:solidFill>
                <a:srgbClr val="000000"/>
              </a:solidFill>
              <a:latin typeface="Calibri"/>
              <a:ea typeface="Calibri"/>
              <a:cs typeface="Calibri"/>
            </a:endParaRPr>
          </a:p>
        </p:txBody>
      </p:sp>
      <p:sp>
        <p:nvSpPr>
          <p:cNvPr id="15" name="v2-329-common-meaning">
            <a:extLst>
              <a:ext uri="{FF2B5EF4-FFF2-40B4-BE49-F238E27FC236}">
                <ns2:creationId id="{189C3EE8-89F6-4BF0-8BF8-4A41C6FC1C8B}"/>
              </a:ext>
            </a:extLst>
          </p:cNvPr>
          <p:cNvSpPr>
            <a:spLocks noGrp="1"/>
          </p:cNvSpPr>
          <p:nvPr/>
        </p:nvSpPr>
        <p:spPr>
          <a:xfrm>
            <a:off x="11239500" y="2838450"/>
            <a:ext cx="2190750" cy="9525"/>
          </a:xfrm>
          <a:custGeom>
            <a:pathLst>
              <a:path w="2190750" h="9525">
                <a:moveTo>
                  <a:pt x="0" y="0"/>
                </a:moveTo>
                <a:lnTo>
                  <a:pt x="2190750" y="0"/>
                </a:lnTo>
              </a:path>
            </a:pathLst>
          </a:custGeom>
          <a:noFill/>
          <a:ln w="19050">
            <a:solidFill>
              <a:srgbClr val="576773"/>
            </a:solidFill>
            <a:prstDash val="solid"/>
          </a:ln>
        </p:spPr>
      </p:sp>
      <p:sp>
        <p:nvSpPr>
          <p:cNvPr id="16" name="v2-330-common-meaning-head">
            <a:extLst>
              <a:ext uri="{FF2B5EF4-FFF2-40B4-BE49-F238E27FC236}">
                <ns2:creationId id="{539ACD00-3E1B-4513-817F-4FE5303725EB}"/>
              </a:ext>
            </a:extLst>
          </p:cNvPr>
          <p:cNvSpPr>
            <a:spLocks noGrp="1"/>
          </p:cNvSpPr>
          <p:nvPr/>
        </p:nvSpPr>
        <p:spPr>
          <a:xfrm>
            <a:off x="13329942" y="2783652"/>
            <a:ext cx="100308" cy="109597"/>
          </a:xfrm>
          <a:custGeom>
            <a:pathLst>
              <a:path w="100308" h="109597">
                <a:moveTo>
                  <a:pt x="0" y="109597"/>
                </a:moveTo>
                <a:lnTo>
                  <a:pt x="100308" y="54798"/>
                </a:lnTo>
                <a:lnTo>
                  <a:pt x="0" y="0"/>
                </a:lnTo>
              </a:path>
            </a:pathLst>
          </a:custGeom>
          <a:noFill/>
          <a:ln w="19050">
            <a:solidFill>
              <a:srgbClr val="576773"/>
            </a:solidFill>
            <a:prstDash val="solid"/>
          </a:ln>
        </p:spPr>
      </p:sp>
      <p:sp>
        <p:nvSpPr>
          <p:cNvPr id="17" name="v2-331-note">
            <a:extLst>
              <a:ext uri="{FF2B5EF4-FFF2-40B4-BE49-F238E27FC236}">
                <ns2:creationId id="{BB77EF32-10C2-4A43-B914-B43396B657D1}"/>
              </a:ext>
            </a:extLst>
          </p:cNvPr>
          <p:cNvSpPr>
            <a:spLocks noGrp="1"/>
          </p:cNvSpPr>
          <p:nvPr/>
        </p:nvSpPr>
        <p:spPr>
          <a:xfrm>
            <a:off x="11458575" y="2533650"/>
            <a:ext cx="1857375" cy="257175"/>
          </a:xfrm>
          <a:prstGeom prst="rect">
            <a:avLst/>
          </a:prstGeom>
          <a:noFill/>
          <a:ln w="0">
            <a:noFill/>
          </a:ln>
        </p:spPr>
        <p:txBody>
          <a:bodyPr wrap="none" lIns="0" tIns="0" rIns="0" bIns="0" anchor="ctr">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필요할 때 호출</a:t>
            </a:r>
            <a:endParaRPr lang="ko-KR">
              <a:solidFill>
                <a:srgbClr val="000000"/>
              </a:solidFill>
              <a:latin typeface="Calibri"/>
              <a:ea typeface="Calibri"/>
              <a:cs typeface="Calibri"/>
            </a:endParaRPr>
          </a:p>
        </p:txBody>
      </p:sp>
      <p:sp>
        <p:nvSpPr>
          <p:cNvPr id="18" name="v2-332-Context Manager">
            <a:extLst>
              <a:ext uri="{FF2B5EF4-FFF2-40B4-BE49-F238E27FC236}">
                <ns2:creationId id="{8126D139-3DFB-41B0-8E62-B38342FF70AF}"/>
              </a:ext>
            </a:extLst>
          </p:cNvPr>
          <p:cNvSpPr>
            <a:spLocks noGrp="1"/>
          </p:cNvSpPr>
          <p:nvPr/>
        </p:nvSpPr>
        <p:spPr>
          <a:xfrm>
            <a:off x="600075" y="3105150"/>
            <a:ext cx="8105775" cy="2228850"/>
          </a:xfrm>
          <a:prstGeom prst="rect">
            <a:avLst/>
          </a:prstGeom>
          <a:noFill/>
          <a:ln w="19050">
            <a:solidFill>
              <a:srgbClr val="BCCAD2"/>
            </a:solidFill>
          </a:ln>
        </p:spPr>
        <p:txBody>
          <a:bodyPr wrap="none" lIns="133350" tIns="38100" rIns="4829175" bIns="1828800"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Context Manager</a:t>
            </a:r>
            <a:endParaRPr lang="ko-KR">
              <a:solidFill>
                <a:srgbClr val="000000"/>
              </a:solidFill>
              <a:latin typeface="Calibri"/>
              <a:ea typeface="Calibri"/>
              <a:cs typeface="Calibri"/>
            </a:endParaRPr>
          </a:p>
        </p:txBody>
      </p:sp>
      <p:sp>
        <p:nvSpPr>
          <p:cNvPr id="20" name="v2-334-Context Composer">
            <a:extLst>
              <a:ext uri="{FF2B5EF4-FFF2-40B4-BE49-F238E27FC236}">
                <ns2:creationId id="{396C0F95-53DE-420C-AA60-40C5212FEFF4}"/>
              </a:ext>
            </a:extLst>
          </p:cNvPr>
          <p:cNvSpPr>
            <a:spLocks noGrp="1"/>
          </p:cNvSpPr>
          <p:nvPr/>
        </p:nvSpPr>
        <p:spPr>
          <a:xfrm>
            <a:off x="1076325" y="3714750"/>
            <a:ext cx="3905250" cy="561975"/>
          </a:xfrm>
          <a:prstGeom prst="rect">
            <a:avLst/>
          </a:prstGeom>
          <a:solidFill>
            <a:srgbClr val="FFF6DE"/>
          </a:solidFill>
          <a:ln w="19050">
            <a:solidFill>
              <a:srgbClr val="576773"/>
            </a:solidFill>
          </a:ln>
        </p:spPr>
        <p:txBody>
          <a:bodyPr wrap="none" lIns="76200" tIns="0" rIns="76200" bIns="0" anchor="ctr">
            <a:noAutofit/>
          </a:bodyPr>
          <a:lstStyle/>
          <a:p>
            <a:pPr algn="ctr">
              <a:defRPr sz="2500" b="0" lang="ko-KR">
                <a:solidFill>
                  <a:srgbClr val="000000"/>
                </a:solidFill>
                <a:latin typeface="Calibri"/>
                <a:ea typeface="Calibri"/>
                <a:cs typeface="Calibri"/>
              </a:defRPr>
            </a:pPr>
            <a:r>
              <a:rPr sz="2500" b="0" lang="ko-KR">
                <a:solidFill>
                  <a:srgbClr val="000000"/>
                </a:solidFill>
                <a:latin typeface="Calibri"/>
                <a:ea typeface="Calibri"/>
                <a:cs typeface="Calibri"/>
              </a:rPr>
              <a:t>Context Composer</a:t>
            </a:r>
            <a:endParaRPr lang="ko-KR">
              <a:solidFill>
                <a:srgbClr val="000000"/>
              </a:solidFill>
              <a:latin typeface="Calibri"/>
              <a:ea typeface="Calibri"/>
              <a:cs typeface="Calibri"/>
            </a:endParaRPr>
          </a:p>
        </p:txBody>
      </p:sp>
      <p:sp>
        <p:nvSpPr>
          <p:cNvPr id="22" name="v2-336-Source View Cache">
            <a:extLst>
              <a:ext uri="{FF2B5EF4-FFF2-40B4-BE49-F238E27FC236}">
                <ns2:creationId id="{FEEF1F1B-5080-4E4C-B13D-135B864EB173}"/>
              </a:ext>
            </a:extLst>
          </p:cNvPr>
          <p:cNvSpPr>
            <a:spLocks noGrp="1"/>
          </p:cNvSpPr>
          <p:nvPr/>
        </p:nvSpPr>
        <p:spPr>
          <a:xfrm>
            <a:off x="5772150" y="3705225"/>
            <a:ext cx="2609850" cy="552450"/>
          </a:xfrm>
          <a:prstGeom prst="can">
            <a:avLst/>
          </a:prstGeom>
          <a:solidFill>
            <a:srgbClr val="FFFFFF"/>
          </a:solidFill>
          <a:ln w="19050">
            <a:solidFill>
              <a:srgbClr val="576773"/>
            </a:solidFill>
          </a:ln>
        </p:spPr>
        <p:txBody>
          <a:bodyPr wrap="none" lIns="76200" tIns="0" rIns="76200" bIns="0"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Source View Cache</a:t>
            </a:r>
            <a:endParaRPr lang="ko-KR">
              <a:solidFill>
                <a:srgbClr val="000000"/>
              </a:solidFill>
              <a:latin typeface="Calibri"/>
              <a:ea typeface="Calibri"/>
              <a:cs typeface="Calibri"/>
            </a:endParaRPr>
          </a:p>
        </p:txBody>
      </p:sp>
      <p:sp>
        <p:nvSpPr>
          <p:cNvPr id="24" name="v2-338-a-query">
            <a:extLst>
              <a:ext uri="{FF2B5EF4-FFF2-40B4-BE49-F238E27FC236}">
                <ns2:creationId id="{DBD3F639-28D4-4F46-B0D7-83781CC1E9CA}"/>
              </a:ext>
            </a:extLst>
          </p:cNvPr>
          <p:cNvSpPr>
            <a:spLocks noGrp="1"/>
          </p:cNvSpPr>
          <p:nvPr/>
        </p:nvSpPr>
        <p:spPr>
          <a:xfrm>
            <a:off x="714375" y="3571875"/>
            <a:ext cx="2314575" cy="142875"/>
          </a:xfrm>
          <a:custGeom>
            <a:pathLst>
              <a:path w="2314575" h="142875">
                <a:moveTo>
                  <a:pt x="0" y="0"/>
                </a:moveTo>
                <a:lnTo>
                  <a:pt x="2314575" y="0"/>
                </a:lnTo>
                <a:lnTo>
                  <a:pt x="2314575" y="142875"/>
                </a:lnTo>
              </a:path>
            </a:pathLst>
          </a:custGeom>
          <a:noFill/>
          <a:ln w="23813">
            <a:solidFill>
              <a:srgbClr val="00889A"/>
            </a:solidFill>
            <a:prstDash val="solid"/>
          </a:ln>
        </p:spPr>
      </p:sp>
      <p:sp>
        <p:nvSpPr>
          <p:cNvPr id="25" name="v2-339-a-query-head">
            <a:extLst>
              <a:ext uri="{FF2B5EF4-FFF2-40B4-BE49-F238E27FC236}">
                <ns2:creationId id="{A25BBCF2-7EB2-4BC6-B5E1-9FEAF3D62BFB}"/>
              </a:ext>
            </a:extLst>
          </p:cNvPr>
          <p:cNvSpPr>
            <a:spLocks noGrp="1"/>
          </p:cNvSpPr>
          <p:nvPr/>
        </p:nvSpPr>
        <p:spPr>
          <a:xfrm>
            <a:off x="2974152" y="3614442"/>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26" name="v2-340-note">
            <a:extLst>
              <a:ext uri="{FF2B5EF4-FFF2-40B4-BE49-F238E27FC236}">
                <ns2:creationId id="{91D40DCD-BAD5-45EE-AC8C-205892F2E4DC}"/>
              </a:ext>
            </a:extLst>
          </p:cNvPr>
          <p:cNvSpPr>
            <a:spLocks noGrp="1"/>
          </p:cNvSpPr>
          <p:nvPr/>
        </p:nvSpPr>
        <p:spPr>
          <a:xfrm>
            <a:off x="3314700" y="3190875"/>
            <a:ext cx="2000250" cy="28575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① 이번 조회</a:t>
            </a:r>
            <a:endParaRPr lang="ko-KR">
              <a:solidFill>
                <a:srgbClr val="000000"/>
              </a:solidFill>
              <a:latin typeface="Calibri"/>
              <a:ea typeface="Calibri"/>
              <a:cs typeface="Calibri"/>
            </a:endParaRPr>
          </a:p>
        </p:txBody>
      </p:sp>
      <p:sp>
        <p:nvSpPr>
          <p:cNvPr id="27" name="v2-341-a-cache">
            <a:extLst>
              <a:ext uri="{FF2B5EF4-FFF2-40B4-BE49-F238E27FC236}">
                <ns2:creationId id="{EEACDFDA-3614-4935-BC85-A8DFD2AED8C0}"/>
              </a:ext>
            </a:extLst>
          </p:cNvPr>
          <p:cNvSpPr>
            <a:spLocks noGrp="1"/>
          </p:cNvSpPr>
          <p:nvPr/>
        </p:nvSpPr>
        <p:spPr>
          <a:xfrm>
            <a:off x="4981575" y="3990975"/>
            <a:ext cx="790575" cy="9525"/>
          </a:xfrm>
          <a:custGeom>
            <a:pathLst>
              <a:path w="790575" h="9525">
                <a:moveTo>
                  <a:pt x="0" y="0"/>
                </a:moveTo>
                <a:lnTo>
                  <a:pt x="790575" y="0"/>
                </a:lnTo>
              </a:path>
            </a:pathLst>
          </a:custGeom>
          <a:noFill/>
          <a:ln w="23813">
            <a:solidFill>
              <a:srgbClr val="576773"/>
            </a:solidFill>
            <a:prstDash val="solid"/>
          </a:ln>
        </p:spPr>
      </p:sp>
      <p:sp>
        <p:nvSpPr>
          <p:cNvPr id="28" name="v2-342-a-cache-head">
            <a:extLst>
              <a:ext uri="{FF2B5EF4-FFF2-40B4-BE49-F238E27FC236}">
                <ns2:creationId id="{6CCEE704-6BCC-4D6C-BBBB-A180809F69F2}"/>
              </a:ext>
            </a:extLst>
          </p:cNvPr>
          <p:cNvSpPr>
            <a:spLocks noGrp="1"/>
          </p:cNvSpPr>
          <p:nvPr/>
        </p:nvSpPr>
        <p:spPr>
          <a:xfrm>
            <a:off x="5671842" y="3936177"/>
            <a:ext cx="100308" cy="109597"/>
          </a:xfrm>
          <a:custGeom>
            <a:pathLst>
              <a:path w="100308" h="109597">
                <a:moveTo>
                  <a:pt x="0" y="109597"/>
                </a:moveTo>
                <a:lnTo>
                  <a:pt x="100308" y="54798"/>
                </a:lnTo>
                <a:lnTo>
                  <a:pt x="0" y="0"/>
                </a:lnTo>
              </a:path>
            </a:pathLst>
          </a:custGeom>
          <a:noFill/>
          <a:ln w="23813">
            <a:solidFill>
              <a:srgbClr val="576773"/>
            </a:solidFill>
            <a:prstDash val="solid"/>
          </a:ln>
        </p:spPr>
      </p:sp>
      <p:sp>
        <p:nvSpPr>
          <p:cNvPr id="29" name="v2-343-note">
            <a:extLst>
              <a:ext uri="{FF2B5EF4-FFF2-40B4-BE49-F238E27FC236}">
                <ns2:creationId id="{CA304442-5565-46AF-A7C8-80AC2DE0184D}"/>
              </a:ext>
            </a:extLst>
          </p:cNvPr>
          <p:cNvSpPr>
            <a:spLocks noGrp="1"/>
          </p:cNvSpPr>
          <p:nvPr/>
        </p:nvSpPr>
        <p:spPr>
          <a:xfrm>
            <a:off x="5505450" y="4295775"/>
            <a:ext cx="3028950" cy="32385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② 유효 cache / 부분 갱신</a:t>
            </a:r>
            <a:endParaRPr lang="ko-KR">
              <a:solidFill>
                <a:srgbClr val="000000"/>
              </a:solidFill>
              <a:latin typeface="Calibri"/>
              <a:ea typeface="Calibri"/>
              <a:cs typeface="Calibri"/>
            </a:endParaRPr>
          </a:p>
        </p:txBody>
      </p:sp>
      <p:sp>
        <p:nvSpPr>
          <p:cNvPr id="30" name="v2-344-Request Evidence Set">
            <a:extLst>
              <a:ext uri="{FF2B5EF4-FFF2-40B4-BE49-F238E27FC236}">
                <ns2:creationId id="{F49D6F2F-592B-4BB9-8AD7-95444563A63D}"/>
              </a:ext>
            </a:extLst>
          </p:cNvPr>
          <p:cNvSpPr>
            <a:spLocks noGrp="1"/>
          </p:cNvSpPr>
          <p:nvPr/>
        </p:nvSpPr>
        <p:spPr>
          <a:xfrm>
            <a:off x="4695825" y="4695825"/>
            <a:ext cx="3667125" cy="533400"/>
          </a:xfrm>
          <a:prstGeom prst="can">
            <a:avLst/>
          </a:prstGeom>
          <a:solidFill>
            <a:srgbClr val="FFFFFF"/>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Request Evidence Set</a:t>
            </a:r>
            <a:endParaRPr lang="ko-KR">
              <a:solidFill>
                <a:srgbClr val="000000"/>
              </a:solidFill>
              <a:latin typeface="Calibri"/>
              <a:ea typeface="Calibri"/>
              <a:cs typeface="Calibri"/>
            </a:endParaRPr>
          </a:p>
        </p:txBody>
      </p:sp>
      <p:sp>
        <p:nvSpPr>
          <p:cNvPr id="32" name="v2-346-a-meaning-read">
            <a:extLst>
              <a:ext uri="{FF2B5EF4-FFF2-40B4-BE49-F238E27FC236}">
                <ns2:creationId id="{2FA0BAB0-FE15-41CE-9EB6-847F1E957125}"/>
              </a:ext>
            </a:extLst>
          </p:cNvPr>
          <p:cNvSpPr>
            <a:spLocks noGrp="1"/>
          </p:cNvSpPr>
          <p:nvPr/>
        </p:nvSpPr>
        <p:spPr>
          <a:xfrm>
            <a:off x="4981575" y="2838450"/>
            <a:ext cx="2162175" cy="1047750"/>
          </a:xfrm>
          <a:custGeom>
            <a:pathLst>
              <a:path w="2162175" h="1047750">
                <a:moveTo>
                  <a:pt x="0" y="1047750"/>
                </a:moveTo>
                <a:lnTo>
                  <a:pt x="257175" y="1047750"/>
                </a:lnTo>
                <a:lnTo>
                  <a:pt x="257175" y="0"/>
                </a:lnTo>
                <a:lnTo>
                  <a:pt x="2162175" y="0"/>
                </a:lnTo>
              </a:path>
            </a:pathLst>
          </a:custGeom>
          <a:noFill/>
          <a:ln w="23813">
            <a:solidFill>
              <a:srgbClr val="576773"/>
            </a:solidFill>
            <a:prstDash val="dash"/>
          </a:ln>
        </p:spPr>
      </p:sp>
      <p:sp>
        <p:nvSpPr>
          <p:cNvPr id="33" name="v2-347-a-meaning-read-head">
            <a:extLst>
              <a:ext uri="{FF2B5EF4-FFF2-40B4-BE49-F238E27FC236}">
                <ns2:creationId id="{FE78D7E4-A3E4-45B2-8AD6-E39766AB3DEB}"/>
              </a:ext>
            </a:extLst>
          </p:cNvPr>
          <p:cNvSpPr>
            <a:spLocks noGrp="1"/>
          </p:cNvSpPr>
          <p:nvPr/>
        </p:nvSpPr>
        <p:spPr>
          <a:xfrm>
            <a:off x="7043442" y="2783652"/>
            <a:ext cx="100308" cy="109597"/>
          </a:xfrm>
          <a:custGeom>
            <a:pathLst>
              <a:path w="100308" h="109597">
                <a:moveTo>
                  <a:pt x="0" y="109597"/>
                </a:moveTo>
                <a:lnTo>
                  <a:pt x="100308" y="54798"/>
                </a:lnTo>
                <a:lnTo>
                  <a:pt x="0" y="0"/>
                </a:lnTo>
              </a:path>
            </a:pathLst>
          </a:custGeom>
          <a:noFill/>
          <a:ln w="23813">
            <a:solidFill>
              <a:srgbClr val="576773"/>
            </a:solidFill>
            <a:prstDash val="solid"/>
          </a:ln>
        </p:spPr>
      </p:sp>
      <p:sp>
        <p:nvSpPr>
          <p:cNvPr id="34" name="v2-348-note">
            <a:extLst>
              <a:ext uri="{FF2B5EF4-FFF2-40B4-BE49-F238E27FC236}">
                <ns2:creationId id="{9BCD895B-7A69-4D4C-8B24-CA0B30D9E53C}"/>
              </a:ext>
            </a:extLst>
          </p:cNvPr>
          <p:cNvSpPr>
            <a:spLocks noGrp="1"/>
          </p:cNvSpPr>
          <p:nvPr/>
        </p:nvSpPr>
        <p:spPr>
          <a:xfrm>
            <a:off x="895350" y="5562600"/>
            <a:ext cx="7686675" cy="38100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③ 원본 확인 후 이번 요청의 근거 반환</a:t>
            </a:r>
            <a:endParaRPr lang="ko-KR">
              <a:solidFill>
                <a:srgbClr val="000000"/>
              </a:solidFill>
              <a:latin typeface="Calibri"/>
              <a:ea typeface="Calibri"/>
              <a:cs typeface="Calibri"/>
            </a:endParaRPr>
          </a:p>
        </p:txBody>
      </p:sp>
      <p:sp>
        <p:nvSpPr>
          <p:cNvPr id="35" name="v2-349-a-evidence">
            <a:extLst>
              <a:ext uri="{FF2B5EF4-FFF2-40B4-BE49-F238E27FC236}">
                <ns2:creationId id="{72896549-E4EF-4123-914E-AB609B064524}"/>
              </a:ext>
            </a:extLst>
          </p:cNvPr>
          <p:cNvSpPr>
            <a:spLocks noGrp="1"/>
          </p:cNvSpPr>
          <p:nvPr/>
        </p:nvSpPr>
        <p:spPr>
          <a:xfrm>
            <a:off x="4981575" y="4114800"/>
            <a:ext cx="1543050" cy="581025"/>
          </a:xfrm>
          <a:custGeom>
            <a:pathLst>
              <a:path w="1543050" h="581025">
                <a:moveTo>
                  <a:pt x="0" y="0"/>
                </a:moveTo>
                <a:lnTo>
                  <a:pt x="209550" y="0"/>
                </a:lnTo>
                <a:lnTo>
                  <a:pt x="209550" y="428625"/>
                </a:lnTo>
                <a:lnTo>
                  <a:pt x="1543050" y="428625"/>
                </a:lnTo>
                <a:lnTo>
                  <a:pt x="1543050" y="581025"/>
                </a:lnTo>
              </a:path>
            </a:pathLst>
          </a:custGeom>
          <a:noFill/>
          <a:ln w="23813">
            <a:solidFill>
              <a:srgbClr val="00889A"/>
            </a:solidFill>
            <a:prstDash val="solid"/>
          </a:ln>
        </p:spPr>
      </p:sp>
      <p:sp>
        <p:nvSpPr>
          <p:cNvPr id="36" name="v2-350-a-evidence-head">
            <a:extLst>
              <a:ext uri="{FF2B5EF4-FFF2-40B4-BE49-F238E27FC236}">
                <ns2:creationId id="{25E44DC6-6BBB-4554-96BD-EEB2A678CA20}"/>
              </a:ext>
            </a:extLst>
          </p:cNvPr>
          <p:cNvSpPr>
            <a:spLocks noGrp="1"/>
          </p:cNvSpPr>
          <p:nvPr/>
        </p:nvSpPr>
        <p:spPr>
          <a:xfrm>
            <a:off x="6469827" y="4595517"/>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37" name="v2-351-b-semantic-call">
            <a:extLst>
              <a:ext uri="{FF2B5EF4-FFF2-40B4-BE49-F238E27FC236}">
                <ns2:creationId id="{090E5D55-F302-45CD-A304-EFB8DF8D1334}"/>
              </a:ext>
            </a:extLst>
          </p:cNvPr>
          <p:cNvSpPr>
            <a:spLocks noGrp="1"/>
          </p:cNvSpPr>
          <p:nvPr/>
        </p:nvSpPr>
        <p:spPr>
          <a:xfrm>
            <a:off x="9182100" y="3057525"/>
            <a:ext cx="438150" cy="895350"/>
          </a:xfrm>
          <a:custGeom>
            <a:pathLst>
              <a:path w="438150" h="895350">
                <a:moveTo>
                  <a:pt x="438150" y="895350"/>
                </a:moveTo>
                <a:lnTo>
                  <a:pt x="0" y="895350"/>
                </a:lnTo>
                <a:lnTo>
                  <a:pt x="0" y="0"/>
                </a:lnTo>
              </a:path>
            </a:pathLst>
          </a:custGeom>
          <a:noFill/>
          <a:ln w="23813">
            <a:solidFill>
              <a:srgbClr val="576773"/>
            </a:solidFill>
            <a:prstDash val="dash"/>
          </a:ln>
        </p:spPr>
      </p:sp>
      <p:sp>
        <p:nvSpPr>
          <p:cNvPr id="38" name="v2-352-b-semantic-call-head">
            <a:extLst>
              <a:ext uri="{FF2B5EF4-FFF2-40B4-BE49-F238E27FC236}">
                <ns2:creationId id="{BD811A34-8AE6-4A50-8B91-3840DF9CCB2E}"/>
              </a:ext>
            </a:extLst>
          </p:cNvPr>
          <p:cNvSpPr>
            <a:spLocks noGrp="1"/>
          </p:cNvSpPr>
          <p:nvPr/>
        </p:nvSpPr>
        <p:spPr>
          <a:xfrm>
            <a:off x="9127302" y="3057525"/>
            <a:ext cx="109597" cy="100308"/>
          </a:xfrm>
          <a:custGeom>
            <a:pathLst>
              <a:path w="109597" h="100308">
                <a:moveTo>
                  <a:pt x="109597" y="100308"/>
                </a:moveTo>
                <a:lnTo>
                  <a:pt x="54798" y="0"/>
                </a:lnTo>
                <a:lnTo>
                  <a:pt x="0" y="100308"/>
                </a:lnTo>
              </a:path>
            </a:pathLst>
          </a:custGeom>
          <a:noFill/>
          <a:ln w="23813">
            <a:solidFill>
              <a:srgbClr val="576773"/>
            </a:solidFill>
            <a:prstDash val="solid"/>
          </a:ln>
        </p:spPr>
      </p:sp>
      <p:sp>
        <p:nvSpPr>
          <p:cNvPr id="39" name="v2-353-Context Manager">
            <a:extLst>
              <a:ext uri="{FF2B5EF4-FFF2-40B4-BE49-F238E27FC236}">
                <ns2:creationId id="{7F6B6D3B-1350-4FDA-9FE7-1620B6A62E19}"/>
              </a:ext>
            </a:extLst>
          </p:cNvPr>
          <p:cNvSpPr>
            <a:spLocks noGrp="1"/>
          </p:cNvSpPr>
          <p:nvPr/>
        </p:nvSpPr>
        <p:spPr>
          <a:xfrm>
            <a:off x="9334500" y="3105150"/>
            <a:ext cx="8372475" cy="2971800"/>
          </a:xfrm>
          <a:prstGeom prst="rect">
            <a:avLst/>
          </a:prstGeom>
          <a:noFill/>
          <a:ln w="19050">
            <a:solidFill>
              <a:srgbClr val="BCCAD2"/>
            </a:solidFill>
          </a:ln>
        </p:spPr>
        <p:txBody>
          <a:bodyPr wrap="none" lIns="133350" tIns="38100" rIns="5095875" bIns="2571750"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Context Manager</a:t>
            </a:r>
            <a:endParaRPr lang="ko-KR">
              <a:solidFill>
                <a:srgbClr val="000000"/>
              </a:solidFill>
              <a:latin typeface="Calibri"/>
              <a:ea typeface="Calibri"/>
              <a:cs typeface="Calibri"/>
            </a:endParaRPr>
          </a:p>
        </p:txBody>
      </p:sp>
      <p:sp>
        <p:nvSpPr>
          <p:cNvPr id="41" name="v2-355-Memory Publisher">
            <a:extLst>
              <a:ext uri="{FF2B5EF4-FFF2-40B4-BE49-F238E27FC236}">
                <ns2:creationId id="{CC52E89E-4B45-4A73-9771-DB42FBF58E86}"/>
              </a:ext>
            </a:extLst>
          </p:cNvPr>
          <p:cNvSpPr>
            <a:spLocks noGrp="1"/>
          </p:cNvSpPr>
          <p:nvPr/>
        </p:nvSpPr>
        <p:spPr>
          <a:xfrm>
            <a:off x="9620250" y="3714750"/>
            <a:ext cx="3476625" cy="523875"/>
          </a:xfrm>
          <a:prstGeom prst="rect">
            <a:avLst/>
          </a:prstGeom>
          <a:solidFill>
            <a:srgbClr val="FFF6DE"/>
          </a:solidFill>
          <a:ln w="19050">
            <a:solidFill>
              <a:srgbClr val="576773"/>
            </a:solidFill>
          </a:ln>
        </p:spPr>
        <p:txBody>
          <a:bodyPr wrap="none" lIns="76200" tIns="0" rIns="76200" bIns="0" anchor="ctr">
            <a:noAutofit/>
          </a:bodyPr>
          <a:lstStyle/>
          <a:p>
            <a:pPr algn="ct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Memory Publisher</a:t>
            </a:r>
            <a:endParaRPr lang="ko-KR">
              <a:solidFill>
                <a:srgbClr val="000000"/>
              </a:solidFill>
              <a:latin typeface="Calibri"/>
              <a:ea typeface="Calibri"/>
              <a:cs typeface="Calibri"/>
            </a:endParaRPr>
          </a:p>
        </p:txBody>
      </p:sp>
      <p:sp>
        <p:nvSpPr>
          <p:cNvPr id="43" name="v2-357-Coverage State">
            <a:extLst>
              <a:ext uri="{FF2B5EF4-FFF2-40B4-BE49-F238E27FC236}">
                <ns2:creationId id="{265D4168-F02C-43EC-B7F6-9B9F4DC182D6}"/>
              </a:ext>
            </a:extLst>
          </p:cNvPr>
          <p:cNvSpPr>
            <a:spLocks noGrp="1"/>
          </p:cNvSpPr>
          <p:nvPr/>
        </p:nvSpPr>
        <p:spPr>
          <a:xfrm>
            <a:off x="13887450" y="3724275"/>
            <a:ext cx="3495675" cy="523875"/>
          </a:xfrm>
          <a:prstGeom prst="can">
            <a:avLst/>
          </a:prstGeom>
          <a:solidFill>
            <a:srgbClr val="FFFFFF"/>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Coverage State</a:t>
            </a:r>
            <a:endParaRPr lang="ko-KR">
              <a:solidFill>
                <a:srgbClr val="000000"/>
              </a:solidFill>
              <a:latin typeface="Calibri"/>
              <a:ea typeface="Calibri"/>
              <a:cs typeface="Calibri"/>
            </a:endParaRPr>
          </a:p>
        </p:txBody>
      </p:sp>
      <p:sp>
        <p:nvSpPr>
          <p:cNvPr id="45" name="v2-359-Episodic Memory Repository">
            <a:extLst>
              <a:ext uri="{FF2B5EF4-FFF2-40B4-BE49-F238E27FC236}">
                <ns2:creationId id="{FF4F2D94-1207-489B-B7C9-C69A5241FBFC}"/>
              </a:ext>
            </a:extLst>
          </p:cNvPr>
          <p:cNvSpPr>
            <a:spLocks noGrp="1"/>
          </p:cNvSpPr>
          <p:nvPr/>
        </p:nvSpPr>
        <p:spPr>
          <a:xfrm>
            <a:off x="11401425" y="4533900"/>
            <a:ext cx="5076825" cy="523875"/>
          </a:xfrm>
          <a:prstGeom prst="can">
            <a:avLst/>
          </a:prstGeom>
          <a:solidFill>
            <a:srgbClr val="FFFFFF"/>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Episodic Memory Repository</a:t>
            </a:r>
            <a:endParaRPr lang="ko-KR">
              <a:solidFill>
                <a:srgbClr val="000000"/>
              </a:solidFill>
              <a:latin typeface="Calibri"/>
              <a:ea typeface="Calibri"/>
              <a:cs typeface="Calibri"/>
            </a:endParaRPr>
          </a:p>
        </p:txBody>
      </p:sp>
      <p:sp>
        <p:nvSpPr>
          <p:cNvPr id="47" name="v2-361-Evidence Reader">
            <a:extLst>
              <a:ext uri="{FF2B5EF4-FFF2-40B4-BE49-F238E27FC236}">
                <ns2:creationId id="{9185C3A2-E797-4DBF-880C-A1C27AE0B40F}"/>
              </a:ext>
            </a:extLst>
          </p:cNvPr>
          <p:cNvSpPr>
            <a:spLocks noGrp="1"/>
          </p:cNvSpPr>
          <p:nvPr/>
        </p:nvSpPr>
        <p:spPr>
          <a:xfrm>
            <a:off x="11401425" y="5495925"/>
            <a:ext cx="5076825" cy="428625"/>
          </a:xfrm>
          <a:prstGeom prst="rect">
            <a:avLst/>
          </a:prstGeom>
          <a:solidFill>
            <a:srgbClr val="FFF6DE"/>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Evidence Reader</a:t>
            </a:r>
            <a:endParaRPr lang="ko-KR">
              <a:solidFill>
                <a:srgbClr val="000000"/>
              </a:solidFill>
              <a:latin typeface="Calibri"/>
              <a:ea typeface="Calibri"/>
              <a:cs typeface="Calibri"/>
            </a:endParaRPr>
          </a:p>
        </p:txBody>
      </p:sp>
      <p:sp>
        <p:nvSpPr>
          <p:cNvPr id="49" name="v2-363-b-produce">
            <a:extLst>
              <a:ext uri="{FF2B5EF4-FFF2-40B4-BE49-F238E27FC236}">
                <ns2:creationId id="{BAC81AD8-41EC-4DD9-AA69-90572D46827A}"/>
              </a:ext>
            </a:extLst>
          </p:cNvPr>
          <p:cNvSpPr>
            <a:spLocks noGrp="1"/>
          </p:cNvSpPr>
          <p:nvPr/>
        </p:nvSpPr>
        <p:spPr>
          <a:xfrm>
            <a:off x="11363325" y="4238625"/>
            <a:ext cx="2571750" cy="295275"/>
          </a:xfrm>
          <a:custGeom>
            <a:pathLst>
              <a:path w="2571750" h="295275">
                <a:moveTo>
                  <a:pt x="0" y="0"/>
                </a:moveTo>
                <a:lnTo>
                  <a:pt x="0" y="114300"/>
                </a:lnTo>
                <a:lnTo>
                  <a:pt x="2571750" y="114300"/>
                </a:lnTo>
                <a:lnTo>
                  <a:pt x="2571750" y="295275"/>
                </a:lnTo>
              </a:path>
            </a:pathLst>
          </a:custGeom>
          <a:noFill/>
          <a:ln w="23813">
            <a:solidFill>
              <a:srgbClr val="00889A"/>
            </a:solidFill>
            <a:prstDash val="solid"/>
          </a:ln>
        </p:spPr>
      </p:sp>
      <p:sp>
        <p:nvSpPr>
          <p:cNvPr id="50" name="v2-364-b-produce-head">
            <a:extLst>
              <a:ext uri="{FF2B5EF4-FFF2-40B4-BE49-F238E27FC236}">
                <ns2:creationId id="{63834022-4F39-4411-964C-25E55BC7799E}"/>
              </a:ext>
            </a:extLst>
          </p:cNvPr>
          <p:cNvSpPr>
            <a:spLocks noGrp="1"/>
          </p:cNvSpPr>
          <p:nvPr/>
        </p:nvSpPr>
        <p:spPr>
          <a:xfrm>
            <a:off x="13880277" y="4433592"/>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51" name="v2-365-note">
            <a:extLst>
              <a:ext uri="{FF2B5EF4-FFF2-40B4-BE49-F238E27FC236}">
                <ns2:creationId id="{5BA6E949-1FF4-4CDA-9F6D-8DFAC6A312A0}"/>
              </a:ext>
            </a:extLst>
          </p:cNvPr>
          <p:cNvSpPr>
            <a:spLocks noGrp="1"/>
          </p:cNvSpPr>
          <p:nvPr/>
        </p:nvSpPr>
        <p:spPr>
          <a:xfrm>
            <a:off x="9715500" y="4324350"/>
            <a:ext cx="1714500" cy="30480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② 관계 게시</a:t>
            </a:r>
            <a:endParaRPr lang="ko-KR">
              <a:solidFill>
                <a:srgbClr val="000000"/>
              </a:solidFill>
              <a:latin typeface="Calibri"/>
              <a:ea typeface="Calibri"/>
              <a:cs typeface="Calibri"/>
            </a:endParaRPr>
          </a:p>
        </p:txBody>
      </p:sp>
      <p:sp>
        <p:nvSpPr>
          <p:cNvPr id="52" name="v2-366-b-coverage">
            <a:extLst>
              <a:ext uri="{FF2B5EF4-FFF2-40B4-BE49-F238E27FC236}">
                <ns2:creationId id="{A0201795-CB4D-4A9F-9380-B5CFDF038A5F}"/>
              </a:ext>
            </a:extLst>
          </p:cNvPr>
          <p:cNvSpPr>
            <a:spLocks noGrp="1"/>
          </p:cNvSpPr>
          <p:nvPr/>
        </p:nvSpPr>
        <p:spPr>
          <a:xfrm>
            <a:off x="13096875" y="3971925"/>
            <a:ext cx="790575" cy="9525"/>
          </a:xfrm>
          <a:custGeom>
            <a:pathLst>
              <a:path w="790575" h="9525">
                <a:moveTo>
                  <a:pt x="0" y="0"/>
                </a:moveTo>
                <a:lnTo>
                  <a:pt x="790575" y="0"/>
                </a:lnTo>
              </a:path>
            </a:pathLst>
          </a:custGeom>
          <a:noFill/>
          <a:ln w="23813">
            <a:solidFill>
              <a:srgbClr val="576773"/>
            </a:solidFill>
            <a:prstDash val="solid"/>
          </a:ln>
        </p:spPr>
      </p:sp>
      <p:sp>
        <p:nvSpPr>
          <p:cNvPr id="53" name="v2-367-b-coverage-head">
            <a:extLst>
              <a:ext uri="{FF2B5EF4-FFF2-40B4-BE49-F238E27FC236}">
                <ns2:creationId id="{65E551D1-7599-4672-B30E-588E19FCBCF0}"/>
              </a:ext>
            </a:extLst>
          </p:cNvPr>
          <p:cNvSpPr>
            <a:spLocks noGrp="1"/>
          </p:cNvSpPr>
          <p:nvPr/>
        </p:nvSpPr>
        <p:spPr>
          <a:xfrm>
            <a:off x="13787142" y="3917127"/>
            <a:ext cx="100308" cy="109597"/>
          </a:xfrm>
          <a:custGeom>
            <a:pathLst>
              <a:path w="100308" h="109597">
                <a:moveTo>
                  <a:pt x="0" y="109597"/>
                </a:moveTo>
                <a:lnTo>
                  <a:pt x="100308" y="54798"/>
                </a:lnTo>
                <a:lnTo>
                  <a:pt x="0" y="0"/>
                </a:lnTo>
              </a:path>
            </a:pathLst>
          </a:custGeom>
          <a:noFill/>
          <a:ln w="23813">
            <a:solidFill>
              <a:srgbClr val="576773"/>
            </a:solidFill>
            <a:prstDash val="solid"/>
          </a:ln>
        </p:spPr>
      </p:sp>
      <p:sp>
        <p:nvSpPr>
          <p:cNvPr id="54" name="v2-368-b-sourcechange">
            <a:extLst>
              <a:ext uri="{FF2B5EF4-FFF2-40B4-BE49-F238E27FC236}">
                <ns2:creationId id="{A14CB553-7B8D-4864-ABE9-6093733ACB74}"/>
              </a:ext>
            </a:extLst>
          </p:cNvPr>
          <p:cNvSpPr>
            <a:spLocks noGrp="1"/>
          </p:cNvSpPr>
          <p:nvPr/>
        </p:nvSpPr>
        <p:spPr>
          <a:xfrm>
            <a:off x="9401175" y="3581400"/>
            <a:ext cx="1962150" cy="133350"/>
          </a:xfrm>
          <a:custGeom>
            <a:pathLst>
              <a:path w="1962150" h="133350">
                <a:moveTo>
                  <a:pt x="0" y="0"/>
                </a:moveTo>
                <a:lnTo>
                  <a:pt x="1962150" y="0"/>
                </a:lnTo>
                <a:lnTo>
                  <a:pt x="1962150" y="133350"/>
                </a:lnTo>
              </a:path>
            </a:pathLst>
          </a:custGeom>
          <a:noFill/>
          <a:ln w="23813">
            <a:solidFill>
              <a:srgbClr val="00889A"/>
            </a:solidFill>
            <a:prstDash val="solid"/>
          </a:ln>
        </p:spPr>
      </p:sp>
      <p:sp>
        <p:nvSpPr>
          <p:cNvPr id="55" name="v2-369-b-sourcechange-head">
            <a:extLst>
              <a:ext uri="{FF2B5EF4-FFF2-40B4-BE49-F238E27FC236}">
                <ns2:creationId id="{0BD5C4B8-DCFC-499E-BF75-ED566938B81F}"/>
              </a:ext>
            </a:extLst>
          </p:cNvPr>
          <p:cNvSpPr>
            <a:spLocks noGrp="1"/>
          </p:cNvSpPr>
          <p:nvPr/>
        </p:nvSpPr>
        <p:spPr>
          <a:xfrm>
            <a:off x="11308527" y="3614442"/>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56" name="v2-370-note">
            <a:extLst>
              <a:ext uri="{FF2B5EF4-FFF2-40B4-BE49-F238E27FC236}">
                <ns2:creationId id="{F8751CE4-963A-48EA-8EFA-DDAA5335DF0D}"/>
              </a:ext>
            </a:extLst>
          </p:cNvPr>
          <p:cNvSpPr>
            <a:spLocks noGrp="1"/>
          </p:cNvSpPr>
          <p:nvPr/>
        </p:nvSpPr>
        <p:spPr>
          <a:xfrm>
            <a:off x="12096750" y="3190875"/>
            <a:ext cx="5448300" cy="30480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① 원본 변경 / 생산 요청</a:t>
            </a:r>
            <a:endParaRPr lang="ko-KR">
              <a:solidFill>
                <a:srgbClr val="000000"/>
              </a:solidFill>
              <a:latin typeface="Calibri"/>
              <a:ea typeface="Calibri"/>
              <a:cs typeface="Calibri"/>
            </a:endParaRPr>
          </a:p>
        </p:txBody>
      </p:sp>
      <p:sp>
        <p:nvSpPr>
          <p:cNvPr id="57" name="v2-371-b-query">
            <a:extLst>
              <a:ext uri="{FF2B5EF4-FFF2-40B4-BE49-F238E27FC236}">
                <ns2:creationId id="{72B3E75E-DA44-4350-8748-A1203607662A}"/>
              </a:ext>
            </a:extLst>
          </p:cNvPr>
          <p:cNvSpPr>
            <a:spLocks noGrp="1"/>
          </p:cNvSpPr>
          <p:nvPr/>
        </p:nvSpPr>
        <p:spPr>
          <a:xfrm>
            <a:off x="9429750" y="5705475"/>
            <a:ext cx="1971675" cy="9525"/>
          </a:xfrm>
          <a:custGeom>
            <a:pathLst>
              <a:path w="1971675" h="9525">
                <a:moveTo>
                  <a:pt x="0" y="0"/>
                </a:moveTo>
                <a:lnTo>
                  <a:pt x="1971675" y="0"/>
                </a:lnTo>
              </a:path>
            </a:pathLst>
          </a:custGeom>
          <a:noFill/>
          <a:ln w="23813">
            <a:solidFill>
              <a:srgbClr val="00889A"/>
            </a:solidFill>
            <a:prstDash val="solid"/>
          </a:ln>
        </p:spPr>
      </p:sp>
      <p:sp>
        <p:nvSpPr>
          <p:cNvPr id="58" name="v2-372-b-query-head">
            <a:extLst>
              <a:ext uri="{FF2B5EF4-FFF2-40B4-BE49-F238E27FC236}">
                <ns2:creationId id="{B2AC19F8-6476-451B-A680-43B952E8ED84}"/>
              </a:ext>
            </a:extLst>
          </p:cNvPr>
          <p:cNvSpPr>
            <a:spLocks noGrp="1"/>
          </p:cNvSpPr>
          <p:nvPr/>
        </p:nvSpPr>
        <p:spPr>
          <a:xfrm>
            <a:off x="11301117" y="5650677"/>
            <a:ext cx="100308" cy="109597"/>
          </a:xfrm>
          <a:custGeom>
            <a:pathLst>
              <a:path w="100308" h="109597">
                <a:moveTo>
                  <a:pt x="0" y="109597"/>
                </a:moveTo>
                <a:lnTo>
                  <a:pt x="100308" y="54798"/>
                </a:lnTo>
                <a:lnTo>
                  <a:pt x="0" y="0"/>
                </a:lnTo>
              </a:path>
            </a:pathLst>
          </a:custGeom>
          <a:noFill/>
          <a:ln w="23813">
            <a:solidFill>
              <a:srgbClr val="00889A"/>
            </a:solidFill>
            <a:prstDash val="solid"/>
          </a:ln>
        </p:spPr>
      </p:sp>
      <p:sp>
        <p:nvSpPr>
          <p:cNvPr id="59" name="v2-373-note">
            <a:extLst>
              <a:ext uri="{FF2B5EF4-FFF2-40B4-BE49-F238E27FC236}">
                <ns2:creationId id="{474CBF7B-2412-4E2F-99DF-919740D7F008}"/>
              </a:ext>
            </a:extLst>
          </p:cNvPr>
          <p:cNvSpPr>
            <a:spLocks noGrp="1"/>
          </p:cNvSpPr>
          <p:nvPr/>
        </p:nvSpPr>
        <p:spPr>
          <a:xfrm>
            <a:off x="9410700" y="5086350"/>
            <a:ext cx="2667000" cy="32385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③ 별도 현재 조회</a:t>
            </a:r>
            <a:endParaRPr lang="ko-KR">
              <a:solidFill>
                <a:srgbClr val="000000"/>
              </a:solidFill>
              <a:latin typeface="Calibri"/>
              <a:ea typeface="Calibri"/>
              <a:cs typeface="Calibri"/>
            </a:endParaRPr>
          </a:p>
        </p:txBody>
      </p:sp>
      <p:sp>
        <p:nvSpPr>
          <p:cNvPr id="60" name="v2-374-b-read">
            <a:extLst>
              <a:ext uri="{FF2B5EF4-FFF2-40B4-BE49-F238E27FC236}">
                <ns2:creationId id="{BF991512-DD0B-4E31-AD17-E8F22F50FFAF}"/>
              </a:ext>
            </a:extLst>
          </p:cNvPr>
          <p:cNvSpPr>
            <a:spLocks noGrp="1"/>
          </p:cNvSpPr>
          <p:nvPr/>
        </p:nvSpPr>
        <p:spPr>
          <a:xfrm>
            <a:off x="13935075" y="5057775"/>
            <a:ext cx="9525" cy="438150"/>
          </a:xfrm>
          <a:custGeom>
            <a:pathLst>
              <a:path w="9525" h="438150">
                <a:moveTo>
                  <a:pt x="0" y="438150"/>
                </a:moveTo>
                <a:lnTo>
                  <a:pt x="0" y="0"/>
                </a:lnTo>
              </a:path>
            </a:pathLst>
          </a:custGeom>
          <a:noFill/>
          <a:ln w="23813">
            <a:solidFill>
              <a:srgbClr val="00889A"/>
            </a:solidFill>
            <a:prstDash val="solid"/>
          </a:ln>
        </p:spPr>
      </p:sp>
      <p:sp>
        <p:nvSpPr>
          <p:cNvPr id="61" name="v2-375-b-read-head">
            <a:extLst>
              <a:ext uri="{FF2B5EF4-FFF2-40B4-BE49-F238E27FC236}">
                <ns2:creationId id="{4F674B97-E908-466B-A892-210600BCA36F}"/>
              </a:ext>
            </a:extLst>
          </p:cNvPr>
          <p:cNvSpPr>
            <a:spLocks noGrp="1"/>
          </p:cNvSpPr>
          <p:nvPr/>
        </p:nvSpPr>
        <p:spPr>
          <a:xfrm>
            <a:off x="13880277" y="5057775"/>
            <a:ext cx="109597" cy="100308"/>
          </a:xfrm>
          <a:custGeom>
            <a:pathLst>
              <a:path w="109597" h="100308">
                <a:moveTo>
                  <a:pt x="109597" y="100308"/>
                </a:moveTo>
                <a:lnTo>
                  <a:pt x="54798" y="0"/>
                </a:lnTo>
                <a:lnTo>
                  <a:pt x="0" y="100308"/>
                </a:lnTo>
              </a:path>
            </a:pathLst>
          </a:custGeom>
          <a:noFill/>
          <a:ln w="23813">
            <a:solidFill>
              <a:srgbClr val="00889A"/>
            </a:solidFill>
            <a:prstDash val="solid"/>
          </a:ln>
        </p:spPr>
      </p:sp>
      <p:sp>
        <p:nvSpPr>
          <p:cNvPr id="62" name="v2-376-note">
            <a:extLst>
              <a:ext uri="{FF2B5EF4-FFF2-40B4-BE49-F238E27FC236}">
                <ns2:creationId id="{9FA88F2E-2320-4FDA-8C98-B556B024B639}"/>
              </a:ext>
            </a:extLst>
          </p:cNvPr>
          <p:cNvSpPr>
            <a:spLocks noGrp="1"/>
          </p:cNvSpPr>
          <p:nvPr/>
        </p:nvSpPr>
        <p:spPr>
          <a:xfrm>
            <a:off x="14687550" y="5076825"/>
            <a:ext cx="2809875" cy="352425"/>
          </a:xfrm>
          <a:prstGeom prst="rect">
            <a:avLst/>
          </a:prstGeom>
          <a:noFill/>
          <a:ln w="0">
            <a:noFill/>
          </a:ln>
        </p:spPr>
        <p:txBody>
          <a:bodyPr wrap="none" lIns="0" tIns="0" rIns="0" bIns="0" anchor="ctr">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원본 확인 후 반환</a:t>
            </a:r>
            <a:endParaRPr lang="ko-KR">
              <a:solidFill>
                <a:srgbClr val="000000"/>
              </a:solidFill>
              <a:latin typeface="Calibri"/>
              <a:ea typeface="Calibri"/>
              <a:cs typeface="Calibri"/>
            </a:endParaRPr>
          </a:p>
        </p:txBody>
      </p:sp>
      <p:sp>
        <p:nvSpPr>
          <p:cNvPr id="63" name="v2-377-note">
            <a:extLst>
              <a:ext uri="{FF2B5EF4-FFF2-40B4-BE49-F238E27FC236}">
                <ns2:creationId id="{598C74B6-E92A-4841-B99A-22D5FCF7E723}"/>
              </a:ext>
            </a:extLst>
          </p:cNvPr>
          <p:cNvSpPr>
            <a:spLocks noGrp="1"/>
          </p:cNvSpPr>
          <p:nvPr/>
        </p:nvSpPr>
        <p:spPr>
          <a:xfrm>
            <a:off x="9410700" y="6105525"/>
            <a:ext cx="8096250" cy="21907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미생산은 게시 후 재조회 / 지원 밖은 한계 반환</a:t>
            </a:r>
            <a:endParaRPr lang="ko-KR">
              <a:solidFill>
                <a:srgbClr val="000000"/>
              </a:solidFill>
              <a:latin typeface="Calibri"/>
              <a:ea typeface="Calibri"/>
              <a:cs typeface="Calibri"/>
            </a:endParaRPr>
          </a:p>
        </p:txBody>
      </p:sp>
      <p:sp>
        <p:nvSpPr>
          <p:cNvPr id="64" name="v2-378-note">
            <a:extLst>
              <a:ext uri="{FF2B5EF4-FFF2-40B4-BE49-F238E27FC236}">
                <ns2:creationId id="{BC3F8735-1CE9-4196-B6A1-9436609AC5A1}"/>
              </a:ext>
            </a:extLst>
          </p:cNvPr>
          <p:cNvSpPr>
            <a:spLocks noGrp="1"/>
          </p:cNvSpPr>
          <p:nvPr/>
        </p:nvSpPr>
        <p:spPr>
          <a:xfrm>
            <a:off x="495300" y="6334125"/>
            <a:ext cx="17297400" cy="38100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공통: 원본 owner의 개정/권한/실제 전달 범위를 확인 → 현재 Request Interpreter에 근거 제공. PARTIAL은 전체 의미 완성을 뜻하지 않음</a:t>
            </a:r>
            <a:endParaRPr lang="ko-KR">
              <a:solidFill>
                <a:srgbClr val="000000"/>
              </a:solidFill>
              <a:latin typeface="Calibri"/>
              <a:ea typeface="Calibri"/>
              <a:cs typeface="Calibri"/>
            </a:endParaRPr>
          </a:p>
        </p:txBody>
      </p:sp>
      <p:sp>
        <p:nvSpPr>
          <p:cNvPr id="65" name="v2-379-a-cost">
            <a:extLst>
              <a:ext uri="{FF2B5EF4-FFF2-40B4-BE49-F238E27FC236}">
                <ns2:creationId id="{D0B7347E-42DF-4AC7-AFBC-1327F3D0052C}"/>
              </a:ext>
            </a:extLst>
          </p:cNvPr>
          <p:cNvSpPr>
            <a:spLocks noGrp="1"/>
          </p:cNvSpPr>
          <p:nvPr/>
        </p:nvSpPr>
        <p:spPr>
          <a:xfrm>
            <a:off x="495300" y="6743700"/>
            <a:ext cx="8372475"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A도 유효 관계 cache와 부분 갱신 가능</a:t>
            </a:r>
            <a:endParaRPr lang="ko-KR">
              <a:solidFill>
                <a:srgbClr val="000000"/>
              </a:solidFill>
              <a:latin typeface="Calibri"/>
              <a:ea typeface="Calibri"/>
              <a:cs typeface="Calibri"/>
            </a:endParaRPr>
          </a:p>
        </p:txBody>
      </p:sp>
      <p:sp>
        <p:nvSpPr>
          <p:cNvPr id="66" name="v2-380-b-cost">
            <a:extLst>
              <a:ext uri="{FF2B5EF4-FFF2-40B4-BE49-F238E27FC236}">
                <ns2:creationId id="{AEBDFDB5-677C-4E14-A990-FEE006F21F56}"/>
              </a:ext>
            </a:extLst>
          </p:cNvPr>
          <p:cNvSpPr>
            <a:spLocks noGrp="1"/>
          </p:cNvSpPr>
          <p:nvPr/>
        </p:nvSpPr>
        <p:spPr>
          <a:xfrm>
            <a:off x="9239250" y="6743700"/>
            <a:ext cx="8553450"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B는 초기/미사용 생산, coverage와 철회 비용</a:t>
            </a:r>
            <a:endParaRPr lang="ko-KR">
              <a:solidFill>
                <a:srgbClr val="000000"/>
              </a:solidFill>
              <a:latin typeface="Calibri"/>
              <a:ea typeface="Calibri"/>
              <a:cs typeface="Calibri"/>
            </a:endParaRPr>
          </a:p>
        </p:txBody>
      </p:sp>
      <ns0:graphicFrame xmlns:ns0="http://schemas.openxmlformats.org/presentationml/2006/main" xmlns:ns1="http://schemas.openxmlformats.org/drawingml/2006/main">
        <ns0:nvGraphicFramePr>
          <ns0:cNvPr id="135" name=""/>
          <ns0:cNvGraphicFramePr/>
          <ns0:nvPr/>
        </ns0:nvGraphicFramePr>
        <ns0:xfrm>
          <ns1:off x="495300" y="7258050"/>
          <ns1:ext cx="17297400" cy="2533650"/>
        </ns0:xfrm>
        <ns1:graphic>
          <ns1:graphicData uri="http://schemas.openxmlformats.org/drawingml/2006/table">
            <ns1:tbl>
              <ns1:tblPr/>
              <ns1:tblGrid>
                <ns1:gridCol w="4038600"/>
                <ns1:gridCol w="6629400"/>
                <ns1:gridCol w="6629400"/>
              </ns1:tblGrid>
              <ns1:tr h="381000">
                <ns1:tc>
                  <ns1:txBody>
                    <ns1:bodyPr/>
                    <ns1:lstStyle/>
                    <ns1:p>
                      <ns1:pPr algn="l">
                        <ns1:defRPr lang="ko-KR">
                          <ns1:solidFill>
                            <ns1:srgbClr val="000000"/>
                          </ns1:solidFill>
                          <ns1:latin typeface="Calibri"/>
                          <ns1:ea typeface="Calibri"/>
                          <ns1:cs typeface="Calibri"/>
                        </ns1:defRPr>
                      </ns1:pPr>
                      <ns1:r>
                        <ns1:rPr sz="1700" b="1" lang="ko-KR">
                          <ns1:solidFill>
                            <ns1:srgbClr val="000000"/>
                          </ns1:solidFill>
                          <ns1:latin typeface="Calibri"/>
                          <ns1:ea typeface="Calibri"/>
                          <ns1:cs typeface="Calibri"/>
                        </ns1:rPr>
                        <ns1:t>품질 지표 / 공통 28개</ns1:t>
                      </ns1:r>
                      <ns1:endParaRPr lang="ko-KR">
                        <ns1:solidFill>
                          <ns1:srgbClr val="000000"/>
                        </ns1:solidFill>
                        <ns1:latin typeface="Calibri"/>
                        <ns1:ea typeface="Calibri"/>
                        <ns1:cs typeface="Calibri"/>
                      </ns1:endParaRPr>
                    </ns1:p>
                  </ns1:txBody>
                  <ns1:tcPr marL="114300" marR="76200" marT="9525" marB="9525" anchor="ctr">
                    <ns1:solidFill>
                      <ns1:srgbClr val="C6E0B4"/>
                    </ns1:solidFill>
                  </ns1:tcPr>
                </ns1:tc>
                <ns1:tc>
                  <ns1:txBody>
                    <ns1:bodyPr/>
                    <ns1:lstStyle/>
                    <ns1:p>
                      <ns1:pPr algn="l">
                        <ns1:defRPr lang="ko-KR">
                          <ns1:solidFill>
                            <ns1:srgbClr val="000000"/>
                          </ns1:solidFill>
                          <ns1:latin typeface="Calibri"/>
                          <ns1:ea typeface="Calibri"/>
                          <ns1:cs typeface="Calibri"/>
                        </ns1:defRPr>
                      </ns1:pPr>
                      <ns1:r>
                        <ns1:rPr sz="1700" b="1" lang="ko-KR">
                          <ns1:solidFill>
                            <ns1:srgbClr val="000000"/>
                          </ns1:solidFill>
                          <ns1:latin typeface="Calibri"/>
                          <ns1:ea typeface="Calibri"/>
                          <ns1:cs typeface="Calibri"/>
                        </ns1:rPr>
                        <ns1:t>A: 평가 경로와 현재 상태</ns1:t>
                      </ns1:r>
                      <ns1:endParaRPr lang="ko-KR">
                        <ns1:solidFill>
                          <ns1:srgbClr val="000000"/>
                        </ns1:solidFill>
                        <ns1:latin typeface="Calibri"/>
                        <ns1:ea typeface="Calibri"/>
                        <ns1:cs typeface="Calibri"/>
                      </ns1:endParaRPr>
                    </ns1:p>
                  </ns1:txBody>
                  <ns1:tcPr marL="114300" marR="76200" marT="9525" marB="9525" anchor="ctr">
                    <ns1:solidFill>
                      <ns1:srgbClr val="C6E0B4"/>
                    </ns1:solidFill>
                  </ns1:tcPr>
                </ns1:tc>
                <ns1:tc>
                  <ns1:txBody>
                    <ns1:bodyPr/>
                    <ns1:lstStyle/>
                    <ns1:p>
                      <ns1:pPr algn="l">
                        <ns1:defRPr lang="ko-KR">
                          <ns1:solidFill>
                            <ns1:srgbClr val="000000"/>
                          </ns1:solidFill>
                          <ns1:latin typeface="Calibri"/>
                          <ns1:ea typeface="Calibri"/>
                          <ns1:cs typeface="Calibri"/>
                        </ns1:defRPr>
                      </ns1:pPr>
                      <ns1:r>
                        <ns1:rPr sz="1700" b="1" lang="ko-KR">
                          <ns1:solidFill>
                            <ns1:srgbClr val="000000"/>
                          </ns1:solidFill>
                          <ns1:latin typeface="Calibri"/>
                          <ns1:ea typeface="Calibri"/>
                          <ns1:cs typeface="Calibri"/>
                        </ns1:rPr>
                        <ns1:t>B: 평가 경로와 현재 상태</ns1:t>
                      </ns1:r>
                      <ns1:endParaRPr lang="ko-KR">
                        <ns1:solidFill>
                          <ns1:srgbClr val="000000"/>
                        </ns1:solidFill>
                        <ns1:latin typeface="Calibri"/>
                        <ns1:ea typeface="Calibri"/>
                        <ns1:cs typeface="Calibri"/>
                      </ns1:endParaRPr>
                    </ns1:p>
                  </ns1:txBody>
                  <ns1:tcPr marL="114300" marR="76200" marT="9525" marB="9525" anchor="ctr">
                    <ns1:solidFill>
                      <ns1:srgbClr val="C6E0B4"/>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QA01  첫 응답 지연시간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최초 조합과 cache 대기</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조회와 미생산 보완 대기</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QA02  지칭 대상 식별 정확도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원문에서 대상 집합 구성</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게시 관계와 원문 확인</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QA03  VIA 처리시간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첫 사용, 반복과 갱신</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조회, 원문 검증과 backfill</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QA04  변경 범위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조합과 cache 철회 수정</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생산, 조회와 철회 수정</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QA05  모델 사용 비용</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cache miss와 추가 해석</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초기, 미사용 생산과 철회</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QA06  최대 RAM 사용량</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측정 전 / 원문과 선택 cache</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측정 전 / 관계와 생산 상태</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bl>
          </ns1:graphicData>
        </ns1:graphic>
      </ns0:graphicFrame>
      <ns0:sp xmlns:ns0="http://schemas.openxmlformats.org/presentationml/2006/main" xmlns:ns1="http://schemas.openxmlformats.org/drawingml/2006/main" xmlns:ns2="http://schemas.microsoft.com/office/drawing/2014/main">
        <ns0:nvSpPr>
          <ns0:cNvPr id="68" name="v2-381-note">
            <ns1:extLst>
              <ns1:ext uri="{FF2B5EF4-FFF2-40B4-BE49-F238E27FC236}">
                <ns2:creationId id="{EE691A43-48FE-481B-B7AA-05C0AE2AAC99}"/>
              </ns1:ext>
            </ns1:extLst>
          </ns0:cNvPr>
          <ns0:cNvSpPr>
            <ns1:spLocks noGrp="1"/>
          </ns0:cNvSpPr>
          <ns0:nvPr/>
        </ns0:nvSpPr>
        <ns0:spPr>
          <ns1:xfrm>
            <ns1:off x="495300" y="9839325"/>
            <ns1:ext cx="17297400" cy="333375"/>
          </ns1:xfrm>
          <ns1:prstGeom prst="rect">
            <ns1:avLst/>
          </ns1:prstGeom>
          <ns1:noFill/>
          <ns1:ln w="0">
            <ns1:noFill/>
          </ns1:ln>
        </ns0:spPr>
        <ns0:txBody>
          <ns1:bodyPr wrap="none" lIns="0" tIns="0" rIns="0" bIns="0" anchor="ctr">
            <ns1:noAutofit/>
          </ns1:bodyPr>
          <ns1:lstStyle/>
          <ns1:p>
            <ns1:pPr algn="l">
              <ns1:defRPr sz="1700" b="0"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미측정. 공통 28개를 사용하며 지표와 목표 및 0~6점 기준은 Appendix QA01~QA09에서 확인한다.</ns1:t>
            </ns1:r>
            <ns1:endParaRPr lang="ko-KR">
              <ns1:solidFill>
                <ns1:srgbClr val="000000"/>
              </ns1:solidFill>
              <ns1:latin typeface="Calibri"/>
              <ns1:ea typeface="Calibri"/>
              <ns1:cs typeface="Calibri"/>
            </ns1:endParaRPr>
          </ns1:p>
        </ns0:txBody>
      </ns0:sp>
      <p:sp>
        <p:nvSpPr>
          <p:cNvPr id="136" name="v6-header-title">
            <a:extLst>
              <a:ext uri="{FF2B5EF4-FFF2-40B4-BE49-F238E27FC236}">
                <ns2:creationId id="{C8FB1E42-DD94-4BD4-BCD1-FE97B2077581}"/>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DP45. 정확성을 위한 과거 맥락 설계</a:t>
            </a:r>
            <a:endParaRPr lang="ko-KR">
              <a:latin typeface="Calibri"/>
              <a:ea typeface="Calibri"/>
              <a:cs typeface="Calibri"/>
            </a:endParaRPr>
          </a:p>
        </p:txBody>
      </p:sp>
      <p:sp>
        <p:nvSpPr>
          <p:cNvPr id="137" name="v6-header-rule">
            <a:extLst>
              <a:ext uri="{FF2B5EF4-FFF2-40B4-BE49-F238E27FC236}">
                <ns2:creationId id="{7A2A2D51-63C4-48BB-93C3-B5C759324FB3}"/>
              </a:ext>
            </a:extLst>
          </p:cNvPr>
          <p:cNvSpPr>
            <a:spLocks noGrp="1"/>
          </p:cNvSpPr>
          <p:nvPr/>
        </p:nvSpPr>
        <p:spPr>
          <a:xfrm>
            <a:off x="495300" y="990600"/>
            <a:ext cx="17335500" cy="0"/>
          </a:xfrm>
          <a:prstGeom prst="line">
            <a:avLst/>
          </a:prstGeom>
          <a:noFill/>
          <a:ln w="19050">
            <a:solidFill>
              <a:srgbClr val="A6A6A6"/>
            </a:solidFill>
          </a:ln>
        </p:spPr>
      </p:sp>
      <p:sp>
        <p:nvSpPr>
          <p:cNvPr id="138" name="v6-header-stage-0">
            <a:extLst>
              <a:ext uri="{FF2B5EF4-FFF2-40B4-BE49-F238E27FC236}">
                <ns2:creationId id="{2C78C1F9-D289-4240-95BC-C06AE227E86E}"/>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39" name="v6-header-stage-1">
            <a:extLst>
              <a:ext uri="{FF2B5EF4-FFF2-40B4-BE49-F238E27FC236}">
                <ns2:creationId id="{82A15117-421A-4D0F-B528-7B48BDC9BA15}"/>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40" name="v6-header-stage-2">
            <a:extLst>
              <a:ext uri="{FF2B5EF4-FFF2-40B4-BE49-F238E27FC236}">
                <ns2:creationId id="{4C77875D-5703-4A0E-8781-27E11F233AD4}"/>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41" name="v6-header-stage-3">
            <a:extLst>
              <a:ext uri="{FF2B5EF4-FFF2-40B4-BE49-F238E27FC236}">
                <ns2:creationId id="{37B8A815-D032-4B11-BB4C-C6AFFD6255E9}"/>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42" name="v6-header-stage-4">
            <a:extLst>
              <a:ext uri="{FF2B5EF4-FFF2-40B4-BE49-F238E27FC236}">
                <ns2:creationId id="{DCEEBD14-83A6-4160-8C0D-3B61EDB2255F}"/>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43" name="v6-header-page">
            <a:extLst>
              <a:ext uri="{FF2B5EF4-FFF2-40B4-BE49-F238E27FC236}">
                <ns2:creationId id="{83DE79A6-349B-4C6C-A15B-844C19B6CE75}"/>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19 / 33</a:t>
            </a:r>
            <a:endParaRPr lang="ko-KR">
              <a:latin typeface="Calibri"/>
              <a:ea typeface="Calibri"/>
              <a:cs typeface="Calibri"/>
            </a:endParaRPr>
          </a:p>
        </p:txBody>
      </p:sp>
    </p:spTree>
    <p:extLst>
      <p:ext uri="{BB962C8B-B14F-4D97-AF65-F5344CB8AC3E}">
        <p14:creationId val="1995853380"/>
      </p:ext>
    </p:extLst>
  </p:cSld>
</p:sld>
</file>

<file path=ppt/slides/slide54.xml><?xml version="1.0" encoding="utf-8"?>
<p:sld xmlns:a="http://schemas.openxmlformats.org/drawingml/2006/main" xmlns:ns2="http://schemas.microsoft.com/office/drawing/2014/main" xmlns:p="http://schemas.openxmlformats.org/presentationml/2006/main" xmlns:p14="http://schemas.microsoft.com/office/powerpoint/2010/main">
  <p:cSld name="dp42-comparison-v2">
    <p:bg>
      <p:bgPr>
        <a:solidFill>
          <a:srgbClr val="FFFFFF"/>
        </a:solidFill>
      </p:bgPr>
    </p:bg>
    <p:spTree>
      <p:nvGrpSpPr>
        <p:cNvPr id="1" name=""/>
        <p:cNvGrpSpPr/>
        <p:nvPr/>
      </p:nvGrpSpPr>
      <p:grpSpPr>
        <a:xfrm/>
      </p:grpSpPr>
      <p:sp>
        <p:nvSpPr>
          <p:cNvPr id="5" name="v2-386-note">
            <a:extLst>
              <a:ext uri="{FF2B5EF4-FFF2-40B4-BE49-F238E27FC236}">
                <ns2:creationId id="{65476ED0-FD19-4DB7-A77B-DE443CCF2873}"/>
              </a:ext>
            </a:extLst>
          </p:cNvPr>
          <p:cNvSpPr>
            <a:spLocks noGrp="1"/>
          </p:cNvSpPr>
          <p:nvPr/>
        </p:nvSpPr>
        <p:spPr>
          <a:xfrm>
            <a:off x="495300" y="1457325"/>
            <a:ext cx="17297400" cy="457200"/>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같은 보고서 업무의 확대 장면: 기간 질문을 실제 제시 → “상반기로 해줘” → 접수와 외부 확인</a:t>
            </a:r>
            <a:endParaRPr lang="ko-KR">
              <a:solidFill>
                <a:srgbClr val="000000"/>
              </a:solidFill>
              <a:latin typeface="Calibri"/>
              <a:ea typeface="Calibri"/>
              <a:cs typeface="Calibri"/>
            </a:endParaRPr>
          </a:p>
        </p:txBody>
      </p:sp>
      <p:sp>
        <p:nvSpPr>
          <p:cNvPr id="6" name="v2-387-option-a">
            <a:extLst>
              <a:ext uri="{FF2B5EF4-FFF2-40B4-BE49-F238E27FC236}">
                <ns2:creationId id="{4223ED52-8191-4B05-BF90-0E188FE88D28}"/>
              </a:ext>
            </a:extLst>
          </p:cNvPr>
          <p:cNvSpPr>
            <a:spLocks noGrp="1"/>
          </p:cNvSpPr>
          <p:nvPr/>
        </p:nvSpPr>
        <p:spPr>
          <a:xfrm>
            <a:off x="495300" y="2000250"/>
            <a:ext cx="8391525" cy="476250"/>
          </a:xfrm>
          <a:prstGeom prst="rect">
            <a:avLst/>
          </a:prstGeom>
          <a:solidFill>
            <a:srgbClr val="E8EEF7"/>
          </a:solidFill>
          <a:ln w="9525">
            <a:solidFill>
              <a:srgbClr val="BCCAD2"/>
            </a:solidFill>
          </a:ln>
        </p:spPr>
        <p:txBody>
          <a:bodyPr wrap="none" lIns="123825" tIns="0" rIns="17145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A  모듈형 Core에서 관련 상태 공동 확정</a:t>
            </a:r>
            <a:endParaRPr lang="ko-KR">
              <a:solidFill>
                <a:srgbClr val="000000"/>
              </a:solidFill>
              <a:latin typeface="Calibri"/>
              <a:ea typeface="Calibri"/>
              <a:cs typeface="Calibri"/>
            </a:endParaRPr>
          </a:p>
        </p:txBody>
      </p:sp>
      <p:sp>
        <p:nvSpPr>
          <p:cNvPr id="7" name="v2-388-option-b">
            <a:extLst>
              <a:ext uri="{FF2B5EF4-FFF2-40B4-BE49-F238E27FC236}">
                <ns2:creationId id="{BC38489E-72C5-4B1D-8C68-775D7C11E872}"/>
              </a:ext>
            </a:extLst>
          </p:cNvPr>
          <p:cNvSpPr>
            <a:spLocks noGrp="1"/>
          </p:cNvSpPr>
          <p:nvPr/>
        </p:nvSpPr>
        <p:spPr>
          <a:xfrm>
            <a:off x="9229725" y="2000250"/>
            <a:ext cx="8562975" cy="476250"/>
          </a:xfrm>
          <a:prstGeom prst="rect">
            <a:avLst/>
          </a:prstGeom>
          <a:solidFill>
            <a:srgbClr val="FFF6DE"/>
          </a:solidFill>
          <a:ln w="9525">
            <a:solidFill>
              <a:srgbClr val="BCCAD2"/>
            </a:solidFill>
          </a:ln>
        </p:spPr>
        <p:txBody>
          <a:bodyPr wrap="none" lIns="123825" tIns="0" rIns="15240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B  독립 대화/업무 서비스의 별도 접수</a:t>
            </a:r>
            <a:endParaRPr lang="ko-KR">
              <a:solidFill>
                <a:srgbClr val="000000"/>
              </a:solidFill>
              <a:latin typeface="Calibri"/>
              <a:ea typeface="Calibri"/>
              <a:cs typeface="Calibri"/>
            </a:endParaRPr>
          </a:p>
        </p:txBody>
      </p:sp>
      <p:sp>
        <p:nvSpPr>
          <p:cNvPr id="10" name="v2-391-note">
            <a:extLst>
              <a:ext uri="{FF2B5EF4-FFF2-40B4-BE49-F238E27FC236}">
                <ns2:creationId id="{B8548C77-C475-4F68-92B0-C394F3BE6197}"/>
              </a:ext>
            </a:extLst>
          </p:cNvPr>
          <p:cNvSpPr>
            <a:spLocks noGrp="1"/>
          </p:cNvSpPr>
          <p:nvPr/>
        </p:nvSpPr>
        <p:spPr>
          <a:xfrm>
            <a:off x="495300" y="2571750"/>
            <a:ext cx="17297400" cy="400050"/>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Conversation / Request / Task / Execution의 서로 다른 논리 수명은 양안 공통입니다.</a:t>
            </a:r>
            <a:endParaRPr lang="ko-KR">
              <a:solidFill>
                <a:srgbClr val="000000"/>
              </a:solidFill>
              <a:latin typeface="Calibri"/>
              <a:ea typeface="Calibri"/>
              <a:cs typeface="Calibri"/>
            </a:endParaRPr>
          </a:p>
        </p:txBody>
      </p:sp>
      <p:sp>
        <p:nvSpPr>
          <p:cNvPr id="11" name="v2-392-VIA Core 실행 경계">
            <a:extLst>
              <a:ext uri="{FF2B5EF4-FFF2-40B4-BE49-F238E27FC236}">
                <ns2:creationId id="{139BF602-12F9-42FC-9552-39E3342CF415}"/>
              </a:ext>
            </a:extLst>
          </p:cNvPr>
          <p:cNvSpPr>
            <a:spLocks noGrp="1"/>
          </p:cNvSpPr>
          <p:nvPr/>
        </p:nvSpPr>
        <p:spPr>
          <a:xfrm>
            <a:off x="600075" y="3086100"/>
            <a:ext cx="8105775" cy="2962275"/>
          </a:xfrm>
          <a:prstGeom prst="rect">
            <a:avLst/>
          </a:prstGeom>
          <a:noFill/>
          <a:ln w="19050">
            <a:solidFill>
              <a:srgbClr val="BCCAD2"/>
            </a:solidFill>
          </a:ln>
        </p:spPr>
        <p:txBody>
          <a:bodyPr wrap="none" lIns="133350" tIns="38100" rIns="285750" bIns="240030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VIA Core 실행 경계</a:t>
            </a:r>
            <a:endParaRPr lang="ko-KR">
              <a:solidFill>
                <a:srgbClr val="000000"/>
              </a:solidFill>
              <a:latin typeface="Calibri"/>
              <a:ea typeface="Calibri"/>
              <a:cs typeface="Calibri"/>
            </a:endParaRPr>
          </a:p>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① 관계와 답변 명령을 같은 commit으로 확정</a:t>
            </a:r>
            <a:endParaRPr lang="ko-KR">
              <a:solidFill>
                <a:srgbClr val="000000"/>
              </a:solidFill>
              <a:latin typeface="Calibri"/>
              <a:ea typeface="Calibri"/>
              <a:cs typeface="Calibri"/>
            </a:endParaRPr>
          </a:p>
        </p:txBody>
      </p:sp>
      <p:sp>
        <p:nvSpPr>
          <p:cNvPr id="13" name="v2-394-Request Controller">
            <a:extLst>
              <a:ext uri="{FF2B5EF4-FFF2-40B4-BE49-F238E27FC236}">
                <ns2:creationId id="{B86DD99D-7A96-4036-9B83-0DE22C8D15D3}"/>
              </a:ext>
            </a:extLst>
          </p:cNvPr>
          <p:cNvSpPr>
            <a:spLocks noGrp="1"/>
          </p:cNvSpPr>
          <p:nvPr/>
        </p:nvSpPr>
        <p:spPr>
          <a:xfrm>
            <a:off x="885825" y="3705225"/>
            <a:ext cx="3238500" cy="5334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15" name="v2-396-Task Manager">
            <a:extLst>
              <a:ext uri="{FF2B5EF4-FFF2-40B4-BE49-F238E27FC236}">
                <ns2:creationId id="{A1FC5894-32F6-469C-8F67-1211AAF7DCFD}"/>
              </a:ext>
            </a:extLst>
          </p:cNvPr>
          <p:cNvSpPr>
            <a:spLocks noGrp="1"/>
          </p:cNvSpPr>
          <p:nvPr/>
        </p:nvSpPr>
        <p:spPr>
          <a:xfrm>
            <a:off x="5248275" y="3705225"/>
            <a:ext cx="3181350" cy="5334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17" name="v2-398-Request Graph State">
            <a:extLst>
              <a:ext uri="{FF2B5EF4-FFF2-40B4-BE49-F238E27FC236}">
                <ns2:creationId id="{664AAE4A-C183-49C3-8FCE-6C122DE0B48F}"/>
              </a:ext>
            </a:extLst>
          </p:cNvPr>
          <p:cNvSpPr>
            <a:spLocks noGrp="1"/>
          </p:cNvSpPr>
          <p:nvPr/>
        </p:nvSpPr>
        <p:spPr>
          <a:xfrm>
            <a:off x="895350" y="4505325"/>
            <a:ext cx="3209925" cy="476250"/>
          </a:xfrm>
          <a:prstGeom prst="can">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Request Graph State</a:t>
            </a:r>
            <a:endParaRPr lang="ko-KR">
              <a:solidFill>
                <a:srgbClr val="000000"/>
              </a:solidFill>
              <a:latin typeface="Calibri"/>
              <a:ea typeface="Calibri"/>
              <a:cs typeface="Calibri"/>
            </a:endParaRPr>
          </a:p>
        </p:txBody>
      </p:sp>
      <p:sp>
        <p:nvSpPr>
          <p:cNvPr id="19" name="v2-400-Task Command State">
            <a:extLst>
              <a:ext uri="{FF2B5EF4-FFF2-40B4-BE49-F238E27FC236}">
                <ns2:creationId id="{DCBB8B08-038B-4A7F-A726-9EADF66B2BDB}"/>
              </a:ext>
            </a:extLst>
          </p:cNvPr>
          <p:cNvSpPr>
            <a:spLocks noGrp="1"/>
          </p:cNvSpPr>
          <p:nvPr/>
        </p:nvSpPr>
        <p:spPr>
          <a:xfrm>
            <a:off x="5248275" y="4505325"/>
            <a:ext cx="3181350" cy="476250"/>
          </a:xfrm>
          <a:prstGeom prst="can">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Task Command State</a:t>
            </a:r>
            <a:endParaRPr lang="ko-KR">
              <a:solidFill>
                <a:srgbClr val="000000"/>
              </a:solidFill>
              <a:latin typeface="Calibri"/>
              <a:ea typeface="Calibri"/>
              <a:cs typeface="Calibri"/>
            </a:endParaRPr>
          </a:p>
        </p:txBody>
      </p:sp>
      <p:sp>
        <p:nvSpPr>
          <p:cNvPr id="21" name="v2-402-State Store">
            <a:extLst>
              <a:ext uri="{FF2B5EF4-FFF2-40B4-BE49-F238E27FC236}">
                <ns2:creationId id="{BD361CC8-45C9-4088-9CB1-741154F7CC61}"/>
              </a:ext>
            </a:extLst>
          </p:cNvPr>
          <p:cNvSpPr>
            <a:spLocks noGrp="1"/>
          </p:cNvSpPr>
          <p:nvPr/>
        </p:nvSpPr>
        <p:spPr>
          <a:xfrm>
            <a:off x="2667000" y="5105400"/>
            <a:ext cx="3952875" cy="923925"/>
          </a:xfrm>
          <a:prstGeom prst="rect">
            <a:avLst/>
          </a:prstGeom>
          <a:noFill/>
          <a:ln w="19050">
            <a:solidFill>
              <a:srgbClr val="BCCAD2"/>
            </a:solidFill>
          </a:ln>
        </p:spPr>
        <p:txBody>
          <a:bodyPr wrap="none" lIns="133350" tIns="38100" rIns="676275" bIns="523875"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State Store</a:t>
            </a:r>
            <a:endParaRPr lang="ko-KR">
              <a:solidFill>
                <a:srgbClr val="000000"/>
              </a:solidFill>
              <a:latin typeface="Calibri"/>
              <a:ea typeface="Calibri"/>
              <a:cs typeface="Calibri"/>
            </a:endParaRPr>
          </a:p>
        </p:txBody>
      </p:sp>
      <p:sp>
        <p:nvSpPr>
          <p:cNvPr id="23" name="v2-404-트랜잭션 관리자">
            <a:extLst>
              <a:ext uri="{FF2B5EF4-FFF2-40B4-BE49-F238E27FC236}">
                <ns2:creationId id="{CBDA0961-F191-4C1F-94DD-0ADFC35CEAF3}"/>
              </a:ext>
            </a:extLst>
          </p:cNvPr>
          <p:cNvSpPr>
            <a:spLocks noGrp="1"/>
          </p:cNvSpPr>
          <p:nvPr/>
        </p:nvSpPr>
        <p:spPr>
          <a:xfrm>
            <a:off x="2790825" y="5534025"/>
            <a:ext cx="3695700" cy="390525"/>
          </a:xfrm>
          <a:prstGeom prst="rect">
            <a:avLst/>
          </a:prstGeom>
          <a:solidFill>
            <a:srgbClr val="FFF6DE"/>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트랜잭션 관리자</a:t>
            </a:r>
            <a:endParaRPr lang="ko-KR">
              <a:solidFill>
                <a:srgbClr val="000000"/>
              </a:solidFill>
              <a:latin typeface="Calibri"/>
              <a:ea typeface="Calibri"/>
              <a:cs typeface="Calibri"/>
            </a:endParaRPr>
          </a:p>
        </p:txBody>
      </p:sp>
      <p:sp>
        <p:nvSpPr>
          <p:cNvPr id="25" name="v2-406-a-req-state">
            <a:extLst>
              <a:ext uri="{FF2B5EF4-FFF2-40B4-BE49-F238E27FC236}">
                <ns2:creationId id="{240C634D-1073-4761-B5EB-42E759E57458}"/>
              </a:ext>
            </a:extLst>
          </p:cNvPr>
          <p:cNvSpPr>
            <a:spLocks noGrp="1"/>
          </p:cNvSpPr>
          <p:nvPr/>
        </p:nvSpPr>
        <p:spPr>
          <a:xfrm>
            <a:off x="2505075" y="4238625"/>
            <a:ext cx="9525" cy="266700"/>
          </a:xfrm>
          <a:custGeom>
            <a:pathLst>
              <a:path w="9525" h="266700">
                <a:moveTo>
                  <a:pt x="0" y="0"/>
                </a:moveTo>
                <a:lnTo>
                  <a:pt x="0" y="266700"/>
                </a:lnTo>
              </a:path>
            </a:pathLst>
          </a:custGeom>
          <a:noFill/>
          <a:ln w="19050">
            <a:solidFill>
              <a:srgbClr val="576773"/>
            </a:solidFill>
            <a:prstDash val="dash"/>
          </a:ln>
        </p:spPr>
      </p:sp>
      <p:sp>
        <p:nvSpPr>
          <p:cNvPr id="26" name="v2-407-a-task-state">
            <a:extLst>
              <a:ext uri="{FF2B5EF4-FFF2-40B4-BE49-F238E27FC236}">
                <ns2:creationId id="{22A6E844-08C7-429B-BC35-7CAF2EC10AC9}"/>
              </a:ext>
            </a:extLst>
          </p:cNvPr>
          <p:cNvSpPr>
            <a:spLocks noGrp="1"/>
          </p:cNvSpPr>
          <p:nvPr/>
        </p:nvSpPr>
        <p:spPr>
          <a:xfrm>
            <a:off x="6838950" y="4238625"/>
            <a:ext cx="9525" cy="266700"/>
          </a:xfrm>
          <a:custGeom>
            <a:pathLst>
              <a:path w="9525" h="266700">
                <a:moveTo>
                  <a:pt x="0" y="0"/>
                </a:moveTo>
                <a:lnTo>
                  <a:pt x="0" y="266700"/>
                </a:lnTo>
              </a:path>
            </a:pathLst>
          </a:custGeom>
          <a:noFill/>
          <a:ln w="19050">
            <a:solidFill>
              <a:srgbClr val="576773"/>
            </a:solidFill>
            <a:prstDash val="dash"/>
          </a:ln>
        </p:spPr>
      </p:sp>
      <p:sp>
        <p:nvSpPr>
          <p:cNvPr id="27" name="v2-408-a-changes-1">
            <a:extLst>
              <a:ext uri="{FF2B5EF4-FFF2-40B4-BE49-F238E27FC236}">
                <ns2:creationId id="{803E5EBE-BFAA-4B0C-80E8-C62535123C29}"/>
              </a:ext>
            </a:extLst>
          </p:cNvPr>
          <p:cNvSpPr>
            <a:spLocks noGrp="1"/>
          </p:cNvSpPr>
          <p:nvPr/>
        </p:nvSpPr>
        <p:spPr>
          <a:xfrm>
            <a:off x="2609850" y="4076700"/>
            <a:ext cx="1695450" cy="1647825"/>
          </a:xfrm>
          <a:custGeom>
            <a:pathLst>
              <a:path w="1695450" h="1647825">
                <a:moveTo>
                  <a:pt x="1514475" y="0"/>
                </a:moveTo>
                <a:lnTo>
                  <a:pt x="1695450" y="0"/>
                </a:lnTo>
                <a:lnTo>
                  <a:pt x="1695450" y="1000125"/>
                </a:lnTo>
                <a:lnTo>
                  <a:pt x="0" y="1000125"/>
                </a:lnTo>
                <a:lnTo>
                  <a:pt x="0" y="1647825"/>
                </a:lnTo>
                <a:lnTo>
                  <a:pt x="180975" y="1647825"/>
                </a:lnTo>
              </a:path>
            </a:pathLst>
          </a:custGeom>
          <a:noFill/>
          <a:ln w="26670">
            <a:solidFill>
              <a:srgbClr val="00889A"/>
            </a:solidFill>
            <a:prstDash val="solid"/>
          </a:ln>
        </p:spPr>
      </p:sp>
      <p:sp>
        <p:nvSpPr>
          <p:cNvPr id="28" name="v2-409-a-changes-1-head">
            <a:extLst>
              <a:ext uri="{FF2B5EF4-FFF2-40B4-BE49-F238E27FC236}">
                <ns2:creationId id="{7F04471F-A1D8-4CDC-A840-5D2BCF388517}"/>
              </a:ext>
            </a:extLst>
          </p:cNvPr>
          <p:cNvSpPr>
            <a:spLocks noGrp="1"/>
          </p:cNvSpPr>
          <p:nvPr/>
        </p:nvSpPr>
        <p:spPr>
          <a:xfrm>
            <a:off x="2690517" y="5669727"/>
            <a:ext cx="100308" cy="109597"/>
          </a:xfrm>
          <a:custGeom>
            <a:pathLst>
              <a:path w="100308" h="109597">
                <a:moveTo>
                  <a:pt x="0" y="109597"/>
                </a:moveTo>
                <a:lnTo>
                  <a:pt x="100308" y="54798"/>
                </a:lnTo>
                <a:lnTo>
                  <a:pt x="0" y="0"/>
                </a:lnTo>
              </a:path>
            </a:pathLst>
          </a:custGeom>
          <a:noFill/>
          <a:ln w="26670">
            <a:solidFill>
              <a:srgbClr val="00889A"/>
            </a:solidFill>
            <a:prstDash val="solid"/>
          </a:ln>
        </p:spPr>
      </p:sp>
      <p:sp>
        <p:nvSpPr>
          <p:cNvPr id="29" name="v2-410-a-changes-2">
            <a:extLst>
              <a:ext uri="{FF2B5EF4-FFF2-40B4-BE49-F238E27FC236}">
                <ns2:creationId id="{4CFF3BF5-B33C-481E-BAAB-D33634F12846}"/>
              </a:ext>
            </a:extLst>
          </p:cNvPr>
          <p:cNvSpPr>
            <a:spLocks noGrp="1"/>
          </p:cNvSpPr>
          <p:nvPr/>
        </p:nvSpPr>
        <p:spPr>
          <a:xfrm>
            <a:off x="6486525" y="4076700"/>
            <a:ext cx="2105025" cy="1647825"/>
          </a:xfrm>
          <a:custGeom>
            <a:pathLst>
              <a:path w="2105025" h="1647825">
                <a:moveTo>
                  <a:pt x="1943100" y="0"/>
                </a:moveTo>
                <a:lnTo>
                  <a:pt x="2105025" y="0"/>
                </a:lnTo>
                <a:lnTo>
                  <a:pt x="2105025" y="1647825"/>
                </a:lnTo>
                <a:lnTo>
                  <a:pt x="0" y="1647825"/>
                </a:lnTo>
              </a:path>
            </a:pathLst>
          </a:custGeom>
          <a:noFill/>
          <a:ln w="26670">
            <a:solidFill>
              <a:srgbClr val="00889A"/>
            </a:solidFill>
            <a:prstDash val="solid"/>
          </a:ln>
        </p:spPr>
      </p:sp>
      <p:sp>
        <p:nvSpPr>
          <p:cNvPr id="30" name="v2-411-a-changes-2-head">
            <a:extLst>
              <a:ext uri="{FF2B5EF4-FFF2-40B4-BE49-F238E27FC236}">
                <ns2:creationId id="{74D0437F-7BAA-4CC4-AE7E-D62CF0442C56}"/>
              </a:ext>
            </a:extLst>
          </p:cNvPr>
          <p:cNvSpPr>
            <a:spLocks noGrp="1"/>
          </p:cNvSpPr>
          <p:nvPr/>
        </p:nvSpPr>
        <p:spPr>
          <a:xfrm>
            <a:off x="6486525" y="5669727"/>
            <a:ext cx="100308" cy="109597"/>
          </a:xfrm>
          <a:custGeom>
            <a:pathLst>
              <a:path w="100308" h="109597">
                <a:moveTo>
                  <a:pt x="100308" y="0"/>
                </a:moveTo>
                <a:lnTo>
                  <a:pt x="0" y="54798"/>
                </a:lnTo>
                <a:lnTo>
                  <a:pt x="100308" y="109597"/>
                </a:lnTo>
              </a:path>
            </a:pathLst>
          </a:custGeom>
          <a:noFill/>
          <a:ln w="26670">
            <a:solidFill>
              <a:srgbClr val="00889A"/>
            </a:solidFill>
            <a:prstDash val="solid"/>
          </a:ln>
        </p:spPr>
      </p:sp>
      <p:sp>
        <p:nvSpPr>
          <p:cNvPr id="31" name="v2-412-note">
            <a:extLst>
              <a:ext uri="{FF2B5EF4-FFF2-40B4-BE49-F238E27FC236}">
                <ns2:creationId id="{30895203-7188-4BE0-BE5D-3576BA8831FA}"/>
              </a:ext>
            </a:extLst>
          </p:cNvPr>
          <p:cNvSpPr>
            <a:spLocks noGrp="1"/>
          </p:cNvSpPr>
          <p:nvPr/>
        </p:nvSpPr>
        <p:spPr>
          <a:xfrm>
            <a:off x="6838950" y="5172075"/>
            <a:ext cx="1638300" cy="27622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검증된 변경</a:t>
            </a:r>
            <a:endParaRPr lang="ko-KR">
              <a:solidFill>
                <a:srgbClr val="000000"/>
              </a:solidFill>
              <a:latin typeface="Calibri"/>
              <a:ea typeface="Calibri"/>
              <a:cs typeface="Calibri"/>
            </a:endParaRPr>
          </a:p>
        </p:txBody>
      </p:sp>
      <p:sp>
        <p:nvSpPr>
          <p:cNvPr id="32" name="v2-413-note">
            <a:extLst>
              <a:ext uri="{FF2B5EF4-FFF2-40B4-BE49-F238E27FC236}">
                <ns2:creationId id="{C82C5941-D1FB-4FC1-AD04-A038CADD5385}"/>
              </a:ext>
            </a:extLst>
          </p:cNvPr>
          <p:cNvSpPr>
            <a:spLocks noGrp="1"/>
          </p:cNvSpPr>
          <p:nvPr/>
        </p:nvSpPr>
        <p:spPr>
          <a:xfrm>
            <a:off x="847725" y="5314950"/>
            <a:ext cx="1600200" cy="26670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공동 commit</a:t>
            </a:r>
            <a:endParaRPr lang="ko-KR">
              <a:solidFill>
                <a:srgbClr val="000000"/>
              </a:solidFill>
              <a:latin typeface="Calibri"/>
              <a:ea typeface="Calibri"/>
              <a:cs typeface="Calibri"/>
            </a:endParaRPr>
          </a:p>
        </p:txBody>
      </p:sp>
      <p:sp>
        <p:nvSpPr>
          <p:cNvPr id="33" name="v2-414-a-commit-1">
            <a:extLst>
              <a:ext uri="{FF2B5EF4-FFF2-40B4-BE49-F238E27FC236}">
                <ns2:creationId id="{8586ADC9-CD48-4BDD-9D76-62E7BA1C7D14}"/>
              </a:ext>
            </a:extLst>
          </p:cNvPr>
          <p:cNvSpPr>
            <a:spLocks noGrp="1"/>
          </p:cNvSpPr>
          <p:nvPr/>
        </p:nvSpPr>
        <p:spPr>
          <a:xfrm>
            <a:off x="2505075" y="4981575"/>
            <a:ext cx="285750" cy="857250"/>
          </a:xfrm>
          <a:custGeom>
            <a:pathLst>
              <a:path w="285750" h="857250">
                <a:moveTo>
                  <a:pt x="285750" y="857250"/>
                </a:moveTo>
                <a:lnTo>
                  <a:pt x="0" y="857250"/>
                </a:lnTo>
                <a:lnTo>
                  <a:pt x="0" y="0"/>
                </a:lnTo>
              </a:path>
            </a:pathLst>
          </a:custGeom>
          <a:noFill/>
          <a:ln w="23813">
            <a:solidFill>
              <a:srgbClr val="576773"/>
            </a:solidFill>
            <a:prstDash val="solid"/>
          </a:ln>
        </p:spPr>
      </p:sp>
      <p:sp>
        <p:nvSpPr>
          <p:cNvPr id="34" name="v2-415-a-commit-1-head">
            <a:extLst>
              <a:ext uri="{FF2B5EF4-FFF2-40B4-BE49-F238E27FC236}">
                <ns2:creationId id="{1480B6E3-DA22-406B-BCE8-EE2E7C183B90}"/>
              </a:ext>
            </a:extLst>
          </p:cNvPr>
          <p:cNvSpPr>
            <a:spLocks noGrp="1"/>
          </p:cNvSpPr>
          <p:nvPr/>
        </p:nvSpPr>
        <p:spPr>
          <a:xfrm>
            <a:off x="2450277" y="4981575"/>
            <a:ext cx="109597" cy="100308"/>
          </a:xfrm>
          <a:custGeom>
            <a:pathLst>
              <a:path w="109597" h="100308">
                <a:moveTo>
                  <a:pt x="109597" y="100308"/>
                </a:moveTo>
                <a:lnTo>
                  <a:pt x="54798" y="0"/>
                </a:lnTo>
                <a:lnTo>
                  <a:pt x="0" y="100308"/>
                </a:lnTo>
              </a:path>
            </a:pathLst>
          </a:custGeom>
          <a:noFill/>
          <a:ln w="23813">
            <a:solidFill>
              <a:srgbClr val="576773"/>
            </a:solidFill>
            <a:prstDash val="solid"/>
          </a:ln>
        </p:spPr>
      </p:sp>
      <p:sp>
        <p:nvSpPr>
          <p:cNvPr id="35" name="v2-416-a-commit-2">
            <a:extLst>
              <a:ext uri="{FF2B5EF4-FFF2-40B4-BE49-F238E27FC236}">
                <ns2:creationId id="{E2386388-FF39-42D3-8D09-C10C8FB0FFD8}"/>
              </a:ext>
            </a:extLst>
          </p:cNvPr>
          <p:cNvSpPr>
            <a:spLocks noGrp="1"/>
          </p:cNvSpPr>
          <p:nvPr/>
        </p:nvSpPr>
        <p:spPr>
          <a:xfrm>
            <a:off x="6486525" y="4981575"/>
            <a:ext cx="352425" cy="857250"/>
          </a:xfrm>
          <a:custGeom>
            <a:pathLst>
              <a:path w="352425" h="857250">
                <a:moveTo>
                  <a:pt x="0" y="857250"/>
                </a:moveTo>
                <a:lnTo>
                  <a:pt x="352425" y="857250"/>
                </a:lnTo>
                <a:lnTo>
                  <a:pt x="352425" y="0"/>
                </a:lnTo>
              </a:path>
            </a:pathLst>
          </a:custGeom>
          <a:noFill/>
          <a:ln w="23813">
            <a:solidFill>
              <a:srgbClr val="576773"/>
            </a:solidFill>
            <a:prstDash val="solid"/>
          </a:ln>
        </p:spPr>
      </p:sp>
      <p:sp>
        <p:nvSpPr>
          <p:cNvPr id="36" name="v2-417-a-commit-2-head">
            <a:extLst>
              <a:ext uri="{FF2B5EF4-FFF2-40B4-BE49-F238E27FC236}">
                <ns2:creationId id="{D6CBA312-86C5-4214-B3BD-75962147C197}"/>
              </a:ext>
            </a:extLst>
          </p:cNvPr>
          <p:cNvSpPr>
            <a:spLocks noGrp="1"/>
          </p:cNvSpPr>
          <p:nvPr/>
        </p:nvSpPr>
        <p:spPr>
          <a:xfrm>
            <a:off x="6784152" y="4981575"/>
            <a:ext cx="109597" cy="100308"/>
          </a:xfrm>
          <a:custGeom>
            <a:pathLst>
              <a:path w="109597" h="100308">
                <a:moveTo>
                  <a:pt x="109597" y="100308"/>
                </a:moveTo>
                <a:lnTo>
                  <a:pt x="54798" y="0"/>
                </a:lnTo>
                <a:lnTo>
                  <a:pt x="0" y="100308"/>
                </a:lnTo>
              </a:path>
            </a:pathLst>
          </a:custGeom>
          <a:noFill/>
          <a:ln w="23813">
            <a:solidFill>
              <a:srgbClr val="576773"/>
            </a:solidFill>
            <a:prstDash val="solid"/>
          </a:ln>
        </p:spPr>
      </p:sp>
      <p:sp>
        <p:nvSpPr>
          <p:cNvPr id="38" name="v2-419-note">
            <a:extLst>
              <a:ext uri="{FF2B5EF4-FFF2-40B4-BE49-F238E27FC236}">
                <ns2:creationId id="{DFFA5DA7-A09F-4607-A73D-3D006765E782}"/>
              </a:ext>
            </a:extLst>
          </p:cNvPr>
          <p:cNvSpPr>
            <a:spLocks noGrp="1"/>
          </p:cNvSpPr>
          <p:nvPr/>
        </p:nvSpPr>
        <p:spPr>
          <a:xfrm>
            <a:off x="952500" y="6115050"/>
            <a:ext cx="7620000" cy="21907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성공: 모두 반영 / 충돌과 실패: 모두 미반영</a:t>
            </a:r>
            <a:endParaRPr lang="ko-KR">
              <a:solidFill>
                <a:srgbClr val="000000"/>
              </a:solidFill>
              <a:latin typeface="Calibri"/>
              <a:ea typeface="Calibri"/>
              <a:cs typeface="Calibri"/>
            </a:endParaRPr>
          </a:p>
        </p:txBody>
      </p:sp>
      <p:sp>
        <p:nvSpPr>
          <p:cNvPr id="39" name="v2-420-대화 서비스 실행 경계">
            <a:extLst>
              <a:ext uri="{FF2B5EF4-FFF2-40B4-BE49-F238E27FC236}">
                <ns2:creationId id="{F78359B9-D5EB-45B8-90EC-5E4AF4BEFB17}"/>
              </a:ext>
            </a:extLst>
          </p:cNvPr>
          <p:cNvSpPr>
            <a:spLocks noGrp="1"/>
          </p:cNvSpPr>
          <p:nvPr/>
        </p:nvSpPr>
        <p:spPr>
          <a:xfrm>
            <a:off x="9334500" y="3086100"/>
            <a:ext cx="3771900" cy="2962275"/>
          </a:xfrm>
          <a:prstGeom prst="rect">
            <a:avLst/>
          </a:prstGeom>
          <a:noFill/>
          <a:ln w="19050">
            <a:solidFill>
              <a:srgbClr val="BCCAD2"/>
            </a:solidFill>
          </a:ln>
        </p:spPr>
        <p:txBody>
          <a:bodyPr wrap="none" lIns="133350" tIns="38100" rIns="495300" bIns="2562225"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대화 서비스 실행 경계</a:t>
            </a:r>
            <a:endParaRPr lang="ko-KR">
              <a:solidFill>
                <a:srgbClr val="000000"/>
              </a:solidFill>
              <a:latin typeface="Calibri"/>
              <a:ea typeface="Calibri"/>
              <a:cs typeface="Calibri"/>
            </a:endParaRPr>
          </a:p>
        </p:txBody>
      </p:sp>
      <p:sp>
        <p:nvSpPr>
          <p:cNvPr id="41" name="v2-422-Task 서비스 실행 경계">
            <a:extLst>
              <a:ext uri="{FF2B5EF4-FFF2-40B4-BE49-F238E27FC236}">
                <ns2:creationId id="{9CA7EA0E-CF8A-469A-A75A-FA57755BE5C7}"/>
              </a:ext>
            </a:extLst>
          </p:cNvPr>
          <p:cNvSpPr>
            <a:spLocks noGrp="1"/>
          </p:cNvSpPr>
          <p:nvPr/>
        </p:nvSpPr>
        <p:spPr>
          <a:xfrm>
            <a:off x="13849350" y="3086100"/>
            <a:ext cx="3857625" cy="2962275"/>
          </a:xfrm>
          <a:prstGeom prst="rect">
            <a:avLst/>
          </a:prstGeom>
          <a:noFill/>
          <a:ln w="19050">
            <a:solidFill>
              <a:srgbClr val="BCCAD2"/>
            </a:solidFill>
          </a:ln>
        </p:spPr>
        <p:txBody>
          <a:bodyPr wrap="none" lIns="133350" tIns="38100" rIns="581025" bIns="2562225"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Task 서비스 실행 경계</a:t>
            </a:r>
            <a:endParaRPr lang="ko-KR">
              <a:solidFill>
                <a:srgbClr val="000000"/>
              </a:solidFill>
              <a:latin typeface="Calibri"/>
              <a:ea typeface="Calibri"/>
              <a:cs typeface="Calibri"/>
            </a:endParaRPr>
          </a:p>
        </p:txBody>
      </p:sp>
      <p:sp>
        <p:nvSpPr>
          <p:cNvPr id="43" name="v2-424-Request Controller">
            <a:extLst>
              <a:ext uri="{FF2B5EF4-FFF2-40B4-BE49-F238E27FC236}">
                <ns2:creationId id="{3353AF42-9CCC-416B-B921-8985E4518B34}"/>
              </a:ext>
            </a:extLst>
          </p:cNvPr>
          <p:cNvSpPr>
            <a:spLocks noGrp="1"/>
          </p:cNvSpPr>
          <p:nvPr/>
        </p:nvSpPr>
        <p:spPr>
          <a:xfrm>
            <a:off x="9486900" y="3705225"/>
            <a:ext cx="3457575" cy="5334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45" name="v2-426-Task Manager">
            <a:extLst>
              <a:ext uri="{FF2B5EF4-FFF2-40B4-BE49-F238E27FC236}">
                <ns2:creationId id="{AC114813-EA14-40E4-BF58-17047CF2735B}"/>
              </a:ext>
            </a:extLst>
          </p:cNvPr>
          <p:cNvSpPr>
            <a:spLocks noGrp="1"/>
          </p:cNvSpPr>
          <p:nvPr/>
        </p:nvSpPr>
        <p:spPr>
          <a:xfrm>
            <a:off x="14001750" y="3705225"/>
            <a:ext cx="3552825" cy="5334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47" name="v2-428-Request Graph State">
            <a:extLst>
              <a:ext uri="{FF2B5EF4-FFF2-40B4-BE49-F238E27FC236}">
                <ns2:creationId id="{501A0703-94FF-4F8F-898E-34AF669788DD}"/>
              </a:ext>
            </a:extLst>
          </p:cNvPr>
          <p:cNvSpPr>
            <a:spLocks noGrp="1"/>
          </p:cNvSpPr>
          <p:nvPr/>
        </p:nvSpPr>
        <p:spPr>
          <a:xfrm>
            <a:off x="9496425" y="4619625"/>
            <a:ext cx="3438525" cy="523875"/>
          </a:xfrm>
          <a:prstGeom prst="can">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Request Graph State</a:t>
            </a:r>
            <a:endParaRPr lang="ko-KR">
              <a:solidFill>
                <a:srgbClr val="000000"/>
              </a:solidFill>
              <a:latin typeface="Calibri"/>
              <a:ea typeface="Calibri"/>
              <a:cs typeface="Calibri"/>
            </a:endParaRPr>
          </a:p>
        </p:txBody>
      </p:sp>
      <p:sp>
        <p:nvSpPr>
          <p:cNvPr id="49" name="v2-430-Task Command State">
            <a:extLst>
              <a:ext uri="{FF2B5EF4-FFF2-40B4-BE49-F238E27FC236}">
                <ns2:creationId id="{BF13F33A-50D1-42E0-9233-D12380CB3F6C}"/>
              </a:ext>
            </a:extLst>
          </p:cNvPr>
          <p:cNvSpPr>
            <a:spLocks noGrp="1"/>
          </p:cNvSpPr>
          <p:nvPr/>
        </p:nvSpPr>
        <p:spPr>
          <a:xfrm>
            <a:off x="14011275" y="4619625"/>
            <a:ext cx="3533775" cy="523875"/>
          </a:xfrm>
          <a:prstGeom prst="can">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Task Command State</a:t>
            </a:r>
            <a:endParaRPr lang="ko-KR">
              <a:solidFill>
                <a:srgbClr val="000000"/>
              </a:solidFill>
              <a:latin typeface="Calibri"/>
              <a:ea typeface="Calibri"/>
              <a:cs typeface="Calibri"/>
            </a:endParaRPr>
          </a:p>
        </p:txBody>
      </p:sp>
      <p:sp>
        <p:nvSpPr>
          <p:cNvPr id="51" name="v2-432-b-command">
            <a:extLst>
              <a:ext uri="{FF2B5EF4-FFF2-40B4-BE49-F238E27FC236}">
                <ns2:creationId id="{1A067E6E-DAA5-4208-BA82-BABF97BBB69E}"/>
              </a:ext>
            </a:extLst>
          </p:cNvPr>
          <p:cNvSpPr>
            <a:spLocks noGrp="1"/>
          </p:cNvSpPr>
          <p:nvPr/>
        </p:nvSpPr>
        <p:spPr>
          <a:xfrm>
            <a:off x="12944475" y="3886200"/>
            <a:ext cx="1057275" cy="9525"/>
          </a:xfrm>
          <a:custGeom>
            <a:pathLst>
              <a:path w="1057275" h="9525">
                <a:moveTo>
                  <a:pt x="0" y="0"/>
                </a:moveTo>
                <a:lnTo>
                  <a:pt x="1057275" y="0"/>
                </a:lnTo>
              </a:path>
            </a:pathLst>
          </a:custGeom>
          <a:noFill/>
          <a:ln w="26670">
            <a:solidFill>
              <a:srgbClr val="00889A"/>
            </a:solidFill>
            <a:prstDash val="solid"/>
          </a:ln>
        </p:spPr>
      </p:sp>
      <p:sp>
        <p:nvSpPr>
          <p:cNvPr id="52" name="v2-433-b-command-head">
            <a:extLst>
              <a:ext uri="{FF2B5EF4-FFF2-40B4-BE49-F238E27FC236}">
                <ns2:creationId id="{8B731CD2-84FB-488B-B6EA-7AD852C4B51E}"/>
              </a:ext>
            </a:extLst>
          </p:cNvPr>
          <p:cNvSpPr>
            <a:spLocks noGrp="1"/>
          </p:cNvSpPr>
          <p:nvPr/>
        </p:nvSpPr>
        <p:spPr>
          <a:xfrm>
            <a:off x="13901442" y="3831402"/>
            <a:ext cx="100308" cy="109597"/>
          </a:xfrm>
          <a:custGeom>
            <a:pathLst>
              <a:path w="100308" h="109597">
                <a:moveTo>
                  <a:pt x="0" y="109597"/>
                </a:moveTo>
                <a:lnTo>
                  <a:pt x="100308" y="54798"/>
                </a:lnTo>
                <a:lnTo>
                  <a:pt x="0" y="0"/>
                </a:lnTo>
              </a:path>
            </a:pathLst>
          </a:custGeom>
          <a:noFill/>
          <a:ln w="26670">
            <a:solidFill>
              <a:srgbClr val="00889A"/>
            </a:solidFill>
            <a:prstDash val="solid"/>
          </a:ln>
        </p:spPr>
      </p:sp>
      <p:sp>
        <p:nvSpPr>
          <p:cNvPr id="53" name="v2-434-note">
            <a:extLst>
              <a:ext uri="{FF2B5EF4-FFF2-40B4-BE49-F238E27FC236}">
                <ns2:creationId id="{6B4524E5-9C75-43F5-8FC9-8FA3AE8DC181}"/>
              </a:ext>
            </a:extLst>
          </p:cNvPr>
          <p:cNvSpPr>
            <a:spLocks noGrp="1"/>
          </p:cNvSpPr>
          <p:nvPr/>
        </p:nvSpPr>
        <p:spPr>
          <a:xfrm>
            <a:off x="12372975" y="3343275"/>
            <a:ext cx="2362200" cy="31432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② 같은 명령</a:t>
            </a:r>
            <a:endParaRPr lang="ko-KR">
              <a:solidFill>
                <a:srgbClr val="000000"/>
              </a:solidFill>
              <a:latin typeface="Calibri"/>
              <a:ea typeface="Calibri"/>
              <a:cs typeface="Calibri"/>
            </a:endParaRPr>
          </a:p>
        </p:txBody>
      </p:sp>
      <p:sp>
        <p:nvSpPr>
          <p:cNvPr id="54" name="v2-435-b-receipt">
            <a:extLst>
              <a:ext uri="{FF2B5EF4-FFF2-40B4-BE49-F238E27FC236}">
                <ns2:creationId id="{BB4CDD56-D2C4-488F-B4FC-166C47573D67}"/>
              </a:ext>
            </a:extLst>
          </p:cNvPr>
          <p:cNvSpPr>
            <a:spLocks noGrp="1"/>
          </p:cNvSpPr>
          <p:nvPr/>
        </p:nvSpPr>
        <p:spPr>
          <a:xfrm>
            <a:off x="12944475" y="4276725"/>
            <a:ext cx="1057275" cy="9525"/>
          </a:xfrm>
          <a:custGeom>
            <a:pathLst>
              <a:path w="1057275" h="9525">
                <a:moveTo>
                  <a:pt x="1057275" y="0"/>
                </a:moveTo>
                <a:lnTo>
                  <a:pt x="0" y="0"/>
                </a:lnTo>
              </a:path>
            </a:pathLst>
          </a:custGeom>
          <a:noFill/>
          <a:ln w="26670">
            <a:solidFill>
              <a:srgbClr val="00889A"/>
            </a:solidFill>
            <a:prstDash val="solid"/>
          </a:ln>
        </p:spPr>
      </p:sp>
      <p:sp>
        <p:nvSpPr>
          <p:cNvPr id="55" name="v2-436-b-receipt-head">
            <a:extLst>
              <a:ext uri="{FF2B5EF4-FFF2-40B4-BE49-F238E27FC236}">
                <ns2:creationId id="{49955673-FB77-43FB-82F9-20010FC8172C}"/>
              </a:ext>
            </a:extLst>
          </p:cNvPr>
          <p:cNvSpPr>
            <a:spLocks noGrp="1"/>
          </p:cNvSpPr>
          <p:nvPr/>
        </p:nvSpPr>
        <p:spPr>
          <a:xfrm>
            <a:off x="12944475" y="4221927"/>
            <a:ext cx="100308" cy="109597"/>
          </a:xfrm>
          <a:custGeom>
            <a:pathLst>
              <a:path w="100308" h="109597">
                <a:moveTo>
                  <a:pt x="100308" y="0"/>
                </a:moveTo>
                <a:lnTo>
                  <a:pt x="0" y="54798"/>
                </a:lnTo>
                <a:lnTo>
                  <a:pt x="100308" y="109597"/>
                </a:lnTo>
              </a:path>
            </a:pathLst>
          </a:custGeom>
          <a:noFill/>
          <a:ln w="26670">
            <a:solidFill>
              <a:srgbClr val="00889A"/>
            </a:solidFill>
            <a:prstDash val="solid"/>
          </a:ln>
        </p:spPr>
      </p:sp>
      <p:sp>
        <p:nvSpPr>
          <p:cNvPr id="56" name="v2-437-note">
            <a:extLst>
              <a:ext uri="{FF2B5EF4-FFF2-40B4-BE49-F238E27FC236}">
                <ns2:creationId id="{8AA3CE9F-6268-4370-94C9-FE99F778A898}"/>
              </a:ext>
            </a:extLst>
          </p:cNvPr>
          <p:cNvSpPr>
            <a:spLocks noGrp="1"/>
          </p:cNvSpPr>
          <p:nvPr/>
        </p:nvSpPr>
        <p:spPr>
          <a:xfrm>
            <a:off x="12934950" y="4343400"/>
            <a:ext cx="1438275" cy="28575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④ 접수 결과</a:t>
            </a:r>
            <a:endParaRPr lang="ko-KR">
              <a:solidFill>
                <a:srgbClr val="000000"/>
              </a:solidFill>
              <a:latin typeface="Calibri"/>
              <a:ea typeface="Calibri"/>
              <a:cs typeface="Calibri"/>
            </a:endParaRPr>
          </a:p>
        </p:txBody>
      </p:sp>
      <p:sp>
        <p:nvSpPr>
          <p:cNvPr id="57" name="v2-438-b-dialogue-commit">
            <a:extLst>
              <a:ext uri="{FF2B5EF4-FFF2-40B4-BE49-F238E27FC236}">
                <ns2:creationId id="{8B5741B1-8FEC-49D6-A438-5E9480DA70A9}"/>
              </a:ext>
            </a:extLst>
          </p:cNvPr>
          <p:cNvSpPr>
            <a:spLocks noGrp="1"/>
          </p:cNvSpPr>
          <p:nvPr/>
        </p:nvSpPr>
        <p:spPr>
          <a:xfrm>
            <a:off x="11210925" y="4238625"/>
            <a:ext cx="9525" cy="381000"/>
          </a:xfrm>
          <a:custGeom>
            <a:pathLst>
              <a:path w="9525" h="381000">
                <a:moveTo>
                  <a:pt x="0" y="0"/>
                </a:moveTo>
                <a:lnTo>
                  <a:pt x="0" y="381000"/>
                </a:lnTo>
              </a:path>
            </a:pathLst>
          </a:custGeom>
          <a:noFill/>
          <a:ln w="23813">
            <a:solidFill>
              <a:srgbClr val="576773"/>
            </a:solidFill>
            <a:prstDash val="solid"/>
          </a:ln>
        </p:spPr>
      </p:sp>
      <p:sp>
        <p:nvSpPr>
          <p:cNvPr id="58" name="v2-439-b-dialogue-commit-head">
            <a:extLst>
              <a:ext uri="{FF2B5EF4-FFF2-40B4-BE49-F238E27FC236}">
                <ns2:creationId id="{AE70578F-0070-4B3C-94FF-8CA1809CECC6}"/>
              </a:ext>
            </a:extLst>
          </p:cNvPr>
          <p:cNvSpPr>
            <a:spLocks noGrp="1"/>
          </p:cNvSpPr>
          <p:nvPr/>
        </p:nvSpPr>
        <p:spPr>
          <a:xfrm>
            <a:off x="11156127" y="4519317"/>
            <a:ext cx="109597" cy="100308"/>
          </a:xfrm>
          <a:custGeom>
            <a:pathLst>
              <a:path w="109597" h="100308">
                <a:moveTo>
                  <a:pt x="0" y="0"/>
                </a:moveTo>
                <a:lnTo>
                  <a:pt x="54798" y="100308"/>
                </a:lnTo>
                <a:lnTo>
                  <a:pt x="109597" y="0"/>
                </a:lnTo>
              </a:path>
            </a:pathLst>
          </a:custGeom>
          <a:noFill/>
          <a:ln w="23813">
            <a:solidFill>
              <a:srgbClr val="576773"/>
            </a:solidFill>
            <a:prstDash val="solid"/>
          </a:ln>
        </p:spPr>
      </p:sp>
      <p:sp>
        <p:nvSpPr>
          <p:cNvPr id="59" name="v2-440-b-task-commit">
            <a:extLst>
              <a:ext uri="{FF2B5EF4-FFF2-40B4-BE49-F238E27FC236}">
                <ns2:creationId id="{5E7A0CC9-03E6-4C0B-B9BC-7C3D0038B2BE}"/>
              </a:ext>
            </a:extLst>
          </p:cNvPr>
          <p:cNvSpPr>
            <a:spLocks noGrp="1"/>
          </p:cNvSpPr>
          <p:nvPr/>
        </p:nvSpPr>
        <p:spPr>
          <a:xfrm>
            <a:off x="15773400" y="4238625"/>
            <a:ext cx="9525" cy="381000"/>
          </a:xfrm>
          <a:custGeom>
            <a:pathLst>
              <a:path w="9525" h="381000">
                <a:moveTo>
                  <a:pt x="0" y="0"/>
                </a:moveTo>
                <a:lnTo>
                  <a:pt x="0" y="381000"/>
                </a:lnTo>
              </a:path>
            </a:pathLst>
          </a:custGeom>
          <a:noFill/>
          <a:ln w="23813">
            <a:solidFill>
              <a:srgbClr val="576773"/>
            </a:solidFill>
            <a:prstDash val="solid"/>
          </a:ln>
        </p:spPr>
      </p:sp>
      <p:sp>
        <p:nvSpPr>
          <p:cNvPr id="60" name="v2-441-b-task-commit-head">
            <a:extLst>
              <a:ext uri="{FF2B5EF4-FFF2-40B4-BE49-F238E27FC236}">
                <ns2:creationId id="{E2231EAB-CCF5-449F-BC0E-832E401A0EEA}"/>
              </a:ext>
            </a:extLst>
          </p:cNvPr>
          <p:cNvSpPr>
            <a:spLocks noGrp="1"/>
          </p:cNvSpPr>
          <p:nvPr/>
        </p:nvSpPr>
        <p:spPr>
          <a:xfrm>
            <a:off x="15718602" y="4519317"/>
            <a:ext cx="109597" cy="100308"/>
          </a:xfrm>
          <a:custGeom>
            <a:pathLst>
              <a:path w="109597" h="100308">
                <a:moveTo>
                  <a:pt x="0" y="0"/>
                </a:moveTo>
                <a:lnTo>
                  <a:pt x="54798" y="100308"/>
                </a:lnTo>
                <a:lnTo>
                  <a:pt x="109597" y="0"/>
                </a:lnTo>
              </a:path>
            </a:pathLst>
          </a:custGeom>
          <a:noFill/>
          <a:ln w="23813">
            <a:solidFill>
              <a:srgbClr val="576773"/>
            </a:solidFill>
            <a:prstDash val="solid"/>
          </a:ln>
        </p:spPr>
      </p:sp>
      <p:sp>
        <p:nvSpPr>
          <p:cNvPr id="61" name="v2-442-note">
            <a:extLst>
              <a:ext uri="{FF2B5EF4-FFF2-40B4-BE49-F238E27FC236}">
                <ns2:creationId id="{BF652CDA-470B-4AEC-ADC4-6339B46822D1}"/>
              </a:ext>
            </a:extLst>
          </p:cNvPr>
          <p:cNvSpPr>
            <a:spLocks noGrp="1"/>
          </p:cNvSpPr>
          <p:nvPr/>
        </p:nvSpPr>
        <p:spPr>
          <a:xfrm>
            <a:off x="9486900" y="5257800"/>
            <a:ext cx="3457575" cy="600075"/>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① 로컬 의도 저장</a:t>
            </a:r>
            <a:endParaRPr lang="ko-KR">
              <a:solidFill>
                <a:srgbClr val="000000"/>
              </a:solidFill>
              <a:latin typeface="Calibri"/>
              <a:ea typeface="Calibri"/>
              <a:cs typeface="Calibri"/>
            </a:endParaRPr>
          </a:p>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④ 접수 결과 별도 반영</a:t>
            </a:r>
            <a:endParaRPr lang="ko-KR">
              <a:solidFill>
                <a:srgbClr val="000000"/>
              </a:solidFill>
              <a:latin typeface="Calibri"/>
              <a:ea typeface="Calibri"/>
              <a:cs typeface="Calibri"/>
            </a:endParaRPr>
          </a:p>
        </p:txBody>
      </p:sp>
      <p:sp>
        <p:nvSpPr>
          <p:cNvPr id="62" name="v2-443-note">
            <a:extLst>
              <a:ext uri="{FF2B5EF4-FFF2-40B4-BE49-F238E27FC236}">
                <ns2:creationId id="{5E5CAF7C-6C9B-4FB0-991C-3A2D34AE36BA}"/>
              </a:ext>
            </a:extLst>
          </p:cNvPr>
          <p:cNvSpPr>
            <a:spLocks noGrp="1"/>
          </p:cNvSpPr>
          <p:nvPr/>
        </p:nvSpPr>
        <p:spPr>
          <a:xfrm>
            <a:off x="14001750" y="5257800"/>
            <a:ext cx="3552825" cy="600075"/>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③ 내부 접수와 상태 확정</a:t>
            </a:r>
            <a:endParaRPr lang="ko-KR">
              <a:solidFill>
                <a:srgbClr val="000000"/>
              </a:solidFill>
              <a:latin typeface="Calibri"/>
              <a:ea typeface="Calibri"/>
              <a:cs typeface="Calibri"/>
            </a:endParaRPr>
          </a:p>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외부 전송 가능 상태 저장</a:t>
            </a:r>
            <a:endParaRPr lang="ko-KR">
              <a:solidFill>
                <a:srgbClr val="000000"/>
              </a:solidFill>
              <a:latin typeface="Calibri"/>
              <a:ea typeface="Calibri"/>
              <a:cs typeface="Calibri"/>
            </a:endParaRPr>
          </a:p>
        </p:txBody>
      </p:sp>
      <p:sp>
        <p:nvSpPr>
          <p:cNvPr id="63" name="v2-444-note">
            <a:extLst>
              <a:ext uri="{FF2B5EF4-FFF2-40B4-BE49-F238E27FC236}">
                <ns2:creationId id="{1A65A9EF-9894-4C9B-8B31-7D294186E375}"/>
              </a:ext>
            </a:extLst>
          </p:cNvPr>
          <p:cNvSpPr>
            <a:spLocks noGrp="1"/>
          </p:cNvSpPr>
          <p:nvPr/>
        </p:nvSpPr>
        <p:spPr>
          <a:xfrm>
            <a:off x="495300" y="6334125"/>
            <a:ext cx="17297400" cy="38100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공통: 확정된 명령 → Agent Gateway → Downstream Agent의 실제 확인. 내부 접수는 외부 실행/확인 완료가 아님. 의미 모델은 transaction 밖</a:t>
            </a:r>
            <a:endParaRPr lang="ko-KR">
              <a:solidFill>
                <a:srgbClr val="000000"/>
              </a:solidFill>
              <a:latin typeface="Calibri"/>
              <a:ea typeface="Calibri"/>
              <a:cs typeface="Calibri"/>
            </a:endParaRPr>
          </a:p>
        </p:txBody>
      </p:sp>
      <p:sp>
        <p:nvSpPr>
          <p:cNvPr id="64" name="v2-445-a-cost">
            <a:extLst>
              <a:ext uri="{FF2B5EF4-FFF2-40B4-BE49-F238E27FC236}">
                <ns2:creationId id="{0423AD0F-0D0A-4EDA-8144-9FCEBA58EEC4}"/>
              </a:ext>
            </a:extLst>
          </p:cNvPr>
          <p:cNvSpPr>
            <a:spLocks noGrp="1"/>
          </p:cNvSpPr>
          <p:nvPr/>
        </p:nvSpPr>
        <p:spPr>
          <a:xfrm>
            <a:off x="495300" y="6743700"/>
            <a:ext cx="8372475"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A도 논리 수명 분리와 변경 국소화 가능</a:t>
            </a:r>
            <a:endParaRPr lang="ko-KR">
              <a:solidFill>
                <a:srgbClr val="000000"/>
              </a:solidFill>
              <a:latin typeface="Calibri"/>
              <a:ea typeface="Calibri"/>
              <a:cs typeface="Calibri"/>
            </a:endParaRPr>
          </a:p>
        </p:txBody>
      </p:sp>
      <p:sp>
        <p:nvSpPr>
          <p:cNvPr id="65" name="v2-446-b-cost">
            <a:extLst>
              <a:ext uri="{FF2B5EF4-FFF2-40B4-BE49-F238E27FC236}">
                <ns2:creationId id="{836D07BA-CC68-401E-91F5-71B277751DC4}"/>
              </a:ext>
            </a:extLst>
          </p:cNvPr>
          <p:cNvSpPr>
            <a:spLocks noGrp="1"/>
          </p:cNvSpPr>
          <p:nvPr/>
        </p:nvSpPr>
        <p:spPr>
          <a:xfrm>
            <a:off x="9239250" y="6743700"/>
            <a:ext cx="8553450"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B의 독립 운영은 조건부. 인계/재확인 비용</a:t>
            </a:r>
            <a:endParaRPr lang="ko-KR">
              <a:solidFill>
                <a:srgbClr val="000000"/>
              </a:solidFill>
              <a:latin typeface="Calibri"/>
              <a:ea typeface="Calibri"/>
              <a:cs typeface="Calibri"/>
            </a:endParaRPr>
          </a:p>
        </p:txBody>
      </p:sp>
      <ns0:graphicFrame xmlns:ns0="http://schemas.openxmlformats.org/presentationml/2006/main" xmlns:ns1="http://schemas.openxmlformats.org/drawingml/2006/main">
        <ns0:nvGraphicFramePr>
          <ns0:cNvPr id="133" name=""/>
          <ns0:cNvGraphicFramePr/>
          <ns0:nvPr/>
        </ns0:nvGraphicFramePr>
        <ns0:xfrm>
          <ns1:off x="495300" y="7258050"/>
          <ns1:ext cx="17297400" cy="2533650"/>
        </ns0:xfrm>
        <ns1:graphic>
          <ns1:graphicData uri="http://schemas.openxmlformats.org/drawingml/2006/table">
            <ns1:tbl>
              <ns1:tblPr/>
              <ns1:tblGrid>
                <ns1:gridCol w="4038600"/>
                <ns1:gridCol w="6629400"/>
                <ns1:gridCol w="6629400"/>
              </ns1:tblGrid>
              <ns1:tr h="381000">
                <ns1:tc>
                  <ns1:txBody>
                    <ns1:bodyPr/>
                    <ns1:lstStyle/>
                    <ns1:p>
                      <ns1:pPr algn="l">
                        <ns1:defRPr lang="ko-KR">
                          <ns1:solidFill>
                            <ns1:srgbClr val="000000"/>
                          </ns1:solidFill>
                          <ns1:latin typeface="Calibri"/>
                          <ns1:ea typeface="Calibri"/>
                          <ns1:cs typeface="Calibri"/>
                        </ns1:defRPr>
                      </ns1:pPr>
                      <ns1:r>
                        <ns1:rPr sz="1700" b="1" lang="ko-KR">
                          <ns1:solidFill>
                            <ns1:srgbClr val="000000"/>
                          </ns1:solidFill>
                          <ns1:latin typeface="Calibri"/>
                          <ns1:ea typeface="Calibri"/>
                          <ns1:cs typeface="Calibri"/>
                        </ns1:rPr>
                        <ns1:t>품질 지표 / 공통 28개</ns1:t>
                      </ns1:r>
                      <ns1:endParaRPr lang="ko-KR">
                        <ns1:solidFill>
                          <ns1:srgbClr val="000000"/>
                        </ns1:solidFill>
                        <ns1:latin typeface="Calibri"/>
                        <ns1:ea typeface="Calibri"/>
                        <ns1:cs typeface="Calibri"/>
                      </ns1:endParaRPr>
                    </ns1:p>
                  </ns1:txBody>
                  <ns1:tcPr marL="114300" marR="76200" marT="9525" marB="9525" anchor="ctr">
                    <ns1:solidFill>
                      <ns1:srgbClr val="C6E0B4"/>
                    </ns1:solidFill>
                  </ns1:tcPr>
                </ns1:tc>
                <ns1:tc>
                  <ns1:txBody>
                    <ns1:bodyPr/>
                    <ns1:lstStyle/>
                    <ns1:p>
                      <ns1:pPr algn="l">
                        <ns1:defRPr lang="ko-KR">
                          <ns1:solidFill>
                            <ns1:srgbClr val="000000"/>
                          </ns1:solidFill>
                          <ns1:latin typeface="Calibri"/>
                          <ns1:ea typeface="Calibri"/>
                          <ns1:cs typeface="Calibri"/>
                        </ns1:defRPr>
                      </ns1:pPr>
                      <ns1:r>
                        <ns1:rPr sz="1700" b="1" lang="ko-KR">
                          <ns1:solidFill>
                            <ns1:srgbClr val="000000"/>
                          </ns1:solidFill>
                          <ns1:latin typeface="Calibri"/>
                          <ns1:ea typeface="Calibri"/>
                          <ns1:cs typeface="Calibri"/>
                        </ns1:rPr>
                        <ns1:t>A: 평가 경로와 현재 상태</ns1:t>
                      </ns1:r>
                      <ns1:endParaRPr lang="ko-KR">
                        <ns1:solidFill>
                          <ns1:srgbClr val="000000"/>
                        </ns1:solidFill>
                        <ns1:latin typeface="Calibri"/>
                        <ns1:ea typeface="Calibri"/>
                        <ns1:cs typeface="Calibri"/>
                      </ns1:endParaRPr>
                    </ns1:p>
                  </ns1:txBody>
                  <ns1:tcPr marL="114300" marR="76200" marT="9525" marB="9525" anchor="ctr">
                    <ns1:solidFill>
                      <ns1:srgbClr val="C6E0B4"/>
                    </ns1:solidFill>
                  </ns1:tcPr>
                </ns1:tc>
                <ns1:tc>
                  <ns1:txBody>
                    <ns1:bodyPr/>
                    <ns1:lstStyle/>
                    <ns1:p>
                      <ns1:pPr algn="l">
                        <ns1:defRPr lang="ko-KR">
                          <ns1:solidFill>
                            <ns1:srgbClr val="000000"/>
                          </ns1:solidFill>
                          <ns1:latin typeface="Calibri"/>
                          <ns1:ea typeface="Calibri"/>
                          <ns1:cs typeface="Calibri"/>
                        </ns1:defRPr>
                      </ns1:pPr>
                      <ns1:r>
                        <ns1:rPr sz="1700" b="1" lang="ko-KR">
                          <ns1:solidFill>
                            <ns1:srgbClr val="000000"/>
                          </ns1:solidFill>
                          <ns1:latin typeface="Calibri"/>
                          <ns1:ea typeface="Calibri"/>
                          <ns1:cs typeface="Calibri"/>
                        </ns1:rPr>
                        <ns1:t>B: 평가 경로와 현재 상태</ns1:t>
                      </ns1:r>
                      <ns1:endParaRPr lang="ko-KR">
                        <ns1:solidFill>
                          <ns1:srgbClr val="000000"/>
                        </ns1:solidFill>
                        <ns1:latin typeface="Calibri"/>
                        <ns1:ea typeface="Calibri"/>
                        <ns1:cs typeface="Calibri"/>
                      </ns1:endParaRPr>
                    </ns1:p>
                  </ns1:txBody>
                  <ns1:tcPr marL="114300" marR="76200" marT="9525" marB="9525" anchor="ctr">
                    <ns1:solidFill>
                      <ns1:srgbClr val="C6E0B4"/>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QA01  첫 응답 지연시간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동점 예상 / 업무 접수 전 수행 안내</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동점 예상 / 업무 접수 전 수행 안내</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QA02  지칭 대상 식별 정확도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공통 검증 / 같은 지칭 결과 전달</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공통 검증 / 같은 지칭 결과 전달</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QA03  VIA 처리시간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관련 상태 공동 확정</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인계와 재확인의 전체 경로</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QA04  변경 범위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공동 상태 규칙과 형식의 수정</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독립 인계 규칙과 형식의 수정</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QA05  모델 사용 비용</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저장 외 실제 모델 청구</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IPC 외 실제 모델 청구</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QA06  최대 RAM 사용량</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측정 전 / 통합 상태와 queue</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측정 전 / process와 접수 상태</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bl>
          </ns1:graphicData>
        </ns1:graphic>
      </ns0:graphicFrame>
      <ns0:sp xmlns:ns0="http://schemas.openxmlformats.org/presentationml/2006/main" xmlns:ns1="http://schemas.openxmlformats.org/drawingml/2006/main" xmlns:ns2="http://schemas.microsoft.com/office/drawing/2014/main">
        <ns0:nvSpPr>
          <ns0:cNvPr id="67" name="v2-447-note">
            <ns1:extLst>
              <ns1:ext uri="{FF2B5EF4-FFF2-40B4-BE49-F238E27FC236}">
                <ns2:creationId id="{0817A034-44E0-4F6F-8DE0-FC2AB7C19328}"/>
              </ns1:ext>
            </ns1:extLst>
          </ns0:cNvPr>
          <ns0:cNvSpPr>
            <ns1:spLocks noGrp="1"/>
          </ns0:cNvSpPr>
          <ns0:nvPr/>
        </ns0:nvSpPr>
        <ns0:spPr>
          <ns1:xfrm>
            <ns1:off x="495300" y="9839325"/>
            <ns1:ext cx="17297400" cy="333375"/>
          </ns1:xfrm>
          <ns1:prstGeom prst="rect">
            <ns1:avLst/>
          </ns1:prstGeom>
          <ns1:noFill/>
          <ns1:ln w="0">
            <ns1:noFill/>
          </ns1:ln>
        </ns0:spPr>
        <ns0:txBody>
          <ns1:bodyPr wrap="none" lIns="0" tIns="0" rIns="0" bIns="0" anchor="ctr">
            <ns1:noAutofit/>
          </ns1:bodyPr>
          <ns1:lstStyle/>
          <ns1:p>
            <ns1:pPr algn="l">
              <ns1:defRPr sz="1700" b="0"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미측정. 공통 28개를 사용하며 지표와 목표 및 0~6점 기준은 Appendix QA01~QA09에서 확인한다.</ns1:t>
            </ns1:r>
            <ns1:endParaRPr lang="ko-KR">
              <ns1:solidFill>
                <ns1:srgbClr val="000000"/>
              </ns1:solidFill>
              <ns1:latin typeface="Calibri"/>
              <ns1:ea typeface="Calibri"/>
              <ns1:cs typeface="Calibri"/>
            </ns1:endParaRPr>
          </ns1:p>
        </ns0:txBody>
      </ns0:sp>
      <p:sp>
        <p:nvSpPr>
          <p:cNvPr id="134" name="v6-header-title">
            <a:extLst>
              <a:ext uri="{FF2B5EF4-FFF2-40B4-BE49-F238E27FC236}">
                <ns2:creationId id="{0CC03BDA-3BC7-44D6-ABE9-86C2521FC8D7}"/>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DP42. 변경 용이성을 위한 상태 관리 설계</a:t>
            </a:r>
            <a:endParaRPr lang="ko-KR">
              <a:latin typeface="Calibri"/>
              <a:ea typeface="Calibri"/>
              <a:cs typeface="Calibri"/>
            </a:endParaRPr>
          </a:p>
        </p:txBody>
      </p:sp>
      <p:sp>
        <p:nvSpPr>
          <p:cNvPr id="135" name="v6-header-rule">
            <a:extLst>
              <a:ext uri="{FF2B5EF4-FFF2-40B4-BE49-F238E27FC236}">
                <ns2:creationId id="{C20D0FCE-16F6-486D-A710-71B9AD3D7A5B}"/>
              </a:ext>
            </a:extLst>
          </p:cNvPr>
          <p:cNvSpPr>
            <a:spLocks noGrp="1"/>
          </p:cNvSpPr>
          <p:nvPr/>
        </p:nvSpPr>
        <p:spPr>
          <a:xfrm>
            <a:off x="495300" y="990600"/>
            <a:ext cx="17335500" cy="0"/>
          </a:xfrm>
          <a:prstGeom prst="line">
            <a:avLst/>
          </a:prstGeom>
          <a:noFill/>
          <a:ln w="19050">
            <a:solidFill>
              <a:srgbClr val="A6A6A6"/>
            </a:solidFill>
          </a:ln>
        </p:spPr>
      </p:sp>
      <p:sp>
        <p:nvSpPr>
          <p:cNvPr id="136" name="v6-header-stage-0">
            <a:extLst>
              <a:ext uri="{FF2B5EF4-FFF2-40B4-BE49-F238E27FC236}">
                <ns2:creationId id="{D25FACAF-58E9-4623-A70B-AECA4B72A3C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37" name="v6-header-stage-1">
            <a:extLst>
              <a:ext uri="{FF2B5EF4-FFF2-40B4-BE49-F238E27FC236}">
                <ns2:creationId id="{7C78AB4C-A233-4D71-8857-9EE01BF41ED2}"/>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38" name="v6-header-stage-2">
            <a:extLst>
              <a:ext uri="{FF2B5EF4-FFF2-40B4-BE49-F238E27FC236}">
                <ns2:creationId id="{B07A8181-0E4B-4EA5-A957-2B9EA0E49313}"/>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39" name="v6-header-stage-3">
            <a:extLst>
              <a:ext uri="{FF2B5EF4-FFF2-40B4-BE49-F238E27FC236}">
                <ns2:creationId id="{6B94C890-A4A3-47FA-940C-3005215E30AE}"/>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40" name="v6-header-stage-4">
            <a:extLst>
              <a:ext uri="{FF2B5EF4-FFF2-40B4-BE49-F238E27FC236}">
                <ns2:creationId id="{B23AE714-AD13-46F6-A763-D84690ECB6E7}"/>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41" name="v6-header-page">
            <a:extLst>
              <a:ext uri="{FF2B5EF4-FFF2-40B4-BE49-F238E27FC236}">
                <ns2:creationId id="{9F379D8E-5A73-43C9-911C-963B56C66A8C}"/>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21 / 33</a:t>
            </a:r>
            <a:endParaRPr lang="ko-KR">
              <a:latin typeface="Calibri"/>
              <a:ea typeface="Calibri"/>
              <a:cs typeface="Calibri"/>
            </a:endParaRPr>
          </a:p>
        </p:txBody>
      </p:sp>
    </p:spTree>
    <p:extLst>
      <p:ext uri="{BB962C8B-B14F-4D97-AF65-F5344CB8AC3E}">
        <p14:creationId val="91206412"/>
      </p:ext>
    </p:extLst>
  </p:cSld>
</p:sld>
</file>

<file path=ppt/slides/slide55.xml><?xml version="1.0" encoding="utf-8"?>
<p:sld xmlns:a="http://schemas.openxmlformats.org/drawingml/2006/main" xmlns:ns2="http://schemas.microsoft.com/office/drawing/2014/main" xmlns:p="http://schemas.openxmlformats.org/presentationml/2006/main" xmlns:p14="http://schemas.microsoft.com/office/powerpoint/2010/main">
  <p:cSld name="coverage-summary">
    <p:bg>
      <p:bgPr>
        <a:solidFill>
          <a:srgbClr val="FFFFFF"/>
        </a:solidFill>
      </p:bgPr>
    </p:bg>
    <p:spTree>
      <p:nvGrpSpPr>
        <p:cNvPr id="1" name=""/>
        <p:cNvGrpSpPr/>
        <p:nvPr/>
      </p:nvGrpSpPr>
      <p:grpSpPr>
        <a:xfrm/>
      </p:grpSpPr>
      <p:graphicFrame xmlns:a="http://schemas.openxmlformats.org/drawingml/2006/main" xmlns:p="http://schemas.openxmlformats.org/presentationml/2006/main">
        <p:nvGraphicFramePr>
          <p:cNvPr id="13" name=""/>
          <p:cNvGraphicFramePr/>
          <p:nvPr/>
        </p:nvGraphicFramePr>
        <p:xfrm>
          <a:off x="495300" y="1962150"/>
          <a:ext cx="17297400" cy="4200525"/>
        </p:xfrm>
        <a:graphic>
          <a:graphicData uri="http://schemas.openxmlformats.org/drawingml/2006/table">
            <a:tbl>
              <a:tblPr/>
              <a:tblGrid>
                <a:gridCol w="3667125"/>
                <a:gridCol w="3714750"/>
                <a:gridCol w="9915525"/>
              </a:tblGrid>
              <a:tr h="552450">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설계 질문</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직접 다루는 기능</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buNone/>
                        <a:defRPr lang="ko-KR">
                          <a:latin typeface="Calibri"/>
                          <a:ea typeface="Calibri"/>
                          <a:cs typeface="Calibri"/>
                        </a:defRPr>
                      </a:pPr>
                      <a:r>
                        <a:rPr sz="2300" b="1" lang="ko-KR">
                          <a:solidFill>
                            <a:srgbClr val="000000"/>
                          </a:solidFill>
                          <a:latin typeface="Calibri"/>
                          <a:ea typeface="Calibri"/>
                          <a:cs typeface="Calibri"/>
                        </a:rPr>
                        <a:t>구조 비교와 탐색 범위</a:t>
                      </a:r>
                      <a:endParaRPr lang="ko-KR">
                        <a:solidFill>
                          <a:srgbClr val="000000"/>
                        </a:solidFill>
                        <a:latin typeface="Calibri"/>
                        <a:ea typeface="Calibri"/>
                        <a:cs typeface="Calibri"/>
                      </a:endParaRPr>
                    </a:p>
                  </a:txBody>
                  <a:tcPr marL="114300" marR="76200" marT="47625" marB="47625" anchor="ctr">
                    <a:solidFill>
                      <a:srgbClr val="C6E0B4"/>
                    </a:solidFill>
                  </a:tcPr>
                </a:tc>
              </a:tr>
              <a:tr h="912019">
                <a:tc>
                  <a:txBody>
                    <a:bodyPr/>
                    <a:lstStyle/>
                    <a:p>
                      <a:pPr algn="l">
                        <a:buNone/>
                        <a:defRPr lang="ko-KR">
                          <a:latin typeface="Calibri"/>
                          <a:ea typeface="Calibri"/>
                          <a:cs typeface="Calibri"/>
                        </a:defRPr>
                      </a:pPr>
                      <a:r>
                        <a:rPr sz="2300" b="0" lang="ko-KR">
                          <a:solidFill>
                            <a:srgbClr val="000000"/>
                          </a:solidFill>
                          <a:latin typeface="Calibri"/>
                          <a:ea typeface="Calibri"/>
                          <a:cs typeface="Calibri"/>
                        </a:rPr>
                        <a:t>화면·음성 지칭 (문제)</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buNone/>
                        <a:defRPr lang="ko-KR">
                          <a:latin typeface="Calibri"/>
                          <a:ea typeface="Calibri"/>
                          <a:cs typeface="Calibri"/>
                        </a:defRPr>
                      </a:pPr>
                      <a:r>
                        <a:rPr sz="2300" b="0" lang="ko-KR">
                          <a:solidFill>
                            <a:srgbClr val="000000"/>
                          </a:solidFill>
                          <a:latin typeface="Calibri"/>
                          <a:ea typeface="Calibri"/>
                          <a:cs typeface="Calibri"/>
                        </a:rPr>
                        <a:t>FR1 / FR2</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buNone/>
                        <a:defRPr lang="ko-KR">
                          <a:latin typeface="Calibri"/>
                          <a:ea typeface="Calibri"/>
                          <a:cs typeface="Calibri"/>
                        </a:defRPr>
                      </a:pPr>
                      <a:r>
                        <a:rPr sz="2300" b="0" lang="ko-KR">
                          <a:solidFill>
                            <a:srgbClr val="000000"/>
                          </a:solidFill>
                          <a:latin typeface="Calibri"/>
                          <a:ea typeface="Calibri"/>
                          <a:cs typeface="Calibri"/>
                        </a:rPr>
                        <a:t>당시 화면과 지칭 연결, 정정 반영 (대안 탐색 전)</a:t>
                      </a:r>
                      <a:endParaRPr lang="ko-KR">
                        <a:solidFill>
                          <a:srgbClr val="000000"/>
                        </a:solidFill>
                        <a:latin typeface="Calibri"/>
                        <a:ea typeface="Calibri"/>
                        <a:cs typeface="Calibri"/>
                      </a:endParaRPr>
                    </a:p>
                  </a:txBody>
                  <a:tcPr marL="114300" marR="76200" marT="47625" marB="47625" anchor="ctr">
                    <a:solidFill>
                      <a:srgbClr val="FFFFFF"/>
                    </a:solidFill>
                  </a:tcPr>
                </a:tc>
              </a:tr>
              <a:tr h="912019">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44  지속 대화 실행</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FR1 / FR3 / FR4</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완료 회수와 후속 지시, 단계별 상태와 게시 조건</a:t>
                      </a:r>
                      <a:endParaRPr lang="ko-KR">
                        <a:solidFill>
                          <a:srgbClr val="000000"/>
                        </a:solidFill>
                        <a:latin typeface="Calibri"/>
                        <a:ea typeface="Calibri"/>
                        <a:cs typeface="Calibri"/>
                      </a:endParaRPr>
                    </a:p>
                  </a:txBody>
                  <a:tcPr marL="114300" marR="76200" marT="47625" marB="47625" anchor="ctr">
                    <a:solidFill>
                      <a:srgbClr val="FFFFFF"/>
                    </a:solidFill>
                  </a:tcPr>
                </a:tc>
              </a:tr>
              <a:tr h="912019">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45  과거 맥락 제공</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FR6</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요청별 구성과 공통 관계 생산의 시점, coverage와 철회</a:t>
                      </a:r>
                      <a:endParaRPr lang="ko-KR">
                        <a:solidFill>
                          <a:srgbClr val="000000"/>
                        </a:solidFill>
                        <a:latin typeface="Calibri"/>
                        <a:ea typeface="Calibri"/>
                        <a:cs typeface="Calibri"/>
                      </a:endParaRPr>
                    </a:p>
                  </a:txBody>
                  <a:tcPr marL="114300" marR="76200" marT="47625" marB="47625" anchor="ctr">
                    <a:solidFill>
                      <a:srgbClr val="FFFFFF"/>
                    </a:solidFill>
                  </a:tcPr>
                </a:tc>
              </a:tr>
              <a:tr h="912019">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42  대화와 업무 상태</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FR4 / FR5</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공동 확정과 독립 접수, 외부 확인과 재연결</a:t>
                      </a:r>
                      <a:endParaRPr lang="ko-KR">
                        <a:solidFill>
                          <a:srgbClr val="000000"/>
                        </a:solidFill>
                        <a:latin typeface="Calibri"/>
                        <a:ea typeface="Calibri"/>
                        <a:cs typeface="Calibri"/>
                      </a:endParaRPr>
                    </a:p>
                  </a:txBody>
                  <a:tcPr marL="114300" marR="76200" marT="47625" marB="47625" anchor="ctr">
                    <a:solidFill>
                      <a:srgbClr val="FFFFFF"/>
                    </a:solidFill>
                  </a:tcPr>
                </a:tc>
              </a:tr>
            </a:tbl>
          </a:graphicData>
        </a:graphic>
      </p:graphicFrame>
      <ns0:sp xmlns:ns0="http://schemas.openxmlformats.org/presentationml/2006/main" xmlns:ns1="http://schemas.openxmlformats.org/drawingml/2006/main" xmlns:ns2="http://schemas.microsoft.com/office/drawing/2014/main">
        <ns0:nvSpPr>
          <ns0:cNvPr id="6" name="v2-452-scope-qa">
            <ns1:extLst>
              <ns1:ext uri="{FF2B5EF4-FFF2-40B4-BE49-F238E27FC236}">
                <ns2:creationId id="{B094ED3D-0AF3-49CE-95EA-E2646EAB06BE}"/>
              </ns1:ext>
            </ns1:extLst>
          </ns0:cNvPr>
          <ns0:cNvSpPr>
            <ns1:spLocks noGrp="1"/>
          </ns0:cNvSpPr>
          <ns0:nvPr/>
        </ns0:nvSpPr>
        <ns0:spPr>
          <ns1:xfrm>
            <ns1:off x="495300" y="6819900"/>
            <ns1:ext cx="17297400" cy="542925"/>
          </ns1:xfrm>
          <ns1:prstGeom prst="rect">
            <ns1:avLst/>
          </ns1:prstGeom>
          <ns1:noFill/>
          <ns1:ln w="0">
            <ns1:noFill/>
          </ns1:ln>
        </ns0:spPr>
        <ns0:txBody>
          <ns1:bodyPr wrap="none" lIns="0" tIns="0" rIns="0" bIns="0" anchor="ctr">
            <ns1:noAutofit/>
          </ns1:bodyPr>
          <ns1:lstStyle/>
          <ns1:p>
            <ns1:pPr algn="l">
              <ns1:defRPr sz="2300" b="1" lang="ko-KR">
                <ns1:solidFill>
                  <ns1:srgbClr val="000000"/>
                </ns1:solidFill>
                <ns1:latin typeface="Calibri"/>
                <ns1:ea typeface="Calibri"/>
                <ns1:cs typeface="Calibri"/>
              </ns1:defRPr>
            </ns1:pPr>
            <ns1:r>
              <ns1:rPr sz="2300" b="1" lang="ko-KR">
                <ns1:solidFill>
                  <ns1:srgbClr val="000000"/>
                </ns1:solidFill>
                <ns1:latin typeface="Calibri"/>
                <ns1:ea typeface="Calibri"/>
                <ns1:cs typeface="Calibri"/>
              </ns1:rPr>
              <ns1:t>첫 응답 지연시간 / 지칭 대상 식별 정확도 / VIA 처리시간 / 변경 범위 / 모델 사용 비용 / 최대 RAM 사용량</ns1:t>
            </ns1:r>
            <ns1:endParaRPr lang="ko-KR">
              <ns1:solidFill>
                <ns1:srgbClr val="000000"/>
              </ns1:solidFill>
              <ns1:latin typeface="Calibri"/>
              <ns1:ea typeface="Calibri"/>
              <ns1:cs typeface="Calibri"/>
            </ns1:endParaRPr>
          </ns1:p>
        </ns0:txBody>
      </ns0:sp>
      <p:sp>
        <p:nvSpPr>
          <p:cNvPr id="7" name="v2-453-scope-common">
            <a:extLst>
              <a:ext uri="{FF2B5EF4-FFF2-40B4-BE49-F238E27FC236}">
                <ns2:creationId id="{9139FE79-EE20-4B91-AEED-AAADA246D422}"/>
              </a:ext>
            </a:extLst>
          </p:cNvPr>
          <p:cNvSpPr>
            <a:spLocks noGrp="1"/>
          </p:cNvSpPr>
          <p:nvPr/>
        </p:nvSpPr>
        <p:spPr>
          <a:xfrm>
            <a:off x="495300" y="7896225"/>
            <a:ext cx="17297400" cy="1104900"/>
          </a:xfrm>
          <a:prstGeom prst="rect">
            <a:avLst/>
          </a:prstGeom>
          <a:noFill/>
          <a:ln w="0">
            <a:noFill/>
          </a:ln>
        </p:spPr>
        <p:txBody>
          <a:bodyPr wrap="none" lIns="0" tIns="0" rIns="0" bIns="0" anchor="ctr">
            <a:noAutofit/>
          </a:bodyPr>
          <a:lstStyle/>
          <a:p>
            <a:pPr algn="l">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로컬 입력과 VAD / 같은 허용 근거 / 최신성 및 권한 검사 / 실제 전달 기록</a:t>
            </a:r>
            <a:endParaRPr lang="ko-KR">
              <a:solidFill>
                <a:srgbClr val="000000"/>
              </a:solidFill>
              <a:latin typeface="Calibri"/>
              <a:ea typeface="Calibri"/>
              <a:cs typeface="Calibri"/>
            </a:endParaRPr>
          </a:p>
          <a:p>
            <a:pPr algn="l">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별도 클라우드 음성/의미 모델 / 외부 업무 AI의 실제 실행과 확인</a:t>
            </a:r>
            <a:endParaRPr lang="ko-KR">
              <a:solidFill>
                <a:srgbClr val="000000"/>
              </a:solidFill>
              <a:latin typeface="Calibri"/>
              <a:ea typeface="Calibri"/>
              <a:cs typeface="Calibri"/>
            </a:endParaRPr>
          </a:p>
        </p:txBody>
      </p:sp>
      <p:sp xmlns:a="http://schemas.openxmlformats.org/drawingml/2006/main" xmlns:ns2="http://schemas.microsoft.com/office/drawing/2014/main" xmlns:p="http://schemas.openxmlformats.org/presentationml/2006/main">
        <p:nvSpPr>
          <p:cNvPr id="8" name="v2-454-note">
            <a:extLst>
              <a:ext uri="{FF2B5EF4-FFF2-40B4-BE49-F238E27FC236}">
                <ns2:creationId id="{F008C9BB-EBE5-4CF8-B747-3713110F9063}"/>
              </a:ext>
            </a:extLst>
          </p:cNvPr>
          <p:cNvSpPr>
            <a:spLocks noGrp="1"/>
          </p:cNvSpPr>
          <p:nvPr/>
        </p:nvSpPr>
        <p:spPr>
          <a:xfrm>
            <a:off x="495300" y="9448800"/>
            <a:ext cx="17297400" cy="476250"/>
          </a:xfrm>
          <a:prstGeom prst="rect">
            <a:avLst/>
          </a:prstGeom>
          <a:noFill/>
          <a:ln w="0">
            <a:noFill/>
          </a:ln>
        </p:spPr>
        <p:txBody>
          <a:bodyPr wrap="none" lIns="0" tIns="0" rIns="0" bIns="0" anchor="ctr">
            <a:noAutofit/>
          </a:bodyPr>
          <a:lstStyle/>
          <a:p>
            <a:pPr algn="l">
              <a:buNone/>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44·45·42는 A/B를 검토하고, 화면·음성 주제는 문제를 탐색합니다. 채택안과 실측 승자는 미정입니다.</a:t>
            </a:r>
            <a:endParaRPr lang="ko-KR">
              <a:solidFill>
                <a:srgbClr val="000000"/>
              </a:solidFill>
              <a:latin typeface="Calibri"/>
              <a:ea typeface="Calibri"/>
              <a:cs typeface="Calibri"/>
            </a:endParaRPr>
          </a:p>
        </p:txBody>
      </p:sp>
      <p:sp>
        <p:nvSpPr>
          <p:cNvPr id="14" name="v6-header-title">
            <a:extLst>
              <a:ext uri="{FF2B5EF4-FFF2-40B4-BE49-F238E27FC236}">
                <ns2:creationId id="{ED54AD29-D790-4DBF-BD80-DD84BA31EE65}"/>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기능 범위와 공통 계약</a:t>
            </a:r>
            <a:endParaRPr lang="ko-KR">
              <a:latin typeface="Calibri"/>
              <a:ea typeface="Calibri"/>
              <a:cs typeface="Calibri"/>
            </a:endParaRPr>
          </a:p>
        </p:txBody>
      </p:sp>
      <p:sp>
        <p:nvSpPr>
          <p:cNvPr id="15" name="v6-header-rule">
            <a:extLst>
              <a:ext uri="{FF2B5EF4-FFF2-40B4-BE49-F238E27FC236}">
                <ns2:creationId id="{861ABFE8-5FAA-4F5D-B4DC-11DD1DC830C6}"/>
              </a:ext>
            </a:extLst>
          </p:cNvPr>
          <p:cNvSpPr>
            <a:spLocks noGrp="1"/>
          </p:cNvSpPr>
          <p:nvPr/>
        </p:nvSpPr>
        <p:spPr>
          <a:xfrm>
            <a:off x="495300" y="990600"/>
            <a:ext cx="17335500" cy="0"/>
          </a:xfrm>
          <a:prstGeom prst="line">
            <a:avLst/>
          </a:prstGeom>
          <a:noFill/>
          <a:ln w="19050">
            <a:solidFill>
              <a:srgbClr val="A6A6A6"/>
            </a:solidFill>
          </a:ln>
        </p:spPr>
      </p:sp>
      <p:sp>
        <p:nvSpPr>
          <p:cNvPr id="16" name="v6-header-stage-0">
            <a:extLst>
              <a:ext uri="{FF2B5EF4-FFF2-40B4-BE49-F238E27FC236}">
                <ns2:creationId id="{3D829407-3EAB-409D-98D7-0CF84466BA5E}"/>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7" name="v6-header-stage-1">
            <a:extLst>
              <a:ext uri="{FF2B5EF4-FFF2-40B4-BE49-F238E27FC236}">
                <ns2:creationId id="{C873CA48-9E79-4BB6-9F3B-DD341F84B3B9}"/>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8" name="v6-header-stage-2">
            <a:extLst>
              <a:ext uri="{FF2B5EF4-FFF2-40B4-BE49-F238E27FC236}">
                <ns2:creationId id="{27C533BA-1B5A-49A7-A3A6-87920C3F1418}"/>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9" name="v6-header-stage-3">
            <a:extLst>
              <a:ext uri="{FF2B5EF4-FFF2-40B4-BE49-F238E27FC236}">
                <ns2:creationId id="{134607DB-A6A0-43D4-9BEE-E11FCD991850}"/>
              </a:ext>
            </a:extLst>
          </p:cNvPr>
          <p:cNvSpPr>
            <a:spLocks noGrp="1"/>
          </p:cNvSpPr>
          <p:nvPr/>
        </p:nvSpPr>
        <p:spPr>
          <a:xfrm>
            <a:off x="150304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0" name="v6-header-stage-4">
            <a:extLst>
              <a:ext uri="{FF2B5EF4-FFF2-40B4-BE49-F238E27FC236}">
                <ns2:creationId id="{263E6336-A570-4794-B9CA-9C12EAB49C25}"/>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1" name="v6-header-page">
            <a:extLst>
              <a:ext uri="{FF2B5EF4-FFF2-40B4-BE49-F238E27FC236}">
                <ns2:creationId id="{83E6AE8E-60B4-4147-8614-501A90B9A098}"/>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23 / 33</a:t>
            </a:r>
            <a:endParaRPr lang="ko-KR">
              <a:latin typeface="Calibri"/>
              <a:ea typeface="Calibri"/>
              <a:cs typeface="Calibri"/>
            </a:endParaRPr>
          </a:p>
        </p:txBody>
      </p:sp>
    </p:spTree>
    <p:extLst>
      <p:ext uri="{BB962C8B-B14F-4D97-AF65-F5344CB8AC3E}">
        <p14:creationId val="552916902"/>
      </p:ext>
    </p:extLst>
  </p:cSld>
</p:sld>
</file>

<file path=ppt/slides/slide56.xml><?xml version="1.0" encoding="utf-8"?>
<p:sld xmlns:a="http://schemas.openxmlformats.org/drawingml/2006/main" xmlns:ns2="http://schemas.microsoft.com/office/drawing/2014/main" xmlns:p="http://schemas.openxmlformats.org/presentationml/2006/main" xmlns:p14="http://schemas.microsoft.com/office/powerpoint/2010/main">
  <p:cSld name="next-validation">
    <p:bg>
      <p:bgPr>
        <a:solidFill>
          <a:srgbClr val="FFFFFF"/>
        </a:solidFill>
      </p:bgPr>
    </p:bg>
    <p:spTree>
      <p:nvGrpSpPr>
        <p:cNvPr id="1" name=""/>
        <p:cNvGrpSpPr/>
        <p:nvPr/>
      </p:nvGrpSpPr>
      <p:grpSpPr>
        <a:xfrm/>
      </p:grpSpPr>
      <ns0:graphicFrame xmlns:ns0="http://schemas.openxmlformats.org/presentationml/2006/main" xmlns:ns1="http://schemas.openxmlformats.org/drawingml/2006/main">
        <ns0:nvGraphicFramePr>
          <ns0:cNvPr id="12" name=""/>
          <ns0:cNvGraphicFramePr/>
          <ns0:nvPr/>
        </ns0:nvGraphicFramePr>
        <ns0:xfrm>
          <ns1:off x="495300" y="2124075"/>
          <ns1:ext cx="17297400" cy="4438650"/>
        </ns0:xfrm>
        <ns1:graphic>
          <ns1:graphicData uri="http://schemas.openxmlformats.org/drawingml/2006/table">
            <ns1:tbl>
              <ns1:tblPr/>
              <ns1:tblGrid>
                <ns1:gridCol w="3057525"/>
                <ns1:gridCol w="7248525"/>
                <ns1:gridCol w="6991350"/>
              </ns1:tblGrid>
              <ns1:tr h="552450">
                <ns1:tc>
                  <ns1:txBody>
                    <ns1:bodyPr/>
                    <ns1:lstStyle/>
                    <ns1:p>
                      <ns1:pPr algn="l">
                        <ns1:defRPr lang="ko-KR">
                          <ns1:solidFill>
                            <ns1:srgbClr val="000000"/>
                          </ns1:solidFill>
                          <ns1:latin typeface="Calibri"/>
                          <ns1:ea typeface="Calibri"/>
                          <ns1:cs typeface="Calibri"/>
                        </ns1:defRPr>
                      </ns1:pPr>
                      <ns1:r>
                        <ns1:rPr sz="2300" b="1" lang="ko-KR">
                          <ns1:solidFill>
                            <ns1:srgbClr val="000000"/>
                          </ns1:solidFill>
                          <ns1:latin typeface="Calibri"/>
                          <ns1:ea typeface="Calibri"/>
                          <ns1:cs typeface="Calibri"/>
                        </ns1:rPr>
                        <ns1:t>검토할 대상</ns1:t>
                      </ns1:r>
                      <ns1:endParaRPr lang="ko-KR">
                        <ns1:solidFill>
                          <ns1:srgbClr val="000000"/>
                        </ns1:solidFill>
                        <ns1:latin typeface="Calibri"/>
                        <ns1:ea typeface="Calibri"/>
                        <ns1:cs typeface="Calibri"/>
                      </ns1:endParaRPr>
                    </ns1:p>
                  </ns1:txBody>
                  <ns1:tcPr marL="114300" marR="76200" marT="47625" marB="47625" anchor="ctr">
                    <ns1:solidFill>
                      <ns1:srgbClr val="C6E0B4"/>
                    </ns1:solidFill>
                  </ns1:tcPr>
                </ns1:tc>
                <ns1:tc>
                  <ns1:txBody>
                    <ns1:bodyPr/>
                    <ns1:lstStyle/>
                    <ns1:p>
                      <ns1:pPr algn="l">
                        <ns1:buNone/>
                        <ns1:defRPr lang="ko-KR">
                          <ns1:latin typeface="Calibri"/>
                          <ns1:ea typeface="Calibri"/>
                          <ns1:cs typeface="Calibri"/>
                        </ns1:defRPr>
                      </ns1:pPr>
                      <ns1:r>
                        <ns1:rPr sz="2300" b="1" lang="ko-KR">
                          <ns1:solidFill>
                            <ns1:srgbClr val="000000"/>
                          </ns1:solidFill>
                          <ns1:latin typeface="Calibri"/>
                          <ns1:ea typeface="Calibri"/>
                          <ns1:cs typeface="Calibri"/>
                        </ns1:rPr>
                        <ns1:t>같은 장면에서 확인할 조건</ns1:t>
                      </ns1:r>
                      <ns1:endParaRPr lang="ko-KR">
                        <ns1:solidFill>
                          <ns1:srgbClr val="000000"/>
                        </ns1:solidFill>
                        <ns1:latin typeface="Calibri"/>
                        <ns1:ea typeface="Calibri"/>
                        <ns1:cs typeface="Calibri"/>
                      </ns1:endParaRPr>
                    </ns1:p>
                  </ns1:txBody>
                  <ns1:tcPr marL="114300" marR="76200" marT="47625" marB="47625" anchor="ctr">
                    <ns1:solidFill>
                      <ns1:srgbClr val="C6E0B4"/>
                    </ns1:solidFill>
                  </ns1:tcPr>
                </ns1:tc>
                <ns1:tc>
                  <ns1:txBody>
                    <ns1:bodyPr/>
                    <ns1:lstStyle/>
                    <ns1:p>
                      <ns1:pPr algn="l">
                        <ns1:defRPr lang="ko-KR">
                          <ns1:solidFill>
                            <ns1:srgbClr val="000000"/>
                          </ns1:solidFill>
                          <ns1:latin typeface="Calibri"/>
                          <ns1:ea typeface="Calibri"/>
                          <ns1:cs typeface="Calibri"/>
                        </ns1:defRPr>
                      </ns1:pPr>
                      <ns1:r>
                        <ns1:rPr sz="2300" b="1" lang="ko-KR">
                          <ns1:solidFill>
                            <ns1:srgbClr val="000000"/>
                          </ns1:solidFill>
                          <ns1:latin typeface="Calibri"/>
                          <ns1:ea typeface="Calibri"/>
                          <ns1:cs typeface="Calibri"/>
                        </ns1:rPr>
                        <ns1:t>아직 필요한 근거</ns1:t>
                      </ns1:r>
                      <ns1:endParaRPr lang="ko-KR">
                        <ns1:solidFill>
                          <ns1:srgbClr val="000000"/>
                        </ns1:solidFill>
                        <ns1:latin typeface="Calibri"/>
                        <ns1:ea typeface="Calibri"/>
                        <ns1:cs typeface="Calibri"/>
                      </ns1:endParaRPr>
                    </ns1:p>
                  </ns1:txBody>
                  <ns1:tcPr marL="114300" marR="76200" marT="47625" marB="47625" anchor="ctr">
                    <ns1:solidFill>
                      <ns1:srgbClr val="C6E0B4"/>
                    </ns1:solidFill>
                  </ns1:tcPr>
                </ns1:tc>
              </ns1:tr>
              <ns1:tr h="971550">
                <ns1:tc>
                  <ns1:txBody>
                    <ns1:bodyPr/>
                    <ns1:lstStyle/>
                    <ns1:p>
                      <ns1:pPr algn="l">
                        <ns1:buNone/>
                        <ns1:defRPr lang="ko-KR">
                          <ns1:latin typeface="Calibri"/>
                          <ns1:ea typeface="Calibri"/>
                          <ns1:cs typeface="Calibri"/>
                        </ns1:defRPr>
                      </ns1:pPr>
                      <ns1:r>
                        <ns1:rPr sz="2300" b="0" lang="ko-KR">
                          <ns1:solidFill>
                            <ns1:srgbClr val="000000"/>
                          </ns1:solidFill>
                          <ns1:latin typeface="Calibri"/>
                          <ns1:ea typeface="Calibri"/>
                          <ns1:cs typeface="Calibri"/>
                        </ns1:rPr>
                        <ns1:t>화면·음성 지칭</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buNone/>
                        <ns1:defRPr lang="ko-KR">
                          <ns1:latin typeface="Calibri"/>
                          <ns1:ea typeface="Calibri"/>
                          <ns1:cs typeface="Calibri"/>
                        </ns1:defRPr>
                      </ns1:pPr>
                      <ns1:r>
                        <ns1:rPr sz="2300" b="0" lang="ko-KR">
                          <ns1:solidFill>
                            <ns1:srgbClr val="000000"/>
                          </ns1:solidFill>
                          <ns1:latin typeface="Calibri"/>
                          <ns1:ea typeface="Calibri"/>
                          <ns1:cs typeface="Calibri"/>
                        </ns1:rPr>
                        <ns1:t>두 화면의 지칭, 늦은 전사와 “아니, 여기” 정정</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buNone/>
                        <ns1:defRPr lang="ko-KR">
                          <ns1:latin typeface="Calibri"/>
                          <ns1:ea typeface="Calibri"/>
                          <ns1:cs typeface="Calibri"/>
                        </ns1:defRPr>
                      </ns1:pPr>
                      <ns1:r>
                        <ns1:rPr sz="2300" b="0" lang="ko-KR">
                          <ns1:solidFill>
                            <ns1:srgbClr val="000000"/>
                          </ns1:solidFill>
                          <ns1:latin typeface="Calibri"/>
                          <ns1:ea typeface="Calibri"/>
                          <ns1:cs typeface="Calibri"/>
                        </ns1:rPr>
                        <ns1:t>발화·화면·pointer·선택 기록, 누락 범위</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r>
              <ns1:tr h="971550">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지속 대화</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새 발화, 늦은 준비와 질문이 겹치는 상황</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실제 반응/전달 시각과 대기 상태</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r>
              <ns1:tr h="971550">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과거 맥락</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첫 사용, 반복, 정정 직후와 미사용 생산</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전체 호출 청구, 원본 검증과 coverage</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r>
              <ns1:tr h="971550">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상태 관리</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공동 변경, 내부 접수와 외부 확인의 차이</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실제 수정 모듈 수와 접수 대기 및 RAM 사용량</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r>
            </ns1:tbl>
          </ns1:graphicData>
        </ns1:graphic>
      </ns0:graphicFrame>
      <ns0:sp xmlns:ns0="http://schemas.openxmlformats.org/presentationml/2006/main" xmlns:ns1="http://schemas.openxmlformats.org/drawingml/2006/main" xmlns:ns2="http://schemas.microsoft.com/office/drawing/2014/main">
        <ns0:nvSpPr>
          <ns0:cNvPr id="6" name="v2-459-next-contract">
            <ns1:extLst>
              <ns1:ext uri="{FF2B5EF4-FFF2-40B4-BE49-F238E27FC236}">
                <ns2:creationId id="{5A5ED548-EFD5-46E5-B4E1-4B786AE282FF}"/>
              </ns1:ext>
            </ns1:extLst>
          </ns0:cNvPr>
          <ns0:cNvSpPr>
            <ns1:spLocks noGrp="1"/>
          </ns0:cNvSpPr>
          <ns0:nvPr/>
        </ns0:nvSpPr>
        <ns0:spPr>
          <ns1:xfrm>
            <ns1:off x="495300" y="7181850"/>
            <ns1:ext cx="17297400" cy="542925"/>
          </ns1:xfrm>
          <ns1:prstGeom prst="rect">
            <ns1:avLst/>
          </ns1:prstGeom>
          <ns1:noFill/>
          <ns1:ln w="0">
            <ns1:noFill/>
          </ns1:ln>
        </ns0:spPr>
        <ns0:txBody>
          <ns1:bodyPr wrap="none" lIns="0" tIns="0" rIns="0" bIns="0" anchor="ctr">
            <ns1:noAutofit/>
          </ns1:bodyPr>
          <ns1:lstStyle/>
          <ns1:p>
            <ns1:pPr algn="l">
              <ns1:defRPr sz="2800" b="1" lang="ko-KR">
                <ns1:solidFill>
                  <ns1:srgbClr val="000000"/>
                </ns1:solidFill>
                <ns1:latin typeface="Calibri"/>
                <ns1:ea typeface="Calibri"/>
                <ns1:cs typeface="Calibri"/>
              </ns1:defRPr>
            </ns1:pPr>
            <ns1:r>
              <ns1:rPr sz="2800" b="1" lang="ko-KR">
                <ns1:solidFill>
                  <ns1:srgbClr val="000000"/>
                </ns1:solidFill>
                <ns1:latin typeface="Calibri"/>
                <ns1:ea typeface="Calibri"/>
                <ns1:cs typeface="Calibri"/>
              </ns1:rPr>
              <ns1:t>공통 28개 시나리오와 같은 외부 조건에서 핵심 QA 6개와 추가 후보 3개를 평가합니다.</ns1:t>
            </ns1:r>
            <ns1:endParaRPr lang="ko-KR">
              <ns1:solidFill>
                <ns1:srgbClr val="000000"/>
              </ns1:solidFill>
              <ns1:latin typeface="Calibri"/>
              <ns1:ea typeface="Calibri"/>
              <ns1:cs typeface="Calibri"/>
            </ns1:endParaRPr>
          </ns1:p>
        </ns0:txBody>
      </ns0:sp>
      <ns0:sp xmlns:ns0="http://schemas.openxmlformats.org/presentationml/2006/main" xmlns:ns1="http://schemas.openxmlformats.org/drawingml/2006/main" xmlns:ns2="http://schemas.microsoft.com/office/drawing/2014/main">
        <ns0:nvSpPr>
          <ns0:cNvPr id="7" name="v2-460-next-status">
            <ns1:extLst>
              <ns1:ext uri="{FF2B5EF4-FFF2-40B4-BE49-F238E27FC236}">
                <ns2:creationId id="{3D85C9CB-26AC-4774-B13F-99D1EDE4A2BC}"/>
              </ns1:ext>
            </ns1:extLst>
          </ns0:cNvPr>
          <ns0:cNvSpPr>
            <ns1:spLocks noGrp="1"/>
          </ns0:cNvSpPr>
          <ns0:nvPr/>
        </ns0:nvSpPr>
        <ns0:spPr>
          <ns1:xfrm>
            <ns1:off x="495300" y="8258175"/>
            <ns1:ext cx="17297400" cy="1104900"/>
          </ns1:xfrm>
          <ns1:prstGeom prst="rect">
            <ns1:avLst/>
          </ns1:prstGeom>
          <ns1:noFill/>
          <ns1:ln w="0">
            <ns1:noFill/>
          </ns1:ln>
        </ns0:spPr>
        <ns0:txBody>
          <ns1:bodyPr wrap="none" lIns="0" tIns="0" rIns="0" bIns="0" anchor="ctr">
            <ns1:noAutofit/>
          </ns1:bodyPr>
          <ns1:lstStyle/>
          <ns1:p>
            <ns1:pPr algn="l">
              <ns1:buNone/>
              <ns1:defRPr sz="2500" b="0" lang="ko-KR">
                <ns1:solidFill>
                  <ns1:srgbClr val="000000"/>
                </ns1:solidFill>
                <ns1:latin typeface="Calibri"/>
                <ns1:ea typeface="Calibri"/>
                <ns1:cs typeface="Calibri"/>
              </ns1:defRPr>
            </ns1:pPr>
            <ns1:r>
              <ns1:rPr sz="2500" b="0" lang="ko-KR">
                <ns1:solidFill>
                  <ns1:srgbClr val="000000"/>
                </ns1:solidFill>
                <ns1:latin typeface="Calibri"/>
                <ns1:ea typeface="Calibri"/>
                <ns1:cs typeface="Calibri"/>
              </ns1:rPr>
              <ns1:t>현재 숫자는 품질 목표와 설명용 계산입니다. QA별 정의와 목표 근거 및 점수는 Appendix에 정리했습니다.</ns1:t>
            </ns1:r>
            <ns1:endParaRPr lang="ko-KR">
              <ns1:solidFill>
                <ns1:srgbClr val="000000"/>
              </ns1:solidFill>
              <ns1:latin typeface="Calibri"/>
              <ns1:ea typeface="Calibri"/>
              <ns1:cs typeface="Calibri"/>
            </ns1:endParaRPr>
          </ns1:p>
          <ns1:p>
            <ns1:pPr algn="l">
              <ns1:buNone/>
              <ns1:defRPr sz="2500" b="0" lang="ko-KR">
                <ns1:solidFill>
                  <ns1:srgbClr val="000000"/>
                </ns1:solidFill>
                <ns1:latin typeface="Calibri"/>
                <ns1:ea typeface="Calibri"/>
                <ns1:cs typeface="Calibri"/>
              </ns1:defRPr>
            </ns1:pPr>
            <ns1:r>
              <ns1:rPr sz="2500" b="0" lang="ko-KR">
                <ns1:solidFill>
                  <ns1:srgbClr val="000000"/>
                </ns1:solidFill>
                <ns1:latin typeface="Calibri"/>
                <ns1:ea typeface="Calibri"/>
                <ns1:cs typeface="Calibri"/>
              </ns1:rPr>
              <ns1:t>A/B 선정과 PoC 실측 결과는 아직 없습니다.</ns1:t>
            </ns1:r>
            <ns1:endParaRPr lang="ko-KR">
              <ns1:solidFill>
                <ns1:srgbClr val="000000"/>
              </ns1:solidFill>
              <ns1:latin typeface="Calibri"/>
              <ns1:ea typeface="Calibri"/>
              <ns1:cs typeface="Calibri"/>
            </ns1:endParaRPr>
          </ns1:p>
        </ns0:txBody>
      </ns0:sp>
      <p:sp>
        <p:nvSpPr>
          <p:cNvPr id="13" name="v6-header-title">
            <a:extLst>
              <a:ext uri="{FF2B5EF4-FFF2-40B4-BE49-F238E27FC236}">
                <ns2:creationId id="{79A7B95A-E6D2-4EBE-9D80-4EE681743277}"/>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설계 검토 요약</a:t>
            </a:r>
            <a:endParaRPr lang="ko-KR">
              <a:latin typeface="Calibri"/>
              <a:ea typeface="Calibri"/>
              <a:cs typeface="Calibri"/>
            </a:endParaRPr>
          </a:p>
        </p:txBody>
      </p:sp>
      <p:sp>
        <p:nvSpPr>
          <p:cNvPr id="14" name="v6-header-rule">
            <a:extLst>
              <a:ext uri="{FF2B5EF4-FFF2-40B4-BE49-F238E27FC236}">
                <ns2:creationId id="{FC2BDF27-492C-4891-A56A-05B99D6F020E}"/>
              </a:ext>
            </a:extLst>
          </p:cNvPr>
          <p:cNvSpPr>
            <a:spLocks noGrp="1"/>
          </p:cNvSpPr>
          <p:nvPr/>
        </p:nvSpPr>
        <p:spPr>
          <a:xfrm>
            <a:off x="495300" y="990600"/>
            <a:ext cx="17335500" cy="0"/>
          </a:xfrm>
          <a:prstGeom prst="line">
            <a:avLst/>
          </a:prstGeom>
          <a:noFill/>
          <a:ln w="19050">
            <a:solidFill>
              <a:srgbClr val="A6A6A6"/>
            </a:solidFill>
          </a:ln>
        </p:spPr>
      </p:sp>
      <p:sp>
        <p:nvSpPr>
          <p:cNvPr id="15" name="v6-header-stage-0">
            <a:extLst>
              <a:ext uri="{FF2B5EF4-FFF2-40B4-BE49-F238E27FC236}">
                <ns2:creationId id="{3E9D1F55-2D94-4CA4-B25E-4AF2C0A1ECEB}"/>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6" name="v6-header-stage-1">
            <a:extLst>
              <a:ext uri="{FF2B5EF4-FFF2-40B4-BE49-F238E27FC236}">
                <ns2:creationId id="{DF7C8045-D8B9-48FE-9671-3FA3A43C62DC}"/>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7" name="v6-header-stage-2">
            <a:extLst>
              <a:ext uri="{FF2B5EF4-FFF2-40B4-BE49-F238E27FC236}">
                <ns2:creationId id="{96279236-AC15-4DB0-9A49-9FF95DF47C42}"/>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8" name="v6-header-stage-3">
            <a:extLst>
              <a:ext uri="{FF2B5EF4-FFF2-40B4-BE49-F238E27FC236}">
                <ns2:creationId id="{9CB82B24-7B26-4B8C-9CF1-9F2625C9E30B}"/>
              </a:ext>
            </a:extLst>
          </p:cNvPr>
          <p:cNvSpPr>
            <a:spLocks noGrp="1"/>
          </p:cNvSpPr>
          <p:nvPr/>
        </p:nvSpPr>
        <p:spPr>
          <a:xfrm>
            <a:off x="150304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9" name="v6-header-stage-4">
            <a:extLst>
              <a:ext uri="{FF2B5EF4-FFF2-40B4-BE49-F238E27FC236}">
                <ns2:creationId id="{8B74E41A-91B3-42B1-8B63-21BEADDF9029}"/>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0" name="v6-header-page">
            <a:extLst>
              <a:ext uri="{FF2B5EF4-FFF2-40B4-BE49-F238E27FC236}">
                <ns2:creationId id="{CFDF73DF-B251-4D92-9E7D-02EE60EDE548}"/>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24 / 33</a:t>
            </a:r>
            <a:endParaRPr lang="ko-KR">
              <a:latin typeface="Calibri"/>
              <a:ea typeface="Calibri"/>
              <a:cs typeface="Calibri"/>
            </a:endParaRPr>
          </a:p>
        </p:txBody>
      </p:sp>
    </p:spTree>
    <p:extLst>
      <p:ext uri="{BB962C8B-B14F-4D97-AF65-F5344CB8AC3E}">
        <p14:creationId val="848578615"/>
      </p:ext>
    </p:extLst>
  </p:cSld>
</p:sld>
</file>

<file path=ppt/slides/slide59.xml><?xml version="1.0" encoding="utf-8"?>
<p:sld xmlns:a="http://schemas.openxmlformats.org/drawingml/2006/main" xmlns:ns2="http://schemas.microsoft.com/office/drawing/2014/main" xmlns:p="http://schemas.openxmlformats.org/presentationml/2006/main" xmlns:p14="http://schemas.microsoft.com/office/powerpoint/2010/main">
  <p:cSld name="dp44-background-v3">
    <p:bg>
      <p:bgPr>
        <a:solidFill>
          <a:srgbClr val="FFFFFF"/>
        </a:solidFill>
      </p:bgPr>
    </p:bg>
    <p:spTree>
      <p:nvGrpSpPr>
        <p:cNvPr id="2" name=""/>
        <p:cNvGrpSpPr/>
        <p:nvPr/>
      </p:nvGrpSpPr>
      <p:grpSpPr>
        <a:xfrm/>
      </p:grpSpPr>
      <p:sp>
        <p:nvSpPr>
          <p:cNvPr id="3" name="dp44-background-1">
            <a:extLst>
              <a:ext uri="{FF2B5EF4-FFF2-40B4-BE49-F238E27FC236}">
                <ns2:creationId id="{CE8DDC05-2570-4FF8-A762-7DBA10453F27}"/>
              </a:ext>
            </a:extLst>
          </p:cNvPr>
          <p:cNvSpPr>
            <a:spLocks noGrp="1"/>
          </p:cNvSpPr>
          <p:nvPr/>
        </p:nvSpPr>
        <p:spPr>
          <a:xfrm>
            <a:off x="571500" y="285750"/>
            <a:ext cx="9906000" cy="571500"/>
          </a:xfrm>
          <a:prstGeom prst="rect">
            <a:avLst/>
          </a:prstGeom>
          <a:noFill/>
          <a:ln w="0">
            <a:noFill/>
          </a:ln>
        </p:spPr>
        <p:txBody>
          <a:bodyPr wrap="none" lIns="0" tIns="0" rIns="0" bIns="0" anchor="ctr">
            <a:noAutofit/>
          </a:bodyPr>
          <a:lstStyle>
            <a:defPPr algn="l">
              <a:defRPr sz="3000" b="1" lang="ko-KR">
                <a:solidFill>
                  <a:srgbClr val="000000"/>
                </a:solidFill>
                <a:latin typeface="Calibri"/>
                <a:ea typeface="Calibri"/>
                <a:cs typeface="Calibri"/>
              </a:defRPr>
            </a:defP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DP44. 정정과 업무 알림이 겹치는 대화</a:t>
            </a:r>
            <a:endParaRPr lang="ko-KR">
              <a:latin typeface="Calibri"/>
              <a:ea typeface="Calibri"/>
              <a:cs typeface="Calibri"/>
            </a:endParaRPr>
          </a:p>
        </p:txBody>
      </p:sp>
      <p:sp>
        <p:nvSpPr>
          <p:cNvPr id="4" name="dp44-background-2">
            <a:extLst>
              <a:ext uri="{FF2B5EF4-FFF2-40B4-BE49-F238E27FC236}">
                <ns2:creationId id="{07C54372-54B4-404C-92A5-335C34622406}"/>
              </a:ext>
            </a:extLst>
          </p:cNvPr>
          <p:cNvSpPr>
            <a:spLocks noGrp="1"/>
          </p:cNvSpPr>
          <p:nvPr/>
        </p:nvSpPr>
        <p:spPr>
          <a:xfrm>
            <a:off x="495300" y="990600"/>
            <a:ext cx="17335500" cy="9525"/>
          </a:xfrm>
          <a:custGeom>
            <a:pathLst>
              <a:path w="17335500" h="9525">
                <a:moveTo>
                  <a:pt x="0" y="0"/>
                </a:moveTo>
                <a:lnTo>
                  <a:pt x="17335500" y="0"/>
                </a:lnTo>
              </a:path>
            </a:pathLst>
          </a:custGeom>
          <a:noFill/>
          <a:ln w="14288">
            <a:solidFill>
              <a:srgbClr val="A6A6A6"/>
            </a:solidFill>
            <a:prstDash val="solid"/>
          </a:ln>
        </p:spPr>
      </p:sp>
      <p:sp>
        <p:nvSpPr>
          <p:cNvPr id="5" name="dp44-background-3">
            <a:extLst>
              <a:ext uri="{FF2B5EF4-FFF2-40B4-BE49-F238E27FC236}">
                <ns2:creationId id="{DAB96BBB-B5B7-4075-9B0A-FDF815C96640}"/>
              </a:ext>
            </a:extLst>
          </p:cNvPr>
          <p:cNvSpPr>
            <a:spLocks noGrp="1"/>
          </p:cNvSpPr>
          <p:nvPr/>
        </p:nvSpPr>
        <p:spPr>
          <a:xfrm>
            <a:off x="495300" y="8648700"/>
            <a:ext cx="17297400" cy="9525"/>
          </a:xfrm>
          <a:custGeom>
            <a:pathLst>
              <a:path w="17297400" h="9525">
                <a:moveTo>
                  <a:pt x="0" y="0"/>
                </a:moveTo>
                <a:lnTo>
                  <a:pt x="17297400" y="0"/>
                </a:lnTo>
              </a:path>
            </a:pathLst>
          </a:custGeom>
          <a:noFill/>
          <a:ln w="14288">
            <a:solidFill>
              <a:srgbClr val="A6A6A6"/>
            </a:solidFill>
            <a:prstDash val="solid"/>
          </a:ln>
        </p:spPr>
      </p:sp>
      <p:sp>
        <p:nvSpPr>
          <p:cNvPr id="6" name="dp44-background-4">
            <a:extLst>
              <a:ext uri="{FF2B5EF4-FFF2-40B4-BE49-F238E27FC236}">
                <ns2:creationId id="{7398CA94-67A3-40D8-B0E5-DFF6483582D2}"/>
              </a:ext>
            </a:extLst>
          </p:cNvPr>
          <p:cNvSpPr>
            <a:spLocks noGrp="1"/>
          </p:cNvSpPr>
          <p:nvPr/>
        </p:nvSpPr>
        <p:spPr>
          <a:xfrm>
            <a:off x="495300" y="8905875"/>
            <a:ext cx="1714500" cy="476250"/>
          </a:xfrm>
          <a:prstGeom prst="rect">
            <a:avLst/>
          </a:prstGeom>
          <a:noFill/>
          <a:ln w="0">
            <a:noFill/>
          </a:ln>
        </p:spPr>
        <p:txBody>
          <a:bodyPr wrap="none" lIns="0" tIns="0" rIns="0" bIns="0" anchor="ctr">
            <a:noAutofit/>
          </a:bodyPr>
          <a:lstStyle>
            <a:defPPr algn="l">
              <a:defRPr sz="2300" b="1" lang="ko-KR">
                <a:solidFill>
                  <a:srgbClr val="C00000"/>
                </a:solidFill>
                <a:latin typeface="Calibri"/>
                <a:ea typeface="Calibri"/>
                <a:cs typeface="Calibri"/>
              </a:defRPr>
            </a:defPPr>
          </a:lstStyle>
          <a:p>
            <a:pPr algn="l">
              <a:defRPr sz="2300" b="1" lang="ko-KR">
                <a:solidFill>
                  <a:srgbClr val="C00000"/>
                </a:solidFill>
                <a:latin typeface="Calibri"/>
                <a:ea typeface="Calibri"/>
                <a:cs typeface="Calibri"/>
              </a:defRPr>
            </a:pPr>
            <a:r>
              <a:rPr sz="2300" b="1" lang="ko-KR">
                <a:solidFill>
                  <a:srgbClr val="C00000"/>
                </a:solidFill>
                <a:latin typeface="Calibri"/>
                <a:ea typeface="Calibri"/>
                <a:cs typeface="Calibri"/>
              </a:rPr>
              <a:t>설계 질문</a:t>
            </a:r>
            <a:endParaRPr lang="ko-KR">
              <a:latin typeface="Calibri"/>
              <a:ea typeface="Calibri"/>
              <a:cs typeface="Calibri"/>
            </a:endParaRPr>
          </a:p>
        </p:txBody>
      </p:sp>
      <p:sp>
        <p:nvSpPr>
          <p:cNvPr id="7" name="dp44-background-5">
            <a:extLst>
              <a:ext uri="{FF2B5EF4-FFF2-40B4-BE49-F238E27FC236}">
                <ns2:creationId id="{65D75D40-4B52-452E-AC53-CA1C5FE5ABBE}"/>
              </a:ext>
            </a:extLst>
          </p:cNvPr>
          <p:cNvSpPr>
            <a:spLocks noGrp="1"/>
          </p:cNvSpPr>
          <p:nvPr/>
        </p:nvSpPr>
        <p:spPr>
          <a:xfrm>
            <a:off x="2476500" y="8877300"/>
            <a:ext cx="15316200" cy="9525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사용자와 여러 Agent가 보내는 입력·질문·결과를</a:t>
            </a:r>
            <a:endParaRPr lang="ko-KR">
              <a:latin typeface="Calibri"/>
              <a:ea typeface="Calibri"/>
              <a:cs typeface="Calibri"/>
            </a:endParaRPr>
          </a:p>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사용자 통제를 유지하며 어떻게 처리할까?</a:t>
            </a:r>
            <a:endParaRPr lang="ko-KR">
              <a:latin typeface="Calibri"/>
              <a:ea typeface="Calibri"/>
              <a:cs typeface="Calibri"/>
            </a:endParaRPr>
          </a:p>
        </p:txBody>
      </p:sp>
      <p:sp>
        <p:nvSpPr>
          <p:cNvPr id="8" name="dp44-background-6">
            <a:extLst>
              <a:ext uri="{FF2B5EF4-FFF2-40B4-BE49-F238E27FC236}">
                <ns2:creationId id="{088AA821-7A7A-40B5-AA61-CF33DF52A12C}"/>
              </a:ext>
            </a:extLst>
          </p:cNvPr>
          <p:cNvSpPr>
            <a:spLocks noGrp="1"/>
          </p:cNvSpPr>
          <p:nvPr/>
        </p:nvSpPr>
        <p:spPr>
          <a:xfrm>
            <a:off x="495300" y="1438275"/>
            <a:ext cx="17297400" cy="552450"/>
          </a:xfrm>
          <a:prstGeom prst="rect">
            <a:avLst/>
          </a:prstGeom>
          <a:noFill/>
          <a:ln w="0">
            <a:noFill/>
          </a:ln>
        </p:spPr>
        <p:txBody>
          <a:bodyPr wrap="none" lIns="0" tIns="0" rIns="0" bIns="0" anchor="ctr">
            <a:noAutofit/>
          </a:bodyPr>
          <a:lstStyle>
            <a:defPPr algn="l">
              <a:defRPr sz="2500" b="1" lang="ko-KR">
                <a:solidFill>
                  <a:srgbClr val="000000"/>
                </a:solidFill>
                <a:latin typeface="Calibri"/>
                <a:ea typeface="Calibri"/>
                <a:cs typeface="Calibri"/>
              </a:defRPr>
            </a:defP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VIA가 보고서를 설명하는 동안, 사용자는 “잠깐, 표부터 설명해줘”라고 고칩니다.</a:t>
            </a:r>
            <a:endParaRPr lang="ko-KR">
              <a:latin typeface="Calibri"/>
              <a:ea typeface="Calibri"/>
              <a:cs typeface="Calibri"/>
            </a:endParaRPr>
          </a:p>
        </p:txBody>
      </p:sp>
      <p:sp>
        <p:nvSpPr>
          <p:cNvPr id="9" name="dp44-background-7">
            <a:extLst>
              <a:ext uri="{FF2B5EF4-FFF2-40B4-BE49-F238E27FC236}">
                <ns2:creationId id="{7DB326D6-F9FC-4B8B-B8A0-D8AECC1E9889}"/>
              </a:ext>
            </a:extLst>
          </p:cNvPr>
          <p:cNvSpPr>
            <a:spLocks noGrp="1"/>
          </p:cNvSpPr>
          <p:nvPr/>
        </p:nvSpPr>
        <p:spPr>
          <a:xfrm>
            <a:off x="495300" y="2066925"/>
            <a:ext cx="17297400" cy="457200"/>
          </a:xfrm>
          <a:prstGeom prst="rect">
            <a:avLst/>
          </a:prstGeom>
          <a:noFill/>
          <a:ln w="0">
            <a:noFill/>
          </a:ln>
        </p:spPr>
        <p:txBody>
          <a:bodyPr wrap="none" lIns="0" tIns="0" rIns="0" bIns="0" anchor="ctr">
            <a:noAutofit/>
          </a:bodyPr>
          <a:lstStyle>
            <a:defPPr algn="l">
              <a:defRPr sz="2300" b="0" lang="ko-KR">
                <a:solidFill>
                  <a:srgbClr val="000000"/>
                </a:solidFill>
                <a:latin typeface="Calibri"/>
                <a:ea typeface="Calibri"/>
                <a:cs typeface="Calibri"/>
              </a:defRPr>
            </a:defPPr>
          </a:lstStyle>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그 사이 메일 업무의 질문이 오고, 정정 전 답변도 뒤늦게 준비됩니다.</a:t>
            </a:r>
            <a:endParaRPr lang="ko-KR">
              <a:latin typeface="Calibri"/>
              <a:ea typeface="Calibri"/>
              <a:cs typeface="Calibri"/>
            </a:endParaRPr>
          </a:p>
        </p:txBody>
      </p:sp>
      <p:sp>
        <p:nvSpPr>
          <p:cNvPr id="10" name="dp44-background-8">
            <a:extLst>
              <a:ext uri="{FF2B5EF4-FFF2-40B4-BE49-F238E27FC236}">
                <ns2:creationId id="{7818BEFE-AAEB-45A6-BD3E-6969B20C9029}"/>
              </a:ext>
            </a:extLst>
          </p:cNvPr>
          <p:cNvSpPr>
            <a:spLocks noGrp="1"/>
          </p:cNvSpPr>
          <p:nvPr/>
        </p:nvSpPr>
        <p:spPr>
          <a:xfrm>
            <a:off x="495300" y="3114675"/>
            <a:ext cx="266700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사용자</a:t>
            </a:r>
            <a:endParaRPr lang="ko-KR">
              <a:latin typeface="Calibri"/>
              <a:ea typeface="Calibri"/>
              <a:cs typeface="Calibri"/>
            </a:endParaRPr>
          </a:p>
        </p:txBody>
      </p:sp>
      <p:sp>
        <p:nvSpPr>
          <p:cNvPr id="11" name="dp44-background-9">
            <a:extLst>
              <a:ext uri="{FF2B5EF4-FFF2-40B4-BE49-F238E27FC236}">
                <ns2:creationId id="{E71AB901-C2F5-4080-B1C7-C6F23F96960F}"/>
              </a:ext>
            </a:extLst>
          </p:cNvPr>
          <p:cNvSpPr>
            <a:spLocks noGrp="1"/>
          </p:cNvSpPr>
          <p:nvPr/>
        </p:nvSpPr>
        <p:spPr>
          <a:xfrm>
            <a:off x="3286125" y="3333750"/>
            <a:ext cx="14335125" cy="9525"/>
          </a:xfrm>
          <a:custGeom>
            <a:pathLst>
              <a:path w="14335125" h="9525">
                <a:moveTo>
                  <a:pt x="0" y="0"/>
                </a:moveTo>
                <a:lnTo>
                  <a:pt x="14335125" y="0"/>
                </a:lnTo>
              </a:path>
            </a:pathLst>
          </a:custGeom>
          <a:noFill/>
          <a:ln w="13335">
            <a:solidFill>
              <a:srgbClr val="D0D0D0"/>
            </a:solidFill>
            <a:prstDash val="dash"/>
          </a:ln>
        </p:spPr>
      </p:sp>
      <p:sp>
        <p:nvSpPr>
          <p:cNvPr id="12" name="dp44-background-10">
            <a:extLst>
              <a:ext uri="{FF2B5EF4-FFF2-40B4-BE49-F238E27FC236}">
                <ns2:creationId id="{162F237B-0865-4583-A426-4F1D134FE523}"/>
              </a:ext>
            </a:extLst>
          </p:cNvPr>
          <p:cNvSpPr>
            <a:spLocks noGrp="1"/>
          </p:cNvSpPr>
          <p:nvPr/>
        </p:nvSpPr>
        <p:spPr>
          <a:xfrm>
            <a:off x="495300" y="3952875"/>
            <a:ext cx="266700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VIA 설명</a:t>
            </a:r>
            <a:endParaRPr lang="ko-KR">
              <a:latin typeface="Calibri"/>
              <a:ea typeface="Calibri"/>
              <a:cs typeface="Calibri"/>
            </a:endParaRPr>
          </a:p>
        </p:txBody>
      </p:sp>
      <p:sp>
        <p:nvSpPr>
          <p:cNvPr id="13" name="dp44-background-11">
            <a:extLst>
              <a:ext uri="{FF2B5EF4-FFF2-40B4-BE49-F238E27FC236}">
                <ns2:creationId id="{8966E8DE-ECDB-463D-971E-BB850FBB5011}"/>
              </a:ext>
            </a:extLst>
          </p:cNvPr>
          <p:cNvSpPr>
            <a:spLocks noGrp="1"/>
          </p:cNvSpPr>
          <p:nvPr/>
        </p:nvSpPr>
        <p:spPr>
          <a:xfrm>
            <a:off x="3286125" y="4171950"/>
            <a:ext cx="3667125" cy="9525"/>
          </a:xfrm>
          <a:custGeom>
            <a:pathLst>
              <a:path w="3667125" h="9525">
                <a:moveTo>
                  <a:pt x="0" y="0"/>
                </a:moveTo>
                <a:lnTo>
                  <a:pt x="3667125" y="0"/>
                </a:lnTo>
              </a:path>
            </a:pathLst>
          </a:custGeom>
          <a:noFill/>
          <a:ln w="13335">
            <a:solidFill>
              <a:srgbClr val="D0D0D0"/>
            </a:solidFill>
            <a:prstDash val="dash"/>
          </a:ln>
        </p:spPr>
      </p:sp>
      <p:sp>
        <p:nvSpPr>
          <p:cNvPr id="14" name="dp44-background-12">
            <a:extLst>
              <a:ext uri="{FF2B5EF4-FFF2-40B4-BE49-F238E27FC236}">
                <ns2:creationId id="{4ACEFA62-5854-40BB-ACC5-A4B8CFD37041}"/>
              </a:ext>
            </a:extLst>
          </p:cNvPr>
          <p:cNvSpPr>
            <a:spLocks noGrp="1"/>
          </p:cNvSpPr>
          <p:nvPr/>
        </p:nvSpPr>
        <p:spPr>
          <a:xfrm>
            <a:off x="495300" y="5000625"/>
            <a:ext cx="266700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메일 업무</a:t>
            </a:r>
            <a:endParaRPr lang="ko-KR">
              <a:latin typeface="Calibri"/>
              <a:ea typeface="Calibri"/>
              <a:cs typeface="Calibri"/>
            </a:endParaRPr>
          </a:p>
        </p:txBody>
      </p:sp>
      <p:sp>
        <p:nvSpPr>
          <p:cNvPr id="15" name="dp44-background-13">
            <a:extLst>
              <a:ext uri="{FF2B5EF4-FFF2-40B4-BE49-F238E27FC236}">
                <ns2:creationId id="{3F065FA2-0888-4052-A7E3-5D5B776AF512}"/>
              </a:ext>
            </a:extLst>
          </p:cNvPr>
          <p:cNvSpPr>
            <a:spLocks noGrp="1"/>
          </p:cNvSpPr>
          <p:nvPr/>
        </p:nvSpPr>
        <p:spPr>
          <a:xfrm>
            <a:off x="3286125" y="5219700"/>
            <a:ext cx="5381625" cy="9525"/>
          </a:xfrm>
          <a:custGeom>
            <a:pathLst>
              <a:path w="5381625" h="9525">
                <a:moveTo>
                  <a:pt x="0" y="0"/>
                </a:moveTo>
                <a:lnTo>
                  <a:pt x="5381625" y="0"/>
                </a:lnTo>
              </a:path>
            </a:pathLst>
          </a:custGeom>
          <a:noFill/>
          <a:ln w="13335">
            <a:solidFill>
              <a:srgbClr val="D0D0D0"/>
            </a:solidFill>
            <a:prstDash val="dash"/>
          </a:ln>
        </p:spPr>
      </p:sp>
      <p:sp>
        <p:nvSpPr>
          <p:cNvPr id="16" name="dp44-background-14">
            <a:extLst>
              <a:ext uri="{FF2B5EF4-FFF2-40B4-BE49-F238E27FC236}">
                <ns2:creationId id="{631F67C4-8B98-45EC-B821-7F7D1A3E6037}"/>
              </a:ext>
            </a:extLst>
          </p:cNvPr>
          <p:cNvSpPr>
            <a:spLocks noGrp="1"/>
          </p:cNvSpPr>
          <p:nvPr/>
        </p:nvSpPr>
        <p:spPr>
          <a:xfrm>
            <a:off x="495300" y="5972175"/>
            <a:ext cx="266700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이전 답변 준비</a:t>
            </a:r>
            <a:endParaRPr lang="ko-KR">
              <a:latin typeface="Calibri"/>
              <a:ea typeface="Calibri"/>
              <a:cs typeface="Calibri"/>
            </a:endParaRPr>
          </a:p>
        </p:txBody>
      </p:sp>
      <p:sp>
        <p:nvSpPr>
          <p:cNvPr id="17" name="dp44-background-15">
            <a:extLst>
              <a:ext uri="{FF2B5EF4-FFF2-40B4-BE49-F238E27FC236}">
                <ns2:creationId id="{37119E8F-2C0E-4712-839A-D8C909BB316A}"/>
              </a:ext>
            </a:extLst>
          </p:cNvPr>
          <p:cNvSpPr>
            <a:spLocks noGrp="1"/>
          </p:cNvSpPr>
          <p:nvPr/>
        </p:nvSpPr>
        <p:spPr>
          <a:xfrm>
            <a:off x="3286125" y="6191250"/>
            <a:ext cx="6715125" cy="9525"/>
          </a:xfrm>
          <a:custGeom>
            <a:pathLst>
              <a:path w="6715125" h="9525">
                <a:moveTo>
                  <a:pt x="0" y="0"/>
                </a:moveTo>
                <a:lnTo>
                  <a:pt x="6715125" y="0"/>
                </a:lnTo>
              </a:path>
            </a:pathLst>
          </a:custGeom>
          <a:noFill/>
          <a:ln w="13335">
            <a:solidFill>
              <a:srgbClr val="D0D0D0"/>
            </a:solidFill>
            <a:prstDash val="dash"/>
          </a:ln>
        </p:spPr>
      </p:sp>
      <p:sp>
        <p:nvSpPr>
          <p:cNvPr id="18" name="dp44-background-16">
            <a:extLst>
              <a:ext uri="{FF2B5EF4-FFF2-40B4-BE49-F238E27FC236}">
                <ns2:creationId id="{560749E6-1366-4B09-9419-E7A9B6ACAF15}"/>
              </a:ext>
            </a:extLst>
          </p:cNvPr>
          <p:cNvSpPr>
            <a:spLocks noGrp="1"/>
          </p:cNvSpPr>
          <p:nvPr/>
        </p:nvSpPr>
        <p:spPr>
          <a:xfrm>
            <a:off x="7048500" y="2781300"/>
            <a:ext cx="6762750" cy="476250"/>
          </a:xfrm>
          <a:prstGeom prst="rect">
            <a:avLst/>
          </a:prstGeom>
          <a:noFill/>
          <a:ln w="0">
            <a:noFill/>
          </a:ln>
        </p:spPr>
        <p:txBody>
          <a:bodyPr wrap="none" lIns="0" tIns="0" rIns="0" bIns="0" anchor="ctr">
            <a:noAutofit/>
          </a:bodyPr>
          <a:lstStyle>
            <a:defPPr algn="l">
              <a:defRPr sz="2400" b="1" lang="ko-KR">
                <a:solidFill>
                  <a:srgbClr val="000000"/>
                </a:solidFill>
                <a:latin typeface="Calibri"/>
                <a:ea typeface="Calibri"/>
                <a:cs typeface="Calibri"/>
              </a:defRPr>
            </a:defP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“잠깐, 표부터 설명해줘.”</a:t>
            </a:r>
            <a:endParaRPr lang="ko-KR">
              <a:latin typeface="Calibri"/>
              <a:ea typeface="Calibri"/>
              <a:cs typeface="Calibri"/>
            </a:endParaRPr>
          </a:p>
        </p:txBody>
      </p:sp>
      <p:sp>
        <p:nvSpPr>
          <p:cNvPr id="19" name="dp44-background-17">
            <a:extLst>
              <a:ext uri="{FF2B5EF4-FFF2-40B4-BE49-F238E27FC236}">
                <ns2:creationId id="{1C884BC1-718F-4AB4-AAF5-B9BCFED13050}"/>
              </a:ext>
            </a:extLst>
          </p:cNvPr>
          <p:cNvSpPr>
            <a:spLocks noGrp="1"/>
          </p:cNvSpPr>
          <p:nvPr/>
        </p:nvSpPr>
        <p:spPr>
          <a:xfrm>
            <a:off x="7096125" y="3333750"/>
            <a:ext cx="5191125" cy="9525"/>
          </a:xfrm>
          <a:custGeom>
            <a:pathLst>
              <a:path w="5191125" h="9525">
                <a:moveTo>
                  <a:pt x="0" y="0"/>
                </a:moveTo>
                <a:lnTo>
                  <a:pt x="5191125" y="0"/>
                </a:lnTo>
              </a:path>
            </a:pathLst>
          </a:custGeom>
          <a:noFill/>
          <a:ln w="76200">
            <a:solidFill>
              <a:srgbClr val="00889A"/>
            </a:solidFill>
            <a:prstDash val="solid"/>
          </a:ln>
        </p:spPr>
      </p:sp>
      <p:sp>
        <p:nvSpPr>
          <p:cNvPr id="20" name="dp44-background-18">
            <a:extLst>
              <a:ext uri="{FF2B5EF4-FFF2-40B4-BE49-F238E27FC236}">
                <ns2:creationId id="{740E1969-CAE6-45FD-8D3B-7CCD9165D18A}"/>
              </a:ext>
            </a:extLst>
          </p:cNvPr>
          <p:cNvSpPr>
            <a:spLocks noGrp="1"/>
          </p:cNvSpPr>
          <p:nvPr/>
        </p:nvSpPr>
        <p:spPr>
          <a:xfrm>
            <a:off x="3429000" y="4171950"/>
            <a:ext cx="3667125" cy="9525"/>
          </a:xfrm>
          <a:custGeom>
            <a:pathLst>
              <a:path w="3667125" h="9525">
                <a:moveTo>
                  <a:pt x="0" y="0"/>
                </a:moveTo>
                <a:lnTo>
                  <a:pt x="3667125" y="0"/>
                </a:lnTo>
              </a:path>
            </a:pathLst>
          </a:custGeom>
          <a:noFill/>
          <a:ln w="76200">
            <a:solidFill>
              <a:srgbClr val="00889A"/>
            </a:solidFill>
            <a:prstDash val="solid"/>
          </a:ln>
        </p:spPr>
      </p:sp>
      <p:sp>
        <p:nvSpPr>
          <p:cNvPr id="21" name="dp44-background-19">
            <a:extLst>
              <a:ext uri="{FF2B5EF4-FFF2-40B4-BE49-F238E27FC236}">
                <ns2:creationId id="{B5CC2A63-CA07-408B-B0D5-11953A269D49}"/>
              </a:ext>
            </a:extLst>
          </p:cNvPr>
          <p:cNvSpPr>
            <a:spLocks noGrp="1"/>
          </p:cNvSpPr>
          <p:nvPr/>
        </p:nvSpPr>
        <p:spPr>
          <a:xfrm>
            <a:off x="7096125" y="3971925"/>
            <a:ext cx="9525" cy="409575"/>
          </a:xfrm>
          <a:custGeom>
            <a:pathLst>
              <a:path w="9525" h="409575">
                <a:moveTo>
                  <a:pt x="0" y="0"/>
                </a:moveTo>
                <a:lnTo>
                  <a:pt x="0" y="409575"/>
                </a:lnTo>
              </a:path>
            </a:pathLst>
          </a:custGeom>
          <a:noFill/>
          <a:ln w="38100">
            <a:solidFill>
              <a:srgbClr val="C00000"/>
            </a:solidFill>
            <a:prstDash val="solid"/>
          </a:ln>
        </p:spPr>
      </p:sp>
      <p:sp>
        <p:nvSpPr>
          <p:cNvPr id="22" name="dp44-background-20">
            <a:extLst>
              <a:ext uri="{FF2B5EF4-FFF2-40B4-BE49-F238E27FC236}">
                <ns2:creationId id="{5D387014-A63E-4D64-A4F0-D3F2CA8B9FC2}"/>
              </a:ext>
            </a:extLst>
          </p:cNvPr>
          <p:cNvSpPr>
            <a:spLocks noGrp="1"/>
          </p:cNvSpPr>
          <p:nvPr/>
        </p:nvSpPr>
        <p:spPr>
          <a:xfrm>
            <a:off x="7429500" y="3829050"/>
            <a:ext cx="10001250" cy="5715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즉시 중단 · 입력은 계속 수신</a:t>
            </a:r>
            <a:endParaRPr lang="ko-KR">
              <a:latin typeface="Calibri"/>
              <a:ea typeface="Calibri"/>
              <a:cs typeface="Calibri"/>
            </a:endParaRPr>
          </a:p>
        </p:txBody>
      </p:sp>
      <p:sp>
        <p:nvSpPr>
          <p:cNvPr id="23" name="dp44-background-21">
            <a:extLst>
              <a:ext uri="{FF2B5EF4-FFF2-40B4-BE49-F238E27FC236}">
                <ns2:creationId id="{1964A82E-4E1F-46FB-80B2-39CCDF50B687}"/>
              </a:ext>
            </a:extLst>
          </p:cNvPr>
          <p:cNvSpPr>
            <a:spLocks noGrp="1"/>
          </p:cNvSpPr>
          <p:nvPr/>
        </p:nvSpPr>
        <p:spPr>
          <a:xfrm>
            <a:off x="3429000" y="4438650"/>
            <a:ext cx="3333750" cy="41910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보고서 설명 중</a:t>
            </a:r>
            <a:endParaRPr lang="ko-KR">
              <a:latin typeface="Calibri"/>
              <a:ea typeface="Calibri"/>
              <a:cs typeface="Calibri"/>
            </a:endParaRPr>
          </a:p>
        </p:txBody>
      </p:sp>
      <p:sp>
        <p:nvSpPr>
          <p:cNvPr id="24" name="dp44-background-22">
            <a:extLst>
              <a:ext uri="{FF2B5EF4-FFF2-40B4-BE49-F238E27FC236}">
                <ns2:creationId id="{E0676511-0B5F-4C84-AB75-F231BFEDE860}"/>
              </a:ext>
            </a:extLst>
          </p:cNvPr>
          <p:cNvSpPr>
            <a:spLocks noGrp="1"/>
          </p:cNvSpPr>
          <p:nvPr/>
        </p:nvSpPr>
        <p:spPr>
          <a:xfrm>
            <a:off x="8715375" y="5086350"/>
            <a:ext cx="266700" cy="266700"/>
          </a:xfrm>
          <a:prstGeom prst="ellipse">
            <a:avLst/>
          </a:prstGeom>
          <a:solidFill>
            <a:srgbClr val="FFFFFF"/>
          </a:solidFill>
          <a:ln w="19050">
            <a:solidFill>
              <a:srgbClr val="00889A"/>
            </a:solidFill>
          </a:ln>
        </p:spPr>
        <p:txBody>
          <a:bodyPr wrap="none" lIns="133350" tIns="0" rIns="133350" bIns="0" anchor="ctr">
            <a:noAutofit/>
          </a:bodyPr>
          <a:lstStyle>
            <a:defPPr algn="ctr">
              <a:defRPr sz="2100" b="0" lang="ko-KR">
                <a:solidFill>
                  <a:srgbClr val="000000"/>
                </a:solidFill>
                <a:latin typeface="Calibri"/>
                <a:ea typeface="Calibri"/>
                <a:cs typeface="Calibri"/>
              </a:defRPr>
            </a:defPPr>
          </a:lstStyle>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25" name="dp44-background-23">
            <a:extLst>
              <a:ext uri="{FF2B5EF4-FFF2-40B4-BE49-F238E27FC236}">
                <ns2:creationId id="{8895A344-4513-4ACF-A1A5-C934E4717412}"/>
              </a:ext>
            </a:extLst>
          </p:cNvPr>
          <p:cNvSpPr>
            <a:spLocks noGrp="1"/>
          </p:cNvSpPr>
          <p:nvPr/>
        </p:nvSpPr>
        <p:spPr>
          <a:xfrm>
            <a:off x="8667750" y="5505450"/>
            <a:ext cx="590550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“받는 사람은 누구인가요?”</a:t>
            </a:r>
            <a:endParaRPr lang="ko-KR">
              <a:latin typeface="Calibri"/>
              <a:ea typeface="Calibri"/>
              <a:cs typeface="Calibri"/>
            </a:endParaRPr>
          </a:p>
        </p:txBody>
      </p:sp>
      <p:sp>
        <p:nvSpPr>
          <p:cNvPr id="26" name="dp44-background-24">
            <a:extLst>
              <a:ext uri="{FF2B5EF4-FFF2-40B4-BE49-F238E27FC236}">
                <ns2:creationId id="{EED3DC9F-C4B3-475B-A5BD-4749E24C2F32}"/>
              </a:ext>
            </a:extLst>
          </p:cNvPr>
          <p:cNvSpPr>
            <a:spLocks noGrp="1"/>
          </p:cNvSpPr>
          <p:nvPr/>
        </p:nvSpPr>
        <p:spPr>
          <a:xfrm>
            <a:off x="8982075" y="5219700"/>
            <a:ext cx="4638675" cy="9525"/>
          </a:xfrm>
          <a:custGeom>
            <a:pathLst>
              <a:path w="4638675" h="9525">
                <a:moveTo>
                  <a:pt x="0" y="0"/>
                </a:moveTo>
                <a:lnTo>
                  <a:pt x="4638675" y="0"/>
                </a:lnTo>
              </a:path>
            </a:pathLst>
          </a:custGeom>
          <a:noFill/>
          <a:ln w="23813">
            <a:solidFill>
              <a:srgbClr val="00889A"/>
            </a:solidFill>
            <a:prstDash val="dash"/>
          </a:ln>
        </p:spPr>
      </p:sp>
      <p:sp>
        <p:nvSpPr>
          <p:cNvPr id="27" name="dp44-background-24-arrow">
            <a:extLst>
              <a:ext uri="{FF2B5EF4-FFF2-40B4-BE49-F238E27FC236}">
                <ns2:creationId id="{E7235CF5-9449-4674-A2D8-4DC207A3046D}"/>
              </a:ext>
            </a:extLst>
          </p:cNvPr>
          <p:cNvSpPr>
            <a:spLocks noGrp="1"/>
          </p:cNvSpPr>
          <p:nvPr/>
        </p:nvSpPr>
        <p:spPr>
          <a:xfrm>
            <a:off x="13512083" y="5160335"/>
            <a:ext cx="108667" cy="118730"/>
          </a:xfrm>
          <a:custGeom>
            <a:pathLst>
              <a:path w="108667" h="118730">
                <a:moveTo>
                  <a:pt x="0" y="118730"/>
                </a:moveTo>
                <a:lnTo>
                  <a:pt x="108667" y="59365"/>
                </a:lnTo>
                <a:lnTo>
                  <a:pt x="0" y="0"/>
                </a:lnTo>
              </a:path>
            </a:pathLst>
          </a:custGeom>
          <a:noFill/>
          <a:ln w="23813">
            <a:solidFill>
              <a:srgbClr val="00889A"/>
            </a:solidFill>
            <a:prstDash val="solid"/>
          </a:ln>
        </p:spPr>
      </p:sp>
      <p:sp>
        <p:nvSpPr>
          <p:cNvPr id="28" name="dp44-background-25">
            <a:extLst>
              <a:ext uri="{FF2B5EF4-FFF2-40B4-BE49-F238E27FC236}">
                <ns2:creationId id="{62491511-CAA4-48F8-BD2B-2509C5AD3EC8}"/>
              </a:ext>
            </a:extLst>
          </p:cNvPr>
          <p:cNvSpPr>
            <a:spLocks noGrp="1"/>
          </p:cNvSpPr>
          <p:nvPr/>
        </p:nvSpPr>
        <p:spPr>
          <a:xfrm>
            <a:off x="13906500" y="4914900"/>
            <a:ext cx="3714750" cy="8191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메일 업무로 연결</a:t>
            </a:r>
            <a:endParaRPr lang="ko-KR">
              <a:latin typeface="Calibri"/>
              <a:ea typeface="Calibri"/>
              <a:cs typeface="Calibri"/>
            </a:endParaRPr>
          </a:p>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적절한 차례에 제시</a:t>
            </a:r>
            <a:endParaRPr lang="ko-KR">
              <a:latin typeface="Calibri"/>
              <a:ea typeface="Calibri"/>
              <a:cs typeface="Calibri"/>
            </a:endParaRPr>
          </a:p>
        </p:txBody>
      </p:sp>
      <p:sp>
        <p:nvSpPr>
          <p:cNvPr id="29" name="dp44-background-26">
            <a:extLst>
              <a:ext uri="{FF2B5EF4-FFF2-40B4-BE49-F238E27FC236}">
                <ns2:creationId id="{2CF9167B-D0B4-46A6-A678-E17A7E40E11D}"/>
              </a:ext>
            </a:extLst>
          </p:cNvPr>
          <p:cNvSpPr>
            <a:spLocks noGrp="1"/>
          </p:cNvSpPr>
          <p:nvPr/>
        </p:nvSpPr>
        <p:spPr>
          <a:xfrm>
            <a:off x="10153650" y="6057900"/>
            <a:ext cx="266700" cy="266700"/>
          </a:xfrm>
          <a:prstGeom prst="ellipse">
            <a:avLst/>
          </a:prstGeom>
          <a:solidFill>
            <a:srgbClr val="FFFFFF"/>
          </a:solidFill>
          <a:ln w="19050">
            <a:solidFill>
              <a:srgbClr val="C00000"/>
            </a:solidFill>
          </a:ln>
        </p:spPr>
        <p:txBody>
          <a:bodyPr wrap="none" lIns="133350" tIns="0" rIns="133350" bIns="0" anchor="ctr">
            <a:noAutofit/>
          </a:bodyPr>
          <a:lstStyle>
            <a:defPPr algn="ctr">
              <a:defRPr sz="2100" b="0" lang="ko-KR">
                <a:solidFill>
                  <a:srgbClr val="000000"/>
                </a:solidFill>
                <a:latin typeface="Calibri"/>
                <a:ea typeface="Calibri"/>
                <a:cs typeface="Calibri"/>
              </a:defRPr>
            </a:defPPr>
          </a:lstStyle>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30" name="dp44-background-27">
            <a:extLst>
              <a:ext uri="{FF2B5EF4-FFF2-40B4-BE49-F238E27FC236}">
                <ns2:creationId id="{88E231CE-6C3D-4757-BC69-40D8D2CE8F6F}"/>
              </a:ext>
            </a:extLst>
          </p:cNvPr>
          <p:cNvSpPr>
            <a:spLocks noGrp="1"/>
          </p:cNvSpPr>
          <p:nvPr/>
        </p:nvSpPr>
        <p:spPr>
          <a:xfrm>
            <a:off x="10420350" y="6191250"/>
            <a:ext cx="1914525" cy="9525"/>
          </a:xfrm>
          <a:custGeom>
            <a:pathLst>
              <a:path w="1914525" h="9525">
                <a:moveTo>
                  <a:pt x="0" y="0"/>
                </a:moveTo>
                <a:lnTo>
                  <a:pt x="1914525" y="0"/>
                </a:lnTo>
              </a:path>
            </a:pathLst>
          </a:custGeom>
          <a:noFill/>
          <a:ln w="23813">
            <a:solidFill>
              <a:srgbClr val="C00000"/>
            </a:solidFill>
            <a:prstDash val="solid"/>
          </a:ln>
        </p:spPr>
      </p:sp>
      <p:sp>
        <p:nvSpPr>
          <p:cNvPr id="31" name="dp44-background-27-arrow">
            <a:extLst>
              <a:ext uri="{FF2B5EF4-FFF2-40B4-BE49-F238E27FC236}">
                <ns2:creationId id="{4AB7294F-36F3-4D15-B23B-82B5EEA7B03E}"/>
              </a:ext>
            </a:extLst>
          </p:cNvPr>
          <p:cNvSpPr>
            <a:spLocks noGrp="1"/>
          </p:cNvSpPr>
          <p:nvPr/>
        </p:nvSpPr>
        <p:spPr>
          <a:xfrm>
            <a:off x="12226208" y="6131885"/>
            <a:ext cx="108667" cy="118730"/>
          </a:xfrm>
          <a:custGeom>
            <a:pathLst>
              <a:path w="108667" h="118730">
                <a:moveTo>
                  <a:pt x="0" y="118730"/>
                </a:moveTo>
                <a:lnTo>
                  <a:pt x="108667" y="59365"/>
                </a:lnTo>
                <a:lnTo>
                  <a:pt x="0" y="0"/>
                </a:lnTo>
              </a:path>
            </a:pathLst>
          </a:custGeom>
          <a:noFill/>
          <a:ln w="23813">
            <a:solidFill>
              <a:srgbClr val="C00000"/>
            </a:solidFill>
            <a:prstDash val="solid"/>
          </a:ln>
        </p:spPr>
      </p:sp>
      <p:sp>
        <p:nvSpPr>
          <p:cNvPr id="32" name="dp44-background-28">
            <a:extLst>
              <a:ext uri="{FF2B5EF4-FFF2-40B4-BE49-F238E27FC236}">
                <ns2:creationId id="{A94DD8E7-43EF-4220-B68D-C1E0457DE76D}"/>
              </a:ext>
            </a:extLst>
          </p:cNvPr>
          <p:cNvSpPr>
            <a:spLocks noGrp="1"/>
          </p:cNvSpPr>
          <p:nvPr/>
        </p:nvSpPr>
        <p:spPr>
          <a:xfrm>
            <a:off x="12573000" y="6057900"/>
            <a:ext cx="266700" cy="266700"/>
          </a:xfrm>
          <a:custGeom>
            <a:pathLst>
              <a:path w="266700" h="266700">
                <a:moveTo>
                  <a:pt x="0" y="0"/>
                </a:moveTo>
                <a:lnTo>
                  <a:pt x="266700" y="266700"/>
                </a:lnTo>
              </a:path>
            </a:pathLst>
          </a:custGeom>
          <a:noFill/>
          <a:ln w="28575">
            <a:solidFill>
              <a:srgbClr val="C00000"/>
            </a:solidFill>
            <a:prstDash val="solid"/>
          </a:ln>
        </p:spPr>
      </p:sp>
      <p:sp>
        <p:nvSpPr>
          <p:cNvPr id="33" name="dp44-background-29">
            <a:extLst>
              <a:ext uri="{FF2B5EF4-FFF2-40B4-BE49-F238E27FC236}">
                <ns2:creationId id="{C8307ADE-6355-474A-BB73-DC1693D3D226}"/>
              </a:ext>
            </a:extLst>
          </p:cNvPr>
          <p:cNvSpPr>
            <a:spLocks noGrp="1"/>
          </p:cNvSpPr>
          <p:nvPr/>
        </p:nvSpPr>
        <p:spPr>
          <a:xfrm>
            <a:off x="12573000" y="6057900"/>
            <a:ext cx="266700" cy="266700"/>
          </a:xfrm>
          <a:custGeom>
            <a:pathLst>
              <a:path w="266700" h="266700">
                <a:moveTo>
                  <a:pt x="266700" y="0"/>
                </a:moveTo>
                <a:lnTo>
                  <a:pt x="0" y="266700"/>
                </a:lnTo>
              </a:path>
            </a:pathLst>
          </a:custGeom>
          <a:noFill/>
          <a:ln w="28575">
            <a:solidFill>
              <a:srgbClr val="C00000"/>
            </a:solidFill>
            <a:prstDash val="solid"/>
          </a:ln>
        </p:spPr>
      </p:sp>
      <p:sp>
        <p:nvSpPr>
          <p:cNvPr id="34" name="dp44-background-30">
            <a:extLst>
              <a:ext uri="{FF2B5EF4-FFF2-40B4-BE49-F238E27FC236}">
                <ns2:creationId id="{2A124004-C144-44E6-B7FF-E927AC0EDAD0}"/>
              </a:ext>
            </a:extLst>
          </p:cNvPr>
          <p:cNvSpPr>
            <a:spLocks noGrp="1"/>
          </p:cNvSpPr>
          <p:nvPr/>
        </p:nvSpPr>
        <p:spPr>
          <a:xfrm>
            <a:off x="13239750" y="5972175"/>
            <a:ext cx="4381500" cy="495300"/>
          </a:xfrm>
          <a:prstGeom prst="rect">
            <a:avLst/>
          </a:prstGeom>
          <a:noFill/>
          <a:ln w="0">
            <a:noFill/>
          </a:ln>
        </p:spPr>
        <p:txBody>
          <a:bodyPr wrap="none" lIns="0" tIns="0" rIns="0" bIns="0" anchor="ctr">
            <a:noAutofit/>
          </a:bodyPr>
          <a:lstStyle>
            <a:defPPr algn="l">
              <a:defRPr sz="2100" b="1" lang="ko-KR">
                <a:solidFill>
                  <a:srgbClr val="000000"/>
                </a:solidFill>
                <a:latin typeface="Calibri"/>
                <a:ea typeface="Calibri"/>
                <a:cs typeface="Calibri"/>
              </a:defRPr>
            </a:defP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정정 전 후보는 다시 말하지 않음</a:t>
            </a:r>
            <a:endParaRPr lang="ko-KR">
              <a:latin typeface="Calibri"/>
              <a:ea typeface="Calibri"/>
              <a:cs typeface="Calibri"/>
            </a:endParaRPr>
          </a:p>
        </p:txBody>
      </p:sp>
      <p:sp>
        <p:nvSpPr>
          <p:cNvPr id="35" name="dp44-background-31">
            <a:extLst>
              <a:ext uri="{FF2B5EF4-FFF2-40B4-BE49-F238E27FC236}">
                <ns2:creationId id="{E8C8A7A4-1ECD-4310-8487-00A2726FF89C}"/>
              </a:ext>
            </a:extLst>
          </p:cNvPr>
          <p:cNvSpPr>
            <a:spLocks noGrp="1"/>
          </p:cNvSpPr>
          <p:nvPr/>
        </p:nvSpPr>
        <p:spPr>
          <a:xfrm>
            <a:off x="495300" y="6981825"/>
            <a:ext cx="17297400" cy="51435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정정 전 답변을 다시 말하거나 메일 질문을 놓치면, 사용자의 제어가 무너집니다.</a:t>
            </a:r>
            <a:endParaRPr lang="ko-KR">
              <a:latin typeface="Calibri"/>
              <a:ea typeface="Calibri"/>
              <a:cs typeface="Calibri"/>
            </a:endParaRPr>
          </a:p>
        </p:txBody>
      </p:sp>
      <p:sp>
        <p:nvSpPr>
          <p:cNvPr id="36" name="dp44-background-32">
            <a:extLst>
              <a:ext uri="{FF2B5EF4-FFF2-40B4-BE49-F238E27FC236}">
                <ns2:creationId id="{BA6EA216-88BA-4111-B0B5-40E76ECB3921}"/>
              </a:ext>
            </a:extLst>
          </p:cNvPr>
          <p:cNvSpPr>
            <a:spLocks noGrp="1"/>
          </p:cNvSpPr>
          <p:nvPr/>
        </p:nvSpPr>
        <p:spPr>
          <a:xfrm>
            <a:off x="495300" y="7781925"/>
            <a:ext cx="17297400" cy="609600"/>
          </a:xfrm>
          <a:prstGeom prst="rect">
            <a:avLst/>
          </a:prstGeom>
          <a:noFill/>
          <a:ln w="0">
            <a:noFill/>
          </a:ln>
        </p:spPr>
        <p:txBody>
          <a:bodyPr wrap="none" lIns="0" tIns="0" rIns="0" bIns="0" anchor="ctr">
            <a:noAutofit/>
          </a:bodyPr>
          <a:lstStyle>
            <a:defPPr algn="l">
              <a:defRPr sz="2200" b="0" lang="ko-KR">
                <a:solidFill>
                  <a:srgbClr val="000000"/>
                </a:solidFill>
                <a:latin typeface="Calibri"/>
                <a:ea typeface="Calibri"/>
                <a:cs typeface="Calibri"/>
              </a:defRPr>
            </a:defP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도착 순서만으로 다음 처리를 정할 수 없습니다. 준비 완료와 실제 전달도 구별해야 합니다.</a:t>
            </a:r>
            <a:endParaRPr lang="ko-KR">
              <a:latin typeface="Calibri"/>
              <a:ea typeface="Calibri"/>
              <a:cs typeface="Calibri"/>
            </a:endParaRPr>
          </a:p>
        </p:txBody>
      </p:sp>
      <p:sp>
        <p:nvSpPr>
          <p:cNvPr id="37" name="v6-header-stage-0">
            <a:extLst>
              <a:ext uri="{FF2B5EF4-FFF2-40B4-BE49-F238E27FC236}">
                <ns2:creationId id="{5676C74C-BCC9-41ED-A4AB-788611456452}"/>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8" name="v6-header-stage-1">
            <a:extLst>
              <a:ext uri="{FF2B5EF4-FFF2-40B4-BE49-F238E27FC236}">
                <ns2:creationId id="{9015CB6D-EEE6-48B3-BF47-5C347CD7613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9" name="v6-header-stage-2">
            <a:extLst>
              <a:ext uri="{FF2B5EF4-FFF2-40B4-BE49-F238E27FC236}">
                <ns2:creationId id="{4F3BDCA7-F0E0-4B0D-B8A8-BBF8772A7E8B}"/>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0" name="v6-header-stage-3">
            <a:extLst>
              <a:ext uri="{FF2B5EF4-FFF2-40B4-BE49-F238E27FC236}">
                <ns2:creationId id="{81864711-46F3-4BE3-ACFB-A8E7F1E039B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1" name="v6-header-stage-4">
            <a:extLst>
              <a:ext uri="{FF2B5EF4-FFF2-40B4-BE49-F238E27FC236}">
                <ns2:creationId id="{099A8CDA-2A8F-4344-B9C0-28743A02E0B3}"/>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42" name="v6-header-page">
            <a:extLst>
              <a:ext uri="{FF2B5EF4-FFF2-40B4-BE49-F238E27FC236}">
                <ns2:creationId id="{FF5E01B6-949A-4C3C-8E41-1644B5A3CE1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15 / 33</a:t>
            </a:r>
            <a:endParaRPr lang="ko-KR">
              <a:latin typeface="Calibri"/>
              <a:ea typeface="Calibri"/>
              <a:cs typeface="Calibri"/>
            </a:endParaRPr>
          </a:p>
        </p:txBody>
      </p:sp>
    </p:spTree>
    <p:extLst>
      <p:ext uri="{BB962C8B-B14F-4D97-AF65-F5344CB8AC3E}">
        <p14:creationId val="2049395896"/>
      </p:ext>
    </p:extLst>
  </p:cSld>
</p:sld>
</file>

<file path=ppt/slides/slide60.xml><?xml version="1.0" encoding="utf-8"?>
<p:sld xmlns:a="http://schemas.openxmlformats.org/drawingml/2006/main" xmlns:ns2="http://schemas.microsoft.com/office/drawing/2014/main" xmlns:p="http://schemas.openxmlformats.org/presentationml/2006/main" xmlns:p14="http://schemas.microsoft.com/office/powerpoint/2010/main">
  <p:cSld name="dp45-background-v3">
    <p:bg>
      <p:bgPr>
        <a:solidFill>
          <a:srgbClr val="FFFFFF"/>
        </a:solidFill>
      </p:bgPr>
    </p:bg>
    <p:spTree>
      <p:nvGrpSpPr>
        <p:cNvPr id="2" name=""/>
        <p:cNvGrpSpPr/>
        <p:nvPr/>
      </p:nvGrpSpPr>
      <p:grpSpPr>
        <a:xfrm/>
      </p:grpSpPr>
      <p:sp>
        <p:nvSpPr>
          <p:cNvPr id="3" name="dp45-background-1">
            <a:extLst>
              <a:ext uri="{FF2B5EF4-FFF2-40B4-BE49-F238E27FC236}">
                <ns2:creationId id="{5F7C7CED-F20B-4CBA-AC1D-1F48AEC67B2C}"/>
              </a:ext>
            </a:extLst>
          </p:cNvPr>
          <p:cNvSpPr>
            <a:spLocks noGrp="1"/>
          </p:cNvSpPr>
          <p:nvPr/>
        </p:nvSpPr>
        <p:spPr>
          <a:xfrm>
            <a:off x="571500" y="285750"/>
            <a:ext cx="9906000" cy="571500"/>
          </a:xfrm>
          <a:prstGeom prst="rect">
            <a:avLst/>
          </a:prstGeom>
          <a:noFill/>
          <a:ln w="0">
            <a:noFill/>
          </a:ln>
        </p:spPr>
        <p:txBody>
          <a:bodyPr wrap="none" lIns="0" tIns="0" rIns="0" bIns="0" anchor="ctr">
            <a:noAutofit/>
          </a:bodyPr>
          <a:lstStyle>
            <a:defPPr algn="l">
              <a:defRPr sz="3000" b="1" lang="ko-KR">
                <a:solidFill>
                  <a:srgbClr val="000000"/>
                </a:solidFill>
                <a:latin typeface="Calibri"/>
                <a:ea typeface="Calibri"/>
                <a:cs typeface="Calibri"/>
              </a:defRPr>
            </a:defP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DP45. 과거 설명과 업무 결과의 재사용</a:t>
            </a:r>
            <a:endParaRPr lang="ko-KR">
              <a:latin typeface="Calibri"/>
              <a:ea typeface="Calibri"/>
              <a:cs typeface="Calibri"/>
            </a:endParaRPr>
          </a:p>
        </p:txBody>
      </p:sp>
      <p:sp>
        <p:nvSpPr>
          <p:cNvPr id="4" name="dp45-background-2">
            <a:extLst>
              <a:ext uri="{FF2B5EF4-FFF2-40B4-BE49-F238E27FC236}">
                <ns2:creationId id="{A0D6114F-5AB9-4287-AAA3-A0D1FA3C9B13}"/>
              </a:ext>
            </a:extLst>
          </p:cNvPr>
          <p:cNvSpPr>
            <a:spLocks noGrp="1"/>
          </p:cNvSpPr>
          <p:nvPr/>
        </p:nvSpPr>
        <p:spPr>
          <a:xfrm>
            <a:off x="495300" y="990600"/>
            <a:ext cx="17335500" cy="9525"/>
          </a:xfrm>
          <a:custGeom>
            <a:pathLst>
              <a:path w="17335500" h="9525">
                <a:moveTo>
                  <a:pt x="0" y="0"/>
                </a:moveTo>
                <a:lnTo>
                  <a:pt x="17335500" y="0"/>
                </a:lnTo>
              </a:path>
            </a:pathLst>
          </a:custGeom>
          <a:noFill/>
          <a:ln w="14288">
            <a:solidFill>
              <a:srgbClr val="A6A6A6"/>
            </a:solidFill>
            <a:prstDash val="solid"/>
          </a:ln>
        </p:spPr>
      </p:sp>
      <p:sp>
        <p:nvSpPr>
          <p:cNvPr id="5" name="dp45-background-3">
            <a:extLst>
              <a:ext uri="{FF2B5EF4-FFF2-40B4-BE49-F238E27FC236}">
                <ns2:creationId id="{095DFED0-4891-451A-94ED-AA9299893A62}"/>
              </a:ext>
            </a:extLst>
          </p:cNvPr>
          <p:cNvSpPr>
            <a:spLocks noGrp="1"/>
          </p:cNvSpPr>
          <p:nvPr/>
        </p:nvSpPr>
        <p:spPr>
          <a:xfrm>
            <a:off x="495300" y="8648700"/>
            <a:ext cx="17297400" cy="9525"/>
          </a:xfrm>
          <a:custGeom>
            <a:pathLst>
              <a:path w="17297400" h="9525">
                <a:moveTo>
                  <a:pt x="0" y="0"/>
                </a:moveTo>
                <a:lnTo>
                  <a:pt x="17297400" y="0"/>
                </a:lnTo>
              </a:path>
            </a:pathLst>
          </a:custGeom>
          <a:noFill/>
          <a:ln w="14288">
            <a:solidFill>
              <a:srgbClr val="A6A6A6"/>
            </a:solidFill>
            <a:prstDash val="solid"/>
          </a:ln>
        </p:spPr>
      </p:sp>
      <p:sp>
        <p:nvSpPr>
          <p:cNvPr id="6" name="dp45-background-4">
            <a:extLst>
              <a:ext uri="{FF2B5EF4-FFF2-40B4-BE49-F238E27FC236}">
                <ns2:creationId id="{FEB46E4C-8352-48FF-B9E8-4B847CC236CF}"/>
              </a:ext>
            </a:extLst>
          </p:cNvPr>
          <p:cNvSpPr>
            <a:spLocks noGrp="1"/>
          </p:cNvSpPr>
          <p:nvPr/>
        </p:nvSpPr>
        <p:spPr>
          <a:xfrm>
            <a:off x="495300" y="8905875"/>
            <a:ext cx="1714500" cy="476250"/>
          </a:xfrm>
          <a:prstGeom prst="rect">
            <a:avLst/>
          </a:prstGeom>
          <a:noFill/>
          <a:ln w="0">
            <a:noFill/>
          </a:ln>
        </p:spPr>
        <p:txBody>
          <a:bodyPr wrap="none" lIns="0" tIns="0" rIns="0" bIns="0" anchor="ctr">
            <a:noAutofit/>
          </a:bodyPr>
          <a:lstStyle>
            <a:defPPr algn="l">
              <a:defRPr sz="2300" b="1" lang="ko-KR">
                <a:solidFill>
                  <a:srgbClr val="C00000"/>
                </a:solidFill>
                <a:latin typeface="Calibri"/>
                <a:ea typeface="Calibri"/>
                <a:cs typeface="Calibri"/>
              </a:defRPr>
            </a:defPPr>
          </a:lstStyle>
          <a:p>
            <a:pPr algn="l">
              <a:defRPr sz="2300" b="1" lang="ko-KR">
                <a:solidFill>
                  <a:srgbClr val="C00000"/>
                </a:solidFill>
                <a:latin typeface="Calibri"/>
                <a:ea typeface="Calibri"/>
                <a:cs typeface="Calibri"/>
              </a:defRPr>
            </a:pPr>
            <a:r>
              <a:rPr sz="2300" b="1" lang="ko-KR">
                <a:solidFill>
                  <a:srgbClr val="C00000"/>
                </a:solidFill>
                <a:latin typeface="Calibri"/>
                <a:ea typeface="Calibri"/>
                <a:cs typeface="Calibri"/>
              </a:rPr>
              <a:t>설계 질문</a:t>
            </a:r>
            <a:endParaRPr lang="ko-KR">
              <a:latin typeface="Calibri"/>
              <a:ea typeface="Calibri"/>
              <a:cs typeface="Calibri"/>
            </a:endParaRPr>
          </a:p>
        </p:txBody>
      </p:sp>
      <p:sp>
        <p:nvSpPr>
          <p:cNvPr id="7" name="dp45-background-5">
            <a:extLst>
              <a:ext uri="{FF2B5EF4-FFF2-40B4-BE49-F238E27FC236}">
                <ns2:creationId id="{D577F022-CC3D-4C81-9890-96D5F534A84C}"/>
              </a:ext>
            </a:extLst>
          </p:cNvPr>
          <p:cNvSpPr>
            <a:spLocks noGrp="1"/>
          </p:cNvSpPr>
          <p:nvPr/>
        </p:nvSpPr>
        <p:spPr>
          <a:xfrm>
            <a:off x="2476500" y="8877300"/>
            <a:ext cx="15316200" cy="9525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VIA의 설명, 여러 Agent 결과와 정정·실제 전달 기록을</a:t>
            </a:r>
            <a:endParaRPr lang="ko-KR">
              <a:latin typeface="Calibri"/>
              <a:ea typeface="Calibri"/>
              <a:cs typeface="Calibri"/>
            </a:endParaRPr>
          </a:p>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나중 요청에서 어떻게 다시 연결해 사용할까?</a:t>
            </a:r>
            <a:endParaRPr lang="ko-KR">
              <a:latin typeface="Calibri"/>
              <a:ea typeface="Calibri"/>
              <a:cs typeface="Calibri"/>
            </a:endParaRPr>
          </a:p>
        </p:txBody>
      </p:sp>
      <p:sp>
        <p:nvSpPr>
          <p:cNvPr id="8" name="dp45-background-6">
            <a:extLst>
              <a:ext uri="{FF2B5EF4-FFF2-40B4-BE49-F238E27FC236}">
                <ns2:creationId id="{2D9D5FAF-441C-4CAB-B7AD-B72CFCEF1CEF}"/>
              </a:ext>
            </a:extLst>
          </p:cNvPr>
          <p:cNvSpPr>
            <a:spLocks noGrp="1"/>
          </p:cNvSpPr>
          <p:nvPr/>
        </p:nvSpPr>
        <p:spPr>
          <a:xfrm>
            <a:off x="495300" y="1428750"/>
            <a:ext cx="17297400" cy="1047750"/>
          </a:xfrm>
          <a:prstGeom prst="rect">
            <a:avLst/>
          </a:prstGeom>
          <a:noFill/>
          <a:ln w="0">
            <a:noFill/>
          </a:ln>
        </p:spPr>
        <p:txBody>
          <a:bodyPr wrap="none" lIns="0" tIns="0" rIns="0" bIns="0" anchor="ctr">
            <a:noAutofit/>
          </a:bodyPr>
          <a:lstStyle>
            <a:defPPr algn="l">
              <a:defRPr sz="2700" b="1" lang="ko-KR">
                <a:solidFill>
                  <a:srgbClr val="000000"/>
                </a:solidFill>
                <a:latin typeface="Calibri"/>
                <a:ea typeface="Calibri"/>
                <a:cs typeface="Calibri"/>
              </a:defRPr>
            </a:defPPr>
          </a:lstStyle>
          <a:p>
            <a:pPr algn="l">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“지난번 네가 설명한 기준으로,</a:t>
            </a:r>
            <a:endParaRPr lang="ko-KR">
              <a:latin typeface="Calibri"/>
              <a:ea typeface="Calibri"/>
              <a:cs typeface="Calibri"/>
            </a:endParaRPr>
          </a:p>
          <a:p>
            <a:pPr algn="l">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제품 비교와 견적도 이번 제안서에 반영해줘.”</a:t>
            </a:r>
            <a:endParaRPr lang="ko-KR">
              <a:latin typeface="Calibri"/>
              <a:ea typeface="Calibri"/>
              <a:cs typeface="Calibri"/>
            </a:endParaRPr>
          </a:p>
        </p:txBody>
      </p:sp>
      <p:sp>
        <p:nvSpPr>
          <p:cNvPr id="9" name="dp45-background-7">
            <a:extLst>
              <a:ext uri="{FF2B5EF4-FFF2-40B4-BE49-F238E27FC236}">
                <ns2:creationId id="{AF55EC40-A445-4CB6-9DEB-DFAE2F45A7F4}"/>
              </a:ext>
            </a:extLst>
          </p:cNvPr>
          <p:cNvSpPr>
            <a:spLocks noGrp="1"/>
          </p:cNvSpPr>
          <p:nvPr/>
        </p:nvSpPr>
        <p:spPr>
          <a:xfrm>
            <a:off x="495300" y="2952750"/>
            <a:ext cx="5410200" cy="47625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VIA에게 들은 설명</a:t>
            </a:r>
            <a:endParaRPr lang="ko-KR">
              <a:latin typeface="Calibri"/>
              <a:ea typeface="Calibri"/>
              <a:cs typeface="Calibri"/>
            </a:endParaRPr>
          </a:p>
        </p:txBody>
      </p:sp>
      <p:sp>
        <p:nvSpPr>
          <p:cNvPr id="10" name="dp45-background-8">
            <a:extLst>
              <a:ext uri="{FF2B5EF4-FFF2-40B4-BE49-F238E27FC236}">
                <ns2:creationId id="{591D5BB8-937F-4470-9BA1-E6D5CF600839}"/>
              </a:ext>
            </a:extLst>
          </p:cNvPr>
          <p:cNvSpPr>
            <a:spLocks noGrp="1"/>
          </p:cNvSpPr>
          <p:nvPr/>
        </p:nvSpPr>
        <p:spPr>
          <a:xfrm>
            <a:off x="495300" y="3638550"/>
            <a:ext cx="5410200" cy="1114425"/>
          </a:xfrm>
          <a:prstGeom prst="rect">
            <a:avLst/>
          </a:prstGeom>
          <a:solidFill>
            <a:srgbClr val="FFFFFF"/>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평가 기준</a:t>
            </a:r>
            <a:endParaRPr lang="ko-KR">
              <a:latin typeface="Calibri"/>
              <a:ea typeface="Calibri"/>
              <a:cs typeface="Calibri"/>
            </a:endParaRPr>
          </a:p>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원문과 실제 전달 범위</a:t>
            </a:r>
            <a:endParaRPr lang="ko-KR">
              <a:latin typeface="Calibri"/>
              <a:ea typeface="Calibri"/>
              <a:cs typeface="Calibri"/>
            </a:endParaRPr>
          </a:p>
        </p:txBody>
      </p:sp>
      <p:sp>
        <p:nvSpPr>
          <p:cNvPr id="11" name="dp45-background-9">
            <a:extLst>
              <a:ext uri="{FF2B5EF4-FFF2-40B4-BE49-F238E27FC236}">
                <ns2:creationId id="{CB938243-58B7-4B0C-9A93-C21DD77E783D}"/>
              </a:ext>
            </a:extLst>
          </p:cNvPr>
          <p:cNvSpPr>
            <a:spLocks noGrp="1"/>
          </p:cNvSpPr>
          <p:nvPr/>
        </p:nvSpPr>
        <p:spPr>
          <a:xfrm>
            <a:off x="6438900" y="2952750"/>
            <a:ext cx="5410200" cy="47625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제품 조사 Agent 결과</a:t>
            </a:r>
            <a:endParaRPr lang="ko-KR">
              <a:latin typeface="Calibri"/>
              <a:ea typeface="Calibri"/>
              <a:cs typeface="Calibri"/>
            </a:endParaRPr>
          </a:p>
        </p:txBody>
      </p:sp>
      <p:sp>
        <p:nvSpPr>
          <p:cNvPr id="12" name="dp45-background-10">
            <a:extLst>
              <a:ext uri="{FF2B5EF4-FFF2-40B4-BE49-F238E27FC236}">
                <ns2:creationId id="{7EDE7831-59AE-42B0-B168-451A7B595F2E}"/>
              </a:ext>
            </a:extLst>
          </p:cNvPr>
          <p:cNvSpPr>
            <a:spLocks noGrp="1"/>
          </p:cNvSpPr>
          <p:nvPr/>
        </p:nvSpPr>
        <p:spPr>
          <a:xfrm>
            <a:off x="6438900" y="3638550"/>
            <a:ext cx="5410200" cy="1114425"/>
          </a:xfrm>
          <a:prstGeom prst="rect">
            <a:avLst/>
          </a:prstGeom>
          <a:solidFill>
            <a:srgbClr val="FFFFFF"/>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제품 비교</a:t>
            </a:r>
            <a:endParaRPr lang="ko-KR">
              <a:latin typeface="Calibri"/>
              <a:ea typeface="Calibri"/>
              <a:cs typeface="Calibri"/>
            </a:endParaRPr>
          </a:p>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확인된 결과와 자료 참조</a:t>
            </a:r>
            <a:endParaRPr lang="ko-KR">
              <a:latin typeface="Calibri"/>
              <a:ea typeface="Calibri"/>
              <a:cs typeface="Calibri"/>
            </a:endParaRPr>
          </a:p>
        </p:txBody>
      </p:sp>
      <p:sp>
        <p:nvSpPr>
          <p:cNvPr id="13" name="dp45-background-11">
            <a:extLst>
              <a:ext uri="{FF2B5EF4-FFF2-40B4-BE49-F238E27FC236}">
                <ns2:creationId id="{8DD9DE5D-C9A5-4B5F-A913-E2300708D5C5}"/>
              </a:ext>
            </a:extLst>
          </p:cNvPr>
          <p:cNvSpPr>
            <a:spLocks noGrp="1"/>
          </p:cNvSpPr>
          <p:nvPr/>
        </p:nvSpPr>
        <p:spPr>
          <a:xfrm>
            <a:off x="12382500" y="2952750"/>
            <a:ext cx="5410200" cy="47625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견적 Agent 결과</a:t>
            </a:r>
            <a:endParaRPr lang="ko-KR">
              <a:latin typeface="Calibri"/>
              <a:ea typeface="Calibri"/>
              <a:cs typeface="Calibri"/>
            </a:endParaRPr>
          </a:p>
        </p:txBody>
      </p:sp>
      <p:sp>
        <p:nvSpPr>
          <p:cNvPr id="14" name="dp45-background-12">
            <a:extLst>
              <a:ext uri="{FF2B5EF4-FFF2-40B4-BE49-F238E27FC236}">
                <ns2:creationId id="{5257323E-A0A5-4A7D-9F86-C5290BB9695F}"/>
              </a:ext>
            </a:extLst>
          </p:cNvPr>
          <p:cNvSpPr>
            <a:spLocks noGrp="1"/>
          </p:cNvSpPr>
          <p:nvPr/>
        </p:nvSpPr>
        <p:spPr>
          <a:xfrm>
            <a:off x="12382500" y="3638550"/>
            <a:ext cx="5410200" cy="1114425"/>
          </a:xfrm>
          <a:prstGeom prst="rect">
            <a:avLst/>
          </a:prstGeom>
          <a:solidFill>
            <a:srgbClr val="FFFFFF"/>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견적</a:t>
            </a:r>
            <a:endParaRPr lang="ko-KR">
              <a:latin typeface="Calibri"/>
              <a:ea typeface="Calibri"/>
              <a:cs typeface="Calibri"/>
            </a:endParaRPr>
          </a:p>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확인된 결과와 버전</a:t>
            </a:r>
            <a:endParaRPr lang="ko-KR">
              <a:latin typeface="Calibri"/>
              <a:ea typeface="Calibri"/>
              <a:cs typeface="Calibri"/>
            </a:endParaRPr>
          </a:p>
        </p:txBody>
      </p:sp>
      <p:sp>
        <p:nvSpPr>
          <p:cNvPr id="15" name="dp45-background-13">
            <a:extLst>
              <a:ext uri="{FF2B5EF4-FFF2-40B4-BE49-F238E27FC236}">
                <ns2:creationId id="{9FDE953C-9335-4D9D-8CA9-71B9D69BA63E}"/>
              </a:ext>
            </a:extLst>
          </p:cNvPr>
          <p:cNvSpPr>
            <a:spLocks noGrp="1"/>
          </p:cNvSpPr>
          <p:nvPr/>
        </p:nvSpPr>
        <p:spPr>
          <a:xfrm>
            <a:off x="3200400" y="4791075"/>
            <a:ext cx="9525" cy="190500"/>
          </a:xfrm>
          <a:custGeom>
            <a:pathLst>
              <a:path w="9525" h="190500">
                <a:moveTo>
                  <a:pt x="0" y="0"/>
                </a:moveTo>
                <a:lnTo>
                  <a:pt x="0" y="190500"/>
                </a:lnTo>
              </a:path>
            </a:pathLst>
          </a:custGeom>
          <a:noFill/>
          <a:ln w="23813">
            <a:solidFill>
              <a:srgbClr val="00889A"/>
            </a:solidFill>
            <a:prstDash val="solid"/>
          </a:ln>
        </p:spPr>
      </p:sp>
      <p:sp>
        <p:nvSpPr>
          <p:cNvPr id="16" name="dp45-background-14">
            <a:extLst>
              <a:ext uri="{FF2B5EF4-FFF2-40B4-BE49-F238E27FC236}">
                <ns2:creationId id="{1BFA1A74-FF3F-49B8-9604-4F7EDA32D7A9}"/>
              </a:ext>
            </a:extLst>
          </p:cNvPr>
          <p:cNvSpPr>
            <a:spLocks noGrp="1"/>
          </p:cNvSpPr>
          <p:nvPr/>
        </p:nvSpPr>
        <p:spPr>
          <a:xfrm>
            <a:off x="3200400" y="5619750"/>
            <a:ext cx="9525" cy="142875"/>
          </a:xfrm>
          <a:custGeom>
            <a:pathLst>
              <a:path w="9525" h="142875">
                <a:moveTo>
                  <a:pt x="0" y="0"/>
                </a:moveTo>
                <a:lnTo>
                  <a:pt x="0" y="142875"/>
                </a:lnTo>
              </a:path>
            </a:pathLst>
          </a:custGeom>
          <a:noFill/>
          <a:ln w="23813">
            <a:solidFill>
              <a:srgbClr val="00889A"/>
            </a:solidFill>
            <a:prstDash val="solid"/>
          </a:ln>
        </p:spPr>
      </p:sp>
      <p:sp>
        <p:nvSpPr>
          <p:cNvPr id="17" name="dp45-background-14-arrow">
            <a:extLst>
              <a:ext uri="{FF2B5EF4-FFF2-40B4-BE49-F238E27FC236}">
                <ns2:creationId id="{22C2BFB0-D40B-4EF3-AC8A-F3EA025687BE}"/>
              </a:ext>
            </a:extLst>
          </p:cNvPr>
          <p:cNvSpPr>
            <a:spLocks noGrp="1"/>
          </p:cNvSpPr>
          <p:nvPr/>
        </p:nvSpPr>
        <p:spPr>
          <a:xfrm>
            <a:off x="3141035" y="5653958"/>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18" name="dp45-background-15">
            <a:extLst>
              <a:ext uri="{FF2B5EF4-FFF2-40B4-BE49-F238E27FC236}">
                <ns2:creationId id="{8F091913-6AB5-4CFC-BF4E-3BC144A90779}"/>
              </a:ext>
            </a:extLst>
          </p:cNvPr>
          <p:cNvSpPr>
            <a:spLocks noGrp="1"/>
          </p:cNvSpPr>
          <p:nvPr/>
        </p:nvSpPr>
        <p:spPr>
          <a:xfrm>
            <a:off x="9144000" y="4791075"/>
            <a:ext cx="9525" cy="190500"/>
          </a:xfrm>
          <a:custGeom>
            <a:pathLst>
              <a:path w="9525" h="190500">
                <a:moveTo>
                  <a:pt x="0" y="0"/>
                </a:moveTo>
                <a:lnTo>
                  <a:pt x="0" y="190500"/>
                </a:lnTo>
              </a:path>
            </a:pathLst>
          </a:custGeom>
          <a:noFill/>
          <a:ln w="23813">
            <a:solidFill>
              <a:srgbClr val="00889A"/>
            </a:solidFill>
            <a:prstDash val="solid"/>
          </a:ln>
        </p:spPr>
      </p:sp>
      <p:sp>
        <p:nvSpPr>
          <p:cNvPr id="19" name="dp45-background-16">
            <a:extLst>
              <a:ext uri="{FF2B5EF4-FFF2-40B4-BE49-F238E27FC236}">
                <ns2:creationId id="{E7C15E7C-671D-4D67-828D-8F7E82432B1F}"/>
              </a:ext>
            </a:extLst>
          </p:cNvPr>
          <p:cNvSpPr>
            <a:spLocks noGrp="1"/>
          </p:cNvSpPr>
          <p:nvPr/>
        </p:nvSpPr>
        <p:spPr>
          <a:xfrm>
            <a:off x="9144000" y="5619750"/>
            <a:ext cx="9525" cy="142875"/>
          </a:xfrm>
          <a:custGeom>
            <a:pathLst>
              <a:path w="9525" h="142875">
                <a:moveTo>
                  <a:pt x="0" y="0"/>
                </a:moveTo>
                <a:lnTo>
                  <a:pt x="0" y="142875"/>
                </a:lnTo>
              </a:path>
            </a:pathLst>
          </a:custGeom>
          <a:noFill/>
          <a:ln w="23813">
            <a:solidFill>
              <a:srgbClr val="00889A"/>
            </a:solidFill>
            <a:prstDash val="solid"/>
          </a:ln>
        </p:spPr>
      </p:sp>
      <p:sp>
        <p:nvSpPr>
          <p:cNvPr id="20" name="dp45-background-16-arrow">
            <a:extLst>
              <a:ext uri="{FF2B5EF4-FFF2-40B4-BE49-F238E27FC236}">
                <ns2:creationId id="{2479D4A1-27FA-4C0C-BE6A-EE16D3EE4ED3}"/>
              </a:ext>
            </a:extLst>
          </p:cNvPr>
          <p:cNvSpPr>
            <a:spLocks noGrp="1"/>
          </p:cNvSpPr>
          <p:nvPr/>
        </p:nvSpPr>
        <p:spPr>
          <a:xfrm>
            <a:off x="9084635" y="5653958"/>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21" name="dp45-background-17">
            <a:extLst>
              <a:ext uri="{FF2B5EF4-FFF2-40B4-BE49-F238E27FC236}">
                <ns2:creationId id="{82BBCBBA-B449-4040-8ADA-D64E3DEF592E}"/>
              </a:ext>
            </a:extLst>
          </p:cNvPr>
          <p:cNvSpPr>
            <a:spLocks noGrp="1"/>
          </p:cNvSpPr>
          <p:nvPr/>
        </p:nvSpPr>
        <p:spPr>
          <a:xfrm>
            <a:off x="15087600" y="4791075"/>
            <a:ext cx="9525" cy="190500"/>
          </a:xfrm>
          <a:custGeom>
            <a:pathLst>
              <a:path w="9525" h="190500">
                <a:moveTo>
                  <a:pt x="0" y="0"/>
                </a:moveTo>
                <a:lnTo>
                  <a:pt x="0" y="190500"/>
                </a:lnTo>
              </a:path>
            </a:pathLst>
          </a:custGeom>
          <a:noFill/>
          <a:ln w="23813">
            <a:solidFill>
              <a:srgbClr val="00889A"/>
            </a:solidFill>
            <a:prstDash val="solid"/>
          </a:ln>
        </p:spPr>
      </p:sp>
      <p:sp>
        <p:nvSpPr>
          <p:cNvPr id="22" name="dp45-background-18">
            <a:extLst>
              <a:ext uri="{FF2B5EF4-FFF2-40B4-BE49-F238E27FC236}">
                <ns2:creationId id="{A27D91E8-A42C-4882-8B5A-91AD7B344AEC}"/>
              </a:ext>
            </a:extLst>
          </p:cNvPr>
          <p:cNvSpPr>
            <a:spLocks noGrp="1"/>
          </p:cNvSpPr>
          <p:nvPr/>
        </p:nvSpPr>
        <p:spPr>
          <a:xfrm>
            <a:off x="15087600" y="5619750"/>
            <a:ext cx="9525" cy="142875"/>
          </a:xfrm>
          <a:custGeom>
            <a:pathLst>
              <a:path w="9525" h="142875">
                <a:moveTo>
                  <a:pt x="0" y="0"/>
                </a:moveTo>
                <a:lnTo>
                  <a:pt x="0" y="142875"/>
                </a:lnTo>
              </a:path>
            </a:pathLst>
          </a:custGeom>
          <a:noFill/>
          <a:ln w="23813">
            <a:solidFill>
              <a:srgbClr val="00889A"/>
            </a:solidFill>
            <a:prstDash val="solid"/>
          </a:ln>
        </p:spPr>
      </p:sp>
      <p:sp>
        <p:nvSpPr>
          <p:cNvPr id="23" name="dp45-background-18-arrow">
            <a:extLst>
              <a:ext uri="{FF2B5EF4-FFF2-40B4-BE49-F238E27FC236}">
                <ns2:creationId id="{5DB91BAC-636D-4534-AECE-D3F3AB92A1C8}"/>
              </a:ext>
            </a:extLst>
          </p:cNvPr>
          <p:cNvSpPr>
            <a:spLocks noGrp="1"/>
          </p:cNvSpPr>
          <p:nvPr/>
        </p:nvSpPr>
        <p:spPr>
          <a:xfrm>
            <a:off x="15028235" y="5653958"/>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24" name="dp45-background-19">
            <a:extLst>
              <a:ext uri="{FF2B5EF4-FFF2-40B4-BE49-F238E27FC236}">
                <ns2:creationId id="{E531A2B0-D5D2-4778-86D4-C9FF042FE0DC}"/>
              </a:ext>
            </a:extLst>
          </p:cNvPr>
          <p:cNvSpPr>
            <a:spLocks noGrp="1"/>
          </p:cNvSpPr>
          <p:nvPr/>
        </p:nvSpPr>
        <p:spPr>
          <a:xfrm>
            <a:off x="495300" y="5095875"/>
            <a:ext cx="17297400" cy="476250"/>
          </a:xfrm>
          <a:prstGeom prst="rect">
            <a:avLst/>
          </a:prstGeom>
          <a:noFill/>
          <a:ln w="0">
            <a:noFill/>
          </a:ln>
        </p:spPr>
        <p:txBody>
          <a:bodyPr wrap="none" lIns="0" tIns="0" rIns="0" bIns="0" anchor="ctr">
            <a:noAutofit/>
          </a:bodyPr>
          <a:lstStyle>
            <a:defPPr algn="l">
              <a:defRPr sz="2400" b="1" lang="ko-KR">
                <a:solidFill>
                  <a:srgbClr val="000000"/>
                </a:solidFill>
                <a:latin typeface="Calibri"/>
                <a:ea typeface="Calibri"/>
                <a:cs typeface="Calibri"/>
              </a:defRPr>
            </a:defP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그 뒤 “가격은 비교에서 빼줘”라고 조건을 고쳤습니다.</a:t>
            </a:r>
            <a:endParaRPr lang="ko-KR">
              <a:latin typeface="Calibri"/>
              <a:ea typeface="Calibri"/>
              <a:cs typeface="Calibri"/>
            </a:endParaRPr>
          </a:p>
        </p:txBody>
      </p:sp>
      <p:sp>
        <p:nvSpPr>
          <p:cNvPr id="25" name="dp45-background-20">
            <a:extLst>
              <a:ext uri="{FF2B5EF4-FFF2-40B4-BE49-F238E27FC236}">
                <ns2:creationId id="{8104608E-55D4-45C5-94CE-9564E558EA6D}"/>
              </a:ext>
            </a:extLst>
          </p:cNvPr>
          <p:cNvSpPr>
            <a:spLocks noGrp="1"/>
          </p:cNvSpPr>
          <p:nvPr/>
        </p:nvSpPr>
        <p:spPr>
          <a:xfrm>
            <a:off x="495300" y="5972175"/>
            <a:ext cx="17297400" cy="1038225"/>
          </a:xfrm>
          <a:prstGeom prst="rect">
            <a:avLst/>
          </a:prstGeom>
          <a:solidFill>
            <a:srgbClr val="F2F2F2"/>
          </a:solidFill>
          <a:ln w="19050">
            <a:solidFill>
              <a:srgbClr val="A6A6A6"/>
            </a:solidFill>
          </a:ln>
        </p:spPr>
        <p:txBody>
          <a:bodyPr wrap="none" lIns="133350" tIns="0" rIns="133350" bIns="0" anchor="ctr">
            <a:noAutofit/>
          </a:bodyPr>
          <a:lstStyle>
            <a:defPPr algn="ctr">
              <a:defRPr sz="2300" b="1" lang="ko-KR">
                <a:solidFill>
                  <a:srgbClr val="000000"/>
                </a:solidFill>
                <a:latin typeface="Calibri"/>
                <a:ea typeface="Calibri"/>
                <a:cs typeface="Calibri"/>
              </a:defRPr>
            </a:defP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이번 요청의 과거 맥락</a:t>
            </a:r>
            <a:endParaRPr lang="ko-KR">
              <a:latin typeface="Calibri"/>
              <a:ea typeface="Calibri"/>
              <a:cs typeface="Calibri"/>
            </a:endParaRPr>
          </a:p>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실제 전달한 기준 · 정정한 조건 · 사용 가능한 결과</a:t>
            </a:r>
            <a:endParaRPr lang="ko-KR">
              <a:latin typeface="Calibri"/>
              <a:ea typeface="Calibri"/>
              <a:cs typeface="Calibri"/>
            </a:endParaRPr>
          </a:p>
        </p:txBody>
      </p:sp>
      <p:sp>
        <p:nvSpPr>
          <p:cNvPr id="26" name="dp45-background-21">
            <a:extLst>
              <a:ext uri="{FF2B5EF4-FFF2-40B4-BE49-F238E27FC236}">
                <ns2:creationId id="{7D1DF454-6BA7-4CCD-8EF2-DF09D257940B}"/>
              </a:ext>
            </a:extLst>
          </p:cNvPr>
          <p:cNvSpPr>
            <a:spLocks noGrp="1"/>
          </p:cNvSpPr>
          <p:nvPr/>
        </p:nvSpPr>
        <p:spPr>
          <a:xfrm>
            <a:off x="495300" y="7305675"/>
            <a:ext cx="17297400" cy="4953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옛 조건이나 전달하지 않은 설명을 쓰면, 이번 업무를 다른 뜻으로 맡기게 됩니다.</a:t>
            </a:r>
            <a:endParaRPr lang="ko-KR">
              <a:latin typeface="Calibri"/>
              <a:ea typeface="Calibri"/>
              <a:cs typeface="Calibri"/>
            </a:endParaRPr>
          </a:p>
        </p:txBody>
      </p:sp>
      <p:sp>
        <p:nvSpPr>
          <p:cNvPr id="27" name="dp45-background-22">
            <a:extLst>
              <a:ext uri="{FF2B5EF4-FFF2-40B4-BE49-F238E27FC236}">
                <ns2:creationId id="{5686EFEB-90D1-47DA-AEF5-55B6FA590BBF}"/>
              </a:ext>
            </a:extLst>
          </p:cNvPr>
          <p:cNvSpPr>
            <a:spLocks noGrp="1"/>
          </p:cNvSpPr>
          <p:nvPr/>
        </p:nvSpPr>
        <p:spPr>
          <a:xfrm>
            <a:off x="495300" y="7972425"/>
            <a:ext cx="17297400" cy="457200"/>
          </a:xfrm>
          <a:prstGeom prst="rect">
            <a:avLst/>
          </a:prstGeom>
          <a:noFill/>
          <a:ln w="0">
            <a:noFill/>
          </a:ln>
        </p:spPr>
        <p:txBody>
          <a:bodyPr wrap="none" lIns="0" tIns="0" rIns="0" bIns="0" anchor="ctr">
            <a:noAutofit/>
          </a:bodyPr>
          <a:lstStyle>
            <a:defPPr algn="l">
              <a:defRPr sz="2200" b="0" lang="ko-KR">
                <a:solidFill>
                  <a:srgbClr val="000000"/>
                </a:solidFill>
                <a:latin typeface="Calibri"/>
                <a:ea typeface="Calibri"/>
                <a:cs typeface="Calibri"/>
              </a:defRPr>
            </a:defP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기록이 여러 곳에 흩어져 있고, 수정·삭제 후 사용할 수 있는 범위도 바뀝니다.</a:t>
            </a:r>
            <a:endParaRPr lang="ko-KR">
              <a:latin typeface="Calibri"/>
              <a:ea typeface="Calibri"/>
              <a:cs typeface="Calibri"/>
            </a:endParaRPr>
          </a:p>
        </p:txBody>
      </p:sp>
      <p:sp>
        <p:nvSpPr>
          <p:cNvPr id="28" name="v6-header-stage-0">
            <a:extLst>
              <a:ext uri="{FF2B5EF4-FFF2-40B4-BE49-F238E27FC236}">
                <ns2:creationId id="{5676C74C-BCC9-41ED-A4AB-788611456452}"/>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29" name="v6-header-stage-1">
            <a:extLst>
              <a:ext uri="{FF2B5EF4-FFF2-40B4-BE49-F238E27FC236}">
                <ns2:creationId id="{9015CB6D-EEE6-48B3-BF47-5C347CD7613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0" name="v6-header-stage-2">
            <a:extLst>
              <a:ext uri="{FF2B5EF4-FFF2-40B4-BE49-F238E27FC236}">
                <ns2:creationId id="{4F3BDCA7-F0E0-4B0D-B8A8-BBF8772A7E8B}"/>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1" name="v6-header-stage-3">
            <a:extLst>
              <a:ext uri="{FF2B5EF4-FFF2-40B4-BE49-F238E27FC236}">
                <ns2:creationId id="{81864711-46F3-4BE3-ACFB-A8E7F1E039B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2" name="v6-header-stage-4">
            <a:extLst>
              <a:ext uri="{FF2B5EF4-FFF2-40B4-BE49-F238E27FC236}">
                <ns2:creationId id="{099A8CDA-2A8F-4344-B9C0-28743A02E0B3}"/>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3" name="v6-header-page">
            <a:extLst>
              <a:ext uri="{FF2B5EF4-FFF2-40B4-BE49-F238E27FC236}">
                <ns2:creationId id="{FF5E01B6-949A-4C3C-8E41-1644B5A3CE1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17 / 33</a:t>
            </a:r>
            <a:endParaRPr lang="ko-KR">
              <a:latin typeface="Calibri"/>
              <a:ea typeface="Calibri"/>
              <a:cs typeface="Calibri"/>
            </a:endParaRPr>
          </a:p>
        </p:txBody>
      </p:sp>
    </p:spTree>
    <p:extLst>
      <p:ext uri="{BB962C8B-B14F-4D97-AF65-F5344CB8AC3E}">
        <p14:creationId val="1495495048"/>
      </p:ext>
    </p:extLst>
  </p:cSld>
</p:sld>
</file>

<file path=ppt/slides/slide61.xml><?xml version="1.0" encoding="utf-8"?>
<p:sld xmlns:a="http://schemas.openxmlformats.org/drawingml/2006/main" xmlns:ns2="http://schemas.microsoft.com/office/drawing/2014/main" xmlns:p="http://schemas.openxmlformats.org/presentationml/2006/main" xmlns:p14="http://schemas.microsoft.com/office/powerpoint/2010/main">
  <p:cSld name="dp42-background-v3">
    <p:bg>
      <p:bgPr>
        <a:solidFill>
          <a:srgbClr val="FFFFFF"/>
        </a:solidFill>
      </p:bgPr>
    </p:bg>
    <p:spTree>
      <p:nvGrpSpPr>
        <p:cNvPr id="2" name=""/>
        <p:cNvGrpSpPr/>
        <p:nvPr/>
      </p:nvGrpSpPr>
      <p:grpSpPr>
        <a:xfrm/>
      </p:grpSpPr>
      <p:sp>
        <p:nvSpPr>
          <p:cNvPr id="3" name="dp42-background-1">
            <a:extLst>
              <a:ext uri="{FF2B5EF4-FFF2-40B4-BE49-F238E27FC236}">
                <ns2:creationId id="{43251260-BC78-43C2-B7E2-1D9B16080FF8}"/>
              </a:ext>
            </a:extLst>
          </p:cNvPr>
          <p:cNvSpPr>
            <a:spLocks noGrp="1"/>
          </p:cNvSpPr>
          <p:nvPr/>
        </p:nvSpPr>
        <p:spPr>
          <a:xfrm>
            <a:off x="571500" y="285750"/>
            <a:ext cx="9906000" cy="571500"/>
          </a:xfrm>
          <a:prstGeom prst="rect">
            <a:avLst/>
          </a:prstGeom>
          <a:noFill/>
          <a:ln w="0">
            <a:noFill/>
          </a:ln>
        </p:spPr>
        <p:txBody>
          <a:bodyPr wrap="none" lIns="0" tIns="0" rIns="0" bIns="0" anchor="ctr">
            <a:noAutofit/>
          </a:bodyPr>
          <a:lstStyle>
            <a:defPPr algn="l">
              <a:defRPr sz="3000" b="1" lang="ko-KR">
                <a:solidFill>
                  <a:srgbClr val="000000"/>
                </a:solidFill>
                <a:latin typeface="Calibri"/>
                <a:ea typeface="Calibri"/>
                <a:cs typeface="Calibri"/>
              </a:defRPr>
            </a:defP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DP42. 요청이 끝나도 이어지는 보고서 업무</a:t>
            </a:r>
            <a:endParaRPr lang="ko-KR">
              <a:latin typeface="Calibri"/>
              <a:ea typeface="Calibri"/>
              <a:cs typeface="Calibri"/>
            </a:endParaRPr>
          </a:p>
        </p:txBody>
      </p:sp>
      <p:sp>
        <p:nvSpPr>
          <p:cNvPr id="4" name="dp42-background-2">
            <a:extLst>
              <a:ext uri="{FF2B5EF4-FFF2-40B4-BE49-F238E27FC236}">
                <ns2:creationId id="{9D731AFB-513D-4F45-81F6-270C02DF60DF}"/>
              </a:ext>
            </a:extLst>
          </p:cNvPr>
          <p:cNvSpPr>
            <a:spLocks noGrp="1"/>
          </p:cNvSpPr>
          <p:nvPr/>
        </p:nvSpPr>
        <p:spPr>
          <a:xfrm>
            <a:off x="495300" y="990600"/>
            <a:ext cx="17335500" cy="9525"/>
          </a:xfrm>
          <a:custGeom>
            <a:pathLst>
              <a:path w="17335500" h="9525">
                <a:moveTo>
                  <a:pt x="0" y="0"/>
                </a:moveTo>
                <a:lnTo>
                  <a:pt x="17335500" y="0"/>
                </a:lnTo>
              </a:path>
            </a:pathLst>
          </a:custGeom>
          <a:noFill/>
          <a:ln w="14288">
            <a:solidFill>
              <a:srgbClr val="A6A6A6"/>
            </a:solidFill>
            <a:prstDash val="solid"/>
          </a:ln>
        </p:spPr>
      </p:sp>
      <p:sp>
        <p:nvSpPr>
          <p:cNvPr id="5" name="dp42-background-3">
            <a:extLst>
              <a:ext uri="{FF2B5EF4-FFF2-40B4-BE49-F238E27FC236}">
                <ns2:creationId id="{4F0267F2-FE87-4DC7-B361-31AC1E631967}"/>
              </a:ext>
            </a:extLst>
          </p:cNvPr>
          <p:cNvSpPr>
            <a:spLocks noGrp="1"/>
          </p:cNvSpPr>
          <p:nvPr/>
        </p:nvSpPr>
        <p:spPr>
          <a:xfrm>
            <a:off x="495300" y="8648700"/>
            <a:ext cx="17297400" cy="9525"/>
          </a:xfrm>
          <a:custGeom>
            <a:pathLst>
              <a:path w="17297400" h="9525">
                <a:moveTo>
                  <a:pt x="0" y="0"/>
                </a:moveTo>
                <a:lnTo>
                  <a:pt x="17297400" y="0"/>
                </a:lnTo>
              </a:path>
            </a:pathLst>
          </a:custGeom>
          <a:noFill/>
          <a:ln w="14288">
            <a:solidFill>
              <a:srgbClr val="A6A6A6"/>
            </a:solidFill>
            <a:prstDash val="solid"/>
          </a:ln>
        </p:spPr>
      </p:sp>
      <p:sp>
        <p:nvSpPr>
          <p:cNvPr id="6" name="dp42-background-4">
            <a:extLst>
              <a:ext uri="{FF2B5EF4-FFF2-40B4-BE49-F238E27FC236}">
                <ns2:creationId id="{F5DB5862-B69A-4C1D-B0CF-9B9FC288D6BA}"/>
              </a:ext>
            </a:extLst>
          </p:cNvPr>
          <p:cNvSpPr>
            <a:spLocks noGrp="1"/>
          </p:cNvSpPr>
          <p:nvPr/>
        </p:nvSpPr>
        <p:spPr>
          <a:xfrm>
            <a:off x="495300" y="8905875"/>
            <a:ext cx="1714500" cy="476250"/>
          </a:xfrm>
          <a:prstGeom prst="rect">
            <a:avLst/>
          </a:prstGeom>
          <a:noFill/>
          <a:ln w="0">
            <a:noFill/>
          </a:ln>
        </p:spPr>
        <p:txBody>
          <a:bodyPr wrap="none" lIns="0" tIns="0" rIns="0" bIns="0" anchor="ctr">
            <a:noAutofit/>
          </a:bodyPr>
          <a:lstStyle>
            <a:defPPr algn="l">
              <a:defRPr sz="2300" b="1" lang="ko-KR">
                <a:solidFill>
                  <a:srgbClr val="C00000"/>
                </a:solidFill>
                <a:latin typeface="Calibri"/>
                <a:ea typeface="Calibri"/>
                <a:cs typeface="Calibri"/>
              </a:defRPr>
            </a:defPPr>
          </a:lstStyle>
          <a:p>
            <a:pPr algn="l">
              <a:defRPr sz="2300" b="1" lang="ko-KR">
                <a:solidFill>
                  <a:srgbClr val="C00000"/>
                </a:solidFill>
                <a:latin typeface="Calibri"/>
                <a:ea typeface="Calibri"/>
                <a:cs typeface="Calibri"/>
              </a:defRPr>
            </a:pPr>
            <a:r>
              <a:rPr sz="2300" b="1" lang="ko-KR">
                <a:solidFill>
                  <a:srgbClr val="C00000"/>
                </a:solidFill>
                <a:latin typeface="Calibri"/>
                <a:ea typeface="Calibri"/>
                <a:cs typeface="Calibri"/>
              </a:rPr>
              <a:t>설계 질문</a:t>
            </a:r>
            <a:endParaRPr lang="ko-KR">
              <a:latin typeface="Calibri"/>
              <a:ea typeface="Calibri"/>
              <a:cs typeface="Calibri"/>
            </a:endParaRPr>
          </a:p>
        </p:txBody>
      </p:sp>
      <p:sp>
        <p:nvSpPr>
          <p:cNvPr id="7" name="dp42-background-5">
            <a:extLst>
              <a:ext uri="{FF2B5EF4-FFF2-40B4-BE49-F238E27FC236}">
                <ns2:creationId id="{92068C70-52B9-42D3-A028-A4D06C93ACE9}"/>
              </a:ext>
            </a:extLst>
          </p:cNvPr>
          <p:cNvSpPr>
            <a:spLocks noGrp="1"/>
          </p:cNvSpPr>
          <p:nvPr/>
        </p:nvSpPr>
        <p:spPr>
          <a:xfrm>
            <a:off x="2476500" y="8877300"/>
            <a:ext cx="15316200" cy="9525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대화·요청·질문·업무·실행의 서로 다른 수명을</a:t>
            </a:r>
            <a:endParaRPr lang="ko-KR">
              <a:latin typeface="Calibri"/>
              <a:ea typeface="Calibri"/>
              <a:cs typeface="Calibri"/>
            </a:endParaRPr>
          </a:p>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어떻게 관리하고 연결할까?</a:t>
            </a:r>
            <a:endParaRPr lang="ko-KR">
              <a:latin typeface="Calibri"/>
              <a:ea typeface="Calibri"/>
              <a:cs typeface="Calibri"/>
            </a:endParaRPr>
          </a:p>
        </p:txBody>
      </p:sp>
      <p:sp>
        <p:nvSpPr>
          <p:cNvPr id="8" name="dp42-background-6">
            <a:extLst>
              <a:ext uri="{FF2B5EF4-FFF2-40B4-BE49-F238E27FC236}">
                <ns2:creationId id="{B600B758-81EC-4714-83BF-3658C2B74A1F}"/>
              </a:ext>
            </a:extLst>
          </p:cNvPr>
          <p:cNvSpPr>
            <a:spLocks noGrp="1"/>
          </p:cNvSpPr>
          <p:nvPr/>
        </p:nvSpPr>
        <p:spPr>
          <a:xfrm>
            <a:off x="495300" y="1428750"/>
            <a:ext cx="17297400" cy="552450"/>
          </a:xfrm>
          <a:prstGeom prst="rect">
            <a:avLst/>
          </a:prstGeom>
          <a:noFill/>
          <a:ln w="0">
            <a:noFill/>
          </a:ln>
        </p:spPr>
        <p:txBody>
          <a:bodyPr wrap="none" lIns="0" tIns="0" rIns="0" bIns="0" anchor="ctr">
            <a:noAutofit/>
          </a:bodyPr>
          <a:lstStyle>
            <a:defPPr algn="l">
              <a:defRPr sz="2600" b="1" lang="ko-KR">
                <a:solidFill>
                  <a:srgbClr val="000000"/>
                </a:solidFill>
                <a:latin typeface="Calibri"/>
                <a:ea typeface="Calibri"/>
                <a:cs typeface="Calibri"/>
              </a:defRPr>
            </a:defP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“보고서 만들어줘”를 전달한 뒤에도, 보고서 작성은 계속됩니다.</a:t>
            </a:r>
            <a:endParaRPr lang="ko-KR">
              <a:latin typeface="Calibri"/>
              <a:ea typeface="Calibri"/>
              <a:cs typeface="Calibri"/>
            </a:endParaRPr>
          </a:p>
        </p:txBody>
      </p:sp>
      <p:sp>
        <p:nvSpPr>
          <p:cNvPr id="9" name="dp42-background-7">
            <a:extLst>
              <a:ext uri="{FF2B5EF4-FFF2-40B4-BE49-F238E27FC236}">
                <ns2:creationId id="{7AE03D0C-C5FB-4AE1-B0C2-012DCEDA2282}"/>
              </a:ext>
            </a:extLst>
          </p:cNvPr>
          <p:cNvSpPr>
            <a:spLocks noGrp="1"/>
          </p:cNvSpPr>
          <p:nvPr/>
        </p:nvSpPr>
        <p:spPr>
          <a:xfrm>
            <a:off x="495300" y="2047875"/>
            <a:ext cx="17297400" cy="552450"/>
          </a:xfrm>
          <a:prstGeom prst="rect">
            <a:avLst/>
          </a:prstGeom>
          <a:noFill/>
          <a:ln w="0">
            <a:noFill/>
          </a:ln>
        </p:spPr>
        <p:txBody>
          <a:bodyPr wrap="none" lIns="0" tIns="0" rIns="0" bIns="0" anchor="ctr">
            <a:noAutofit/>
          </a:bodyPr>
          <a:lstStyle>
            <a:defPPr algn="l">
              <a:defRPr sz="2200" b="0" lang="ko-KR">
                <a:solidFill>
                  <a:srgbClr val="000000"/>
                </a:solidFill>
                <a:latin typeface="Calibri"/>
                <a:ea typeface="Calibri"/>
                <a:cs typeface="Calibri"/>
              </a:defRPr>
            </a:defP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“어디까지 했어?”는 새 요청이고, 완료 후 “결론만 고쳐줘”는 같은 업무의 새 실행이 될 수 있습니다.</a:t>
            </a:r>
            <a:endParaRPr lang="ko-KR">
              <a:latin typeface="Calibri"/>
              <a:ea typeface="Calibri"/>
              <a:cs typeface="Calibri"/>
            </a:endParaRPr>
          </a:p>
        </p:txBody>
      </p:sp>
      <p:sp>
        <p:nvSpPr>
          <p:cNvPr id="10" name="dp42-background-8">
            <a:extLst>
              <a:ext uri="{FF2B5EF4-FFF2-40B4-BE49-F238E27FC236}">
                <ns2:creationId id="{BD5ECB9E-2F96-4383-A872-6333E5EE84C7}"/>
              </a:ext>
            </a:extLst>
          </p:cNvPr>
          <p:cNvSpPr>
            <a:spLocks noGrp="1"/>
          </p:cNvSpPr>
          <p:nvPr/>
        </p:nvSpPr>
        <p:spPr>
          <a:xfrm>
            <a:off x="2638425" y="2971800"/>
            <a:ext cx="3676650" cy="4762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“보고서 만들어줘”</a:t>
            </a:r>
            <a:endParaRPr lang="ko-KR">
              <a:latin typeface="Calibri"/>
              <a:ea typeface="Calibri"/>
              <a:cs typeface="Calibri"/>
            </a:endParaRPr>
          </a:p>
        </p:txBody>
      </p:sp>
      <p:sp>
        <p:nvSpPr>
          <p:cNvPr id="11" name="dp42-background-9">
            <a:extLst>
              <a:ext uri="{FF2B5EF4-FFF2-40B4-BE49-F238E27FC236}">
                <ns2:creationId id="{4D76B90B-392D-4A07-834F-428D02A68BCD}"/>
              </a:ext>
            </a:extLst>
          </p:cNvPr>
          <p:cNvSpPr>
            <a:spLocks noGrp="1"/>
          </p:cNvSpPr>
          <p:nvPr/>
        </p:nvSpPr>
        <p:spPr>
          <a:xfrm>
            <a:off x="2638425" y="3514725"/>
            <a:ext cx="3676650" cy="41910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외부 접수 확인</a:t>
            </a:r>
            <a:endParaRPr lang="ko-KR">
              <a:latin typeface="Calibri"/>
              <a:ea typeface="Calibri"/>
              <a:cs typeface="Calibri"/>
            </a:endParaRPr>
          </a:p>
        </p:txBody>
      </p:sp>
      <p:sp>
        <p:nvSpPr>
          <p:cNvPr id="12" name="dp42-background-10">
            <a:extLst>
              <a:ext uri="{FF2B5EF4-FFF2-40B4-BE49-F238E27FC236}">
                <ns2:creationId id="{6923F097-6D5F-40E4-9B40-F4D6AE557B74}"/>
              </a:ext>
            </a:extLst>
          </p:cNvPr>
          <p:cNvSpPr>
            <a:spLocks noGrp="1"/>
          </p:cNvSpPr>
          <p:nvPr/>
        </p:nvSpPr>
        <p:spPr>
          <a:xfrm>
            <a:off x="6543675" y="2971800"/>
            <a:ext cx="3676650" cy="4762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“어디까지 했어?”</a:t>
            </a:r>
            <a:endParaRPr lang="ko-KR">
              <a:latin typeface="Calibri"/>
              <a:ea typeface="Calibri"/>
              <a:cs typeface="Calibri"/>
            </a:endParaRPr>
          </a:p>
        </p:txBody>
      </p:sp>
      <p:sp>
        <p:nvSpPr>
          <p:cNvPr id="13" name="dp42-background-11">
            <a:extLst>
              <a:ext uri="{FF2B5EF4-FFF2-40B4-BE49-F238E27FC236}">
                <ns2:creationId id="{84EA782C-341A-48B3-995D-F8F26DC61642}"/>
              </a:ext>
            </a:extLst>
          </p:cNvPr>
          <p:cNvSpPr>
            <a:spLocks noGrp="1"/>
          </p:cNvSpPr>
          <p:nvPr/>
        </p:nvSpPr>
        <p:spPr>
          <a:xfrm>
            <a:off x="6543675" y="3514725"/>
            <a:ext cx="3676650" cy="41910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진행 상태로 답변</a:t>
            </a:r>
            <a:endParaRPr lang="ko-KR">
              <a:latin typeface="Calibri"/>
              <a:ea typeface="Calibri"/>
              <a:cs typeface="Calibri"/>
            </a:endParaRPr>
          </a:p>
        </p:txBody>
      </p:sp>
      <p:sp>
        <p:nvSpPr>
          <p:cNvPr id="14" name="dp42-background-12">
            <a:extLst>
              <a:ext uri="{FF2B5EF4-FFF2-40B4-BE49-F238E27FC236}">
                <ns2:creationId id="{246B5CE0-0224-48DB-BE9E-48CF4D67327A}"/>
              </a:ext>
            </a:extLst>
          </p:cNvPr>
          <p:cNvSpPr>
            <a:spLocks noGrp="1"/>
          </p:cNvSpPr>
          <p:nvPr/>
        </p:nvSpPr>
        <p:spPr>
          <a:xfrm>
            <a:off x="10448925" y="2971800"/>
            <a:ext cx="3676650" cy="4762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Voice 끄기</a:t>
            </a:r>
            <a:endParaRPr lang="ko-KR">
              <a:latin typeface="Calibri"/>
              <a:ea typeface="Calibri"/>
              <a:cs typeface="Calibri"/>
            </a:endParaRPr>
          </a:p>
        </p:txBody>
      </p:sp>
      <p:sp>
        <p:nvSpPr>
          <p:cNvPr id="15" name="dp42-background-13">
            <a:extLst>
              <a:ext uri="{FF2B5EF4-FFF2-40B4-BE49-F238E27FC236}">
                <ns2:creationId id="{C73DD279-A4ED-45F5-9252-CA8BF75A806A}"/>
              </a:ext>
            </a:extLst>
          </p:cNvPr>
          <p:cNvSpPr>
            <a:spLocks noGrp="1"/>
          </p:cNvSpPr>
          <p:nvPr/>
        </p:nvSpPr>
        <p:spPr>
          <a:xfrm>
            <a:off x="10448925" y="3514725"/>
            <a:ext cx="3676650" cy="41910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업무·대기 질문 유지</a:t>
            </a:r>
            <a:endParaRPr lang="ko-KR">
              <a:latin typeface="Calibri"/>
              <a:ea typeface="Calibri"/>
              <a:cs typeface="Calibri"/>
            </a:endParaRPr>
          </a:p>
        </p:txBody>
      </p:sp>
      <p:sp>
        <p:nvSpPr>
          <p:cNvPr id="16" name="dp42-background-14">
            <a:extLst>
              <a:ext uri="{FF2B5EF4-FFF2-40B4-BE49-F238E27FC236}">
                <ns2:creationId id="{4F22964C-B007-475E-BFB8-937B93F6B3A9}"/>
              </a:ext>
            </a:extLst>
          </p:cNvPr>
          <p:cNvSpPr>
            <a:spLocks noGrp="1"/>
          </p:cNvSpPr>
          <p:nvPr/>
        </p:nvSpPr>
        <p:spPr>
          <a:xfrm>
            <a:off x="14354175" y="2971800"/>
            <a:ext cx="3676650" cy="4762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“결론만 고쳐줘”</a:t>
            </a:r>
            <a:endParaRPr lang="ko-KR">
              <a:latin typeface="Calibri"/>
              <a:ea typeface="Calibri"/>
              <a:cs typeface="Calibri"/>
            </a:endParaRPr>
          </a:p>
        </p:txBody>
      </p:sp>
      <p:sp>
        <p:nvSpPr>
          <p:cNvPr id="17" name="dp42-background-15">
            <a:extLst>
              <a:ext uri="{FF2B5EF4-FFF2-40B4-BE49-F238E27FC236}">
                <ns2:creationId id="{E2C3C66D-FD66-42A2-8445-63F5FFBB4C79}"/>
              </a:ext>
            </a:extLst>
          </p:cNvPr>
          <p:cNvSpPr>
            <a:spLocks noGrp="1"/>
          </p:cNvSpPr>
          <p:nvPr/>
        </p:nvSpPr>
        <p:spPr>
          <a:xfrm>
            <a:off x="14354175" y="3514725"/>
            <a:ext cx="3676650" cy="41910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최초 작성 완료 후</a:t>
            </a:r>
            <a:endParaRPr lang="ko-KR">
              <a:latin typeface="Calibri"/>
              <a:ea typeface="Calibri"/>
              <a:cs typeface="Calibri"/>
            </a:endParaRPr>
          </a:p>
        </p:txBody>
      </p:sp>
      <p:sp>
        <p:nvSpPr>
          <p:cNvPr id="18" name="dp42-background-16">
            <a:extLst>
              <a:ext uri="{FF2B5EF4-FFF2-40B4-BE49-F238E27FC236}">
                <ns2:creationId id="{1031E806-33E2-4ADF-92D2-64B70325358F}"/>
              </a:ext>
            </a:extLst>
          </p:cNvPr>
          <p:cNvSpPr>
            <a:spLocks noGrp="1"/>
          </p:cNvSpPr>
          <p:nvPr/>
        </p:nvSpPr>
        <p:spPr>
          <a:xfrm>
            <a:off x="495300" y="4219575"/>
            <a:ext cx="219075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대화</a:t>
            </a:r>
            <a:endParaRPr lang="ko-KR">
              <a:latin typeface="Calibri"/>
              <a:ea typeface="Calibri"/>
              <a:cs typeface="Calibri"/>
            </a:endParaRPr>
          </a:p>
        </p:txBody>
      </p:sp>
      <p:sp>
        <p:nvSpPr>
          <p:cNvPr id="19" name="dp42-background-17">
            <a:extLst>
              <a:ext uri="{FF2B5EF4-FFF2-40B4-BE49-F238E27FC236}">
                <ns2:creationId id="{96DD9D71-B355-443F-9CA4-97DA962DEE4A}"/>
              </a:ext>
            </a:extLst>
          </p:cNvPr>
          <p:cNvSpPr>
            <a:spLocks noGrp="1"/>
          </p:cNvSpPr>
          <p:nvPr/>
        </p:nvSpPr>
        <p:spPr>
          <a:xfrm>
            <a:off x="495300" y="4914900"/>
            <a:ext cx="219075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개별 요청</a:t>
            </a:r>
            <a:endParaRPr lang="ko-KR">
              <a:latin typeface="Calibri"/>
              <a:ea typeface="Calibri"/>
              <a:cs typeface="Calibri"/>
            </a:endParaRPr>
          </a:p>
        </p:txBody>
      </p:sp>
      <p:sp>
        <p:nvSpPr>
          <p:cNvPr id="20" name="dp42-background-18">
            <a:extLst>
              <a:ext uri="{FF2B5EF4-FFF2-40B4-BE49-F238E27FC236}">
                <ns2:creationId id="{BCE08429-4E32-4EAF-926F-651AEEBFEFB8}"/>
              </a:ext>
            </a:extLst>
          </p:cNvPr>
          <p:cNvSpPr>
            <a:spLocks noGrp="1"/>
          </p:cNvSpPr>
          <p:nvPr/>
        </p:nvSpPr>
        <p:spPr>
          <a:xfrm>
            <a:off x="495300" y="5648325"/>
            <a:ext cx="219075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보고서 업무</a:t>
            </a:r>
            <a:endParaRPr lang="ko-KR">
              <a:latin typeface="Calibri"/>
              <a:ea typeface="Calibri"/>
              <a:cs typeface="Calibri"/>
            </a:endParaRPr>
          </a:p>
        </p:txBody>
      </p:sp>
      <p:sp>
        <p:nvSpPr>
          <p:cNvPr id="21" name="dp42-background-19">
            <a:extLst>
              <a:ext uri="{FF2B5EF4-FFF2-40B4-BE49-F238E27FC236}">
                <ns2:creationId id="{BE58DE30-B591-469D-9682-50AED16124AF}"/>
              </a:ext>
            </a:extLst>
          </p:cNvPr>
          <p:cNvSpPr>
            <a:spLocks noGrp="1"/>
          </p:cNvSpPr>
          <p:nvPr/>
        </p:nvSpPr>
        <p:spPr>
          <a:xfrm>
            <a:off x="495300" y="6448425"/>
            <a:ext cx="219075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외부 실행</a:t>
            </a:r>
            <a:endParaRPr lang="ko-KR">
              <a:latin typeface="Calibri"/>
              <a:ea typeface="Calibri"/>
              <a:cs typeface="Calibri"/>
            </a:endParaRPr>
          </a:p>
        </p:txBody>
      </p:sp>
      <p:sp>
        <p:nvSpPr>
          <p:cNvPr id="22" name="dp42-background-20">
            <a:extLst>
              <a:ext uri="{FF2B5EF4-FFF2-40B4-BE49-F238E27FC236}">
                <ns2:creationId id="{9BDC3F42-7610-4093-B6C6-3370E0746F39}"/>
              </a:ext>
            </a:extLst>
          </p:cNvPr>
          <p:cNvSpPr>
            <a:spLocks noGrp="1"/>
          </p:cNvSpPr>
          <p:nvPr/>
        </p:nvSpPr>
        <p:spPr>
          <a:xfrm>
            <a:off x="3238500" y="4429125"/>
            <a:ext cx="14097000" cy="9525"/>
          </a:xfrm>
          <a:custGeom>
            <a:pathLst>
              <a:path w="14097000" h="9525">
                <a:moveTo>
                  <a:pt x="0" y="0"/>
                </a:moveTo>
                <a:lnTo>
                  <a:pt x="14097000" y="0"/>
                </a:lnTo>
              </a:path>
            </a:pathLst>
          </a:custGeom>
          <a:noFill/>
          <a:ln w="47625">
            <a:solidFill>
              <a:srgbClr val="00889A"/>
            </a:solidFill>
            <a:prstDash val="solid"/>
          </a:ln>
        </p:spPr>
      </p:sp>
      <p:sp>
        <p:nvSpPr>
          <p:cNvPr id="23" name="dp42-background-21">
            <a:extLst>
              <a:ext uri="{FF2B5EF4-FFF2-40B4-BE49-F238E27FC236}">
                <ns2:creationId id="{84C8E5C5-1FA1-4CFD-B72B-584A97077212}"/>
              </a:ext>
            </a:extLst>
          </p:cNvPr>
          <p:cNvSpPr>
            <a:spLocks noGrp="1"/>
          </p:cNvSpPr>
          <p:nvPr/>
        </p:nvSpPr>
        <p:spPr>
          <a:xfrm>
            <a:off x="8258175" y="4105275"/>
            <a:ext cx="7620000" cy="40005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Voice를 꺼도 기록과 연결은 유지</a:t>
            </a:r>
            <a:endParaRPr lang="ko-KR">
              <a:latin typeface="Calibri"/>
              <a:ea typeface="Calibri"/>
              <a:cs typeface="Calibri"/>
            </a:endParaRPr>
          </a:p>
        </p:txBody>
      </p:sp>
      <p:sp>
        <p:nvSpPr>
          <p:cNvPr id="24" name="dp42-background-22">
            <a:extLst>
              <a:ext uri="{FF2B5EF4-FFF2-40B4-BE49-F238E27FC236}">
                <ns2:creationId id="{2BE70C54-18F1-4B71-9DA5-E0EB1CC9FBB2}"/>
              </a:ext>
            </a:extLst>
          </p:cNvPr>
          <p:cNvSpPr>
            <a:spLocks noGrp="1"/>
          </p:cNvSpPr>
          <p:nvPr/>
        </p:nvSpPr>
        <p:spPr>
          <a:xfrm>
            <a:off x="3238500" y="5124450"/>
            <a:ext cx="2000250" cy="9525"/>
          </a:xfrm>
          <a:custGeom>
            <a:pathLst>
              <a:path w="2000250" h="9525">
                <a:moveTo>
                  <a:pt x="0" y="0"/>
                </a:moveTo>
                <a:lnTo>
                  <a:pt x="2000250" y="0"/>
                </a:lnTo>
              </a:path>
            </a:pathLst>
          </a:custGeom>
          <a:noFill/>
          <a:ln w="66675">
            <a:solidFill>
              <a:srgbClr val="00889A"/>
            </a:solidFill>
            <a:prstDash val="solid"/>
          </a:ln>
        </p:spPr>
      </p:sp>
      <p:sp>
        <p:nvSpPr>
          <p:cNvPr id="25" name="dp42-background-23">
            <a:extLst>
              <a:ext uri="{FF2B5EF4-FFF2-40B4-BE49-F238E27FC236}">
                <ns2:creationId id="{416BA5B9-B928-47D7-8CDA-A23D1A747188}"/>
              </a:ext>
            </a:extLst>
          </p:cNvPr>
          <p:cNvSpPr>
            <a:spLocks noGrp="1"/>
          </p:cNvSpPr>
          <p:nvPr/>
        </p:nvSpPr>
        <p:spPr>
          <a:xfrm>
            <a:off x="7143750" y="5124450"/>
            <a:ext cx="2000250" cy="9525"/>
          </a:xfrm>
          <a:custGeom>
            <a:pathLst>
              <a:path w="2000250" h="9525">
                <a:moveTo>
                  <a:pt x="0" y="0"/>
                </a:moveTo>
                <a:lnTo>
                  <a:pt x="2000250" y="0"/>
                </a:lnTo>
              </a:path>
            </a:pathLst>
          </a:custGeom>
          <a:noFill/>
          <a:ln w="66675">
            <a:solidFill>
              <a:srgbClr val="00889A"/>
            </a:solidFill>
            <a:prstDash val="solid"/>
          </a:ln>
        </p:spPr>
      </p:sp>
      <p:sp>
        <p:nvSpPr>
          <p:cNvPr id="26" name="dp42-background-24">
            <a:extLst>
              <a:ext uri="{FF2B5EF4-FFF2-40B4-BE49-F238E27FC236}">
                <ns2:creationId id="{835A8733-61FD-4AF3-974A-C14ED24CDAD6}"/>
              </a:ext>
            </a:extLst>
          </p:cNvPr>
          <p:cNvSpPr>
            <a:spLocks noGrp="1"/>
          </p:cNvSpPr>
          <p:nvPr/>
        </p:nvSpPr>
        <p:spPr>
          <a:xfrm>
            <a:off x="14954250" y="5124450"/>
            <a:ext cx="2095500" cy="9525"/>
          </a:xfrm>
          <a:custGeom>
            <a:pathLst>
              <a:path w="2095500" h="9525">
                <a:moveTo>
                  <a:pt x="0" y="0"/>
                </a:moveTo>
                <a:lnTo>
                  <a:pt x="2095500" y="0"/>
                </a:lnTo>
              </a:path>
            </a:pathLst>
          </a:custGeom>
          <a:noFill/>
          <a:ln w="66675">
            <a:solidFill>
              <a:srgbClr val="00889A"/>
            </a:solidFill>
            <a:prstDash val="solid"/>
          </a:ln>
        </p:spPr>
      </p:sp>
      <p:sp>
        <p:nvSpPr>
          <p:cNvPr id="27" name="dp42-background-25">
            <a:extLst>
              <a:ext uri="{FF2B5EF4-FFF2-40B4-BE49-F238E27FC236}">
                <ns2:creationId id="{B942062C-AB50-461D-B951-5BE244BC2C01}"/>
              </a:ext>
            </a:extLst>
          </p:cNvPr>
          <p:cNvSpPr>
            <a:spLocks noGrp="1"/>
          </p:cNvSpPr>
          <p:nvPr/>
        </p:nvSpPr>
        <p:spPr>
          <a:xfrm>
            <a:off x="3143250" y="5276850"/>
            <a:ext cx="2857500" cy="381000"/>
          </a:xfrm>
          <a:prstGeom prst="rect">
            <a:avLst/>
          </a:prstGeom>
          <a:noFill/>
          <a:ln w="0">
            <a:noFill/>
          </a:ln>
        </p:spPr>
        <p:txBody>
          <a:bodyPr wrap="none" lIns="0" tIns="0" rIns="0" bIns="0" anchor="ctr">
            <a:noAutofit/>
          </a:bodyPr>
          <a:lstStyle>
            <a:defPPr algn="l">
              <a:defRPr sz="1800" b="0" lang="ko-KR">
                <a:solidFill>
                  <a:srgbClr val="000000"/>
                </a:solidFill>
                <a:latin typeface="Calibri"/>
                <a:ea typeface="Calibri"/>
                <a:cs typeface="Calibri"/>
              </a:defRPr>
            </a:defP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위임 처리 종료</a:t>
            </a:r>
            <a:endParaRPr lang="ko-KR">
              <a:latin typeface="Calibri"/>
              <a:ea typeface="Calibri"/>
              <a:cs typeface="Calibri"/>
            </a:endParaRPr>
          </a:p>
        </p:txBody>
      </p:sp>
      <p:sp>
        <p:nvSpPr>
          <p:cNvPr id="28" name="dp42-background-26">
            <a:extLst>
              <a:ext uri="{FF2B5EF4-FFF2-40B4-BE49-F238E27FC236}">
                <ns2:creationId id="{BA561B67-3A4C-4C95-9AE0-9E66E7CAD3C2}"/>
              </a:ext>
            </a:extLst>
          </p:cNvPr>
          <p:cNvSpPr>
            <a:spLocks noGrp="1"/>
          </p:cNvSpPr>
          <p:nvPr/>
        </p:nvSpPr>
        <p:spPr>
          <a:xfrm>
            <a:off x="7143750" y="5276850"/>
            <a:ext cx="3238500" cy="381000"/>
          </a:xfrm>
          <a:prstGeom prst="rect">
            <a:avLst/>
          </a:prstGeom>
          <a:noFill/>
          <a:ln w="0">
            <a:noFill/>
          </a:ln>
        </p:spPr>
        <p:txBody>
          <a:bodyPr wrap="none" lIns="0" tIns="0" rIns="0" bIns="0" anchor="ctr">
            <a:noAutofit/>
          </a:bodyPr>
          <a:lstStyle>
            <a:defPPr algn="l">
              <a:defRPr sz="1800" b="0" lang="ko-KR">
                <a:solidFill>
                  <a:srgbClr val="000000"/>
                </a:solidFill>
                <a:latin typeface="Calibri"/>
                <a:ea typeface="Calibri"/>
                <a:cs typeface="Calibri"/>
              </a:defRPr>
            </a:defP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새 작성 실행 없음</a:t>
            </a:r>
            <a:endParaRPr lang="ko-KR">
              <a:latin typeface="Calibri"/>
              <a:ea typeface="Calibri"/>
              <a:cs typeface="Calibri"/>
            </a:endParaRPr>
          </a:p>
        </p:txBody>
      </p:sp>
      <p:sp>
        <p:nvSpPr>
          <p:cNvPr id="29" name="dp42-background-27">
            <a:extLst>
              <a:ext uri="{FF2B5EF4-FFF2-40B4-BE49-F238E27FC236}">
                <ns2:creationId id="{9A7DE419-E9AC-4025-8B4A-557E92482F75}"/>
              </a:ext>
            </a:extLst>
          </p:cNvPr>
          <p:cNvSpPr>
            <a:spLocks noGrp="1"/>
          </p:cNvSpPr>
          <p:nvPr/>
        </p:nvSpPr>
        <p:spPr>
          <a:xfrm>
            <a:off x="3238500" y="5857875"/>
            <a:ext cx="14097000" cy="9525"/>
          </a:xfrm>
          <a:custGeom>
            <a:pathLst>
              <a:path w="14097000" h="9525">
                <a:moveTo>
                  <a:pt x="0" y="0"/>
                </a:moveTo>
                <a:lnTo>
                  <a:pt x="14097000" y="0"/>
                </a:lnTo>
              </a:path>
            </a:pathLst>
          </a:custGeom>
          <a:noFill/>
          <a:ln w="66675">
            <a:solidFill>
              <a:srgbClr val="00889A"/>
            </a:solidFill>
            <a:prstDash val="solid"/>
          </a:ln>
        </p:spPr>
      </p:sp>
      <p:sp>
        <p:nvSpPr>
          <p:cNvPr id="30" name="dp42-background-28">
            <a:extLst>
              <a:ext uri="{FF2B5EF4-FFF2-40B4-BE49-F238E27FC236}">
                <ns2:creationId id="{E783094D-E63D-447E-987A-912626E1C354}"/>
              </a:ext>
            </a:extLst>
          </p:cNvPr>
          <p:cNvSpPr>
            <a:spLocks noGrp="1"/>
          </p:cNvSpPr>
          <p:nvPr/>
        </p:nvSpPr>
        <p:spPr>
          <a:xfrm>
            <a:off x="12477750" y="6086475"/>
            <a:ext cx="4762500" cy="381000"/>
          </a:xfrm>
          <a:prstGeom prst="rect">
            <a:avLst/>
          </a:prstGeom>
          <a:noFill/>
          <a:ln w="0">
            <a:noFill/>
          </a:ln>
        </p:spPr>
        <p:txBody>
          <a:bodyPr wrap="none" lIns="0" tIns="0" rIns="0" bIns="0" anchor="ctr">
            <a:noAutofit/>
          </a:bodyPr>
          <a:lstStyle>
            <a:defPPr algn="l">
              <a:defRPr sz="1900" b="1" lang="ko-KR">
                <a:solidFill>
                  <a:srgbClr val="000000"/>
                </a:solidFill>
                <a:latin typeface="Calibri"/>
                <a:ea typeface="Calibri"/>
                <a:cs typeface="Calibri"/>
              </a:defRPr>
            </a:defPPr>
          </a:lstStyle>
          <a:p>
            <a:pPr algn="l">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같은 보고서 업무로 연결</a:t>
            </a:r>
            <a:endParaRPr lang="ko-KR">
              <a:latin typeface="Calibri"/>
              <a:ea typeface="Calibri"/>
              <a:cs typeface="Calibri"/>
            </a:endParaRPr>
          </a:p>
        </p:txBody>
      </p:sp>
      <p:sp>
        <p:nvSpPr>
          <p:cNvPr id="31" name="dp42-background-29">
            <a:extLst>
              <a:ext uri="{FF2B5EF4-FFF2-40B4-BE49-F238E27FC236}">
                <ns2:creationId id="{4C3F8402-0E5E-44DB-A3DD-08BC3098F652}"/>
              </a:ext>
            </a:extLst>
          </p:cNvPr>
          <p:cNvSpPr>
            <a:spLocks noGrp="1"/>
          </p:cNvSpPr>
          <p:nvPr/>
        </p:nvSpPr>
        <p:spPr>
          <a:xfrm>
            <a:off x="3238500" y="6657975"/>
            <a:ext cx="10096500" cy="9525"/>
          </a:xfrm>
          <a:custGeom>
            <a:pathLst>
              <a:path w="10096500" h="9525">
                <a:moveTo>
                  <a:pt x="0" y="0"/>
                </a:moveTo>
                <a:lnTo>
                  <a:pt x="10096500" y="0"/>
                </a:lnTo>
              </a:path>
            </a:pathLst>
          </a:custGeom>
          <a:noFill/>
          <a:ln w="66675">
            <a:solidFill>
              <a:srgbClr val="00889A"/>
            </a:solidFill>
            <a:prstDash val="solid"/>
          </a:ln>
        </p:spPr>
      </p:sp>
      <p:sp>
        <p:nvSpPr>
          <p:cNvPr id="32" name="dp42-background-30">
            <a:extLst>
              <a:ext uri="{FF2B5EF4-FFF2-40B4-BE49-F238E27FC236}">
                <ns2:creationId id="{0E8C210B-96B8-4CCD-BC30-3EEFB80F7096}"/>
              </a:ext>
            </a:extLst>
          </p:cNvPr>
          <p:cNvSpPr>
            <a:spLocks noGrp="1"/>
          </p:cNvSpPr>
          <p:nvPr/>
        </p:nvSpPr>
        <p:spPr>
          <a:xfrm>
            <a:off x="14906625" y="6657975"/>
            <a:ext cx="2428875" cy="9525"/>
          </a:xfrm>
          <a:custGeom>
            <a:pathLst>
              <a:path w="2428875" h="9525">
                <a:moveTo>
                  <a:pt x="0" y="0"/>
                </a:moveTo>
                <a:lnTo>
                  <a:pt x="2428875" y="0"/>
                </a:lnTo>
              </a:path>
            </a:pathLst>
          </a:custGeom>
          <a:noFill/>
          <a:ln w="66675">
            <a:solidFill>
              <a:srgbClr val="00889A"/>
            </a:solidFill>
            <a:prstDash val="solid"/>
          </a:ln>
        </p:spPr>
      </p:sp>
      <p:sp>
        <p:nvSpPr>
          <p:cNvPr id="33" name="dp42-background-31">
            <a:extLst>
              <a:ext uri="{FF2B5EF4-FFF2-40B4-BE49-F238E27FC236}">
                <ns2:creationId id="{C8A589E1-4F2C-4D90-AD9F-6EF320E15BDF}"/>
              </a:ext>
            </a:extLst>
          </p:cNvPr>
          <p:cNvSpPr>
            <a:spLocks noGrp="1"/>
          </p:cNvSpPr>
          <p:nvPr/>
        </p:nvSpPr>
        <p:spPr>
          <a:xfrm>
            <a:off x="3238500" y="6819900"/>
            <a:ext cx="2952750" cy="40005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최초 작성 실행</a:t>
            </a:r>
            <a:endParaRPr lang="ko-KR">
              <a:latin typeface="Calibri"/>
              <a:ea typeface="Calibri"/>
              <a:cs typeface="Calibri"/>
            </a:endParaRPr>
          </a:p>
        </p:txBody>
      </p:sp>
      <p:sp>
        <p:nvSpPr>
          <p:cNvPr id="34" name="dp42-background-32">
            <a:extLst>
              <a:ext uri="{FF2B5EF4-FFF2-40B4-BE49-F238E27FC236}">
                <ns2:creationId id="{7805750A-A44F-4FE5-9FFB-933470F459AB}"/>
              </a:ext>
            </a:extLst>
          </p:cNvPr>
          <p:cNvSpPr>
            <a:spLocks noGrp="1"/>
          </p:cNvSpPr>
          <p:nvPr/>
        </p:nvSpPr>
        <p:spPr>
          <a:xfrm>
            <a:off x="14906625" y="6819900"/>
            <a:ext cx="2476500" cy="40005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새 수정 실행</a:t>
            </a:r>
            <a:endParaRPr lang="ko-KR">
              <a:latin typeface="Calibri"/>
              <a:ea typeface="Calibri"/>
              <a:cs typeface="Calibri"/>
            </a:endParaRPr>
          </a:p>
        </p:txBody>
      </p:sp>
      <p:sp>
        <p:nvSpPr>
          <p:cNvPr id="35" name="dp42-background-33">
            <a:extLst>
              <a:ext uri="{FF2B5EF4-FFF2-40B4-BE49-F238E27FC236}">
                <ns2:creationId id="{38859A0B-55E8-4342-8F92-968A42F9809B}"/>
              </a:ext>
            </a:extLst>
          </p:cNvPr>
          <p:cNvSpPr>
            <a:spLocks noGrp="1"/>
          </p:cNvSpPr>
          <p:nvPr/>
        </p:nvSpPr>
        <p:spPr>
          <a:xfrm>
            <a:off x="10096500" y="7143750"/>
            <a:ext cx="4381500" cy="704850"/>
          </a:xfrm>
          <a:prstGeom prst="rect">
            <a:avLst/>
          </a:prstGeom>
          <a:solidFill>
            <a:srgbClr val="F2F2F2"/>
          </a:solidFill>
          <a:ln w="19050">
            <a:solidFill>
              <a:srgbClr val="A6A6A6"/>
            </a:solidFill>
          </a:ln>
        </p:spPr>
        <p:txBody>
          <a:bodyPr wrap="none" lIns="133350" tIns="0" rIns="133350" bIns="0" anchor="ctr">
            <a:noAutofit/>
          </a:bodyPr>
          <a:lstStyle>
            <a:defPPr algn="ctr">
              <a:defRPr sz="1900" b="0" lang="ko-KR">
                <a:solidFill>
                  <a:srgbClr val="000000"/>
                </a:solidFill>
                <a:latin typeface="Calibri"/>
                <a:ea typeface="Calibri"/>
                <a:cs typeface="Calibri"/>
              </a:defRPr>
            </a:defP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대기 질문 유지</a:t>
            </a:r>
            <a:endParaRPr lang="ko-KR">
              <a:latin typeface="Calibri"/>
              <a:ea typeface="Calibri"/>
              <a:cs typeface="Calibri"/>
            </a:endParaRPr>
          </a:p>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답변·만료로 종료</a:t>
            </a:r>
            <a:endParaRPr lang="ko-KR">
              <a:latin typeface="Calibri"/>
              <a:ea typeface="Calibri"/>
              <a:cs typeface="Calibri"/>
            </a:endParaRPr>
          </a:p>
        </p:txBody>
      </p:sp>
      <p:sp>
        <p:nvSpPr>
          <p:cNvPr id="36" name="dp42-background-34">
            <a:extLst>
              <a:ext uri="{FF2B5EF4-FFF2-40B4-BE49-F238E27FC236}">
                <ns2:creationId id="{FB586576-F7E8-4A34-A686-32F755793A50}"/>
              </a:ext>
            </a:extLst>
          </p:cNvPr>
          <p:cNvSpPr>
            <a:spLocks noGrp="1"/>
          </p:cNvSpPr>
          <p:nvPr/>
        </p:nvSpPr>
        <p:spPr>
          <a:xfrm>
            <a:off x="495300" y="7991475"/>
            <a:ext cx="17297400" cy="5524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요청·Voice 종료를 업무 종료로 다루면, 연결을 잃거나 같은 작성을 다시 시작할 수 있습니다.</a:t>
            </a:r>
            <a:endParaRPr lang="ko-KR">
              <a:latin typeface="Calibri"/>
              <a:ea typeface="Calibri"/>
              <a:cs typeface="Calibri"/>
            </a:endParaRPr>
          </a:p>
        </p:txBody>
      </p:sp>
      <p:sp>
        <p:nvSpPr>
          <p:cNvPr id="37" name="v6-header-stage-0">
            <a:extLst>
              <a:ext uri="{FF2B5EF4-FFF2-40B4-BE49-F238E27FC236}">
                <ns2:creationId id="{5676C74C-BCC9-41ED-A4AB-788611456452}"/>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8" name="v6-header-stage-1">
            <a:extLst>
              <a:ext uri="{FF2B5EF4-FFF2-40B4-BE49-F238E27FC236}">
                <ns2:creationId id="{9015CB6D-EEE6-48B3-BF47-5C347CD7613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9" name="v6-header-stage-2">
            <a:extLst>
              <a:ext uri="{FF2B5EF4-FFF2-40B4-BE49-F238E27FC236}">
                <ns2:creationId id="{4F3BDCA7-F0E0-4B0D-B8A8-BBF8772A7E8B}"/>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0" name="v6-header-stage-3">
            <a:extLst>
              <a:ext uri="{FF2B5EF4-FFF2-40B4-BE49-F238E27FC236}">
                <ns2:creationId id="{81864711-46F3-4BE3-ACFB-A8E7F1E039B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1" name="v6-header-stage-4">
            <a:extLst>
              <a:ext uri="{FF2B5EF4-FFF2-40B4-BE49-F238E27FC236}">
                <ns2:creationId id="{099A8CDA-2A8F-4344-B9C0-28743A02E0B3}"/>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42" name="v6-header-page">
            <a:extLst>
              <a:ext uri="{FF2B5EF4-FFF2-40B4-BE49-F238E27FC236}">
                <ns2:creationId id="{FF5E01B6-949A-4C3C-8E41-1644B5A3CE1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20 / 33</a:t>
            </a:r>
            <a:endParaRPr lang="ko-KR">
              <a:latin typeface="Calibri"/>
              <a:ea typeface="Calibri"/>
              <a:cs typeface="Calibri"/>
            </a:endParaRPr>
          </a:p>
        </p:txBody>
      </p:sp>
    </p:spTree>
    <p:extLst>
      <p:ext uri="{BB962C8B-B14F-4D97-AF65-F5344CB8AC3E}">
        <p14:creationId val="569017057"/>
      </p:ext>
    </p:extLst>
  </p:cSld>
</p:sld>
</file>

<file path=ppt/slides/slide62.xml><?xml version="1.0" encoding="utf-8"?>
<p:sld xmlns:a="http://schemas.openxmlformats.org/drawingml/2006/main" xmlns:ns2="http://schemas.microsoft.com/office/drawing/2014/main" xmlns:p="http://schemas.openxmlformats.org/presentationml/2006/main" xmlns:p14="http://schemas.microsoft.com/office/powerpoint/2010/main">
  <p:cSld name="dp45-basic-v8">
    <p:bg>
      <p:bgPr>
        <a:solidFill>
          <a:srgbClr val="FFFFFF"/>
        </a:solidFill>
      </p:bgPr>
    </p:bg>
    <p:spTree>
      <p:nvGrpSpPr>
        <p:cNvPr id="2" name=""/>
        <p:cNvGrpSpPr/>
        <p:nvPr/>
      </p:nvGrpSpPr>
      <p:grpSpPr>
        <a:xfrm/>
      </p:grpSpPr>
      <p:sp>
        <p:nvSpPr>
          <p:cNvPr id="3" name="dp45-basic-structures-1">
            <a:extLst>
              <a:ext uri="{FF2B5EF4-FFF2-40B4-BE49-F238E27FC236}">
                <ns2:creationId id="{D0FF8B1D-FAD1-45AC-B3AD-ACF9A4D2D184}"/>
              </a:ext>
            </a:extLst>
          </p:cNvPr>
          <p:cNvSpPr>
            <a:spLocks noGrp="1"/>
          </p:cNvSpPr>
          <p:nvPr/>
        </p:nvSpPr>
        <p:spPr>
          <a:xfrm>
            <a:off x="571500" y="285750"/>
            <a:ext cx="9906000" cy="571500"/>
          </a:xfrm>
          <a:prstGeom prst="rect">
            <a:avLst/>
          </a:prstGeom>
          <a:noFill/>
          <a:ln w="0">
            <a:noFill/>
          </a:ln>
        </p:spPr>
        <p:txBody>
          <a:bodyPr wrap="none" lIns="0" tIns="0" rIns="0" bIns="0" anchor="ctr">
            <a:noAutofit/>
          </a:bodyPr>
          <a:lstStyle>
            <a:defPPr algn="l">
              <a:defRPr sz="3000" b="1" lang="ko-KR">
                <a:solidFill>
                  <a:srgbClr val="000000"/>
                </a:solidFill>
                <a:latin typeface="Calibri"/>
                <a:ea typeface="Calibri"/>
                <a:cs typeface="Calibri"/>
              </a:defRPr>
            </a:defP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DP45. 기본 구조와 보완 택틱</a:t>
            </a:r>
            <a:endParaRPr lang="ko-KR">
              <a:latin typeface="Calibri"/>
              <a:ea typeface="Calibri"/>
              <a:cs typeface="Calibri"/>
            </a:endParaRPr>
          </a:p>
        </p:txBody>
      </p:sp>
      <p:sp>
        <p:nvSpPr>
          <p:cNvPr id="4" name="dp45-basic-structures-2">
            <a:extLst>
              <a:ext uri="{FF2B5EF4-FFF2-40B4-BE49-F238E27FC236}">
                <ns2:creationId id="{D894727F-D71A-4F9D-8719-7DCA8F64440E}"/>
              </a:ext>
            </a:extLst>
          </p:cNvPr>
          <p:cNvSpPr>
            <a:spLocks noGrp="1"/>
          </p:cNvSpPr>
          <p:nvPr/>
        </p:nvSpPr>
        <p:spPr>
          <a:xfrm>
            <a:off x="495300" y="990600"/>
            <a:ext cx="17335500" cy="9525"/>
          </a:xfrm>
          <a:custGeom>
            <a:pathLst>
              <a:path w="17335500" h="9525">
                <a:moveTo>
                  <a:pt x="0" y="0"/>
                </a:moveTo>
                <a:lnTo>
                  <a:pt x="17335500" y="0"/>
                </a:lnTo>
              </a:path>
            </a:pathLst>
          </a:custGeom>
          <a:noFill/>
          <a:ln w="14288">
            <a:solidFill>
              <a:srgbClr val="A6A6A6"/>
            </a:solidFill>
            <a:prstDash val="solid"/>
          </a:ln>
        </p:spPr>
      </p:sp>
      <p:sp>
        <p:nvSpPr>
          <p:cNvPr id="5" name="dp45-basic-structures-3">
            <a:extLst>
              <a:ext uri="{FF2B5EF4-FFF2-40B4-BE49-F238E27FC236}">
                <ns2:creationId id="{CF6FA5E5-D74D-42E8-A0F5-D6008D64B429}"/>
              </a:ext>
            </a:extLst>
          </p:cNvPr>
          <p:cNvSpPr>
            <a:spLocks noGrp="1"/>
          </p:cNvSpPr>
          <p:nvPr/>
        </p:nvSpPr>
        <p:spPr>
          <a:xfrm>
            <a:off x="495300" y="1466850"/>
            <a:ext cx="17297400" cy="476250"/>
          </a:xfrm>
          <a:prstGeom prst="rect">
            <a:avLst/>
          </a:prstGeom>
          <a:noFill/>
          <a:ln w="0">
            <a:noFill/>
          </a:ln>
        </p:spPr>
        <p:txBody>
          <a:bodyPr wrap="none" lIns="0" tIns="0" rIns="0" bIns="0" anchor="ctr">
            <a:noAutofit/>
          </a:bodyPr>
          <a:lstStyle>
            <a:defPPr algn="l">
              <a:defRPr sz="2400" b="1" lang="ko-KR">
                <a:solidFill>
                  <a:srgbClr val="000000"/>
                </a:solidFill>
                <a:latin typeface="Calibri"/>
                <a:ea typeface="Calibri"/>
                <a:cs typeface="Calibri"/>
              </a:defRPr>
            </a:defP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같은 과거 기록과 같은 현재 요청을 사용합니다.</a:t>
            </a:r>
            <a:endParaRPr lang="ko-KR">
              <a:latin typeface="Calibri"/>
              <a:ea typeface="Calibri"/>
              <a:cs typeface="Calibri"/>
            </a:endParaRPr>
          </a:p>
        </p:txBody>
      </p:sp>
      <p:sp>
        <p:nvSpPr>
          <p:cNvPr id="6" name="dp45-basic-structures-4">
            <a:extLst>
              <a:ext uri="{FF2B5EF4-FFF2-40B4-BE49-F238E27FC236}">
                <ns2:creationId id="{437864D2-6196-457D-99D3-07279D4D5589}"/>
              </a:ext>
            </a:extLst>
          </p:cNvPr>
          <p:cNvSpPr>
            <a:spLocks noGrp="1"/>
          </p:cNvSpPr>
          <p:nvPr/>
        </p:nvSpPr>
        <p:spPr>
          <a:xfrm>
            <a:off x="495300" y="2171700"/>
            <a:ext cx="8382000" cy="590550"/>
          </a:xfrm>
          <a:prstGeom prst="rect">
            <a:avLst/>
          </a:prstGeom>
          <a:solidFill>
            <a:srgbClr val="E8EEF5"/>
          </a:solidFill>
          <a:ln w="19050">
            <a:solidFill>
              <a:srgbClr val="A6A6A6"/>
            </a:solidFill>
          </a:ln>
        </p:spPr>
        <p:txBody>
          <a:bodyPr wrap="none" lIns="133350" tIns="0" rIns="133350" bIns="0" anchor="ctr">
            <a:noAutofit/>
          </a:bodyPr>
          <a:lstStyle>
            <a:defPPr algn="ctr">
              <a:defRPr sz="2300" b="1" lang="ko-KR">
                <a:solidFill>
                  <a:srgbClr val="000000"/>
                </a:solidFill>
                <a:latin typeface="Calibri"/>
                <a:ea typeface="Calibri"/>
                <a:cs typeface="Calibri"/>
              </a:defRPr>
            </a:defP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A  필요할 때 원본에서 구성</a:t>
            </a:r>
            <a:endParaRPr lang="ko-KR">
              <a:latin typeface="Calibri"/>
              <a:ea typeface="Calibri"/>
              <a:cs typeface="Calibri"/>
            </a:endParaRPr>
          </a:p>
        </p:txBody>
      </p:sp>
      <p:sp>
        <p:nvSpPr>
          <p:cNvPr id="7" name="dp45-basic-structures-5">
            <a:extLst>
              <a:ext uri="{FF2B5EF4-FFF2-40B4-BE49-F238E27FC236}">
                <ns2:creationId id="{20E65FC2-A43F-46FE-99F6-EEC015326A00}"/>
              </a:ext>
            </a:extLst>
          </p:cNvPr>
          <p:cNvSpPr>
            <a:spLocks noGrp="1"/>
          </p:cNvSpPr>
          <p:nvPr/>
        </p:nvSpPr>
        <p:spPr>
          <a:xfrm>
            <a:off x="9353550" y="2171700"/>
            <a:ext cx="8439150" cy="590550"/>
          </a:xfrm>
          <a:prstGeom prst="rect">
            <a:avLst/>
          </a:prstGeom>
          <a:solidFill>
            <a:srgbClr val="FFF6DF"/>
          </a:solidFill>
          <a:ln w="19050">
            <a:solidFill>
              <a:srgbClr val="A6A6A6"/>
            </a:solidFill>
          </a:ln>
        </p:spPr>
        <p:txBody>
          <a:bodyPr wrap="none" lIns="133350" tIns="0" rIns="133350" bIns="0" anchor="ctr">
            <a:noAutofit/>
          </a:bodyPr>
          <a:lstStyle>
            <a:defPPr algn="ctr">
              <a:defRPr sz="2300" b="1" lang="ko-KR">
                <a:solidFill>
                  <a:srgbClr val="000000"/>
                </a:solidFill>
                <a:latin typeface="Calibri"/>
                <a:ea typeface="Calibri"/>
                <a:cs typeface="Calibri"/>
              </a:defRPr>
            </a:defP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B  가공한 과거 기억을 유지해 조회</a:t>
            </a:r>
            <a:endParaRPr lang="ko-KR">
              <a:latin typeface="Calibri"/>
              <a:ea typeface="Calibri"/>
              <a:cs typeface="Calibri"/>
            </a:endParaRPr>
          </a:p>
        </p:txBody>
      </p:sp>
      <p:sp>
        <p:nvSpPr>
          <p:cNvPr id="8" name="dp45-basic-structures-6">
            <a:extLst>
              <a:ext uri="{FF2B5EF4-FFF2-40B4-BE49-F238E27FC236}">
                <ns2:creationId id="{3C10165A-AD11-4DDA-B65D-90832BADAB95}"/>
              </a:ext>
            </a:extLst>
          </p:cNvPr>
          <p:cNvSpPr>
            <a:spLocks noGrp="1"/>
          </p:cNvSpPr>
          <p:nvPr/>
        </p:nvSpPr>
        <p:spPr>
          <a:xfrm>
            <a:off x="1066800" y="3076575"/>
            <a:ext cx="7239000" cy="685800"/>
          </a:xfrm>
          <a:prstGeom prst="rect">
            <a:avLst/>
          </a:prstGeom>
          <a:solidFill>
            <a:srgbClr val="FFFFFF"/>
          </a:solidFill>
          <a:ln w="19050">
            <a:solidFill>
              <a:srgbClr val="A6A6A6"/>
            </a:solidFill>
          </a:ln>
        </p:spPr>
        <p:txBody>
          <a:bodyPr wrap="none" lIns="133350" tIns="0" rIns="133350" bIns="0" anchor="ctr">
            <a:noAutofit/>
          </a:bodyPr>
          <a:lstStyle>
            <a:defPPr algn="ctr">
              <a:defRPr sz="2100" b="0" lang="ko-KR">
                <a:solidFill>
                  <a:srgbClr val="000000"/>
                </a:solidFill>
                <a:latin typeface="Calibri"/>
                <a:ea typeface="Calibri"/>
                <a:cs typeface="Calibri"/>
              </a:defRPr>
            </a:defP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설명·업무 결과·정정·실제 전달의 원본</a:t>
            </a:r>
            <a:endParaRPr lang="ko-KR">
              <a:latin typeface="Calibri"/>
              <a:ea typeface="Calibri"/>
              <a:cs typeface="Calibri"/>
            </a:endParaRPr>
          </a:p>
        </p:txBody>
      </p:sp>
      <p:sp>
        <p:nvSpPr>
          <p:cNvPr id="9" name="dp45-basic-structures-7">
            <a:extLst>
              <a:ext uri="{FF2B5EF4-FFF2-40B4-BE49-F238E27FC236}">
                <ns2:creationId id="{5ABDF119-C787-4706-A713-0D3720F0C032}"/>
              </a:ext>
            </a:extLst>
          </p:cNvPr>
          <p:cNvSpPr>
            <a:spLocks noGrp="1"/>
          </p:cNvSpPr>
          <p:nvPr/>
        </p:nvSpPr>
        <p:spPr>
          <a:xfrm>
            <a:off x="9925050" y="3076575"/>
            <a:ext cx="7239000" cy="685800"/>
          </a:xfrm>
          <a:prstGeom prst="rect">
            <a:avLst/>
          </a:prstGeom>
          <a:solidFill>
            <a:srgbClr val="FFFFFF"/>
          </a:solidFill>
          <a:ln w="19050">
            <a:solidFill>
              <a:srgbClr val="A6A6A6"/>
            </a:solidFill>
          </a:ln>
        </p:spPr>
        <p:txBody>
          <a:bodyPr wrap="none" lIns="133350" tIns="0" rIns="133350" bIns="0" anchor="ctr">
            <a:noAutofit/>
          </a:bodyPr>
          <a:lstStyle>
            <a:defPPr algn="ctr">
              <a:defRPr sz="2100" b="0" lang="ko-KR">
                <a:solidFill>
                  <a:srgbClr val="000000"/>
                </a:solidFill>
                <a:latin typeface="Calibri"/>
                <a:ea typeface="Calibri"/>
                <a:cs typeface="Calibri"/>
              </a:defRPr>
            </a:defP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설명·업무 결과·정정·실제 전달의 원본</a:t>
            </a:r>
            <a:endParaRPr lang="ko-KR">
              <a:latin typeface="Calibri"/>
              <a:ea typeface="Calibri"/>
              <a:cs typeface="Calibri"/>
            </a:endParaRPr>
          </a:p>
        </p:txBody>
      </p:sp>
      <p:sp>
        <p:nvSpPr>
          <p:cNvPr id="10" name="dp45-basic-structures-8">
            <a:extLst>
              <a:ext uri="{FF2B5EF4-FFF2-40B4-BE49-F238E27FC236}">
                <ns2:creationId id="{20ADE678-4CBA-43AA-BF75-9BA8C70D4E57}"/>
              </a:ext>
            </a:extLst>
          </p:cNvPr>
          <p:cNvSpPr>
            <a:spLocks noGrp="1"/>
          </p:cNvSpPr>
          <p:nvPr/>
        </p:nvSpPr>
        <p:spPr>
          <a:xfrm>
            <a:off x="4686300" y="3762375"/>
            <a:ext cx="9525" cy="581025"/>
          </a:xfrm>
          <a:custGeom>
            <a:pathLst>
              <a:path w="9525" h="581025">
                <a:moveTo>
                  <a:pt x="0" y="0"/>
                </a:moveTo>
                <a:lnTo>
                  <a:pt x="0" y="581025"/>
                </a:lnTo>
              </a:path>
            </a:pathLst>
          </a:custGeom>
          <a:noFill/>
          <a:ln w="23813">
            <a:solidFill>
              <a:srgbClr val="00889A"/>
            </a:solidFill>
            <a:prstDash val="solid"/>
          </a:ln>
        </p:spPr>
      </p:sp>
      <p:sp>
        <p:nvSpPr>
          <p:cNvPr id="11" name="dp45-basic-structures-8-arrow">
            <a:extLst>
              <a:ext uri="{FF2B5EF4-FFF2-40B4-BE49-F238E27FC236}">
                <ns2:creationId id="{838D86F2-EBF2-4C67-AA18-1B713944212E}"/>
              </a:ext>
            </a:extLst>
          </p:cNvPr>
          <p:cNvSpPr>
            <a:spLocks noGrp="1"/>
          </p:cNvSpPr>
          <p:nvPr/>
        </p:nvSpPr>
        <p:spPr>
          <a:xfrm>
            <a:off x="4626935" y="4234733"/>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12" name="dp45-basic-structures-9">
            <a:extLst>
              <a:ext uri="{FF2B5EF4-FFF2-40B4-BE49-F238E27FC236}">
                <ns2:creationId id="{96616369-92D1-4A0A-A590-3860EB0159CA}"/>
              </a:ext>
            </a:extLst>
          </p:cNvPr>
          <p:cNvSpPr>
            <a:spLocks noGrp="1"/>
          </p:cNvSpPr>
          <p:nvPr/>
        </p:nvSpPr>
        <p:spPr>
          <a:xfrm>
            <a:off x="1066800" y="4467225"/>
            <a:ext cx="7239000" cy="819150"/>
          </a:xfrm>
          <a:prstGeom prst="rect">
            <a:avLst/>
          </a:prstGeom>
          <a:solidFill>
            <a:srgbClr val="FFFFFF"/>
          </a:solidFill>
          <a:ln w="19050">
            <a:solidFill>
              <a:srgbClr val="A6A6A6"/>
            </a:solidFill>
          </a:ln>
        </p:spPr>
        <p:txBody>
          <a:bodyPr wrap="none" lIns="133350" tIns="0" rIns="133350" bIns="0" anchor="ctr">
            <a:noAutofit/>
          </a:bodyPr>
          <a:lstStyle>
            <a:defPPr algn="ctr">
              <a:defRPr sz="2300" b="1" lang="ko-KR">
                <a:solidFill>
                  <a:srgbClr val="000000"/>
                </a:solidFill>
                <a:latin typeface="Calibri"/>
                <a:ea typeface="Calibri"/>
                <a:cs typeface="Calibri"/>
              </a:defRPr>
            </a:defP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이번 요청에 필요한 맥락 구성</a:t>
            </a:r>
            <a:endParaRPr lang="ko-KR">
              <a:latin typeface="Calibri"/>
              <a:ea typeface="Calibri"/>
              <a:cs typeface="Calibri"/>
            </a:endParaRPr>
          </a:p>
        </p:txBody>
      </p:sp>
      <p:sp>
        <p:nvSpPr>
          <p:cNvPr id="13" name="dp45-basic-structures-10">
            <a:extLst>
              <a:ext uri="{FF2B5EF4-FFF2-40B4-BE49-F238E27FC236}">
                <ns2:creationId id="{2DFCD498-DA8C-4A45-A902-8701CE04D2D8}"/>
              </a:ext>
            </a:extLst>
          </p:cNvPr>
          <p:cNvSpPr>
            <a:spLocks noGrp="1"/>
          </p:cNvSpPr>
          <p:nvPr/>
        </p:nvSpPr>
        <p:spPr>
          <a:xfrm>
            <a:off x="4686300" y="5286375"/>
            <a:ext cx="9525" cy="409575"/>
          </a:xfrm>
          <a:custGeom>
            <a:pathLst>
              <a:path w="9525" h="409575">
                <a:moveTo>
                  <a:pt x="0" y="0"/>
                </a:moveTo>
                <a:lnTo>
                  <a:pt x="0" y="409575"/>
                </a:lnTo>
              </a:path>
            </a:pathLst>
          </a:custGeom>
          <a:noFill/>
          <a:ln w="23813">
            <a:solidFill>
              <a:srgbClr val="00889A"/>
            </a:solidFill>
            <a:prstDash val="solid"/>
          </a:ln>
        </p:spPr>
      </p:sp>
      <p:sp>
        <p:nvSpPr>
          <p:cNvPr id="14" name="dp45-basic-structures-10-arrow">
            <a:extLst>
              <a:ext uri="{FF2B5EF4-FFF2-40B4-BE49-F238E27FC236}">
                <ns2:creationId id="{74DA7C39-573F-40D1-8342-D8AFA256510F}"/>
              </a:ext>
            </a:extLst>
          </p:cNvPr>
          <p:cNvSpPr>
            <a:spLocks noGrp="1"/>
          </p:cNvSpPr>
          <p:nvPr/>
        </p:nvSpPr>
        <p:spPr>
          <a:xfrm>
            <a:off x="4626935" y="5587283"/>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15" name="dp45-basic-structures-11">
            <a:extLst>
              <a:ext uri="{FF2B5EF4-FFF2-40B4-BE49-F238E27FC236}">
                <ns2:creationId id="{7D9D489C-BD6C-4B25-ABE9-0704B18895D8}"/>
              </a:ext>
            </a:extLst>
          </p:cNvPr>
          <p:cNvSpPr>
            <a:spLocks noGrp="1"/>
          </p:cNvSpPr>
          <p:nvPr/>
        </p:nvSpPr>
        <p:spPr>
          <a:xfrm>
            <a:off x="1066800" y="5848350"/>
            <a:ext cx="7239000" cy="428625"/>
          </a:xfrm>
          <a:prstGeom prst="rect">
            <a:avLst/>
          </a:prstGeom>
          <a:noFill/>
          <a:ln w="0">
            <a:noFill/>
          </a:ln>
        </p:spPr>
        <p:txBody>
          <a:bodyPr wrap="none" lIns="0" tIns="0" rIns="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이번 요청의 근거로 반환</a:t>
            </a:r>
            <a:endParaRPr lang="ko-KR">
              <a:latin typeface="Calibri"/>
              <a:ea typeface="Calibri"/>
              <a:cs typeface="Calibri"/>
            </a:endParaRPr>
          </a:p>
        </p:txBody>
      </p:sp>
      <p:sp>
        <p:nvSpPr>
          <p:cNvPr id="16" name="dp45-basic-structures-12">
            <a:extLst>
              <a:ext uri="{FF2B5EF4-FFF2-40B4-BE49-F238E27FC236}">
                <ns2:creationId id="{3BB1E30D-646E-49D9-BF24-28EAD14BF3A2}"/>
              </a:ext>
            </a:extLst>
          </p:cNvPr>
          <p:cNvSpPr>
            <a:spLocks noGrp="1"/>
          </p:cNvSpPr>
          <p:nvPr/>
        </p:nvSpPr>
        <p:spPr>
          <a:xfrm>
            <a:off x="13544550" y="3762375"/>
            <a:ext cx="9525" cy="514350"/>
          </a:xfrm>
          <a:custGeom>
            <a:pathLst>
              <a:path w="9525" h="514350">
                <a:moveTo>
                  <a:pt x="0" y="0"/>
                </a:moveTo>
                <a:lnTo>
                  <a:pt x="0" y="514350"/>
                </a:lnTo>
              </a:path>
            </a:pathLst>
          </a:custGeom>
          <a:noFill/>
          <a:ln w="23813">
            <a:solidFill>
              <a:srgbClr val="00889A"/>
            </a:solidFill>
            <a:prstDash val="solid"/>
          </a:ln>
        </p:spPr>
      </p:sp>
      <p:sp>
        <p:nvSpPr>
          <p:cNvPr id="17" name="dp45-basic-structures-12-arrow">
            <a:extLst>
              <a:ext uri="{FF2B5EF4-FFF2-40B4-BE49-F238E27FC236}">
                <ns2:creationId id="{79B1B887-8526-4E81-A2B9-A66802C5BC4B}"/>
              </a:ext>
            </a:extLst>
          </p:cNvPr>
          <p:cNvSpPr>
            <a:spLocks noGrp="1"/>
          </p:cNvSpPr>
          <p:nvPr/>
        </p:nvSpPr>
        <p:spPr>
          <a:xfrm>
            <a:off x="13485185" y="4168058"/>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18" name="dp45-basic-structures-13">
            <a:extLst>
              <a:ext uri="{FF2B5EF4-FFF2-40B4-BE49-F238E27FC236}">
                <ns2:creationId id="{B7AB5D33-DD2C-4A95-AC47-A0C6EC30F64B}"/>
              </a:ext>
            </a:extLst>
          </p:cNvPr>
          <p:cNvSpPr>
            <a:spLocks noGrp="1"/>
          </p:cNvSpPr>
          <p:nvPr/>
        </p:nvSpPr>
        <p:spPr>
          <a:xfrm>
            <a:off x="9925050" y="4371975"/>
            <a:ext cx="7239000" cy="762000"/>
          </a:xfrm>
          <a:prstGeom prst="rect">
            <a:avLst/>
          </a:prstGeom>
          <a:solidFill>
            <a:srgbClr val="FFFFFF"/>
          </a:solidFill>
          <a:ln w="19050">
            <a:solidFill>
              <a:srgbClr val="A6A6A6"/>
            </a:solidFill>
          </a:ln>
        </p:spPr>
        <p:txBody>
          <a:bodyPr wrap="none" lIns="133350" tIns="0" rIns="133350" bIns="0" anchor="ctr">
            <a:noAutofit/>
          </a:bodyPr>
          <a:lstStyle>
            <a:defPPr algn="ctr">
              <a:defRPr sz="2300" b="1" lang="ko-KR">
                <a:solidFill>
                  <a:srgbClr val="000000"/>
                </a:solidFill>
                <a:latin typeface="Calibri"/>
                <a:ea typeface="Calibri"/>
                <a:cs typeface="Calibri"/>
              </a:defRPr>
            </a:defP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가공한 과거 기억 생산·유지</a:t>
            </a:r>
            <a:endParaRPr lang="ko-KR">
              <a:latin typeface="Calibri"/>
              <a:ea typeface="Calibri"/>
              <a:cs typeface="Calibri"/>
            </a:endParaRPr>
          </a:p>
        </p:txBody>
      </p:sp>
      <p:sp>
        <p:nvSpPr>
          <p:cNvPr id="19" name="dp45-basic-structures-14">
            <a:extLst>
              <a:ext uri="{FF2B5EF4-FFF2-40B4-BE49-F238E27FC236}">
                <ns2:creationId id="{2D2DDDEB-CA95-46DE-A433-942B05DA18D9}"/>
              </a:ext>
            </a:extLst>
          </p:cNvPr>
          <p:cNvSpPr>
            <a:spLocks noGrp="1"/>
          </p:cNvSpPr>
          <p:nvPr/>
        </p:nvSpPr>
        <p:spPr>
          <a:xfrm>
            <a:off x="13544550" y="5133975"/>
            <a:ext cx="9525" cy="419100"/>
          </a:xfrm>
          <a:custGeom>
            <a:pathLst>
              <a:path w="9525" h="419100">
                <a:moveTo>
                  <a:pt x="0" y="0"/>
                </a:moveTo>
                <a:lnTo>
                  <a:pt x="0" y="419100"/>
                </a:lnTo>
              </a:path>
            </a:pathLst>
          </a:custGeom>
          <a:noFill/>
          <a:ln w="23813">
            <a:solidFill>
              <a:srgbClr val="00889A"/>
            </a:solidFill>
            <a:prstDash val="solid"/>
          </a:ln>
        </p:spPr>
      </p:sp>
      <p:sp>
        <p:nvSpPr>
          <p:cNvPr id="20" name="dp45-basic-structures-14-arrow">
            <a:extLst>
              <a:ext uri="{FF2B5EF4-FFF2-40B4-BE49-F238E27FC236}">
                <ns2:creationId id="{B8716FFE-C07F-4023-82A6-C312B719C404}"/>
              </a:ext>
            </a:extLst>
          </p:cNvPr>
          <p:cNvSpPr>
            <a:spLocks noGrp="1"/>
          </p:cNvSpPr>
          <p:nvPr/>
        </p:nvSpPr>
        <p:spPr>
          <a:xfrm>
            <a:off x="13485185" y="5444408"/>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21" name="dp45-basic-structures-15">
            <a:extLst>
              <a:ext uri="{FF2B5EF4-FFF2-40B4-BE49-F238E27FC236}">
                <ns2:creationId id="{C945E429-F773-4124-97E5-E98937A885D8}"/>
              </a:ext>
            </a:extLst>
          </p:cNvPr>
          <p:cNvSpPr>
            <a:spLocks noGrp="1"/>
          </p:cNvSpPr>
          <p:nvPr/>
        </p:nvSpPr>
        <p:spPr>
          <a:xfrm>
            <a:off x="9925050" y="5753100"/>
            <a:ext cx="7239000" cy="523875"/>
          </a:xfrm>
          <a:prstGeom prst="rect">
            <a:avLst/>
          </a:prstGeom>
          <a:noFill/>
          <a:ln w="0">
            <a:noFill/>
          </a:ln>
        </p:spPr>
        <p:txBody>
          <a:bodyPr wrap="none" lIns="0" tIns="0" rIns="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이번 요청이 필요한 기억을 조회</a:t>
            </a:r>
            <a:endParaRPr lang="ko-KR">
              <a:latin typeface="Calibri"/>
              <a:ea typeface="Calibri"/>
              <a:cs typeface="Calibri"/>
            </a:endParaRPr>
          </a:p>
        </p:txBody>
      </p:sp>
      <p:sp>
        <p:nvSpPr>
          <p:cNvPr id="22" name="dp45-basic-structures-16">
            <a:extLst>
              <a:ext uri="{FF2B5EF4-FFF2-40B4-BE49-F238E27FC236}">
                <ns2:creationId id="{117C51F7-CAF8-44A3-BE06-A2BA4B9BC96B}"/>
              </a:ext>
            </a:extLst>
          </p:cNvPr>
          <p:cNvSpPr>
            <a:spLocks noGrp="1"/>
          </p:cNvSpPr>
          <p:nvPr/>
        </p:nvSpPr>
        <p:spPr>
          <a:xfrm>
            <a:off x="495300" y="6705600"/>
            <a:ext cx="17297400" cy="9525"/>
          </a:xfrm>
          <a:custGeom>
            <a:pathLst>
              <a:path w="17297400" h="9525">
                <a:moveTo>
                  <a:pt x="0" y="0"/>
                </a:moveTo>
                <a:lnTo>
                  <a:pt x="17297400" y="0"/>
                </a:lnTo>
              </a:path>
            </a:pathLst>
          </a:custGeom>
          <a:noFill/>
          <a:ln w="14288">
            <a:solidFill>
              <a:srgbClr val="A6A6A6"/>
            </a:solidFill>
            <a:prstDash val="solid"/>
          </a:ln>
        </p:spPr>
      </p:sp>
      <p:sp>
        <p:nvSpPr>
          <p:cNvPr id="23" name="dp45-basic-structures-17">
            <a:extLst>
              <a:ext uri="{FF2B5EF4-FFF2-40B4-BE49-F238E27FC236}">
                <ns2:creationId id="{96B3064B-127C-4EF4-BA5C-0D0DCB5558E6}"/>
              </a:ext>
            </a:extLst>
          </p:cNvPr>
          <p:cNvSpPr>
            <a:spLocks noGrp="1"/>
          </p:cNvSpPr>
          <p:nvPr/>
        </p:nvSpPr>
        <p:spPr>
          <a:xfrm>
            <a:off x="495300" y="6924675"/>
            <a:ext cx="17297400" cy="428625"/>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구조를 보완하는 택틱</a:t>
            </a:r>
            <a:endParaRPr lang="ko-KR">
              <a:latin typeface="Calibri"/>
              <a:ea typeface="Calibri"/>
              <a:cs typeface="Calibri"/>
            </a:endParaRPr>
          </a:p>
        </p:txBody>
      </p:sp>
      <p:sp>
        <p:nvSpPr>
          <p:cNvPr id="24" name="dp45-basic-structures-18">
            <a:extLst>
              <a:ext uri="{FF2B5EF4-FFF2-40B4-BE49-F238E27FC236}">
                <ns2:creationId id="{8E096910-128A-41FD-A7E7-97B75D0F5582}"/>
              </a:ext>
            </a:extLst>
          </p:cNvPr>
          <p:cNvSpPr>
            <a:spLocks noGrp="1"/>
          </p:cNvSpPr>
          <p:nvPr/>
        </p:nvSpPr>
        <p:spPr>
          <a:xfrm>
            <a:off x="495300" y="7515225"/>
            <a:ext cx="8382000" cy="476250"/>
          </a:xfrm>
          <a:prstGeom prst="rect">
            <a:avLst/>
          </a:prstGeom>
          <a:noFill/>
          <a:ln w="0">
            <a:noFill/>
          </a:ln>
        </p:spPr>
        <p:txBody>
          <a:bodyPr wrap="none" lIns="0" tIns="0" rIns="0" bIns="0" anchor="ctr">
            <a:noAutofit/>
          </a:bodyPr>
          <a:lstStyle>
            <a:defPPr algn="l">
              <a:defRPr sz="2200" b="0" lang="ko-KR">
                <a:solidFill>
                  <a:srgbClr val="000000"/>
                </a:solidFill>
                <a:latin typeface="Calibri"/>
                <a:ea typeface="Calibri"/>
                <a:cs typeface="Calibri"/>
              </a:defRPr>
            </a:defP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A  요약·색인·cache와 부분 갱신</a:t>
            </a:r>
            <a:endParaRPr lang="ko-KR">
              <a:latin typeface="Calibri"/>
              <a:ea typeface="Calibri"/>
              <a:cs typeface="Calibri"/>
            </a:endParaRPr>
          </a:p>
        </p:txBody>
      </p:sp>
      <p:sp>
        <p:nvSpPr>
          <p:cNvPr id="25" name="dp45-basic-structures-19">
            <a:extLst>
              <a:ext uri="{FF2B5EF4-FFF2-40B4-BE49-F238E27FC236}">
                <ns2:creationId id="{78A89E72-E699-4053-A791-44EDAA74FF57}"/>
              </a:ext>
            </a:extLst>
          </p:cNvPr>
          <p:cNvSpPr>
            <a:spLocks noGrp="1"/>
          </p:cNvSpPr>
          <p:nvPr/>
        </p:nvSpPr>
        <p:spPr>
          <a:xfrm>
            <a:off x="9353550" y="7515225"/>
            <a:ext cx="8439150" cy="476250"/>
          </a:xfrm>
          <a:prstGeom prst="rect">
            <a:avLst/>
          </a:prstGeom>
          <a:noFill/>
          <a:ln w="0">
            <a:noFill/>
          </a:ln>
        </p:spPr>
        <p:txBody>
          <a:bodyPr wrap="none" lIns="0" tIns="0" rIns="0" bIns="0" anchor="ctr">
            <a:noAutofit/>
          </a:bodyPr>
          <a:lstStyle>
            <a:defPPr algn="l">
              <a:defRPr sz="2200" b="0" lang="ko-KR">
                <a:solidFill>
                  <a:srgbClr val="000000"/>
                </a:solidFill>
                <a:latin typeface="Calibri"/>
                <a:ea typeface="Calibri"/>
                <a:cs typeface="Calibri"/>
              </a:defRPr>
            </a:defP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B  생산 범위 선택·증분 갱신·무효화</a:t>
            </a:r>
            <a:endParaRPr lang="ko-KR">
              <a:latin typeface="Calibri"/>
              <a:ea typeface="Calibri"/>
              <a:cs typeface="Calibri"/>
            </a:endParaRPr>
          </a:p>
        </p:txBody>
      </p:sp>
      <p:sp>
        <p:nvSpPr>
          <p:cNvPr id="26" name="dp45-basic-structures-20">
            <a:extLst>
              <a:ext uri="{FF2B5EF4-FFF2-40B4-BE49-F238E27FC236}">
                <ns2:creationId id="{386E3795-3381-4C20-B47E-AA293213E5A1}"/>
              </a:ext>
            </a:extLst>
          </p:cNvPr>
          <p:cNvSpPr>
            <a:spLocks noGrp="1"/>
          </p:cNvSpPr>
          <p:nvPr/>
        </p:nvSpPr>
        <p:spPr>
          <a:xfrm>
            <a:off x="495300" y="8267700"/>
            <a:ext cx="17297400" cy="47625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수정·삭제와 실제 전달 범위 반영은 양안 공통 요구입니다.</a:t>
            </a:r>
            <a:endParaRPr lang="ko-KR">
              <a:latin typeface="Calibri"/>
              <a:ea typeface="Calibri"/>
              <a:cs typeface="Calibri"/>
            </a:endParaRPr>
          </a:p>
        </p:txBody>
      </p:sp>
      <p:sp>
        <p:nvSpPr>
          <p:cNvPr id="27" name="dp45-basic-structures-21">
            <a:extLst>
              <a:ext uri="{FF2B5EF4-FFF2-40B4-BE49-F238E27FC236}">
                <ns2:creationId id="{48041E13-81C2-4AB5-BEF4-60850E322F72}"/>
              </a:ext>
            </a:extLst>
          </p:cNvPr>
          <p:cNvSpPr>
            <a:spLocks noGrp="1"/>
          </p:cNvSpPr>
          <p:nvPr/>
        </p:nvSpPr>
        <p:spPr>
          <a:xfrm>
            <a:off x="495300" y="8991600"/>
            <a:ext cx="17297400" cy="571500"/>
          </a:xfrm>
          <a:prstGeom prst="rect">
            <a:avLst/>
          </a:prstGeom>
          <a:noFill/>
          <a:ln w="0">
            <a:noFill/>
          </a:ln>
        </p:spPr>
        <p:txBody>
          <a:bodyPr wrap="none" lIns="0" tIns="0" rIns="0" bIns="0" anchor="ctr">
            <a:noAutofit/>
          </a:bodyPr>
          <a:lstStyle>
            <a:defPPr algn="l">
              <a:defRPr sz="2100" b="0" lang="ko-KR">
                <a:solidFill>
                  <a:srgbClr val="000000"/>
                </a:solidFill>
                <a:latin typeface="Calibri"/>
                <a:ea typeface="Calibri"/>
                <a:cs typeface="Calibri"/>
              </a:defRPr>
            </a:defP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A의 구성 비용과 B의 생산·유지 비용을, 첫 사용·반복·정정 이후 장면에서 비교합니다.</a:t>
            </a:r>
            <a:endParaRPr lang="ko-KR">
              <a:latin typeface="Calibri"/>
              <a:ea typeface="Calibri"/>
              <a:cs typeface="Calibri"/>
            </a:endParaRPr>
          </a:p>
        </p:txBody>
      </p:sp>
      <p:sp>
        <p:nvSpPr>
          <p:cNvPr id="28" name="v6-header-stage-0">
            <a:extLst>
              <a:ext uri="{FF2B5EF4-FFF2-40B4-BE49-F238E27FC236}">
                <ns2:creationId id="{5676C74C-BCC9-41ED-A4AB-788611456452}"/>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29" name="v6-header-stage-1">
            <a:extLst>
              <a:ext uri="{FF2B5EF4-FFF2-40B4-BE49-F238E27FC236}">
                <ns2:creationId id="{9015CB6D-EEE6-48B3-BF47-5C347CD7613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0" name="v6-header-stage-2">
            <a:extLst>
              <a:ext uri="{FF2B5EF4-FFF2-40B4-BE49-F238E27FC236}">
                <ns2:creationId id="{4F3BDCA7-F0E0-4B0D-B8A8-BBF8772A7E8B}"/>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1" name="v6-header-stage-3">
            <a:extLst>
              <a:ext uri="{FF2B5EF4-FFF2-40B4-BE49-F238E27FC236}">
                <ns2:creationId id="{81864711-46F3-4BE3-ACFB-A8E7F1E039B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2" name="v6-header-stage-4">
            <a:extLst>
              <a:ext uri="{FF2B5EF4-FFF2-40B4-BE49-F238E27FC236}">
                <ns2:creationId id="{099A8CDA-2A8F-4344-B9C0-28743A02E0B3}"/>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3" name="v6-header-page">
            <a:extLst>
              <a:ext uri="{FF2B5EF4-FFF2-40B4-BE49-F238E27FC236}">
                <ns2:creationId id="{FF5E01B6-949A-4C3C-8E41-1644B5A3CE1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18 / 33</a:t>
            </a:r>
            <a:endParaRPr lang="ko-KR">
              <a:latin typeface="Calibri"/>
              <a:ea typeface="Calibri"/>
              <a:cs typeface="Calibri"/>
            </a:endParaRPr>
          </a:p>
        </p:txBody>
      </p:sp>
    </p:spTree>
    <p:extLst>
      <p:ext uri="{BB962C8B-B14F-4D97-AF65-F5344CB8AC3E}">
        <p14:creationId val="134507861"/>
      </p:ext>
    </p:extLst>
  </p:cSld>
</p:sld>
</file>

<file path=ppt/slides/slide63.xml><?xml version="1.0" encoding="utf-8"?>
<p:sld xmlns:a="http://schemas.openxmlformats.org/drawingml/2006/main" xmlns:ns2="http://schemas.microsoft.com/office/drawing/2014/main" xmlns:p="http://schemas.openxmlformats.org/presentationml/2006/main" xmlns:p14="http://schemas.microsoft.com/office/powerpoint/2010/main">
  <p:cSld name="screen-grounding-background-v8">
    <p:bg>
      <p:bgPr>
        <a:solidFill>
          <a:srgbClr val="FFFFFF"/>
        </a:solidFill>
      </p:bgPr>
    </p:bg>
    <p:spTree>
      <p:nvGrpSpPr>
        <p:cNvPr id="2" name=""/>
        <p:cNvGrpSpPr/>
        <p:nvPr/>
      </p:nvGrpSpPr>
      <p:grpSpPr>
        <a:xfrm/>
      </p:grpSpPr>
      <p:sp>
        <p:nvSpPr>
          <p:cNvPr id="3" name="screen-voice-grounding-background-1">
            <a:extLst>
              <a:ext uri="{FF2B5EF4-FFF2-40B4-BE49-F238E27FC236}">
                <ns2:creationId id="{90729CC9-555A-48BC-8E7C-C8D1FD46612D}"/>
              </a:ext>
            </a:extLst>
          </p:cNvPr>
          <p:cNvSpPr>
            <a:spLocks noGrp="1"/>
          </p:cNvSpPr>
          <p:nvPr/>
        </p:nvSpPr>
        <p:spPr>
          <a:xfrm>
            <a:off x="571500" y="285750"/>
            <a:ext cx="9906000" cy="571500"/>
          </a:xfrm>
          <a:prstGeom prst="rect">
            <a:avLst/>
          </a:prstGeom>
          <a:noFill/>
          <a:ln w="0">
            <a:noFill/>
          </a:ln>
        </p:spPr>
        <p:txBody>
          <a:bodyPr wrap="none" lIns="0" tIns="0" rIns="0" bIns="0" anchor="ctr">
            <a:noAutofit/>
          </a:bodyPr>
          <a:lstStyle>
            <a:defPPr algn="l">
              <a:defRPr sz="3000" b="1" lang="ko-KR">
                <a:solidFill>
                  <a:srgbClr val="000000"/>
                </a:solidFill>
                <a:latin typeface="Calibri"/>
                <a:ea typeface="Calibri"/>
                <a:cs typeface="Calibri"/>
              </a:defRPr>
            </a:defP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화면과 음성 지칭의 결합 (문제)</a:t>
            </a:r>
            <a:endParaRPr lang="ko-KR">
              <a:latin typeface="Calibri"/>
              <a:ea typeface="Calibri"/>
              <a:cs typeface="Calibri"/>
            </a:endParaRPr>
          </a:p>
        </p:txBody>
      </p:sp>
      <p:sp>
        <p:nvSpPr>
          <p:cNvPr id="4" name="screen-voice-grounding-background-2">
            <a:extLst>
              <a:ext uri="{FF2B5EF4-FFF2-40B4-BE49-F238E27FC236}">
                <ns2:creationId id="{FD01AB21-7F54-4901-8D29-594C61663B47}"/>
              </a:ext>
            </a:extLst>
          </p:cNvPr>
          <p:cNvSpPr>
            <a:spLocks noGrp="1"/>
          </p:cNvSpPr>
          <p:nvPr/>
        </p:nvSpPr>
        <p:spPr>
          <a:xfrm>
            <a:off x="495300" y="990600"/>
            <a:ext cx="17335500" cy="9525"/>
          </a:xfrm>
          <a:custGeom>
            <a:pathLst>
              <a:path w="17335500" h="9525">
                <a:moveTo>
                  <a:pt x="0" y="0"/>
                </a:moveTo>
                <a:lnTo>
                  <a:pt x="17335500" y="0"/>
                </a:lnTo>
              </a:path>
            </a:pathLst>
          </a:custGeom>
          <a:noFill/>
          <a:ln w="14288">
            <a:solidFill>
              <a:srgbClr val="A6A6A6"/>
            </a:solidFill>
            <a:prstDash val="solid"/>
          </a:ln>
        </p:spPr>
      </p:sp>
      <p:sp>
        <p:nvSpPr>
          <p:cNvPr id="5" name="screen-voice-grounding-background-3">
            <a:extLst>
              <a:ext uri="{FF2B5EF4-FFF2-40B4-BE49-F238E27FC236}">
                <ns2:creationId id="{94E94543-51A5-4FE4-A4A2-6097BB1ADA0A}"/>
              </a:ext>
            </a:extLst>
          </p:cNvPr>
          <p:cNvSpPr>
            <a:spLocks noGrp="1"/>
          </p:cNvSpPr>
          <p:nvPr/>
        </p:nvSpPr>
        <p:spPr>
          <a:xfrm>
            <a:off x="495300" y="8648700"/>
            <a:ext cx="17297400" cy="9525"/>
          </a:xfrm>
          <a:custGeom>
            <a:pathLst>
              <a:path w="17297400" h="9525">
                <a:moveTo>
                  <a:pt x="0" y="0"/>
                </a:moveTo>
                <a:lnTo>
                  <a:pt x="17297400" y="0"/>
                </a:lnTo>
              </a:path>
            </a:pathLst>
          </a:custGeom>
          <a:noFill/>
          <a:ln w="14288">
            <a:solidFill>
              <a:srgbClr val="A6A6A6"/>
            </a:solidFill>
            <a:prstDash val="solid"/>
          </a:ln>
        </p:spPr>
      </p:sp>
      <p:sp>
        <p:nvSpPr>
          <p:cNvPr id="6" name="screen-voice-grounding-background-4">
            <a:extLst>
              <a:ext uri="{FF2B5EF4-FFF2-40B4-BE49-F238E27FC236}">
                <ns2:creationId id="{26EEB88B-40D3-41D1-959E-11B0E7502BF7}"/>
              </a:ext>
            </a:extLst>
          </p:cNvPr>
          <p:cNvSpPr>
            <a:spLocks noGrp="1"/>
          </p:cNvSpPr>
          <p:nvPr/>
        </p:nvSpPr>
        <p:spPr>
          <a:xfrm>
            <a:off x="495300" y="8905875"/>
            <a:ext cx="1714500" cy="476250"/>
          </a:xfrm>
          <a:prstGeom prst="rect">
            <a:avLst/>
          </a:prstGeom>
          <a:noFill/>
          <a:ln w="0">
            <a:noFill/>
          </a:ln>
        </p:spPr>
        <p:txBody>
          <a:bodyPr wrap="none" lIns="0" tIns="0" rIns="0" bIns="0" anchor="ctr">
            <a:noAutofit/>
          </a:bodyPr>
          <a:lstStyle>
            <a:defPPr algn="l">
              <a:defRPr sz="2300" b="1" lang="ko-KR">
                <a:solidFill>
                  <a:srgbClr val="C00000"/>
                </a:solidFill>
                <a:latin typeface="Calibri"/>
                <a:ea typeface="Calibri"/>
                <a:cs typeface="Calibri"/>
              </a:defRPr>
            </a:defPPr>
          </a:lstStyle>
          <a:p>
            <a:pPr algn="l">
              <a:defRPr sz="2300" b="1" lang="ko-KR">
                <a:solidFill>
                  <a:srgbClr val="C00000"/>
                </a:solidFill>
                <a:latin typeface="Calibri"/>
                <a:ea typeface="Calibri"/>
                <a:cs typeface="Calibri"/>
              </a:defRPr>
            </a:pPr>
            <a:r>
              <a:rPr sz="2300" b="1" lang="ko-KR">
                <a:solidFill>
                  <a:srgbClr val="C00000"/>
                </a:solidFill>
                <a:latin typeface="Calibri"/>
                <a:ea typeface="Calibri"/>
                <a:cs typeface="Calibri"/>
              </a:rPr>
              <a:t>설계 질문</a:t>
            </a:r>
            <a:endParaRPr lang="ko-KR">
              <a:latin typeface="Calibri"/>
              <a:ea typeface="Calibri"/>
              <a:cs typeface="Calibri"/>
            </a:endParaRPr>
          </a:p>
        </p:txBody>
      </p:sp>
      <p:sp>
        <p:nvSpPr>
          <p:cNvPr id="7" name="screen-voice-grounding-background-5">
            <a:extLst>
              <a:ext uri="{FF2B5EF4-FFF2-40B4-BE49-F238E27FC236}">
                <ns2:creationId id="{C88D40C9-3CE3-401C-B094-AD14916DB960}"/>
              </a:ext>
            </a:extLst>
          </p:cNvPr>
          <p:cNvSpPr>
            <a:spLocks noGrp="1"/>
          </p:cNvSpPr>
          <p:nvPr/>
        </p:nvSpPr>
        <p:spPr>
          <a:xfrm>
            <a:off x="2476500" y="8877300"/>
            <a:ext cx="15316200" cy="9525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말과 손동작을 당시 화면에 연결해,</a:t>
            </a:r>
            <a:endParaRPr lang="ko-KR">
              <a:latin typeface="Calibri"/>
              <a:ea typeface="Calibri"/>
              <a:cs typeface="Calibri"/>
            </a:endParaRPr>
          </a:p>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사용자가 뜻한 대상을 어떻게 찾을까?</a:t>
            </a:r>
            <a:endParaRPr lang="ko-KR">
              <a:latin typeface="Calibri"/>
              <a:ea typeface="Calibri"/>
              <a:cs typeface="Calibri"/>
            </a:endParaRPr>
          </a:p>
        </p:txBody>
      </p:sp>
      <p:sp>
        <p:nvSpPr>
          <p:cNvPr id="8" name="screen-voice-grounding-background-6">
            <a:extLst>
              <a:ext uri="{FF2B5EF4-FFF2-40B4-BE49-F238E27FC236}">
                <ns2:creationId id="{755195CA-5C8F-430B-80E9-2A76C36F4729}"/>
              </a:ext>
            </a:extLst>
          </p:cNvPr>
          <p:cNvSpPr>
            <a:spLocks noGrp="1"/>
          </p:cNvSpPr>
          <p:nvPr/>
        </p:nvSpPr>
        <p:spPr>
          <a:xfrm>
            <a:off x="495300" y="1419225"/>
            <a:ext cx="17297400" cy="600075"/>
          </a:xfrm>
          <a:prstGeom prst="rect">
            <a:avLst/>
          </a:prstGeom>
          <a:noFill/>
          <a:ln w="0">
            <a:noFill/>
          </a:ln>
        </p:spPr>
        <p:txBody>
          <a:bodyPr wrap="none" lIns="0" tIns="0" rIns="0" bIns="0" anchor="ctr">
            <a:noAutofit/>
          </a:bodyPr>
          <a:lstStyle>
            <a:defPPr algn="l">
              <a:defRPr sz="2400" b="1" lang="ko-KR">
                <a:solidFill>
                  <a:srgbClr val="000000"/>
                </a:solidFill>
                <a:latin typeface="Calibri"/>
                <a:ea typeface="Calibri"/>
                <a:cs typeface="Calibri"/>
              </a:defRPr>
            </a:defP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첫 표를 가리켜 “이 표와…”라고 말하고, 화면을 바꿔 “…저 표를 비교해줘”라고 이어 갑니다.</a:t>
            </a:r>
            <a:endParaRPr lang="ko-KR">
              <a:latin typeface="Calibri"/>
              <a:ea typeface="Calibri"/>
              <a:cs typeface="Calibri"/>
            </a:endParaRPr>
          </a:p>
        </p:txBody>
      </p:sp>
      <p:sp>
        <p:nvSpPr>
          <p:cNvPr id="9" name="screen-voice-grounding-background-7">
            <a:extLst>
              <a:ext uri="{FF2B5EF4-FFF2-40B4-BE49-F238E27FC236}">
                <ns2:creationId id="{1A577844-5DB8-417B-A8BD-2974A73F1261}"/>
              </a:ext>
            </a:extLst>
          </p:cNvPr>
          <p:cNvSpPr>
            <a:spLocks noGrp="1"/>
          </p:cNvSpPr>
          <p:nvPr/>
        </p:nvSpPr>
        <p:spPr>
          <a:xfrm>
            <a:off x="495300" y="2400300"/>
            <a:ext cx="5410200" cy="4953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말하는 순간 1</a:t>
            </a:r>
            <a:endParaRPr lang="ko-KR">
              <a:latin typeface="Calibri"/>
              <a:ea typeface="Calibri"/>
              <a:cs typeface="Calibri"/>
            </a:endParaRPr>
          </a:p>
        </p:txBody>
      </p:sp>
      <p:sp>
        <p:nvSpPr>
          <p:cNvPr id="10" name="screen-voice-grounding-background-8">
            <a:extLst>
              <a:ext uri="{FF2B5EF4-FFF2-40B4-BE49-F238E27FC236}">
                <ns2:creationId id="{F9D35411-C34A-4204-9412-9FC64DE9F988}"/>
              </a:ext>
            </a:extLst>
          </p:cNvPr>
          <p:cNvSpPr>
            <a:spLocks noGrp="1"/>
          </p:cNvSpPr>
          <p:nvPr/>
        </p:nvSpPr>
        <p:spPr>
          <a:xfrm>
            <a:off x="6438900" y="2400300"/>
            <a:ext cx="5410200" cy="4953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말하는 순간 2</a:t>
            </a:r>
            <a:endParaRPr lang="ko-KR">
              <a:latin typeface="Calibri"/>
              <a:ea typeface="Calibri"/>
              <a:cs typeface="Calibri"/>
            </a:endParaRPr>
          </a:p>
        </p:txBody>
      </p:sp>
      <p:sp>
        <p:nvSpPr>
          <p:cNvPr id="11" name="screen-voice-grounding-background-9">
            <a:extLst>
              <a:ext uri="{FF2B5EF4-FFF2-40B4-BE49-F238E27FC236}">
                <ns2:creationId id="{31A36706-D554-4E56-8943-A680D01A0DB9}"/>
              </a:ext>
            </a:extLst>
          </p:cNvPr>
          <p:cNvSpPr>
            <a:spLocks noGrp="1"/>
          </p:cNvSpPr>
          <p:nvPr/>
        </p:nvSpPr>
        <p:spPr>
          <a:xfrm>
            <a:off x="12382500" y="2400300"/>
            <a:ext cx="5410200" cy="4953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전사가 도착한 순간</a:t>
            </a:r>
            <a:endParaRPr lang="ko-KR">
              <a:latin typeface="Calibri"/>
              <a:ea typeface="Calibri"/>
              <a:cs typeface="Calibri"/>
            </a:endParaRPr>
          </a:p>
        </p:txBody>
      </p:sp>
      <p:sp>
        <p:nvSpPr>
          <p:cNvPr id="12" name="screen-voice-grounding-background-10">
            <a:extLst>
              <a:ext uri="{FF2B5EF4-FFF2-40B4-BE49-F238E27FC236}">
                <ns2:creationId id="{3AED1F5E-3A15-4132-BF3C-ED700347317A}"/>
              </a:ext>
            </a:extLst>
          </p:cNvPr>
          <p:cNvSpPr>
            <a:spLocks noGrp="1"/>
          </p:cNvSpPr>
          <p:nvPr/>
        </p:nvSpPr>
        <p:spPr>
          <a:xfrm>
            <a:off x="495300" y="3095625"/>
            <a:ext cx="5410200" cy="514350"/>
          </a:xfrm>
          <a:prstGeom prst="rect">
            <a:avLst/>
          </a:prstGeom>
          <a:solidFill>
            <a:srgbClr val="F2F2F2"/>
          </a:solidFill>
          <a:ln w="19050">
            <a:solidFill>
              <a:srgbClr val="A6A6A6"/>
            </a:solidFill>
          </a:ln>
        </p:spPr>
        <p:txBody>
          <a:bodyPr wrap="none" lIns="133350" tIns="0" rIns="13335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문서 A의 화면</a:t>
            </a:r>
            <a:endParaRPr lang="ko-KR">
              <a:latin typeface="Calibri"/>
              <a:ea typeface="Calibri"/>
              <a:cs typeface="Calibri"/>
            </a:endParaRPr>
          </a:p>
        </p:txBody>
      </p:sp>
      <p:sp>
        <p:nvSpPr>
          <p:cNvPr id="13" name="screen-voice-grounding-background-11">
            <a:extLst>
              <a:ext uri="{FF2B5EF4-FFF2-40B4-BE49-F238E27FC236}">
                <ns2:creationId id="{CC93A8B2-0510-4F1A-8EC1-EFA3E404C431}"/>
              </a:ext>
            </a:extLst>
          </p:cNvPr>
          <p:cNvSpPr>
            <a:spLocks noGrp="1"/>
          </p:cNvSpPr>
          <p:nvPr/>
        </p:nvSpPr>
        <p:spPr>
          <a:xfrm>
            <a:off x="6438900" y="3095625"/>
            <a:ext cx="5410200" cy="514350"/>
          </a:xfrm>
          <a:prstGeom prst="rect">
            <a:avLst/>
          </a:prstGeom>
          <a:solidFill>
            <a:srgbClr val="F2F2F2"/>
          </a:solidFill>
          <a:ln w="19050">
            <a:solidFill>
              <a:srgbClr val="A6A6A6"/>
            </a:solidFill>
          </a:ln>
        </p:spPr>
        <p:txBody>
          <a:bodyPr wrap="none" lIns="133350" tIns="0" rIns="13335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문서 B의 화면</a:t>
            </a:r>
            <a:endParaRPr lang="ko-KR">
              <a:latin typeface="Calibri"/>
              <a:ea typeface="Calibri"/>
              <a:cs typeface="Calibri"/>
            </a:endParaRPr>
          </a:p>
        </p:txBody>
      </p:sp>
      <p:sp>
        <p:nvSpPr>
          <p:cNvPr id="14" name="screen-voice-grounding-background-12">
            <a:extLst>
              <a:ext uri="{FF2B5EF4-FFF2-40B4-BE49-F238E27FC236}">
                <ns2:creationId id="{3334D68D-9117-4F11-A34E-FE62F6322298}"/>
              </a:ext>
            </a:extLst>
          </p:cNvPr>
          <p:cNvSpPr>
            <a:spLocks noGrp="1"/>
          </p:cNvSpPr>
          <p:nvPr/>
        </p:nvSpPr>
        <p:spPr>
          <a:xfrm>
            <a:off x="12382500" y="3095625"/>
            <a:ext cx="5410200" cy="514350"/>
          </a:xfrm>
          <a:prstGeom prst="rect">
            <a:avLst/>
          </a:prstGeom>
          <a:solidFill>
            <a:srgbClr val="F2F2F2"/>
          </a:solidFill>
          <a:ln w="19050">
            <a:solidFill>
              <a:srgbClr val="A6A6A6"/>
            </a:solidFill>
          </a:ln>
        </p:spPr>
        <p:txBody>
          <a:bodyPr wrap="none" lIns="133350" tIns="0" rIns="13335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현재 문서 B의 화면</a:t>
            </a:r>
            <a:endParaRPr lang="ko-KR">
              <a:latin typeface="Calibri"/>
              <a:ea typeface="Calibri"/>
              <a:cs typeface="Calibri"/>
            </a:endParaRPr>
          </a:p>
        </p:txBody>
      </p:sp>
      <p:sp>
        <p:nvSpPr>
          <p:cNvPr id="15" name="screen-voice-grounding-background-13">
            <a:extLst>
              <a:ext uri="{FF2B5EF4-FFF2-40B4-BE49-F238E27FC236}">
                <ns2:creationId id="{E1AF0620-654B-44C6-88BC-6752DFF919F8}"/>
              </a:ext>
            </a:extLst>
          </p:cNvPr>
          <p:cNvSpPr>
            <a:spLocks noGrp="1"/>
          </p:cNvSpPr>
          <p:nvPr/>
        </p:nvSpPr>
        <p:spPr>
          <a:xfrm>
            <a:off x="762000" y="3857625"/>
            <a:ext cx="4876800" cy="1457325"/>
          </a:xfrm>
          <a:prstGeom prst="rect">
            <a:avLst/>
          </a:prstGeom>
          <a:solidFill>
            <a:srgbClr val="FFFFFF"/>
          </a:solidFill>
          <a:ln w="19050">
            <a:solidFill>
              <a:srgbClr val="00889A"/>
            </a:solidFill>
          </a:ln>
        </p:spPr>
        <p:txBody>
          <a:bodyPr wrap="none" lIns="133350" tIns="0" rIns="133350" bIns="0" anchor="ctr">
            <a:noAutofit/>
          </a:bodyPr>
          <a:lstStyle>
            <a:defPPr algn="ctr">
              <a:defRPr sz="2500" b="1" lang="ko-KR">
                <a:solidFill>
                  <a:srgbClr val="000000"/>
                </a:solidFill>
                <a:latin typeface="Calibri"/>
                <a:ea typeface="Calibri"/>
                <a:cs typeface="Calibri"/>
              </a:defRPr>
            </a:defPPr>
          </a:lstStyle>
          <a:p>
            <a:pPr algn="ctr">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첫 표</a:t>
            </a:r>
            <a:endParaRPr lang="ko-KR">
              <a:latin typeface="Calibri"/>
              <a:ea typeface="Calibri"/>
              <a:cs typeface="Calibri"/>
            </a:endParaRPr>
          </a:p>
        </p:txBody>
      </p:sp>
      <p:sp>
        <p:nvSpPr>
          <p:cNvPr id="16" name="screen-voice-grounding-background-14">
            <a:extLst>
              <a:ext uri="{FF2B5EF4-FFF2-40B4-BE49-F238E27FC236}">
                <ns2:creationId id="{CB8EA97D-27C3-404D-9459-446CF7AE95D2}"/>
              </a:ext>
            </a:extLst>
          </p:cNvPr>
          <p:cNvSpPr>
            <a:spLocks noGrp="1"/>
          </p:cNvSpPr>
          <p:nvPr/>
        </p:nvSpPr>
        <p:spPr>
          <a:xfrm>
            <a:off x="6705600" y="3800475"/>
            <a:ext cx="4876800" cy="771525"/>
          </a:xfrm>
          <a:prstGeom prst="rect">
            <a:avLst/>
          </a:prstGeom>
          <a:solidFill>
            <a:srgbClr val="FFFFFF"/>
          </a:solidFill>
          <a:ln w="19050">
            <a:solidFill>
              <a:srgbClr val="00889A"/>
            </a:solidFill>
          </a:ln>
        </p:spPr>
        <p:txBody>
          <a:bodyPr wrap="none" lIns="133350" tIns="0" rIns="133350" bIns="0" anchor="ctr">
            <a:noAutofit/>
          </a:bodyPr>
          <a:lstStyle>
            <a:defPPr algn="ctr">
              <a:defRPr sz="2200" b="1" lang="ko-KR">
                <a:solidFill>
                  <a:srgbClr val="000000"/>
                </a:solidFill>
                <a:latin typeface="Calibri"/>
                <a:ea typeface="Calibri"/>
                <a:cs typeface="Calibri"/>
              </a:defRPr>
            </a:defPPr>
          </a:lstStyle>
          <a:p>
            <a:pPr algn="ct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둘째 표</a:t>
            </a:r>
            <a:endParaRPr lang="ko-KR">
              <a:latin typeface="Calibri"/>
              <a:ea typeface="Calibri"/>
              <a:cs typeface="Calibri"/>
            </a:endParaRPr>
          </a:p>
        </p:txBody>
      </p:sp>
      <p:sp>
        <p:nvSpPr>
          <p:cNvPr id="17" name="screen-voice-grounding-background-15">
            <a:extLst>
              <a:ext uri="{FF2B5EF4-FFF2-40B4-BE49-F238E27FC236}">
                <ns2:creationId id="{EDED4D3B-B5B5-4C91-AD1D-1ED0B3995001}"/>
              </a:ext>
            </a:extLst>
          </p:cNvPr>
          <p:cNvSpPr>
            <a:spLocks noGrp="1"/>
          </p:cNvSpPr>
          <p:nvPr/>
        </p:nvSpPr>
        <p:spPr>
          <a:xfrm>
            <a:off x="6705600" y="4905375"/>
            <a:ext cx="4876800" cy="771525"/>
          </a:xfrm>
          <a:prstGeom prst="rect">
            <a:avLst/>
          </a:prstGeom>
          <a:solidFill>
            <a:srgbClr val="FFFFFF"/>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아래 표</a:t>
            </a:r>
            <a:endParaRPr lang="ko-KR">
              <a:latin typeface="Calibri"/>
              <a:ea typeface="Calibri"/>
              <a:cs typeface="Calibri"/>
            </a:endParaRPr>
          </a:p>
        </p:txBody>
      </p:sp>
      <p:sp>
        <p:nvSpPr>
          <p:cNvPr id="18" name="screen-voice-grounding-background-16">
            <a:extLst>
              <a:ext uri="{FF2B5EF4-FFF2-40B4-BE49-F238E27FC236}">
                <ns2:creationId id="{9507291D-A144-40BF-AE30-CCBB1D979EBB}"/>
              </a:ext>
            </a:extLst>
          </p:cNvPr>
          <p:cNvSpPr>
            <a:spLocks noGrp="1"/>
          </p:cNvSpPr>
          <p:nvPr/>
        </p:nvSpPr>
        <p:spPr>
          <a:xfrm>
            <a:off x="12649200" y="3800475"/>
            <a:ext cx="4876800" cy="771525"/>
          </a:xfrm>
          <a:prstGeom prst="rect">
            <a:avLst/>
          </a:prstGeom>
          <a:solidFill>
            <a:srgbClr val="FFFFFF"/>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둘째 표</a:t>
            </a:r>
            <a:endParaRPr lang="ko-KR">
              <a:latin typeface="Calibri"/>
              <a:ea typeface="Calibri"/>
              <a:cs typeface="Calibri"/>
            </a:endParaRPr>
          </a:p>
        </p:txBody>
      </p:sp>
      <p:sp>
        <p:nvSpPr>
          <p:cNvPr id="19" name="screen-voice-grounding-background-17">
            <a:extLst>
              <a:ext uri="{FF2B5EF4-FFF2-40B4-BE49-F238E27FC236}">
                <ns2:creationId id="{DA933010-EA47-46F2-A3C6-46ADFD227918}"/>
              </a:ext>
            </a:extLst>
          </p:cNvPr>
          <p:cNvSpPr>
            <a:spLocks noGrp="1"/>
          </p:cNvSpPr>
          <p:nvPr/>
        </p:nvSpPr>
        <p:spPr>
          <a:xfrm>
            <a:off x="12649200" y="4905375"/>
            <a:ext cx="4876800" cy="771525"/>
          </a:xfrm>
          <a:prstGeom prst="rect">
            <a:avLst/>
          </a:prstGeom>
          <a:solidFill>
            <a:srgbClr val="FFFFFF"/>
          </a:solidFill>
          <a:ln w="19050">
            <a:solidFill>
              <a:srgbClr val="00889A"/>
            </a:solidFill>
          </a:ln>
        </p:spPr>
        <p:txBody>
          <a:bodyPr wrap="none" lIns="133350" tIns="0" rIns="133350" bIns="0" anchor="ctr">
            <a:noAutofit/>
          </a:bodyPr>
          <a:lstStyle>
            <a:defPPr algn="ctr">
              <a:defRPr sz="2000" b="1" lang="ko-KR">
                <a:solidFill>
                  <a:srgbClr val="000000"/>
                </a:solidFill>
                <a:latin typeface="Calibri"/>
                <a:ea typeface="Calibri"/>
                <a:cs typeface="Calibri"/>
              </a:defRPr>
            </a:defP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정정한 아래 표</a:t>
            </a:r>
            <a:endParaRPr lang="ko-KR">
              <a:latin typeface="Calibri"/>
              <a:ea typeface="Calibri"/>
              <a:cs typeface="Calibri"/>
            </a:endParaRPr>
          </a:p>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선택 범위</a:t>
            </a:r>
            <a:endParaRPr lang="ko-KR">
              <a:latin typeface="Calibri"/>
              <a:ea typeface="Calibri"/>
              <a:cs typeface="Calibri"/>
            </a:endParaRPr>
          </a:p>
        </p:txBody>
      </p:sp>
      <p:sp>
        <p:nvSpPr>
          <p:cNvPr id="20" name="screen-voice-grounding-background-18">
            <a:extLst>
              <a:ext uri="{FF2B5EF4-FFF2-40B4-BE49-F238E27FC236}">
                <ns2:creationId id="{F27BBFE9-D23F-4EB1-A287-640A04A44E71}"/>
              </a:ext>
            </a:extLst>
          </p:cNvPr>
          <p:cNvSpPr>
            <a:spLocks noGrp="1"/>
          </p:cNvSpPr>
          <p:nvPr/>
        </p:nvSpPr>
        <p:spPr>
          <a:xfrm>
            <a:off x="1419225" y="4810125"/>
            <a:ext cx="771525" cy="695325"/>
          </a:xfrm>
          <a:custGeom>
            <a:pathLst>
              <a:path w="771525" h="695325">
                <a:moveTo>
                  <a:pt x="0" y="695325"/>
                </a:moveTo>
                <a:lnTo>
                  <a:pt x="419100" y="447675"/>
                </a:lnTo>
                <a:lnTo>
                  <a:pt x="771525" y="0"/>
                </a:lnTo>
              </a:path>
            </a:pathLst>
          </a:custGeom>
          <a:noFill/>
          <a:ln w="23813">
            <a:solidFill>
              <a:srgbClr val="00889A"/>
            </a:solidFill>
            <a:prstDash val="solid"/>
          </a:ln>
        </p:spPr>
      </p:sp>
      <p:sp>
        <p:nvSpPr>
          <p:cNvPr id="21" name="screen-voice-grounding-background-18-arrow">
            <a:extLst>
              <a:ext uri="{FF2B5EF4-FFF2-40B4-BE49-F238E27FC236}">
                <ns2:creationId id="{CDDBB1E5-E183-41E3-AB77-773A47492576}"/>
              </a:ext>
            </a:extLst>
          </p:cNvPr>
          <p:cNvSpPr>
            <a:spLocks noGrp="1"/>
          </p:cNvSpPr>
          <p:nvPr/>
        </p:nvSpPr>
        <p:spPr>
          <a:xfrm>
            <a:off x="2076888" y="4810125"/>
            <a:ext cx="113862" cy="122104"/>
          </a:xfrm>
          <a:custGeom>
            <a:pathLst>
              <a:path w="113862" h="122104">
                <a:moveTo>
                  <a:pt x="93290" y="122104"/>
                </a:moveTo>
                <a:lnTo>
                  <a:pt x="113862" y="0"/>
                </a:lnTo>
                <a:lnTo>
                  <a:pt x="0" y="48663"/>
                </a:lnTo>
              </a:path>
            </a:pathLst>
          </a:custGeom>
          <a:noFill/>
          <a:ln w="23813">
            <a:solidFill>
              <a:srgbClr val="00889A"/>
            </a:solidFill>
            <a:prstDash val="solid"/>
          </a:ln>
        </p:spPr>
      </p:sp>
      <p:sp>
        <p:nvSpPr>
          <p:cNvPr id="22" name="screen-voice-grounding-background-19">
            <a:extLst>
              <a:ext uri="{FF2B5EF4-FFF2-40B4-BE49-F238E27FC236}">
                <ns2:creationId id="{5933FB94-649E-4596-B5C8-AD0F18B5C09F}"/>
              </a:ext>
            </a:extLst>
          </p:cNvPr>
          <p:cNvSpPr>
            <a:spLocks noGrp="1"/>
          </p:cNvSpPr>
          <p:nvPr/>
        </p:nvSpPr>
        <p:spPr>
          <a:xfrm>
            <a:off x="6572250" y="4238625"/>
            <a:ext cx="666750" cy="523875"/>
          </a:xfrm>
          <a:custGeom>
            <a:pathLst>
              <a:path w="666750" h="523875">
                <a:moveTo>
                  <a:pt x="0" y="523875"/>
                </a:moveTo>
                <a:lnTo>
                  <a:pt x="333375" y="238125"/>
                </a:lnTo>
                <a:lnTo>
                  <a:pt x="666750" y="0"/>
                </a:lnTo>
              </a:path>
            </a:pathLst>
          </a:custGeom>
          <a:noFill/>
          <a:ln w="23813">
            <a:solidFill>
              <a:srgbClr val="00889A"/>
            </a:solidFill>
            <a:prstDash val="solid"/>
          </a:ln>
        </p:spPr>
      </p:sp>
      <p:sp>
        <p:nvSpPr>
          <p:cNvPr id="23" name="screen-voice-grounding-background-19-arrow">
            <a:extLst>
              <a:ext uri="{FF2B5EF4-FFF2-40B4-BE49-F238E27FC236}">
                <ns2:creationId id="{94012786-963A-454F-9947-9A39193BF7A3}"/>
              </a:ext>
            </a:extLst>
          </p:cNvPr>
          <p:cNvSpPr>
            <a:spLocks noGrp="1"/>
          </p:cNvSpPr>
          <p:nvPr/>
        </p:nvSpPr>
        <p:spPr>
          <a:xfrm>
            <a:off x="7116069" y="4238625"/>
            <a:ext cx="122931" cy="111468"/>
          </a:xfrm>
          <a:custGeom>
            <a:pathLst>
              <a:path w="122931" h="111468">
                <a:moveTo>
                  <a:pt x="69010" y="111468"/>
                </a:moveTo>
                <a:lnTo>
                  <a:pt x="122931" y="0"/>
                </a:lnTo>
                <a:lnTo>
                  <a:pt x="0" y="14854"/>
                </a:lnTo>
              </a:path>
            </a:pathLst>
          </a:custGeom>
          <a:noFill/>
          <a:ln w="23813">
            <a:solidFill>
              <a:srgbClr val="00889A"/>
            </a:solidFill>
            <a:prstDash val="solid"/>
          </a:ln>
        </p:spPr>
      </p:sp>
      <p:sp>
        <p:nvSpPr>
          <p:cNvPr id="24" name="screen-voice-grounding-background-20">
            <a:extLst>
              <a:ext uri="{FF2B5EF4-FFF2-40B4-BE49-F238E27FC236}">
                <ns2:creationId id="{9853ED97-537C-435C-9409-EC0A87F88DB7}"/>
              </a:ext>
            </a:extLst>
          </p:cNvPr>
          <p:cNvSpPr>
            <a:spLocks noGrp="1"/>
          </p:cNvSpPr>
          <p:nvPr/>
        </p:nvSpPr>
        <p:spPr>
          <a:xfrm>
            <a:off x="12525375" y="5286375"/>
            <a:ext cx="666750" cy="523875"/>
          </a:xfrm>
          <a:custGeom>
            <a:pathLst>
              <a:path w="666750" h="523875">
                <a:moveTo>
                  <a:pt x="0" y="523875"/>
                </a:moveTo>
                <a:lnTo>
                  <a:pt x="333375" y="285750"/>
                </a:lnTo>
                <a:lnTo>
                  <a:pt x="666750" y="0"/>
                </a:lnTo>
              </a:path>
            </a:pathLst>
          </a:custGeom>
          <a:noFill/>
          <a:ln w="23813">
            <a:solidFill>
              <a:srgbClr val="00889A"/>
            </a:solidFill>
            <a:prstDash val="solid"/>
          </a:ln>
        </p:spPr>
      </p:sp>
      <p:sp>
        <p:nvSpPr>
          <p:cNvPr id="25" name="screen-voice-grounding-background-20-arrow">
            <a:extLst>
              <a:ext uri="{FF2B5EF4-FFF2-40B4-BE49-F238E27FC236}">
                <ns2:creationId id="{84E96253-26D1-4207-A0DF-CEBC2ECEDB51}"/>
              </a:ext>
            </a:extLst>
          </p:cNvPr>
          <p:cNvSpPr>
            <a:spLocks noGrp="1"/>
          </p:cNvSpPr>
          <p:nvPr/>
        </p:nvSpPr>
        <p:spPr>
          <a:xfrm>
            <a:off x="13070985" y="5286375"/>
            <a:ext cx="121140" cy="115792"/>
          </a:xfrm>
          <a:custGeom>
            <a:pathLst>
              <a:path w="121140" h="115792">
                <a:moveTo>
                  <a:pt x="77268" y="115792"/>
                </a:moveTo>
                <a:lnTo>
                  <a:pt x="121140" y="0"/>
                </a:lnTo>
                <a:lnTo>
                  <a:pt x="0" y="25646"/>
                </a:lnTo>
              </a:path>
            </a:pathLst>
          </a:custGeom>
          <a:noFill/>
          <a:ln w="23813">
            <a:solidFill>
              <a:srgbClr val="00889A"/>
            </a:solidFill>
            <a:prstDash val="solid"/>
          </a:ln>
        </p:spPr>
      </p:sp>
      <p:sp>
        <p:nvSpPr>
          <p:cNvPr id="26" name="screen-voice-grounding-background-21">
            <a:extLst>
              <a:ext uri="{FF2B5EF4-FFF2-40B4-BE49-F238E27FC236}">
                <ns2:creationId id="{938D2821-8B5B-4CD5-8FBF-A7F938006ADD}"/>
              </a:ext>
            </a:extLst>
          </p:cNvPr>
          <p:cNvSpPr>
            <a:spLocks noGrp="1"/>
          </p:cNvSpPr>
          <p:nvPr/>
        </p:nvSpPr>
        <p:spPr>
          <a:xfrm>
            <a:off x="762000" y="5734050"/>
            <a:ext cx="4876800" cy="41910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pointer로 첫 표 지시</a:t>
            </a:r>
            <a:endParaRPr lang="ko-KR">
              <a:latin typeface="Calibri"/>
              <a:ea typeface="Calibri"/>
              <a:cs typeface="Calibri"/>
            </a:endParaRPr>
          </a:p>
        </p:txBody>
      </p:sp>
      <p:sp>
        <p:nvSpPr>
          <p:cNvPr id="27" name="screen-voice-grounding-background-22">
            <a:extLst>
              <a:ext uri="{FF2B5EF4-FFF2-40B4-BE49-F238E27FC236}">
                <ns2:creationId id="{3D94DA35-BF0D-4C4F-BC3F-E64E8F933C51}"/>
              </a:ext>
            </a:extLst>
          </p:cNvPr>
          <p:cNvSpPr>
            <a:spLocks noGrp="1"/>
          </p:cNvSpPr>
          <p:nvPr/>
        </p:nvSpPr>
        <p:spPr>
          <a:xfrm>
            <a:off x="6705600" y="5895975"/>
            <a:ext cx="4876800" cy="41910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다른 창의 표로 이동</a:t>
            </a:r>
            <a:endParaRPr lang="ko-KR">
              <a:latin typeface="Calibri"/>
              <a:ea typeface="Calibri"/>
              <a:cs typeface="Calibri"/>
            </a:endParaRPr>
          </a:p>
        </p:txBody>
      </p:sp>
      <p:sp>
        <p:nvSpPr>
          <p:cNvPr id="28" name="screen-voice-grounding-background-23">
            <a:extLst>
              <a:ext uri="{FF2B5EF4-FFF2-40B4-BE49-F238E27FC236}">
                <ns2:creationId id="{44578C9B-1776-48A0-A3AB-183FE385AA99}"/>
              </a:ext>
            </a:extLst>
          </p:cNvPr>
          <p:cNvSpPr>
            <a:spLocks noGrp="1"/>
          </p:cNvSpPr>
          <p:nvPr/>
        </p:nvSpPr>
        <p:spPr>
          <a:xfrm>
            <a:off x="12649200" y="5895975"/>
            <a:ext cx="4876800" cy="419100"/>
          </a:xfrm>
          <a:prstGeom prst="rect">
            <a:avLst/>
          </a:prstGeom>
          <a:noFill/>
          <a:ln w="0">
            <a:noFill/>
          </a:ln>
        </p:spPr>
        <p:txBody>
          <a:bodyPr wrap="none" lIns="0" tIns="0" rIns="0" bIns="0" anchor="ctr">
            <a:noAutofit/>
          </a:bodyPr>
          <a:lstStyle>
            <a:defPPr algn="l">
              <a:defRPr sz="1900" b="1" lang="ko-KR">
                <a:solidFill>
                  <a:srgbClr val="000000"/>
                </a:solidFill>
                <a:latin typeface="Calibri"/>
                <a:ea typeface="Calibri"/>
                <a:cs typeface="Calibri"/>
              </a:defRPr>
            </a:defPPr>
          </a:lstStyle>
          <a:p>
            <a:pPr algn="l">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첫 표는 이미 보이지 않음</a:t>
            </a:r>
            <a:endParaRPr lang="ko-KR">
              <a:latin typeface="Calibri"/>
              <a:ea typeface="Calibri"/>
              <a:cs typeface="Calibri"/>
            </a:endParaRPr>
          </a:p>
        </p:txBody>
      </p:sp>
      <p:sp>
        <p:nvSpPr>
          <p:cNvPr id="29" name="screen-voice-grounding-background-24">
            <a:extLst>
              <a:ext uri="{FF2B5EF4-FFF2-40B4-BE49-F238E27FC236}">
                <ns2:creationId id="{AE8E4E65-A063-41F8-887A-ED9441962B79}"/>
              </a:ext>
            </a:extLst>
          </p:cNvPr>
          <p:cNvSpPr>
            <a:spLocks noGrp="1"/>
          </p:cNvSpPr>
          <p:nvPr/>
        </p:nvSpPr>
        <p:spPr>
          <a:xfrm>
            <a:off x="5905500" y="4562475"/>
            <a:ext cx="342900" cy="9525"/>
          </a:xfrm>
          <a:custGeom>
            <a:pathLst>
              <a:path w="342900" h="9525">
                <a:moveTo>
                  <a:pt x="0" y="0"/>
                </a:moveTo>
                <a:lnTo>
                  <a:pt x="342900" y="0"/>
                </a:lnTo>
              </a:path>
            </a:pathLst>
          </a:custGeom>
          <a:noFill/>
          <a:ln w="23813">
            <a:solidFill>
              <a:srgbClr val="A6A6A6"/>
            </a:solidFill>
            <a:prstDash val="solid"/>
          </a:ln>
        </p:spPr>
      </p:sp>
      <p:sp>
        <p:nvSpPr>
          <p:cNvPr id="30" name="screen-voice-grounding-background-24-arrow">
            <a:extLst>
              <a:ext uri="{FF2B5EF4-FFF2-40B4-BE49-F238E27FC236}">
                <ns2:creationId id="{AEAB695E-C295-4D40-A963-5E45704F56C1}"/>
              </a:ext>
            </a:extLst>
          </p:cNvPr>
          <p:cNvSpPr>
            <a:spLocks noGrp="1"/>
          </p:cNvSpPr>
          <p:nvPr/>
        </p:nvSpPr>
        <p:spPr>
          <a:xfrm>
            <a:off x="6139733" y="4503110"/>
            <a:ext cx="108667" cy="118730"/>
          </a:xfrm>
          <a:custGeom>
            <a:pathLst>
              <a:path w="108667" h="118730">
                <a:moveTo>
                  <a:pt x="0" y="118730"/>
                </a:moveTo>
                <a:lnTo>
                  <a:pt x="108667" y="59365"/>
                </a:lnTo>
                <a:lnTo>
                  <a:pt x="0" y="0"/>
                </a:lnTo>
              </a:path>
            </a:pathLst>
          </a:custGeom>
          <a:noFill/>
          <a:ln w="23813">
            <a:solidFill>
              <a:srgbClr val="A6A6A6"/>
            </a:solidFill>
            <a:prstDash val="solid"/>
          </a:ln>
        </p:spPr>
      </p:sp>
      <p:sp>
        <p:nvSpPr>
          <p:cNvPr id="31" name="screen-voice-grounding-background-25">
            <a:extLst>
              <a:ext uri="{FF2B5EF4-FFF2-40B4-BE49-F238E27FC236}">
                <ns2:creationId id="{E62849C0-4F31-4418-91C6-32DB5DDD5D0F}"/>
              </a:ext>
            </a:extLst>
          </p:cNvPr>
          <p:cNvSpPr>
            <a:spLocks noGrp="1"/>
          </p:cNvSpPr>
          <p:nvPr/>
        </p:nvSpPr>
        <p:spPr>
          <a:xfrm>
            <a:off x="11849100" y="4562475"/>
            <a:ext cx="342900" cy="9525"/>
          </a:xfrm>
          <a:custGeom>
            <a:pathLst>
              <a:path w="342900" h="9525">
                <a:moveTo>
                  <a:pt x="0" y="0"/>
                </a:moveTo>
                <a:lnTo>
                  <a:pt x="342900" y="0"/>
                </a:lnTo>
              </a:path>
            </a:pathLst>
          </a:custGeom>
          <a:noFill/>
          <a:ln w="23813">
            <a:solidFill>
              <a:srgbClr val="A6A6A6"/>
            </a:solidFill>
            <a:prstDash val="solid"/>
          </a:ln>
        </p:spPr>
      </p:sp>
      <p:sp>
        <p:nvSpPr>
          <p:cNvPr id="32" name="screen-voice-grounding-background-25-arrow">
            <a:extLst>
              <a:ext uri="{FF2B5EF4-FFF2-40B4-BE49-F238E27FC236}">
                <ns2:creationId id="{FC9EBFC7-C292-4FCC-9406-B21CA0C99DA6}"/>
              </a:ext>
            </a:extLst>
          </p:cNvPr>
          <p:cNvSpPr>
            <a:spLocks noGrp="1"/>
          </p:cNvSpPr>
          <p:nvPr/>
        </p:nvSpPr>
        <p:spPr>
          <a:xfrm>
            <a:off x="12083333" y="4503110"/>
            <a:ext cx="108667" cy="118730"/>
          </a:xfrm>
          <a:custGeom>
            <a:pathLst>
              <a:path w="108667" h="118730">
                <a:moveTo>
                  <a:pt x="0" y="118730"/>
                </a:moveTo>
                <a:lnTo>
                  <a:pt x="108667" y="59365"/>
                </a:lnTo>
                <a:lnTo>
                  <a:pt x="0" y="0"/>
                </a:lnTo>
              </a:path>
            </a:pathLst>
          </a:custGeom>
          <a:noFill/>
          <a:ln w="23813">
            <a:solidFill>
              <a:srgbClr val="A6A6A6"/>
            </a:solidFill>
            <a:prstDash val="solid"/>
          </a:ln>
        </p:spPr>
      </p:sp>
      <p:sp>
        <p:nvSpPr>
          <p:cNvPr id="33" name="screen-voice-grounding-background-26">
            <a:extLst>
              <a:ext uri="{FF2B5EF4-FFF2-40B4-BE49-F238E27FC236}">
                <ns2:creationId id="{532B40B5-9EBC-4C20-A535-CA1AD3712FBA}"/>
              </a:ext>
            </a:extLst>
          </p:cNvPr>
          <p:cNvSpPr>
            <a:spLocks noGrp="1"/>
          </p:cNvSpPr>
          <p:nvPr/>
        </p:nvSpPr>
        <p:spPr>
          <a:xfrm>
            <a:off x="495300" y="6667500"/>
            <a:ext cx="17297400" cy="51435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“아니, 여기.”로 정정하면 선택 범위와 바꿀 지칭도 다시 연결해야 합니다.</a:t>
            </a:r>
            <a:endParaRPr lang="ko-KR">
              <a:latin typeface="Calibri"/>
              <a:ea typeface="Calibri"/>
              <a:cs typeface="Calibri"/>
            </a:endParaRPr>
          </a:p>
        </p:txBody>
      </p:sp>
      <p:sp>
        <p:nvSpPr>
          <p:cNvPr id="34" name="screen-voice-grounding-background-27">
            <a:extLst>
              <a:ext uri="{FF2B5EF4-FFF2-40B4-BE49-F238E27FC236}">
                <ns2:creationId id="{2173ACFF-EE3F-4BE9-8E6E-B53882E763C9}"/>
              </a:ext>
            </a:extLst>
          </p:cNvPr>
          <p:cNvSpPr>
            <a:spLocks noGrp="1"/>
          </p:cNvSpPr>
          <p:nvPr/>
        </p:nvSpPr>
        <p:spPr>
          <a:xfrm>
            <a:off x="495300" y="7296150"/>
            <a:ext cx="17297400" cy="476250"/>
          </a:xfrm>
          <a:prstGeom prst="rect">
            <a:avLst/>
          </a:prstGeom>
          <a:noFill/>
          <a:ln w="0">
            <a:noFill/>
          </a:ln>
        </p:spPr>
        <p:txBody>
          <a:bodyPr wrap="none" lIns="0" tIns="0" rIns="0" bIns="0" anchor="ctr">
            <a:noAutofit/>
          </a:bodyPr>
          <a:lstStyle>
            <a:defPPr algn="l">
              <a:defRPr sz="2200" b="0" lang="ko-KR">
                <a:solidFill>
                  <a:srgbClr val="000000"/>
                </a:solidFill>
                <a:latin typeface="Calibri"/>
                <a:ea typeface="Calibri"/>
                <a:cs typeface="Calibri"/>
              </a:defRPr>
            </a:defP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근거: 말한 구간, 당시 화면, pointer 경로와 선택 범위</a:t>
            </a:r>
            <a:endParaRPr lang="ko-KR">
              <a:latin typeface="Calibri"/>
              <a:ea typeface="Calibri"/>
              <a:cs typeface="Calibri"/>
            </a:endParaRPr>
          </a:p>
        </p:txBody>
      </p:sp>
      <p:sp>
        <p:nvSpPr>
          <p:cNvPr id="35" name="screen-voice-grounding-background-28">
            <a:extLst>
              <a:ext uri="{FF2B5EF4-FFF2-40B4-BE49-F238E27FC236}">
                <ns2:creationId id="{CD01FA75-8B72-4B31-A73F-A9EBD93DE754}"/>
              </a:ext>
            </a:extLst>
          </p:cNvPr>
          <p:cNvSpPr>
            <a:spLocks noGrp="1"/>
          </p:cNvSpPr>
          <p:nvPr/>
        </p:nvSpPr>
        <p:spPr>
          <a:xfrm>
            <a:off x="495300" y="7972425"/>
            <a:ext cx="17297400" cy="5524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마지막 화면만 쓰면 첫 표를 잃고, 시각이 겹친다는 이유만으로 대상을 정하면 틀릴 수 있습니다.</a:t>
            </a:r>
            <a:endParaRPr lang="ko-KR">
              <a:latin typeface="Calibri"/>
              <a:ea typeface="Calibri"/>
              <a:cs typeface="Calibri"/>
            </a:endParaRPr>
          </a:p>
        </p:txBody>
      </p:sp>
      <p:sp>
        <p:nvSpPr>
          <p:cNvPr id="36" name="screen-voice-grounding-background-29">
            <a:extLst>
              <a:ext uri="{FF2B5EF4-FFF2-40B4-BE49-F238E27FC236}">
                <ns2:creationId id="{C9E36569-675C-4138-8CE4-C55FCA896229}"/>
              </a:ext>
            </a:extLst>
          </p:cNvPr>
          <p:cNvSpPr>
            <a:spLocks noGrp="1"/>
          </p:cNvSpPr>
          <p:nvPr/>
        </p:nvSpPr>
        <p:spPr>
          <a:xfrm>
            <a:off x="495300" y="9848850"/>
            <a:ext cx="17297400" cy="285750"/>
          </a:xfrm>
          <a:prstGeom prst="rect">
            <a:avLst/>
          </a:prstGeom>
          <a:noFill/>
          <a:ln w="0">
            <a:noFill/>
          </a:ln>
        </p:spPr>
        <p:txBody>
          <a:bodyPr wrap="none" lIns="0" tIns="0" rIns="0" bIns="0" anchor="ctr">
            <a:noAutofit/>
          </a:bodyPr>
          <a:lstStyle>
            <a:defPPr algn="l">
              <a:defRPr sz="1700" b="0" lang="ko-KR">
                <a:solidFill>
                  <a:srgbClr val="000000"/>
                </a:solidFill>
                <a:latin typeface="Calibri"/>
                <a:ea typeface="Calibri"/>
                <a:cs typeface="Calibri"/>
              </a:defRPr>
            </a:defP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새 주제 탐색 · 번호와 A/B 미정</a:t>
            </a:r>
            <a:endParaRPr lang="ko-KR">
              <a:latin typeface="Calibri"/>
              <a:ea typeface="Calibri"/>
              <a:cs typeface="Calibri"/>
            </a:endParaRPr>
          </a:p>
        </p:txBody>
      </p:sp>
      <p:sp>
        <p:nvSpPr>
          <p:cNvPr id="37" name="v6-header-stage-0">
            <a:extLst>
              <a:ext uri="{FF2B5EF4-FFF2-40B4-BE49-F238E27FC236}">
                <ns2:creationId id="{5676C74C-BCC9-41ED-A4AB-788611456452}"/>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8" name="v6-header-stage-1">
            <a:extLst>
              <a:ext uri="{FF2B5EF4-FFF2-40B4-BE49-F238E27FC236}">
                <ns2:creationId id="{9015CB6D-EEE6-48B3-BF47-5C347CD7613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9" name="v6-header-stage-2">
            <a:extLst>
              <a:ext uri="{FF2B5EF4-FFF2-40B4-BE49-F238E27FC236}">
                <ns2:creationId id="{4F3BDCA7-F0E0-4B0D-B8A8-BBF8772A7E8B}"/>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0" name="v6-header-stage-3">
            <a:extLst>
              <a:ext uri="{FF2B5EF4-FFF2-40B4-BE49-F238E27FC236}">
                <ns2:creationId id="{81864711-46F3-4BE3-ACFB-A8E7F1E039B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1" name="v6-header-stage-4">
            <a:extLst>
              <a:ext uri="{FF2B5EF4-FFF2-40B4-BE49-F238E27FC236}">
                <ns2:creationId id="{099A8CDA-2A8F-4344-B9C0-28743A02E0B3}"/>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42" name="v6-header-page">
            <a:extLst>
              <a:ext uri="{FF2B5EF4-FFF2-40B4-BE49-F238E27FC236}">
                <ns2:creationId id="{FF5E01B6-949A-4C3C-8E41-1644B5A3CE1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22 / 33</a:t>
            </a:r>
            <a:endParaRPr lang="ko-KR">
              <a:latin typeface="Calibri"/>
              <a:ea typeface="Calibri"/>
              <a:cs typeface="Calibri"/>
            </a:endParaRPr>
          </a:p>
        </p:txBody>
      </p:sp>
    </p:spTree>
    <p:extLst>
      <p:ext uri="{BB962C8B-B14F-4D97-AF65-F5344CB8AC3E}">
        <p14:creationId val="516107886"/>
      </p:ext>
    </p:extLst>
  </p:cSld>
</p:sld>
</file>

<file path=ppt/slides/slide64.xml><?xml version="1.0" encoding="utf-8"?>
<p:sld xmlns:a="http://schemas.openxmlformats.org/drawingml/2006/main" xmlns:ns2="http://schemas.microsoft.com/office/drawing/2014/main" xmlns:p="http://schemas.openxmlformats.org/presentationml/2006/main" xmlns:p14="http://schemas.microsoft.com/office/powerpoint/2010/main">
  <p:cSld name="qa01-metric-v11">
    <p:bg>
      <p:bgPr>
        <a:solidFill>
          <a:srgbClr val="FFFFFF"/>
        </a:solidFill>
      </p:bgPr>
    </p:bg>
    <p:spTree>
      <p:nvGrpSpPr>
        <p:cNvPr id="2" name=""/>
        <p:cNvGrpSpPr/>
        <p:nvPr/>
      </p:nvGrpSpPr>
      <p:grpSpPr>
        <a:xfrm/>
      </p:grpSpPr>
      <p:graphicFrame>
        <p:nvGraphicFramePr>
          <p:cNvPr id="3" name="QA01-scenario">
            <a:extLst>
              <a:ext uri="{FF2B5EF4-FFF2-40B4-BE49-F238E27FC236}">
                <ns2:creationId id="{E137F885-1C3F-4FBC-A332-5D627F4585E1}"/>
              </a:ext>
            </a:extLst>
          </p:cNvPr>
          <p:cNvGraphicFramePr/>
          <p:nvPr/>
        </p:nvGraphicFramePr>
        <p:xfrm>
          <a:off x="457200" y="1257300"/>
          <a:ext cx="17373600" cy="2019300"/>
        </p:xfrm>
        <a:graphic>
          <a:graphicData uri="http://schemas.openxmlformats.org/drawingml/2006/table">
            <a:tbl>
              <a:tblPr/>
              <a:tblGrid>
                <a:gridCol w="2190750"/>
                <a:gridCol w="2762250"/>
                <a:gridCol w="12420600"/>
              </a:tblGrid>
              <a:tr h="419100">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분류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Title</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Scenario</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1600200">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Performance</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첫 응답 지연시간</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사용자 요청이나 업무 사건에 대한 구체적인 첫 응답을 신속하게 화면에 표시해야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[평균 첫 응답 지연시간 ≤ 1초]</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28개 / 응답 사건 120건 × 5회 / 실제 사건 → 첫 내용 UI 표시</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Nielsen(1993) 사고 흐름 유지 1초와 Microsoft Windows 응답성 지침</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4" name="QA01-rationale-label">
            <a:extLst>
              <a:ext uri="{FF2B5EF4-FFF2-40B4-BE49-F238E27FC236}">
                <ns2:creationId id="{3960B5EA-4BDB-4E66-8029-7BAAFEEB3F51}"/>
              </a:ext>
            </a:extLst>
          </p:cNvPr>
          <p:cNvSpPr>
            <a:spLocks noGrp="1"/>
          </p:cNvSpPr>
          <p:nvPr/>
        </p:nvSpPr>
        <p:spPr>
          <a:xfrm>
            <a:off x="523875" y="3486150"/>
            <a:ext cx="104775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목표 수치의 근거</a:t>
            </a:r>
            <a:endParaRPr lang="ko-KR">
              <a:latin typeface="Calibri"/>
              <a:ea typeface="Calibri"/>
              <a:cs typeface="Calibri"/>
            </a:endParaRPr>
          </a:p>
        </p:txBody>
      </p:sp>
      <p:sp>
        <p:nvSpPr>
          <p:cNvPr id="5" name="QA01-rationale">
            <a:extLst>
              <a:ext uri="{FF2B5EF4-FFF2-40B4-BE49-F238E27FC236}">
                <ns2:creationId id="{1945D12E-D9B5-435A-AEB0-AEC80B3AF64A}"/>
              </a:ext>
            </a:extLst>
          </p:cNvPr>
          <p:cNvSpPr>
            <a:spLocks noGrp="1"/>
          </p:cNvSpPr>
          <p:nvPr/>
        </p:nvSpPr>
        <p:spPr>
          <a:xfrm>
            <a:off x="523875" y="3905250"/>
            <a:ext cx="10572750" cy="1085850"/>
          </a:xfrm>
          <a:prstGeom prst="rect">
            <a:avLst/>
          </a:prstGeom>
          <a:noFill/>
          <a:ln w="0">
            <a:noFill/>
          </a:ln>
        </p:spPr>
        <p:txBody>
          <a:bodyPr lIns="0" tIns="0" rIns="0" bIns="0" anchor="ctr">
            <a:noAutofit/>
          </a:bodyPr>
          <a:lstStyle>
            <a:defPPr>
              <a:defRPr sz="2000" b="0" lang="ko-KR">
                <a:solidFill>
                  <a:srgbClr val="000000"/>
                </a:solidFill>
                <a:latin typeface="Calibri"/>
                <a:ea typeface="Calibri"/>
                <a:cs typeface="Calibri"/>
              </a:defRPr>
            </a:defPPr>
          </a:lstStyle>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Nielsen은 사고 흐름을 유지하는 UI 반응 기준을 약 1초로 설명한다.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Windows 지침도 0.5~1초를 응답성이 유지되는 구간으로 분류한다.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VIA는 첫 내용 표시의 평균에 1초 목표를 적용한다.</a:t>
            </a:r>
            <a:endParaRPr lang="ko-KR">
              <a:latin typeface="Calibri"/>
              <a:ea typeface="Calibri"/>
              <a:cs typeface="Calibri"/>
            </a:endParaRPr>
          </a:p>
        </p:txBody>
      </p:sp>
      <p:sp>
        <p:nvSpPr>
          <p:cNvPr id="6" name="QA01-metric-label">
            <a:extLst>
              <a:ext uri="{FF2B5EF4-FFF2-40B4-BE49-F238E27FC236}">
                <ns2:creationId id="{C2D4AA09-0F01-4B28-AFCB-E4DDA29264AC}"/>
              </a:ext>
            </a:extLst>
          </p:cNvPr>
          <p:cNvSpPr>
            <a:spLocks noGrp="1"/>
          </p:cNvSpPr>
          <p:nvPr/>
        </p:nvSpPr>
        <p:spPr>
          <a:xfrm>
            <a:off x="523875" y="5114925"/>
            <a:ext cx="1057275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측정 지표와 계산 예시</a:t>
            </a:r>
            <a:endParaRPr lang="ko-KR">
              <a:latin typeface="Calibri"/>
              <a:ea typeface="Calibri"/>
              <a:cs typeface="Calibri"/>
            </a:endParaRPr>
          </a:p>
        </p:txBody>
      </p:sp>
      <p:sp>
        <p:nvSpPr>
          <p:cNvPr id="7" name="QA01-formula">
            <a:extLst>
              <a:ext uri="{FF2B5EF4-FFF2-40B4-BE49-F238E27FC236}">
                <ns2:creationId id="{FAAC601B-EFE9-4741-BBA3-6A595CB8CE83}"/>
              </a:ext>
            </a:extLst>
          </p:cNvPr>
          <p:cNvSpPr>
            <a:spLocks noGrp="1"/>
          </p:cNvSpPr>
          <p:nvPr/>
        </p:nvSpPr>
        <p:spPr>
          <a:xfrm>
            <a:off x="523875" y="5534025"/>
            <a:ext cx="10572750" cy="68580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L = 600개 첫 내용 응답 지연의 합계 / 600</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시작: 실제 발화 종료 / Text 제출 / Agent source 최초 제공</a:t>
            </a:r>
            <a:endParaRPr lang="ko-KR">
              <a:latin typeface="Calibri"/>
              <a:ea typeface="Calibri"/>
              <a:cs typeface="Calibri"/>
            </a:endParaRPr>
          </a:p>
        </p:txBody>
      </p:sp>
      <p:graphicFrame>
        <p:nvGraphicFramePr>
          <p:cNvPr id="8" name="QA01-example">
            <a:extLst>
              <a:ext uri="{FF2B5EF4-FFF2-40B4-BE49-F238E27FC236}">
                <ns2:creationId id="{6861EF5B-017B-4BD8-A4CF-B7807F8FE47C}"/>
              </a:ext>
            </a:extLst>
          </p:cNvPr>
          <p:cNvGraphicFramePr/>
          <p:nvPr/>
        </p:nvGraphicFramePr>
        <p:xfrm>
          <a:off x="523875" y="6372225"/>
          <a:ext cx="10572750" cy="1295400"/>
        </p:xfrm>
        <a:graphic>
          <a:graphicData uri="http://schemas.openxmlformats.org/drawingml/2006/table">
            <a:tbl>
              <a:tblPr/>
              <a:tblGrid>
                <a:gridCol w="1238250"/>
                <a:gridCol w="2000250"/>
                <a:gridCol w="2000250"/>
                <a:gridCol w="3048000"/>
                <a:gridCol w="2286000"/>
              </a:tblGrid>
              <a:tr h="419100">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사건</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0.0초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0.1초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0.8초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1.3초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동작</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발화 종료</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“네” 표시</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비교 수행 안내</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Agent 전송</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판정</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시작</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제외</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첫 내용 표시</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이후 처리</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9" name="QA01-example-result">
            <a:extLst>
              <a:ext uri="{FF2B5EF4-FFF2-40B4-BE49-F238E27FC236}">
                <ns2:creationId id="{C433DD21-3F06-4351-B784-32C4CF0C405A}"/>
              </a:ext>
            </a:extLst>
          </p:cNvPr>
          <p:cNvSpPr>
            <a:spLocks noGrp="1"/>
          </p:cNvSpPr>
          <p:nvPr/>
        </p:nvSpPr>
        <p:spPr>
          <a:xfrm>
            <a:off x="523875" y="7877175"/>
            <a:ext cx="10572750" cy="74295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이 사건의 지연은 0.8초</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가상 관측 0.8 / 0.6 / 1.0 / 0.8초의 평균 0.8초 = 2점</a:t>
            </a:r>
            <a:endParaRPr lang="ko-KR">
              <a:latin typeface="Calibri"/>
              <a:ea typeface="Calibri"/>
              <a:cs typeface="Calibri"/>
            </a:endParaRPr>
          </a:p>
        </p:txBody>
      </p:sp>
      <p:sp>
        <p:nvSpPr>
          <p:cNvPr id="10" name="QA01-guard">
            <a:extLst>
              <a:ext uri="{FF2B5EF4-FFF2-40B4-BE49-F238E27FC236}">
                <ns2:creationId id="{E9987427-1BBD-4888-84AD-2655835BDA21}"/>
              </a:ext>
            </a:extLst>
          </p:cNvPr>
          <p:cNvSpPr>
            <a:spLocks noGrp="1"/>
          </p:cNvSpPr>
          <p:nvPr/>
        </p:nvSpPr>
        <p:spPr>
          <a:xfrm>
            <a:off x="523875" y="8696325"/>
            <a:ext cx="10572750" cy="628650"/>
          </a:xfrm>
          <a:prstGeom prst="rect">
            <a:avLst/>
          </a:prstGeom>
          <a:noFill/>
          <a:ln w="0">
            <a:noFill/>
          </a:ln>
        </p:spPr>
        <p:txBody>
          <a:bodyPr lIns="0" tIns="0" rIns="0" bIns="0" anchor="ctr">
            <a:noAutofit/>
          </a:bodyPr>
          <a:lstStyle>
            <a:defPPr>
              <a:defRPr sz="1700" b="0" lang="ko-KR">
                <a:solidFill>
                  <a:srgbClr val="000000"/>
                </a:solidFill>
                <a:latin typeface="Calibri"/>
                <a:ea typeface="Calibri"/>
                <a:cs typeface="Calibri"/>
              </a:defRPr>
            </a:defP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첫 완결된 내용의 실제 UI 표시에서 종료한다. 오답도 실제 시간을 포함하고 미관측은 별도 표시한다.</a:t>
            </a:r>
            <a:endParaRPr lang="ko-KR">
              <a:latin typeface="Calibri"/>
              <a:ea typeface="Calibri"/>
              <a:cs typeface="Calibri"/>
            </a:endParaRPr>
          </a:p>
        </p:txBody>
      </p:sp>
      <p:sp>
        <p:nvSpPr>
          <p:cNvPr id="11" name="QA01-dp">
            <a:extLst>
              <a:ext uri="{FF2B5EF4-FFF2-40B4-BE49-F238E27FC236}">
                <ns2:creationId id="{D0DE6078-FDF5-430D-9B70-F32E1F67898B}"/>
              </a:ext>
            </a:extLst>
          </p:cNvPr>
          <p:cNvSpPr>
            <a:spLocks noGrp="1"/>
          </p:cNvSpPr>
          <p:nvPr/>
        </p:nvSpPr>
        <p:spPr>
          <a:xfrm>
            <a:off x="523875" y="9420225"/>
            <a:ext cx="10572750" cy="323850"/>
          </a:xfrm>
          <a:prstGeom prst="rect">
            <a:avLst/>
          </a:prstGeom>
          <a:noFill/>
          <a:ln w="0">
            <a:noFill/>
          </a:ln>
        </p:spPr>
        <p:txBody>
          <a:bodyPr lIns="0" tIns="0" rIns="0" bIns="0" anchor="ctr">
            <a:noAutofit/>
          </a:bodyPr>
          <a:lstStyle>
            <a:defPPr>
              <a:defRPr sz="1600" b="1" lang="ko-KR">
                <a:solidFill>
                  <a:srgbClr val="000000"/>
                </a:solidFill>
                <a:latin typeface="Calibri"/>
                <a:ea typeface="Calibri"/>
                <a:cs typeface="Calibri"/>
              </a:defRPr>
            </a:defPPr>
          </a:lstStyle>
          <a:p>
            <a:pPr>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DP-44 B 가설: 단계 완료에서 다음 처리를 바로 시작해 중앙 회수 대기를 줄인다.</a:t>
            </a:r>
            <a:endParaRPr lang="ko-KR">
              <a:latin typeface="Calibri"/>
              <a:ea typeface="Calibri"/>
              <a:cs typeface="Calibri"/>
            </a:endParaRPr>
          </a:p>
        </p:txBody>
      </p:sp>
      <p:sp>
        <p:nvSpPr>
          <p:cNvPr id="12" name="QA01-scoring-title">
            <a:extLst>
              <a:ext uri="{FF2B5EF4-FFF2-40B4-BE49-F238E27FC236}">
                <ns2:creationId id="{5D200741-AB8B-47CD-A438-D3572B3C131C}"/>
              </a:ext>
            </a:extLst>
          </p:cNvPr>
          <p:cNvSpPr>
            <a:spLocks noGrp="1"/>
          </p:cNvSpPr>
          <p:nvPr/>
        </p:nvSpPr>
        <p:spPr>
          <a:xfrm>
            <a:off x="11658600" y="3486150"/>
            <a:ext cx="61722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0~6점 평가 기준</a:t>
            </a:r>
            <a:endParaRPr lang="ko-KR">
              <a:latin typeface="Calibri"/>
              <a:ea typeface="Calibri"/>
              <a:cs typeface="Calibri"/>
            </a:endParaRPr>
          </a:p>
        </p:txBody>
      </p:sp>
      <p:graphicFrame>
        <p:nvGraphicFramePr>
          <p:cNvPr id="13" name="QA01-score">
            <a:extLst>
              <a:ext uri="{FF2B5EF4-FFF2-40B4-BE49-F238E27FC236}">
                <ns2:creationId id="{5BC1E16E-7DFF-4190-B8BC-23E2E5E60677}"/>
              </a:ext>
            </a:extLst>
          </p:cNvPr>
          <p:cNvGraphicFramePr/>
          <p:nvPr/>
        </p:nvGraphicFramePr>
        <p:xfrm>
          <a:off x="11658600" y="3971925"/>
          <a:ext cx="6172200" cy="4495800"/>
        </p:xfrm>
        <a:graphic>
          <a:graphicData uri="http://schemas.openxmlformats.org/drawingml/2006/table">
            <a:tbl>
              <a:tblPr/>
              <a:tblGrid>
                <a:gridCol w="762000"/>
                <a:gridCol w="1619250"/>
                <a:gridCol w="3790950"/>
              </a:tblGrid>
              <a:tr h="561975">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점수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기호</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기준 (초)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6</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 ≤ L ≤ 0.20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5</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0.20 &lt; L ≤ 0.36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0.36 &lt; L ≤ 0.52</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0.52 &lt; L ≤ 0.68</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0.68 &lt; L ≤ 0.84</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0.84 &lt; L ≤ 1.00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L &gt; 1.00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14" name="QA01-band">
            <a:extLst>
              <a:ext uri="{FF2B5EF4-FFF2-40B4-BE49-F238E27FC236}">
                <ns2:creationId id="{BBE58FFB-1AB7-4ACC-A5BE-9B387CE27568}"/>
              </a:ext>
            </a:extLst>
          </p:cNvPr>
          <p:cNvSpPr>
            <a:spLocks noGrp="1"/>
          </p:cNvSpPr>
          <p:nvPr/>
        </p:nvSpPr>
        <p:spPr>
          <a:xfrm>
            <a:off x="11658600" y="8734425"/>
            <a:ext cx="6172200" cy="942975"/>
          </a:xfrm>
          <a:prstGeom prst="rect">
            <a:avLst/>
          </a:prstGeom>
          <a:noFill/>
          <a:ln w="0">
            <a:noFill/>
          </a:ln>
        </p:spPr>
        <p:txBody>
          <a:bodyPr lIns="0" tIns="0" rIns="0" bIns="0" anchor="ctr">
            <a:noAutofit/>
          </a:bodyPr>
          <a:lstStyle>
            <a:defPPr>
              <a:defRPr sz="1800" b="0" lang="ko-KR">
                <a:solidFill>
                  <a:srgbClr val="000000"/>
                </a:solidFill>
                <a:latin typeface="Calibri"/>
                <a:ea typeface="Calibri"/>
                <a:cs typeface="Calibri"/>
              </a:defRPr>
            </a:defPPr>
          </a:lstStyle>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1초는 목표 상한</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0.2초는 최고 개선 등급</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(1.00 − 0.20) / 5 = 0.16초 간격</a:t>
            </a:r>
            <a:endParaRPr lang="ko-KR">
              <a:latin typeface="Calibri"/>
              <a:ea typeface="Calibri"/>
              <a:cs typeface="Calibri"/>
            </a:endParaRPr>
          </a:p>
        </p:txBody>
      </p:sp>
      <p:sp>
        <p:nvSpPr>
          <p:cNvPr id="15" name="QA01-source">
            <a:extLst>
              <a:ext uri="{FF2B5EF4-FFF2-40B4-BE49-F238E27FC236}">
                <ns2:creationId id="{B71947EE-1FFC-4674-AA3D-9E81F1F1D5F7}"/>
              </a:ext>
            </a:extLst>
          </p:cNvPr>
          <p:cNvSpPr>
            <a:spLocks noGrp="1"/>
          </p:cNvSpPr>
          <p:nvPr/>
        </p:nvSpPr>
        <p:spPr>
          <a:xfrm>
            <a:off x="523875" y="9820275"/>
            <a:ext cx="17287875" cy="266700"/>
          </a:xfrm>
          <a:prstGeom prst="rect">
            <a:avLst/>
          </a:prstGeom>
          <a:noFill/>
          <a:ln w="0">
            <a:noFill/>
          </a:ln>
        </p:spPr>
        <p:txBody>
          <a:bodyPr lIns="0" tIns="0" rIns="0" bIns="0" anchor="ctr">
            <a:noAutofit/>
          </a:bodyPr>
          <a:lstStyle>
            <a:defPPr>
              <a:defRPr sz="1300" b="0" lang="ko-KR">
                <a:solidFill>
                  <a:srgbClr val="000000"/>
                </a:solidFill>
                <a:latin typeface="Calibri"/>
                <a:ea typeface="Calibri"/>
                <a:cs typeface="Calibri"/>
              </a:defRPr>
            </a:defPPr>
          </a:lstStyle>
          <a:p>
            <a:pPr>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출처: Nielsen(1993) Response Times / Microsoft Windows responsiveness. 평균 집계는 과제 기준이며 개별 1초를 보장하지 않는다.  예시는 계산 설명용.</a:t>
            </a:r>
            <a:endParaRPr lang="ko-KR">
              <a:latin typeface="Calibri"/>
              <a:ea typeface="Calibri"/>
              <a:cs typeface="Calibri"/>
            </a:endParaRPr>
          </a:p>
        </p:txBody>
      </p:sp>
      <p:sp>
        <p:nvSpPr>
          <p:cNvPr id="16" name="v6-header-title">
            <a:extLst>
              <a:ext uri="{FF2B5EF4-FFF2-40B4-BE49-F238E27FC236}">
                <ns2:creationId id="{38B25BA3-074F-4B19-AFE7-F1D1DBCA348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QA01  첫 응답 지연시간</a:t>
            </a:r>
            <a:endParaRPr lang="ko-KR">
              <a:latin typeface="Calibri"/>
              <a:ea typeface="Calibri"/>
              <a:cs typeface="Calibri"/>
            </a:endParaRPr>
          </a:p>
        </p:txBody>
      </p:sp>
      <p:sp>
        <p:nvSpPr>
          <p:cNvPr id="17" name="v6-header-rule">
            <a:extLst>
              <a:ext uri="{FF2B5EF4-FFF2-40B4-BE49-F238E27FC236}">
                <ns2:creationId id="{94BDD528-2FE8-4856-A625-FEEE5C0B6C26}"/>
              </a:ext>
            </a:extLst>
          </p:cNvPr>
          <p:cNvSpPr>
            <a:spLocks noGrp="1"/>
          </p:cNvSpPr>
          <p:nvPr/>
        </p:nvSpPr>
        <p:spPr>
          <a:xfrm>
            <a:off x="495300" y="990600"/>
            <a:ext cx="17335500" cy="0"/>
          </a:xfrm>
          <a:prstGeom prst="line">
            <a:avLst/>
          </a:prstGeom>
          <a:noFill/>
          <a:ln w="19050">
            <a:solidFill>
              <a:srgbClr val="A6A6A6"/>
            </a:solidFill>
          </a:ln>
        </p:spPr>
      </p:sp>
      <p:sp>
        <p:nvSpPr>
          <p:cNvPr id="18" name="v6-header-stage-0">
            <a:extLst>
              <a:ext uri="{FF2B5EF4-FFF2-40B4-BE49-F238E27FC236}">
                <ns2:creationId id="{15ACD682-D9EA-4A98-9DB7-FEA4DB724E6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9" name="v6-header-stage-1">
            <a:extLst>
              <a:ext uri="{FF2B5EF4-FFF2-40B4-BE49-F238E27FC236}">
                <ns2:creationId id="{F0E3C194-B97F-45F7-8CC7-23DFCB7D5E3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0" name="v6-header-stage-2">
            <a:extLst>
              <a:ext uri="{FF2B5EF4-FFF2-40B4-BE49-F238E27FC236}">
                <ns2:creationId id="{A35FCADB-AB0E-467D-99C6-DBA30A0D921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1" name="v6-header-stage-3">
            <a:extLst>
              <a:ext uri="{FF2B5EF4-FFF2-40B4-BE49-F238E27FC236}">
                <ns2:creationId id="{656794DF-C71A-4EB7-975B-62B482030F2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2" name="v6-header-stage-4">
            <a:extLst>
              <a:ext uri="{FF2B5EF4-FFF2-40B4-BE49-F238E27FC236}">
                <ns2:creationId id="{2F66320E-61A8-4D7F-A54A-E49FACC8F87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3" name="v6-header-page">
            <a:extLst>
              <a:ext uri="{FF2B5EF4-FFF2-40B4-BE49-F238E27FC236}">
                <ns2:creationId id="{C15EFB4C-462E-4392-B6EA-5F61365C4BC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25 / 33</a:t>
            </a:r>
            <a:endParaRPr lang="ko-KR">
              <a:latin typeface="Calibri"/>
              <a:ea typeface="Calibri"/>
              <a:cs typeface="Calibri"/>
            </a:endParaRPr>
          </a:p>
        </p:txBody>
      </p:sp>
    </p:spTree>
    <p:extLst>
      <p:ext uri="{BB962C8B-B14F-4D97-AF65-F5344CB8AC3E}">
        <p14:creationId val="1715035071"/>
      </p:ext>
    </p:extLst>
  </p:cSld>
</p:sld>
</file>

<file path=ppt/slides/slide65.xml><?xml version="1.0" encoding="utf-8"?>
<p:sld xmlns:a="http://schemas.openxmlformats.org/drawingml/2006/main" xmlns:ns2="http://schemas.microsoft.com/office/drawing/2014/main" xmlns:p="http://schemas.openxmlformats.org/presentationml/2006/main" xmlns:p14="http://schemas.microsoft.com/office/powerpoint/2010/main">
  <p:cSld name="qa02-metric-v11">
    <p:bg>
      <p:bgPr>
        <a:solidFill>
          <a:srgbClr val="FFFFFF"/>
        </a:solidFill>
      </p:bgPr>
    </p:bg>
    <p:spTree>
      <p:nvGrpSpPr>
        <p:cNvPr id="2" name=""/>
        <p:cNvGrpSpPr/>
        <p:nvPr/>
      </p:nvGrpSpPr>
      <p:grpSpPr>
        <a:xfrm/>
      </p:grpSpPr>
      <p:graphicFrame>
        <p:nvGraphicFramePr>
          <p:cNvPr id="3" name="QA02-scenario">
            <a:extLst>
              <a:ext uri="{FF2B5EF4-FFF2-40B4-BE49-F238E27FC236}">
                <ns2:creationId id="{8707BA3C-17AF-425C-ACC9-35091F5A3E33}"/>
              </a:ext>
            </a:extLst>
          </p:cNvPr>
          <p:cNvGraphicFramePr/>
          <p:nvPr/>
        </p:nvGraphicFramePr>
        <p:xfrm>
          <a:off x="457200" y="1257300"/>
          <a:ext cx="17373600" cy="2019300"/>
        </p:xfrm>
        <a:graphic>
          <a:graphicData uri="http://schemas.openxmlformats.org/drawingml/2006/table">
            <a:tbl>
              <a:tblPr/>
              <a:tblGrid>
                <a:gridCol w="2190750"/>
                <a:gridCol w="2762250"/>
                <a:gridCol w="12420600"/>
              </a:tblGrid>
              <a:tr h="419100">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분류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Title</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Scenario</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1600200">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Accuracy</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지칭 대상 식별 정확도</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사용자가 화면이나 과거 이력을 지칭할 때 의도한 대상 집합을 누락이나 추가 없이 정확하게 식별해야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[지칭 대상 집합 일치율 ≥ 93%]</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28개 중 지칭 판단 44건 × 5회 / 정답 대상 집합 전체 일치</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ReALM-3B 화면 지칭 93.0%의 집합 완전 일치 성능 참조</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4" name="QA02-rationale-label">
            <a:extLst>
              <a:ext uri="{FF2B5EF4-FFF2-40B4-BE49-F238E27FC236}">
                <ns2:creationId id="{0BD55863-28CF-4625-9861-3332BA6E947A}"/>
              </a:ext>
            </a:extLst>
          </p:cNvPr>
          <p:cNvSpPr>
            <a:spLocks noGrp="1"/>
          </p:cNvSpPr>
          <p:nvPr/>
        </p:nvSpPr>
        <p:spPr>
          <a:xfrm>
            <a:off x="523875" y="3486150"/>
            <a:ext cx="104775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목표 수치의 근거</a:t>
            </a:r>
            <a:endParaRPr lang="ko-KR">
              <a:latin typeface="Calibri"/>
              <a:ea typeface="Calibri"/>
              <a:cs typeface="Calibri"/>
            </a:endParaRPr>
          </a:p>
        </p:txBody>
      </p:sp>
      <p:sp>
        <p:nvSpPr>
          <p:cNvPr id="5" name="QA02-rationale">
            <a:extLst>
              <a:ext uri="{FF2B5EF4-FFF2-40B4-BE49-F238E27FC236}">
                <ns2:creationId id="{2952B3A8-1224-48B7-81C2-56DA6DEC7DE5}"/>
              </a:ext>
            </a:extLst>
          </p:cNvPr>
          <p:cNvSpPr>
            <a:spLocks noGrp="1"/>
          </p:cNvSpPr>
          <p:nvPr/>
        </p:nvSpPr>
        <p:spPr>
          <a:xfrm>
            <a:off x="523875" y="3905250"/>
            <a:ext cx="10572750" cy="1085850"/>
          </a:xfrm>
          <a:prstGeom prst="rect">
            <a:avLst/>
          </a:prstGeom>
          <a:noFill/>
          <a:ln w="0">
            <a:noFill/>
          </a:ln>
        </p:spPr>
        <p:txBody>
          <a:bodyPr lIns="0" tIns="0" rIns="0" bIns="0" anchor="ctr">
            <a:noAutofit/>
          </a:bodyPr>
          <a:lstStyle>
            <a:defPPr>
              <a:defRPr sz="2000" b="0" lang="ko-KR">
                <a:solidFill>
                  <a:srgbClr val="000000"/>
                </a:solidFill>
                <a:latin typeface="Calibri"/>
                <a:ea typeface="Calibri"/>
                <a:cs typeface="Calibri"/>
              </a:defRPr>
            </a:defPPr>
          </a:lstStyle>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Apple ReALM은 화면과 대화의 지칭 대상을 집합 완전 일치로 평가한다.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ReALM-3B의 화면 결과 93.0%를 VIA의 기술 참조 목표로 채택한다.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원본과 범위 및 필요한 버전까지 대상 집합 전체가 같아야 성공이다.</a:t>
            </a:r>
            <a:endParaRPr lang="ko-KR">
              <a:latin typeface="Calibri"/>
              <a:ea typeface="Calibri"/>
              <a:cs typeface="Calibri"/>
            </a:endParaRPr>
          </a:p>
        </p:txBody>
      </p:sp>
      <p:sp>
        <p:nvSpPr>
          <p:cNvPr id="6" name="QA02-metric-label">
            <a:extLst>
              <a:ext uri="{FF2B5EF4-FFF2-40B4-BE49-F238E27FC236}">
                <ns2:creationId id="{17408609-22D0-4CD6-89E8-DF7BCFBA1E0E}"/>
              </a:ext>
            </a:extLst>
          </p:cNvPr>
          <p:cNvSpPr>
            <a:spLocks noGrp="1"/>
          </p:cNvSpPr>
          <p:nvPr/>
        </p:nvSpPr>
        <p:spPr>
          <a:xfrm>
            <a:off x="523875" y="5114925"/>
            <a:ext cx="1057275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측정 지표와 계산 예시</a:t>
            </a:r>
            <a:endParaRPr lang="ko-KR">
              <a:latin typeface="Calibri"/>
              <a:ea typeface="Calibri"/>
              <a:cs typeface="Calibri"/>
            </a:endParaRPr>
          </a:p>
        </p:txBody>
      </p:sp>
      <p:sp>
        <p:nvSpPr>
          <p:cNvPr id="7" name="QA02-formula">
            <a:extLst>
              <a:ext uri="{FF2B5EF4-FFF2-40B4-BE49-F238E27FC236}">
                <ns2:creationId id="{809D4052-83CB-4A16-96AC-152B40A46AD3}"/>
              </a:ext>
            </a:extLst>
          </p:cNvPr>
          <p:cNvSpPr>
            <a:spLocks noGrp="1"/>
          </p:cNvSpPr>
          <p:nvPr/>
        </p:nvSpPr>
        <p:spPr>
          <a:xfrm>
            <a:off x="523875" y="5534025"/>
            <a:ext cx="10572750" cy="68580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a = 전체 대상 집합이 일치한 판정 수 / 220 × 100</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지칭 판단 44개 × 5회 = 220개 판정</a:t>
            </a:r>
            <a:endParaRPr lang="ko-KR">
              <a:latin typeface="Calibri"/>
              <a:ea typeface="Calibri"/>
              <a:cs typeface="Calibri"/>
            </a:endParaRPr>
          </a:p>
        </p:txBody>
      </p:sp>
      <p:graphicFrame>
        <p:nvGraphicFramePr>
          <p:cNvPr id="8" name="QA02-example">
            <a:extLst>
              <a:ext uri="{FF2B5EF4-FFF2-40B4-BE49-F238E27FC236}">
                <ns2:creationId id="{01BF7898-CB2B-44D4-A589-3718729D716E}"/>
              </a:ext>
            </a:extLst>
          </p:cNvPr>
          <p:cNvGraphicFramePr/>
          <p:nvPr/>
        </p:nvGraphicFramePr>
        <p:xfrm>
          <a:off x="523875" y="6372225"/>
          <a:ext cx="10572750" cy="1295400"/>
        </p:xfrm>
        <a:graphic>
          <a:graphicData uri="http://schemas.openxmlformats.org/drawingml/2006/table">
            <a:tbl>
              <a:tblPr/>
              <a:tblGrid>
                <a:gridCol w="2952750"/>
                <a:gridCol w="5429250"/>
                <a:gridCol w="2190750"/>
              </a:tblGrid>
              <a:tr h="419100">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정답</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VIA가 고른 집합</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결과</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{표 A, 그래프 B}</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{표 A, 그래프 B}</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성공</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{표 A, 그래프 B}</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{표 A} 또는 {표 A, 그래프 B, 표 C}</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실패</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9" name="QA02-example-result">
            <a:extLst>
              <a:ext uri="{FF2B5EF4-FFF2-40B4-BE49-F238E27FC236}">
                <ns2:creationId id="{6E5B50C5-0A48-4729-83F8-D0516CE04B50}"/>
              </a:ext>
            </a:extLst>
          </p:cNvPr>
          <p:cNvSpPr>
            <a:spLocks noGrp="1"/>
          </p:cNvSpPr>
          <p:nvPr/>
        </p:nvSpPr>
        <p:spPr>
          <a:xfrm>
            <a:off x="523875" y="7877175"/>
            <a:ext cx="10572750" cy="74295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220회 중 205회 일치 = 93.18% = 1점</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220회 모두 일치하면 100% = 6점</a:t>
            </a:r>
            <a:endParaRPr lang="ko-KR">
              <a:latin typeface="Calibri"/>
              <a:ea typeface="Calibri"/>
              <a:cs typeface="Calibri"/>
            </a:endParaRPr>
          </a:p>
        </p:txBody>
      </p:sp>
      <p:sp>
        <p:nvSpPr>
          <p:cNvPr id="10" name="QA02-guard">
            <a:extLst>
              <a:ext uri="{FF2B5EF4-FFF2-40B4-BE49-F238E27FC236}">
                <ns2:creationId id="{49D7D30B-282E-43E5-9455-F39A43F28D46}"/>
              </a:ext>
            </a:extLst>
          </p:cNvPr>
          <p:cNvSpPr>
            <a:spLocks noGrp="1"/>
          </p:cNvSpPr>
          <p:nvPr/>
        </p:nvSpPr>
        <p:spPr>
          <a:xfrm>
            <a:off x="523875" y="8696325"/>
            <a:ext cx="10572750" cy="628650"/>
          </a:xfrm>
          <a:prstGeom prst="rect">
            <a:avLst/>
          </a:prstGeom>
          <a:noFill/>
          <a:ln w="0">
            <a:noFill/>
          </a:ln>
        </p:spPr>
        <p:txBody>
          <a:bodyPr lIns="0" tIns="0" rIns="0" bIns="0" anchor="ctr">
            <a:noAutofit/>
          </a:bodyPr>
          <a:lstStyle>
            <a:defPPr>
              <a:defRPr sz="1700" b="0" lang="ko-KR">
                <a:solidFill>
                  <a:srgbClr val="000000"/>
                </a:solidFill>
                <a:latin typeface="Calibri"/>
                <a:ea typeface="Calibri"/>
                <a:cs typeface="Calibri"/>
              </a:defRPr>
            </a:defP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표현과 입력 revision별 첫 채택 집합을 판정한다. 사후 정정으로 오답을 지우지 않는다.</a:t>
            </a:r>
            <a:endParaRPr lang="ko-KR">
              <a:latin typeface="Calibri"/>
              <a:ea typeface="Calibri"/>
              <a:cs typeface="Calibri"/>
            </a:endParaRPr>
          </a:p>
        </p:txBody>
      </p:sp>
      <p:sp>
        <p:nvSpPr>
          <p:cNvPr id="11" name="QA02-dp">
            <a:extLst>
              <a:ext uri="{FF2B5EF4-FFF2-40B4-BE49-F238E27FC236}">
                <ns2:creationId id="{9CAB9320-CC1F-412E-B926-623754E43491}"/>
              </a:ext>
            </a:extLst>
          </p:cNvPr>
          <p:cNvSpPr>
            <a:spLocks noGrp="1"/>
          </p:cNvSpPr>
          <p:nvPr/>
        </p:nvSpPr>
        <p:spPr>
          <a:xfrm>
            <a:off x="523875" y="9420225"/>
            <a:ext cx="10572750" cy="323850"/>
          </a:xfrm>
          <a:prstGeom prst="rect">
            <a:avLst/>
          </a:prstGeom>
          <a:noFill/>
          <a:ln w="0">
            <a:noFill/>
          </a:ln>
        </p:spPr>
        <p:txBody>
          <a:bodyPr lIns="0" tIns="0" rIns="0" bIns="0" anchor="ctr">
            <a:noAutofit/>
          </a:bodyPr>
          <a:lstStyle>
            <a:defPPr>
              <a:defRPr sz="1600" b="1" lang="ko-KR">
                <a:solidFill>
                  <a:srgbClr val="000000"/>
                </a:solidFill>
                <a:latin typeface="Calibri"/>
                <a:ea typeface="Calibri"/>
                <a:cs typeface="Calibri"/>
              </a:defRPr>
            </a:defPPr>
          </a:lstStyle>
          <a:p>
            <a:pPr>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DP-47 / DP-45: 화면과 과거 자료 모두 대상 집합 전체의 일치로 판정한다.</a:t>
            </a:r>
            <a:endParaRPr lang="ko-KR">
              <a:latin typeface="Calibri"/>
              <a:ea typeface="Calibri"/>
              <a:cs typeface="Calibri"/>
            </a:endParaRPr>
          </a:p>
        </p:txBody>
      </p:sp>
      <p:sp>
        <p:nvSpPr>
          <p:cNvPr id="12" name="QA02-scoring-title">
            <a:extLst>
              <a:ext uri="{FF2B5EF4-FFF2-40B4-BE49-F238E27FC236}">
                <ns2:creationId id="{C3D93ACE-7735-4F2F-8E67-02E80AA7F403}"/>
              </a:ext>
            </a:extLst>
          </p:cNvPr>
          <p:cNvSpPr>
            <a:spLocks noGrp="1"/>
          </p:cNvSpPr>
          <p:nvPr/>
        </p:nvSpPr>
        <p:spPr>
          <a:xfrm>
            <a:off x="11658600" y="3486150"/>
            <a:ext cx="61722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0~6점 평가 기준</a:t>
            </a:r>
            <a:endParaRPr lang="ko-KR">
              <a:latin typeface="Calibri"/>
              <a:ea typeface="Calibri"/>
              <a:cs typeface="Calibri"/>
            </a:endParaRPr>
          </a:p>
        </p:txBody>
      </p:sp>
      <p:graphicFrame>
        <p:nvGraphicFramePr>
          <p:cNvPr id="13" name="QA02-score">
            <a:extLst>
              <a:ext uri="{FF2B5EF4-FFF2-40B4-BE49-F238E27FC236}">
                <ns2:creationId id="{F3E50F73-3D81-4CB6-AF70-C94B184938A6}"/>
              </a:ext>
            </a:extLst>
          </p:cNvPr>
          <p:cNvGraphicFramePr/>
          <p:nvPr/>
        </p:nvGraphicFramePr>
        <p:xfrm>
          <a:off x="11658600" y="3971925"/>
          <a:ext cx="6172200" cy="4495800"/>
        </p:xfrm>
        <a:graphic>
          <a:graphicData uri="http://schemas.openxmlformats.org/drawingml/2006/table">
            <a:tbl>
              <a:tblPr/>
              <a:tblGrid>
                <a:gridCol w="762000"/>
                <a:gridCol w="1619250"/>
                <a:gridCol w="3790950"/>
              </a:tblGrid>
              <a:tr h="561975">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점수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기호</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기준 (%)</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6</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 = 100%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5</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98.6% ≤ a &lt; 100%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97.2% ≤ a &lt; 98.6%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95.8% ≤ a &lt; 97.2%</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94.4% ≤ a &lt; 95.8%</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93% ≤ a &lt; 94.4%</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 ≤ a &lt; 93%</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14" name="QA02-band">
            <a:extLst>
              <a:ext uri="{FF2B5EF4-FFF2-40B4-BE49-F238E27FC236}">
                <ns2:creationId id="{5446FD67-6859-4E72-9BFB-DA83EB0F1B14}"/>
              </a:ext>
            </a:extLst>
          </p:cNvPr>
          <p:cNvSpPr>
            <a:spLocks noGrp="1"/>
          </p:cNvSpPr>
          <p:nvPr/>
        </p:nvSpPr>
        <p:spPr>
          <a:xfrm>
            <a:off x="11658600" y="8734425"/>
            <a:ext cx="6172200" cy="942975"/>
          </a:xfrm>
          <a:prstGeom prst="rect">
            <a:avLst/>
          </a:prstGeom>
          <a:noFill/>
          <a:ln w="0">
            <a:noFill/>
          </a:ln>
        </p:spPr>
        <p:txBody>
          <a:bodyPr lIns="0" tIns="0" rIns="0" bIns="0" anchor="ctr">
            <a:noAutofit/>
          </a:bodyPr>
          <a:lstStyle>
            <a:defPPr>
              <a:defRPr sz="1800" b="0" lang="ko-KR">
                <a:solidFill>
                  <a:srgbClr val="000000"/>
                </a:solidFill>
                <a:latin typeface="Calibri"/>
                <a:ea typeface="Calibri"/>
                <a:cs typeface="Calibri"/>
              </a:defRPr>
            </a:defPPr>
          </a:lstStyle>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93%는 기술 참조 목표</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100%는 평가 표본의 오류 0건</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(100 − 93) / 5 = 1.4%p 간격</a:t>
            </a:r>
            <a:endParaRPr lang="ko-KR">
              <a:latin typeface="Calibri"/>
              <a:ea typeface="Calibri"/>
              <a:cs typeface="Calibri"/>
            </a:endParaRPr>
          </a:p>
        </p:txBody>
      </p:sp>
      <p:sp>
        <p:nvSpPr>
          <p:cNvPr id="15" name="QA02-source">
            <a:extLst>
              <a:ext uri="{FF2B5EF4-FFF2-40B4-BE49-F238E27FC236}">
                <ns2:creationId id="{A16C134D-ACAA-4138-8826-8CCFF3E6FA00}"/>
              </a:ext>
            </a:extLst>
          </p:cNvPr>
          <p:cNvSpPr>
            <a:spLocks noGrp="1"/>
          </p:cNvSpPr>
          <p:nvPr/>
        </p:nvSpPr>
        <p:spPr>
          <a:xfrm>
            <a:off x="523875" y="9820275"/>
            <a:ext cx="17287875" cy="266700"/>
          </a:xfrm>
          <a:prstGeom prst="rect">
            <a:avLst/>
          </a:prstGeom>
          <a:noFill/>
          <a:ln w="0">
            <a:noFill/>
          </a:ln>
        </p:spPr>
        <p:txBody>
          <a:bodyPr lIns="0" tIns="0" rIns="0" bIns="0" anchor="ctr">
            <a:noAutofit/>
          </a:bodyPr>
          <a:lstStyle>
            <a:defPPr>
              <a:defRPr sz="1300" b="0" lang="ko-KR">
                <a:solidFill>
                  <a:srgbClr val="000000"/>
                </a:solidFill>
                <a:latin typeface="Calibri"/>
                <a:ea typeface="Calibri"/>
                <a:cs typeface="Calibri"/>
              </a:defRPr>
            </a:defPPr>
          </a:lstStyle>
          <a:p>
            <a:pPr>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출처: ReALM, SIGDIAL 2024 §3 및 Table 3. 후보가 주어지는 연구이며 VIA 전체의 실증 결과는 아니다.  예시는 계산 설명용.</a:t>
            </a:r>
            <a:endParaRPr lang="ko-KR">
              <a:latin typeface="Calibri"/>
              <a:ea typeface="Calibri"/>
              <a:cs typeface="Calibri"/>
            </a:endParaRPr>
          </a:p>
        </p:txBody>
      </p:sp>
      <p:sp>
        <p:nvSpPr>
          <p:cNvPr id="16" name="v6-header-title">
            <a:extLst>
              <a:ext uri="{FF2B5EF4-FFF2-40B4-BE49-F238E27FC236}">
                <ns2:creationId id="{38B25BA3-074F-4B19-AFE7-F1D1DBCA348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QA02  지칭 대상 식별 정확도</a:t>
            </a:r>
            <a:endParaRPr lang="ko-KR">
              <a:latin typeface="Calibri"/>
              <a:ea typeface="Calibri"/>
              <a:cs typeface="Calibri"/>
            </a:endParaRPr>
          </a:p>
        </p:txBody>
      </p:sp>
      <p:sp>
        <p:nvSpPr>
          <p:cNvPr id="17" name="v6-header-rule">
            <a:extLst>
              <a:ext uri="{FF2B5EF4-FFF2-40B4-BE49-F238E27FC236}">
                <ns2:creationId id="{94BDD528-2FE8-4856-A625-FEEE5C0B6C26}"/>
              </a:ext>
            </a:extLst>
          </p:cNvPr>
          <p:cNvSpPr>
            <a:spLocks noGrp="1"/>
          </p:cNvSpPr>
          <p:nvPr/>
        </p:nvSpPr>
        <p:spPr>
          <a:xfrm>
            <a:off x="495300" y="990600"/>
            <a:ext cx="17335500" cy="0"/>
          </a:xfrm>
          <a:prstGeom prst="line">
            <a:avLst/>
          </a:prstGeom>
          <a:noFill/>
          <a:ln w="19050">
            <a:solidFill>
              <a:srgbClr val="A6A6A6"/>
            </a:solidFill>
          </a:ln>
        </p:spPr>
      </p:sp>
      <p:sp>
        <p:nvSpPr>
          <p:cNvPr id="18" name="v6-header-stage-0">
            <a:extLst>
              <a:ext uri="{FF2B5EF4-FFF2-40B4-BE49-F238E27FC236}">
                <ns2:creationId id="{15ACD682-D9EA-4A98-9DB7-FEA4DB724E6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9" name="v6-header-stage-1">
            <a:extLst>
              <a:ext uri="{FF2B5EF4-FFF2-40B4-BE49-F238E27FC236}">
                <ns2:creationId id="{F0E3C194-B97F-45F7-8CC7-23DFCB7D5E3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0" name="v6-header-stage-2">
            <a:extLst>
              <a:ext uri="{FF2B5EF4-FFF2-40B4-BE49-F238E27FC236}">
                <ns2:creationId id="{A35FCADB-AB0E-467D-99C6-DBA30A0D921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1" name="v6-header-stage-3">
            <a:extLst>
              <a:ext uri="{FF2B5EF4-FFF2-40B4-BE49-F238E27FC236}">
                <ns2:creationId id="{656794DF-C71A-4EB7-975B-62B482030F2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2" name="v6-header-stage-4">
            <a:extLst>
              <a:ext uri="{FF2B5EF4-FFF2-40B4-BE49-F238E27FC236}">
                <ns2:creationId id="{2F66320E-61A8-4D7F-A54A-E49FACC8F87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3" name="v6-header-page">
            <a:extLst>
              <a:ext uri="{FF2B5EF4-FFF2-40B4-BE49-F238E27FC236}">
                <ns2:creationId id="{C15EFB4C-462E-4392-B6EA-5F61365C4BC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26 / 33</a:t>
            </a:r>
            <a:endParaRPr lang="ko-KR">
              <a:latin typeface="Calibri"/>
              <a:ea typeface="Calibri"/>
              <a:cs typeface="Calibri"/>
            </a:endParaRPr>
          </a:p>
        </p:txBody>
      </p:sp>
    </p:spTree>
    <p:extLst>
      <p:ext uri="{BB962C8B-B14F-4D97-AF65-F5344CB8AC3E}">
        <p14:creationId val="674618550"/>
      </p:ext>
    </p:extLst>
  </p:cSld>
</p:sld>
</file>

<file path=ppt/slides/slide66.xml><?xml version="1.0" encoding="utf-8"?>
<p:sld xmlns:a="http://schemas.openxmlformats.org/drawingml/2006/main" xmlns:ns2="http://schemas.microsoft.com/office/drawing/2014/main" xmlns:p="http://schemas.openxmlformats.org/presentationml/2006/main" xmlns:p14="http://schemas.microsoft.com/office/powerpoint/2010/main">
  <p:cSld name="qa03-metric-v11">
    <p:bg>
      <p:bgPr>
        <a:solidFill>
          <a:srgbClr val="FFFFFF"/>
        </a:solidFill>
      </p:bgPr>
    </p:bg>
    <p:spTree>
      <p:nvGrpSpPr>
        <p:cNvPr id="2" name=""/>
        <p:cNvGrpSpPr/>
        <p:nvPr/>
      </p:nvGrpSpPr>
      <p:grpSpPr>
        <a:xfrm/>
      </p:grpSpPr>
      <p:graphicFrame>
        <p:nvGraphicFramePr>
          <p:cNvPr id="3" name="QA03-scenario">
            <a:extLst>
              <a:ext uri="{FF2B5EF4-FFF2-40B4-BE49-F238E27FC236}">
                <ns2:creationId id="{F1967B05-0779-4945-AE80-6A465A20B0BE}"/>
              </a:ext>
            </a:extLst>
          </p:cNvPr>
          <p:cNvGraphicFramePr/>
          <p:nvPr/>
        </p:nvGraphicFramePr>
        <p:xfrm>
          <a:off x="457200" y="1257300"/>
          <a:ext cx="17373600" cy="2019300"/>
        </p:xfrm>
        <a:graphic>
          <a:graphicData uri="http://schemas.openxmlformats.org/drawingml/2006/table">
            <a:tbl>
              <a:tblPr/>
              <a:tblGrid>
                <a:gridCol w="2190750"/>
                <a:gridCol w="2762250"/>
                <a:gridCol w="12420600"/>
              </a:tblGrid>
              <a:tr h="419100">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분류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Title</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Scenario</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1600200">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Performance</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VIA 처리시간</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사용자 목표를 완료하는 과정에서 VIA가 담당하는 처리의 소요시간을 최소화해야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[평균 VIA 귀속 처리시간 ≤ 5초]</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28개 / 완료 목표 76개 × 5회 / 외부 대기를 제외한 완료 경로</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Microsoft Windows Long wait 상단 5초를 VIA 자체 처리 상한으로 적용</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4" name="QA03-rationale-label">
            <a:extLst>
              <a:ext uri="{FF2B5EF4-FFF2-40B4-BE49-F238E27FC236}">
                <ns2:creationId id="{D7C9F1A6-A1AE-412C-9A84-D7914541B7D5}"/>
              </a:ext>
            </a:extLst>
          </p:cNvPr>
          <p:cNvSpPr>
            <a:spLocks noGrp="1"/>
          </p:cNvSpPr>
          <p:nvPr/>
        </p:nvSpPr>
        <p:spPr>
          <a:xfrm>
            <a:off x="523875" y="3486150"/>
            <a:ext cx="104775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목표 수치의 근거</a:t>
            </a:r>
            <a:endParaRPr lang="ko-KR">
              <a:latin typeface="Calibri"/>
              <a:ea typeface="Calibri"/>
              <a:cs typeface="Calibri"/>
            </a:endParaRPr>
          </a:p>
        </p:txBody>
      </p:sp>
      <p:sp>
        <p:nvSpPr>
          <p:cNvPr id="5" name="QA03-rationale">
            <a:extLst>
              <a:ext uri="{FF2B5EF4-FFF2-40B4-BE49-F238E27FC236}">
                <ns2:creationId id="{3563925B-5901-4D8E-8100-D1EBAE905B7F}"/>
              </a:ext>
            </a:extLst>
          </p:cNvPr>
          <p:cNvSpPr>
            <a:spLocks noGrp="1"/>
          </p:cNvSpPr>
          <p:nvPr/>
        </p:nvSpPr>
        <p:spPr>
          <a:xfrm>
            <a:off x="523875" y="3905250"/>
            <a:ext cx="10572750" cy="1085850"/>
          </a:xfrm>
          <a:prstGeom prst="rect">
            <a:avLst/>
          </a:prstGeom>
          <a:noFill/>
          <a:ln w="0">
            <a:noFill/>
          </a:ln>
        </p:spPr>
        <p:txBody>
          <a:bodyPr lIns="0" tIns="0" rIns="0" bIns="0" anchor="ctr">
            <a:noAutofit/>
          </a:bodyPr>
          <a:lstStyle>
            <a:defPPr>
              <a:defRPr sz="2000" b="0" lang="ko-KR">
                <a:solidFill>
                  <a:srgbClr val="000000"/>
                </a:solidFill>
                <a:latin typeface="Calibri"/>
                <a:ea typeface="Calibri"/>
                <a:cs typeface="Calibri"/>
              </a:defRPr>
            </a:defPPr>
          </a:lstStyle>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Windows는 Long wait를 2~5초와 Captive를 5~10초로 구분한다.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긴 대기의 경계인 5초를 VIA 자체 처리의 평균 목표로 적용한다.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첫 안내 이후 처리도 포함하며 외부 업무의 총 대기는 별도로 남긴다.</a:t>
            </a:r>
            <a:endParaRPr lang="ko-KR">
              <a:latin typeface="Calibri"/>
              <a:ea typeface="Calibri"/>
              <a:cs typeface="Calibri"/>
            </a:endParaRPr>
          </a:p>
        </p:txBody>
      </p:sp>
      <p:sp>
        <p:nvSpPr>
          <p:cNvPr id="6" name="QA03-metric-label">
            <a:extLst>
              <a:ext uri="{FF2B5EF4-FFF2-40B4-BE49-F238E27FC236}">
                <ns2:creationId id="{8FB84C5E-90E1-4893-9924-531F78BD393D}"/>
              </a:ext>
            </a:extLst>
          </p:cNvPr>
          <p:cNvSpPr>
            <a:spLocks noGrp="1"/>
          </p:cNvSpPr>
          <p:nvPr/>
        </p:nvSpPr>
        <p:spPr>
          <a:xfrm>
            <a:off x="523875" y="5114925"/>
            <a:ext cx="1057275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측정 지표와 계산 예시</a:t>
            </a:r>
            <a:endParaRPr lang="ko-KR">
              <a:latin typeface="Calibri"/>
              <a:ea typeface="Calibri"/>
              <a:cs typeface="Calibri"/>
            </a:endParaRPr>
          </a:p>
        </p:txBody>
      </p:sp>
      <p:sp>
        <p:nvSpPr>
          <p:cNvPr id="7" name="QA03-formula">
            <a:extLst>
              <a:ext uri="{FF2B5EF4-FFF2-40B4-BE49-F238E27FC236}">
                <ns2:creationId id="{B1B047CC-1AF7-47BD-9F05-9A56DD42705B}"/>
              </a:ext>
            </a:extLst>
          </p:cNvPr>
          <p:cNvSpPr>
            <a:spLocks noGrp="1"/>
          </p:cNvSpPr>
          <p:nvPr/>
        </p:nvSpPr>
        <p:spPr>
          <a:xfrm>
            <a:off x="523875" y="5534025"/>
            <a:ext cx="10572750" cy="68580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t = 380개 목표의 VIA 귀속 완료 경로 시간 합계 / 380</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외부 업무와 사용자 대기/발화 및 순수 청취/차례 대기는 0초</a:t>
            </a:r>
            <a:endParaRPr lang="ko-KR">
              <a:latin typeface="Calibri"/>
              <a:ea typeface="Calibri"/>
              <a:cs typeface="Calibri"/>
            </a:endParaRPr>
          </a:p>
        </p:txBody>
      </p:sp>
      <p:graphicFrame>
        <p:nvGraphicFramePr>
          <p:cNvPr id="8" name="QA03-example">
            <a:extLst>
              <a:ext uri="{FF2B5EF4-FFF2-40B4-BE49-F238E27FC236}">
                <ns2:creationId id="{5C155CFE-3F05-4EA9-A655-E45C995F94AC}"/>
              </a:ext>
            </a:extLst>
          </p:cNvPr>
          <p:cNvGraphicFramePr/>
          <p:nvPr/>
        </p:nvGraphicFramePr>
        <p:xfrm>
          <a:off x="523875" y="6372225"/>
          <a:ext cx="10572750" cy="1295400"/>
        </p:xfrm>
        <a:graphic>
          <a:graphicData uri="http://schemas.openxmlformats.org/drawingml/2006/table">
            <a:tbl>
              <a:tblPr/>
              <a:tblGrid>
                <a:gridCol w="2190750"/>
                <a:gridCol w="6381750"/>
                <a:gridCol w="2000250"/>
              </a:tblGrid>
              <a:tr h="419100">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경로</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계산</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시간</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실제 경과</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1.2 + max(외부 8, VIA 3) + 0.6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9.8초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VIA 귀속</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1.2 + max(0, 3) + 0.6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4.8초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9" name="QA03-example-result">
            <a:extLst>
              <a:ext uri="{FF2B5EF4-FFF2-40B4-BE49-F238E27FC236}">
                <ns2:creationId id="{6DEB381B-A11B-4506-B9A3-D79C2378BCF8}"/>
              </a:ext>
            </a:extLst>
          </p:cNvPr>
          <p:cNvSpPr>
            <a:spLocks noGrp="1"/>
          </p:cNvSpPr>
          <p:nvPr/>
        </p:nvSpPr>
        <p:spPr>
          <a:xfrm>
            <a:off x="523875" y="7877175"/>
            <a:ext cx="10572750" cy="74295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가상 두 목표의 귀속시간 4.8초와 3.2초의 평균 4.0초 = 2점</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병렬 처리이므로 실제 9.8초에서 외부 8초를 단순 차감하지 않는다.</a:t>
            </a:r>
            <a:endParaRPr lang="ko-KR">
              <a:latin typeface="Calibri"/>
              <a:ea typeface="Calibri"/>
              <a:cs typeface="Calibri"/>
            </a:endParaRPr>
          </a:p>
        </p:txBody>
      </p:sp>
      <p:sp>
        <p:nvSpPr>
          <p:cNvPr id="10" name="QA03-guard">
            <a:extLst>
              <a:ext uri="{FF2B5EF4-FFF2-40B4-BE49-F238E27FC236}">
                <ns2:creationId id="{9BAD5DF1-4D78-49D5-A013-37A6B01CBC72}"/>
              </a:ext>
            </a:extLst>
          </p:cNvPr>
          <p:cNvSpPr>
            <a:spLocks noGrp="1"/>
          </p:cNvSpPr>
          <p:nvPr/>
        </p:nvSpPr>
        <p:spPr>
          <a:xfrm>
            <a:off x="523875" y="8696325"/>
            <a:ext cx="10572750" cy="628650"/>
          </a:xfrm>
          <a:prstGeom prst="rect">
            <a:avLst/>
          </a:prstGeom>
          <a:noFill/>
          <a:ln w="0">
            <a:noFill/>
          </a:ln>
        </p:spPr>
        <p:txBody>
          <a:bodyPr lIns="0" tIns="0" rIns="0" bIns="0" anchor="ctr">
            <a:noAutofit/>
          </a:bodyPr>
          <a:lstStyle>
            <a:defPPr>
              <a:defRPr sz="1700" b="0" lang="ko-KR">
                <a:solidFill>
                  <a:srgbClr val="000000"/>
                </a:solidFill>
                <a:latin typeface="Calibri"/>
                <a:ea typeface="Calibri"/>
                <a:cs typeface="Calibri"/>
              </a:defRPr>
            </a:defP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상태 확정과 상세 텍스트 표시 및 전체 음성 준비까지다. 오답도 실제 시간을 포함하고 미관측은 별도 기록한다.</a:t>
            </a:r>
            <a:endParaRPr lang="ko-KR">
              <a:latin typeface="Calibri"/>
              <a:ea typeface="Calibri"/>
              <a:cs typeface="Calibri"/>
            </a:endParaRPr>
          </a:p>
        </p:txBody>
      </p:sp>
      <p:sp>
        <p:nvSpPr>
          <p:cNvPr id="11" name="QA03-dp">
            <a:extLst>
              <a:ext uri="{FF2B5EF4-FFF2-40B4-BE49-F238E27FC236}">
                <ns2:creationId id="{228A244C-EEF5-410E-BFDC-4B485377DDE4}"/>
              </a:ext>
            </a:extLst>
          </p:cNvPr>
          <p:cNvSpPr>
            <a:spLocks noGrp="1"/>
          </p:cNvSpPr>
          <p:nvPr/>
        </p:nvSpPr>
        <p:spPr>
          <a:xfrm>
            <a:off x="523875" y="9420225"/>
            <a:ext cx="10572750" cy="323850"/>
          </a:xfrm>
          <a:prstGeom prst="rect">
            <a:avLst/>
          </a:prstGeom>
          <a:noFill/>
          <a:ln w="0">
            <a:noFill/>
          </a:ln>
        </p:spPr>
        <p:txBody>
          <a:bodyPr lIns="0" tIns="0" rIns="0" bIns="0" anchor="ctr">
            <a:noAutofit/>
          </a:bodyPr>
          <a:lstStyle>
            <a:defPPr>
              <a:defRPr sz="1600" b="1" lang="ko-KR">
                <a:solidFill>
                  <a:srgbClr val="000000"/>
                </a:solidFill>
                <a:latin typeface="Calibri"/>
                <a:ea typeface="Calibri"/>
                <a:cs typeface="Calibri"/>
              </a:defRPr>
            </a:defPPr>
          </a:lstStyle>
          <a:p>
            <a:pPr>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DP-42 가설: A의 공동 확정은 서비스 간 확인과 전달을 기다리는 경로가 짧다.</a:t>
            </a:r>
            <a:endParaRPr lang="ko-KR">
              <a:latin typeface="Calibri"/>
              <a:ea typeface="Calibri"/>
              <a:cs typeface="Calibri"/>
            </a:endParaRPr>
          </a:p>
        </p:txBody>
      </p:sp>
      <p:sp>
        <p:nvSpPr>
          <p:cNvPr id="12" name="QA03-scoring-title">
            <a:extLst>
              <a:ext uri="{FF2B5EF4-FFF2-40B4-BE49-F238E27FC236}">
                <ns2:creationId id="{AA4F5196-6E9B-439F-9ABF-324A9300F372}"/>
              </a:ext>
            </a:extLst>
          </p:cNvPr>
          <p:cNvSpPr>
            <a:spLocks noGrp="1"/>
          </p:cNvSpPr>
          <p:nvPr/>
        </p:nvSpPr>
        <p:spPr>
          <a:xfrm>
            <a:off x="11658600" y="3486150"/>
            <a:ext cx="61722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0~6점 평가 기준</a:t>
            </a:r>
            <a:endParaRPr lang="ko-KR">
              <a:latin typeface="Calibri"/>
              <a:ea typeface="Calibri"/>
              <a:cs typeface="Calibri"/>
            </a:endParaRPr>
          </a:p>
        </p:txBody>
      </p:sp>
      <p:graphicFrame>
        <p:nvGraphicFramePr>
          <p:cNvPr id="13" name="QA03-score">
            <a:extLst>
              <a:ext uri="{FF2B5EF4-FFF2-40B4-BE49-F238E27FC236}">
                <ns2:creationId id="{18CE2F39-F230-40FB-AE7C-241C7C5FE481}"/>
              </a:ext>
            </a:extLst>
          </p:cNvPr>
          <p:cNvGraphicFramePr/>
          <p:nvPr/>
        </p:nvGraphicFramePr>
        <p:xfrm>
          <a:off x="11658600" y="3971925"/>
          <a:ext cx="6172200" cy="4495800"/>
        </p:xfrm>
        <a:graphic>
          <a:graphicData uri="http://schemas.openxmlformats.org/drawingml/2006/table">
            <a:tbl>
              <a:tblPr/>
              <a:tblGrid>
                <a:gridCol w="762000"/>
                <a:gridCol w="1619250"/>
                <a:gridCol w="3790950"/>
              </a:tblGrid>
              <a:tr h="561975">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점수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기호</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기준 (초)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6</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0초 ≤ t ≤ 1초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5</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1초 &lt; t ≤ 1.8초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1.8초 &lt; t ≤ 2.6초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2.6초 &lt; t ≤ 3.4초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3.4초 &lt; t ≤ 4.2초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4.2초 &lt; t ≤ 5초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t &gt; 5초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14" name="QA03-band">
            <a:extLst>
              <a:ext uri="{FF2B5EF4-FFF2-40B4-BE49-F238E27FC236}">
                <ns2:creationId id="{EC8E094D-7EB2-4650-80D9-3FF87D9E0666}"/>
              </a:ext>
            </a:extLst>
          </p:cNvPr>
          <p:cNvSpPr>
            <a:spLocks noGrp="1"/>
          </p:cNvSpPr>
          <p:nvPr/>
        </p:nvSpPr>
        <p:spPr>
          <a:xfrm>
            <a:off x="11658600" y="8734425"/>
            <a:ext cx="6172200" cy="942975"/>
          </a:xfrm>
          <a:prstGeom prst="rect">
            <a:avLst/>
          </a:prstGeom>
          <a:noFill/>
          <a:ln w="0">
            <a:noFill/>
          </a:ln>
        </p:spPr>
        <p:txBody>
          <a:bodyPr lIns="0" tIns="0" rIns="0" bIns="0" anchor="ctr">
            <a:noAutofit/>
          </a:bodyPr>
          <a:lstStyle>
            <a:defPPr>
              <a:defRPr sz="1800" b="0" lang="ko-KR">
                <a:solidFill>
                  <a:srgbClr val="000000"/>
                </a:solidFill>
                <a:latin typeface="Calibri"/>
                <a:ea typeface="Calibri"/>
                <a:cs typeface="Calibri"/>
              </a:defRPr>
            </a:defPPr>
          </a:lstStyle>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5초는 목표 상한</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1초는 최고 개선 등급</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(5 − 1) / 5 = 0.8초 간격</a:t>
            </a:r>
            <a:endParaRPr lang="ko-KR">
              <a:latin typeface="Calibri"/>
              <a:ea typeface="Calibri"/>
              <a:cs typeface="Calibri"/>
            </a:endParaRPr>
          </a:p>
        </p:txBody>
      </p:sp>
      <p:sp>
        <p:nvSpPr>
          <p:cNvPr id="15" name="QA03-source">
            <a:extLst>
              <a:ext uri="{FF2B5EF4-FFF2-40B4-BE49-F238E27FC236}">
                <ns2:creationId id="{5C177CA9-8479-41D5-B82B-15DD8D48AEC3}"/>
              </a:ext>
            </a:extLst>
          </p:cNvPr>
          <p:cNvSpPr>
            <a:spLocks noGrp="1"/>
          </p:cNvSpPr>
          <p:nvPr/>
        </p:nvSpPr>
        <p:spPr>
          <a:xfrm>
            <a:off x="523875" y="9820275"/>
            <a:ext cx="17287875" cy="266700"/>
          </a:xfrm>
          <a:prstGeom prst="rect">
            <a:avLst/>
          </a:prstGeom>
          <a:noFill/>
          <a:ln w="0">
            <a:noFill/>
          </a:ln>
        </p:spPr>
        <p:txBody>
          <a:bodyPr lIns="0" tIns="0" rIns="0" bIns="0" anchor="ctr">
            <a:noAutofit/>
          </a:bodyPr>
          <a:lstStyle>
            <a:defPPr>
              <a:defRPr sz="1300" b="0" lang="ko-KR">
                <a:solidFill>
                  <a:srgbClr val="000000"/>
                </a:solidFill>
                <a:latin typeface="Calibri"/>
                <a:ea typeface="Calibri"/>
                <a:cs typeface="Calibri"/>
              </a:defRPr>
            </a:defPPr>
          </a:lstStyle>
          <a:p>
            <a:pPr>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출처: Microsoft Windows responsiveness. VIA 모델 호출과 네트워크 및 내부 대기는 포함한다.  예시는 계산 설명용.</a:t>
            </a:r>
            <a:endParaRPr lang="ko-KR">
              <a:latin typeface="Calibri"/>
              <a:ea typeface="Calibri"/>
              <a:cs typeface="Calibri"/>
            </a:endParaRPr>
          </a:p>
        </p:txBody>
      </p:sp>
      <p:sp>
        <p:nvSpPr>
          <p:cNvPr id="16" name="v6-header-title">
            <a:extLst>
              <a:ext uri="{FF2B5EF4-FFF2-40B4-BE49-F238E27FC236}">
                <ns2:creationId id="{38B25BA3-074F-4B19-AFE7-F1D1DBCA348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QA03  VIA 처리시간</a:t>
            </a:r>
            <a:endParaRPr lang="ko-KR">
              <a:latin typeface="Calibri"/>
              <a:ea typeface="Calibri"/>
              <a:cs typeface="Calibri"/>
            </a:endParaRPr>
          </a:p>
        </p:txBody>
      </p:sp>
      <p:sp>
        <p:nvSpPr>
          <p:cNvPr id="17" name="v6-header-rule">
            <a:extLst>
              <a:ext uri="{FF2B5EF4-FFF2-40B4-BE49-F238E27FC236}">
                <ns2:creationId id="{94BDD528-2FE8-4856-A625-FEEE5C0B6C26}"/>
              </a:ext>
            </a:extLst>
          </p:cNvPr>
          <p:cNvSpPr>
            <a:spLocks noGrp="1"/>
          </p:cNvSpPr>
          <p:nvPr/>
        </p:nvSpPr>
        <p:spPr>
          <a:xfrm>
            <a:off x="495300" y="990600"/>
            <a:ext cx="17335500" cy="0"/>
          </a:xfrm>
          <a:prstGeom prst="line">
            <a:avLst/>
          </a:prstGeom>
          <a:noFill/>
          <a:ln w="19050">
            <a:solidFill>
              <a:srgbClr val="A6A6A6"/>
            </a:solidFill>
          </a:ln>
        </p:spPr>
      </p:sp>
      <p:sp>
        <p:nvSpPr>
          <p:cNvPr id="18" name="v6-header-stage-0">
            <a:extLst>
              <a:ext uri="{FF2B5EF4-FFF2-40B4-BE49-F238E27FC236}">
                <ns2:creationId id="{15ACD682-D9EA-4A98-9DB7-FEA4DB724E6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9" name="v6-header-stage-1">
            <a:extLst>
              <a:ext uri="{FF2B5EF4-FFF2-40B4-BE49-F238E27FC236}">
                <ns2:creationId id="{F0E3C194-B97F-45F7-8CC7-23DFCB7D5E3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0" name="v6-header-stage-2">
            <a:extLst>
              <a:ext uri="{FF2B5EF4-FFF2-40B4-BE49-F238E27FC236}">
                <ns2:creationId id="{A35FCADB-AB0E-467D-99C6-DBA30A0D921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1" name="v6-header-stage-3">
            <a:extLst>
              <a:ext uri="{FF2B5EF4-FFF2-40B4-BE49-F238E27FC236}">
                <ns2:creationId id="{656794DF-C71A-4EB7-975B-62B482030F2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2" name="v6-header-stage-4">
            <a:extLst>
              <a:ext uri="{FF2B5EF4-FFF2-40B4-BE49-F238E27FC236}">
                <ns2:creationId id="{2F66320E-61A8-4D7F-A54A-E49FACC8F87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3" name="v6-header-page">
            <a:extLst>
              <a:ext uri="{FF2B5EF4-FFF2-40B4-BE49-F238E27FC236}">
                <ns2:creationId id="{C15EFB4C-462E-4392-B6EA-5F61365C4BC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27 / 33</a:t>
            </a:r>
            <a:endParaRPr lang="ko-KR">
              <a:latin typeface="Calibri"/>
              <a:ea typeface="Calibri"/>
              <a:cs typeface="Calibri"/>
            </a:endParaRPr>
          </a:p>
        </p:txBody>
      </p:sp>
    </p:spTree>
    <p:extLst>
      <p:ext uri="{BB962C8B-B14F-4D97-AF65-F5344CB8AC3E}">
        <p14:creationId val="637293271"/>
      </p:ext>
    </p:extLst>
  </p:cSld>
</p:sld>
</file>

<file path=ppt/slides/slide67.xml><?xml version="1.0" encoding="utf-8"?>
<p:sld xmlns:a="http://schemas.openxmlformats.org/drawingml/2006/main" xmlns:ns2="http://schemas.microsoft.com/office/drawing/2014/main" xmlns:p="http://schemas.openxmlformats.org/presentationml/2006/main" xmlns:p14="http://schemas.microsoft.com/office/powerpoint/2010/main">
  <p:cSld name="qa04-metric-v11">
    <p:bg>
      <p:bgPr>
        <a:solidFill>
          <a:srgbClr val="FFFFFF"/>
        </a:solidFill>
      </p:bgPr>
    </p:bg>
    <p:spTree>
      <p:nvGrpSpPr>
        <p:cNvPr id="2" name=""/>
        <p:cNvGrpSpPr/>
        <p:nvPr/>
      </p:nvGrpSpPr>
      <p:grpSpPr>
        <a:xfrm/>
      </p:grpSpPr>
      <p:graphicFrame>
        <p:nvGraphicFramePr>
          <p:cNvPr id="3" name="QA04-scenario">
            <a:extLst>
              <a:ext uri="{FF2B5EF4-FFF2-40B4-BE49-F238E27FC236}">
                <ns2:creationId id="{C3BCD91F-424E-4B55-A54D-A74A4C0B8CC1}"/>
              </a:ext>
            </a:extLst>
          </p:cNvPr>
          <p:cNvGraphicFramePr/>
          <p:nvPr/>
        </p:nvGraphicFramePr>
        <p:xfrm>
          <a:off x="457200" y="1257300"/>
          <a:ext cx="17373600" cy="2019300"/>
        </p:xfrm>
        <a:graphic>
          <a:graphicData uri="http://schemas.openxmlformats.org/drawingml/2006/table">
            <a:tbl>
              <a:tblPr/>
              <a:tblGrid>
                <a:gridCol w="2190750"/>
                <a:gridCol w="2762250"/>
                <a:gridCol w="12420600"/>
              </a:tblGrid>
              <a:tr h="419100">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분류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Title</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Scenario</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1600200">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Maintainability</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변경 범위</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기능을 추가하거나 VIA가 주고받는 데이터 형식을 바꿀 때 수정해야 하는 Rust 모듈 수를 작게 유지해야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[변경 과제당 평균 변경 Rust 모듈 수 ≤ 3개]</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기능의 형식 변경 3건 + 기능 확장 3건 / 변경 모듈 수와 28개 기능 회귀</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ARGO PR 145건 평균 5.4개 × 60% = 3.24개 → 3개</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4" name="QA04-rationale-label">
            <a:extLst>
              <a:ext uri="{FF2B5EF4-FFF2-40B4-BE49-F238E27FC236}">
                <ns2:creationId id="{3224C692-D246-4F83-A89E-65346934CF42}"/>
              </a:ext>
            </a:extLst>
          </p:cNvPr>
          <p:cNvSpPr>
            <a:spLocks noGrp="1"/>
          </p:cNvSpPr>
          <p:nvPr/>
        </p:nvSpPr>
        <p:spPr>
          <a:xfrm>
            <a:off x="523875" y="3486150"/>
            <a:ext cx="104775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목표 수치의 근거</a:t>
            </a:r>
            <a:endParaRPr lang="ko-KR">
              <a:latin typeface="Calibri"/>
              <a:ea typeface="Calibri"/>
              <a:cs typeface="Calibri"/>
            </a:endParaRPr>
          </a:p>
        </p:txBody>
      </p:sp>
      <p:sp>
        <p:nvSpPr>
          <p:cNvPr id="5" name="QA04-rationale">
            <a:extLst>
              <a:ext uri="{FF2B5EF4-FFF2-40B4-BE49-F238E27FC236}">
                <ns2:creationId id="{EFCCAF1A-3509-4696-9DBC-DAB7ED4E9A35}"/>
              </a:ext>
            </a:extLst>
          </p:cNvPr>
          <p:cNvSpPr>
            <a:spLocks noGrp="1"/>
          </p:cNvSpPr>
          <p:nvPr/>
        </p:nvSpPr>
        <p:spPr>
          <a:xfrm>
            <a:off x="523875" y="3905250"/>
            <a:ext cx="10572750" cy="1085850"/>
          </a:xfrm>
          <a:prstGeom prst="rect">
            <a:avLst/>
          </a:prstGeom>
          <a:noFill/>
          <a:ln w="0">
            <a:noFill/>
          </a:ln>
        </p:spPr>
        <p:txBody>
          <a:bodyPr lIns="0" tIns="0" rIns="0" bIns="0" anchor="ctr">
            <a:noAutofit/>
          </a:bodyPr>
          <a:lstStyle>
            <a:defPPr>
              <a:defRPr sz="2000" b="0" lang="ko-KR">
                <a:solidFill>
                  <a:srgbClr val="000000"/>
                </a:solidFill>
                <a:latin typeface="Calibri"/>
                <a:ea typeface="Calibri"/>
                <a:cs typeface="Calibri"/>
              </a:defRPr>
            </a:defPPr>
          </a:lstStyle>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기존 ARGO의 기능 추가와 데이터 형식 변경 PR 145건에서</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평균 수정 모듈 수는 5.4개다. 사용자 제공 집계에 40% 개선을 적용한다.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5.4 × 60% = 3.24개보다 엄격한 평균 3개를 목표로 둔다.</a:t>
            </a:r>
            <a:endParaRPr lang="ko-KR">
              <a:latin typeface="Calibri"/>
              <a:ea typeface="Calibri"/>
              <a:cs typeface="Calibri"/>
            </a:endParaRPr>
          </a:p>
        </p:txBody>
      </p:sp>
      <p:sp>
        <p:nvSpPr>
          <p:cNvPr id="6" name="QA04-metric-label">
            <a:extLst>
              <a:ext uri="{FF2B5EF4-FFF2-40B4-BE49-F238E27FC236}">
                <ns2:creationId id="{C970B687-EEA4-4754-9EB6-6DBEB9FF9679}"/>
              </a:ext>
            </a:extLst>
          </p:cNvPr>
          <p:cNvSpPr>
            <a:spLocks noGrp="1"/>
          </p:cNvSpPr>
          <p:nvPr/>
        </p:nvSpPr>
        <p:spPr>
          <a:xfrm>
            <a:off x="523875" y="5114925"/>
            <a:ext cx="1057275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측정 지표와 계산 예시</a:t>
            </a:r>
            <a:endParaRPr lang="ko-KR">
              <a:latin typeface="Calibri"/>
              <a:ea typeface="Calibri"/>
              <a:cs typeface="Calibri"/>
            </a:endParaRPr>
          </a:p>
        </p:txBody>
      </p:sp>
      <p:sp>
        <p:nvSpPr>
          <p:cNvPr id="7" name="QA04-formula">
            <a:extLst>
              <a:ext uri="{FF2B5EF4-FFF2-40B4-BE49-F238E27FC236}">
                <ns2:creationId id="{180D8FEE-984B-4F68-85EE-3B6C4B177360}"/>
              </a:ext>
            </a:extLst>
          </p:cNvPr>
          <p:cNvSpPr>
            <a:spLocks noGrp="1"/>
          </p:cNvSpPr>
          <p:nvPr/>
        </p:nvSpPr>
        <p:spPr>
          <a:xfrm>
            <a:off x="523875" y="5534025"/>
            <a:ext cx="10572750" cy="68580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x = (C01 변경 모듈 수 + … + C06 변경 모듈 수) / 6</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모듈 식별: package / crate target / 완전한 Rust mod 경로</a:t>
            </a:r>
            <a:endParaRPr lang="ko-KR">
              <a:latin typeface="Calibri"/>
              <a:ea typeface="Calibri"/>
              <a:cs typeface="Calibri"/>
            </a:endParaRPr>
          </a:p>
        </p:txBody>
      </p:sp>
      <p:graphicFrame>
        <p:nvGraphicFramePr>
          <p:cNvPr id="8" name="QA04-example">
            <a:extLst>
              <a:ext uri="{FF2B5EF4-FFF2-40B4-BE49-F238E27FC236}">
                <ns2:creationId id="{E9B984EF-1B18-4F1E-8916-6C38876A9A4C}"/>
              </a:ext>
            </a:extLst>
          </p:cNvPr>
          <p:cNvGraphicFramePr/>
          <p:nvPr/>
        </p:nvGraphicFramePr>
        <p:xfrm>
          <a:off x="523875" y="6372225"/>
          <a:ext cx="10572750" cy="857250"/>
        </p:xfrm>
        <a:graphic>
          <a:graphicData uri="http://schemas.openxmlformats.org/drawingml/2006/table">
            <a:tbl>
              <a:tblPr/>
              <a:tblGrid>
                <a:gridCol w="2286000"/>
                <a:gridCol w="1381125"/>
                <a:gridCol w="1381125"/>
                <a:gridCol w="1381125"/>
                <a:gridCol w="1381125"/>
                <a:gridCol w="1381125"/>
                <a:gridCol w="1381125"/>
              </a:tblGrid>
              <a:tr h="419100">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변경 과제</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C01</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C02</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C03</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C04</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C05</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C06</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모듈 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9" name="QA04-example-result">
            <a:extLst>
              <a:ext uri="{FF2B5EF4-FFF2-40B4-BE49-F238E27FC236}">
                <ns2:creationId id="{01FB3975-14A8-4212-B549-8BB0F4898BD8}"/>
              </a:ext>
            </a:extLst>
          </p:cNvPr>
          <p:cNvSpPr>
            <a:spLocks noGrp="1"/>
          </p:cNvSpPr>
          <p:nvPr/>
        </p:nvSpPr>
        <p:spPr>
          <a:xfrm>
            <a:off x="523875" y="7877175"/>
            <a:ext cx="10572750" cy="74295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(2 + 2 + 3 + 4 + 3 + 4) / 6 = 평균 3개 = 1점</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5.4개 대비 44.4% 감소로 40% 개선 요구를 충족한다.</a:t>
            </a:r>
            <a:endParaRPr lang="ko-KR">
              <a:latin typeface="Calibri"/>
              <a:ea typeface="Calibri"/>
              <a:cs typeface="Calibri"/>
            </a:endParaRPr>
          </a:p>
        </p:txBody>
      </p:sp>
      <p:sp>
        <p:nvSpPr>
          <p:cNvPr id="10" name="QA04-guard">
            <a:extLst>
              <a:ext uri="{FF2B5EF4-FFF2-40B4-BE49-F238E27FC236}">
                <ns2:creationId id="{B7D0C29C-62D7-4435-996D-85671601F63F}"/>
              </a:ext>
            </a:extLst>
          </p:cNvPr>
          <p:cNvSpPr>
            <a:spLocks noGrp="1"/>
          </p:cNvSpPr>
          <p:nvPr/>
        </p:nvSpPr>
        <p:spPr>
          <a:xfrm>
            <a:off x="523875" y="8696325"/>
            <a:ext cx="10572750" cy="628650"/>
          </a:xfrm>
          <a:prstGeom prst="rect">
            <a:avLst/>
          </a:prstGeom>
          <a:noFill/>
          <a:ln w="0">
            <a:noFill/>
          </a:ln>
        </p:spPr>
        <p:txBody>
          <a:bodyPr lIns="0" tIns="0" rIns="0" bIns="0" anchor="ctr">
            <a:noAutofit/>
          </a:bodyPr>
          <a:lstStyle>
            <a:defPPr>
              <a:defRPr sz="1700" b="0" lang="ko-KR">
                <a:solidFill>
                  <a:srgbClr val="000000"/>
                </a:solidFill>
                <a:latin typeface="Calibri"/>
                <a:ea typeface="Calibri"/>
                <a:cs typeface="Calibri"/>
              </a:defRPr>
            </a:defP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같은 시작 코드에서 6개 변경을 독립 수행한다. 파일 수와 모듈 수는 다르며 실제 변경된 운영 모듈을 센다.</a:t>
            </a:r>
            <a:endParaRPr lang="ko-KR">
              <a:latin typeface="Calibri"/>
              <a:ea typeface="Calibri"/>
              <a:cs typeface="Calibri"/>
            </a:endParaRPr>
          </a:p>
        </p:txBody>
      </p:sp>
      <p:sp>
        <p:nvSpPr>
          <p:cNvPr id="11" name="QA04-dp">
            <a:extLst>
              <a:ext uri="{FF2B5EF4-FFF2-40B4-BE49-F238E27FC236}">
                <ns2:creationId id="{A6EB03F2-A82E-42EE-9A57-5A7DA43A20FE}"/>
              </a:ext>
            </a:extLst>
          </p:cNvPr>
          <p:cNvSpPr>
            <a:spLocks noGrp="1"/>
          </p:cNvSpPr>
          <p:nvPr/>
        </p:nvSpPr>
        <p:spPr>
          <a:xfrm>
            <a:off x="523875" y="9420225"/>
            <a:ext cx="10572750" cy="323850"/>
          </a:xfrm>
          <a:prstGeom prst="rect">
            <a:avLst/>
          </a:prstGeom>
          <a:noFill/>
          <a:ln w="0">
            <a:noFill/>
          </a:ln>
        </p:spPr>
        <p:txBody>
          <a:bodyPr lIns="0" tIns="0" rIns="0" bIns="0" anchor="ctr">
            <a:noAutofit/>
          </a:bodyPr>
          <a:lstStyle>
            <a:defPPr>
              <a:defRPr sz="1600" b="1" lang="ko-KR">
                <a:solidFill>
                  <a:srgbClr val="000000"/>
                </a:solidFill>
                <a:latin typeface="Calibri"/>
                <a:ea typeface="Calibri"/>
                <a:cs typeface="Calibri"/>
              </a:defRPr>
            </a:defPPr>
          </a:lstStyle>
          <a:p>
            <a:pPr>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DP-45 가설: A는 조회 때 조합하므로 생산과 저장 규칙까지 바꾸는 경우가 적다.</a:t>
            </a:r>
            <a:endParaRPr lang="ko-KR">
              <a:latin typeface="Calibri"/>
              <a:ea typeface="Calibri"/>
              <a:cs typeface="Calibri"/>
            </a:endParaRPr>
          </a:p>
        </p:txBody>
      </p:sp>
      <p:sp>
        <p:nvSpPr>
          <p:cNvPr id="12" name="QA04-scoring-title">
            <a:extLst>
              <a:ext uri="{FF2B5EF4-FFF2-40B4-BE49-F238E27FC236}">
                <ns2:creationId id="{A7366473-77CD-442D-B63B-765513F5BC43}"/>
              </a:ext>
            </a:extLst>
          </p:cNvPr>
          <p:cNvSpPr>
            <a:spLocks noGrp="1"/>
          </p:cNvSpPr>
          <p:nvPr/>
        </p:nvSpPr>
        <p:spPr>
          <a:xfrm>
            <a:off x="11658600" y="3486150"/>
            <a:ext cx="61722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0~6점 평가 기준</a:t>
            </a:r>
            <a:endParaRPr lang="ko-KR">
              <a:latin typeface="Calibri"/>
              <a:ea typeface="Calibri"/>
              <a:cs typeface="Calibri"/>
            </a:endParaRPr>
          </a:p>
        </p:txBody>
      </p:sp>
      <p:graphicFrame>
        <p:nvGraphicFramePr>
          <p:cNvPr id="13" name="QA04-score">
            <a:extLst>
              <a:ext uri="{FF2B5EF4-FFF2-40B4-BE49-F238E27FC236}">
                <ns2:creationId id="{9A50EA31-85E0-4A0A-AF13-C9EB75DC0DB4}"/>
              </a:ext>
            </a:extLst>
          </p:cNvPr>
          <p:cNvGraphicFramePr/>
          <p:nvPr/>
        </p:nvGraphicFramePr>
        <p:xfrm>
          <a:off x="11658600" y="3971925"/>
          <a:ext cx="6172200" cy="4495800"/>
        </p:xfrm>
        <a:graphic>
          <a:graphicData uri="http://schemas.openxmlformats.org/drawingml/2006/table">
            <a:tbl>
              <a:tblPr/>
              <a:tblGrid>
                <a:gridCol w="762000"/>
                <a:gridCol w="1619250"/>
                <a:gridCol w="3790950"/>
              </a:tblGrid>
              <a:tr h="561975">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점수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기호</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기준 (모듈)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6</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x ≤ 1</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5</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 &lt; x ≤ 1.4</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1.4 &lt; x ≤ 1.8</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1.8 &lt; x ≤ 2.2</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2.2 &lt; x ≤ 2.6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2.6 &lt; x ≤ 3</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x &gt; 3</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14" name="QA04-band">
            <a:extLst>
              <a:ext uri="{FF2B5EF4-FFF2-40B4-BE49-F238E27FC236}">
                <ns2:creationId id="{3A392F5A-C544-4311-AB48-46B7072E5604}"/>
              </a:ext>
            </a:extLst>
          </p:cNvPr>
          <p:cNvSpPr>
            <a:spLocks noGrp="1"/>
          </p:cNvSpPr>
          <p:nvPr/>
        </p:nvSpPr>
        <p:spPr>
          <a:xfrm>
            <a:off x="11658600" y="8734425"/>
            <a:ext cx="6172200" cy="942975"/>
          </a:xfrm>
          <a:prstGeom prst="rect">
            <a:avLst/>
          </a:prstGeom>
          <a:noFill/>
          <a:ln w="0">
            <a:noFill/>
          </a:ln>
        </p:spPr>
        <p:txBody>
          <a:bodyPr lIns="0" tIns="0" rIns="0" bIns="0" anchor="ctr">
            <a:noAutofit/>
          </a:bodyPr>
          <a:lstStyle>
            <a:defPPr>
              <a:defRPr sz="1800" b="0" lang="ko-KR">
                <a:solidFill>
                  <a:srgbClr val="000000"/>
                </a:solidFill>
                <a:latin typeface="Calibri"/>
                <a:ea typeface="Calibri"/>
                <a:cs typeface="Calibri"/>
              </a:defRPr>
            </a:defPPr>
          </a:lstStyle>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3개는 목표 상한</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1개는 변경을 한 모듈에 모은 수준</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(3 − 1) / 5 = 0.4개 간격</a:t>
            </a:r>
            <a:endParaRPr lang="ko-KR">
              <a:latin typeface="Calibri"/>
              <a:ea typeface="Calibri"/>
              <a:cs typeface="Calibri"/>
            </a:endParaRPr>
          </a:p>
        </p:txBody>
      </p:sp>
      <p:sp>
        <p:nvSpPr>
          <p:cNvPr id="15" name="QA04-source">
            <a:extLst>
              <a:ext uri="{FF2B5EF4-FFF2-40B4-BE49-F238E27FC236}">
                <ns2:creationId id="{9D0E15B1-118B-4333-81F9-9F590F70BB98}"/>
              </a:ext>
            </a:extLst>
          </p:cNvPr>
          <p:cNvSpPr>
            <a:spLocks noGrp="1"/>
          </p:cNvSpPr>
          <p:nvPr/>
        </p:nvSpPr>
        <p:spPr>
          <a:xfrm>
            <a:off x="523875" y="9820275"/>
            <a:ext cx="17287875" cy="266700"/>
          </a:xfrm>
          <a:prstGeom prst="rect">
            <a:avLst/>
          </a:prstGeom>
          <a:noFill/>
          <a:ln w="0">
            <a:noFill/>
          </a:ln>
        </p:spPr>
        <p:txBody>
          <a:bodyPr lIns="0" tIns="0" rIns="0" bIns="0" anchor="ctr">
            <a:noAutofit/>
          </a:bodyPr>
          <a:lstStyle>
            <a:defPPr>
              <a:defRPr sz="1300" b="0" lang="ko-KR">
                <a:solidFill>
                  <a:srgbClr val="000000"/>
                </a:solidFill>
                <a:latin typeface="Calibri"/>
                <a:ea typeface="Calibri"/>
                <a:cs typeface="Calibri"/>
              </a:defRPr>
            </a:defPPr>
          </a:lstStyle>
          <a:p>
            <a:pPr>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출처: 사용자 제공 ARGO PR 145건 집계와 40% 개선 요구. 원본 PR과 동일 모듈 기준의 감사는 별도다.  예시는 계산 설명용.</a:t>
            </a:r>
            <a:endParaRPr lang="ko-KR">
              <a:latin typeface="Calibri"/>
              <a:ea typeface="Calibri"/>
              <a:cs typeface="Calibri"/>
            </a:endParaRPr>
          </a:p>
        </p:txBody>
      </p:sp>
      <p:sp>
        <p:nvSpPr>
          <p:cNvPr id="16" name="v6-header-title">
            <a:extLst>
              <a:ext uri="{FF2B5EF4-FFF2-40B4-BE49-F238E27FC236}">
                <ns2:creationId id="{38B25BA3-074F-4B19-AFE7-F1D1DBCA348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QA04  변경 범위</a:t>
            </a:r>
            <a:endParaRPr lang="ko-KR">
              <a:latin typeface="Calibri"/>
              <a:ea typeface="Calibri"/>
              <a:cs typeface="Calibri"/>
            </a:endParaRPr>
          </a:p>
        </p:txBody>
      </p:sp>
      <p:sp>
        <p:nvSpPr>
          <p:cNvPr id="17" name="v6-header-rule">
            <a:extLst>
              <a:ext uri="{FF2B5EF4-FFF2-40B4-BE49-F238E27FC236}">
                <ns2:creationId id="{94BDD528-2FE8-4856-A625-FEEE5C0B6C26}"/>
              </a:ext>
            </a:extLst>
          </p:cNvPr>
          <p:cNvSpPr>
            <a:spLocks noGrp="1"/>
          </p:cNvSpPr>
          <p:nvPr/>
        </p:nvSpPr>
        <p:spPr>
          <a:xfrm>
            <a:off x="495300" y="990600"/>
            <a:ext cx="17335500" cy="0"/>
          </a:xfrm>
          <a:prstGeom prst="line">
            <a:avLst/>
          </a:prstGeom>
          <a:noFill/>
          <a:ln w="19050">
            <a:solidFill>
              <a:srgbClr val="A6A6A6"/>
            </a:solidFill>
          </a:ln>
        </p:spPr>
      </p:sp>
      <p:sp>
        <p:nvSpPr>
          <p:cNvPr id="18" name="v6-header-stage-0">
            <a:extLst>
              <a:ext uri="{FF2B5EF4-FFF2-40B4-BE49-F238E27FC236}">
                <ns2:creationId id="{15ACD682-D9EA-4A98-9DB7-FEA4DB724E6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9" name="v6-header-stage-1">
            <a:extLst>
              <a:ext uri="{FF2B5EF4-FFF2-40B4-BE49-F238E27FC236}">
                <ns2:creationId id="{F0E3C194-B97F-45F7-8CC7-23DFCB7D5E3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0" name="v6-header-stage-2">
            <a:extLst>
              <a:ext uri="{FF2B5EF4-FFF2-40B4-BE49-F238E27FC236}">
                <ns2:creationId id="{A35FCADB-AB0E-467D-99C6-DBA30A0D921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1" name="v6-header-stage-3">
            <a:extLst>
              <a:ext uri="{FF2B5EF4-FFF2-40B4-BE49-F238E27FC236}">
                <ns2:creationId id="{656794DF-C71A-4EB7-975B-62B482030F2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2" name="v6-header-stage-4">
            <a:extLst>
              <a:ext uri="{FF2B5EF4-FFF2-40B4-BE49-F238E27FC236}">
                <ns2:creationId id="{2F66320E-61A8-4D7F-A54A-E49FACC8F87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3" name="v6-header-page">
            <a:extLst>
              <a:ext uri="{FF2B5EF4-FFF2-40B4-BE49-F238E27FC236}">
                <ns2:creationId id="{C15EFB4C-462E-4392-B6EA-5F61365C4BC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28 / 33</a:t>
            </a:r>
            <a:endParaRPr lang="ko-KR">
              <a:latin typeface="Calibri"/>
              <a:ea typeface="Calibri"/>
              <a:cs typeface="Calibri"/>
            </a:endParaRPr>
          </a:p>
        </p:txBody>
      </p:sp>
    </p:spTree>
    <p:extLst>
      <p:ext uri="{BB962C8B-B14F-4D97-AF65-F5344CB8AC3E}">
        <p14:creationId val="13709594"/>
      </p:ext>
    </p:extLst>
  </p:cSld>
</p:sld>
</file>

<file path=ppt/slides/slide68.xml><?xml version="1.0" encoding="utf-8"?>
<p:sld xmlns:a="http://schemas.openxmlformats.org/drawingml/2006/main" xmlns:ns2="http://schemas.microsoft.com/office/drawing/2014/main" xmlns:p="http://schemas.openxmlformats.org/presentationml/2006/main" xmlns:p14="http://schemas.microsoft.com/office/powerpoint/2010/main">
  <p:cSld name="qa05-metric-v11">
    <p:bg>
      <p:bgPr>
        <a:solidFill>
          <a:srgbClr val="FFFFFF"/>
        </a:solidFill>
      </p:bgPr>
    </p:bg>
    <p:spTree>
      <p:nvGrpSpPr>
        <p:cNvPr id="2" name=""/>
        <p:cNvGrpSpPr/>
        <p:nvPr/>
      </p:nvGrpSpPr>
      <p:grpSpPr>
        <a:xfrm/>
      </p:grpSpPr>
      <p:graphicFrame>
        <p:nvGraphicFramePr>
          <p:cNvPr id="3" name="QA05-scenario">
            <a:extLst>
              <a:ext uri="{FF2B5EF4-FFF2-40B4-BE49-F238E27FC236}">
                <ns2:creationId id="{651FB603-BF4A-4B6D-9E04-4A74B6D10341}"/>
              </a:ext>
            </a:extLst>
          </p:cNvPr>
          <p:cNvGraphicFramePr/>
          <p:nvPr/>
        </p:nvGraphicFramePr>
        <p:xfrm>
          <a:off x="457200" y="1257300"/>
          <a:ext cx="17373600" cy="2019300"/>
        </p:xfrm>
        <a:graphic>
          <a:graphicData uri="http://schemas.openxmlformats.org/drawingml/2006/table">
            <a:tbl>
              <a:tblPr/>
              <a:tblGrid>
                <a:gridCol w="2190750"/>
                <a:gridCol w="2762250"/>
                <a:gridCol w="12420600"/>
              </a:tblGrid>
              <a:tr h="419100">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분류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Title</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Scenario</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1600200">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Cost Efficiency</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모델 사용 비용</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동일한 사용자 활동을 처리하는 데 필요한 음성 / 의미 모델의 총사용 비용을 최소화해야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[공통 28개 묶음당 평균 총 모델 비용 ≤ $2.55]</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28개 전체 × 5회 / 초기 준비부터 후속 청구까지 총비용 평균</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같은 28개 활동의 gpt-realtime과 Luna 참조 견적 $2.54604 → $2.55</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4" name="QA05-rationale-label">
            <a:extLst>
              <a:ext uri="{FF2B5EF4-FFF2-40B4-BE49-F238E27FC236}">
                <ns2:creationId id="{A53EAC3A-B4FF-43C9-BCC6-EB5A6F16EF67}"/>
              </a:ext>
            </a:extLst>
          </p:cNvPr>
          <p:cNvSpPr>
            <a:spLocks noGrp="1"/>
          </p:cNvSpPr>
          <p:nvPr/>
        </p:nvSpPr>
        <p:spPr>
          <a:xfrm>
            <a:off x="523875" y="3486150"/>
            <a:ext cx="104775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목표 수치의 근거</a:t>
            </a:r>
            <a:endParaRPr lang="ko-KR">
              <a:latin typeface="Calibri"/>
              <a:ea typeface="Calibri"/>
              <a:cs typeface="Calibri"/>
            </a:endParaRPr>
          </a:p>
        </p:txBody>
      </p:sp>
      <p:sp>
        <p:nvSpPr>
          <p:cNvPr id="5" name="QA05-rationale">
            <a:extLst>
              <a:ext uri="{FF2B5EF4-FFF2-40B4-BE49-F238E27FC236}">
                <ns2:creationId id="{31F4AFE2-4E7F-4027-8CA9-161D606C423A}"/>
              </a:ext>
            </a:extLst>
          </p:cNvPr>
          <p:cNvSpPr>
            <a:spLocks noGrp="1"/>
          </p:cNvSpPr>
          <p:nvPr/>
        </p:nvSpPr>
        <p:spPr>
          <a:xfrm>
            <a:off x="523875" y="3905250"/>
            <a:ext cx="10572750" cy="1085850"/>
          </a:xfrm>
          <a:prstGeom prst="rect">
            <a:avLst/>
          </a:prstGeom>
          <a:noFill/>
          <a:ln w="0">
            <a:noFill/>
          </a:ln>
        </p:spPr>
        <p:txBody>
          <a:bodyPr lIns="0" tIns="0" rIns="0" bIns="0" anchor="ctr">
            <a:noAutofit/>
          </a:bodyPr>
          <a:lstStyle>
            <a:defPPr>
              <a:defRPr sz="2000" b="0" lang="ko-KR">
                <a:solidFill>
                  <a:srgbClr val="000000"/>
                </a:solidFill>
                <a:latin typeface="Calibri"/>
                <a:ea typeface="Calibri"/>
                <a:cs typeface="Calibri"/>
              </a:defRPr>
            </a:defPPr>
          </a:lstStyle>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공통 28개 활동을 제공하는 API 참조 구성의 비용을 상한으로 삼는다.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gpt-realtime $2.04632 + Luna $0.49972 = $2.54604</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센트 단위로 올린 $2.55를 묶음당 모델 비용 목표로 둔다.</a:t>
            </a:r>
            <a:endParaRPr lang="ko-KR">
              <a:latin typeface="Calibri"/>
              <a:ea typeface="Calibri"/>
              <a:cs typeface="Calibri"/>
            </a:endParaRPr>
          </a:p>
        </p:txBody>
      </p:sp>
      <p:sp>
        <p:nvSpPr>
          <p:cNvPr id="6" name="QA05-metric-label">
            <a:extLst>
              <a:ext uri="{FF2B5EF4-FFF2-40B4-BE49-F238E27FC236}">
                <ns2:creationId id="{B4BD8410-8EAE-4F1D-BAFA-150C65C5A188}"/>
              </a:ext>
            </a:extLst>
          </p:cNvPr>
          <p:cNvSpPr>
            <a:spLocks noGrp="1"/>
          </p:cNvSpPr>
          <p:nvPr/>
        </p:nvSpPr>
        <p:spPr>
          <a:xfrm>
            <a:off x="523875" y="5114925"/>
            <a:ext cx="1057275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측정 지표와 계산 예시</a:t>
            </a:r>
            <a:endParaRPr lang="ko-KR">
              <a:latin typeface="Calibri"/>
              <a:ea typeface="Calibri"/>
              <a:cs typeface="Calibri"/>
            </a:endParaRPr>
          </a:p>
        </p:txBody>
      </p:sp>
      <p:sp>
        <p:nvSpPr>
          <p:cNvPr id="7" name="QA05-formula">
            <a:extLst>
              <a:ext uri="{FF2B5EF4-FFF2-40B4-BE49-F238E27FC236}">
                <ns2:creationId id="{C1010111-4F58-46CF-BCD6-C5C7BB47E6DC}"/>
              </a:ext>
            </a:extLst>
          </p:cNvPr>
          <p:cNvSpPr>
            <a:spLocks noGrp="1"/>
          </p:cNvSpPr>
          <p:nvPr/>
        </p:nvSpPr>
        <p:spPr>
          <a:xfrm>
            <a:off x="523875" y="5534025"/>
            <a:ext cx="10572750" cy="68580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C = 28개 전체 묶음 총비용 5개의 평균</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초기 준비와 갱신 및 재시도와 폐기 후 청구까지 포함</a:t>
            </a:r>
            <a:endParaRPr lang="ko-KR">
              <a:latin typeface="Calibri"/>
              <a:ea typeface="Calibri"/>
              <a:cs typeface="Calibri"/>
            </a:endParaRPr>
          </a:p>
        </p:txBody>
      </p:sp>
      <p:graphicFrame>
        <p:nvGraphicFramePr>
          <p:cNvPr id="8" name="QA05-example">
            <a:extLst>
              <a:ext uri="{FF2B5EF4-FFF2-40B4-BE49-F238E27FC236}">
                <ns2:creationId id="{F0E868DA-182B-4535-9A44-D77E80A4A904}"/>
              </a:ext>
            </a:extLst>
          </p:cNvPr>
          <p:cNvGraphicFramePr/>
          <p:nvPr/>
        </p:nvGraphicFramePr>
        <p:xfrm>
          <a:off x="523875" y="6372225"/>
          <a:ext cx="10572750" cy="857250"/>
        </p:xfrm>
        <a:graphic>
          <a:graphicData uri="http://schemas.openxmlformats.org/drawingml/2006/table">
            <a:tbl>
              <a:tblPr/>
              <a:tblGrid>
                <a:gridCol w="2190750"/>
                <a:gridCol w="2095500"/>
                <a:gridCol w="2095500"/>
                <a:gridCol w="2095500"/>
                <a:gridCol w="2095500"/>
              </a:tblGrid>
              <a:tr h="419100">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항목</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준비</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의미</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음성</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갱신/재시도</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가상 비용</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$0.08</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$0.45</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$1.12</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$0.15</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9" name="QA05-example-result">
            <a:extLst>
              <a:ext uri="{FF2B5EF4-FFF2-40B4-BE49-F238E27FC236}">
                <ns2:creationId id="{807E3D34-0F8C-49CE-B931-4BB53BD8152B}"/>
              </a:ext>
            </a:extLst>
          </p:cNvPr>
          <p:cNvSpPr>
            <a:spLocks noGrp="1"/>
          </p:cNvSpPr>
          <p:nvPr/>
        </p:nvSpPr>
        <p:spPr>
          <a:xfrm>
            <a:off x="523875" y="7877175"/>
            <a:ext cx="10572750" cy="74295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한 묶음 $1.80, 5회가 모두 같다면 평균 $1.80 = 3점</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실제 후보의 호출 수와 출력량을 참조 견적에 맞춰 강제하지 않는다.</a:t>
            </a:r>
            <a:endParaRPr lang="ko-KR">
              <a:latin typeface="Calibri"/>
              <a:ea typeface="Calibri"/>
              <a:cs typeface="Calibri"/>
            </a:endParaRPr>
          </a:p>
        </p:txBody>
      </p:sp>
      <p:sp>
        <p:nvSpPr>
          <p:cNvPr id="10" name="QA05-guard">
            <a:extLst>
              <a:ext uri="{FF2B5EF4-FFF2-40B4-BE49-F238E27FC236}">
                <ns2:creationId id="{B75CD287-62ED-4D94-AFDE-832C53C57FA1}"/>
              </a:ext>
            </a:extLst>
          </p:cNvPr>
          <p:cNvSpPr>
            <a:spLocks noGrp="1"/>
          </p:cNvSpPr>
          <p:nvPr/>
        </p:nvSpPr>
        <p:spPr>
          <a:xfrm>
            <a:off x="523875" y="8696325"/>
            <a:ext cx="10572750" cy="628650"/>
          </a:xfrm>
          <a:prstGeom prst="rect">
            <a:avLst/>
          </a:prstGeom>
          <a:noFill/>
          <a:ln w="0">
            <a:noFill/>
          </a:ln>
        </p:spPr>
        <p:txBody>
          <a:bodyPr lIns="0" tIns="0" rIns="0" bIns="0" anchor="ctr">
            <a:noAutofit/>
          </a:bodyPr>
          <a:lstStyle>
            <a:defPPr>
              <a:defRPr sz="1700" b="0" lang="ko-KR">
                <a:solidFill>
                  <a:srgbClr val="000000"/>
                </a:solidFill>
                <a:latin typeface="Calibri"/>
                <a:ea typeface="Calibri"/>
                <a:cs typeface="Calibri"/>
              </a:defRPr>
            </a:defP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평가 단위는 요청 한 건이나 월 구독료가 아닌 같은 28개 전체 묶음이다. 모든 실제 청구 bucket을 합산한다.</a:t>
            </a:r>
            <a:endParaRPr lang="ko-KR">
              <a:latin typeface="Calibri"/>
              <a:ea typeface="Calibri"/>
              <a:cs typeface="Calibri"/>
            </a:endParaRPr>
          </a:p>
        </p:txBody>
      </p:sp>
      <p:sp>
        <p:nvSpPr>
          <p:cNvPr id="11" name="QA05-dp">
            <a:extLst>
              <a:ext uri="{FF2B5EF4-FFF2-40B4-BE49-F238E27FC236}">
                <ns2:creationId id="{2DD1DC48-D682-417F-A6B7-3655232C10FF}"/>
              </a:ext>
            </a:extLst>
          </p:cNvPr>
          <p:cNvSpPr>
            <a:spLocks noGrp="1"/>
          </p:cNvSpPr>
          <p:nvPr/>
        </p:nvSpPr>
        <p:spPr>
          <a:xfrm>
            <a:off x="523875" y="9420225"/>
            <a:ext cx="10572750" cy="323850"/>
          </a:xfrm>
          <a:prstGeom prst="rect">
            <a:avLst/>
          </a:prstGeom>
          <a:noFill/>
          <a:ln w="0">
            <a:noFill/>
          </a:ln>
        </p:spPr>
        <p:txBody>
          <a:bodyPr lIns="0" tIns="0" rIns="0" bIns="0" anchor="ctr">
            <a:noAutofit/>
          </a:bodyPr>
          <a:lstStyle>
            <a:defPPr>
              <a:defRPr sz="1600" b="1" lang="ko-KR">
                <a:solidFill>
                  <a:srgbClr val="000000"/>
                </a:solidFill>
                <a:latin typeface="Calibri"/>
                <a:ea typeface="Calibri"/>
                <a:cs typeface="Calibri"/>
              </a:defRPr>
            </a:defPPr>
          </a:lstStyle>
          <a:p>
            <a:pPr>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DP-47 가설: A는 원본을 함께 판단해 후보별 생산과 결합의 모델 사용을 줄인다.</a:t>
            </a:r>
            <a:endParaRPr lang="ko-KR">
              <a:latin typeface="Calibri"/>
              <a:ea typeface="Calibri"/>
              <a:cs typeface="Calibri"/>
            </a:endParaRPr>
          </a:p>
        </p:txBody>
      </p:sp>
      <p:sp>
        <p:nvSpPr>
          <p:cNvPr id="12" name="QA05-scoring-title">
            <a:extLst>
              <a:ext uri="{FF2B5EF4-FFF2-40B4-BE49-F238E27FC236}">
                <ns2:creationId id="{66730F74-2212-43BB-BE6D-65E7A61A1094}"/>
              </a:ext>
            </a:extLst>
          </p:cNvPr>
          <p:cNvSpPr>
            <a:spLocks noGrp="1"/>
          </p:cNvSpPr>
          <p:nvPr/>
        </p:nvSpPr>
        <p:spPr>
          <a:xfrm>
            <a:off x="11658600" y="3486150"/>
            <a:ext cx="61722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0~6점 평가 기준</a:t>
            </a:r>
            <a:endParaRPr lang="ko-KR">
              <a:latin typeface="Calibri"/>
              <a:ea typeface="Calibri"/>
              <a:cs typeface="Calibri"/>
            </a:endParaRPr>
          </a:p>
        </p:txBody>
      </p:sp>
      <p:graphicFrame>
        <p:nvGraphicFramePr>
          <p:cNvPr id="13" name="QA05-score">
            <a:extLst>
              <a:ext uri="{FF2B5EF4-FFF2-40B4-BE49-F238E27FC236}">
                <ns2:creationId id="{1C50A12B-B90E-4C28-B43C-61518E2B0495}"/>
              </a:ext>
            </a:extLst>
          </p:cNvPr>
          <p:cNvGraphicFramePr/>
          <p:nvPr/>
        </p:nvGraphicFramePr>
        <p:xfrm>
          <a:off x="11658600" y="3971925"/>
          <a:ext cx="6172200" cy="4495800"/>
        </p:xfrm>
        <a:graphic>
          <a:graphicData uri="http://schemas.openxmlformats.org/drawingml/2006/table">
            <a:tbl>
              <a:tblPr/>
              <a:tblGrid>
                <a:gridCol w="762000"/>
                <a:gridCol w="1619250"/>
                <a:gridCol w="3790950"/>
              </a:tblGrid>
              <a:tr h="561975">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점수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기호</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기준 (USD)</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6</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 ≤ C ≤ 1.275</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5</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1.275 &lt; C ≤ 1.530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1.530 &lt; C ≤ 1.785</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1.785 &lt; C ≤ 2.040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2.040 &lt; C ≤ 2.295</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2.295 &lt; C ≤ 2.550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C &gt; 2.550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14" name="QA05-band">
            <a:extLst>
              <a:ext uri="{FF2B5EF4-FFF2-40B4-BE49-F238E27FC236}">
                <ns2:creationId id="{0EFAB72B-10BF-415F-B41E-4AB359245CE0}"/>
              </a:ext>
            </a:extLst>
          </p:cNvPr>
          <p:cNvSpPr>
            <a:spLocks noGrp="1"/>
          </p:cNvSpPr>
          <p:nvPr/>
        </p:nvSpPr>
        <p:spPr>
          <a:xfrm>
            <a:off x="11658600" y="8734425"/>
            <a:ext cx="6172200" cy="942975"/>
          </a:xfrm>
          <a:prstGeom prst="rect">
            <a:avLst/>
          </a:prstGeom>
          <a:noFill/>
          <a:ln w="0">
            <a:noFill/>
          </a:ln>
        </p:spPr>
        <p:txBody>
          <a:bodyPr lIns="0" tIns="0" rIns="0" bIns="0" anchor="ctr">
            <a:noAutofit/>
          </a:bodyPr>
          <a:lstStyle>
            <a:defPPr>
              <a:defRPr sz="1800" b="0" lang="ko-KR">
                <a:solidFill>
                  <a:srgbClr val="000000"/>
                </a:solidFill>
                <a:latin typeface="Calibri"/>
                <a:ea typeface="Calibri"/>
                <a:cs typeface="Calibri"/>
              </a:defRPr>
            </a:defPPr>
          </a:lstStyle>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$2.550은 목표 상한</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$1.275는 예산의 절반</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(2.550 − 1.275) / 5 = $0.255 간격</a:t>
            </a:r>
            <a:endParaRPr lang="ko-KR">
              <a:latin typeface="Calibri"/>
              <a:ea typeface="Calibri"/>
              <a:cs typeface="Calibri"/>
            </a:endParaRPr>
          </a:p>
        </p:txBody>
      </p:sp>
      <p:sp>
        <p:nvSpPr>
          <p:cNvPr id="15" name="QA05-source">
            <a:extLst>
              <a:ext uri="{FF2B5EF4-FFF2-40B4-BE49-F238E27FC236}">
                <ns2:creationId id="{AF95F9E4-59C3-4B41-95EE-154399D00735}"/>
              </a:ext>
            </a:extLst>
          </p:cNvPr>
          <p:cNvSpPr>
            <a:spLocks noGrp="1"/>
          </p:cNvSpPr>
          <p:nvPr/>
        </p:nvSpPr>
        <p:spPr>
          <a:xfrm>
            <a:off x="523875" y="9820275"/>
            <a:ext cx="17287875" cy="266700"/>
          </a:xfrm>
          <a:prstGeom prst="rect">
            <a:avLst/>
          </a:prstGeom>
          <a:noFill/>
          <a:ln w="0">
            <a:noFill/>
          </a:ln>
        </p:spPr>
        <p:txBody>
          <a:bodyPr lIns="0" tIns="0" rIns="0" bIns="0" anchor="ctr">
            <a:noAutofit/>
          </a:bodyPr>
          <a:lstStyle>
            <a:defPPr>
              <a:defRPr sz="1300" b="0" lang="ko-KR">
                <a:solidFill>
                  <a:srgbClr val="000000"/>
                </a:solidFill>
                <a:latin typeface="Calibri"/>
                <a:ea typeface="Calibri"/>
                <a:cs typeface="Calibri"/>
              </a:defRPr>
            </a:defPPr>
          </a:lstStyle>
          <a:p>
            <a:pPr>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출처: 2026-10-14 공식 API 요금과 COMMON-28-v1 참조 견적. 견적의 기능 동등성과 실제 청구는 검증 전이다.  예시는 계산 설명용.</a:t>
            </a:r>
            <a:endParaRPr lang="ko-KR">
              <a:latin typeface="Calibri"/>
              <a:ea typeface="Calibri"/>
              <a:cs typeface="Calibri"/>
            </a:endParaRPr>
          </a:p>
        </p:txBody>
      </p:sp>
      <p:sp>
        <p:nvSpPr>
          <p:cNvPr id="16" name="v6-header-title">
            <a:extLst>
              <a:ext uri="{FF2B5EF4-FFF2-40B4-BE49-F238E27FC236}">
                <ns2:creationId id="{38B25BA3-074F-4B19-AFE7-F1D1DBCA348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QA05  모델 사용 비용</a:t>
            </a:r>
            <a:endParaRPr lang="ko-KR">
              <a:latin typeface="Calibri"/>
              <a:ea typeface="Calibri"/>
              <a:cs typeface="Calibri"/>
            </a:endParaRPr>
          </a:p>
        </p:txBody>
      </p:sp>
      <p:sp>
        <p:nvSpPr>
          <p:cNvPr id="17" name="v6-header-rule">
            <a:extLst>
              <a:ext uri="{FF2B5EF4-FFF2-40B4-BE49-F238E27FC236}">
                <ns2:creationId id="{94BDD528-2FE8-4856-A625-FEEE5C0B6C26}"/>
              </a:ext>
            </a:extLst>
          </p:cNvPr>
          <p:cNvSpPr>
            <a:spLocks noGrp="1"/>
          </p:cNvSpPr>
          <p:nvPr/>
        </p:nvSpPr>
        <p:spPr>
          <a:xfrm>
            <a:off x="495300" y="990600"/>
            <a:ext cx="17335500" cy="0"/>
          </a:xfrm>
          <a:prstGeom prst="line">
            <a:avLst/>
          </a:prstGeom>
          <a:noFill/>
          <a:ln w="19050">
            <a:solidFill>
              <a:srgbClr val="A6A6A6"/>
            </a:solidFill>
          </a:ln>
        </p:spPr>
      </p:sp>
      <p:sp>
        <p:nvSpPr>
          <p:cNvPr id="18" name="v6-header-stage-0">
            <a:extLst>
              <a:ext uri="{FF2B5EF4-FFF2-40B4-BE49-F238E27FC236}">
                <ns2:creationId id="{15ACD682-D9EA-4A98-9DB7-FEA4DB724E6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9" name="v6-header-stage-1">
            <a:extLst>
              <a:ext uri="{FF2B5EF4-FFF2-40B4-BE49-F238E27FC236}">
                <ns2:creationId id="{F0E3C194-B97F-45F7-8CC7-23DFCB7D5E3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0" name="v6-header-stage-2">
            <a:extLst>
              <a:ext uri="{FF2B5EF4-FFF2-40B4-BE49-F238E27FC236}">
                <ns2:creationId id="{A35FCADB-AB0E-467D-99C6-DBA30A0D921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1" name="v6-header-stage-3">
            <a:extLst>
              <a:ext uri="{FF2B5EF4-FFF2-40B4-BE49-F238E27FC236}">
                <ns2:creationId id="{656794DF-C71A-4EB7-975B-62B482030F2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2" name="v6-header-stage-4">
            <a:extLst>
              <a:ext uri="{FF2B5EF4-FFF2-40B4-BE49-F238E27FC236}">
                <ns2:creationId id="{2F66320E-61A8-4D7F-A54A-E49FACC8F87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3" name="v6-header-page">
            <a:extLst>
              <a:ext uri="{FF2B5EF4-FFF2-40B4-BE49-F238E27FC236}">
                <ns2:creationId id="{C15EFB4C-462E-4392-B6EA-5F61365C4BC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29 / 33</a:t>
            </a:r>
            <a:endParaRPr lang="ko-KR">
              <a:latin typeface="Calibri"/>
              <a:ea typeface="Calibri"/>
              <a:cs typeface="Calibri"/>
            </a:endParaRPr>
          </a:p>
        </p:txBody>
      </p:sp>
    </p:spTree>
    <p:extLst>
      <p:ext uri="{BB962C8B-B14F-4D97-AF65-F5344CB8AC3E}">
        <p14:creationId val="1869965971"/>
      </p:ext>
    </p:extLst>
  </p:cSld>
</p:sld>
</file>

<file path=ppt/slides/slide69.xml><?xml version="1.0" encoding="utf-8"?>
<p:sld xmlns:a="http://schemas.openxmlformats.org/drawingml/2006/main" xmlns:ns2="http://schemas.microsoft.com/office/drawing/2014/main" xmlns:p="http://schemas.openxmlformats.org/presentationml/2006/main" xmlns:p14="http://schemas.microsoft.com/office/powerpoint/2010/main">
  <p:cSld name="qa06-metric-v11">
    <p:bg>
      <p:bgPr>
        <a:solidFill>
          <a:srgbClr val="FFFFFF"/>
        </a:solidFill>
      </p:bgPr>
    </p:bg>
    <p:spTree>
      <p:nvGrpSpPr>
        <p:cNvPr id="2" name=""/>
        <p:cNvGrpSpPr/>
        <p:nvPr/>
      </p:nvGrpSpPr>
      <p:grpSpPr>
        <a:xfrm/>
      </p:grpSpPr>
      <p:graphicFrame>
        <p:nvGraphicFramePr>
          <p:cNvPr id="3" name="QA06-scenario">
            <a:extLst>
              <a:ext uri="{FF2B5EF4-FFF2-40B4-BE49-F238E27FC236}">
                <ns2:creationId id="{D0EC6F42-1438-4B8B-95B2-FC5E59967BE4}"/>
              </a:ext>
            </a:extLst>
          </p:cNvPr>
          <p:cNvGraphicFramePr/>
          <p:nvPr/>
        </p:nvGraphicFramePr>
        <p:xfrm>
          <a:off x="457200" y="1257300"/>
          <a:ext cx="17373600" cy="2019300"/>
        </p:xfrm>
        <a:graphic>
          <a:graphicData uri="http://schemas.openxmlformats.org/drawingml/2006/table">
            <a:tbl>
              <a:tblPr/>
              <a:tblGrid>
                <a:gridCol w="2190750"/>
                <a:gridCol w="2762250"/>
                <a:gridCol w="12420600"/>
              </a:tblGrid>
              <a:tr h="419100">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분류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Title</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Scenario</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1600200">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Resource Efficiency</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최대 RAM 사용량</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삼성 노트북의 다른 앱과 함께 실행될 수 있도록 사용 중 VIA의 실제 RAM 최고량을 제한해야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[VIA 전체 RAM 관측 최고량 ≤ 512 MB]</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28개 전체 × 5회 / Windows 11과 클라우드 모델 / 전체 VIA의 동시 RAM 최고량</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PC 플랫폼 및 기술기획 측 시스템 요구사항 512 MB / 과제에서 사용자 지정</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4" name="QA06-rationale-label">
            <a:extLst>
              <a:ext uri="{FF2B5EF4-FFF2-40B4-BE49-F238E27FC236}">
                <ns2:creationId id="{DEB14ECE-47BF-4F11-905C-CB93D4074929}"/>
              </a:ext>
            </a:extLst>
          </p:cNvPr>
          <p:cNvSpPr>
            <a:spLocks noGrp="1"/>
          </p:cNvSpPr>
          <p:nvPr/>
        </p:nvSpPr>
        <p:spPr>
          <a:xfrm>
            <a:off x="523875" y="3486150"/>
            <a:ext cx="104775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목표 수치의 근거</a:t>
            </a:r>
            <a:endParaRPr lang="ko-KR">
              <a:latin typeface="Calibri"/>
              <a:ea typeface="Calibri"/>
              <a:cs typeface="Calibri"/>
            </a:endParaRPr>
          </a:p>
        </p:txBody>
      </p:sp>
      <p:sp>
        <p:nvSpPr>
          <p:cNvPr id="5" name="QA06-rationale">
            <a:extLst>
              <a:ext uri="{FF2B5EF4-FFF2-40B4-BE49-F238E27FC236}">
                <ns2:creationId id="{EC47E65C-33E5-4DE0-A2D7-A77DFE1E49E7}"/>
              </a:ext>
            </a:extLst>
          </p:cNvPr>
          <p:cNvSpPr>
            <a:spLocks noGrp="1"/>
          </p:cNvSpPr>
          <p:nvPr/>
        </p:nvSpPr>
        <p:spPr>
          <a:xfrm>
            <a:off x="523875" y="3905250"/>
            <a:ext cx="10572750" cy="1085850"/>
          </a:xfrm>
          <a:prstGeom prst="rect">
            <a:avLst/>
          </a:prstGeom>
          <a:noFill/>
          <a:ln w="0">
            <a:noFill/>
          </a:ln>
        </p:spPr>
        <p:txBody>
          <a:bodyPr lIns="0" tIns="0" rIns="0" bIns="0" anchor="ctr">
            <a:noAutofit/>
          </a:bodyPr>
          <a:lstStyle>
            <a:defPPr>
              <a:defRPr sz="2000" b="0" lang="ko-KR">
                <a:solidFill>
                  <a:srgbClr val="000000"/>
                </a:solidFill>
                <a:latin typeface="Calibri"/>
                <a:ea typeface="Calibri"/>
                <a:cs typeface="Calibri"/>
              </a:defRPr>
            </a:defPPr>
          </a:lstStyle>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PC 플랫폼 및 기술기획 측 시스템 요구사항으로</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기본 탑재 VIA의 최대 RAM 사용량을 512 MB 이하로 둔다.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사용자의 다른 앱과 함께 실행할 때 VIA의 RAM 부담을 제한한다.</a:t>
            </a:r>
            <a:endParaRPr lang="ko-KR">
              <a:latin typeface="Calibri"/>
              <a:ea typeface="Calibri"/>
              <a:cs typeface="Calibri"/>
            </a:endParaRPr>
          </a:p>
        </p:txBody>
      </p:sp>
      <p:sp>
        <p:nvSpPr>
          <p:cNvPr id="6" name="QA06-metric-label">
            <a:extLst>
              <a:ext uri="{FF2B5EF4-FFF2-40B4-BE49-F238E27FC236}">
                <ns2:creationId id="{C9D61B57-DE6C-4C62-8F24-B595D44E81A9}"/>
              </a:ext>
            </a:extLst>
          </p:cNvPr>
          <p:cNvSpPr>
            <a:spLocks noGrp="1"/>
          </p:cNvSpPr>
          <p:nvPr/>
        </p:nvSpPr>
        <p:spPr>
          <a:xfrm>
            <a:off x="523875" y="5114925"/>
            <a:ext cx="1057275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측정 지표와 계산 예시</a:t>
            </a:r>
            <a:endParaRPr lang="ko-KR">
              <a:latin typeface="Calibri"/>
              <a:ea typeface="Calibri"/>
              <a:cs typeface="Calibri"/>
            </a:endParaRPr>
          </a:p>
        </p:txBody>
      </p:sp>
      <p:sp>
        <p:nvSpPr>
          <p:cNvPr id="7" name="QA06-formula">
            <a:extLst>
              <a:ext uri="{FF2B5EF4-FFF2-40B4-BE49-F238E27FC236}">
                <ns2:creationId id="{37BBB130-3045-41FF-BBE7-CD647E86B990}"/>
              </a:ext>
            </a:extLst>
          </p:cNvPr>
          <p:cNvSpPr>
            <a:spLocks noGrp="1"/>
          </p:cNvSpPr>
          <p:nvPr/>
        </p:nvSpPr>
        <p:spPr>
          <a:xfrm>
            <a:off x="523875" y="5534025"/>
            <a:ext cx="10572750" cy="68580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M = 5회 전체 관측의 동시 VIA RAM 최고 바이트 / 1,000,000</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512 MB = 512,000,000바이트</a:t>
            </a:r>
            <a:endParaRPr lang="ko-KR">
              <a:latin typeface="Calibri"/>
              <a:ea typeface="Calibri"/>
              <a:cs typeface="Calibri"/>
            </a:endParaRPr>
          </a:p>
        </p:txBody>
      </p:sp>
      <p:graphicFrame>
        <p:nvGraphicFramePr>
          <p:cNvPr id="8" name="QA06-example">
            <a:extLst>
              <a:ext uri="{FF2B5EF4-FFF2-40B4-BE49-F238E27FC236}">
                <ns2:creationId id="{8869F191-00B8-4471-853E-0C16293932AC}"/>
              </a:ext>
            </a:extLst>
          </p:cNvPr>
          <p:cNvGraphicFramePr/>
          <p:nvPr/>
        </p:nvGraphicFramePr>
        <p:xfrm>
          <a:off x="523875" y="6372225"/>
          <a:ext cx="10572750" cy="1295400"/>
        </p:xfrm>
        <a:graphic>
          <a:graphicData uri="http://schemas.openxmlformats.org/drawingml/2006/table">
            <a:tbl>
              <a:tblPr/>
              <a:tblGrid>
                <a:gridCol w="2000250"/>
                <a:gridCol w="2476500"/>
                <a:gridCol w="3619500"/>
                <a:gridCol w="2476500"/>
              </a:tblGrid>
              <a:tr h="419100">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동일 시점</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전용 RAM</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중복을 뺀 공유 RAM</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전체 RAM</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t1</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290 MB</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90 MB</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380 MB</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t2</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320 MB</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80 MB</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400 MB</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9" name="QA06-example-result">
            <a:extLst>
              <a:ext uri="{FF2B5EF4-FFF2-40B4-BE49-F238E27FC236}">
                <ns2:creationId id="{E5F0FD21-6C0D-49EE-AD3A-5F2C04907A51}"/>
              </a:ext>
            </a:extLst>
          </p:cNvPr>
          <p:cNvSpPr>
            <a:spLocks noGrp="1"/>
          </p:cNvSpPr>
          <p:nvPr/>
        </p:nvSpPr>
        <p:spPr>
          <a:xfrm>
            <a:off x="523875" y="7877175"/>
            <a:ext cx="10572750" cy="74295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5회 전체에서도 400 MB가 최고라면</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358.4 &lt; 400 ≤ 409.6이므로 3점</a:t>
            </a:r>
            <a:endParaRPr lang="ko-KR">
              <a:latin typeface="Calibri"/>
              <a:ea typeface="Calibri"/>
              <a:cs typeface="Calibri"/>
            </a:endParaRPr>
          </a:p>
        </p:txBody>
      </p:sp>
      <p:sp>
        <p:nvSpPr>
          <p:cNvPr id="10" name="QA06-guard">
            <a:extLst>
              <a:ext uri="{FF2B5EF4-FFF2-40B4-BE49-F238E27FC236}">
                <ns2:creationId id="{B54AACA0-BAAE-49F0-AA71-125139E10FEA}"/>
              </a:ext>
            </a:extLst>
          </p:cNvPr>
          <p:cNvSpPr>
            <a:spLocks noGrp="1"/>
          </p:cNvSpPr>
          <p:nvPr/>
        </p:nvSpPr>
        <p:spPr>
          <a:xfrm>
            <a:off x="523875" y="8696325"/>
            <a:ext cx="10572750" cy="628650"/>
          </a:xfrm>
          <a:prstGeom prst="rect">
            <a:avLst/>
          </a:prstGeom>
          <a:noFill/>
          <a:ln w="0">
            <a:noFill/>
          </a:ln>
        </p:spPr>
        <p:txBody>
          <a:bodyPr lIns="0" tIns="0" rIns="0" bIns="0" anchor="ctr">
            <a:noAutofit/>
          </a:bodyPr>
          <a:lstStyle>
            <a:defPPr>
              <a:defRPr sz="1700" b="0" lang="ko-KR">
                <a:solidFill>
                  <a:srgbClr val="000000"/>
                </a:solidFill>
                <a:latin typeface="Calibri"/>
                <a:ea typeface="Calibri"/>
                <a:cs typeface="Calibri"/>
              </a:defRPr>
            </a:defP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앱 시작과 준비부터 후속 종료까지 전체 VIA를 관측한다. 공유 페이지는 한 번만 세며 개별 프로세스 피크를 더하지 않는다.</a:t>
            </a:r>
            <a:endParaRPr lang="ko-KR">
              <a:latin typeface="Calibri"/>
              <a:ea typeface="Calibri"/>
              <a:cs typeface="Calibri"/>
            </a:endParaRPr>
          </a:p>
        </p:txBody>
      </p:sp>
      <p:sp>
        <p:nvSpPr>
          <p:cNvPr id="11" name="QA06-dp">
            <a:extLst>
              <a:ext uri="{FF2B5EF4-FFF2-40B4-BE49-F238E27FC236}">
                <ns2:creationId id="{DD4177EB-D5BA-4E54-B0DA-2B33FBF42296}"/>
              </a:ext>
            </a:extLst>
          </p:cNvPr>
          <p:cNvSpPr>
            <a:spLocks noGrp="1"/>
          </p:cNvSpPr>
          <p:nvPr/>
        </p:nvSpPr>
        <p:spPr>
          <a:xfrm>
            <a:off x="523875" y="9420225"/>
            <a:ext cx="10572750" cy="323850"/>
          </a:xfrm>
          <a:prstGeom prst="rect">
            <a:avLst/>
          </a:prstGeom>
          <a:noFill/>
          <a:ln w="0">
            <a:noFill/>
          </a:ln>
        </p:spPr>
        <p:txBody>
          <a:bodyPr lIns="0" tIns="0" rIns="0" bIns="0" anchor="ctr">
            <a:noAutofit/>
          </a:bodyPr>
          <a:lstStyle>
            <a:defPPr>
              <a:defRPr sz="1600" b="1" lang="ko-KR">
                <a:solidFill>
                  <a:srgbClr val="000000"/>
                </a:solidFill>
                <a:latin typeface="Calibri"/>
                <a:ea typeface="Calibri"/>
                <a:cs typeface="Calibri"/>
              </a:defRPr>
            </a:defPPr>
          </a:lstStyle>
          <a:p>
            <a:pPr>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DP-42 가설: A는 하나의 Core를 사용해 별도 실행 공간과 전달 사본이 적다.</a:t>
            </a:r>
            <a:endParaRPr lang="ko-KR">
              <a:latin typeface="Calibri"/>
              <a:ea typeface="Calibri"/>
              <a:cs typeface="Calibri"/>
            </a:endParaRPr>
          </a:p>
        </p:txBody>
      </p:sp>
      <p:sp>
        <p:nvSpPr>
          <p:cNvPr id="12" name="QA06-scoring-title">
            <a:extLst>
              <a:ext uri="{FF2B5EF4-FFF2-40B4-BE49-F238E27FC236}">
                <ns2:creationId id="{BEC066D8-BB9C-4B3B-A8F4-5271DE901FB4}"/>
              </a:ext>
            </a:extLst>
          </p:cNvPr>
          <p:cNvSpPr>
            <a:spLocks noGrp="1"/>
          </p:cNvSpPr>
          <p:nvPr/>
        </p:nvSpPr>
        <p:spPr>
          <a:xfrm>
            <a:off x="11658600" y="3486150"/>
            <a:ext cx="61722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0~6점 평가 기준</a:t>
            </a:r>
            <a:endParaRPr lang="ko-KR">
              <a:latin typeface="Calibri"/>
              <a:ea typeface="Calibri"/>
              <a:cs typeface="Calibri"/>
            </a:endParaRPr>
          </a:p>
        </p:txBody>
      </p:sp>
      <p:graphicFrame>
        <p:nvGraphicFramePr>
          <p:cNvPr id="13" name="QA06-score">
            <a:extLst>
              <a:ext uri="{FF2B5EF4-FFF2-40B4-BE49-F238E27FC236}">
                <ns2:creationId id="{5D2D5AE8-76B2-450F-B4E0-86437489CA3C}"/>
              </a:ext>
            </a:extLst>
          </p:cNvPr>
          <p:cNvGraphicFramePr/>
          <p:nvPr/>
        </p:nvGraphicFramePr>
        <p:xfrm>
          <a:off x="11658600" y="3971925"/>
          <a:ext cx="6172200" cy="4495800"/>
        </p:xfrm>
        <a:graphic>
          <a:graphicData uri="http://schemas.openxmlformats.org/drawingml/2006/table">
            <a:tbl>
              <a:tblPr/>
              <a:tblGrid>
                <a:gridCol w="762000"/>
                <a:gridCol w="1619250"/>
                <a:gridCol w="3790950"/>
              </a:tblGrid>
              <a:tr h="561975">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점수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기호</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기준 (MB)</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6</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 ≤ M ≤ 256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5</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256 &lt; M ≤ 307.2</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307.2 &lt; M ≤ 358.4</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358.4 &lt; M ≤ 409.6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409.6 &lt; M ≤ 460.8</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460.8 &lt; M ≤ 512</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M &gt; 512</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14" name="QA06-band">
            <a:extLst>
              <a:ext uri="{FF2B5EF4-FFF2-40B4-BE49-F238E27FC236}">
                <ns2:creationId id="{A7F71F20-03F7-4F44-B4E6-8F853787B240}"/>
              </a:ext>
            </a:extLst>
          </p:cNvPr>
          <p:cNvSpPr>
            <a:spLocks noGrp="1"/>
          </p:cNvSpPr>
          <p:nvPr/>
        </p:nvSpPr>
        <p:spPr>
          <a:xfrm>
            <a:off x="11658600" y="8734425"/>
            <a:ext cx="6172200" cy="942975"/>
          </a:xfrm>
          <a:prstGeom prst="rect">
            <a:avLst/>
          </a:prstGeom>
          <a:noFill/>
          <a:ln w="0">
            <a:noFill/>
          </a:ln>
        </p:spPr>
        <p:txBody>
          <a:bodyPr lIns="0" tIns="0" rIns="0" bIns="0" anchor="ctr">
            <a:noAutofit/>
          </a:bodyPr>
          <a:lstStyle>
            <a:defPPr>
              <a:defRPr sz="1800" b="0" lang="ko-KR">
                <a:solidFill>
                  <a:srgbClr val="000000"/>
                </a:solidFill>
                <a:latin typeface="Calibri"/>
                <a:ea typeface="Calibri"/>
                <a:cs typeface="Calibri"/>
              </a:defRPr>
            </a:defPPr>
          </a:lstStyle>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512 MB는 시스템 요구 상한</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256 MB는 예산의 절반</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(512 − 256) / 5 = 51.2 MB 간격</a:t>
            </a:r>
            <a:endParaRPr lang="ko-KR">
              <a:latin typeface="Calibri"/>
              <a:ea typeface="Calibri"/>
              <a:cs typeface="Calibri"/>
            </a:endParaRPr>
          </a:p>
        </p:txBody>
      </p:sp>
      <p:sp>
        <p:nvSpPr>
          <p:cNvPr id="15" name="QA06-source">
            <a:extLst>
              <a:ext uri="{FF2B5EF4-FFF2-40B4-BE49-F238E27FC236}">
                <ns2:creationId id="{9A529AD4-B337-48A8-9D81-209F515F05EC}"/>
              </a:ext>
            </a:extLst>
          </p:cNvPr>
          <p:cNvSpPr>
            <a:spLocks noGrp="1"/>
          </p:cNvSpPr>
          <p:nvPr/>
        </p:nvSpPr>
        <p:spPr>
          <a:xfrm>
            <a:off x="523875" y="9820275"/>
            <a:ext cx="17287875" cy="266700"/>
          </a:xfrm>
          <a:prstGeom prst="rect">
            <a:avLst/>
          </a:prstGeom>
          <a:noFill/>
          <a:ln w="0">
            <a:noFill/>
          </a:ln>
        </p:spPr>
        <p:txBody>
          <a:bodyPr lIns="0" tIns="0" rIns="0" bIns="0" anchor="ctr">
            <a:noAutofit/>
          </a:bodyPr>
          <a:lstStyle>
            <a:defPPr>
              <a:defRPr sz="1300" b="0" lang="ko-KR">
                <a:solidFill>
                  <a:srgbClr val="000000"/>
                </a:solidFill>
                <a:latin typeface="Calibri"/>
                <a:ea typeface="Calibri"/>
                <a:cs typeface="Calibri"/>
              </a:defRPr>
            </a:defPPr>
          </a:lstStyle>
          <a:p>
            <a:pPr>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출처: SR-PC-MEM-01. 2026-10-15 사용자가 과제의 시스템 요구사항으로 지정. Windows 전체 RAM 계측은 검증 전이다.  예시는 계산 설명용.</a:t>
            </a:r>
            <a:endParaRPr lang="ko-KR">
              <a:latin typeface="Calibri"/>
              <a:ea typeface="Calibri"/>
              <a:cs typeface="Calibri"/>
            </a:endParaRPr>
          </a:p>
        </p:txBody>
      </p:sp>
      <p:sp>
        <p:nvSpPr>
          <p:cNvPr id="16" name="v6-header-title">
            <a:extLst>
              <a:ext uri="{FF2B5EF4-FFF2-40B4-BE49-F238E27FC236}">
                <ns2:creationId id="{38B25BA3-074F-4B19-AFE7-F1D1DBCA348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QA06  최대 RAM 사용량</a:t>
            </a:r>
            <a:endParaRPr lang="ko-KR">
              <a:latin typeface="Calibri"/>
              <a:ea typeface="Calibri"/>
              <a:cs typeface="Calibri"/>
            </a:endParaRPr>
          </a:p>
        </p:txBody>
      </p:sp>
      <p:sp>
        <p:nvSpPr>
          <p:cNvPr id="17" name="v6-header-rule">
            <a:extLst>
              <a:ext uri="{FF2B5EF4-FFF2-40B4-BE49-F238E27FC236}">
                <ns2:creationId id="{94BDD528-2FE8-4856-A625-FEEE5C0B6C26}"/>
              </a:ext>
            </a:extLst>
          </p:cNvPr>
          <p:cNvSpPr>
            <a:spLocks noGrp="1"/>
          </p:cNvSpPr>
          <p:nvPr/>
        </p:nvSpPr>
        <p:spPr>
          <a:xfrm>
            <a:off x="495300" y="990600"/>
            <a:ext cx="17335500" cy="0"/>
          </a:xfrm>
          <a:prstGeom prst="line">
            <a:avLst/>
          </a:prstGeom>
          <a:noFill/>
          <a:ln w="19050">
            <a:solidFill>
              <a:srgbClr val="A6A6A6"/>
            </a:solidFill>
          </a:ln>
        </p:spPr>
      </p:sp>
      <p:sp>
        <p:nvSpPr>
          <p:cNvPr id="18" name="v6-header-stage-0">
            <a:extLst>
              <a:ext uri="{FF2B5EF4-FFF2-40B4-BE49-F238E27FC236}">
                <ns2:creationId id="{15ACD682-D9EA-4A98-9DB7-FEA4DB724E6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9" name="v6-header-stage-1">
            <a:extLst>
              <a:ext uri="{FF2B5EF4-FFF2-40B4-BE49-F238E27FC236}">
                <ns2:creationId id="{F0E3C194-B97F-45F7-8CC7-23DFCB7D5E3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0" name="v6-header-stage-2">
            <a:extLst>
              <a:ext uri="{FF2B5EF4-FFF2-40B4-BE49-F238E27FC236}">
                <ns2:creationId id="{A35FCADB-AB0E-467D-99C6-DBA30A0D921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1" name="v6-header-stage-3">
            <a:extLst>
              <a:ext uri="{FF2B5EF4-FFF2-40B4-BE49-F238E27FC236}">
                <ns2:creationId id="{656794DF-C71A-4EB7-975B-62B482030F2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2" name="v6-header-stage-4">
            <a:extLst>
              <a:ext uri="{FF2B5EF4-FFF2-40B4-BE49-F238E27FC236}">
                <ns2:creationId id="{2F66320E-61A8-4D7F-A54A-E49FACC8F87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3" name="v6-header-page">
            <a:extLst>
              <a:ext uri="{FF2B5EF4-FFF2-40B4-BE49-F238E27FC236}">
                <ns2:creationId id="{C15EFB4C-462E-4392-B6EA-5F61365C4BC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30 / 33</a:t>
            </a:r>
            <a:endParaRPr lang="ko-KR">
              <a:latin typeface="Calibri"/>
              <a:ea typeface="Calibri"/>
              <a:cs typeface="Calibri"/>
            </a:endParaRPr>
          </a:p>
        </p:txBody>
      </p:sp>
    </p:spTree>
    <p:extLst>
      <p:ext uri="{BB962C8B-B14F-4D97-AF65-F5344CB8AC3E}">
        <p14:creationId val="616067733"/>
      </p:ext>
    </p:extLst>
  </p:cSld>
</p:sld>
</file>

<file path=ppt/slides/slide70.xml><?xml version="1.0" encoding="utf-8"?>
<p:sld xmlns:a="http://schemas.openxmlformats.org/drawingml/2006/main" xmlns:ns2="http://schemas.microsoft.com/office/drawing/2014/main" xmlns:p="http://schemas.openxmlformats.org/presentationml/2006/main" xmlns:p14="http://schemas.microsoft.com/office/powerpoint/2010/main">
  <p:cSld name="qa07-metric-v11">
    <p:bg>
      <p:bgPr>
        <a:solidFill>
          <a:srgbClr val="FFFFFF"/>
        </a:solidFill>
      </p:bgPr>
    </p:bg>
    <p:spTree>
      <p:nvGrpSpPr>
        <p:cNvPr id="2" name=""/>
        <p:cNvGrpSpPr/>
        <p:nvPr/>
      </p:nvGrpSpPr>
      <p:grpSpPr>
        <a:xfrm/>
      </p:grpSpPr>
      <p:graphicFrame>
        <p:nvGraphicFramePr>
          <p:cNvPr id="3" name="QA07-scenario">
            <a:extLst>
              <a:ext uri="{FF2B5EF4-FFF2-40B4-BE49-F238E27FC236}">
                <ns2:creationId id="{CABEC4DD-F16A-4A71-8E10-624C0FF29394}"/>
              </a:ext>
            </a:extLst>
          </p:cNvPr>
          <p:cNvGraphicFramePr/>
          <p:nvPr/>
        </p:nvGraphicFramePr>
        <p:xfrm>
          <a:off x="457200" y="1257300"/>
          <a:ext cx="17373600" cy="2019300"/>
        </p:xfrm>
        <a:graphic>
          <a:graphicData uri="http://schemas.openxmlformats.org/drawingml/2006/table">
            <a:tbl>
              <a:tblPr/>
              <a:tblGrid>
                <a:gridCol w="2190750"/>
                <a:gridCol w="2762250"/>
                <a:gridCol w="12420600"/>
              </a:tblGrid>
              <a:tr h="419100">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분류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Title</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Scenario</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1600200">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Performance</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부하 추가 지연</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다른 업무의 사건을 함께 처리할 때 현재 사용자 요청의 첫 응답에 추가되는 지연을 작게 유지해야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[평균 부하 추가 지연 ≤ 200ms]</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S05/S11/S18/S19 / 부하 유무별 5회 / 평균 지연 증가분</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첫 응답 1,000ms − 단일 요청 처리 800ms = 간섭 예산 제안 200ms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4" name="QA07-rationale-label">
            <a:extLst>
              <a:ext uri="{FF2B5EF4-FFF2-40B4-BE49-F238E27FC236}">
                <ns2:creationId id="{5B8D1C0B-E21D-49CF-92E1-55D269AE66C2}"/>
              </a:ext>
            </a:extLst>
          </p:cNvPr>
          <p:cNvSpPr>
            <a:spLocks noGrp="1"/>
          </p:cNvSpPr>
          <p:nvPr/>
        </p:nvSpPr>
        <p:spPr>
          <a:xfrm>
            <a:off x="523875" y="3486150"/>
            <a:ext cx="104775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목표 수치의 근거</a:t>
            </a:r>
            <a:endParaRPr lang="ko-KR">
              <a:latin typeface="Calibri"/>
              <a:ea typeface="Calibri"/>
              <a:cs typeface="Calibri"/>
            </a:endParaRPr>
          </a:p>
        </p:txBody>
      </p:sp>
      <p:sp>
        <p:nvSpPr>
          <p:cNvPr id="5" name="QA07-rationale">
            <a:extLst>
              <a:ext uri="{FF2B5EF4-FFF2-40B4-BE49-F238E27FC236}">
                <ns2:creationId id="{BC4C6B6B-2DE2-4F96-AA85-9B08559262F8}"/>
              </a:ext>
            </a:extLst>
          </p:cNvPr>
          <p:cNvSpPr>
            <a:spLocks noGrp="1"/>
          </p:cNvSpPr>
          <p:nvPr/>
        </p:nvSpPr>
        <p:spPr>
          <a:xfrm>
            <a:off x="523875" y="3905250"/>
            <a:ext cx="10572750" cy="1085850"/>
          </a:xfrm>
          <a:prstGeom prst="rect">
            <a:avLst/>
          </a:prstGeom>
          <a:noFill/>
          <a:ln w="0">
            <a:noFill/>
          </a:ln>
        </p:spPr>
        <p:txBody>
          <a:bodyPr lIns="0" tIns="0" rIns="0" bIns="0" anchor="ctr">
            <a:noAutofit/>
          </a:bodyPr>
          <a:lstStyle>
            <a:defPPr>
              <a:defRPr sz="2000" b="0" lang="ko-KR">
                <a:solidFill>
                  <a:srgbClr val="000000"/>
                </a:solidFill>
                <a:latin typeface="Calibri"/>
                <a:ea typeface="Calibri"/>
                <a:cs typeface="Calibri"/>
              </a:defRPr>
            </a:defPPr>
          </a:lstStyle>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첫 응답 1,000ms 중 단일 요청에 800ms를 배정한</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설계 예산에서 동시 업무 간섭에 200ms를 남긴다.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현재 대화에 추가된 지연을 QA01의 절대 지연과 구분해 진단한다.</a:t>
            </a:r>
            <a:endParaRPr lang="ko-KR">
              <a:latin typeface="Calibri"/>
              <a:ea typeface="Calibri"/>
              <a:cs typeface="Calibri"/>
            </a:endParaRPr>
          </a:p>
        </p:txBody>
      </p:sp>
      <p:sp>
        <p:nvSpPr>
          <p:cNvPr id="6" name="QA07-metric-label">
            <a:extLst>
              <a:ext uri="{FF2B5EF4-FFF2-40B4-BE49-F238E27FC236}">
                <ns2:creationId id="{F41173A3-638E-4A93-AFCC-0283ED2B9602}"/>
              </a:ext>
            </a:extLst>
          </p:cNvPr>
          <p:cNvSpPr>
            <a:spLocks noGrp="1"/>
          </p:cNvSpPr>
          <p:nvPr/>
        </p:nvSpPr>
        <p:spPr>
          <a:xfrm>
            <a:off x="523875" y="5114925"/>
            <a:ext cx="1057275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측정 지표와 계산 예시</a:t>
            </a:r>
            <a:endParaRPr lang="ko-KR">
              <a:latin typeface="Calibri"/>
              <a:ea typeface="Calibri"/>
              <a:cs typeface="Calibri"/>
            </a:endParaRPr>
          </a:p>
        </p:txBody>
      </p:sp>
      <p:sp>
        <p:nvSpPr>
          <p:cNvPr id="7" name="QA07-formula">
            <a:extLst>
              <a:ext uri="{FF2B5EF4-FFF2-40B4-BE49-F238E27FC236}">
                <ns2:creationId id="{A9158FA7-74C9-4A97-B0A8-AECB56349E11}"/>
              </a:ext>
            </a:extLst>
          </p:cNvPr>
          <p:cNvSpPr>
            <a:spLocks noGrp="1"/>
          </p:cNvSpPr>
          <p:nvPr/>
        </p:nvSpPr>
        <p:spPr>
          <a:xfrm>
            <a:off x="523875" y="5534025"/>
            <a:ext cx="10572750" cy="68580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x = 4개 사례의 max(0, 부하 평균 − 무부하 평균)의 평균</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S05/S11/S18/S19의 첫 요청 / 조건별 5회</a:t>
            </a:r>
            <a:endParaRPr lang="ko-KR">
              <a:latin typeface="Calibri"/>
              <a:ea typeface="Calibri"/>
              <a:cs typeface="Calibri"/>
            </a:endParaRPr>
          </a:p>
        </p:txBody>
      </p:sp>
      <p:graphicFrame>
        <p:nvGraphicFramePr>
          <p:cNvPr id="8" name="QA07-example">
            <a:extLst>
              <a:ext uri="{FF2B5EF4-FFF2-40B4-BE49-F238E27FC236}">
                <ns2:creationId id="{48DD5D9C-7938-4569-A71F-2530976DA079}"/>
              </a:ext>
            </a:extLst>
          </p:cNvPr>
          <p:cNvGraphicFramePr/>
          <p:nvPr/>
        </p:nvGraphicFramePr>
        <p:xfrm>
          <a:off x="523875" y="6372225"/>
          <a:ext cx="10572750" cy="1295400"/>
        </p:xfrm>
        <a:graphic>
          <a:graphicData uri="http://schemas.openxmlformats.org/drawingml/2006/table">
            <a:tbl>
              <a:tblPr/>
              <a:tblGrid>
                <a:gridCol w="4572000"/>
                <a:gridCol w="2952750"/>
                <a:gridCol w="3048000"/>
              </a:tblGrid>
              <a:tr h="419100">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조건</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5회 평균</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차이</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무부하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600ms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defRPr lang="ko-KR">
                          <a:latin typeface="Calibri"/>
                          <a:ea typeface="Calibri"/>
                          <a:cs typeface="Calibri"/>
                        </a:defRPr>
                      </a:pPr>
                      <a:r>
                        <a:rPr sz="1800" b="0" lang="ko-KR">
                          <a:solidFill>
                            <a:srgbClr val="000000"/>
                          </a:solidFill>
                          <a:latin typeface="Calibri"/>
                          <a:ea typeface="Calibri"/>
                          <a:cs typeface="Calibri"/>
                        </a:rPr>
                        <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Agent 사건 동시 처리</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750ms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150ms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9" name="QA07-example-result">
            <a:extLst>
              <a:ext uri="{FF2B5EF4-FFF2-40B4-BE49-F238E27FC236}">
                <ns2:creationId id="{12C3F977-7D68-4F73-9A9D-988001A7B4C4}"/>
              </a:ext>
            </a:extLst>
          </p:cNvPr>
          <p:cNvSpPr>
            <a:spLocks noGrp="1"/>
          </p:cNvSpPr>
          <p:nvPr/>
        </p:nvSpPr>
        <p:spPr>
          <a:xfrm>
            <a:off x="523875" y="7877175"/>
            <a:ext cx="10572750" cy="74295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네 사례의 차이가 모두 150ms라면 x = 150ms = 2점</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QA01의 절대 지연과 함께 확인하며 서로 상쇄하지 않는다.</a:t>
            </a:r>
            <a:endParaRPr lang="ko-KR">
              <a:latin typeface="Calibri"/>
              <a:ea typeface="Calibri"/>
              <a:cs typeface="Calibri"/>
            </a:endParaRPr>
          </a:p>
        </p:txBody>
      </p:sp>
      <p:sp>
        <p:nvSpPr>
          <p:cNvPr id="10" name="QA07-guard">
            <a:extLst>
              <a:ext uri="{FF2B5EF4-FFF2-40B4-BE49-F238E27FC236}">
                <ns2:creationId id="{DD81C3B0-83F8-4059-B580-6E4164DFCAA5}"/>
              </a:ext>
            </a:extLst>
          </p:cNvPr>
          <p:cNvSpPr>
            <a:spLocks noGrp="1"/>
          </p:cNvSpPr>
          <p:nvPr/>
        </p:nvSpPr>
        <p:spPr>
          <a:xfrm>
            <a:off x="523875" y="8696325"/>
            <a:ext cx="10572750" cy="628650"/>
          </a:xfrm>
          <a:prstGeom prst="rect">
            <a:avLst/>
          </a:prstGeom>
          <a:noFill/>
          <a:ln w="0">
            <a:noFill/>
          </a:ln>
        </p:spPr>
        <p:txBody>
          <a:bodyPr lIns="0" tIns="0" rIns="0" bIns="0" anchor="ctr">
            <a:noAutofit/>
          </a:bodyPr>
          <a:lstStyle>
            <a:defPPr>
              <a:defRPr sz="1700" b="0" lang="ko-KR">
                <a:solidFill>
                  <a:srgbClr val="000000"/>
                </a:solidFill>
                <a:latin typeface="Calibri"/>
                <a:ea typeface="Calibri"/>
                <a:cs typeface="Calibri"/>
              </a:defRPr>
            </a:defP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부하 조건의 미응답이나 BG 사건 유실은 0점이다. 무부하 기준도 실패하면 우열 판정 불가로 남긴다.</a:t>
            </a:r>
            <a:endParaRPr lang="ko-KR">
              <a:latin typeface="Calibri"/>
              <a:ea typeface="Calibri"/>
              <a:cs typeface="Calibri"/>
            </a:endParaRPr>
          </a:p>
        </p:txBody>
      </p:sp>
      <p:sp>
        <p:nvSpPr>
          <p:cNvPr id="11" name="QA07-dp">
            <a:extLst>
              <a:ext uri="{FF2B5EF4-FFF2-40B4-BE49-F238E27FC236}">
                <ns2:creationId id="{03C25808-FC27-4C8A-A231-34C3B3542BC9}"/>
              </a:ext>
            </a:extLst>
          </p:cNvPr>
          <p:cNvSpPr>
            <a:spLocks noGrp="1"/>
          </p:cNvSpPr>
          <p:nvPr/>
        </p:nvSpPr>
        <p:spPr>
          <a:xfrm>
            <a:off x="523875" y="9420225"/>
            <a:ext cx="10572750" cy="323850"/>
          </a:xfrm>
          <a:prstGeom prst="rect">
            <a:avLst/>
          </a:prstGeom>
          <a:noFill/>
          <a:ln w="0">
            <a:noFill/>
          </a:ln>
        </p:spPr>
        <p:txBody>
          <a:bodyPr lIns="0" tIns="0" rIns="0" bIns="0" anchor="ctr">
            <a:noAutofit/>
          </a:bodyPr>
          <a:lstStyle>
            <a:defPPr>
              <a:defRPr sz="1600" b="1" lang="ko-KR">
                <a:solidFill>
                  <a:srgbClr val="000000"/>
                </a:solidFill>
                <a:latin typeface="Calibri"/>
                <a:ea typeface="Calibri"/>
                <a:cs typeface="Calibri"/>
              </a:defRPr>
            </a:defPPr>
          </a:lstStyle>
          <a:p>
            <a:pPr>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DP-44 / DP-42: 양안 모두 비동기 처리가 가능하므로 현재는 동점을 예상한다.</a:t>
            </a:r>
            <a:endParaRPr lang="ko-KR">
              <a:latin typeface="Calibri"/>
              <a:ea typeface="Calibri"/>
              <a:cs typeface="Calibri"/>
            </a:endParaRPr>
          </a:p>
        </p:txBody>
      </p:sp>
      <p:sp>
        <p:nvSpPr>
          <p:cNvPr id="12" name="QA07-scoring-title">
            <a:extLst>
              <a:ext uri="{FF2B5EF4-FFF2-40B4-BE49-F238E27FC236}">
                <ns2:creationId id="{9CC9B28C-42EC-4396-9C8F-5650ACC7B30E}"/>
              </a:ext>
            </a:extLst>
          </p:cNvPr>
          <p:cNvSpPr>
            <a:spLocks noGrp="1"/>
          </p:cNvSpPr>
          <p:nvPr/>
        </p:nvSpPr>
        <p:spPr>
          <a:xfrm>
            <a:off x="11658600" y="3486150"/>
            <a:ext cx="61722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0~6점 평가 기준</a:t>
            </a:r>
            <a:endParaRPr lang="ko-KR">
              <a:latin typeface="Calibri"/>
              <a:ea typeface="Calibri"/>
              <a:cs typeface="Calibri"/>
            </a:endParaRPr>
          </a:p>
        </p:txBody>
      </p:sp>
      <p:graphicFrame>
        <p:nvGraphicFramePr>
          <p:cNvPr id="13" name="QA07-score">
            <a:extLst>
              <a:ext uri="{FF2B5EF4-FFF2-40B4-BE49-F238E27FC236}">
                <ns2:creationId id="{60FC29DE-622A-49EB-B29B-AB0A061AE3E2}"/>
              </a:ext>
            </a:extLst>
          </p:cNvPr>
          <p:cNvGraphicFramePr/>
          <p:nvPr/>
        </p:nvGraphicFramePr>
        <p:xfrm>
          <a:off x="11658600" y="3971925"/>
          <a:ext cx="6172200" cy="4495800"/>
        </p:xfrm>
        <a:graphic>
          <a:graphicData uri="http://schemas.openxmlformats.org/drawingml/2006/table">
            <a:tbl>
              <a:tblPr/>
              <a:tblGrid>
                <a:gridCol w="762000"/>
                <a:gridCol w="1619250"/>
                <a:gridCol w="3790950"/>
              </a:tblGrid>
              <a:tr h="561975">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점수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기호</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기준 (ms)</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6</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 ≤ x ≤ 25ms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5</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25 &lt; x ≤ 50ms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50 &lt; x ≤ 75ms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75 &lt; x ≤ 100ms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100 &lt; x ≤ 150ms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150 &lt; x ≤ 200ms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x &gt; 200ms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14" name="QA07-band">
            <a:extLst>
              <a:ext uri="{FF2B5EF4-FFF2-40B4-BE49-F238E27FC236}">
                <ns2:creationId id="{398AA9A0-AF44-4796-A6B5-2842D23FD36A}"/>
              </a:ext>
            </a:extLst>
          </p:cNvPr>
          <p:cNvSpPr>
            <a:spLocks noGrp="1"/>
          </p:cNvSpPr>
          <p:nvPr/>
        </p:nvSpPr>
        <p:spPr>
          <a:xfrm>
            <a:off x="11658600" y="8734425"/>
            <a:ext cx="6172200" cy="942975"/>
          </a:xfrm>
          <a:prstGeom prst="rect">
            <a:avLst/>
          </a:prstGeom>
          <a:noFill/>
          <a:ln w="0">
            <a:noFill/>
          </a:ln>
        </p:spPr>
        <p:txBody>
          <a:bodyPr lIns="0" tIns="0" rIns="0" bIns="0" anchor="ctr">
            <a:noAutofit/>
          </a:bodyPr>
          <a:lstStyle>
            <a:defPPr>
              <a:defRPr sz="1800" b="0" lang="ko-KR">
                <a:solidFill>
                  <a:srgbClr val="000000"/>
                </a:solidFill>
                <a:latin typeface="Calibri"/>
                <a:ea typeface="Calibri"/>
                <a:cs typeface="Calibri"/>
              </a:defRPr>
            </a:defPPr>
          </a:lstStyle>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200ms는 간섭 예산 제안</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200~100ms는 50ms 간격</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100ms 이하는 25ms 간격</a:t>
            </a:r>
            <a:endParaRPr lang="ko-KR">
              <a:latin typeface="Calibri"/>
              <a:ea typeface="Calibri"/>
              <a:cs typeface="Calibri"/>
            </a:endParaRPr>
          </a:p>
        </p:txBody>
      </p:sp>
      <p:sp>
        <p:nvSpPr>
          <p:cNvPr id="15" name="QA07-source">
            <a:extLst>
              <a:ext uri="{FF2B5EF4-FFF2-40B4-BE49-F238E27FC236}">
                <ns2:creationId id="{ED564CD3-2C1B-4248-BFFD-3AE48ED9E17B}"/>
              </a:ext>
            </a:extLst>
          </p:cNvPr>
          <p:cNvSpPr>
            <a:spLocks noGrp="1"/>
          </p:cNvSpPr>
          <p:nvPr/>
        </p:nvSpPr>
        <p:spPr>
          <a:xfrm>
            <a:off x="523875" y="9820275"/>
            <a:ext cx="17287875" cy="266700"/>
          </a:xfrm>
          <a:prstGeom prst="rect">
            <a:avLst/>
          </a:prstGeom>
          <a:noFill/>
          <a:ln w="0">
            <a:noFill/>
          </a:ln>
        </p:spPr>
        <p:txBody>
          <a:bodyPr lIns="0" tIns="0" rIns="0" bIns="0" anchor="ctr">
            <a:noAutofit/>
          </a:bodyPr>
          <a:lstStyle>
            <a:defPPr>
              <a:defRPr sz="1300" b="0" lang="ko-KR">
                <a:solidFill>
                  <a:srgbClr val="000000"/>
                </a:solidFill>
                <a:latin typeface="Calibri"/>
                <a:ea typeface="Calibri"/>
                <a:cs typeface="Calibri"/>
              </a:defRPr>
            </a:defPPr>
          </a:lstStyle>
          <a:p>
            <a:pPr>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근거: QA01에서 분리한 설계 예산 제안. 200ms는 외부 연구가 정한 보편적 임계값이 아니다.  예시는 계산 설명용.</a:t>
            </a:r>
            <a:endParaRPr lang="ko-KR">
              <a:latin typeface="Calibri"/>
              <a:ea typeface="Calibri"/>
              <a:cs typeface="Calibri"/>
            </a:endParaRPr>
          </a:p>
        </p:txBody>
      </p:sp>
      <p:sp>
        <p:nvSpPr>
          <p:cNvPr id="16" name="v6-header-title">
            <a:extLst>
              <a:ext uri="{FF2B5EF4-FFF2-40B4-BE49-F238E27FC236}">
                <ns2:creationId id="{38B25BA3-074F-4B19-AFE7-F1D1DBCA348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QA07  부하 추가 지연</a:t>
            </a:r>
            <a:endParaRPr lang="ko-KR">
              <a:latin typeface="Calibri"/>
              <a:ea typeface="Calibri"/>
              <a:cs typeface="Calibri"/>
            </a:endParaRPr>
          </a:p>
        </p:txBody>
      </p:sp>
      <p:sp>
        <p:nvSpPr>
          <p:cNvPr id="17" name="v6-header-rule">
            <a:extLst>
              <a:ext uri="{FF2B5EF4-FFF2-40B4-BE49-F238E27FC236}">
                <ns2:creationId id="{94BDD528-2FE8-4856-A625-FEEE5C0B6C26}"/>
              </a:ext>
            </a:extLst>
          </p:cNvPr>
          <p:cNvSpPr>
            <a:spLocks noGrp="1"/>
          </p:cNvSpPr>
          <p:nvPr/>
        </p:nvSpPr>
        <p:spPr>
          <a:xfrm>
            <a:off x="495300" y="990600"/>
            <a:ext cx="17335500" cy="0"/>
          </a:xfrm>
          <a:prstGeom prst="line">
            <a:avLst/>
          </a:prstGeom>
          <a:noFill/>
          <a:ln w="19050">
            <a:solidFill>
              <a:srgbClr val="A6A6A6"/>
            </a:solidFill>
          </a:ln>
        </p:spPr>
      </p:sp>
      <p:sp>
        <p:nvSpPr>
          <p:cNvPr id="18" name="v6-header-stage-0">
            <a:extLst>
              <a:ext uri="{FF2B5EF4-FFF2-40B4-BE49-F238E27FC236}">
                <ns2:creationId id="{15ACD682-D9EA-4A98-9DB7-FEA4DB724E6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9" name="v6-header-stage-1">
            <a:extLst>
              <a:ext uri="{FF2B5EF4-FFF2-40B4-BE49-F238E27FC236}">
                <ns2:creationId id="{F0E3C194-B97F-45F7-8CC7-23DFCB7D5E3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0" name="v6-header-stage-2">
            <a:extLst>
              <a:ext uri="{FF2B5EF4-FFF2-40B4-BE49-F238E27FC236}">
                <ns2:creationId id="{A35FCADB-AB0E-467D-99C6-DBA30A0D921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1" name="v6-header-stage-3">
            <a:extLst>
              <a:ext uri="{FF2B5EF4-FFF2-40B4-BE49-F238E27FC236}">
                <ns2:creationId id="{656794DF-C71A-4EB7-975B-62B482030F2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2" name="v6-header-stage-4">
            <a:extLst>
              <a:ext uri="{FF2B5EF4-FFF2-40B4-BE49-F238E27FC236}">
                <ns2:creationId id="{2F66320E-61A8-4D7F-A54A-E49FACC8F87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3" name="v6-header-page">
            <a:extLst>
              <a:ext uri="{FF2B5EF4-FFF2-40B4-BE49-F238E27FC236}">
                <ns2:creationId id="{C15EFB4C-462E-4392-B6EA-5F61365C4BC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31 / 33</a:t>
            </a:r>
            <a:endParaRPr lang="ko-KR">
              <a:latin typeface="Calibri"/>
              <a:ea typeface="Calibri"/>
              <a:cs typeface="Calibri"/>
            </a:endParaRPr>
          </a:p>
        </p:txBody>
      </p:sp>
    </p:spTree>
    <p:extLst>
      <p:ext uri="{BB962C8B-B14F-4D97-AF65-F5344CB8AC3E}">
        <p14:creationId val="1014099439"/>
      </p:ext>
    </p:extLst>
  </p:cSld>
</p:sld>
</file>

<file path=ppt/slides/slide71.xml><?xml version="1.0" encoding="utf-8"?>
<p:sld xmlns:a="http://schemas.openxmlformats.org/drawingml/2006/main" xmlns:ns2="http://schemas.microsoft.com/office/drawing/2014/main" xmlns:p="http://schemas.openxmlformats.org/presentationml/2006/main" xmlns:p14="http://schemas.microsoft.com/office/powerpoint/2010/main">
  <p:cSld name="qa08-metric-v11">
    <p:bg>
      <p:bgPr>
        <a:solidFill>
          <a:srgbClr val="FFFFFF"/>
        </a:solidFill>
      </p:bgPr>
    </p:bg>
    <p:spTree>
      <p:nvGrpSpPr>
        <p:cNvPr id="2" name=""/>
        <p:cNvGrpSpPr/>
        <p:nvPr/>
      </p:nvGrpSpPr>
      <p:grpSpPr>
        <a:xfrm/>
      </p:grpSpPr>
      <p:graphicFrame>
        <p:nvGraphicFramePr>
          <p:cNvPr id="3" name="QA08-scenario">
            <a:extLst>
              <a:ext uri="{FF2B5EF4-FFF2-40B4-BE49-F238E27FC236}">
                <ns2:creationId id="{608BE74A-6CD2-4666-8AA3-FB699129CD05}"/>
              </a:ext>
            </a:extLst>
          </p:cNvPr>
          <p:cNvGraphicFramePr/>
          <p:nvPr/>
        </p:nvGraphicFramePr>
        <p:xfrm>
          <a:off x="457200" y="1257300"/>
          <a:ext cx="17373600" cy="2019300"/>
        </p:xfrm>
        <a:graphic>
          <a:graphicData uri="http://schemas.openxmlformats.org/drawingml/2006/table">
            <a:tbl>
              <a:tblPr/>
              <a:tblGrid>
                <a:gridCol w="2190750"/>
                <a:gridCol w="2762250"/>
                <a:gridCol w="12420600"/>
              </a:tblGrid>
              <a:tr h="419100">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분류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Title</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Scenario</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1600200">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Maintainability</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병행 수정 중복</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독립적인 두 기능 변경을 병행할 때 양쪽에서 함께 수정해야 하는 모듈의 범위를 작게 유지해야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[변경 쌍당 평균 공통 수정 모듈 수 ≤ 1개]</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QA04의 같은 변경 6건으로 구성한 독립 6쌍 / 수정 모듈 교집합</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공통 계약 / 연결부의 조정을 변경 쌍당 평균 1개로 제한하는 협업 예산 제안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4" name="QA08-rationale-label">
            <a:extLst>
              <a:ext uri="{FF2B5EF4-FFF2-40B4-BE49-F238E27FC236}">
                <ns2:creationId id="{401AB7B2-D549-4033-BDBB-1EAFB5528BBF}"/>
              </a:ext>
            </a:extLst>
          </p:cNvPr>
          <p:cNvSpPr>
            <a:spLocks noGrp="1"/>
          </p:cNvSpPr>
          <p:nvPr/>
        </p:nvSpPr>
        <p:spPr>
          <a:xfrm>
            <a:off x="523875" y="3486150"/>
            <a:ext cx="104775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목표 수치의 근거</a:t>
            </a:r>
            <a:endParaRPr lang="ko-KR">
              <a:latin typeface="Calibri"/>
              <a:ea typeface="Calibri"/>
              <a:cs typeface="Calibri"/>
            </a:endParaRPr>
          </a:p>
        </p:txBody>
      </p:sp>
      <p:sp>
        <p:nvSpPr>
          <p:cNvPr id="5" name="QA08-rationale">
            <a:extLst>
              <a:ext uri="{FF2B5EF4-FFF2-40B4-BE49-F238E27FC236}">
                <ns2:creationId id="{967AE468-71DD-4D50-9B51-1B07F1CC4175}"/>
              </a:ext>
            </a:extLst>
          </p:cNvPr>
          <p:cNvSpPr>
            <a:spLocks noGrp="1"/>
          </p:cNvSpPr>
          <p:nvPr/>
        </p:nvSpPr>
        <p:spPr>
          <a:xfrm>
            <a:off x="523875" y="3905250"/>
            <a:ext cx="10572750" cy="1085850"/>
          </a:xfrm>
          <a:prstGeom prst="rect">
            <a:avLst/>
          </a:prstGeom>
          <a:noFill/>
          <a:ln w="0">
            <a:noFill/>
          </a:ln>
        </p:spPr>
        <p:txBody>
          <a:bodyPr lIns="0" tIns="0" rIns="0" bIns="0" anchor="ctr">
            <a:noAutofit/>
          </a:bodyPr>
          <a:lstStyle>
            <a:defPPr>
              <a:defRPr sz="2000" b="0" lang="ko-KR">
                <a:solidFill>
                  <a:srgbClr val="000000"/>
                </a:solidFill>
                <a:latin typeface="Calibri"/>
                <a:ea typeface="Calibri"/>
                <a:cs typeface="Calibri"/>
              </a:defRPr>
            </a:defPPr>
          </a:lstStyle>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독립 변경을 병행할 때 공통 수정 영역을 평균 한 모듈 이내로</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제한하는 협업 예산이다. AI 코딩 병행 개발의 조율 부담을 다룬다.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QA04의 한 변경 범위와 달리 두 변경이 함께 수정하는 영역을 센다.</a:t>
            </a:r>
            <a:endParaRPr lang="ko-KR">
              <a:latin typeface="Calibri"/>
              <a:ea typeface="Calibri"/>
              <a:cs typeface="Calibri"/>
            </a:endParaRPr>
          </a:p>
        </p:txBody>
      </p:sp>
      <p:sp>
        <p:nvSpPr>
          <p:cNvPr id="6" name="QA08-metric-label">
            <a:extLst>
              <a:ext uri="{FF2B5EF4-FFF2-40B4-BE49-F238E27FC236}">
                <ns2:creationId id="{D08CC2E9-63D1-49C6-A7BC-DDC65DD5C11A}"/>
              </a:ext>
            </a:extLst>
          </p:cNvPr>
          <p:cNvSpPr>
            <a:spLocks noGrp="1"/>
          </p:cNvSpPr>
          <p:nvPr/>
        </p:nvSpPr>
        <p:spPr>
          <a:xfrm>
            <a:off x="523875" y="5114925"/>
            <a:ext cx="1057275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측정 지표와 계산 예시</a:t>
            </a:r>
            <a:endParaRPr lang="ko-KR">
              <a:latin typeface="Calibri"/>
              <a:ea typeface="Calibri"/>
              <a:cs typeface="Calibri"/>
            </a:endParaRPr>
          </a:p>
        </p:txBody>
      </p:sp>
      <p:sp>
        <p:nvSpPr>
          <p:cNvPr id="7" name="QA08-formula">
            <a:extLst>
              <a:ext uri="{FF2B5EF4-FFF2-40B4-BE49-F238E27FC236}">
                <ns2:creationId id="{84620FAA-711C-43B8-B855-F668F580B511}"/>
              </a:ext>
            </a:extLst>
          </p:cNvPr>
          <p:cNvSpPr>
            <a:spLocks noGrp="1"/>
          </p:cNvSpPr>
          <p:nvPr/>
        </p:nvSpPr>
        <p:spPr>
          <a:xfrm>
            <a:off x="523875" y="5534025"/>
            <a:ext cx="10572750" cy="68580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x = 6개 변경 쌍의 공통 수정 Rust 모듈 수 합계 / 6</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같은 시작 코드에서 독립한 두 변경의 모듈 집합 교집합</a:t>
            </a:r>
            <a:endParaRPr lang="ko-KR">
              <a:latin typeface="Calibri"/>
              <a:ea typeface="Calibri"/>
              <a:cs typeface="Calibri"/>
            </a:endParaRPr>
          </a:p>
        </p:txBody>
      </p:sp>
      <p:graphicFrame>
        <p:nvGraphicFramePr>
          <p:cNvPr id="8" name="QA08-example">
            <a:extLst>
              <a:ext uri="{FF2B5EF4-FFF2-40B4-BE49-F238E27FC236}">
                <ns2:creationId id="{5A34398C-1F75-4F28-AF9A-B1F780EC6016}"/>
              </a:ext>
            </a:extLst>
          </p:cNvPr>
          <p:cNvGraphicFramePr/>
          <p:nvPr/>
        </p:nvGraphicFramePr>
        <p:xfrm>
          <a:off x="523875" y="6372225"/>
          <a:ext cx="10572750" cy="857250"/>
        </p:xfrm>
        <a:graphic>
          <a:graphicData uri="http://schemas.openxmlformats.org/drawingml/2006/table">
            <a:tbl>
              <a:tblPr/>
              <a:tblGrid>
                <a:gridCol w="2286000"/>
                <a:gridCol w="1381125"/>
                <a:gridCol w="1381125"/>
                <a:gridCol w="1381125"/>
                <a:gridCol w="1381125"/>
                <a:gridCol w="1381125"/>
                <a:gridCol w="1381125"/>
              </a:tblGrid>
              <a:tr h="419100">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변경 쌍</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5</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6</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공통 모듈 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9" name="QA08-example-result">
            <a:extLst>
              <a:ext uri="{FF2B5EF4-FFF2-40B4-BE49-F238E27FC236}">
                <ns2:creationId id="{5124FD26-CE1E-4B31-AC4A-9CB784A059B2}"/>
              </a:ext>
            </a:extLst>
          </p:cNvPr>
          <p:cNvSpPr>
            <a:spLocks noGrp="1"/>
          </p:cNvSpPr>
          <p:nvPr/>
        </p:nvSpPr>
        <p:spPr>
          <a:xfrm>
            <a:off x="523875" y="7877175"/>
            <a:ext cx="10572750" cy="74295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(1 + 0 + 1 + 0 + 0 + 1) / 6 = 0.5개 = 3점</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실제 Git 충돌 횟수나 개발시간 절감률을 뜻하지 않는다.</a:t>
            </a:r>
            <a:endParaRPr lang="ko-KR">
              <a:latin typeface="Calibri"/>
              <a:ea typeface="Calibri"/>
              <a:cs typeface="Calibri"/>
            </a:endParaRPr>
          </a:p>
        </p:txBody>
      </p:sp>
      <p:sp>
        <p:nvSpPr>
          <p:cNvPr id="10" name="QA08-guard">
            <a:extLst>
              <a:ext uri="{FF2B5EF4-FFF2-40B4-BE49-F238E27FC236}">
                <ns2:creationId id="{35F7763E-0242-4E5E-8054-1A8B6086E853}"/>
              </a:ext>
            </a:extLst>
          </p:cNvPr>
          <p:cNvSpPr>
            <a:spLocks noGrp="1"/>
          </p:cNvSpPr>
          <p:nvPr/>
        </p:nvSpPr>
        <p:spPr>
          <a:xfrm>
            <a:off x="523875" y="8696325"/>
            <a:ext cx="10572750" cy="628650"/>
          </a:xfrm>
          <a:prstGeom prst="rect">
            <a:avLst/>
          </a:prstGeom>
          <a:noFill/>
          <a:ln w="0">
            <a:noFill/>
          </a:ln>
        </p:spPr>
        <p:txBody>
          <a:bodyPr lIns="0" tIns="0" rIns="0" bIns="0" anchor="ctr">
            <a:noAutofit/>
          </a:bodyPr>
          <a:lstStyle>
            <a:defPPr>
              <a:defRPr sz="1700" b="0" lang="ko-KR">
                <a:solidFill>
                  <a:srgbClr val="000000"/>
                </a:solidFill>
                <a:latin typeface="Calibri"/>
                <a:ea typeface="Calibri"/>
                <a:cs typeface="Calibri"/>
              </a:defRPr>
            </a:defP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QA04의 같은 C01~06으로 사전 지정한 6쌍을 평가한다. 변경 미완료를 공통 수정 0개로 세지 않는다.</a:t>
            </a:r>
            <a:endParaRPr lang="ko-KR">
              <a:latin typeface="Calibri"/>
              <a:ea typeface="Calibri"/>
              <a:cs typeface="Calibri"/>
            </a:endParaRPr>
          </a:p>
        </p:txBody>
      </p:sp>
      <p:sp>
        <p:nvSpPr>
          <p:cNvPr id="11" name="QA08-dp">
            <a:extLst>
              <a:ext uri="{FF2B5EF4-FFF2-40B4-BE49-F238E27FC236}">
                <ns2:creationId id="{0E827C94-8687-42CF-8B8E-546E61CFECCE}"/>
              </a:ext>
            </a:extLst>
          </p:cNvPr>
          <p:cNvSpPr>
            <a:spLocks noGrp="1"/>
          </p:cNvSpPr>
          <p:nvPr/>
        </p:nvSpPr>
        <p:spPr>
          <a:xfrm>
            <a:off x="523875" y="9420225"/>
            <a:ext cx="10572750" cy="323850"/>
          </a:xfrm>
          <a:prstGeom prst="rect">
            <a:avLst/>
          </a:prstGeom>
          <a:noFill/>
          <a:ln w="0">
            <a:noFill/>
          </a:ln>
        </p:spPr>
        <p:txBody>
          <a:bodyPr lIns="0" tIns="0" rIns="0" bIns="0" anchor="ctr">
            <a:noAutofit/>
          </a:bodyPr>
          <a:lstStyle>
            <a:defPPr>
              <a:defRPr sz="1600" b="1" lang="ko-KR">
                <a:solidFill>
                  <a:srgbClr val="000000"/>
                </a:solidFill>
                <a:latin typeface="Calibri"/>
                <a:ea typeface="Calibri"/>
                <a:cs typeface="Calibri"/>
              </a:defRPr>
            </a:defPPr>
          </a:lstStyle>
          <a:p>
            <a:pPr>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DP-45 가설: A는 요청별 가공을 모아 공통 생산과 조회의 동시 수정이 적다.</a:t>
            </a:r>
            <a:endParaRPr lang="ko-KR">
              <a:latin typeface="Calibri"/>
              <a:ea typeface="Calibri"/>
              <a:cs typeface="Calibri"/>
            </a:endParaRPr>
          </a:p>
        </p:txBody>
      </p:sp>
      <p:sp>
        <p:nvSpPr>
          <p:cNvPr id="12" name="QA08-scoring-title">
            <a:extLst>
              <a:ext uri="{FF2B5EF4-FFF2-40B4-BE49-F238E27FC236}">
                <ns2:creationId id="{A4544194-AB71-4134-A0C1-B9E95628B34F}"/>
              </a:ext>
            </a:extLst>
          </p:cNvPr>
          <p:cNvSpPr>
            <a:spLocks noGrp="1"/>
          </p:cNvSpPr>
          <p:nvPr/>
        </p:nvSpPr>
        <p:spPr>
          <a:xfrm>
            <a:off x="11658600" y="3486150"/>
            <a:ext cx="61722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0~6점 평가 기준</a:t>
            </a:r>
            <a:endParaRPr lang="ko-KR">
              <a:latin typeface="Calibri"/>
              <a:ea typeface="Calibri"/>
              <a:cs typeface="Calibri"/>
            </a:endParaRPr>
          </a:p>
        </p:txBody>
      </p:sp>
      <p:graphicFrame>
        <p:nvGraphicFramePr>
          <p:cNvPr id="13" name="QA08-score">
            <a:extLst>
              <a:ext uri="{FF2B5EF4-FFF2-40B4-BE49-F238E27FC236}">
                <ns2:creationId id="{07ABDEC7-679E-43C0-90B3-75FD60A47F76}"/>
              </a:ext>
            </a:extLst>
          </p:cNvPr>
          <p:cNvGraphicFramePr/>
          <p:nvPr/>
        </p:nvGraphicFramePr>
        <p:xfrm>
          <a:off x="11658600" y="3971925"/>
          <a:ext cx="6172200" cy="4495800"/>
        </p:xfrm>
        <a:graphic>
          <a:graphicData uri="http://schemas.openxmlformats.org/drawingml/2006/table">
            <a:tbl>
              <a:tblPr/>
              <a:tblGrid>
                <a:gridCol w="762000"/>
                <a:gridCol w="1619250"/>
                <a:gridCol w="3790950"/>
              </a:tblGrid>
              <a:tr h="561975">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점수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기호</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기준 (모듈)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6</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x = 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5</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 &lt; x ≤ 1/6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1/6 &lt; x ≤ 2/6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2/6 &lt; x ≤ 3/6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3/6 &lt; x ≤ 4/6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4/6 &lt; x ≤ 1</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x &gt; 1</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14" name="QA08-band">
            <a:extLst>
              <a:ext uri="{FF2B5EF4-FFF2-40B4-BE49-F238E27FC236}">
                <ns2:creationId id="{2651619D-4343-4E15-97CC-5686E46B728E}"/>
              </a:ext>
            </a:extLst>
          </p:cNvPr>
          <p:cNvSpPr>
            <a:spLocks noGrp="1"/>
          </p:cNvSpPr>
          <p:nvPr/>
        </p:nvSpPr>
        <p:spPr>
          <a:xfrm>
            <a:off x="11658600" y="8734425"/>
            <a:ext cx="6172200" cy="942975"/>
          </a:xfrm>
          <a:prstGeom prst="rect">
            <a:avLst/>
          </a:prstGeom>
          <a:noFill/>
          <a:ln w="0">
            <a:noFill/>
          </a:ln>
        </p:spPr>
        <p:txBody>
          <a:bodyPr lIns="0" tIns="0" rIns="0" bIns="0" anchor="ctr">
            <a:noAutofit/>
          </a:bodyPr>
          <a:lstStyle>
            <a:defPPr>
              <a:defRPr sz="1800" b="0" lang="ko-KR">
                <a:solidFill>
                  <a:srgbClr val="000000"/>
                </a:solidFill>
                <a:latin typeface="Calibri"/>
                <a:ea typeface="Calibri"/>
                <a:cs typeface="Calibri"/>
              </a:defRPr>
            </a:defPPr>
          </a:lstStyle>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1개/쌍은 협업 예산 제안</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중복 0개는 6점</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6쌍의 계수 해상도인 1/6개로 구분</a:t>
            </a:r>
            <a:endParaRPr lang="ko-KR">
              <a:latin typeface="Calibri"/>
              <a:ea typeface="Calibri"/>
              <a:cs typeface="Calibri"/>
            </a:endParaRPr>
          </a:p>
        </p:txBody>
      </p:sp>
      <p:sp>
        <p:nvSpPr>
          <p:cNvPr id="15" name="QA08-source">
            <a:extLst>
              <a:ext uri="{FF2B5EF4-FFF2-40B4-BE49-F238E27FC236}">
                <ns2:creationId id="{5BAA8491-CC2E-4161-B446-A2F82FF554F0}"/>
              </a:ext>
            </a:extLst>
          </p:cNvPr>
          <p:cNvSpPr>
            <a:spLocks noGrp="1"/>
          </p:cNvSpPr>
          <p:nvPr/>
        </p:nvSpPr>
        <p:spPr>
          <a:xfrm>
            <a:off x="523875" y="9820275"/>
            <a:ext cx="17287875" cy="266700"/>
          </a:xfrm>
          <a:prstGeom prst="rect">
            <a:avLst/>
          </a:prstGeom>
          <a:noFill/>
          <a:ln w="0">
            <a:noFill/>
          </a:ln>
        </p:spPr>
        <p:txBody>
          <a:bodyPr lIns="0" tIns="0" rIns="0" bIns="0" anchor="ctr">
            <a:noAutofit/>
          </a:bodyPr>
          <a:lstStyle>
            <a:defPPr>
              <a:defRPr sz="1300" b="0" lang="ko-KR">
                <a:solidFill>
                  <a:srgbClr val="000000"/>
                </a:solidFill>
                <a:latin typeface="Calibri"/>
                <a:ea typeface="Calibri"/>
                <a:cs typeface="Calibri"/>
              </a:defRPr>
            </a:defPPr>
          </a:lstStyle>
          <a:p>
            <a:pPr>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근거: 사용자 제기 AI 코딩 병행 수정 부담과 Rust 모듈 정의. 평균 1개는 실제 팀 합의가 아닌 협업 예산 제안이다.  예시는 계산 설명용.</a:t>
            </a:r>
            <a:endParaRPr lang="ko-KR">
              <a:latin typeface="Calibri"/>
              <a:ea typeface="Calibri"/>
              <a:cs typeface="Calibri"/>
            </a:endParaRPr>
          </a:p>
        </p:txBody>
      </p:sp>
      <p:sp>
        <p:nvSpPr>
          <p:cNvPr id="16" name="v6-header-title">
            <a:extLst>
              <a:ext uri="{FF2B5EF4-FFF2-40B4-BE49-F238E27FC236}">
                <ns2:creationId id="{38B25BA3-074F-4B19-AFE7-F1D1DBCA348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QA08  병행 수정 중복</a:t>
            </a:r>
            <a:endParaRPr lang="ko-KR">
              <a:latin typeface="Calibri"/>
              <a:ea typeface="Calibri"/>
              <a:cs typeface="Calibri"/>
            </a:endParaRPr>
          </a:p>
        </p:txBody>
      </p:sp>
      <p:sp>
        <p:nvSpPr>
          <p:cNvPr id="17" name="v6-header-rule">
            <a:extLst>
              <a:ext uri="{FF2B5EF4-FFF2-40B4-BE49-F238E27FC236}">
                <ns2:creationId id="{94BDD528-2FE8-4856-A625-FEEE5C0B6C26}"/>
              </a:ext>
            </a:extLst>
          </p:cNvPr>
          <p:cNvSpPr>
            <a:spLocks noGrp="1"/>
          </p:cNvSpPr>
          <p:nvPr/>
        </p:nvSpPr>
        <p:spPr>
          <a:xfrm>
            <a:off x="495300" y="990600"/>
            <a:ext cx="17335500" cy="0"/>
          </a:xfrm>
          <a:prstGeom prst="line">
            <a:avLst/>
          </a:prstGeom>
          <a:noFill/>
          <a:ln w="19050">
            <a:solidFill>
              <a:srgbClr val="A6A6A6"/>
            </a:solidFill>
          </a:ln>
        </p:spPr>
      </p:sp>
      <p:sp>
        <p:nvSpPr>
          <p:cNvPr id="18" name="v6-header-stage-0">
            <a:extLst>
              <a:ext uri="{FF2B5EF4-FFF2-40B4-BE49-F238E27FC236}">
                <ns2:creationId id="{15ACD682-D9EA-4A98-9DB7-FEA4DB724E6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9" name="v6-header-stage-1">
            <a:extLst>
              <a:ext uri="{FF2B5EF4-FFF2-40B4-BE49-F238E27FC236}">
                <ns2:creationId id="{F0E3C194-B97F-45F7-8CC7-23DFCB7D5E3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0" name="v6-header-stage-2">
            <a:extLst>
              <a:ext uri="{FF2B5EF4-FFF2-40B4-BE49-F238E27FC236}">
                <ns2:creationId id="{A35FCADB-AB0E-467D-99C6-DBA30A0D921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1" name="v6-header-stage-3">
            <a:extLst>
              <a:ext uri="{FF2B5EF4-FFF2-40B4-BE49-F238E27FC236}">
                <ns2:creationId id="{656794DF-C71A-4EB7-975B-62B482030F2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2" name="v6-header-stage-4">
            <a:extLst>
              <a:ext uri="{FF2B5EF4-FFF2-40B4-BE49-F238E27FC236}">
                <ns2:creationId id="{2F66320E-61A8-4D7F-A54A-E49FACC8F87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3" name="v6-header-page">
            <a:extLst>
              <a:ext uri="{FF2B5EF4-FFF2-40B4-BE49-F238E27FC236}">
                <ns2:creationId id="{C15EFB4C-462E-4392-B6EA-5F61365C4BC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32 / 33</a:t>
            </a:r>
            <a:endParaRPr lang="ko-KR">
              <a:latin typeface="Calibri"/>
              <a:ea typeface="Calibri"/>
              <a:cs typeface="Calibri"/>
            </a:endParaRPr>
          </a:p>
        </p:txBody>
      </p:sp>
    </p:spTree>
    <p:extLst>
      <p:ext uri="{BB962C8B-B14F-4D97-AF65-F5344CB8AC3E}">
        <p14:creationId val="1953522904"/>
      </p:ext>
    </p:extLst>
  </p:cSld>
</p:sld>
</file>

<file path=ppt/slides/slide72.xml><?xml version="1.0" encoding="utf-8"?>
<p:sld xmlns:a="http://schemas.openxmlformats.org/drawingml/2006/main" xmlns:ns2="http://schemas.microsoft.com/office/drawing/2014/main" xmlns:p="http://schemas.openxmlformats.org/presentationml/2006/main" xmlns:p14="http://schemas.microsoft.com/office/powerpoint/2010/main">
  <p:cSld name="qa09-metric-v11">
    <p:bg>
      <p:bgPr>
        <a:solidFill>
          <a:srgbClr val="FFFFFF"/>
        </a:solidFill>
      </p:bgPr>
    </p:bg>
    <p:spTree>
      <p:nvGrpSpPr>
        <p:cNvPr id="2" name=""/>
        <p:cNvGrpSpPr/>
        <p:nvPr/>
      </p:nvGrpSpPr>
      <p:grpSpPr>
        <a:xfrm/>
      </p:grpSpPr>
      <p:graphicFrame>
        <p:nvGraphicFramePr>
          <p:cNvPr id="3" name="QA09-scenario">
            <a:extLst>
              <a:ext uri="{FF2B5EF4-FFF2-40B4-BE49-F238E27FC236}">
                <ns2:creationId id="{FE713704-7D9C-44C3-8FA2-711A21AFA31E}"/>
              </a:ext>
            </a:extLst>
          </p:cNvPr>
          <p:cNvGraphicFramePr/>
          <p:nvPr/>
        </p:nvGraphicFramePr>
        <p:xfrm>
          <a:off x="457200" y="1257300"/>
          <a:ext cx="17373600" cy="2019300"/>
        </p:xfrm>
        <a:graphic>
          <a:graphicData uri="http://schemas.openxmlformats.org/drawingml/2006/table">
            <a:tbl>
              <a:tblPr/>
              <a:tblGrid>
                <a:gridCol w="2190750"/>
                <a:gridCol w="2762250"/>
                <a:gridCol w="12420600"/>
              </a:tblGrid>
              <a:tr h="419100">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분류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Title</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Scenario</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1600200">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Performance</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음성 전달 지연</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채택한 응답의 음성 요약을 사용자가 들을 수 있는 시간에 신속하게 전달해야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[평균 음성 전달 지연 ≤ 500ms]</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28개 중 의무 음성 109건 × 5회 / 채택 → 실제 재생의 가능 시간</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요약 준비 200ms + 첫 음성 생성 200ms + 출력 100ms = 전달 예산 제안 500ms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4" name="QA09-rationale-label">
            <a:extLst>
              <a:ext uri="{FF2B5EF4-FFF2-40B4-BE49-F238E27FC236}">
                <ns2:creationId id="{F8B4FB5E-D4C7-40EE-8FEF-AE3BDC74A731}"/>
              </a:ext>
            </a:extLst>
          </p:cNvPr>
          <p:cNvSpPr>
            <a:spLocks noGrp="1"/>
          </p:cNvSpPr>
          <p:nvPr/>
        </p:nvSpPr>
        <p:spPr>
          <a:xfrm>
            <a:off x="523875" y="3486150"/>
            <a:ext cx="104775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목표 수치의 근거</a:t>
            </a:r>
            <a:endParaRPr lang="ko-KR">
              <a:latin typeface="Calibri"/>
              <a:ea typeface="Calibri"/>
              <a:cs typeface="Calibri"/>
            </a:endParaRPr>
          </a:p>
        </p:txBody>
      </p:sp>
      <p:sp>
        <p:nvSpPr>
          <p:cNvPr id="5" name="QA09-rationale">
            <a:extLst>
              <a:ext uri="{FF2B5EF4-FFF2-40B4-BE49-F238E27FC236}">
                <ns2:creationId id="{36F30697-B452-4652-8F32-A69933CE3E64}"/>
              </a:ext>
            </a:extLst>
          </p:cNvPr>
          <p:cNvSpPr>
            <a:spLocks noGrp="1"/>
          </p:cNvSpPr>
          <p:nvPr/>
        </p:nvSpPr>
        <p:spPr>
          <a:xfrm>
            <a:off x="523875" y="3905250"/>
            <a:ext cx="10572750" cy="1085850"/>
          </a:xfrm>
          <a:prstGeom prst="rect">
            <a:avLst/>
          </a:prstGeom>
          <a:noFill/>
          <a:ln w="0">
            <a:noFill/>
          </a:ln>
        </p:spPr>
        <p:txBody>
          <a:bodyPr lIns="0" tIns="0" rIns="0" bIns="0" anchor="ctr">
            <a:noAutofit/>
          </a:bodyPr>
          <a:lstStyle>
            <a:defPPr>
              <a:defRPr sz="2000" b="0" lang="ko-KR">
                <a:solidFill>
                  <a:srgbClr val="000000"/>
                </a:solidFill>
                <a:latin typeface="Calibri"/>
                <a:ea typeface="Calibri"/>
                <a:cs typeface="Calibri"/>
              </a:defRPr>
            </a:defPPr>
          </a:lstStyle>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상세 텍스트를 먼저 보여주고 음성은 사용자가 들을 수 있을 때 전달한다.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요약 200ms + 첫 음성 생성 200ms + 출력 100ms</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합계 500ms를 추가 음성 전달의 설계 예산으로 둔다.</a:t>
            </a:r>
            <a:endParaRPr lang="ko-KR">
              <a:latin typeface="Calibri"/>
              <a:ea typeface="Calibri"/>
              <a:cs typeface="Calibri"/>
            </a:endParaRPr>
          </a:p>
        </p:txBody>
      </p:sp>
      <p:sp>
        <p:nvSpPr>
          <p:cNvPr id="6" name="QA09-metric-label">
            <a:extLst>
              <a:ext uri="{FF2B5EF4-FFF2-40B4-BE49-F238E27FC236}">
                <ns2:creationId id="{4DA81EFD-1360-444C-9914-347A8A811658}"/>
              </a:ext>
            </a:extLst>
          </p:cNvPr>
          <p:cNvSpPr>
            <a:spLocks noGrp="1"/>
          </p:cNvSpPr>
          <p:nvPr/>
        </p:nvSpPr>
        <p:spPr>
          <a:xfrm>
            <a:off x="523875" y="5114925"/>
            <a:ext cx="1057275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측정 지표와 계산 예시</a:t>
            </a:r>
            <a:endParaRPr lang="ko-KR">
              <a:latin typeface="Calibri"/>
              <a:ea typeface="Calibri"/>
              <a:cs typeface="Calibri"/>
            </a:endParaRPr>
          </a:p>
        </p:txBody>
      </p:sp>
      <p:sp>
        <p:nvSpPr>
          <p:cNvPr id="7" name="QA09-formula">
            <a:extLst>
              <a:ext uri="{FF2B5EF4-FFF2-40B4-BE49-F238E27FC236}">
                <ns2:creationId id="{8FFF22AE-9A75-47C1-BB1C-14F4071B52A4}"/>
              </a:ext>
            </a:extLst>
          </p:cNvPr>
          <p:cNvSpPr>
            <a:spLocks noGrp="1"/>
          </p:cNvSpPr>
          <p:nvPr/>
        </p:nvSpPr>
        <p:spPr>
          <a:xfrm>
            <a:off x="523875" y="5534025"/>
            <a:ext cx="10572750" cy="68580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x = 545개 음성의 재생 가능 시간 누적값 평균</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응답 내용 채택부터 실제 첫 요약 음성까지 관측</a:t>
            </a:r>
            <a:endParaRPr lang="ko-KR">
              <a:latin typeface="Calibri"/>
              <a:ea typeface="Calibri"/>
              <a:cs typeface="Calibri"/>
            </a:endParaRPr>
          </a:p>
        </p:txBody>
      </p:sp>
      <p:graphicFrame>
        <p:nvGraphicFramePr>
          <p:cNvPr id="8" name="QA09-example">
            <a:extLst>
              <a:ext uri="{FF2B5EF4-FFF2-40B4-BE49-F238E27FC236}">
                <ns2:creationId id="{7BB66FFF-827F-4FBB-8A52-5F57A841A86E}"/>
              </a:ext>
            </a:extLst>
          </p:cNvPr>
          <p:cNvGraphicFramePr/>
          <p:nvPr/>
        </p:nvGraphicFramePr>
        <p:xfrm>
          <a:off x="523875" y="6372225"/>
          <a:ext cx="10572750" cy="857250"/>
        </p:xfrm>
        <a:graphic>
          <a:graphicData uri="http://schemas.openxmlformats.org/drawingml/2006/table">
            <a:tbl>
              <a:tblPr/>
              <a:tblGrid>
                <a:gridCol w="1428750"/>
                <a:gridCol w="2286000"/>
                <a:gridCol w="2286000"/>
                <a:gridCol w="2286000"/>
                <a:gridCol w="2286000"/>
              </a:tblGrid>
              <a:tr h="419100">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시각</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0.7초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0.8초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2.0초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2.3초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사건</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내용 채택</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텍스트 표시</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사용자 발화 끝</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음성 시작</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9" name="QA09-example-result">
            <a:extLst>
              <a:ext uri="{FF2B5EF4-FFF2-40B4-BE49-F238E27FC236}">
                <ns2:creationId id="{A6FFD2A2-AC57-4981-BC11-D7BD61D42FAE}"/>
              </a:ext>
            </a:extLst>
          </p:cNvPr>
          <p:cNvSpPr>
            <a:spLocks noGrp="1"/>
          </p:cNvSpPr>
          <p:nvPr/>
        </p:nvSpPr>
        <p:spPr>
          <a:xfrm>
            <a:off x="523875" y="7877175"/>
            <a:ext cx="10572750" cy="74295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0.7~2.0초가 사용자 발화로 차단됐다면 이 사건은 300ms</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모든 사건의 평균도 300ms라면 3점</a:t>
            </a:r>
            <a:endParaRPr lang="ko-KR">
              <a:latin typeface="Calibri"/>
              <a:ea typeface="Calibri"/>
              <a:cs typeface="Calibri"/>
            </a:endParaRPr>
          </a:p>
        </p:txBody>
      </p:sp>
      <p:sp>
        <p:nvSpPr>
          <p:cNvPr id="10" name="QA09-guard">
            <a:extLst>
              <a:ext uri="{FF2B5EF4-FFF2-40B4-BE49-F238E27FC236}">
                <ns2:creationId id="{C1CCF08F-5D44-4AC8-B54D-304C12508304}"/>
              </a:ext>
            </a:extLst>
          </p:cNvPr>
          <p:cNvSpPr>
            <a:spLocks noGrp="1"/>
          </p:cNvSpPr>
          <p:nvPr/>
        </p:nvSpPr>
        <p:spPr>
          <a:xfrm>
            <a:off x="523875" y="8696325"/>
            <a:ext cx="10572750" cy="628650"/>
          </a:xfrm>
          <a:prstGeom prst="rect">
            <a:avLst/>
          </a:prstGeom>
          <a:noFill/>
          <a:ln w="0">
            <a:noFill/>
          </a:ln>
        </p:spPr>
        <p:txBody>
          <a:bodyPr lIns="0" tIns="0" rIns="0" bIns="0" anchor="ctr">
            <a:noAutofit/>
          </a:bodyPr>
          <a:lstStyle>
            <a:defPPr>
              <a:defRPr sz="1700" b="0" lang="ko-KR">
                <a:solidFill>
                  <a:srgbClr val="000000"/>
                </a:solidFill>
                <a:latin typeface="Calibri"/>
                <a:ea typeface="Calibri"/>
                <a:cs typeface="Calibri"/>
              </a:defRPr>
            </a:defP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사용자 발화와 앞선 음성의 차례 대기는 제외한다. 요약과 TTS 및 내부 대기는 포함하며 필수 음성 누락은 전체 0점이다.</a:t>
            </a:r>
            <a:endParaRPr lang="ko-KR">
              <a:latin typeface="Calibri"/>
              <a:ea typeface="Calibri"/>
              <a:cs typeface="Calibri"/>
            </a:endParaRPr>
          </a:p>
        </p:txBody>
      </p:sp>
      <p:sp>
        <p:nvSpPr>
          <p:cNvPr id="11" name="QA09-dp">
            <a:extLst>
              <a:ext uri="{FF2B5EF4-FFF2-40B4-BE49-F238E27FC236}">
                <ns2:creationId id="{AF3EA20B-7EFA-4F9E-A6B6-4487DE5A0267}"/>
              </a:ext>
            </a:extLst>
          </p:cNvPr>
          <p:cNvSpPr>
            <a:spLocks noGrp="1"/>
          </p:cNvSpPr>
          <p:nvPr/>
        </p:nvSpPr>
        <p:spPr>
          <a:xfrm>
            <a:off x="523875" y="9420225"/>
            <a:ext cx="10572750" cy="323850"/>
          </a:xfrm>
          <a:prstGeom prst="rect">
            <a:avLst/>
          </a:prstGeom>
          <a:noFill/>
          <a:ln w="0">
            <a:noFill/>
          </a:ln>
        </p:spPr>
        <p:txBody>
          <a:bodyPr lIns="0" tIns="0" rIns="0" bIns="0" anchor="ctr">
            <a:noAutofit/>
          </a:bodyPr>
          <a:lstStyle>
            <a:defPPr>
              <a:defRPr sz="1600" b="1" lang="ko-KR">
                <a:solidFill>
                  <a:srgbClr val="000000"/>
                </a:solidFill>
                <a:latin typeface="Calibri"/>
                <a:ea typeface="Calibri"/>
                <a:cs typeface="Calibri"/>
              </a:defRPr>
            </a:defPPr>
          </a:lstStyle>
          <a:p>
            <a:pPr>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DP 양안은 같은 음성 출력 경계를 사용한다. 현재는 차이보다 공통 검증 항목이다.</a:t>
            </a:r>
            <a:endParaRPr lang="ko-KR">
              <a:latin typeface="Calibri"/>
              <a:ea typeface="Calibri"/>
              <a:cs typeface="Calibri"/>
            </a:endParaRPr>
          </a:p>
        </p:txBody>
      </p:sp>
      <p:sp>
        <p:nvSpPr>
          <p:cNvPr id="12" name="QA09-scoring-title">
            <a:extLst>
              <a:ext uri="{FF2B5EF4-FFF2-40B4-BE49-F238E27FC236}">
                <ns2:creationId id="{81EF58B4-24D2-42F5-B525-FCBC861DC5AD}"/>
              </a:ext>
            </a:extLst>
          </p:cNvPr>
          <p:cNvSpPr>
            <a:spLocks noGrp="1"/>
          </p:cNvSpPr>
          <p:nvPr/>
        </p:nvSpPr>
        <p:spPr>
          <a:xfrm>
            <a:off x="11658600" y="3486150"/>
            <a:ext cx="61722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0~6점 평가 기준</a:t>
            </a:r>
            <a:endParaRPr lang="ko-KR">
              <a:latin typeface="Calibri"/>
              <a:ea typeface="Calibri"/>
              <a:cs typeface="Calibri"/>
            </a:endParaRPr>
          </a:p>
        </p:txBody>
      </p:sp>
      <p:graphicFrame>
        <p:nvGraphicFramePr>
          <p:cNvPr id="13" name="QA09-score">
            <a:extLst>
              <a:ext uri="{FF2B5EF4-FFF2-40B4-BE49-F238E27FC236}">
                <ns2:creationId id="{25970C85-92D9-4EA4-9EF3-B226588BF4B9}"/>
              </a:ext>
            </a:extLst>
          </p:cNvPr>
          <p:cNvGraphicFramePr/>
          <p:nvPr/>
        </p:nvGraphicFramePr>
        <p:xfrm>
          <a:off x="11658600" y="3971925"/>
          <a:ext cx="6172200" cy="4495800"/>
        </p:xfrm>
        <a:graphic>
          <a:graphicData uri="http://schemas.openxmlformats.org/drawingml/2006/table">
            <a:tbl>
              <a:tblPr/>
              <a:tblGrid>
                <a:gridCol w="762000"/>
                <a:gridCol w="1619250"/>
                <a:gridCol w="3790950"/>
              </a:tblGrid>
              <a:tr h="561975">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점수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기호</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기준 (ms)</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6</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 ≤ x ≤ 100ms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5</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100 &lt; x ≤ 150ms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150 &lt; x ≤ 200ms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200 &lt; x ≤ 300ms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300 &lt; x ≤ 400ms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400 &lt; x ≤ 500ms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x &gt; 500 또는 미출력</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14" name="QA09-band">
            <a:extLst>
              <a:ext uri="{FF2B5EF4-FFF2-40B4-BE49-F238E27FC236}">
                <ns2:creationId id="{BE2A6463-5493-4A8A-BF65-E8060817D993}"/>
              </a:ext>
            </a:extLst>
          </p:cNvPr>
          <p:cNvSpPr>
            <a:spLocks noGrp="1"/>
          </p:cNvSpPr>
          <p:nvPr/>
        </p:nvSpPr>
        <p:spPr>
          <a:xfrm>
            <a:off x="11658600" y="8734425"/>
            <a:ext cx="6172200" cy="942975"/>
          </a:xfrm>
          <a:prstGeom prst="rect">
            <a:avLst/>
          </a:prstGeom>
          <a:noFill/>
          <a:ln w="0">
            <a:noFill/>
          </a:ln>
        </p:spPr>
        <p:txBody>
          <a:bodyPr lIns="0" tIns="0" rIns="0" bIns="0" anchor="ctr">
            <a:noAutofit/>
          </a:bodyPr>
          <a:lstStyle>
            <a:defPPr>
              <a:defRPr sz="1800" b="0" lang="ko-KR">
                <a:solidFill>
                  <a:srgbClr val="000000"/>
                </a:solidFill>
                <a:latin typeface="Calibri"/>
                <a:ea typeface="Calibri"/>
                <a:cs typeface="Calibri"/>
              </a:defRPr>
            </a:defPPr>
          </a:lstStyle>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500ms는 전달 예산 제안</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500~200ms는 100ms 간격</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200ms 이하는 50ms 간격</a:t>
            </a:r>
            <a:endParaRPr lang="ko-KR">
              <a:latin typeface="Calibri"/>
              <a:ea typeface="Calibri"/>
              <a:cs typeface="Calibri"/>
            </a:endParaRPr>
          </a:p>
        </p:txBody>
      </p:sp>
      <p:sp>
        <p:nvSpPr>
          <p:cNvPr id="15" name="QA09-source">
            <a:extLst>
              <a:ext uri="{FF2B5EF4-FFF2-40B4-BE49-F238E27FC236}">
                <ns2:creationId id="{DA696F7A-7C0C-4E7C-BCA8-9344155F0ED8}"/>
              </a:ext>
            </a:extLst>
          </p:cNvPr>
          <p:cNvSpPr>
            <a:spLocks noGrp="1"/>
          </p:cNvSpPr>
          <p:nvPr/>
        </p:nvSpPr>
        <p:spPr>
          <a:xfrm>
            <a:off x="523875" y="9820275"/>
            <a:ext cx="17287875" cy="266700"/>
          </a:xfrm>
          <a:prstGeom prst="rect">
            <a:avLst/>
          </a:prstGeom>
          <a:noFill/>
          <a:ln w="0">
            <a:noFill/>
          </a:ln>
        </p:spPr>
        <p:txBody>
          <a:bodyPr lIns="0" tIns="0" rIns="0" bIns="0" anchor="ctr">
            <a:noAutofit/>
          </a:bodyPr>
          <a:lstStyle>
            <a:defPPr>
              <a:defRPr sz="1300" b="0" lang="ko-KR">
                <a:solidFill>
                  <a:srgbClr val="000000"/>
                </a:solidFill>
                <a:latin typeface="Calibri"/>
                <a:ea typeface="Calibri"/>
                <a:cs typeface="Calibri"/>
              </a:defRPr>
            </a:defPPr>
          </a:lstStyle>
          <a:p>
            <a:pPr>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근거: 요약과 음성 생성 및 출력의 설계 예산 제안. 실제 소리 관측과 software proxy는 구별한다.  예시는 계산 설명용.</a:t>
            </a:r>
            <a:endParaRPr lang="ko-KR">
              <a:latin typeface="Calibri"/>
              <a:ea typeface="Calibri"/>
              <a:cs typeface="Calibri"/>
            </a:endParaRPr>
          </a:p>
        </p:txBody>
      </p:sp>
      <p:sp>
        <p:nvSpPr>
          <p:cNvPr id="16" name="v6-header-title">
            <a:extLst>
              <a:ext uri="{FF2B5EF4-FFF2-40B4-BE49-F238E27FC236}">
                <ns2:creationId id="{38B25BA3-074F-4B19-AFE7-F1D1DBCA348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QA09  음성 전달 지연</a:t>
            </a:r>
            <a:endParaRPr lang="ko-KR">
              <a:latin typeface="Calibri"/>
              <a:ea typeface="Calibri"/>
              <a:cs typeface="Calibri"/>
            </a:endParaRPr>
          </a:p>
        </p:txBody>
      </p:sp>
      <p:sp>
        <p:nvSpPr>
          <p:cNvPr id="17" name="v6-header-rule">
            <a:extLst>
              <a:ext uri="{FF2B5EF4-FFF2-40B4-BE49-F238E27FC236}">
                <ns2:creationId id="{94BDD528-2FE8-4856-A625-FEEE5C0B6C26}"/>
              </a:ext>
            </a:extLst>
          </p:cNvPr>
          <p:cNvSpPr>
            <a:spLocks noGrp="1"/>
          </p:cNvSpPr>
          <p:nvPr/>
        </p:nvSpPr>
        <p:spPr>
          <a:xfrm>
            <a:off x="495300" y="990600"/>
            <a:ext cx="17335500" cy="0"/>
          </a:xfrm>
          <a:prstGeom prst="line">
            <a:avLst/>
          </a:prstGeom>
          <a:noFill/>
          <a:ln w="19050">
            <a:solidFill>
              <a:srgbClr val="A6A6A6"/>
            </a:solidFill>
          </a:ln>
        </p:spPr>
      </p:sp>
      <p:sp>
        <p:nvSpPr>
          <p:cNvPr id="18" name="v6-header-stage-0">
            <a:extLst>
              <a:ext uri="{FF2B5EF4-FFF2-40B4-BE49-F238E27FC236}">
                <ns2:creationId id="{15ACD682-D9EA-4A98-9DB7-FEA4DB724E6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9" name="v6-header-stage-1">
            <a:extLst>
              <a:ext uri="{FF2B5EF4-FFF2-40B4-BE49-F238E27FC236}">
                <ns2:creationId id="{F0E3C194-B97F-45F7-8CC7-23DFCB7D5E3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0" name="v6-header-stage-2">
            <a:extLst>
              <a:ext uri="{FF2B5EF4-FFF2-40B4-BE49-F238E27FC236}">
                <ns2:creationId id="{A35FCADB-AB0E-467D-99C6-DBA30A0D921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1" name="v6-header-stage-3">
            <a:extLst>
              <a:ext uri="{FF2B5EF4-FFF2-40B4-BE49-F238E27FC236}">
                <ns2:creationId id="{656794DF-C71A-4EB7-975B-62B482030F2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2" name="v6-header-stage-4">
            <a:extLst>
              <a:ext uri="{FF2B5EF4-FFF2-40B4-BE49-F238E27FC236}">
                <ns2:creationId id="{2F66320E-61A8-4D7F-A54A-E49FACC8F87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3" name="v6-header-page">
            <a:extLst>
              <a:ext uri="{FF2B5EF4-FFF2-40B4-BE49-F238E27FC236}">
                <ns2:creationId id="{C15EFB4C-462E-4392-B6EA-5F61365C4BC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33 / 33</a:t>
            </a:r>
            <a:endParaRPr lang="ko-KR">
              <a:latin typeface="Calibri"/>
              <a:ea typeface="Calibri"/>
              <a:cs typeface="Calibri"/>
            </a:endParaRPr>
          </a:p>
        </p:txBody>
      </p:sp>
    </p:spTree>
    <p:extLst>
      <p:ext uri="{BB962C8B-B14F-4D97-AF65-F5344CB8AC3E}">
        <p14:creationId val="2137734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ns0:Properties xmlns:ns0="http://schemas.openxmlformats.org/officeDocument/2006/extended-properties">
  <ns0:Application>Walnut Exporter</ns0:Application>
  <ns0:PresentationFormat>Converted Presentation</ns0:PresentationFormat>
  <ns0:Slides>33</ns0:Slides>
  <ns0:Notes>33</ns0:Notes>
  <ns0:HiddenSlides>0</ns0:HiddenSlides>
  <ns0:SharedDoc>false</ns0:SharedDoc>
  <ns0:DocSecurity>0</ns0:DocSecurity>
</ns0:Properties>
</file>

<file path=docProps/core.xml><?xml version="1.0" encoding="utf-8"?>
<ns0:coreProperties xmlns:dc="http://purl.org/dc/elements/1.1/" xmlns:ns0="http://schemas.openxmlformats.org/package/2006/metadata/core-properties" xmlns:ns2="http://purl.org/dc/terms/" xmlns:xsi="http://www.w3.org/2001/XMLSchema-instance">
  <dc:creator>Walnut Exporter</dc:creator>
  <ns0:lastModifiedBy>Walnut Exporter</ns0:lastModifiedBy>
  <dc:title>Presentation</dc:title>
  <ns2:created xsi:type="dcterms:W3CDTF">2026-10-11T13:29:11.1160000Z</ns2:created>
  <ns2:modified xsi:type="dcterms:W3CDTF">2026-10-11T13:29:11.1160000Z</ns2:modified>
  <dc:language>ko-KR</dc:language>
</ns0:coreProperties>
</file>