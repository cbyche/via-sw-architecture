
<file path=[Content_Types].xml><?xml version="1.0" encoding="utf-8"?>
<Types xmlns="http://schemas.openxmlformats.org/package/2006/content-types">
  <Default Extension="xml" ContentType="application/vnd.openxmlformats-package.core-properties+xml"/>
  <Default Extension="gif" ContentType="image/gi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0209eaca6740b2" /><Relationship Type="http://schemas.openxmlformats.org/officeDocument/2006/relationships/extended-properties" Target="/docProps/app.xml" Id="R003471178f2346ba" /><Relationship Type="http://schemas.openxmlformats.org/officeDocument/2006/relationships/officeDocument" Target="/ppt/presentation.xml" Id="Rb5b3f2e5567245d4"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a7f575e4b2a94e12"/>
  </p:sldMasterIdLst>
  <p:notesMasterIdLst>
    <p:notesMasterId r:id="R61f3491294234b15"/>
  </p:notesMasterIdLst>
  <p:sldIdLst>
    <p:sldId id="256" r:id="R2d20bbaab06449e4"/>
    <p:sldId id="257" r:id="R79efaca67a9d4fec"/>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4c69dfb4864113" /><Relationship Type="http://schemas.openxmlformats.org/officeDocument/2006/relationships/slideMaster" Target="/ppt/slideMasters/slideMaster1.xml" Id="Ra7f575e4b2a94e12" /><Relationship Type="http://schemas.openxmlformats.org/officeDocument/2006/relationships/notesMaster" Target="/ppt/notesMasters/notesMaster1.xml" Id="R61f3491294234b15" /><Relationship Type="http://schemas.openxmlformats.org/officeDocument/2006/relationships/presProps" Target="/ppt/presProps.xml" Id="R8d844238a1934553" /><Relationship Type="http://schemas.openxmlformats.org/officeDocument/2006/relationships/tableStyles" Target="/ppt/tableStyles.xml" Id="R81f2726330da4048" /><Relationship Type="http://schemas.openxmlformats.org/officeDocument/2006/relationships/slide" Target="/ppt/slides/slide1.xml" Id="R2d20bbaab06449e4" /><Relationship Type="http://schemas.openxmlformats.org/officeDocument/2006/relationships/slide" Target="/ppt/slides/slide2.xml" Id="R79efaca67a9d4f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fa27c40598450e"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40c6e636fe46b4" /><Relationship Type="http://schemas.openxmlformats.org/officeDocument/2006/relationships/notesMaster" Target="/ppt/notesMasters/notesMaster1.xml" Id="Rca190f3f36f248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60230d8f0f45df" /><Relationship Type="http://schemas.openxmlformats.org/officeDocument/2006/relationships/notesMaster" Target="/ppt/notesMasters/notesMaster1.xml" Id="R56d113c0ad3e4923"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범위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음성 기반 상호작용 소프트웨어라는 점에서 이 시장과 관련. 다만 보고서는 PC 전용 VIA 시장을 별도로 산정하지 않으며, 자동차, 고객상담 등 여러 산업의 음성 비서 소프트웨어와 관련 서비스를 포함. 따라서 상위 관련 시장의 성장 방향을 보여주는 근거로 사용. PC용 VIA의 직접 TAM/SAM이나 삼성의 확보 가능한 매출 규모로 해석 불가. 보고서 수치와 포함 관계를 근거로 한 분류 판단이며 조사사의 VIA 제품 분류 결과가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날짜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발표일 2026-09-03을 시연 캡션에 명시. 영상 촬영일을 뜻하지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https://help.openai.com/en/articles/6825453-chatgpt-release-notes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September 3, 2026: Introducing GPT-6 Astra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https://www.youtube.com/watch?v=1QNsdr-Qx_I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시연 GIF의 원본 바이트와 발췌 조건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대화 연속성과 관계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 끼어들기와 정정, Downstream Agent의 질문과 결과가 시간상 겹치는 조건. 질문과 결과가 도착하더라도 사용자 입력을 계속 수용하고 적절한 응답 시점을 결정할 필요. 아래 관계도는 대화, 요청, 질문, 업무, Agent 실행을 연결하는 정보 관계의 축약 표현. 단일 요청과 질문의 엄격한 소유 관계나 일대일 카디널리티, 처리 순서, 프로세스 분리를 규정하지 않음. FR1과 FR4, DP44와 DP42의 공통 문제 배경.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요청의 맥락 이해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발화 내용과 정정, 발화 당시 화면의 활성 창과 포인터 및 클릭과 선택 범위, 과거 대화와 업무 결과가 입력 근거. 현재 요청에 관련된 근거를 사용해 대상, 조건, 관련 업무와 정정 범위를 이해할 필요. 화면과 발화의 시간상 근접만으로 의도 확정 불가. 모든 앱에서 객체나 선택 범위의 완전한 수집을 보장하는 그림이 아님. FR2와 FR3, DP47와 DP45의 공통 문제 배경.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지속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지속적인 대화와 맥락 처리는 모델 사용 비용, 화면 기록과 대화 및 업무 상태는 PC 메모리 사용, 모델과 Agent의 기능 및 규격 변화는 수정과 재검증 부담의 원인. 비용과 메모리의 수치 목표, 특정 모델 배치, 저장 방식이나 분리 구조를 선택하는 내용이 아님. 필요한 정확도와 응답성을 유지하면서 운영 부담과 변경 범위의 관리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문서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docs/architecture/12-decisions/decision-packages/03-03-qa-dp-evaluation-plan.md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기능 요구사항은 사용자 합의 FR1~4 기준. 품질 목표와 설계 대안의 최종 선정은 별도 검토 대상.</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ed74fac06044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721e4057424a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41ea80987942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259c0405424c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fb31f8f4f04a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4c8790390d4b48" /></Relationships>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23F41508-A865-46D9-B2B8-46CF897626A0}"/>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9C76369B-DC30-44BF-9BD1-B423DF1297A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A90774C-D262-4A6E-ACEF-6EC3F046237D}"/>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6B4970E8-6DAE-4D80-B39D-CFD63EA6004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83A1DCD-8DED-4722-AB68-C190266AF3B1}"/>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64E5080-1C1D-4B2C-B906-266B38FE96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B90D0E9-9E31-4CB9-97E3-1918A6C7A37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732B66A-1E8A-417F-8959-E4BC4F2C74F2}"/>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EF42F501-CAE4-4D12-B4D2-17A2BA38B81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F99697D-0C78-4223-AFDA-D2C999BC41F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c13842f4c9426f" /><Relationship Type="http://schemas.openxmlformats.org/officeDocument/2006/relationships/slideLayout" Target="/ppt/slideLayouts/slideLayout1.xml" Id="R8520d326f5654e2c" /><Relationship Type="http://schemas.openxmlformats.org/officeDocument/2006/relationships/slideLayout" Target="/ppt/slideLayouts/slideLayout2.xml" Id="R72b1fcd79b3e4dc6" /><Relationship Type="http://schemas.openxmlformats.org/officeDocument/2006/relationships/slideLayout" Target="/ppt/slideLayouts/slideLayout3.xml" Id="R23a7672a00254aa0" /><Relationship Type="http://schemas.openxmlformats.org/officeDocument/2006/relationships/slideLayout" Target="/ppt/slideLayouts/slideLayout4.xml" Id="R8f10a9d250584a18" /><Relationship Type="http://schemas.openxmlformats.org/officeDocument/2006/relationships/slideLayout" Target="/ppt/slideLayouts/slideLayout5.xml" Id="R21b6b7599e1e4fd6" /><Relationship Type="http://schemas.openxmlformats.org/officeDocument/2006/relationships/slideLayout" Target="/ppt/slideLayouts/slideLayout6.xml" Id="Ra124e44b08ac4447"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8520d326f5654e2c"/>
    <p:sldLayoutId id="2147483650" r:id="R72b1fcd79b3e4dc6"/>
    <p:sldLayoutId id="2147483651" r:id="R23a7672a00254aa0"/>
    <p:sldLayoutId id="2147483652" r:id="R8f10a9d250584a18"/>
    <p:sldLayoutId id="2147483653" r:id="R21b6b7599e1e4fd6"/>
    <p:sldLayoutId id="2147483654" r:id="Ra124e44b08ac444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e1d48feea34fad" /><Relationship Type="http://schemas.openxmlformats.org/officeDocument/2006/relationships/image" Target="/ppt/media/image.gif" Id="R437653e567e04d29" /><Relationship Type="http://schemas.openxmlformats.org/officeDocument/2006/relationships/image" Target="/ppt/media/image2.gif" Id="R5ebd9b7fc25b4c2e" /><Relationship Type="http://schemas.openxmlformats.org/officeDocument/2006/relationships/chart" Target="/ppt/slides/charts/chart1.xml" Id="R5568b160e74c4c6b" /><Relationship Type="http://schemas.openxmlformats.org/officeDocument/2006/relationships/notesSlide" Target="/ppt/notesSlides/notesSlide1.xml" Id="R004f5523dc0e42da" /></Relationships>
</file>

<file path=ppt/slides/_rels/slide2.xml.rels><?xml version='1.0' encoding='utf-8'?>
<Relationships xmlns="http://schemas.openxmlformats.org/package/2006/relationships"><Relationship Id="V10SourceLayout" Type="http://schemas.openxmlformats.org/officeDocument/2006/relationships/slideLayout" Target="/ppt/slideLayouts/slideLayout6.xml" /><Relationship Id="V10SourceNote" Type="http://schemas.openxmlformats.org/officeDocument/2006/relationships/notesSlide" Target="/ppt/notesSlides/notesSlide2.xml"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slide1.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10-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xmlns:a="http://schemas.openxmlformats.org/drawingml/2006/main" xmlns:ns2="http://schemas.microsoft.com/office/drawing/2014/main" xmlns:p="http://schemas.openxmlformats.org/presentationml/2006/main">
        <p:nvSpPr>
          <p:cNvPr id="12" name="demo-two-source">
            <a:extLst>
              <a:ext uri="{FF2B5EF4-FFF2-40B4-BE49-F238E27FC236}">
                <ns2:creationId id="{96B172EA-E32B-4856-AAE3-667F82F8C39D}"/>
              </a:ext>
            </a:extLst>
          </p:cNvPr>
          <p:cNvSpPr>
            <a:spLocks noGrp="1"/>
          </p:cNvSpPr>
          <p:nvPr/>
        </p:nvSpPr>
        <p:spPr>
          <a:xfrm>
            <a:off x="876300" y="9753600"/>
            <a:ext cx="733425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공식 발표 2026.09.03  /  시연 발췌,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market-title">
            <a:extLst>
              <a:ext uri="{FF2B5EF4-FFF2-40B4-BE49-F238E27FC236}">
                <ns2:creationId id="{D82501A0-0D0B-447F-9D99-F58CC8D9797E}"/>
              </a:ext>
            </a:extLst>
          </p:cNvPr>
          <p:cNvSpPr>
            <a:spLocks noGrp="1"/>
          </p:cNvSpPr>
          <p:nvPr/>
        </p:nvSpPr>
        <p:spPr>
          <a:xfrm>
            <a:off x="9277350" y="2114550"/>
            <a:ext cx="3390900" cy="714375"/>
          </a:xfrm>
          <a:prstGeom prst="rect">
            <a:avLst/>
          </a:prstGeom>
          <a:noFill/>
          <a:ln w="0">
            <a:noFill/>
          </a:ln>
        </p:spPr>
        <p:txBody>
          <a:bodyPr wrap="none" lIns="0" tIns="0" rIns="0" bIns="0" anchor="ctr">
            <a:noAutofit/>
          </a:bodyPr>
          <a:lstStyle>
            <a:defPPr algn="l">
              <a:defRPr sz="2000" b="1" lang="ko-KR">
                <a:solidFill>
                  <a:srgbClr val="000000"/>
                </a:solidFill>
                <a:latin typeface="Calibri"/>
                <a:ea typeface="Calibri"/>
                <a:cs typeface="Calibri"/>
              </a:defRPr>
            </a:defP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관련 상위 시장</a:t>
            </a:r>
            <a:endParaRPr lang="ko-KR">
              <a:latin typeface="Calibri"/>
              <a:ea typeface="Calibri"/>
              <a:cs typeface="Calibri"/>
            </a:endParaRPr>
          </a:p>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비서 애플리케이션</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market-source">
            <a:extLst>
              <a:ext uri="{FF2B5EF4-FFF2-40B4-BE49-F238E27FC236}">
                <ns2:creationId id="{37D6899B-ED9D-47FF-BFCC-FB13B4830EC3}"/>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음성 비서 SW 및 서비스</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5" name="cases-source">
            <a:extLst>
              <a:ext uri="{FF2B5EF4-FFF2-40B4-BE49-F238E27FC236}">
                <ns2:creationId id="{63D6DE29-584D-4AED-B6D1-6B34F23E7BC5}"/>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PC 전용 시장 규모와 구별  /  기업 사례: 각 사 공식 자료, 발표자 노트 참조</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1" name="user-via-link">
            <a:extLst>
              <a:ext uri="{FF2B5EF4-FFF2-40B4-BE49-F238E27FC236}">
                <ns2:creationId id="{E49DAB89-9457-4705-8127-F11F18828E5F}"/>
              </a:ext>
            </a:extLst>
          </p:cNvPr>
          <p:cNvSpPr>
            <a:spLocks noGrp="1"/>
          </p:cNvSpPr>
          <p:nvPr/>
        </p:nvSpPr>
        <p:spPr>
          <a:xfrm>
            <a:off x="10648950" y="9353550"/>
            <a:ext cx="361950" cy="228600"/>
          </a:xfrm>
          <a:prstGeom prst="leftRightArrow">
            <a:avLst/>
          </a:prstGeom>
          <a:solidFill>
            <a:srgbClr val="8398AF"/>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3" name="via-agent-link">
            <a:extLst>
              <a:ext uri="{FF2B5EF4-FFF2-40B4-BE49-F238E27FC236}">
                <ns2:creationId id="{0616E1B7-CB53-4869-80AB-45C14BC4A91A}"/>
              </a:ext>
            </a:extLst>
          </p:cNvPr>
          <p:cNvSpPr>
            <a:spLocks noGrp="1"/>
          </p:cNvSpPr>
          <p:nvPr/>
        </p:nvSpPr>
        <p:spPr>
          <a:xfrm>
            <a:off x="14373225" y="9353550"/>
            <a:ext cx="361950" cy="228600"/>
          </a:xfrm>
          <a:prstGeom prst="leftRightArrow">
            <a:avLst/>
          </a:prstGeom>
          <a:solidFill>
            <a:srgbClr val="8398AF"/>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2</a:t>
            </a:r>
            <a:endParaRPr lang="ko-KR">
              <a:latin typeface="Calibri"/>
              <a:ea typeface="Calibri"/>
              <a:cs typeface="Calibri"/>
            </a:endParaRPr>
          </a:p>
        </p:txBody>
      </p:sp>
    </p:spTree>
    <p:extLst>
      <p:ext uri="{BB962C8B-B14F-4D97-AF65-F5344CB8AC3E}">
        <p14:creationId val="2004982267"/>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name="project-intro-v10-2">
    <p:bg>
      <p:bgPr>
        <a:solidFill>
          <a:srgbClr val="FFFFFF"/>
        </a:solidFill>
      </p:bgPr>
    </p:bg>
    <p:spTree>
      <p:nvGrpSpPr>
        <p:cNvPr id="2" name=""/>
        <p:cNvGrpSpPr/>
        <p:nvPr/>
      </p:nvGrpSpPr>
      <p:grpSpPr>
        <a:xfrm/>
      </p:grpSpPr>
      <p:sp>
        <p:nvSpPr>
          <p:cNvPr id="3" name="need-panel-0">
            <a:extLst>
              <a:ext uri="{FF2B5EF4-FFF2-40B4-BE49-F238E27FC236}">
                <ns2:creationId id="{224D4487-57BF-4373-8FB4-707ECAF7A333}"/>
              </a:ext>
            </a:extLst>
          </p:cNvPr>
          <p:cNvSpPr>
            <a:spLocks noGrp="1"/>
          </p:cNvSpPr>
          <p:nvPr/>
        </p:nvSpPr>
        <p:spPr>
          <a:xfrm>
            <a:off x="571500" y="1781175"/>
            <a:ext cx="5524500" cy="7953375"/>
          </a:xfrm>
          <a:prstGeom prst="roundRect">
            <a:avLst>
              <a:gd name="adj" fmla="val 1379"/>
            </a:avLst>
          </a:prstGeom>
          <a:solidFill>
            <a:srgbClr val="FFFFFF"/>
          </a:solidFill>
          <a:ln w="14288">
            <a:solidFill>
              <a:srgbClr val="D4DBE4"/>
            </a:solidFill>
          </a:ln>
        </p:spPr>
      </p:sp>
      <p:sp>
        <p:nvSpPr>
          <p:cNvPr id="4" name="need-heading-0">
            <a:extLst>
              <a:ext uri="{FF2B5EF4-FFF2-40B4-BE49-F238E27FC236}">
                <ns2:creationId id="{E024A275-EBCE-4114-993F-0E78C8D7B958}"/>
              </a:ext>
            </a:extLst>
          </p:cNvPr>
          <p:cNvSpPr>
            <a:spLocks noGrp="1"/>
          </p:cNvSpPr>
          <p:nvPr/>
        </p:nvSpPr>
        <p:spPr>
          <a:xfrm>
            <a:off x="6667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5" name="need-copy-a-0">
            <a:extLst>
              <a:ext uri="{FF2B5EF4-FFF2-40B4-BE49-F238E27FC236}">
                <ns2:creationId id="{5FBB2EB7-E41C-4650-B37D-490D3FB273BF}"/>
              </a:ext>
            </a:extLst>
          </p:cNvPr>
          <p:cNvSpPr>
            <a:spLocks noGrp="1"/>
          </p:cNvSpPr>
          <p:nvPr/>
        </p:nvSpPr>
        <p:spPr>
          <a:xfrm>
            <a:off x="85725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입력과 업무 응답의</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끊김 없는 연결</a:t>
            </a:r>
            <a:endParaRPr lang="ko-KR">
              <a:latin typeface="Calibri"/>
              <a:ea typeface="Calibri"/>
              <a:cs typeface="Calibri"/>
            </a:endParaRPr>
          </a:p>
        </p:txBody>
      </p:sp>
      <p:sp>
        <p:nvSpPr>
          <p:cNvPr id="6" name="need-copy-rule-0">
            <a:extLst>
              <a:ext uri="{FF2B5EF4-FFF2-40B4-BE49-F238E27FC236}">
                <ns2:creationId id="{E98903A0-115F-470E-AAC5-FBA34F2F826E}"/>
              </a:ext>
            </a:extLst>
          </p:cNvPr>
          <p:cNvSpPr>
            <a:spLocks noGrp="1"/>
          </p:cNvSpPr>
          <p:nvPr/>
        </p:nvSpPr>
        <p:spPr>
          <a:xfrm>
            <a:off x="895350" y="7505700"/>
            <a:ext cx="4876800" cy="14288"/>
          </a:xfrm>
          <a:prstGeom prst="rect">
            <a:avLst/>
          </a:prstGeom>
          <a:solidFill>
            <a:srgbClr val="D4DBE4"/>
          </a:solidFill>
          <a:ln w="0">
            <a:noFill/>
          </a:ln>
        </p:spPr>
      </p:sp>
      <p:sp>
        <p:nvSpPr>
          <p:cNvPr id="7" name="need-copy-b-0">
            <a:extLst>
              <a:ext uri="{FF2B5EF4-FFF2-40B4-BE49-F238E27FC236}">
                <ns2:creationId id="{F4CA0AA5-6D80-4BD9-AD47-DF9AD6420940}"/>
              </a:ext>
            </a:extLst>
          </p:cNvPr>
          <p:cNvSpPr>
            <a:spLocks noGrp="1"/>
          </p:cNvSpPr>
          <p:nvPr/>
        </p:nvSpPr>
        <p:spPr>
          <a:xfrm>
            <a:off x="85725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끼어들기와 정정의 신속한 반영</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질문과 결과의 적절한 전달</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대화, 요청, 업무와 실행의 연결</a:t>
            </a:r>
            <a:endParaRPr lang="ko-KR">
              <a:latin typeface="Calibri"/>
              <a:ea typeface="Calibri"/>
              <a:cs typeface="Calibri"/>
            </a:endParaRPr>
          </a:p>
        </p:txBody>
      </p:sp>
      <p:sp>
        <p:nvSpPr>
          <p:cNvPr id="8" name="need-quality-0">
            <a:extLst>
              <a:ext uri="{FF2B5EF4-FFF2-40B4-BE49-F238E27FC236}">
                <ns2:creationId id="{BD0CCCBB-C5B4-4091-9173-E3011E60B54B}"/>
              </a:ext>
            </a:extLst>
          </p:cNvPr>
          <p:cNvSpPr>
            <a:spLocks noGrp="1"/>
          </p:cNvSpPr>
          <p:nvPr/>
        </p:nvSpPr>
        <p:spPr>
          <a:xfrm>
            <a:off x="81915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지연 최소화</a:t>
            </a:r>
            <a:endParaRPr lang="ko-KR">
              <a:latin typeface="Calibri"/>
              <a:ea typeface="Calibri"/>
              <a:cs typeface="Calibri"/>
            </a:endParaRPr>
          </a:p>
        </p:txBody>
      </p:sp>
      <p:sp>
        <p:nvSpPr>
          <p:cNvPr id="9" name="need-panel-1">
            <a:extLst>
              <a:ext uri="{FF2B5EF4-FFF2-40B4-BE49-F238E27FC236}">
                <ns2:creationId id="{8DAFE209-9D2F-4980-BEC3-6C67DE62251E}"/>
              </a:ext>
            </a:extLst>
          </p:cNvPr>
          <p:cNvSpPr>
            <a:spLocks noGrp="1"/>
          </p:cNvSpPr>
          <p:nvPr/>
        </p:nvSpPr>
        <p:spPr>
          <a:xfrm>
            <a:off x="6381750" y="1781175"/>
            <a:ext cx="5524500" cy="7953375"/>
          </a:xfrm>
          <a:prstGeom prst="roundRect">
            <a:avLst>
              <a:gd name="adj" fmla="val 1379"/>
            </a:avLst>
          </a:prstGeom>
          <a:solidFill>
            <a:srgbClr val="FFFFFF"/>
          </a:solidFill>
          <a:ln w="14288">
            <a:solidFill>
              <a:srgbClr val="D4DBE4"/>
            </a:solidFill>
          </a:ln>
        </p:spPr>
      </p:sp>
      <p:sp>
        <p:nvSpPr>
          <p:cNvPr id="10" name="need-heading-1">
            <a:extLst>
              <a:ext uri="{FF2B5EF4-FFF2-40B4-BE49-F238E27FC236}">
                <ns2:creationId id="{777CE776-B1CB-4FF9-AFFF-B9C3E7EA3A84}"/>
              </a:ext>
            </a:extLst>
          </p:cNvPr>
          <p:cNvSpPr>
            <a:spLocks noGrp="1"/>
          </p:cNvSpPr>
          <p:nvPr/>
        </p:nvSpPr>
        <p:spPr>
          <a:xfrm>
            <a:off x="647700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11" name="need-copy-a-1">
            <a:extLst>
              <a:ext uri="{FF2B5EF4-FFF2-40B4-BE49-F238E27FC236}">
                <ns2:creationId id="{4AD6B398-0403-4929-B5DD-89BA199ADDE0}"/>
              </a:ext>
            </a:extLst>
          </p:cNvPr>
          <p:cNvSpPr>
            <a:spLocks noGrp="1"/>
          </p:cNvSpPr>
          <p:nvPr/>
        </p:nvSpPr>
        <p:spPr>
          <a:xfrm>
            <a:off x="666750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발화, 화면과 이력에 근거한</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현재 요청 이해</a:t>
            </a:r>
            <a:endParaRPr lang="ko-KR">
              <a:latin typeface="Calibri"/>
              <a:ea typeface="Calibri"/>
              <a:cs typeface="Calibri"/>
            </a:endParaRPr>
          </a:p>
        </p:txBody>
      </p:sp>
      <p:sp>
        <p:nvSpPr>
          <p:cNvPr id="12" name="need-copy-rule-1">
            <a:extLst>
              <a:ext uri="{FF2B5EF4-FFF2-40B4-BE49-F238E27FC236}">
                <ns2:creationId id="{E9CE2D55-FD76-43D1-ABE1-65E259D51E8D}"/>
              </a:ext>
            </a:extLst>
          </p:cNvPr>
          <p:cNvSpPr>
            <a:spLocks noGrp="1"/>
          </p:cNvSpPr>
          <p:nvPr/>
        </p:nvSpPr>
        <p:spPr>
          <a:xfrm>
            <a:off x="6705600" y="7505700"/>
            <a:ext cx="4876800" cy="14288"/>
          </a:xfrm>
          <a:prstGeom prst="rect">
            <a:avLst/>
          </a:prstGeom>
          <a:solidFill>
            <a:srgbClr val="D4DBE4"/>
          </a:solidFill>
          <a:ln w="0">
            <a:noFill/>
          </a:ln>
        </p:spPr>
      </p:sp>
      <p:sp>
        <p:nvSpPr>
          <p:cNvPr id="13" name="need-copy-b-1">
            <a:extLst>
              <a:ext uri="{FF2B5EF4-FFF2-40B4-BE49-F238E27FC236}">
                <ns2:creationId id="{68756CD8-22C0-4E1A-A726-74D19D9C7B51}"/>
              </a:ext>
            </a:extLst>
          </p:cNvPr>
          <p:cNvSpPr>
            <a:spLocks noGrp="1"/>
          </p:cNvSpPr>
          <p:nvPr/>
        </p:nvSpPr>
        <p:spPr>
          <a:xfrm>
            <a:off x="666750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발화 당시 화면과 조작 정보 결합</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과거 대화와 업무 결과의 활용</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지칭 대상과 정정 범위의 정확한 식별</a:t>
            </a:r>
            <a:endParaRPr lang="ko-KR">
              <a:latin typeface="Calibri"/>
              <a:ea typeface="Calibri"/>
              <a:cs typeface="Calibri"/>
            </a:endParaRPr>
          </a:p>
        </p:txBody>
      </p:sp>
      <p:sp>
        <p:nvSpPr>
          <p:cNvPr id="14" name="need-quality-1">
            <a:extLst>
              <a:ext uri="{FF2B5EF4-FFF2-40B4-BE49-F238E27FC236}">
                <ns2:creationId id="{AB581090-C6B7-423E-A3F9-66B7F15ADC6F}"/>
              </a:ext>
            </a:extLst>
          </p:cNvPr>
          <p:cNvSpPr>
            <a:spLocks noGrp="1"/>
          </p:cNvSpPr>
          <p:nvPr/>
        </p:nvSpPr>
        <p:spPr>
          <a:xfrm>
            <a:off x="662940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의도와 지칭의 정확성 확보</a:t>
            </a:r>
            <a:endParaRPr lang="ko-KR">
              <a:latin typeface="Calibri"/>
              <a:ea typeface="Calibri"/>
              <a:cs typeface="Calibri"/>
            </a:endParaRPr>
          </a:p>
        </p:txBody>
      </p:sp>
      <p:sp>
        <p:nvSpPr>
          <p:cNvPr id="15" name="need-panel-2">
            <a:extLst>
              <a:ext uri="{FF2B5EF4-FFF2-40B4-BE49-F238E27FC236}">
                <ns2:creationId id="{BB38E869-327F-4DA5-928B-D45414BBA61D}"/>
              </a:ext>
            </a:extLst>
          </p:cNvPr>
          <p:cNvSpPr>
            <a:spLocks noGrp="1"/>
          </p:cNvSpPr>
          <p:nvPr/>
        </p:nvSpPr>
        <p:spPr>
          <a:xfrm>
            <a:off x="12192000" y="1781175"/>
            <a:ext cx="5524500" cy="7953375"/>
          </a:xfrm>
          <a:prstGeom prst="roundRect">
            <a:avLst>
              <a:gd name="adj" fmla="val 1379"/>
            </a:avLst>
          </a:prstGeom>
          <a:solidFill>
            <a:srgbClr val="FFFFFF"/>
          </a:solidFill>
          <a:ln w="14288">
            <a:solidFill>
              <a:srgbClr val="D4DBE4"/>
            </a:solidFill>
          </a:ln>
        </p:spPr>
      </p:sp>
      <p:sp>
        <p:nvSpPr>
          <p:cNvPr id="16" name="need-heading-2">
            <a:extLst>
              <a:ext uri="{FF2B5EF4-FFF2-40B4-BE49-F238E27FC236}">
                <ns2:creationId id="{CAAEC176-E15B-4E66-9C4E-A1A4E2718D34}"/>
              </a:ext>
            </a:extLst>
          </p:cNvPr>
          <p:cNvSpPr>
            <a:spLocks noGrp="1"/>
          </p:cNvSpPr>
          <p:nvPr/>
        </p:nvSpPr>
        <p:spPr>
          <a:xfrm>
            <a:off x="122872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17" name="need-copy-a-2">
            <a:extLst>
              <a:ext uri="{FF2B5EF4-FFF2-40B4-BE49-F238E27FC236}">
                <ns2:creationId id="{F3D1720C-70AC-44B3-A5F3-1AFF52219D6E}"/>
              </a:ext>
            </a:extLst>
          </p:cNvPr>
          <p:cNvSpPr>
            <a:spLocks noGrp="1"/>
          </p:cNvSpPr>
          <p:nvPr/>
        </p:nvSpPr>
        <p:spPr>
          <a:xfrm>
            <a:off x="1247775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지속 사용에 따른 운영 부담과</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기술 변경 비용의 관리</a:t>
            </a:r>
            <a:endParaRPr lang="ko-KR">
              <a:latin typeface="Calibri"/>
              <a:ea typeface="Calibri"/>
              <a:cs typeface="Calibri"/>
            </a:endParaRPr>
          </a:p>
        </p:txBody>
      </p:sp>
      <p:sp>
        <p:nvSpPr>
          <p:cNvPr id="18" name="need-copy-rule-2">
            <a:extLst>
              <a:ext uri="{FF2B5EF4-FFF2-40B4-BE49-F238E27FC236}">
                <ns2:creationId id="{EC3A1F05-F7C0-43EE-9D1F-D5FD48B50C78}"/>
              </a:ext>
            </a:extLst>
          </p:cNvPr>
          <p:cNvSpPr>
            <a:spLocks noGrp="1"/>
          </p:cNvSpPr>
          <p:nvPr/>
        </p:nvSpPr>
        <p:spPr>
          <a:xfrm>
            <a:off x="12515850" y="7505700"/>
            <a:ext cx="4876800" cy="14288"/>
          </a:xfrm>
          <a:prstGeom prst="rect">
            <a:avLst/>
          </a:prstGeom>
          <a:solidFill>
            <a:srgbClr val="D4DBE4"/>
          </a:solidFill>
          <a:ln w="0">
            <a:noFill/>
          </a:ln>
        </p:spPr>
      </p:sp>
      <p:sp>
        <p:nvSpPr>
          <p:cNvPr id="19" name="need-copy-b-2">
            <a:extLst>
              <a:ext uri="{FF2B5EF4-FFF2-40B4-BE49-F238E27FC236}">
                <ns2:creationId id="{6BD0BE71-8D75-4CE5-8EC5-EEE020EFA053}"/>
              </a:ext>
            </a:extLst>
          </p:cNvPr>
          <p:cNvSpPr>
            <a:spLocks noGrp="1"/>
          </p:cNvSpPr>
          <p:nvPr/>
        </p:nvSpPr>
        <p:spPr>
          <a:xfrm>
            <a:off x="1247775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반복 추론과 불필요한 호출 최소화</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화면 기록과 대화 상태의 메모리 관리</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모델 및 Agent 변경의 영향 범위 축소</a:t>
            </a:r>
            <a:endParaRPr lang="ko-KR">
              <a:latin typeface="Calibri"/>
              <a:ea typeface="Calibri"/>
              <a:cs typeface="Calibri"/>
            </a:endParaRPr>
          </a:p>
        </p:txBody>
      </p:sp>
      <p:sp>
        <p:nvSpPr>
          <p:cNvPr id="20" name="need-quality-2">
            <a:extLst>
              <a:ext uri="{FF2B5EF4-FFF2-40B4-BE49-F238E27FC236}">
                <ns2:creationId id="{160850FD-40D5-454E-BE81-8E585A64B858}"/>
              </a:ext>
            </a:extLst>
          </p:cNvPr>
          <p:cNvSpPr>
            <a:spLocks noGrp="1"/>
          </p:cNvSpPr>
          <p:nvPr/>
        </p:nvSpPr>
        <p:spPr>
          <a:xfrm>
            <a:off x="1243965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운영 부담과 변경 비용 절감</a:t>
            </a:r>
            <a:endParaRPr lang="ko-KR">
              <a:latin typeface="Calibri"/>
              <a:ea typeface="Calibri"/>
              <a:cs typeface="Calibri"/>
            </a:endParaRPr>
          </a:p>
        </p:txBody>
      </p:sp>
      <p:sp>
        <p:nvSpPr>
          <p:cNvPr id="21" name="continuity-caption">
            <a:extLst>
              <a:ext uri="{FF2B5EF4-FFF2-40B4-BE49-F238E27FC236}">
                <ns2:creationId id="{F40AAB10-789B-418A-9A9C-6653DDC00C9D}"/>
              </a:ext>
            </a:extLst>
          </p:cNvPr>
          <p:cNvSpPr>
            <a:spLocks noGrp="1"/>
          </p:cNvSpPr>
          <p:nvPr/>
        </p:nvSpPr>
        <p:spPr>
          <a:xfrm>
            <a:off x="85725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 발화와 Agent 응답의 중첩</a:t>
            </a:r>
            <a:endParaRPr lang="ko-KR">
              <a:latin typeface="Calibri"/>
              <a:ea typeface="Calibri"/>
              <a:cs typeface="Calibri"/>
            </a:endParaRPr>
          </a:p>
        </p:txBody>
      </p:sp>
      <p:sp>
        <p:nvSpPr>
          <p:cNvPr id="22" name="overlap-region">
            <a:extLst>
              <a:ext uri="{FF2B5EF4-FFF2-40B4-BE49-F238E27FC236}">
                <ns2:creationId id="{724EA4FA-1286-4248-B0E8-B7E5B360DD22}"/>
              </a:ext>
            </a:extLst>
          </p:cNvPr>
          <p:cNvSpPr>
            <a:spLocks noGrp="1"/>
          </p:cNvSpPr>
          <p:nvPr/>
        </p:nvSpPr>
        <p:spPr>
          <a:xfrm>
            <a:off x="3248025" y="2809875"/>
            <a:ext cx="1066800" cy="1676400"/>
          </a:xfrm>
          <a:prstGeom prst="rect">
            <a:avLst/>
          </a:prstGeom>
          <a:solidFill>
            <a:srgbClr val="EEF4E8"/>
          </a:solidFill>
          <a:ln w="0">
            <a:noFill/>
          </a:ln>
        </p:spPr>
      </p:sp>
      <p:sp>
        <p:nvSpPr>
          <p:cNvPr id="23" name="user-lane">
            <a:extLst>
              <a:ext uri="{FF2B5EF4-FFF2-40B4-BE49-F238E27FC236}">
                <ns2:creationId id="{4824201B-0D44-495F-B992-D7B4FF11FE0C}"/>
              </a:ext>
            </a:extLst>
          </p:cNvPr>
          <p:cNvSpPr>
            <a:spLocks noGrp="1"/>
          </p:cNvSpPr>
          <p:nvPr/>
        </p:nvSpPr>
        <p:spPr>
          <a:xfrm>
            <a:off x="857250" y="2762250"/>
            <a:ext cx="22860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a:t>
            </a:r>
            <a:endParaRPr lang="ko-KR">
              <a:latin typeface="Calibri"/>
              <a:ea typeface="Calibri"/>
              <a:cs typeface="Calibri"/>
            </a:endParaRPr>
          </a:p>
        </p:txBody>
      </p:sp>
      <p:sp>
        <p:nvSpPr>
          <p:cNvPr id="24" name="user-time-axis">
            <a:extLst>
              <a:ext uri="{FF2B5EF4-FFF2-40B4-BE49-F238E27FC236}">
                <ns2:creationId id="{0CE124EC-FC9B-4A75-88AF-DFD63FF90B9B}"/>
              </a:ext>
            </a:extLst>
          </p:cNvPr>
          <p:cNvSpPr>
            <a:spLocks noGrp="1"/>
          </p:cNvSpPr>
          <p:nvPr/>
        </p:nvSpPr>
        <p:spPr>
          <a:xfrm>
            <a:off x="857250" y="3362325"/>
            <a:ext cx="4933950" cy="95250"/>
          </a:xfrm>
          <a:prstGeom prst="rightArrow">
            <a:avLst/>
          </a:prstGeom>
          <a:solidFill>
            <a:srgbClr val="8398AF"/>
          </a:solidFill>
          <a:ln w="0">
            <a:noFill/>
          </a:ln>
        </p:spPr>
      </p:sp>
      <p:sp>
        <p:nvSpPr>
          <p:cNvPr id="25" name="new-request">
            <a:extLst>
              <a:ext uri="{FF2B5EF4-FFF2-40B4-BE49-F238E27FC236}">
                <ns2:creationId id="{87B9DDB0-C00D-4A0F-A284-FE1FC8D8426B}"/>
              </a:ext>
            </a:extLst>
          </p:cNvPr>
          <p:cNvSpPr>
            <a:spLocks noGrp="1"/>
          </p:cNvSpPr>
          <p:nvPr/>
        </p:nvSpPr>
        <p:spPr>
          <a:xfrm>
            <a:off x="857250" y="3114675"/>
            <a:ext cx="1371600" cy="476250"/>
          </a:xfrm>
          <a:prstGeom prst="roundRect">
            <a:avLst>
              <a:gd name="adj" fmla="val 16000"/>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새 요청</a:t>
            </a:r>
            <a:endParaRPr lang="ko-KR">
              <a:latin typeface="Calibri"/>
              <a:ea typeface="Calibri"/>
              <a:cs typeface="Calibri"/>
            </a:endParaRPr>
          </a:p>
        </p:txBody>
      </p:sp>
      <p:sp>
        <p:nvSpPr>
          <p:cNvPr id="26" name="interruption-correction">
            <a:extLst>
              <a:ext uri="{FF2B5EF4-FFF2-40B4-BE49-F238E27FC236}">
                <ns2:creationId id="{B00B2B35-9026-400A-9F89-3C35C274384F}"/>
              </a:ext>
            </a:extLst>
          </p:cNvPr>
          <p:cNvSpPr>
            <a:spLocks noGrp="1"/>
          </p:cNvSpPr>
          <p:nvPr/>
        </p:nvSpPr>
        <p:spPr>
          <a:xfrm>
            <a:off x="3286125" y="3114675"/>
            <a:ext cx="2505075" cy="476250"/>
          </a:xfrm>
          <a:prstGeom prst="roundRect">
            <a:avLst>
              <a:gd name="adj" fmla="val 16000"/>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끼어들기와 정정</a:t>
            </a:r>
            <a:endParaRPr lang="ko-KR">
              <a:latin typeface="Calibri"/>
              <a:ea typeface="Calibri"/>
              <a:cs typeface="Calibri"/>
            </a:endParaRPr>
          </a:p>
        </p:txBody>
      </p:sp>
      <p:sp>
        <p:nvSpPr>
          <p:cNvPr id="27" name="agent-lane">
            <a:extLst>
              <a:ext uri="{FF2B5EF4-FFF2-40B4-BE49-F238E27FC236}">
                <ns2:creationId id="{5442C392-5D24-4F55-9B65-98BFDF761511}"/>
              </a:ext>
            </a:extLst>
          </p:cNvPr>
          <p:cNvSpPr>
            <a:spLocks noGrp="1"/>
          </p:cNvSpPr>
          <p:nvPr/>
        </p:nvSpPr>
        <p:spPr>
          <a:xfrm>
            <a:off x="857250" y="3762375"/>
            <a:ext cx="38100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Downstream Agent</a:t>
            </a:r>
            <a:endParaRPr lang="ko-KR">
              <a:latin typeface="Calibri"/>
              <a:ea typeface="Calibri"/>
              <a:cs typeface="Calibri"/>
            </a:endParaRPr>
          </a:p>
        </p:txBody>
      </p:sp>
      <p:sp>
        <p:nvSpPr>
          <p:cNvPr id="28" name="agent-time-axis">
            <a:extLst>
              <a:ext uri="{FF2B5EF4-FFF2-40B4-BE49-F238E27FC236}">
                <ns2:creationId id="{E0849DA2-5609-4767-A71E-26EB5B7CC1FD}"/>
              </a:ext>
            </a:extLst>
          </p:cNvPr>
          <p:cNvSpPr>
            <a:spLocks noGrp="1"/>
          </p:cNvSpPr>
          <p:nvPr/>
        </p:nvSpPr>
        <p:spPr>
          <a:xfrm>
            <a:off x="857250" y="4314825"/>
            <a:ext cx="4933950" cy="95250"/>
          </a:xfrm>
          <a:prstGeom prst="rightArrow">
            <a:avLst/>
          </a:prstGeom>
          <a:solidFill>
            <a:srgbClr val="8398AF"/>
          </a:solidFill>
          <a:ln w="0">
            <a:noFill/>
          </a:ln>
        </p:spPr>
      </p:sp>
      <p:sp>
        <p:nvSpPr>
          <p:cNvPr id="29" name="agent-question">
            <a:extLst>
              <a:ext uri="{FF2B5EF4-FFF2-40B4-BE49-F238E27FC236}">
                <ns2:creationId id="{8BED7837-FC1F-4408-9569-6EA946A0C26E}"/>
              </a:ext>
            </a:extLst>
          </p:cNvPr>
          <p:cNvSpPr>
            <a:spLocks noGrp="1"/>
          </p:cNvSpPr>
          <p:nvPr/>
        </p:nvSpPr>
        <p:spPr>
          <a:xfrm>
            <a:off x="2524125" y="4067175"/>
            <a:ext cx="1333500" cy="476250"/>
          </a:xfrm>
          <a:prstGeom prst="roundRect">
            <a:avLst>
              <a:gd name="adj" fmla="val 16000"/>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질문</a:t>
            </a:r>
            <a:endParaRPr lang="ko-KR">
              <a:latin typeface="Calibri"/>
              <a:ea typeface="Calibri"/>
              <a:cs typeface="Calibri"/>
            </a:endParaRPr>
          </a:p>
        </p:txBody>
      </p:sp>
      <p:sp>
        <p:nvSpPr>
          <p:cNvPr id="30" name="agent-result">
            <a:extLst>
              <a:ext uri="{FF2B5EF4-FFF2-40B4-BE49-F238E27FC236}">
                <ns2:creationId id="{CF55F259-9A5A-4C3F-AAEA-F72E08C8D7B0}"/>
              </a:ext>
            </a:extLst>
          </p:cNvPr>
          <p:cNvSpPr>
            <a:spLocks noGrp="1"/>
          </p:cNvSpPr>
          <p:nvPr/>
        </p:nvSpPr>
        <p:spPr>
          <a:xfrm>
            <a:off x="4429125" y="4067175"/>
            <a:ext cx="1362075" cy="476250"/>
          </a:xfrm>
          <a:prstGeom prst="roundRect">
            <a:avLst>
              <a:gd name="adj" fmla="val 16000"/>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p:txBody>
      </p:sp>
      <p:sp>
        <p:nvSpPr>
          <p:cNvPr id="31" name="overlap-label">
            <a:extLst>
              <a:ext uri="{FF2B5EF4-FFF2-40B4-BE49-F238E27FC236}">
                <ns2:creationId id="{3C77E548-D725-4FD6-AA84-00E580BF9E62}"/>
              </a:ext>
            </a:extLst>
          </p:cNvPr>
          <p:cNvSpPr>
            <a:spLocks noGrp="1"/>
          </p:cNvSpPr>
          <p:nvPr/>
        </p:nvSpPr>
        <p:spPr>
          <a:xfrm>
            <a:off x="3267075" y="4591050"/>
            <a:ext cx="1295400" cy="247650"/>
          </a:xfrm>
          <a:prstGeom prst="rect">
            <a:avLst/>
          </a:prstGeom>
          <a:noFill/>
          <a:ln w="0">
            <a:noFill/>
          </a:ln>
        </p:spPr>
        <p:txBody>
          <a:bodyPr wrap="none" lIns="0" tIns="0" rIns="0" bIns="0" anchor="ctr">
            <a:noAutofit/>
          </a:bodyPr>
          <a:lstStyle>
            <a:defPPr algn="ctr">
              <a:defRPr sz="1600" b="1" lang="ko-KR">
                <a:solidFill>
                  <a:srgbClr val="082759"/>
                </a:solidFill>
                <a:latin typeface="Calibri"/>
                <a:ea typeface="Calibri"/>
                <a:cs typeface="Calibri"/>
              </a:defRPr>
            </a:defPPr>
          </a:lstStyle>
          <a:p>
            <a:pPr algn="ctr">
              <a:defRPr sz="1600" b="1" lang="ko-KR">
                <a:solidFill>
                  <a:srgbClr val="082759"/>
                </a:solidFill>
                <a:latin typeface="Calibri"/>
                <a:ea typeface="Calibri"/>
                <a:cs typeface="Calibri"/>
              </a:defRPr>
            </a:pPr>
            <a:r>
              <a:rPr sz="1600" b="1" lang="ko-KR">
                <a:solidFill>
                  <a:srgbClr val="082759"/>
                </a:solidFill>
                <a:latin typeface="Calibri"/>
                <a:ea typeface="Calibri"/>
                <a:cs typeface="Calibri"/>
              </a:rPr>
              <a:t>동시 발생</a:t>
            </a:r>
            <a:endParaRPr lang="ko-KR">
              <a:latin typeface="Calibri"/>
              <a:ea typeface="Calibri"/>
              <a:cs typeface="Calibri"/>
            </a:endParaRPr>
          </a:p>
        </p:txBody>
      </p:sp>
      <p:sp>
        <p:nvSpPr>
          <p:cNvPr id="32" name="time-label">
            <a:extLst>
              <a:ext uri="{FF2B5EF4-FFF2-40B4-BE49-F238E27FC236}">
                <ns2:creationId id="{09606304-AF1B-4AEF-B4D4-60E7542DFB53}"/>
              </a:ext>
            </a:extLst>
          </p:cNvPr>
          <p:cNvSpPr>
            <a:spLocks noGrp="1"/>
          </p:cNvSpPr>
          <p:nvPr/>
        </p:nvSpPr>
        <p:spPr>
          <a:xfrm>
            <a:off x="5248275" y="4591050"/>
            <a:ext cx="533400" cy="247650"/>
          </a:xfrm>
          <a:prstGeom prst="rect">
            <a:avLst/>
          </a:prstGeom>
          <a:noFill/>
          <a:ln w="0">
            <a:noFill/>
          </a:ln>
        </p:spPr>
        <p:txBody>
          <a:bodyPr wrap="none" lIns="0" tIns="0" rIns="0" bIns="0" anchor="ctr">
            <a:noAutofit/>
          </a:bodyPr>
          <a:lstStyle>
            <a:defPPr algn="r">
              <a:defRPr sz="1400" b="0" lang="ko-KR">
                <a:solidFill>
                  <a:srgbClr val="4A5563"/>
                </a:solidFill>
                <a:latin typeface="Calibri"/>
                <a:ea typeface="Calibri"/>
                <a:cs typeface="Calibri"/>
              </a:defRPr>
            </a:defPPr>
          </a:lstStyle>
          <a:p>
            <a:pPr algn="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시간</a:t>
            </a:r>
            <a:endParaRPr lang="ko-KR">
              <a:latin typeface="Calibri"/>
              <a:ea typeface="Calibri"/>
              <a:cs typeface="Calibri"/>
            </a:endParaRPr>
          </a:p>
        </p:txBody>
      </p:sp>
      <p:sp>
        <p:nvSpPr>
          <p:cNvPr id="33" name="relations-label">
            <a:extLst>
              <a:ext uri="{FF2B5EF4-FFF2-40B4-BE49-F238E27FC236}">
                <ns2:creationId id="{DD177C67-386B-4A92-A7A2-90321EBA1082}"/>
              </a:ext>
            </a:extLst>
          </p:cNvPr>
          <p:cNvSpPr>
            <a:spLocks noGrp="1"/>
          </p:cNvSpPr>
          <p:nvPr/>
        </p:nvSpPr>
        <p:spPr>
          <a:xfrm>
            <a:off x="857250" y="5048250"/>
            <a:ext cx="2381250" cy="285750"/>
          </a:xfrm>
          <a:prstGeom prst="rect">
            <a:avLst/>
          </a:prstGeom>
          <a:noFill/>
          <a:ln w="0">
            <a:noFill/>
          </a:ln>
        </p:spPr>
        <p:txBody>
          <a:bodyPr wrap="none" lIns="0" tIns="0" rIns="0" bIns="0" anchor="ctr">
            <a:noAutofit/>
          </a:bodyPr>
          <a:lstStyle>
            <a:defPPr algn="l">
              <a:defRPr sz="1700" b="1" lang="ko-KR">
                <a:solidFill>
                  <a:srgbClr val="000000"/>
                </a:solidFill>
                <a:latin typeface="Calibri"/>
                <a:ea typeface="Calibri"/>
                <a:cs typeface="Calibri"/>
              </a:defRPr>
            </a:defP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대화와 업무의 관계</a:t>
            </a:r>
            <a:endParaRPr lang="ko-KR">
              <a:latin typeface="Calibri"/>
              <a:ea typeface="Calibri"/>
              <a:cs typeface="Calibri"/>
            </a:endParaRPr>
          </a:p>
        </p:txBody>
      </p:sp>
      <p:sp>
        <p:nvSpPr>
          <p:cNvPr id="34" name="relation-question">
            <a:extLst>
              <a:ext uri="{FF2B5EF4-FFF2-40B4-BE49-F238E27FC236}">
                <ns2:creationId id="{63C353A3-3962-4A8F-A03C-B25DCB8BAC8E}"/>
              </a:ext>
            </a:extLst>
          </p:cNvPr>
          <p:cNvSpPr>
            <a:spLocks noGrp="1"/>
          </p:cNvSpPr>
          <p:nvPr/>
        </p:nvSpPr>
        <p:spPr>
          <a:xfrm>
            <a:off x="2047875" y="5429250"/>
            <a:ext cx="876300" cy="400050"/>
          </a:xfrm>
          <a:prstGeom prst="roundRect">
            <a:avLst>
              <a:gd name="adj" fmla="val 19048"/>
            </a:avLst>
          </a:prstGeom>
          <a:solidFill>
            <a:srgbClr val="FFFFFF"/>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a:t>
            </a:r>
            <a:endParaRPr lang="ko-KR">
              <a:latin typeface="Calibri"/>
              <a:ea typeface="Calibri"/>
              <a:cs typeface="Calibri"/>
            </a:endParaRPr>
          </a:p>
        </p:txBody>
      </p:sp>
      <p:sp>
        <p:nvSpPr>
          <p:cNvPr id="35" name="question-request-link">
            <a:extLst>
              <a:ext uri="{FF2B5EF4-FFF2-40B4-BE49-F238E27FC236}">
                <ns2:creationId id="{CE98BAEC-8ADE-45B0-80C7-004AC47480A6}"/>
              </a:ext>
            </a:extLst>
          </p:cNvPr>
          <p:cNvSpPr>
            <a:spLocks noGrp="1"/>
          </p:cNvSpPr>
          <p:nvPr/>
        </p:nvSpPr>
        <p:spPr>
          <a:xfrm>
            <a:off x="2476500" y="5829300"/>
            <a:ext cx="19050" cy="190500"/>
          </a:xfrm>
          <a:prstGeom prst="rect">
            <a:avLst/>
          </a:prstGeom>
          <a:solidFill>
            <a:srgbClr val="8398AF"/>
          </a:solidFill>
          <a:ln w="0">
            <a:noFill/>
          </a:ln>
        </p:spPr>
      </p:sp>
      <p:sp>
        <p:nvSpPr>
          <p:cNvPr id="36" name="relation-0">
            <a:extLst>
              <a:ext uri="{FF2B5EF4-FFF2-40B4-BE49-F238E27FC236}">
                <ns2:creationId id="{ACD1DA3D-0D0B-4E3C-8C4C-78BFB6816D52}"/>
              </a:ext>
            </a:extLst>
          </p:cNvPr>
          <p:cNvSpPr>
            <a:spLocks noGrp="1"/>
          </p:cNvSpPr>
          <p:nvPr/>
        </p:nvSpPr>
        <p:spPr>
          <a:xfrm>
            <a:off x="857250" y="6019800"/>
            <a:ext cx="895350"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대화</a:t>
            </a:r>
            <a:endParaRPr lang="ko-KR">
              <a:latin typeface="Calibri"/>
              <a:ea typeface="Calibri"/>
              <a:cs typeface="Calibri"/>
            </a:endParaRPr>
          </a:p>
        </p:txBody>
      </p:sp>
      <p:sp>
        <p:nvSpPr>
          <p:cNvPr id="37" name="relation-edge-0">
            <a:extLst>
              <a:ext uri="{FF2B5EF4-FFF2-40B4-BE49-F238E27FC236}">
                <ns2:creationId id="{A4B79ADE-46B6-47C0-97E1-3683C992B64C}"/>
              </a:ext>
            </a:extLst>
          </p:cNvPr>
          <p:cNvSpPr>
            <a:spLocks noGrp="1"/>
          </p:cNvSpPr>
          <p:nvPr/>
        </p:nvSpPr>
        <p:spPr>
          <a:xfrm>
            <a:off x="1752600" y="6210300"/>
            <a:ext cx="295275" cy="19050"/>
          </a:xfrm>
          <a:prstGeom prst="rect">
            <a:avLst/>
          </a:prstGeom>
          <a:solidFill>
            <a:srgbClr val="8398AF"/>
          </a:solidFill>
          <a:ln w="0">
            <a:noFill/>
          </a:ln>
        </p:spPr>
      </p:sp>
      <p:sp>
        <p:nvSpPr>
          <p:cNvPr id="38" name="relation-1">
            <a:extLst>
              <a:ext uri="{FF2B5EF4-FFF2-40B4-BE49-F238E27FC236}">
                <ns2:creationId id="{F23CA529-F09A-4F19-A392-41460FC786E1}"/>
              </a:ext>
            </a:extLst>
          </p:cNvPr>
          <p:cNvSpPr>
            <a:spLocks noGrp="1"/>
          </p:cNvSpPr>
          <p:nvPr/>
        </p:nvSpPr>
        <p:spPr>
          <a:xfrm>
            <a:off x="2047875" y="6019800"/>
            <a:ext cx="876300" cy="400050"/>
          </a:xfrm>
          <a:prstGeom prst="roundRect">
            <a:avLst>
              <a:gd name="adj" fmla="val 19048"/>
            </a:avLst>
          </a:prstGeom>
          <a:solidFill>
            <a:srgbClr val="DDECCD"/>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요청</a:t>
            </a:r>
            <a:endParaRPr lang="ko-KR">
              <a:latin typeface="Calibri"/>
              <a:ea typeface="Calibri"/>
              <a:cs typeface="Calibri"/>
            </a:endParaRPr>
          </a:p>
        </p:txBody>
      </p:sp>
      <p:sp>
        <p:nvSpPr>
          <p:cNvPr id="39" name="relation-edge-1">
            <a:extLst>
              <a:ext uri="{FF2B5EF4-FFF2-40B4-BE49-F238E27FC236}">
                <ns2:creationId id="{977DE543-A3A5-4FE6-99A7-1CAF948576E6}"/>
              </a:ext>
            </a:extLst>
          </p:cNvPr>
          <p:cNvSpPr>
            <a:spLocks noGrp="1"/>
          </p:cNvSpPr>
          <p:nvPr/>
        </p:nvSpPr>
        <p:spPr>
          <a:xfrm>
            <a:off x="2924175" y="6210300"/>
            <a:ext cx="295275" cy="19050"/>
          </a:xfrm>
          <a:prstGeom prst="rect">
            <a:avLst/>
          </a:prstGeom>
          <a:solidFill>
            <a:srgbClr val="8398AF"/>
          </a:solidFill>
          <a:ln w="0">
            <a:noFill/>
          </a:ln>
        </p:spPr>
      </p:sp>
      <p:sp>
        <p:nvSpPr>
          <p:cNvPr id="40" name="relation-2">
            <a:extLst>
              <a:ext uri="{FF2B5EF4-FFF2-40B4-BE49-F238E27FC236}">
                <ns2:creationId id="{10056226-722D-4FB5-BA33-FE16AFC7B821}"/>
              </a:ext>
            </a:extLst>
          </p:cNvPr>
          <p:cNvSpPr>
            <a:spLocks noGrp="1"/>
          </p:cNvSpPr>
          <p:nvPr/>
        </p:nvSpPr>
        <p:spPr>
          <a:xfrm>
            <a:off x="3238500" y="6019800"/>
            <a:ext cx="876300"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업무</a:t>
            </a:r>
            <a:endParaRPr lang="ko-KR">
              <a:latin typeface="Calibri"/>
              <a:ea typeface="Calibri"/>
              <a:cs typeface="Calibri"/>
            </a:endParaRPr>
          </a:p>
        </p:txBody>
      </p:sp>
      <p:sp>
        <p:nvSpPr>
          <p:cNvPr id="41" name="relation-edge-2">
            <a:extLst>
              <a:ext uri="{FF2B5EF4-FFF2-40B4-BE49-F238E27FC236}">
                <ns2:creationId id="{0BF3EA68-1341-4292-B988-EF589B3B9BB1}"/>
              </a:ext>
            </a:extLst>
          </p:cNvPr>
          <p:cNvSpPr>
            <a:spLocks noGrp="1"/>
          </p:cNvSpPr>
          <p:nvPr/>
        </p:nvSpPr>
        <p:spPr>
          <a:xfrm>
            <a:off x="4114800" y="6210300"/>
            <a:ext cx="295275" cy="19050"/>
          </a:xfrm>
          <a:prstGeom prst="rect">
            <a:avLst/>
          </a:prstGeom>
          <a:solidFill>
            <a:srgbClr val="8398AF"/>
          </a:solidFill>
          <a:ln w="0">
            <a:noFill/>
          </a:ln>
        </p:spPr>
      </p:sp>
      <p:sp>
        <p:nvSpPr>
          <p:cNvPr id="42" name="relation-3">
            <a:extLst>
              <a:ext uri="{FF2B5EF4-FFF2-40B4-BE49-F238E27FC236}">
                <ns2:creationId id="{6F103742-6044-4C80-8400-49591DCF1DE7}"/>
              </a:ext>
            </a:extLst>
          </p:cNvPr>
          <p:cNvSpPr>
            <a:spLocks noGrp="1"/>
          </p:cNvSpPr>
          <p:nvPr/>
        </p:nvSpPr>
        <p:spPr>
          <a:xfrm>
            <a:off x="4429125" y="6019800"/>
            <a:ext cx="1362075"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Agent 실행</a:t>
            </a:r>
            <a:endParaRPr lang="ko-KR">
              <a:latin typeface="Calibri"/>
              <a:ea typeface="Calibri"/>
              <a:cs typeface="Calibri"/>
            </a:endParaRPr>
          </a:p>
        </p:txBody>
      </p:sp>
      <p:sp>
        <p:nvSpPr>
          <p:cNvPr id="43" name="context-caption">
            <a:extLst>
              <a:ext uri="{FF2B5EF4-FFF2-40B4-BE49-F238E27FC236}">
                <ns2:creationId id="{A99C9A7B-B612-4CC2-BF5A-552F647E79E2}"/>
              </a:ext>
            </a:extLst>
          </p:cNvPr>
          <p:cNvSpPr>
            <a:spLocks noGrp="1"/>
          </p:cNvSpPr>
          <p:nvPr/>
        </p:nvSpPr>
        <p:spPr>
          <a:xfrm>
            <a:off x="666750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현재 요청에 필요한 정보의 결합</a:t>
            </a:r>
            <a:endParaRPr lang="ko-KR">
              <a:latin typeface="Calibri"/>
              <a:ea typeface="Calibri"/>
              <a:cs typeface="Calibri"/>
            </a:endParaRPr>
          </a:p>
        </p:txBody>
      </p:sp>
      <p:sp>
        <p:nvSpPr>
          <p:cNvPr id="44" name="context-input-0">
            <a:extLst>
              <a:ext uri="{FF2B5EF4-FFF2-40B4-BE49-F238E27FC236}">
                <ns2:creationId id="{B30A3055-A594-4B22-9372-62328E57F5E7}"/>
              </a:ext>
            </a:extLst>
          </p:cNvPr>
          <p:cNvSpPr>
            <a:spLocks noGrp="1"/>
          </p:cNvSpPr>
          <p:nvPr/>
        </p:nvSpPr>
        <p:spPr>
          <a:xfrm>
            <a:off x="6667500" y="2867025"/>
            <a:ext cx="2514600" cy="1009650"/>
          </a:xfrm>
          <a:prstGeom prst="roundRect">
            <a:avLst>
              <a:gd name="adj" fmla="val 7547"/>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발화 내용과 정정</a:t>
            </a:r>
            <a:endParaRPr lang="ko-KR">
              <a:latin typeface="Calibri"/>
              <a:ea typeface="Calibri"/>
              <a:cs typeface="Calibri"/>
            </a:endParaRPr>
          </a:p>
        </p:txBody>
      </p:sp>
      <p:sp>
        <p:nvSpPr>
          <p:cNvPr id="45" name="context-wire-0">
            <a:extLst>
              <a:ext uri="{FF2B5EF4-FFF2-40B4-BE49-F238E27FC236}">
                <ns2:creationId id="{39716019-23DD-4776-9862-B4E070564942}"/>
              </a:ext>
            </a:extLst>
          </p:cNvPr>
          <p:cNvSpPr>
            <a:spLocks noGrp="1"/>
          </p:cNvSpPr>
          <p:nvPr/>
        </p:nvSpPr>
        <p:spPr>
          <a:xfrm>
            <a:off x="9182100" y="3362325"/>
            <a:ext cx="323850" cy="19050"/>
          </a:xfrm>
          <a:prstGeom prst="rect">
            <a:avLst/>
          </a:prstGeom>
          <a:solidFill>
            <a:srgbClr val="8398AF"/>
          </a:solidFill>
          <a:ln w="0">
            <a:noFill/>
          </a:ln>
        </p:spPr>
      </p:sp>
      <p:sp>
        <p:nvSpPr>
          <p:cNvPr id="46" name="context-input-1">
            <a:extLst>
              <a:ext uri="{FF2B5EF4-FFF2-40B4-BE49-F238E27FC236}">
                <ns2:creationId id="{C5CC9D07-D789-4CD4-9327-D9B3C4BA7382}"/>
              </a:ext>
            </a:extLst>
          </p:cNvPr>
          <p:cNvSpPr>
            <a:spLocks noGrp="1"/>
          </p:cNvSpPr>
          <p:nvPr/>
        </p:nvSpPr>
        <p:spPr>
          <a:xfrm>
            <a:off x="6667500" y="4029075"/>
            <a:ext cx="2514600" cy="1009650"/>
          </a:xfrm>
          <a:prstGeom prst="roundRect">
            <a:avLst>
              <a:gd name="adj" fmla="val 7547"/>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당시 화면</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활성 창, 포인터</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클릭, 선택 범위</a:t>
            </a:r>
            <a:endParaRPr lang="ko-KR">
              <a:latin typeface="Calibri"/>
              <a:ea typeface="Calibri"/>
              <a:cs typeface="Calibri"/>
            </a:endParaRPr>
          </a:p>
        </p:txBody>
      </p:sp>
      <p:sp>
        <p:nvSpPr>
          <p:cNvPr id="47" name="context-wire-1">
            <a:extLst>
              <a:ext uri="{FF2B5EF4-FFF2-40B4-BE49-F238E27FC236}">
                <ns2:creationId id="{5AAB65C3-10BD-4BE5-9ADB-BAF599844CD0}"/>
              </a:ext>
            </a:extLst>
          </p:cNvPr>
          <p:cNvSpPr>
            <a:spLocks noGrp="1"/>
          </p:cNvSpPr>
          <p:nvPr/>
        </p:nvSpPr>
        <p:spPr>
          <a:xfrm>
            <a:off x="9182100" y="4524375"/>
            <a:ext cx="323850" cy="19050"/>
          </a:xfrm>
          <a:prstGeom prst="rect">
            <a:avLst/>
          </a:prstGeom>
          <a:solidFill>
            <a:srgbClr val="8398AF"/>
          </a:solidFill>
          <a:ln w="0">
            <a:noFill/>
          </a:ln>
        </p:spPr>
      </p:sp>
      <p:sp>
        <p:nvSpPr>
          <p:cNvPr id="48" name="context-input-2">
            <a:extLst>
              <a:ext uri="{FF2B5EF4-FFF2-40B4-BE49-F238E27FC236}">
                <ns2:creationId id="{277BBF91-9D0A-4D9F-9C6F-E2D9D2276755}"/>
              </a:ext>
            </a:extLst>
          </p:cNvPr>
          <p:cNvSpPr>
            <a:spLocks noGrp="1"/>
          </p:cNvSpPr>
          <p:nvPr/>
        </p:nvSpPr>
        <p:spPr>
          <a:xfrm>
            <a:off x="6667500" y="5191125"/>
            <a:ext cx="2514600" cy="1009650"/>
          </a:xfrm>
          <a:prstGeom prst="roundRect">
            <a:avLst>
              <a:gd name="adj" fmla="val 7547"/>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과거 이력</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대화와 업무 결과</a:t>
            </a:r>
            <a:endParaRPr lang="ko-KR">
              <a:latin typeface="Calibri"/>
              <a:ea typeface="Calibri"/>
              <a:cs typeface="Calibri"/>
            </a:endParaRPr>
          </a:p>
        </p:txBody>
      </p:sp>
      <p:sp>
        <p:nvSpPr>
          <p:cNvPr id="49" name="context-wire-2">
            <a:extLst>
              <a:ext uri="{FF2B5EF4-FFF2-40B4-BE49-F238E27FC236}">
                <ns2:creationId id="{10BECB4F-FC94-4391-B060-E94473E2DBCD}"/>
              </a:ext>
            </a:extLst>
          </p:cNvPr>
          <p:cNvSpPr>
            <a:spLocks noGrp="1"/>
          </p:cNvSpPr>
          <p:nvPr/>
        </p:nvSpPr>
        <p:spPr>
          <a:xfrm>
            <a:off x="9182100" y="5686425"/>
            <a:ext cx="323850" cy="19050"/>
          </a:xfrm>
          <a:prstGeom prst="rect">
            <a:avLst/>
          </a:prstGeom>
          <a:solidFill>
            <a:srgbClr val="8398AF"/>
          </a:solidFill>
          <a:ln w="0">
            <a:noFill/>
          </a:ln>
        </p:spPr>
      </p:sp>
      <p:sp>
        <p:nvSpPr>
          <p:cNvPr id="50" name="context-bus">
            <a:extLst>
              <a:ext uri="{FF2B5EF4-FFF2-40B4-BE49-F238E27FC236}">
                <ns2:creationId id="{0C975E28-515D-44A6-8F02-9B6B11330F85}"/>
              </a:ext>
            </a:extLst>
          </p:cNvPr>
          <p:cNvSpPr>
            <a:spLocks noGrp="1"/>
          </p:cNvSpPr>
          <p:nvPr/>
        </p:nvSpPr>
        <p:spPr>
          <a:xfrm>
            <a:off x="9486900" y="3371850"/>
            <a:ext cx="19050" cy="2324100"/>
          </a:xfrm>
          <a:prstGeom prst="rect">
            <a:avLst/>
          </a:prstGeom>
          <a:solidFill>
            <a:srgbClr val="8398AF"/>
          </a:solidFill>
          <a:ln w="0">
            <a:noFill/>
          </a:ln>
        </p:spPr>
      </p:sp>
      <p:sp>
        <p:nvSpPr>
          <p:cNvPr id="51" name="context-adoption">
            <a:extLst>
              <a:ext uri="{FF2B5EF4-FFF2-40B4-BE49-F238E27FC236}">
                <ns2:creationId id="{2C89DDD7-DB47-4E2C-A4BB-A64DF868EB06}"/>
              </a:ext>
            </a:extLst>
          </p:cNvPr>
          <p:cNvSpPr>
            <a:spLocks noGrp="1"/>
          </p:cNvSpPr>
          <p:nvPr/>
        </p:nvSpPr>
        <p:spPr>
          <a:xfrm>
            <a:off x="9505950" y="4429125"/>
            <a:ext cx="266700" cy="209550"/>
          </a:xfrm>
          <a:prstGeom prst="rightArrow">
            <a:avLst/>
          </a:prstGeom>
          <a:solidFill>
            <a:srgbClr val="8398AF"/>
          </a:solidFill>
          <a:ln w="0">
            <a:noFill/>
          </a:ln>
        </p:spPr>
      </p:sp>
      <p:sp>
        <p:nvSpPr>
          <p:cNvPr id="52" name="context-output">
            <a:extLst>
              <a:ext uri="{FF2B5EF4-FFF2-40B4-BE49-F238E27FC236}">
                <ns2:creationId id="{42F66553-FDD5-429A-BE21-4056AE66ADDD}"/>
              </a:ext>
            </a:extLst>
          </p:cNvPr>
          <p:cNvSpPr>
            <a:spLocks noGrp="1"/>
          </p:cNvSpPr>
          <p:nvPr/>
        </p:nvSpPr>
        <p:spPr>
          <a:xfrm>
            <a:off x="9791700" y="3467100"/>
            <a:ext cx="1828800" cy="2133600"/>
          </a:xfrm>
          <a:prstGeom prst="roundRect">
            <a:avLst>
              <a:gd name="adj" fmla="val 4167"/>
            </a:avLst>
          </a:prstGeom>
          <a:solidFill>
            <a:srgbClr val="DDECCD"/>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현재 요청 이해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조건</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관련 업무</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정정 범위</a:t>
            </a:r>
            <a:endParaRPr lang="ko-KR">
              <a:latin typeface="Calibri"/>
              <a:ea typeface="Calibri"/>
              <a:cs typeface="Calibri"/>
            </a:endParaRPr>
          </a:p>
        </p:txBody>
      </p:sp>
      <p:sp>
        <p:nvSpPr>
          <p:cNvPr id="53" name="resource-caption">
            <a:extLst>
              <a:ext uri="{FF2B5EF4-FFF2-40B4-BE49-F238E27FC236}">
                <ns2:creationId id="{04B538E0-2F57-4A2C-A8DA-ABF15C59C6F7}"/>
              </a:ext>
            </a:extLst>
          </p:cNvPr>
          <p:cNvSpPr>
            <a:spLocks noGrp="1"/>
          </p:cNvSpPr>
          <p:nvPr/>
        </p:nvSpPr>
        <p:spPr>
          <a:xfrm>
            <a:off x="1247775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운영 조건에 따른 부담</a:t>
            </a:r>
            <a:endParaRPr lang="ko-KR">
              <a:latin typeface="Calibri"/>
              <a:ea typeface="Calibri"/>
              <a:cs typeface="Calibri"/>
            </a:endParaRPr>
          </a:p>
        </p:txBody>
      </p:sp>
      <p:sp>
        <p:nvSpPr>
          <p:cNvPr id="54" name="resource-cause-0">
            <a:extLst>
              <a:ext uri="{FF2B5EF4-FFF2-40B4-BE49-F238E27FC236}">
                <ns2:creationId id="{85FE23F6-45A4-420F-9F98-9177CE3BBECC}"/>
              </a:ext>
            </a:extLst>
          </p:cNvPr>
          <p:cNvSpPr>
            <a:spLocks noGrp="1"/>
          </p:cNvSpPr>
          <p:nvPr/>
        </p:nvSpPr>
        <p:spPr>
          <a:xfrm>
            <a:off x="12477750" y="29241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지속적인 대화</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반복적인 맥락 처리</a:t>
            </a:r>
            <a:endParaRPr lang="ko-KR">
              <a:latin typeface="Calibri"/>
              <a:ea typeface="Calibri"/>
              <a:cs typeface="Calibri"/>
            </a:endParaRPr>
          </a:p>
        </p:txBody>
      </p:sp>
      <p:sp>
        <p:nvSpPr>
          <p:cNvPr id="55" name="resource-arrow-0">
            <a:extLst>
              <a:ext uri="{FF2B5EF4-FFF2-40B4-BE49-F238E27FC236}">
                <ns2:creationId id="{F5943F93-8030-4C36-8A33-AB314CF0A888}"/>
              </a:ext>
            </a:extLst>
          </p:cNvPr>
          <p:cNvSpPr>
            <a:spLocks noGrp="1"/>
          </p:cNvSpPr>
          <p:nvPr/>
        </p:nvSpPr>
        <p:spPr>
          <a:xfrm>
            <a:off x="15049500" y="3257550"/>
            <a:ext cx="352425" cy="209550"/>
          </a:xfrm>
          <a:prstGeom prst="rightArrow">
            <a:avLst/>
          </a:prstGeom>
          <a:solidFill>
            <a:srgbClr val="8398AF"/>
          </a:solidFill>
          <a:ln w="0">
            <a:noFill/>
          </a:ln>
        </p:spPr>
      </p:sp>
      <p:sp>
        <p:nvSpPr>
          <p:cNvPr id="56" name="resource-effect-0">
            <a:extLst>
              <a:ext uri="{FF2B5EF4-FFF2-40B4-BE49-F238E27FC236}">
                <ns2:creationId id="{2456B684-7B0A-4C50-BEF9-3788D5E3C35D}"/>
              </a:ext>
            </a:extLst>
          </p:cNvPr>
          <p:cNvSpPr>
            <a:spLocks noGrp="1"/>
          </p:cNvSpPr>
          <p:nvPr/>
        </p:nvSpPr>
        <p:spPr>
          <a:xfrm>
            <a:off x="15468600" y="2924175"/>
            <a:ext cx="1962150" cy="876300"/>
          </a:xfrm>
          <a:prstGeom prst="roundRect">
            <a:avLst>
              <a:gd name="adj" fmla="val 8696"/>
            </a:avLst>
          </a:prstGeom>
          <a:solidFill>
            <a:srgbClr val="E7F4F8"/>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p:txBody>
      </p:sp>
      <p:sp>
        <p:nvSpPr>
          <p:cNvPr id="57" name="resource-cause-1">
            <a:extLst>
              <a:ext uri="{FF2B5EF4-FFF2-40B4-BE49-F238E27FC236}">
                <ns2:creationId id="{99B02B0E-C35A-4461-8D5A-1258E7CB3AED}"/>
              </a:ext>
            </a:extLst>
          </p:cNvPr>
          <p:cNvSpPr>
            <a:spLocks noGrp="1"/>
          </p:cNvSpPr>
          <p:nvPr/>
        </p:nvSpPr>
        <p:spPr>
          <a:xfrm>
            <a:off x="12477750" y="41433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 기록</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대화와 업무 상태</a:t>
            </a:r>
            <a:endParaRPr lang="ko-KR">
              <a:latin typeface="Calibri"/>
              <a:ea typeface="Calibri"/>
              <a:cs typeface="Calibri"/>
            </a:endParaRPr>
          </a:p>
        </p:txBody>
      </p:sp>
      <p:sp>
        <p:nvSpPr>
          <p:cNvPr id="58" name="resource-arrow-1">
            <a:extLst>
              <a:ext uri="{FF2B5EF4-FFF2-40B4-BE49-F238E27FC236}">
                <ns2:creationId id="{DDC7D74E-009E-4C35-AA7E-08156E12FA72}"/>
              </a:ext>
            </a:extLst>
          </p:cNvPr>
          <p:cNvSpPr>
            <a:spLocks noGrp="1"/>
          </p:cNvSpPr>
          <p:nvPr/>
        </p:nvSpPr>
        <p:spPr>
          <a:xfrm>
            <a:off x="15049500" y="4476750"/>
            <a:ext cx="352425" cy="209550"/>
          </a:xfrm>
          <a:prstGeom prst="rightArrow">
            <a:avLst/>
          </a:prstGeom>
          <a:solidFill>
            <a:srgbClr val="8398AF"/>
          </a:solidFill>
          <a:ln w="0">
            <a:noFill/>
          </a:ln>
        </p:spPr>
      </p:sp>
      <p:sp>
        <p:nvSpPr>
          <p:cNvPr id="59" name="resource-effect-1">
            <a:extLst>
              <a:ext uri="{FF2B5EF4-FFF2-40B4-BE49-F238E27FC236}">
                <ns2:creationId id="{AB9D1B01-BB23-4E08-88C1-1271767C0D91}"/>
              </a:ext>
            </a:extLst>
          </p:cNvPr>
          <p:cNvSpPr>
            <a:spLocks noGrp="1"/>
          </p:cNvSpPr>
          <p:nvPr/>
        </p:nvSpPr>
        <p:spPr>
          <a:xfrm>
            <a:off x="15468600" y="4143375"/>
            <a:ext cx="1962150" cy="876300"/>
          </a:xfrm>
          <a:prstGeom prst="roundRect">
            <a:avLst>
              <a:gd name="adj" fmla="val 8696"/>
            </a:avLst>
          </a:prstGeom>
          <a:solidFill>
            <a:srgbClr val="E7F4F8"/>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PC 메모리 점유</a:t>
            </a:r>
            <a:endParaRPr lang="ko-KR">
              <a:latin typeface="Calibri"/>
              <a:ea typeface="Calibri"/>
              <a:cs typeface="Calibri"/>
            </a:endParaRPr>
          </a:p>
        </p:txBody>
      </p:sp>
      <p:sp>
        <p:nvSpPr>
          <p:cNvPr id="60" name="resource-cause-2">
            <a:extLst>
              <a:ext uri="{FF2B5EF4-FFF2-40B4-BE49-F238E27FC236}">
                <ns2:creationId id="{2CE8440E-DE4A-4343-9425-1C996627EED3}"/>
              </a:ext>
            </a:extLst>
          </p:cNvPr>
          <p:cNvSpPr>
            <a:spLocks noGrp="1"/>
          </p:cNvSpPr>
          <p:nvPr/>
        </p:nvSpPr>
        <p:spPr>
          <a:xfrm>
            <a:off x="12477750" y="53625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모델과 Agent의</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기능 및 규격 변화</a:t>
            </a:r>
            <a:endParaRPr lang="ko-KR">
              <a:latin typeface="Calibri"/>
              <a:ea typeface="Calibri"/>
              <a:cs typeface="Calibri"/>
            </a:endParaRPr>
          </a:p>
        </p:txBody>
      </p:sp>
      <p:sp>
        <p:nvSpPr>
          <p:cNvPr id="61" name="resource-arrow-2">
            <a:extLst>
              <a:ext uri="{FF2B5EF4-FFF2-40B4-BE49-F238E27FC236}">
                <ns2:creationId id="{170814D5-1A0E-4DA6-9F88-06BD79BBEE0D}"/>
              </a:ext>
            </a:extLst>
          </p:cNvPr>
          <p:cNvSpPr>
            <a:spLocks noGrp="1"/>
          </p:cNvSpPr>
          <p:nvPr/>
        </p:nvSpPr>
        <p:spPr>
          <a:xfrm>
            <a:off x="15049500" y="5695950"/>
            <a:ext cx="352425" cy="209550"/>
          </a:xfrm>
          <a:prstGeom prst="rightArrow">
            <a:avLst/>
          </a:prstGeom>
          <a:solidFill>
            <a:srgbClr val="8398AF"/>
          </a:solidFill>
          <a:ln w="0">
            <a:noFill/>
          </a:ln>
        </p:spPr>
      </p:sp>
      <p:sp>
        <p:nvSpPr>
          <p:cNvPr id="62" name="resource-effect-2">
            <a:extLst>
              <a:ext uri="{FF2B5EF4-FFF2-40B4-BE49-F238E27FC236}">
                <ns2:creationId id="{118EF20A-4841-46DD-8EC2-95436492E68C}"/>
              </a:ext>
            </a:extLst>
          </p:cNvPr>
          <p:cNvSpPr>
            <a:spLocks noGrp="1"/>
          </p:cNvSpPr>
          <p:nvPr/>
        </p:nvSpPr>
        <p:spPr>
          <a:xfrm>
            <a:off x="15468600" y="5362575"/>
            <a:ext cx="1962150" cy="876300"/>
          </a:xfrm>
          <a:prstGeom prst="roundRect">
            <a:avLst>
              <a:gd name="adj" fmla="val 8696"/>
            </a:avLst>
          </a:prstGeom>
          <a:solidFill>
            <a:srgbClr val="DDECCD"/>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수정과 재검증</a:t>
            </a:r>
            <a:endParaRPr lang="ko-KR">
              <a:latin typeface="Calibri"/>
              <a:ea typeface="Calibri"/>
              <a:cs typeface="Calibri"/>
            </a:endParaRPr>
          </a:p>
        </p:txBody>
      </p:sp>
      <p:sp>
        <p:nvSpPr>
          <p:cNvPr id="6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6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6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0"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2</a:t>
            </a:r>
            <a:endParaRPr lang="ko-KR">
              <a:latin typeface="Calibri"/>
              <a:ea typeface="Calibri"/>
              <a:cs typeface="Calibri"/>
            </a:endParaRPr>
          </a:p>
        </p:txBody>
      </p:sp>
    </p:spTree>
    <p:extLst>
      <p:ext uri="{BB962C8B-B14F-4D97-AF65-F5344CB8AC3E}">
        <p14:creationId val="811630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2026-10-14T13:50:32.5120000Z</ns2:created>
  <ns2:modified xsi:type="dcterms:W3CDTF">2026-10-14T13:50:32.5120000Z</ns2:modified>
  <dc:language>ko-KR</dc:language>
</ns0:coreProperties>
</file>