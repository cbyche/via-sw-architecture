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444a830d0a4dc2" /><Relationship Type="http://schemas.openxmlformats.org/officeDocument/2006/relationships/extended-properties" Target="/docProps/app.xml" Id="Rddfd378562fa4ef0" /><Relationship Type="http://schemas.openxmlformats.org/officeDocument/2006/relationships/officeDocument" Target="/ppt/presentation.xml" Id="R3d3d2bc4ae6944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3e8db8ed4b4d24"/>
  </p:sldMasterIdLst>
  <p:notesMasterIdLst>
    <p:notesMasterId xmlns:r="http://schemas.openxmlformats.org/officeDocument/2006/relationships" r:id="R091da38e99e3454c"/>
  </p:notesMasterIdLst>
  <p:sldIdLst>
    <p:sldId xmlns:r="http://schemas.openxmlformats.org/officeDocument/2006/relationships" id="256" r:id="Re7b3e2998d764939"/>
    <p:sldId xmlns:r="http://schemas.openxmlformats.org/officeDocument/2006/relationships" id="257" r:id="Rb9b850ec95d3471c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d6a35fdd0f4a2c" /><Relationship Type="http://schemas.openxmlformats.org/officeDocument/2006/relationships/slideMaster" Target="/ppt/slideMasters/slideMaster1.xml" Id="R8c3e8db8ed4b4d24" /><Relationship Type="http://schemas.openxmlformats.org/officeDocument/2006/relationships/notesMaster" Target="/ppt/notesMasters/notesMaster1.xml" Id="R091da38e99e3454c" /><Relationship Type="http://schemas.openxmlformats.org/officeDocument/2006/relationships/presProps" Target="/ppt/presProps.xml" Id="R5ceebb3342394c6b" /><Relationship Type="http://schemas.openxmlformats.org/officeDocument/2006/relationships/tableStyles" Target="/ppt/tableStyles.xml" Id="Rd2ceaa25b0d24385" /><Relationship Type="http://schemas.openxmlformats.org/officeDocument/2006/relationships/slide" Target="/ppt/slides/slide1.xml" Id="Re7b3e2998d764939" /><Relationship Type="http://schemas.openxmlformats.org/officeDocument/2006/relationships/slide" Target="/ppt/slides/slide2.xml" Id="Rb9b850ec95d347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a1c965125043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ca599493c64cf5" /><Relationship Type="http://schemas.openxmlformats.org/officeDocument/2006/relationships/notesMaster" Target="/ppt/notesMasters/notesMaster1.xml" Id="R524b3466a9d24f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46c9bd6ac642e2" /><Relationship Type="http://schemas.openxmlformats.org/officeDocument/2006/relationships/notesMaster" Target="/ppt/notesMasters/notesMaster1.xml" Id="R91b9e829171945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VIA 품질 요구사항 발표 문안, 2026-10-06. PRESENTATION_DRAFT_NOT_MEASUREMENT_FREEZE.</a:t>
            </a:r>
          </a:p>
          <a:p xmlns:a="http://schemas.openxmlformats.org/drawingml/2006/main">
            <a:r>
              <a:t>공동 순위 안에 추가 우열을 부여하지 않는다. V는 검토 관점이며 최종 QA/ASR 선정이 아니다.</a:t>
            </a:r>
          </a:p>
          <a:p xmlns:a="http://schemas.openxmlformats.org/drawingml/2006/main">
            <a:r>
              <a:t>출처: docs/architecture/12-decisions/decision-packages/03-00-quality-scenarios.md §2, §2.1, §2.2, §2.3, §6. docs/architecture/11-measurement/event-boundary-contract.md. docs/architecture/08-quality-attributes/core-asr-contract.md §7.</a:t>
            </a:r>
          </a:p>
          <a:p xmlns:a="http://schemas.openxmlformats.org/drawingml/2006/main">
            <a:r>
              <a:t>V-01 기능 정확성</a:t>
            </a:r>
          </a:p>
          <a:p xmlns:a="http://schemas.openxmlformats.org/drawingml/2006/main">
            <a:r>
              <a:t>설명: 사용자의 의도와 확인된 사실에 맞게 요청의 의미, 업무 연결, 실행 상태와 결과 전달을 처리해야 한다.</a:t>
            </a:r>
          </a:p>
          <a:p xmlns:a="http://schemas.openxmlformats.org/drawingml/2006/main">
            <a:r>
              <a:t>목표: 정확 처리율(%) 목표 미정 · 다른 업무 오실행·중복 실행 0건</a:t>
            </a:r>
          </a:p>
          <a:p xmlns:a="http://schemas.openxmlformats.org/drawingml/2006/main">
            <a:r>
              <a:t>목표 근거: 정확 처리율은 V 기준에서 미확정이며 오실행·중복 실행 0건은 기존 action/access 규칙을 보존한다.</a:t>
            </a:r>
          </a:p>
          <a:p xmlns:a="http://schemas.openxmlformats.org/drawingml/2006/main">
            <a:r>
              <a:t>측정 초안: 목표·대상·요청 관계·업무 연결·실행 상태·실제 전달 사실을 사전 작성한 정답 기준과 대조한다; 전체 적용 판정을 모두 만족한 실행 수/전체 시험 실행 수와 항목별 오류를 함께 보고하며 누락·오답·시간 초과를 성공 표본에서 제외하지 않는다.</a:t>
            </a:r>
          </a:p>
          <a:p xmlns:a="http://schemas.openxmlformats.org/drawingml/2006/main">
            <a:r>
              <a:t>경계: Downstream Agent 내부의 도메인 추론·계획·도구 실행 품질은 제외한다. VIA의 잘못된 대상 연결, 상태 판단과 전달은 포함한다.</a:t>
            </a:r>
          </a:p>
          <a:p xmlns:a="http://schemas.openxmlformats.org/drawingml/2006/main">
            <a:r>
              <a:t>품질 분류: Functional suitability → Functional correctness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V-02 기능 적절성</a:t>
            </a:r>
          </a:p>
          <a:p xmlns:a="http://schemas.openxmlformats.org/drawingml/2006/main">
            <a:r>
              <a:t>설명: 충분한 근거가 있는 요청에서 반복 설명, 재선택과 수동 업무 연결의 부담을 줄여 사용자 목표 달성을 도와야 한다.</a:t>
            </a:r>
          </a:p>
          <a:p xmlns:a="http://schemas.openxmlformats.org/drawingml/2006/main">
            <a:r>
              <a:t>목표: 불필요한 사용자 단계(회)·추가 작업시간(s) 목표 미정</a:t>
            </a:r>
          </a:p>
          <a:p xmlns:a="http://schemas.openxmlformats.org/drawingml/2006/main">
            <a:r>
              <a:t>목표 근거: 사용자 단계 수와 작업시간의 허용 상한은 미확정이다.</a:t>
            </a:r>
          </a:p>
          <a:p xmlns:a="http://schemas.openxmlformats.org/drawingml/2006/main">
            <a:r>
              <a:t>측정 초안: 사용자 여정별 목표 달성 여부와 재설명·재선택·수동 연결의 횟수 및 능동 작업시간을 기록한다; 권한 확인이나 근거 부족으로 필요한 질문은 불필요한 단계와 분리하고 기능 축소가 만든 수동 우회도 포함한다.</a:t>
            </a:r>
          </a:p>
          <a:p xmlns:a="http://schemas.openxmlformats.org/drawingml/2006/main">
            <a:r>
              <a:t>경계: V-01의 의미 오류율이나 V-03의 기능 지원률로 대체하지 않는다. 사용자 수고는 V-05의 VIA 귀속 시간과 구분한다.</a:t>
            </a:r>
          </a:p>
          <a:p xmlns:a="http://schemas.openxmlformats.org/drawingml/2006/main">
            <a:r>
              <a:t>품질 분류: Functional suitability → Functional appropriateness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V-03 기능 완전성</a:t>
            </a:r>
          </a:p>
          <a:p xmlns:a="http://schemas.openxmlformats.org/drawingml/2006/main">
            <a:r>
              <a:t>설명: 공통 요구에 포함된 기능과 완료 범위를 지원해 사용자가 필요한 목표를 달성할 수 있어야 한다.</a:t>
            </a:r>
          </a:p>
          <a:p xmlns:a="http://schemas.openxmlformats.org/drawingml/2006/main">
            <a:r>
              <a:t>목표: 기능 지원 범위 목표 미정 · 지원·부분 지원·미지원·미확인 구분</a:t>
            </a:r>
          </a:p>
          <a:p xmlns:a="http://schemas.openxmlformats.org/drawingml/2006/main">
            <a:r>
              <a:t>목표 근거: 허용 가능한 부분 지원과 미지원 범위는 미확정이며 모든 대안에 100% 지원을 진입 조건으로 강제하지 않는다.</a:t>
            </a:r>
          </a:p>
          <a:p xmlns:a="http://schemas.openxmlformats.org/drawingml/2006/main">
            <a:r>
              <a:t>측정 초안: 공통 R/B와 고정 UC·필수 변형을 지원, 부분 지원, 미지원, 미확인의 네 상태로 기록하고 각 상태의 건수와 분모를 공개한다; 제한 조건, 포기한 목표, 수동 우회와 사용자 영향을 적으며 설계상의 지원 주장과 구현 시험 결과를 구분한다.</a:t>
            </a:r>
          </a:p>
          <a:p xmlns:a="http://schemas.openxmlformats.org/drawingml/2006/main">
            <a:r>
              <a:t>경계: 대안에 맞춰 공통 요구 목록을 줄이지 않는다. 미지원 안내를 원래 사용자 목표의 완료로 세지 않는다.</a:t>
            </a:r>
          </a:p>
          <a:p xmlns:a="http://schemas.openxmlformats.org/drawingml/2006/main">
            <a:r>
              <a:t>품질 분류: Functional suitability → Functional completeness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V-04 상호작용 반응성</a:t>
            </a:r>
          </a:p>
          <a:p xmlns:a="http://schemas.openxmlformats.org/drawingml/2006/main">
            <a:r>
              <a:t>설명: 사용자 입력이나 제어 사건 뒤 유효한 응답 또는 실제 제어 효과가 신속하게 나타나야 한다.</a:t>
            </a:r>
          </a:p>
          <a:p xmlns:a="http://schemas.openxmlformats.org/drawingml/2006/main">
            <a:r>
              <a:t>목표: 응답·상태 전달·제어·음성 중단의 허용 지연(ms) 미정</a:t>
            </a:r>
          </a:p>
          <a:p xmlns:a="http://schemas.openxmlformats.org/drawingml/2006/main">
            <a:r>
              <a:t>목표 근거: V-04의 종류별 지연 상한과 집계 방식은 미확정이며 기존 QA 평균 목표를 자동 적용하지 않는다.</a:t>
            </a:r>
          </a:p>
          <a:p xmlns:a="http://schemas.openxmlformats.org/drawingml/2006/main">
            <a:r>
              <a:t>측정 초안: 발화 종료/텍스트 제출, 외부 상태의 source availability, barge-in onset 등 실제 사건과 유효한 표시·의미 있는 발화·마지막 중단 음성 sample을 연결한다; 응답·상태 전달·Task 제어·음성 중단을 구분해 지연 분포와 실패·시간 초과를 보고한다.</a:t>
            </a:r>
          </a:p>
          <a:p xmlns:a="http://schemas.openxmlformats.org/drawingml/2006/main">
            <a:r>
              <a:t>경계: 접수 인사·spinner·enqueue는 유효한 종료점이 아니다. 음성 출력 중단과 업무 취소는 구분하며 Agent 내부 실행 시간은 제외한다.</a:t>
            </a:r>
          </a:p>
          <a:p xmlns:a="http://schemas.openxmlformats.org/drawingml/2006/main">
            <a:r>
              <a:t>품질 분류: Performance efficiency → Time behaviour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V-05 VIA 귀속 요청 완료 시간</a:t>
            </a:r>
          </a:p>
          <a:p xmlns:a="http://schemas.openxmlformats.org/drawingml/2006/main">
            <a:r>
              <a:t>설명: 요청 시작부터 필요한 최종 결과의 실제 전달까지 VIA가 책임지는 처리와 대기 시간을 줄여야 한다.</a:t>
            </a:r>
          </a:p>
          <a:p xmlns:a="http://schemas.openxmlformats.org/drawingml/2006/main">
            <a:r>
              <a:t>목표: 직접·위임·의존 요청별 VIA 귀속 완료시간(ms) 미정</a:t>
            </a:r>
          </a:p>
          <a:p xmlns:a="http://schemas.openxmlformats.org/drawingml/2006/main">
            <a:r>
              <a:t>목표 근거: 완료시간 상한과 병렬·중첩 구간의 정확한 귀속 산식은 미확정이다.</a:t>
            </a:r>
          </a:p>
          <a:p xmlns:a="http://schemas.openxmlformats.org/drawingml/2006/main">
            <a:r>
              <a:t>측정 초안: 같은 요청과 외부 실행 profile에서 자료 준비·내부 queue·경합·인계·후속 요청 해제·결과 검증·실제 최종 전달의 사건과 의존 관계를 기록한다; 병렬 및 겹친 구간을 구분해 VIA 귀속 완료 지연을 산출하는 공통 귀속·집계 규칙을 측정 전에 정한다.</a:t>
            </a:r>
          </a:p>
          <a:p xmlns:a="http://schemas.openxmlformats.org/drawingml/2006/main">
            <a:r>
              <a:t>경계: Agent 내부 대기·추론·계획·업무 실행 및 사람의 답변 대기는 제외한다. 전체 경과시간에서 외부 시간 합을 단순 차감하거나 병렬 VIA 구간을 무조건 합산하지 않는다.</a:t>
            </a:r>
          </a:p>
          <a:p xmlns:a="http://schemas.openxmlformats.org/drawingml/2006/main">
            <a:r>
              <a:t>품질 분류: Performance efficiency → Time behaviour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V-08 변경 용이성과 모듈성</a:t>
            </a:r>
          </a:p>
          <a:p xmlns:a="http://schemas.openxmlformats.org/drawingml/2006/main">
            <a:r>
              <a:t>설명: 기능·계약 변경의 영향을 제한하고 다른 책임과 기존 기능을 유지하며 수정과 검증을 수행할 수 있어야 한다.</a:t>
            </a:r>
          </a:p>
          <a:p xmlns:a="http://schemas.openxmlformats.org/drawingml/2006/main">
            <a:r>
              <a:t>목표: 변경 요소 수(개)·수정 및 회귀 검증 공수(인시) 목표 미정</a:t>
            </a:r>
          </a:p>
          <a:p xmlns:a="http://schemas.openxmlformats.org/drawingml/2006/main">
            <a:r>
              <a:t>목표 근거: 허용 변경 범위와 공수는 미확정이며 기존 QA의 3-element 목표를 자동 적용하지 않는다.</a:t>
            </a:r>
          </a:p>
          <a:p xmlns:a="http://schemas.openxmlformats.org/drawingml/2006/main">
            <a:r>
              <a:t>측정 초안: Agent 계약, 모델 인터페이스, Context source, 상태 형식과 시험·로그 변화에 동일한 변경 과제를 적용한다; 같은 추상화 깊이로 변경 요소·인터페이스·상태·런타임을 기록하고 수정 난이도·공수·검증 부담·회귀 실패를 함께 보고한다.</a:t>
            </a:r>
          </a:p>
          <a:p xmlns:a="http://schemas.openxmlformats.org/drawingml/2006/main">
            <a:r>
              <a:t>경계: 파일 수나 Component 수만으로 모듈성 또는 변경 용이성을 판정하지 않는다. 기능을 제거해 변경 비용을 줄였다면 V-03에도 기록한다.</a:t>
            </a:r>
          </a:p>
          <a:p xmlns:a="http://schemas.openxmlformats.org/drawingml/2006/main">
            <a:r>
              <a:t>품질 분류: Maintainability → Modifiability / Modularity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V-06 자원 활용성과 수용량</a:t>
            </a:r>
          </a:p>
          <a:p xmlns:a="http://schemas.openxmlformats.org/drawingml/2006/main">
            <a:r>
              <a:t>설명: 필요한 기능을 함께 유지하는 자원 비용을 줄이고 정상 처리 가능한 부하 범위를 확보해야 한다.</a:t>
            </a:r>
          </a:p>
          <a:p xmlns:a="http://schemas.openxmlformats.org/drawingml/2006/main">
            <a:r>
              <a:t>목표: 메모리·연산·에너지·저장 예산 및 동시 업무·입력 부하 상한 미정</a:t>
            </a:r>
          </a:p>
          <a:p xmlns:a="http://schemas.openxmlformats.org/drawingml/2006/main">
            <a:r>
              <a:t>목표 근거: 자원별 예산과 수용량 목표는 미확정이며 참고 슬라이드의 32MB·12.8GB 수치를 가져오지 않는다.</a:t>
            </a:r>
          </a:p>
          <a:p xmlns:a="http://schemas.openxmlformats.org/drawingml/2006/main">
            <a:r>
              <a:t>측정 초안: 대상 PC·모델 profile·기능·입력률·동시 업무 수를 맞추고 전체 committed memory, CPU/GPU, 에너지, 저장공간을 기록한다; idle·정상·경합·background·폐기·재구성 비용을 포함하며 자원별 사용량과 정상 기능을 유지할 수 있는 부하 한계를 별도로 보고한다.</a:t>
            </a:r>
          </a:p>
          <a:p xmlns:a="http://schemas.openxmlformats.org/drawingml/2006/main">
            <a:r>
              <a:t>경계: 하나의 공유 Omni 가중치와 역할별 KV·Context를 구분하고 Streaming ASR 및 모든 추가 helper 비용을 포함한다. 자원 감소가 기능 축소 때문이면 함께 공개한다.</a:t>
            </a:r>
          </a:p>
          <a:p xmlns:a="http://schemas.openxmlformats.org/drawingml/2006/main">
            <a:r>
              <a:t>품질 분류: Performance efficiency → Resource utilization / Capacity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V-07 결함 허용성과 복구성</a:t>
            </a:r>
          </a:p>
          <a:p xmlns:a="http://schemas.openxmlformats.org/drawingml/2006/main">
            <a:r>
              <a:t>설명: 장애 중 무관한 기능과 업무를 유지하고 장애 뒤 확인 가능한 상태와 제어를 올바르게 복원해야 한다.</a:t>
            </a:r>
          </a:p>
          <a:p xmlns:a="http://schemas.openxmlformats.org/drawingml/2006/main">
            <a:r>
              <a:t>목표: 장애 유지·복구율(%)과 복구시간(ms) 미정 · 오실행·중복 실행 0건</a:t>
            </a:r>
          </a:p>
          <a:p xmlns:a="http://schemas.openxmlformats.org/drawingml/2006/main">
            <a:r>
              <a:t>목표 근거: 유지·복구율과 deadline은 미확정이며 오실행·중복 실행 0건은 기존 규칙을 보존한다.</a:t>
            </a:r>
          </a:p>
          <a:p xmlns:a="http://schemas.openxmlformats.org/drawingml/2006/main">
            <a:r>
              <a:t>측정 초안: 단절·process 종료·실패·중복/역순 event를 같은 의미 시점에 주입한다; 사전에 정한 필요 의존 범위 밖의 기능 영향과 전체 영향 업무의 올바른 identity·state·result·control 복원 여부 및 시간을 각각 기록하고 실패·시간 초과도 남긴다.</a:t>
            </a:r>
          </a:p>
          <a:p xmlns:a="http://schemas.openxmlformats.org/drawingml/2006/main">
            <a:r>
              <a:t>경계: process 재기동만으로 복구 성공을 판정하지 않는다. 외부 실행이 확인 불가이면 unknown을 유지하며 완료나 취소를 만들어내지 않는다.</a:t>
            </a:r>
          </a:p>
          <a:p xmlns:a="http://schemas.openxmlformats.org/drawingml/2006/main">
            <a:r>
              <a:t>품질 분류: Reliability → Fault tolerance / Recoverability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VIA 품질 요구사항 발표 문안, 2026-10-06. PRESENTATION_DRAFT_NOT_MEASUREMENT_FREEZE.</a:t>
            </a:r>
          </a:p>
          <a:p xmlns:a="http://schemas.openxmlformats.org/drawingml/2006/main">
            <a:r>
              <a:t>공동 순위 안에 추가 우열을 부여하지 않는다. V는 검토 관점이며 최종 QA/ASR 선정이 아니다.</a:t>
            </a:r>
          </a:p>
          <a:p xmlns:a="http://schemas.openxmlformats.org/drawingml/2006/main">
            <a:r>
              <a:t>출처: docs/architecture/12-decisions/decision-packages/03-00-quality-scenarios.md §2, §2.1, §2.2, §2.3, §6. docs/architecture/11-measurement/event-boundary-contract.md. docs/architecture/08-quality-attributes/core-asr-contract.md §7.</a:t>
            </a:r>
          </a:p>
          <a:p xmlns:a="http://schemas.openxmlformats.org/drawingml/2006/main">
            <a:r>
              <a:t>V-09 분석 및 시험 용이성</a:t>
            </a:r>
          </a:p>
          <a:p xmlns:a="http://schemas.openxmlformats.org/drawingml/2006/main">
            <a:r>
              <a:t>설명: 실패 원인을 구분하고 필요한 사건과 장애를 통제하며 기대 결과를 판정할 수 있어야 한다.</a:t>
            </a:r>
          </a:p>
          <a:p xmlns:a="http://schemas.openxmlformats.org/drawingml/2006/main">
            <a:r>
              <a:t>목표: 진단 성공률(%)·시간(s), 시험 준비·판정 공수(인시) 미정</a:t>
            </a:r>
          </a:p>
          <a:p xmlns:a="http://schemas.openxmlformats.org/drawingml/2006/main">
            <a:r>
              <a:t>목표 근거: 진단 성공률·시간, 시험 공수와 재현 범위 목표는 미확정이다.</a:t>
            </a:r>
          </a:p>
          <a:p xmlns:a="http://schemas.openxmlformats.org/drawingml/2006/main">
            <a:r>
              <a:t>측정 초안: 같은 숨겨진 원인 사례의 최소 보호된 기록으로 원인 구분 정확도와 진단 시간을 확인한다; 별도로 사건·장애의 통제 가능 여부, fixture/정답 기준 준비 공수, 기대 결과 판정 가능 여부와 저장 근거의 재계산 가능성을 확인한다.</a:t>
            </a:r>
          </a:p>
          <a:p xmlns:a="http://schemas.openxmlformats.org/drawingml/2006/main">
            <a:r>
              <a:t>경계: trace 완전성이나 반복 재계산 성공만으로 원인 분석이 쉽다고 결론 내리지 않는다. 보호정보 원문을 더 기록해 품질을 높이지 않는다.</a:t>
            </a:r>
          </a:p>
          <a:p xmlns:a="http://schemas.openxmlformats.org/drawingml/2006/main">
            <a:r>
              <a:t>품질 분류: Maintainability → Analysability / Testability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V-10 기밀성</a:t>
            </a:r>
          </a:p>
          <a:p xmlns:a="http://schemas.openxmlformats.org/drawingml/2006/main">
            <a:r>
              <a:t>설명: 허용된 대상과 목적에만 정보를 사용하고 권한 철회 또는 삭제 뒤의 신규 사용을 차단해야 한다.</a:t>
            </a:r>
          </a:p>
          <a:p xmlns:a="http://schemas.openxmlformats.org/drawingml/2006/main">
            <a:r>
              <a:t>목표: 무단 읽기·제공 및 철회·삭제 뒤 신규 사용 0건</a:t>
            </a:r>
          </a:p>
          <a:p xmlns:a="http://schemas.openxmlformats.org/drawingml/2006/main">
            <a:r>
              <a:t>목표 근거: 허용 대상·목적 및 철회/삭제 뒤 신규 사용 금지라는 기존 요구를 0건 목표로 표현한다; 집행 경계와 시험 모집단은 미확정이다.</a:t>
            </a:r>
          </a:p>
          <a:p xmlns:a="http://schemas.openxmlformats.org/drawingml/2006/main">
            <a:r>
              <a:t>측정 초안: 자료·대상·목적·시점별 허용 기준과 실제 접근/전달 기록을 대조한다; 권한 철회·삭제 경계의 경쟁 조건, 파생 자료, cache, 역할별 KV 및 외부 Agent 제공을 포함해 무단 사용 건수를 집계한다.</a:t>
            </a:r>
          </a:p>
          <a:p xmlns:a="http://schemas.openxmlformats.org/drawingml/2006/main">
            <a:r>
              <a:t>경계: 허용된 Downstream Agent Context 제공을 모두 위반으로 세지 않는다. 외부 통신 0회나 모든 데이터 외부 반출 금지로 바꾸지 않는다.</a:t>
            </a:r>
          </a:p>
          <a:p xmlns:a="http://schemas.openxmlformats.org/drawingml/2006/main">
            <a:r>
              <a:t>품질 분류: Security → Confidentiality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V-11 상호운용성과 공존성</a:t>
            </a:r>
          </a:p>
          <a:p xmlns:a="http://schemas.openxmlformats.org/drawingml/2006/main">
            <a:r>
              <a:t>설명: 외부 제품과 교환한 정보의 의미를 유지하고 다른 PC 앱과 함께 필요한 기능을 수행할 수 있어야 한다.</a:t>
            </a:r>
          </a:p>
          <a:p xmlns:a="http://schemas.openxmlformats.org/drawingml/2006/main">
            <a:r>
              <a:t>목표: 연동 의미 보존율(%)·동시 사용 시 VIA와 타 앱의 성능 저하 한도 미정</a:t>
            </a:r>
          </a:p>
          <a:p xmlns:a="http://schemas.openxmlformats.org/drawingml/2006/main">
            <a:r>
              <a:t>목표 근거: 연동 성공률과 공존 시 허용 저하 한도는 미확정이다.</a:t>
            </a:r>
          </a:p>
          <a:p xmlns:a="http://schemas.openxmlformats.org/drawingml/2006/main">
            <a:r>
              <a:t>측정 초안: 같은 Agent/source capability에 대해 요청·질문·결과·취소·오류의 의미와 identity 보존을 시험한다; 별도 공존 시험에서는 타 앱의 고정 부하와 CPU·메모리·장치를 공유하며 VIA와 타 앱 각각의 기능 실패 및 반응/처리시간 변화를 기록한다.</a:t>
            </a:r>
          </a:p>
          <a:p xmlns:a="http://schemas.openxmlformats.org/drawingml/2006/main">
            <a:r>
              <a:t>경계: 상호운용성과 공존성을 한 점수로 합치지 않는다. 외부 제품의 미지원 기능을 VIA의 성공으로 가정하지 않는다.</a:t>
            </a:r>
          </a:p>
          <a:p xmlns:a="http://schemas.openxmlformats.org/drawingml/2006/main">
            <a:r>
              <a:t>품질 분류: Compatibility → Interoperability / Co-existence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V-12 조작 용이성과 사용자 오류 방지</a:t>
            </a:r>
          </a:p>
          <a:p xmlns:a="http://schemas.openxmlformats.org/drawingml/2006/main">
            <a:r>
              <a:t>설명: 사용자가 현재 상태와 제어 대상을 알아보고 잘못된 대상이나 범위를 조작하지 않도록 도와야 한다.</a:t>
            </a:r>
          </a:p>
          <a:p xmlns:a="http://schemas.openxmlformats.org/drawingml/2006/main">
            <a:r>
              <a:t>목표: 조작 성공률(%)·단계(회) 미정 · 다른 업무 오실행 0건</a:t>
            </a:r>
          </a:p>
          <a:p xmlns:a="http://schemas.openxmlformats.org/drawingml/2006/main">
            <a:r>
              <a:t>목표 근거: 조작 성공률·단계 수는 미확정이며 다른 업무 오실행 0건은 기존 action/access 규칙을 보존한다.</a:t>
            </a:r>
          </a:p>
          <a:p xmlns:a="http://schemas.openxmlformats.org/drawingml/2006/main">
            <a:r>
              <a:t>측정 초안: 같은 사용자 시나리오에서 실제로 제시된 질문/대상, 현재 상태 이해, 원하는 동작의 성공과 단계 수를 확인한다; 잘못된 대상 선택이나 모호한 제어를 주입해 방지/확인 여부와 실제 다른 업무에 미친 영향을 별도로 기록한다.</a:t>
            </a:r>
          </a:p>
          <a:p xmlns:a="http://schemas.openxmlformats.org/drawingml/2006/main">
            <a:r>
              <a:t>경계: 음성 출력 중단과 업무 취소를 구분한다. pending을 완료로 표시하지 않고 숨겨진 내부 focus를 사용자에게 제시된 질문으로 간주하지 않는다.</a:t>
            </a:r>
          </a:p>
          <a:p xmlns:a="http://schemas.openxmlformats.org/drawingml/2006/main">
            <a:r>
              <a:t>품질 분류: Interaction capability → Operability / User error protection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V-13 설치 용이성</a:t>
            </a:r>
          </a:p>
          <a:p xmlns:a="http://schemas.openxmlformats.org/drawingml/2006/main">
            <a:r>
              <a:t>설명: 필요한 의존성을 설치·갱신·제거하고 부분 실패 뒤의 실행체와 자료를 확인해 복구하거나 정리할 수 있어야 한다.</a:t>
            </a:r>
          </a:p>
          <a:p xmlns:a="http://schemas.openxmlformats.org/drawingml/2006/main">
            <a:r>
              <a:t>목표: 설치·갱신·제거 성공률(%)·단계(회)·시간(s)과 실패 정리 목표 미정</a:t>
            </a:r>
          </a:p>
          <a:p xmlns:a="http://schemas.openxmlformats.org/drawingml/2006/main">
            <a:r>
              <a:t>목표 근거: 성공률·절차·시간과 잔여물 판정 기준은 미확정이다.</a:t>
            </a:r>
          </a:p>
          <a:p xmlns:a="http://schemas.openxmlformats.org/drawingml/2006/main">
            <a:r>
              <a:t>측정 초안: 동일 PC/profile에서 신규 설치·갱신·제거와 단계별 부분 실패를 시험한다; runtime/helper/weights 의존성, 상태/schema migration, 사용자 절차·시간, 실패 식별과 복구/정리 결과 및 의도하지 않은 잔여 실행체·자료를 기록한다.</a:t>
            </a:r>
          </a:p>
          <a:p xmlns:a="http://schemas.openxmlformats.org/drawingml/2006/main">
            <a:r>
              <a:t>경계: 내려받는 크기만으로 설치 용이성을 판단하지 않는다. 사용자가 의도적으로 보존한 자료와 제거 실패의 잔여물을 구분한다.</a:t>
            </a:r>
          </a:p>
          <a:p xmlns:a="http://schemas.openxmlformats.org/drawingml/2006/main">
            <a:r>
              <a:t>품질 분류: Flexibility → Installability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8650b1a72445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9c589813f140db" /><Relationship Type="http://schemas.openxmlformats.org/officeDocument/2006/relationships/slideLayout" Target="/ppt/slideLayouts/slideLayout1.xml" Id="R56c6fdfb8f8c43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c6fdfb8f8c43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faaa9953f48c7" /><Relationship Type="http://schemas.openxmlformats.org/officeDocument/2006/relationships/notesSlide" Target="/ppt/notesSlides/notesSlide1.xml" Id="R19fda93b12dd4d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f5706f3b94a7e" /><Relationship Type="http://schemas.openxmlformats.org/officeDocument/2006/relationships/notesSlide" Target="/ppt/notesSlides/notesSlide2.xml" Id="R76d1c0191d0643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97A3D78-D60D-41CE-A522-A41B0459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118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00" b="1">
                <a:solidFill>
                  <a:srgbClr val="111820"/>
                </a:solidFill>
                <a:latin typeface="Apple SD Gothic Neo"/>
                <a:ea typeface="Apple SD Gothic Neo"/>
                <a:cs typeface="Apple SD Gothic Neo"/>
              </a:rPr>
              <a:t>품질 요구사항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E6DBD7D-729A-4876-B314-94B5FE1F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1666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품질 관점과 우선순위  /  1~5순위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08E673D-7D88-43B9-8B99-30A6D4D9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0" y="476250"/>
            <a:ext cx="971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B66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B6673"/>
                </a:solidFill>
                <a:latin typeface="Apple SD Gothic Neo"/>
                <a:ea typeface="Apple SD Gothic Neo"/>
                <a:cs typeface="Apple SD Gothic Neo"/>
              </a:rPr>
              <a:t>1 / 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457200" y="1733550"/>
          <a:ext xmlns:a="http://schemas.openxmlformats.org/drawingml/2006/main" cx="17373600" cy="78295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143000"/>
                <a:gridCol w="3381375"/>
                <a:gridCol w="11668125"/>
                <a:gridCol w="11811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ID</a:t>
                      </a:r>
                    </a:p>
                  </a:txBody>
                  <a:tcPr marL="95250" marR="95250" marT="28575" marB="28575" anchor="ctr">
                    <a:solidFill>
                      <a:srgbClr val="087E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QA명</a:t>
                      </a:r>
                    </a:p>
                  </a:txBody>
                  <a:tcPr marL="95250" marR="95250" marT="28575" marB="28575" anchor="ctr">
                    <a:solidFill>
                      <a:srgbClr val="087E8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설명 / 목표 / 측정 방법(초안)</a:t>
                      </a:r>
                    </a:p>
                  </a:txBody>
                  <a:tcPr marL="142875" marR="95250" marT="28575" marB="28575" anchor="ctr">
                    <a:solidFill>
                      <a:srgbClr val="087E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우선순위</a:t>
                      </a:r>
                    </a:p>
                  </a:txBody>
                  <a:tcPr marL="95250" marR="95250" marT="28575" marB="28575" anchor="ctr">
                    <a:solidFill>
                      <a:srgbClr val="087E8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V-01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기능 정확성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사용자의 의도와 확인된 사실에 맞게 요청의 의미, 업무 연결, 실행 상태와 결과 전달을 처리해야 한다.</a:t>
                      </a:r>
                    </a:p>
                    <a:p>
                      <a:pPr algn="l"/>
                      <a:r>
                        <a:rPr sz="165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정확 처리율(%) 목표 미정 · 다른 업무 오실행·중복 실행 0건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동일 입력의 기대 의미·연결·상태·전달을 실제 기록과 대조해 정확 처리율과 금지 오류 건수를 측정</a:t>
                      </a:r>
                    </a:p>
                  </a:txBody>
                  <a:tcPr marL="142875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 (공동)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V-02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기능 적절성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충분한 근거가 있는 요청에서 반복 설명, 재선택과 수동 업무 연결의 부담을 줄여 사용자 목표 달성을 도와야 한다.</a:t>
                      </a:r>
                    </a:p>
                    <a:p>
                      <a:pPr algn="l"/>
                      <a:r>
                        <a:rPr sz="165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불필요한 사용자 단계(회)·추가 작업시간(s) 목표 미정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같은 목표의 수행 과정에서 재설명·재선택·수동 연결 횟수와 사용자 작업시간을 기록</a:t>
                      </a:r>
                    </a:p>
                  </a:txBody>
                  <a:tcPr marL="142875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 (공동)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V-03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기능 완전성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공통 요구에 포함된 기능과 완료 범위를 지원해 사용자가 필요한 목표를 달성할 수 있어야 한다.</a:t>
                      </a:r>
                    </a:p>
                    <a:p>
                      <a:pPr algn="l"/>
                      <a:r>
                        <a:rPr sz="165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기능 지원 범위 목표 미정 · 지원·부분 지원·미지원·미확인 구분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고정 UC와 필수 변형별 지원 수준·제한·완료 범위·수동 우회를 공통 요구표에 대조</a:t>
                      </a:r>
                    </a:p>
                  </a:txBody>
                  <a:tcPr marL="142875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 (공동)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V-04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상호작용 반응성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입력이나 제어 사건 뒤 유효한 응답 또는 실제 제어 효과가 신속하게 나타나야 한다.</a:t>
                      </a:r>
                    </a:p>
                    <a:p>
                      <a:pPr algn="l"/>
                      <a:r>
                        <a:rPr sz="165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응답·상태 전달·제어·음성 중단의 허용 지연(ms) 미정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실제 입력·상태·제어 사건부터 유효한 표시·발화·효과까지 VIA 지연을 종류별 계측</a:t>
                      </a:r>
                    </a:p>
                  </a:txBody>
                  <a:tcPr marL="142875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 (공동)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V-05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VIA 귀속 요청</a:t>
                      </a:r>
                    </a:p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완료 시간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요청 시작부터 필요한 최종 결과의 실제 전달까지 VIA가 책임지는 처리와 대기 시간을 줄여야 한다.</a:t>
                      </a:r>
                    </a:p>
                    <a:p>
                      <a:pPr algn="l"/>
                      <a:r>
                        <a:rPr sz="165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직접·위임·의존 요청별 VIA 귀속 완료시간(ms) 미정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최종 전달까지 사건·의존 경로를 추적해 VIA 구간을 귀속하고 외부 실행·사람 대기를 분리</a:t>
                      </a:r>
                    </a:p>
                  </a:txBody>
                  <a:tcPr marL="142875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 (공동)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V-08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용이성과</a:t>
                      </a:r>
                    </a:p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모듈성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기능·계약 변경의 영향을 제한하고 다른 책임과 기존 기능을 유지하며 수정과 검증을 수행할 수 있어야 한다.</a:t>
                      </a:r>
                    </a:p>
                    <a:p>
                      <a:pPr algn="l"/>
                      <a:r>
                        <a:rPr sz="165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변경 요소 수(개)·수정 및 회귀 검증 공수(인시) 목표 미정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같은 변경 과제에서 요소·계약·상태·런타임의 변경과 수정·검증 공수 및 회귀 결과를 비교</a:t>
                      </a:r>
                    </a:p>
                  </a:txBody>
                  <a:tcPr marL="142875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V-06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자원 활용성과</a:t>
                      </a:r>
                    </a:p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수용량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기능을 함께 유지하는 자원 비용을 줄이고 정상 처리 가능한 부하 범위를 확보해야 한다.</a:t>
                      </a:r>
                    </a:p>
                    <a:p>
                      <a:pPr algn="l"/>
                      <a:r>
                        <a:rPr sz="165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메모리·연산·에너지·저장 예산 및 동시 업무·입력 부하 상한 미정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전체 가중치·KV·helper·buffer를 포함해 자원을 계측하고 부하를 높여 처리 한계를 확인</a:t>
                      </a:r>
                    </a:p>
                  </a:txBody>
                  <a:tcPr marL="142875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4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V-07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결함 허용성과</a:t>
                      </a:r>
                    </a:p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복구성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장애 중 무관한 기능과 업무를 유지하고 장애 뒤 확인 가능한 상태와 제어를 올바르게 복원해야 한다.</a:t>
                      </a:r>
                    </a:p>
                    <a:p>
                      <a:pPr algn="l"/>
                      <a:r>
                        <a:rPr sz="165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장애 유지·복구율(%)과 복구시간(ms) 미정 · 오실행·중복 실행 0건</a:t>
                      </a:r>
                    </a:p>
                    <a:p>
                      <a:pPr algn="l"/>
                      <a:r>
                        <a:rPr sz="157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동일 장애를 주입해 무관한 기능 영향과 올바른 상태·제어 복귀까지의 시간·성공 여부를 측정</a:t>
                      </a:r>
                    </a:p>
                  </a:txBody>
                  <a:tcPr marL="142875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footnote">
            <a:extLst xmlns:a="http://schemas.openxmlformats.org/drawingml/2006/main">
              <a:ext uri="{FF2B5EF4-FFF2-40B4-BE49-F238E27FC236}">
                <a16:creationId xmlns:a16="http://schemas.microsoft.com/office/drawing/2014/main" id="{B9E5BCB0-E4E3-4E57-B6E7-FB8A1375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29800"/>
            <a:ext cx="17373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06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3606C"/>
                </a:solidFill>
                <a:latin typeface="Apple SD Gothic Neo"/>
                <a:ea typeface="Apple SD Gothic Neo"/>
                <a:cs typeface="Apple SD Gothic Neo"/>
              </a:rPr>
              <a:t>수치 목표 미확정, 측정 방법 초안. 0건은 기존 금지 조건이며 측정 전 모든 DP의 공통 계약을 확정한다.</a:t>
            </a:r>
          </a:p>
        </p:txBody>
      </p:sp>
    </p:spTree>
    <p:extLst>
      <p:ext uri="{BB962C8B-B14F-4D97-AF65-F5344CB8AC3E}">
        <p14:creationId xmlns:p14="http://schemas.microsoft.com/office/powerpoint/2010/main" val="14214539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EF7A8EE-915C-4D56-B868-046074B8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524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1182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00" b="1">
                <a:solidFill>
                  <a:srgbClr val="111820"/>
                </a:solidFill>
                <a:latin typeface="Apple SD Gothic Neo"/>
                <a:ea typeface="Apple SD Gothic Neo"/>
                <a:cs typeface="Apple SD Gothic Neo"/>
              </a:rPr>
              <a:t>품질 요구사항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D9891EF-E8AE-4C07-9089-450FB12A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1666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품질 관점과 우선순위  /  공동 6순위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93465CF-103A-4A53-9027-BA51D62D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0" y="476250"/>
            <a:ext cx="971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B66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B6673"/>
                </a:solidFill>
                <a:latin typeface="Apple SD Gothic Neo"/>
                <a:ea typeface="Apple SD Gothic Neo"/>
                <a:cs typeface="Apple SD Gothic Neo"/>
              </a:rPr>
              <a:t>2 / 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457200" y="1733550"/>
          <a:ext xmlns:a="http://schemas.openxmlformats.org/drawingml/2006/main" cx="17373600" cy="74199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143000"/>
                <a:gridCol w="3381375"/>
                <a:gridCol w="11668125"/>
                <a:gridCol w="11811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ID</a:t>
                      </a:r>
                    </a:p>
                  </a:txBody>
                  <a:tcPr marL="95250" marR="95250" marT="28575" marB="28575" anchor="ctr">
                    <a:solidFill>
                      <a:srgbClr val="087E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QA명</a:t>
                      </a:r>
                    </a:p>
                  </a:txBody>
                  <a:tcPr marL="95250" marR="95250" marT="28575" marB="28575" anchor="ctr">
                    <a:solidFill>
                      <a:srgbClr val="087E8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설명 / 목표 / 측정 방법(초안)</a:t>
                      </a:r>
                    </a:p>
                  </a:txBody>
                  <a:tcPr marL="142875" marR="95250" marT="28575" marB="28575" anchor="ctr">
                    <a:solidFill>
                      <a:srgbClr val="087E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우선순위</a:t>
                      </a:r>
                    </a:p>
                  </a:txBody>
                  <a:tcPr marL="95250" marR="95250" marT="28575" marB="28575" anchor="ctr">
                    <a:solidFill>
                      <a:srgbClr val="087E8B"/>
                    </a:solidFill>
                  </a:tcPr>
                </a:tc>
              </a:tr>
              <a:tr h="1381125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V-09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분석 및</a:t>
                      </a:r>
                    </a:p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시험 용이성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실패 원인을 구분하고 필요한 사건과 장애를 통제하며 기대 결과를 판정할 수 있어야 한다.</a:t>
                      </a:r>
                    </a:p>
                    <a:p>
                      <a:pPr algn="l"/>
                      <a:r>
                        <a:rPr sz="180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진단 성공률(%)·시간(s), 시험 준비·판정 공수(인시) 미정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알려진 장애의 진단 시간·정확도와 사건 재현·주입·결과 판정에 필요한 공수를 각각 측정</a:t>
                      </a:r>
                    </a:p>
                  </a:txBody>
                  <a:tcPr marL="142875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 (공동)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</a:tr>
              <a:tr h="1381125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V-10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기밀성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허용된 대상과 목적에만 정보를 사용하고 권한 철회 또는 삭제 뒤의 신규 사용을 차단해야 한다.</a:t>
                      </a:r>
                    </a:p>
                    <a:p>
                      <a:pPr algn="l"/>
                      <a:r>
                        <a:rPr sz="180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무단 읽기·제공 및 철회·삭제 뒤 신규 사용 0건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권한·수신자·목적·철회·삭제 시험에서 원문·파생 자료·cache·KV의 읽기·전달·재사용을 감사</a:t>
                      </a:r>
                    </a:p>
                  </a:txBody>
                  <a:tcPr marL="142875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 (공동)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</a:tr>
              <a:tr h="1381125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V-11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상호운용성과</a:t>
                      </a:r>
                    </a:p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공존성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외부 제품과 교환한 정보의 의미를 유지하고 다른 PC 앱과 함께 필요한 기능을 수행할 수 있어야 한다.</a:t>
                      </a:r>
                    </a:p>
                    <a:p>
                      <a:pPr algn="l"/>
                      <a:r>
                        <a:rPr sz="180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연동 의미 보존율(%)·동시 사용 시 VIA와 타 앱의 성능 저하 한도 미정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Agent·source 기능별 계약 적합성을 시험하고 타 앱 동시 부하에서 양쪽 기능·성능 변화를 측정</a:t>
                      </a:r>
                    </a:p>
                  </a:txBody>
                  <a:tcPr marL="142875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 (공동)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</a:tr>
              <a:tr h="1381125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V-12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조작 용이성과</a:t>
                      </a:r>
                    </a:p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오류 방지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사용자가 현재 상태와 제어 대상을 알아보고 잘못된 대상이나 범위를 조작하지 않도록 도와야 한다.</a:t>
                      </a:r>
                    </a:p>
                    <a:p>
                      <a:pPr algn="l"/>
                      <a:r>
                        <a:rPr sz="180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조작 성공률(%)·단계(회) 미정 · 다른 업무 오실행 0건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다중 업무·질문·중단·취소 상황에서 대상·상태 인지, 조작 단계·성공과 오조작 결과를 관찰</a:t>
                      </a:r>
                    </a:p>
                  </a:txBody>
                  <a:tcPr marL="142875" marR="95250" marT="28575" marB="28575" anchor="ctr"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 (공동)</a:t>
                      </a:r>
                    </a:p>
                  </a:txBody>
                  <a:tcPr marL="95250" marR="95250" marT="28575" marB="28575" anchor="ctr">
                    <a:solidFill>
                      <a:srgbClr val="F8FAFB"/>
                    </a:solidFill>
                  </a:tcPr>
                </a:tc>
              </a:tr>
              <a:tr h="1381125"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V-13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설치 용이성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32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의존성을 설치·갱신·제거하고 부분 실패 뒤의 실행체와 자료를 확인해 복구하거나 정리할 수 있어야 한다.</a:t>
                      </a:r>
                    </a:p>
                    <a:p>
                      <a:pPr algn="l"/>
                      <a:r>
                        <a:rPr sz="1800" b="1">
                          <a:solidFill>
                            <a:srgbClr val="2873B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  설치·갱신·제거 성공률(%)·단계(회)·시간(s)과 실패 정리 목표 미정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3E4853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 동일 PC의 설치·갱신·제거와 단계별 실패 후 runtime·helper·모델·상태의 복구·잔여물을 확인</a:t>
                      </a:r>
                    </a:p>
                  </a:txBody>
                  <a:tcPr marL="142875" marR="95250" marT="28575" marB="28575" anchor="ctr"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83E4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 (공동)</a:t>
                      </a:r>
                    </a:p>
                  </a:txBody>
                  <a:tcPr marL="95250" marR="95250" marT="28575" marB="28575" anchor="ctr"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5" name="footnote">
            <a:extLst xmlns:a="http://schemas.openxmlformats.org/drawingml/2006/main">
              <a:ext uri="{FF2B5EF4-FFF2-40B4-BE49-F238E27FC236}">
                <a16:creationId xmlns:a16="http://schemas.microsoft.com/office/drawing/2014/main" id="{6491508A-F636-4137-B4A3-5D1D2568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29800"/>
            <a:ext cx="17373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06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3606C"/>
                </a:solidFill>
                <a:latin typeface="Apple SD Gothic Neo"/>
                <a:ea typeface="Apple SD Gothic Neo"/>
                <a:cs typeface="Apple SD Gothic Neo"/>
              </a:rPr>
              <a:t>수치 목표 미확정, 측정 방법 초안. 0건은 기존 금지 조건이며 측정 전 모든 DP의 공통 계약을 확정한다.</a:t>
            </a:r>
          </a:p>
        </p:txBody>
      </p:sp>
    </p:spTree>
    <p:extLst>
      <p:ext uri="{BB962C8B-B14F-4D97-AF65-F5344CB8AC3E}">
        <p14:creationId xmlns:p14="http://schemas.microsoft.com/office/powerpoint/2010/main" val="15161611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2026-10-06T09:08:36.1830000Z</dcterms:created>
  <dcterms:modified xsi:type="dcterms:W3CDTF">2026-10-06T09:08:36.1830000Z</dcterms:modified>
</coreProperties>
</file>