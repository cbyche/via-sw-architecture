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8f57fe00c245a9" /><Relationship Type="http://schemas.openxmlformats.org/officeDocument/2006/relationships/extended-properties" Target="/docProps/app.xml" Id="R15cd2c654dac4418" /><Relationship Type="http://schemas.openxmlformats.org/officeDocument/2006/relationships/officeDocument" Target="/ppt/presentation.xml" Id="R3e83befbc2654b27" /></Relationships>
</file>

<file path=ppt/presentation.xml><?xml version="1.0" encoding="utf-8"?>
<p:presentation xmlns:p="http://schemas.openxmlformats.org/presentationml/2006/main">
  <p:sldMasterIdLst>
    <p:sldMasterId xmlns:r="http://schemas.openxmlformats.org/officeDocument/2006/relationships" id="2147483648" r:id="R6ef4b54ff75845a4"/>
  </p:sldMasterIdLst>
  <p:notesMasterIdLst>
    <p:notesMasterId xmlns:r="http://schemas.openxmlformats.org/officeDocument/2006/relationships" r:id="R2518308b863d468c"/>
  </p:notesMasterIdLst>
  <p:sldIdLst>
    <p:sldId xmlns:r="http://schemas.openxmlformats.org/officeDocument/2006/relationships" id="256" r:id="R8a278eb5dc3749bc"/>
    <p:sldId xmlns:r="http://schemas.openxmlformats.org/officeDocument/2006/relationships" id="257" r:id="R6ba8debb836a48a4"/>
    <p:sldId xmlns:r="http://schemas.openxmlformats.org/officeDocument/2006/relationships" id="258" r:id="R7e16c22dab894b56"/>
    <p:sldId xmlns:r="http://schemas.openxmlformats.org/officeDocument/2006/relationships" id="259" r:id="Rdeef11fb06be41d9"/>
    <p:sldId xmlns:r="http://schemas.openxmlformats.org/officeDocument/2006/relationships" id="260" r:id="Rb6196ba3407d4c3a"/>
    <p:sldId xmlns:r="http://schemas.openxmlformats.org/officeDocument/2006/relationships" id="261" r:id="R3f65e2ee0369415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7b8bdb59e14579" /><Relationship Type="http://schemas.openxmlformats.org/officeDocument/2006/relationships/slideMaster" Target="/ppt/slideMasters/slideMaster1.xml" Id="R6ef4b54ff75845a4" /><Relationship Type="http://schemas.openxmlformats.org/officeDocument/2006/relationships/notesMaster" Target="/ppt/notesMasters/notesMaster1.xml" Id="R2518308b863d468c" /><Relationship Type="http://schemas.openxmlformats.org/officeDocument/2006/relationships/presProps" Target="/ppt/presProps.xml" Id="R2994063ad6e640d8" /><Relationship Type="http://schemas.openxmlformats.org/officeDocument/2006/relationships/tableStyles" Target="/ppt/tableStyles.xml" Id="R4e772eb0daf14ba7" /><Relationship Type="http://schemas.openxmlformats.org/officeDocument/2006/relationships/slide" Target="/ppt/slides/slide1.xml" Id="R8a278eb5dc3749bc" /><Relationship Type="http://schemas.openxmlformats.org/officeDocument/2006/relationships/slide" Target="/ppt/slides/slide2.xml" Id="R6ba8debb836a48a4" /><Relationship Type="http://schemas.openxmlformats.org/officeDocument/2006/relationships/slide" Target="/ppt/slides/slide3.xml" Id="R7e16c22dab894b56" /><Relationship Type="http://schemas.openxmlformats.org/officeDocument/2006/relationships/slide" Target="/ppt/slides/slide4.xml" Id="Rdeef11fb06be41d9" /><Relationship Type="http://schemas.openxmlformats.org/officeDocument/2006/relationships/slide" Target="/ppt/slides/slide5.xml" Id="Rb6196ba3407d4c3a" /><Relationship Type="http://schemas.openxmlformats.org/officeDocument/2006/relationships/slide" Target="/ppt/slides/slide6.xml" Id="R3f65e2ee036941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fe599770c248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49628ec9a24654" /><Relationship Type="http://schemas.openxmlformats.org/officeDocument/2006/relationships/notesMaster" Target="/ppt/notesMasters/notesMaster1.xml" Id="R01e8171213ba46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679a7f84dc49bb" /><Relationship Type="http://schemas.openxmlformats.org/officeDocument/2006/relationships/notesMaster" Target="/ppt/notesMasters/notesMaster1.xml" Id="R558629d7f48f43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628cc68ceb440d" /><Relationship Type="http://schemas.openxmlformats.org/officeDocument/2006/relationships/notesMaster" Target="/ppt/notesMasters/notesMaster1.xml" Id="R60452f762ca747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5f409c492841aa" /><Relationship Type="http://schemas.openxmlformats.org/officeDocument/2006/relationships/notesMaster" Target="/ppt/notesMasters/notesMaster1.xml" Id="R3fa80c66747847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a2157d691d433c" /><Relationship Type="http://schemas.openxmlformats.org/officeDocument/2006/relationships/notesMaster" Target="/ppt/notesMasters/notesMaster1.xml" Id="R011b8fe64d7c4a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45d97039e14e12" /><Relationship Type="http://schemas.openxmlformats.org/officeDocument/2006/relationships/notesMaster" Target="/ppt/notesMasters/notesMaster1.xml" Id="R5346018ab02b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≥110/115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Google Gemini 3 Flash 공식 단가: https://ai.google.dev/gemini-api/docs/pricing#gemini-3-flash-preview</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115개 중 110개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Gemini 생성률 200 token/s를 비롯한 지연은 모두 작성자 가정이다. 전사 0.10 + 첫 출력 0.30 + 의미 출력 100/200 + 코드·읽기·확정 0.08 + 음성 0.25 = 1.23초로, 이 직렬 경로는 1초 예산을 넘는다. 유효한 반응에 필요한 의미 출력이 50 token인 경우에만 같은 가정에서 0.98초다.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115개 중 110개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Gemini 생성률 200 token/s를 비롯한 지연은 모두 작성자 가정이다. 전사 0.10 + 첫 출력 0.30 + 의미 출력 100/200 + 코드·읽기·확정 0.08 + 음성 0.25 = 1.23초로, 이 직렬 경로는 1초 예산을 넘는다. 유효한 반응에 필요한 의미 출력이 50 token인 경우에만 같은 가정에서 0.98초다.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$0.30/P21 이하</a:t>
            </a:r>
          </a:p>
          <a:p xmlns:a="http://schemas.openxmlformats.org/drawingml/2006/main">
            <a:r>
              <a:t>목표 근거: 동일 21사례의 의미 62호출/음성 입력 50초/출력 179초 예산에서 기본 $0.173567, 여유 $0.126433.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Google Gemini 3 Flash 공식 단가: https://ai.google.dev/gemini-api/docs/pricing#gemini-3-flash-preview</a:t>
            </a:r>
          </a:p>
          <a:p xmlns:a="http://schemas.openxmlformats.org/drawingml/2006/main">
            <a:r>
              <a:t>Google Live 공식 가격표: https://ai.google.dev/gemini-api/docs/pricing</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0.099200 |</a:t>
            </a:r>
          </a:p>
          <a:p xmlns:a="http://schemas.openxmlformats.org/drawingml/2006/main">
            <a:r>
              <a:t>| 음성audio 입력50초/출력예산179초 | 0.057867 |</a:t>
            </a:r>
          </a:p>
          <a:p xmlns:a="http://schemas.openxmlformats.org/drawingml/2006/main">
            <a:r>
              <a:t>| 음성Text/context 입력10,000/출력2,000 token | 0.016500 |</a:t>
            </a:r>
          </a:p>
          <a:p xmlns:a="http://schemas.openxmlformats.org/drawingml/2006/main">
            <a:r>
              <a:t>| 기본 총액 | **0.173567** |</a:t>
            </a:r>
          </a:p>
          <a:p xmlns:a="http://schemas.openxmlformats.org/drawingml/2006/main">
            <a:r>
              <a:t>| 초기/추가생산/재시도 여유 | **0.126433** |</a:t>
            </a:r>
          </a:p>
          <a:p xmlns:a="http://schemas.openxmlformats.org/drawingml/2006/main">
            <a:r>
              <a:t>| 목표 | **0.30/P21** |</a:t>
            </a:r>
          </a:p>
          <a:p xmlns:a="http://schemas.openxmlformats.org/drawingml/2006/main">
            <a:r>
              <a:t/>
            </a:r>
          </a:p>
          <a:p xmlns:a="http://schemas.openxmlformats.org/drawingml/2006/main">
            <a:r>
              <a:t>W100의 $1.50를 새 묶음에 그대로 적용하지 않고 동일 P21 사용량에서 다시 계산했다. 기본 대비 약 72.84%의 추가 여유를 둔 작성자 평가 예산이며 상품 가격이나 모델 성능 보장이 아니다.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차이 기준(목표의 10%)으로 두고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cd2e5e9ff24e67a1c31326c95acc0f67d0466e64cd997b9d6ff642d56362bda9</a:t>
            </a:r>
          </a:p>
          <a:p xmlns:a="http://schemas.openxmlformats.org/drawingml/2006/main">
            <a:r>
              <a:t>작성일: 2026-10-11</a:t>
            </a:r>
          </a:p>
          <a:p xmlns:a="http://schemas.openxmlformats.org/drawingml/2006/main">
            <a:r>
              <a:t>원본 SHA-256: e89c163288eaeceeeea3e8a44ef56f903278aefd9c997db8756bcdd27170d1fa</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76a55abc0048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2dd15277e24101" /><Relationship Type="http://schemas.openxmlformats.org/officeDocument/2006/relationships/slideLayout" Target="/ppt/slideLayouts/slideLayout1.xml" Id="R22f28c94f3ef42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f28c94f3ef42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83949528524b88" /><Relationship Type="http://schemas.openxmlformats.org/officeDocument/2006/relationships/notesSlide" Target="/ppt/notesSlides/notesSlide1.xml" Id="R85b204d385cd49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78dda133694100" /><Relationship Type="http://schemas.openxmlformats.org/officeDocument/2006/relationships/notesSlide" Target="/ppt/notesSlides/notesSlide2.xml" Id="R7edcf574d0db4b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f33aed3d384db3" /><Relationship Type="http://schemas.openxmlformats.org/officeDocument/2006/relationships/notesSlide" Target="/ppt/notesSlides/notesSlide3.xml" Id="R80f96ae5e61841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ba0d5053c049a0" /><Relationship Type="http://schemas.openxmlformats.org/officeDocument/2006/relationships/notesSlide" Target="/ppt/notesSlides/notesSlide4.xml" Id="R8329ff49e5254d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3e956108a54162" /><Relationship Type="http://schemas.openxmlformats.org/officeDocument/2006/relationships/notesSlide" Target="/ppt/notesSlides/notesSlide5.xml" Id="Ra7eadf7aa76b44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0eb9d3707f4c88" /><Relationship Type="http://schemas.openxmlformats.org/officeDocument/2006/relationships/notesSlide" Target="/ppt/notesSlides/notesSlide6.xml" Id="Rfcdf3153c46a4a7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1A40800-1D08-4B9F-BFC4-59C00ED6CA1D}"/>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2E10C026-1712-491B-B782-F7D4758E7D34}"/>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3A4CF3D-D86C-4ADA-9B83-1B4AB8D9FD35}"/>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sp>
        <p:nvSpPr>
          <p:cNvPr id="4" name="headline">
            <a:extLst xmlns:a="http://schemas.openxmlformats.org/drawingml/2006/main">
              <a:ext uri="{FF2B5EF4-FFF2-40B4-BE49-F238E27FC236}">
                <a16:creationId xmlns:a16="http://schemas.microsoft.com/office/drawing/2014/main" id="{292B725C-079B-4CCC-94AF-C428048EF71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5" name="scope">
            <a:extLst xmlns:a="http://schemas.openxmlformats.org/drawingml/2006/main">
              <a:ext uri="{FF2B5EF4-FFF2-40B4-BE49-F238E27FC236}">
                <a16:creationId xmlns:a16="http://schemas.microsoft.com/office/drawing/2014/main" id="{D107C5B8-31A9-4D83-A7AF-42EA263BAE1A}"/>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21개 Voice/Agent 사례 × 5회 × 6조건 = 630개</a:t>
                      </a:r>
                    </a:p>
                    <a:p>
                      <a:pPr algn="l"/>
                      <a:r>
                        <a:rPr sz="195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모든 사례의 지정 반응 27개 × 5회 = 135관측</a:t>
                      </a:r>
                    </a:p>
                    <a:p>
                      <a:pPr algn="l"/>
                      <a:r>
                        <a:rPr sz="195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사용자 목표 19개 × 5회 = 95사이클</a:t>
                      </a:r>
                    </a:p>
                    <a:p>
                      <a:pPr algn="l"/>
                      <a:r>
                        <a:rPr sz="195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9F9C085A-F731-43F0-B741-56F360529B06}"/>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371557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48A87DD-CB1C-4129-AF57-602CA23DEEA3}"/>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729F2F94-1E00-4A1F-AEB6-890BBB38F6B5}"/>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3D1F658F-4357-4165-9148-2E47501471D1}"/>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sp>
        <p:nvSpPr>
          <p:cNvPr id="4" name="headline">
            <a:extLst xmlns:a="http://schemas.openxmlformats.org/drawingml/2006/main">
              <a:ext uri="{FF2B5EF4-FFF2-40B4-BE49-F238E27FC236}">
                <a16:creationId xmlns:a16="http://schemas.microsoft.com/office/drawing/2014/main" id="{2B1AFE9D-A262-4AFA-91D7-8BE8B47ED968}"/>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5" name="scope">
            <a:extLst xmlns:a="http://schemas.openxmlformats.org/drawingml/2006/main">
              <a:ext uri="{FF2B5EF4-FFF2-40B4-BE49-F238E27FC236}">
                <a16:creationId xmlns:a16="http://schemas.microsoft.com/office/drawing/2014/main" id="{E6C11848-0FDE-43CD-BA78-961F9AC117E3}"/>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$0.30</a:t>
                      </a:r>
                    </a:p>
                    <a:p>
                      <a:pPr algn="l"/>
                      <a:r>
                        <a:rPr sz="1950" b="0">
                          <a:solidFill>
                            <a:srgbClr val="222A35"/>
                          </a:solidFill>
                          <a:latin typeface="Apple SD Gothic Neo"/>
                          <a:ea typeface="Apple SD Gothic Neo"/>
                          <a:cs typeface="Apple SD Gothic Neo"/>
                        </a:rPr>
                        <a:t>측정: 동일 P21 전체 5회 총 청구량의 평균 × 단가</a:t>
                      </a:r>
                    </a:p>
                    <a:p>
                      <a:pPr algn="l"/>
                      <a:r>
                        <a:rPr sz="1950" b="0">
                          <a:solidFill>
                            <a:srgbClr val="56606B"/>
                          </a:solidFill>
                          <a:latin typeface="Apple SD Gothic Neo"/>
                          <a:ea typeface="Apple SD Gothic Neo"/>
                          <a:cs typeface="Apple SD Gothic Neo"/>
                        </a:rPr>
                        <a:t>근거: 기본 $0.173567 + 추가 생산/재시도 여유 $0.126433</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동일 P21 전체 5회 중 최대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8DA4B4D0-45E1-418A-AACD-8096F775A15B}"/>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4381025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CFFFAB3-0863-44D6-AA74-D862C82BA11F}"/>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평가 활동</a:t>
            </a:r>
          </a:p>
        </p:txBody>
      </p:sp>
      <p:sp>
        <p:nvSpPr>
          <p:cNvPr id="2" name="header-rule">
            <a:extLst xmlns:a="http://schemas.openxmlformats.org/drawingml/2006/main">
              <a:ext uri="{FF2B5EF4-FFF2-40B4-BE49-F238E27FC236}">
                <a16:creationId xmlns:a16="http://schemas.microsoft.com/office/drawing/2014/main" id="{ED13E0D7-5F3B-4DB8-B56E-5E7BB7368F8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04C168BF-42F8-45FC-9E95-7555D0EAB55E}"/>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sp>
        <p:nvSpPr>
          <p:cNvPr id="4" name="headline">
            <a:extLst xmlns:a="http://schemas.openxmlformats.org/drawingml/2006/main">
              <a:ext uri="{FF2B5EF4-FFF2-40B4-BE49-F238E27FC236}">
                <a16:creationId xmlns:a16="http://schemas.microsoft.com/office/drawing/2014/main" id="{F0F77C51-5416-49BC-96B3-BFEF8B84F699}"/>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P21: 모든 QA가 같은 사례와 후속 사건을 평가</a:t>
            </a:r>
          </a:p>
        </p:txBody>
      </p:sp>
      <p:sp>
        <p:nvSpPr>
          <p:cNvPr id="5" name="scope">
            <a:extLst xmlns:a="http://schemas.openxmlformats.org/drawingml/2006/main">
              <a:ext uri="{FF2B5EF4-FFF2-40B4-BE49-F238E27FC236}">
                <a16:creationId xmlns:a16="http://schemas.microsoft.com/office/drawing/2014/main" id="{FAD4B9ED-2445-4629-AC7C-85659DBE6264}"/>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222A35"/>
                </a:solidFill>
                <a:latin typeface="Apple SD Gothic Neo"/>
                <a:ea typeface="Apple SD Gothic Neo"/>
                <a:cs typeface="Apple SD Gothic Neo"/>
              </a:defRPr>
            </a:pPr>
            <a:r>
              <a:rPr sz="2175" b="0">
                <a:solidFill>
                  <a:srgbClr val="222A35"/>
                </a:solidFill>
                <a:latin typeface="Apple SD Gothic Neo"/>
                <a:ea typeface="Apple SD Gothic Neo"/>
                <a:cs typeface="Apple SD Gothic Neo"/>
              </a:rPr>
              <a:t>DP-41/42/44/45의 실제 기제와 오류 경로로 선정한 사례를 동일 조건에서 평가</a:t>
            </a:r>
          </a:p>
        </p:txBody>
      </p:sp>
      <p:graphicFrame>
        <p:nvGraphicFramePr>
          <p:cNvPr id="13" name=""/>
          <p:cNvGraphicFramePr/>
          <p:nvPr/>
        </p:nvGraphicFramePr>
        <p:xfrm>
          <a:off xmlns:a="http://schemas.openxmlformats.org/drawingml/2006/main" x="457200" y="2286000"/>
          <a:ext xmlns:a="http://schemas.openxmlformats.org/drawingml/2006/main" cx="17373600" cy="7486650"/>
        </p:xfrm>
        <a:graphic xmlns:a="http://schemas.openxmlformats.org/drawingml/2006/main">
          <a:graphicData uri="http://schemas.openxmlformats.org/drawingml/2006/table">
            <a:tbl>
              <a:tblPr firstRow="0" bandRow="0"/>
              <a:tblGrid>
                <a:gridCol w="2667000"/>
                <a:gridCol w="8001000"/>
                <a:gridCol w="6705600"/>
              </a:tblGrid>
              <a:tr h="476250">
                <a:tc>
                  <a:txBody>
                    <a:bodyPr/>
                    <a:lstStyle/>
                    <a:p>
                      <a:pPr algn="l"/>
                      <a:r>
                        <a:rPr sz="2025" b="1">
                          <a:solidFill>
                            <a:srgbClr val="FFFFFF"/>
                          </a:solidFill>
                          <a:latin typeface="Apple SD Gothic Neo"/>
                          <a:ea typeface="Apple SD Gothic Neo"/>
                          <a:cs typeface="Apple SD Gothic Neo"/>
                        </a:rPr>
                        <a:t>활동 / 관측</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고정 조건</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QA에서 읽는 값</a:t>
                      </a:r>
                    </a:p>
                  </a:txBody>
                  <a:tcPr marL="133350" marR="114300" marT="57150" marB="57150" anchor="ctr">
                    <a:solidFill>
                      <a:srgbClr val="4472C4"/>
                    </a:solidFill>
                  </a:tcPr>
                </a:tc>
              </a:tr>
              <a:tr h="1162050">
                <a:tc>
                  <a:txBody>
                    <a:bodyPr/>
                    <a:lstStyle/>
                    <a:p>
                      <a:pPr algn="l"/>
                      <a:r>
                        <a:rPr sz="2025" b="0">
                          <a:solidFill>
                            <a:srgbClr val="222A35"/>
                          </a:solidFill>
                          <a:latin typeface="Apple SD Gothic Neo"/>
                          <a:ea typeface="Apple SD Gothic Neo"/>
                          <a:cs typeface="Apple SD Gothic Neo"/>
                        </a:rPr>
                        <a:t>사례 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S1~S6: 2 / 5 / 3 / 3 / 4 / 4개 = 21개</a:t>
                      </a:r>
                    </a:p>
                    <a:p>
                      <a:pPr algn="l"/>
                      <a:r>
                        <a:rPr sz="2025" b="0">
                          <a:solidFill>
                            <a:srgbClr val="222A35"/>
                          </a:solidFill>
                          <a:latin typeface="Apple SD Gothic Neo"/>
                          <a:ea typeface="Apple SD Gothic Neo"/>
                          <a:cs typeface="Apple SD Gothic Neo"/>
                        </a:rPr>
                        <a:t>기존 17 유지, 선호 등록은 회귀, 민감 사례 4개 추가</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DP-41/42/44/45의 실제 기제 경로</a:t>
                      </a:r>
                    </a:p>
                    <a:p>
                      <a:pPr algn="l"/>
                      <a:r>
                        <a:rPr sz="2025" b="0">
                          <a:solidFill>
                            <a:srgbClr val="222A35"/>
                          </a:solidFill>
                          <a:latin typeface="Apple SD Gothic Neo"/>
                          <a:ea typeface="Apple SD Gothic Neo"/>
                          <a:cs typeface="Apple SD Gothic Neo"/>
                        </a:rPr>
                        <a:t>공통 기준 경로와 차이를 활성화하는 경로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같은 활동 5회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각 활동에서 21개를 한 번씩, 전체 5회 독립 초기화</a:t>
                      </a:r>
                    </a:p>
                    <a:p>
                      <a:pPr algn="l"/>
                      <a:r>
                        <a:rPr sz="2025" b="0">
                          <a:solidFill>
                            <a:srgbClr val="222A35"/>
                          </a:solidFill>
                          <a:latin typeface="Apple SD Gothic Neo"/>
                          <a:ea typeface="Apple SD Gothic Neo"/>
                          <a:cs typeface="Apple SD Gothic Neo"/>
                        </a:rPr>
                        <a:t>S2-02 → S2-04 실제 재사용의 선후는 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사용자 목표 19 + Agent 단독 2장면</a:t>
                      </a:r>
                    </a:p>
                    <a:p>
                      <a:pPr algn="l"/>
                      <a:r>
                        <a:rPr sz="2025" b="0">
                          <a:solidFill>
                            <a:srgbClr val="222A35"/>
                          </a:solidFill>
                          <a:latin typeface="Apple SD Gothic Neo"/>
                          <a:ea typeface="Apple SD Gothic Neo"/>
                          <a:cs typeface="Apple SD Gothic Neo"/>
                        </a:rPr>
                        <a:t>네 Agent 동시 사건은 S5-04 내부에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모든 정확성과 시간</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모든 21사례의 6조건 × 5회</a:t>
                      </a:r>
                    </a:p>
                    <a:p>
                      <a:pPr algn="l"/>
                      <a:r>
                        <a:rPr sz="2025" b="0">
                          <a:solidFill>
                            <a:srgbClr val="222A35"/>
                          </a:solidFill>
                          <a:latin typeface="Apple SD Gothic Neo"/>
                          <a:ea typeface="Apple SD Gothic Neo"/>
                          <a:cs typeface="Apple SD Gothic Neo"/>
                        </a:rPr>
                        <a:t>시간: 같은 사례의 첫 반응과 전체 완료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105시나리오 / 630조건</a:t>
                      </a:r>
                    </a:p>
                    <a:p>
                      <a:pPr algn="l"/>
                      <a:r>
                        <a:rPr sz="2025" b="0">
                          <a:solidFill>
                            <a:srgbClr val="222A35"/>
                          </a:solidFill>
                          <a:latin typeface="Apple SD Gothic Neo"/>
                          <a:ea typeface="Apple SD Gothic Neo"/>
                          <a:cs typeface="Apple SD Gothic Neo"/>
                        </a:rPr>
                        <a:t>반응 27×5=135 / 처리 19×5=95</a:t>
                      </a:r>
                    </a:p>
                  </a:txBody>
                  <a:tcPr marL="133350" marR="114300" marT="57150" marB="57150" anchor="ctr">
                    <a:solidFill>
                      <a:srgbClr val="FFF6DE"/>
                    </a:solidFill>
                  </a:tcPr>
                </a:tc>
              </a:tr>
              <a:tr h="1352550">
                <a:tc>
                  <a:txBody>
                    <a:bodyPr/>
                    <a:lstStyle/>
                    <a:p>
                      <a:pPr algn="l"/>
                      <a:r>
                        <a:rPr sz="2025" b="0">
                          <a:solidFill>
                            <a:srgbClr val="222A35"/>
                          </a:solidFill>
                          <a:latin typeface="Apple SD Gothic Neo"/>
                          <a:ea typeface="Apple SD Gothic Neo"/>
                          <a:cs typeface="Apple SD Gothic Neo"/>
                        </a:rPr>
                        <a:t>같은 비용과 메모리</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P21 전체 5회: 비용 평균 / 메모리 최대</a:t>
                      </a:r>
                    </a:p>
                    <a:p>
                      <a:pPr algn="l"/>
                      <a:r>
                        <a:rPr sz="2025" b="0">
                          <a:solidFill>
                            <a:srgbClr val="222A35"/>
                          </a:solidFill>
                          <a:latin typeface="Apple SD Gothic Neo"/>
                          <a:ea typeface="Apple SD Gothic Neo"/>
                          <a:cs typeface="Apple SD Gothic Neo"/>
                        </a:rPr>
                        <a:t>음성 입력 50초 / 출력 179초 / 의미 62호출 예산</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비용 ≤$0.30/P21 / commit ≤4GiB</a:t>
                      </a:r>
                    </a:p>
                    <a:p>
                      <a:pPr algn="l"/>
                      <a:r>
                        <a:rPr sz="2025" b="0">
                          <a:solidFill>
                            <a:srgbClr val="222A35"/>
                          </a:solidFill>
                          <a:latin typeface="Apple SD Gothic Neo"/>
                          <a:ea typeface="Apple SD Gothic Neo"/>
                          <a:cs typeface="Apple SD Gothic Neo"/>
                        </a:rPr>
                        <a:t>실제 호출·청구·할당은 후보 경로의 결과</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초기 자료와 집중 부하</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과거 2,000turn / 완료 Task 200 / 원본 30개</a:t>
                      </a:r>
                    </a:p>
                    <a:p>
                      <a:pPr algn="l"/>
                      <a:r>
                        <a:rPr sz="2025" b="0">
                          <a:solidFill>
                            <a:srgbClr val="222A35"/>
                          </a:solidFill>
                          <a:latin typeface="Apple SD Gothic Neo"/>
                          <a:ea typeface="Apple SD Gothic Neo"/>
                          <a:cs typeface="Apple SD Gothic Neo"/>
                        </a:rPr>
                        <a:t>Task 최대 10 / cloud 호출 최대 4</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초기/미사용 생산, 재사용, 첫 사용, 집중 도착</a:t>
                      </a:r>
                    </a:p>
                    <a:p>
                      <a:pPr algn="l"/>
                      <a:r>
                        <a:rPr sz="2025" b="0">
                          <a:solidFill>
                            <a:srgbClr val="222A35"/>
                          </a:solidFill>
                          <a:latin typeface="Apple SD Gothic Neo"/>
                          <a:ea typeface="Apple SD Gothic Neo"/>
                          <a:cs typeface="Apple SD Gothic Neo"/>
                        </a:rPr>
                        <a:t>동일 원천·허용·외부 응답·모델/기능 조건</a:t>
                      </a:r>
                    </a:p>
                  </a:txBody>
                  <a:tcPr marL="133350" marR="114300" marT="57150" marB="57150" anchor="ctr">
                    <a:solidFill>
                      <a:srgbClr val="FFF6DE"/>
                    </a:solidFill>
                  </a:tcPr>
                </a:tc>
              </a:tr>
              <a:tr h="1009650">
                <a:tc>
                  <a:txBody>
                    <a:bodyPr/>
                    <a:lstStyle/>
                    <a:p>
                      <a:pPr algn="l"/>
                      <a:r>
                        <a:rPr sz="2025" b="0">
                          <a:solidFill>
                            <a:srgbClr val="222A35"/>
                          </a:solidFill>
                          <a:latin typeface="Apple SD Gothic Neo"/>
                          <a:ea typeface="Apple SD Gothic Neo"/>
                          <a:cs typeface="Apple SD Gothic Neo"/>
                        </a:rPr>
                        <a:t>회수와 보호</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원본 갱신 4건 / maintenance 2회 / B04 철회</a:t>
                      </a:r>
                    </a:p>
                    <a:p>
                      <a:pPr algn="l"/>
                      <a:r>
                        <a:rPr sz="2025" b="0">
                          <a:solidFill>
                            <a:srgbClr val="222A35"/>
                          </a:solidFill>
                          <a:latin typeface="Apple SD Gothic Neo"/>
                          <a:ea typeface="Apple SD Gothic Neo"/>
                          <a:cs typeface="Apple SD Gothic Neo"/>
                        </a:rPr>
                        <a:t>drain ≤30초 + idle 10초, 실제 실패는 보존</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일반 ≥110/115 ≤2초 / 집중 30/30 ≤5초</a:t>
                      </a:r>
                    </a:p>
                    <a:p>
                      <a:pPr algn="l"/>
                      <a:r>
                        <a:rPr sz="2025" b="0">
                          <a:solidFill>
                            <a:srgbClr val="222A35"/>
                          </a:solidFill>
                          <a:latin typeface="Apple SD Gothic Neo"/>
                          <a:ea typeface="Apple SD Gothic Neo"/>
                          <a:cs typeface="Apple SD Gothic Neo"/>
                        </a:rPr>
                        <a:t>local stop 모두 ≤0.1초 / 유휴 증가 ≤16MiB</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921F85A3-C9BF-4172-943A-5D0429244656}"/>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03-02 §3.2 선정/대응표, §8 공통 실행 / 다음 3장은 21개 전체 대응표 / 작성자 설계 PoC, 미실측</a:t>
            </a:r>
          </a:p>
        </p:txBody>
      </p:sp>
    </p:spTree>
    <p:extLst>
      <p:ext uri="{BB962C8B-B14F-4D97-AF65-F5344CB8AC3E}">
        <p14:creationId xmlns:p14="http://schemas.microsoft.com/office/powerpoint/2010/main" val="12678172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C350B14-2BB9-461C-949A-68142AAE655E}"/>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6789A051-A02F-4113-A99B-D26701672FB3}"/>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E2A1DE0-D2CB-4454-9812-F4F5DE9E1874}"/>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sp>
        <p:nvSpPr>
          <p:cNvPr id="4" name="headline">
            <a:extLst xmlns:a="http://schemas.openxmlformats.org/drawingml/2006/main">
              <a:ext uri="{FF2B5EF4-FFF2-40B4-BE49-F238E27FC236}">
                <a16:creationId xmlns:a16="http://schemas.microsoft.com/office/drawing/2014/main" id="{8D4F0420-4617-4097-81E2-751518B6B232}"/>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1~7 / 21</a:t>
            </a:r>
          </a:p>
        </p:txBody>
      </p:sp>
      <p:sp>
        <p:nvSpPr>
          <p:cNvPr id="5" name="scope">
            <a:extLst xmlns:a="http://schemas.openxmlformats.org/drawingml/2006/main">
              <a:ext uri="{FF2B5EF4-FFF2-40B4-BE49-F238E27FC236}">
                <a16:creationId xmlns:a16="http://schemas.microsoft.com/office/drawing/2014/main" id="{E4B2D0BD-9530-4B94-8C86-50BEF00D3ADE}"/>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S1-01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제한된 정보 조회</a:t>
                      </a:r>
                    </a:p>
                    <a:p>
                      <a:pPr algn="l"/>
                      <a:r>
                        <a:rPr sz="1875" b="0">
                          <a:solidFill>
                            <a:srgbClr val="222A35"/>
                          </a:solidFill>
                          <a:latin typeface="Apple SD Gothic Neo"/>
                          <a:ea typeface="Apple SD Gothic Neo"/>
                          <a:cs typeface="Apple SD Gothic Neo"/>
                        </a:rPr>
                        <a:t>단순 직접/위임의 공통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D1의 정확한 날짜 답변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D1 마감일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S1-02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보고서 업무 위임</a:t>
                      </a:r>
                    </a:p>
                    <a:p>
                      <a:pPr algn="l"/>
                      <a:r>
                        <a:rPr sz="1875" b="0">
                          <a:solidFill>
                            <a:srgbClr val="222A35"/>
                          </a:solidFill>
                          <a:latin typeface="Apple SD Gothic Neo"/>
                          <a:ea typeface="Apple SD Gothic Neo"/>
                          <a:cs typeface="Apple SD Gothic Neo"/>
                        </a:rPr>
                        <a:t>신규 업무 인계와 정상 접수의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해당 보고서의 실제 접수/진행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ReportQ3@v1 최종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두 표 지칭</a:t>
                      </a:r>
                    </a:p>
                    <a:p>
                      <a:pPr algn="l"/>
                      <a:r>
                        <a:rPr sz="1875" b="0">
                          <a:solidFill>
                            <a:srgbClr val="222A35"/>
                          </a:solidFill>
                          <a:latin typeface="Apple SD Gothic Neo"/>
                          <a:ea typeface="Apple SD Gothic Neo"/>
                          <a:cs typeface="Apple SD Gothic Neo"/>
                        </a:rPr>
                        <a:t>동일 발화의 복수 지칭을 실제 근거에 결합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발화 당시 두 표의 올바른 비교/위임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두 표 비교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과거 설명과 두 업무 결과 재사용</a:t>
                      </a:r>
                    </a:p>
                    <a:p>
                      <a:pPr algn="l"/>
                      <a:r>
                        <a:rPr sz="1875" b="0">
                          <a:solidFill>
                            <a:srgbClr val="222A35"/>
                          </a:solidFill>
                          <a:latin typeface="Apple SD Gothic Neo"/>
                          <a:ea typeface="Apple SD Gothic Neo"/>
                          <a:cs typeface="Apple SD Gothic Neo"/>
                        </a:rPr>
                        <a:t>예외를 포함하는 세 과거 원본의 실제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근거/조건이 맞는 제안서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갱신된 원본의 과거 값 지정</a:t>
                      </a:r>
                    </a:p>
                    <a:p>
                      <a:pPr algn="l"/>
                      <a:r>
                        <a:rPr sz="1875" b="0">
                          <a:solidFill>
                            <a:srgbClr val="222A35"/>
                          </a:solidFill>
                          <a:latin typeface="Apple SD Gothic Neo"/>
                          <a:ea typeface="Apple SD Gothic Neo"/>
                          <a:cs typeface="Apple SD Gothic Neo"/>
                        </a:rPr>
                        <a:t>원본 갱신 뒤 과거 revision의 보존/검증</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v1 값 지정이 맞는 실제 작성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TablePast@v1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같은 과거 근거의 두 번째 사용</a:t>
                      </a:r>
                    </a:p>
                    <a:p>
                      <a:pPr algn="l"/>
                      <a:r>
                        <a:rPr sz="1875" b="0">
                          <a:solidFill>
                            <a:srgbClr val="222A35"/>
                          </a:solidFill>
                          <a:latin typeface="Apple SD Gothic Neo"/>
                          <a:ea typeface="Apple SD Gothic Neo"/>
                          <a:cs typeface="Apple SD Gothic Neo"/>
                        </a:rPr>
                        <a:t>같은 원본 재사용의 cache/관계 hit와 전체 생산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두 번째 새 제안서의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ProposalRepeat@v1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S2-05</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새로 도착한 과거 근거의 첫 사용</a:t>
                      </a:r>
                    </a:p>
                    <a:p>
                      <a:pPr algn="l"/>
                      <a:r>
                        <a:rPr sz="1875" b="0">
                          <a:solidFill>
                            <a:srgbClr val="222A35"/>
                          </a:solidFill>
                          <a:latin typeface="Apple SD Gothic Neo"/>
                          <a:ea typeface="Apple SD Gothic Neo"/>
                          <a:cs typeface="Apple SD Gothic Neo"/>
                        </a:rPr>
                        <a:t>새 원본 첫 사용의 조합/미게시 backfill 대기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새 근거를 확보한 실제 제안서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ProposalFresh@v1 최종 전달</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75629E1B-F08A-48C4-87DA-6FE6359B93B0}"/>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4100585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A948F48-7D32-47E0-A16F-43CA0B5A6202}"/>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0D74018C-F595-48B7-9626-6071EBCFBFE5}"/>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FC771F1-4BC7-4090-8C7A-767272D4B7A4}"/>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sp>
        <p:nvSpPr>
          <p:cNvPr id="4" name="headline">
            <a:extLst xmlns:a="http://schemas.openxmlformats.org/drawingml/2006/main">
              <a:ext uri="{FF2B5EF4-FFF2-40B4-BE49-F238E27FC236}">
                <a16:creationId xmlns:a16="http://schemas.microsoft.com/office/drawing/2014/main" id="{2F707774-A715-4BF2-89B2-28D965977A26}"/>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8~14 / 21</a:t>
            </a:r>
          </a:p>
        </p:txBody>
      </p:sp>
      <p:sp>
        <p:nvSpPr>
          <p:cNvPr id="5" name="scope">
            <a:extLst xmlns:a="http://schemas.openxmlformats.org/drawingml/2006/main">
              <a:ext uri="{FF2B5EF4-FFF2-40B4-BE49-F238E27FC236}">
                <a16:creationId xmlns:a16="http://schemas.microsoft.com/office/drawing/2014/main" id="{9E774550-2D49-4107-B3DC-E7CFCE3E2EB4}"/>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S3-01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독립된 두 조회 요청</a:t>
                      </a:r>
                    </a:p>
                    <a:p>
                      <a:pPr algn="l"/>
                      <a:r>
                        <a:rPr sz="1875" b="0">
                          <a:solidFill>
                            <a:srgbClr val="222A35"/>
                          </a:solidFill>
                          <a:latin typeface="Apple SD Gothic Neo"/>
                          <a:ea typeface="Apple SD Gothic Neo"/>
                          <a:cs typeface="Apple SD Gothic Neo"/>
                        </a:rPr>
                        <a:t>독립 read의 병렬 진행을 양안에 허용하는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독립 두 목표의 구분된 유효 답변/실제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 두 조회 결과 모두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요약 산출물에 의존하는 메일</a:t>
                      </a:r>
                    </a:p>
                    <a:p>
                      <a:pPr algn="l"/>
                      <a:r>
                        <a:rPr sz="1875" b="0">
                          <a:solidFill>
                            <a:srgbClr val="222A35"/>
                          </a:solidFill>
                          <a:latin typeface="Apple SD Gothic Neo"/>
                          <a:ea typeface="Apple SD Gothic Neo"/>
                          <a:cs typeface="Apple SD Gothic Neo"/>
                        </a:rPr>
                        <a:t>결과 의존/중복 반환의 전체 continuation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현재 요약/의존 메일의 유효 처리 사실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현재 요약의 민수 메일 발송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일정 조건의 변경 재확인</a:t>
                      </a:r>
                    </a:p>
                    <a:p>
                      <a:pPr algn="l"/>
                      <a:r>
                        <a:rPr sz="1875" b="0">
                          <a:solidFill>
                            <a:srgbClr val="222A35"/>
                          </a:solidFill>
                          <a:latin typeface="Apple SD Gothic Neo"/>
                          <a:ea typeface="Apple SD Gothic Neo"/>
                          <a:cs typeface="Apple SD Gothic Neo"/>
                        </a:rPr>
                        <a:t>해석 뒤 조건 변경의 재조회/재확정</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최신 BUSY와 일정 생성 안 함의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BUSY/미생성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부분 정정과 늦은 후보</a:t>
                      </a:r>
                    </a:p>
                    <a:p>
                      <a:pPr algn="l"/>
                      <a:r>
                        <a:rPr sz="1875" b="0">
                          <a:solidFill>
                            <a:srgbClr val="222A35"/>
                          </a:solidFill>
                          <a:latin typeface="Apple SD Gothic Neo"/>
                          <a:ea typeface="Apple SD Gothic Neo"/>
                          <a:cs typeface="Apple SD Gothic Neo"/>
                        </a:rPr>
                        <a:t>부분 정정과 옛 후보의 늦은 반환</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보고서 변경 접수와 메일 보존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ReportRevised@v2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중단 뒤 지정 수치 설명</a:t>
                      </a:r>
                    </a:p>
                    <a:p>
                      <a:pPr algn="l"/>
                      <a:r>
                        <a:rPr sz="1875" b="0">
                          <a:solidFill>
                            <a:srgbClr val="222A35"/>
                          </a:solidFill>
                          <a:latin typeface="Apple SD Gothic Neo"/>
                          <a:ea typeface="Apple SD Gothic Neo"/>
                          <a:cs typeface="Apple SD Gothic Neo"/>
                        </a:rPr>
                        <a:t>local stop와 새 설명의 분리, input 지속</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발화 acoustic onset → 옛 음성의 마지막 재생 sample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수치의 새 설명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특정 업무 취소와 접수 미확인</a:t>
                      </a:r>
                    </a:p>
                    <a:p>
                      <a:pPr algn="l"/>
                      <a:r>
                        <a:rPr sz="1875" b="0">
                          <a:solidFill>
                            <a:srgbClr val="222A35"/>
                          </a:solidFill>
                          <a:latin typeface="Apple SD Gothic Neo"/>
                          <a:ea typeface="Apple SD Gothic Neo"/>
                          <a:cs typeface="Apple SD Gothic Neo"/>
                        </a:rPr>
                        <a:t>hold/취소 접수/외부 미확인의 실제 순서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메일 취소 전달/미확인 상태의 정직한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명세된 취소 접수/미확인 disposition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교차 질문과 철회</a:t>
                      </a:r>
                    </a:p>
                    <a:p>
                      <a:pPr algn="l"/>
                      <a:r>
                        <a:rPr sz="1875" b="0">
                          <a:solidFill>
                            <a:srgbClr val="222A35"/>
                          </a:solidFill>
                          <a:latin typeface="Apple SD Gothic Neo"/>
                          <a:ea typeface="Apple SD Gothic Neo"/>
                          <a:cs typeface="Apple SD Gothic Neo"/>
                        </a:rPr>
                        <a:t>질문 교차/철회와 실제 제시의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메일 질문 source availability → 올바른 수신자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42276120-A97B-4038-9546-9A4891053912}"/>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8911735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8F4C509-59F5-4885-B3D0-37536C2A65B9}"/>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5F01649B-686E-4B59-B054-7585573B8DF2}"/>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777F954D-385C-4641-910F-25FF0E3BB2F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sp>
        <p:nvSpPr>
          <p:cNvPr id="4" name="headline">
            <a:extLst xmlns:a="http://schemas.openxmlformats.org/drawingml/2006/main">
              <a:ext uri="{FF2B5EF4-FFF2-40B4-BE49-F238E27FC236}">
                <a16:creationId xmlns:a16="http://schemas.microsoft.com/office/drawing/2014/main" id="{37CCE702-BA5D-4D12-A1D7-D8B4D1A15A5B}"/>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15~21 / 21</a:t>
            </a:r>
          </a:p>
        </p:txBody>
      </p:sp>
      <p:sp>
        <p:nvSpPr>
          <p:cNvPr id="5" name="scope">
            <a:extLst xmlns:a="http://schemas.openxmlformats.org/drawingml/2006/main">
              <a:ext uri="{FF2B5EF4-FFF2-40B4-BE49-F238E27FC236}">
                <a16:creationId xmlns:a16="http://schemas.microsoft.com/office/drawing/2014/main" id="{F071CAE0-AB91-4CA2-8EC4-8B54F5B3F2B9}"/>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S5-02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역전과 중복</a:t>
                      </a:r>
                    </a:p>
                    <a:p>
                      <a:pPr algn="l"/>
                      <a:r>
                        <a:rPr sz="1875" b="0">
                          <a:solidFill>
                            <a:srgbClr val="222A35"/>
                          </a:solidFill>
                          <a:latin typeface="Apple SD Gothic Neo"/>
                          <a:ea typeface="Apple SD Gothic Neo"/>
                          <a:cs typeface="Apple SD Gothic Neo"/>
                        </a:rPr>
                        <a:t>결과 역전/중복의 현재성 및 publication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유효 결과 source availability → 올바른 현재 결과 실제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종료 중 결과와 재연결</a:t>
                      </a:r>
                    </a:p>
                    <a:p>
                      <a:pPr algn="l"/>
                      <a:r>
                        <a:rPr sz="1875" b="0">
                          <a:solidFill>
                            <a:srgbClr val="222A35"/>
                          </a:solidFill>
                          <a:latin typeface="Apple SD Gothic Neo"/>
                          <a:ea typeface="Apple SD Gothic Neo"/>
                          <a:cs typeface="Apple SD Gothic Neo"/>
                        </a:rPr>
                        <a:t>Voice Connection과 Task/결과의 독립 수명</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도착 → Text 전달 (1)</a:t>
                      </a:r>
                    </a:p>
                    <a:p>
                      <a:pPr algn="l"/>
                      <a:r>
                        <a:rPr sz="1875" b="0">
                          <a:solidFill>
                            <a:srgbClr val="222A35"/>
                          </a:solidFill>
                          <a:latin typeface="Apple SD Gothic Neo"/>
                          <a:ea typeface="Apple SD Gothic Neo"/>
                          <a:cs typeface="Apple SD Gothic Neo"/>
                        </a:rPr>
                        <a:t>재연결 발화 끝 → Voice 전달 (1)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재연결 요청에 기존 결과 안내</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네 Agent 사건과 보고서 정정</a:t>
                      </a:r>
                    </a:p>
                    <a:p>
                      <a:pPr algn="l"/>
                      <a:r>
                        <a:rPr sz="1875" b="0">
                          <a:solidFill>
                            <a:srgbClr val="222A35"/>
                          </a:solidFill>
                          <a:latin typeface="Apple SD Gothic Neo"/>
                          <a:ea typeface="Apple SD Gothic Neo"/>
                          <a:cs typeface="Apple SD Gothic Neo"/>
                        </a:rPr>
                        <a:t>입력+네 Agent 사건의 queue/join/폐기/동시 할당</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끼어들기 → local stop (1)</a:t>
                      </a:r>
                    </a:p>
                    <a:p>
                      <a:pPr algn="l"/>
                      <a:r>
                        <a:rPr sz="1875" b="0">
                          <a:solidFill>
                            <a:srgbClr val="222A35"/>
                          </a:solidFill>
                          <a:latin typeface="Apple SD Gothic Neo"/>
                          <a:ea typeface="Apple SD Gothic Neo"/>
                          <a:cs typeface="Apple SD Gothic Neo"/>
                        </a:rPr>
                        <a:t>정정 → 접수 (1), 질문 2 / 결과 2 → 제시 (4)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ReportBurst@v2 전달 및 지정 독립 반응 유지</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모호한 과거 보고서 확인</a:t>
                      </a:r>
                    </a:p>
                    <a:p>
                      <a:pPr algn="l"/>
                      <a:r>
                        <a:rPr sz="1875" b="0">
                          <a:solidFill>
                            <a:srgbClr val="222A35"/>
                          </a:solidFill>
                          <a:latin typeface="Apple SD Gothic Neo"/>
                          <a:ea typeface="Apple SD Gothic Neo"/>
                          <a:cs typeface="Apple SD Gothic Neo"/>
                        </a:rPr>
                        <a:t>모호한 대상의 확인과 후속 변경 전체 cycle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보고서 대상/수정 내용 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ConfirmedRevision@v2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철회된 질문 답변과 승인 범위</a:t>
                      </a:r>
                    </a:p>
                    <a:p>
                      <a:pPr algn="l"/>
                      <a:r>
                        <a:rPr sz="1875" b="0">
                          <a:solidFill>
                            <a:srgbClr val="222A35"/>
                          </a:solidFill>
                          <a:latin typeface="Apple SD Gothic Neo"/>
                          <a:ea typeface="Apple SD Gothic Neo"/>
                          <a:cs typeface="Apple SD Gothic Neo"/>
                        </a:rPr>
                        <a:t>미제시/철회 질문의 답변과 승인 scope 분리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현재 정보 동의의 재확인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허용된 연락처 제공/발송 미승인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필요한 자료의 접근 거부</a:t>
                      </a:r>
                    </a:p>
                    <a:p>
                      <a:pPr algn="l"/>
                      <a:r>
                        <a:rPr sz="1875" b="0">
                          <a:solidFill>
                            <a:srgbClr val="222A35"/>
                          </a:solidFill>
                          <a:latin typeface="Apple SD Gothic Neo"/>
                          <a:ea typeface="Apple SD Gothic Neo"/>
                          <a:cs typeface="Apple SD Gothic Neo"/>
                        </a:rPr>
                        <a:t>허용 부족에서 조기 차단되는 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41/42/45</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접근 권한 부족/금액 확인 불가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접근 거부와 확인 불가의 정당한 처리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실제 제시된 유효 질문에 답변</a:t>
                      </a:r>
                    </a:p>
                    <a:p>
                      <a:pPr algn="l"/>
                      <a:r>
                        <a:rPr sz="1875" b="0">
                          <a:solidFill>
                            <a:srgbClr val="222A35"/>
                          </a:solidFill>
                          <a:latin typeface="Apple SD Gothic Neo"/>
                          <a:ea typeface="Apple SD Gothic Neo"/>
                          <a:cs typeface="Apple SD Gothic Neo"/>
                        </a:rPr>
                        <a:t>유효 질문 답변의 정상 조회/확정/receipt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상반기 답변의 실제 접수와 기간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기간 답변의 접수/확정 안내</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EA7DFB65-37C5-4BF8-8BAB-30090743ED19}"/>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2032990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2026-10-11T09:00:16.4700000Z</dcterms:created>
  <dcterms:modified xsi:type="dcterms:W3CDTF">2026-10-11T09:00:16.4700000Z</dcterms:modified>
</coreProperties>
</file>