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0ba64771604469" /><Relationship Type="http://schemas.openxmlformats.org/officeDocument/2006/relationships/extended-properties" Target="/docProps/app.xml" Id="Rb7c3fcbcc6414a01" /><Relationship Type="http://schemas.openxmlformats.org/officeDocument/2006/relationships/officeDocument" Target="/ppt/presentation.xml" Id="Rc6e83dd46c8c48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2c4e90ed24369"/>
  </p:sldMasterIdLst>
  <p:notesMasterIdLst>
    <p:notesMasterId xmlns:r="http://schemas.openxmlformats.org/officeDocument/2006/relationships" r:id="Rf36309cb168545cb"/>
  </p:notesMasterIdLst>
  <p:sldIdLst>
    <p:sldId xmlns:r="http://schemas.openxmlformats.org/officeDocument/2006/relationships" id="256" r:id="Rddefe334005149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69e77f656e47d0" /><Relationship Type="http://schemas.openxmlformats.org/officeDocument/2006/relationships/slideMaster" Target="/ppt/slideMasters/slideMaster1.xml" Id="R93b2c4e90ed24369" /><Relationship Type="http://schemas.openxmlformats.org/officeDocument/2006/relationships/notesMaster" Target="/ppt/notesMasters/notesMaster1.xml" Id="Rf36309cb168545cb" /><Relationship Type="http://schemas.openxmlformats.org/officeDocument/2006/relationships/presProps" Target="/ppt/presProps.xml" Id="Rd2d6e25e4f674ce9" /><Relationship Type="http://schemas.openxmlformats.org/officeDocument/2006/relationships/tableStyles" Target="/ppt/tableStyles.xml" Id="Ree1c444b69e74447" /><Relationship Type="http://schemas.openxmlformats.org/officeDocument/2006/relationships/slide" Target="/ppt/slides/slide1.xml" Id="Rddefe334005149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1d059cf55e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3ade01b54a4d1d" /><Relationship Type="http://schemas.openxmlformats.org/officeDocument/2006/relationships/notesMaster" Target="/ppt/notesMasters/notesMaster1.xml" Id="R7830ed428e614b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하나의 대화 안에서 이어지는 다섯 장면이다. 화면의 표 설명은 VIA가 직접 응답하고, 보고서와 메일 초안의 도메인 계획 및 실제 작성은 Downstream Agent가 수행한다.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③은 음성 응답 중 끼어들기와 과거 정정 활용 및 부분 수정의 예다. 보고서만 이전에 고친 형식으로 변경하며 PDF 조건을 보존한다. 메일은 그대로 유지한다. 과거 정정의 재사용이 장기 User Memory 승격을 자동으로 뜻하지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④는 메일 Agent의 질문이 사용자 정정 중 도착한 경우다. VIA는 사용자 발화가 끝난 뒤 질문을 전달하고, ‘영업팀’ 답변을 메일 업무에 연결한다. 보고서 업무는 계속 진행한다.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⑤는 정상적인 Voice 종료와 Text 전환이다. 기존 Task의 검증된 상태를 확인하는 예이며 재시작 또는 장애 복구 성공의 증거는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원문: docs/architecture/05-representative-use-cases.md, docs/architecture/03-fixed-architecture-scope.md, docs/architecture/12-decisions/decision-packages/04-40-common-execution-contract.md, 04-41-request-resolution-control.md, 04-42-lifecycle-ownership.md, 04-44-continuous-interaction.md, 04-45-memory-and-context.md. 품질 원본: 03-02-quality-attribute-definitions.md (ASR-QA-v6). 상세 연결은 docs/presentations_files/representative-scenario/README.md에 기록한다.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docs/presentations_files/requirements-assets/의 기존 FR2, FR3, FR6, FR4, FR1 일러스트를 순서대로 재사용했다. 그림은 장면을 설명하는 독립 이미지 개체이고, 제목·발화·설명 및 업무 상태 표는 PowerPoint에서 편집할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품질 연결은 ASR-QA-01 요청 처리 정확성, 02 상호작용 응답시간, 03 VIA 요청 처리시간을 중심으로 설명한다. 공통 P21은 21개 사례 전체를 5회 수행해 630조건, 135반응, 95처리를 관측한다. 이 다섯 장면은 P21의 원천 입력과 동일한 fixture가 아니며 사례 대응은 기능상 유사성이다. QA-04 모델 비용과 QA-06 로컬 메모리는 준비, 재사용, 갱신, 폐기와 tail을 포함한 전체 활동에서 평가한다. QA-05 변경 용이성은 별도 M-01~06 변경 과제로 평가한다. 평균과 보호 조건은 품질 원본을 따른다. 아직 후보 실측과 대안 선정은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장면 대응: ① 표 지칭은 S2-01과 제한 조회 S1-01의 유사 경로, ② 독립 업무는 S3-01과 과거 설명 재사용 S2-02의 유사 경로, ③ 부분 정정은 S4-01, local stop는 S4-02, 과거 근거는 S2-02/04/05, ④ 질문 전달/답변은 S5-01/S5-04/S6-04, ⑤ Voice 종료 후 Text 전달은 S5-03 및 UC-15의 정상 채널 전환이다. 41은 의미와 관계, 44는 실행 연결과 반응, 45는 과거 근거, 42는 업무 및 질문 상태의 수명을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모델 배치는 로컬 VIA 및 로컬 VAD, 별도 클라우드 음성 모델과 의미 LLM이다. 모델 서비스의 임시 session과 VIA의 영속 Request/Task/실제 전달 원장을 구별한다. 모델 선정이나 제품 구현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3747055da46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e829bda44f467e" /><Relationship Type="http://schemas.openxmlformats.org/officeDocument/2006/relationships/slideLayout" Target="/ppt/slideLayouts/slideLayout1.xml" Id="R791a9a63be6046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a9a63be6046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d0857520a4958" /><Relationship Type="http://schemas.openxmlformats.org/officeDocument/2006/relationships/image" Target="/ppt/media/image.png" Id="R412e7293f74449f5" /><Relationship Type="http://schemas.openxmlformats.org/officeDocument/2006/relationships/image" Target="/ppt/media/image2.png" Id="R7d0fe689e32e4185" /><Relationship Type="http://schemas.openxmlformats.org/officeDocument/2006/relationships/image" Target="/ppt/media/image3.png" Id="Rdc14f194c893430b" /><Relationship Type="http://schemas.openxmlformats.org/officeDocument/2006/relationships/image" Target="/ppt/media/image4.png" Id="R926c21a837c1492e" /><Relationship Type="http://schemas.openxmlformats.org/officeDocument/2006/relationships/image" Target="/ppt/media/image5.png" Id="Re7e7daa896bb48e9" /><Relationship Type="http://schemas.openxmlformats.org/officeDocument/2006/relationships/notesSlide" Target="/ppt/notesSlides/notesSlide1.xml" Id="Rf514f23f1304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itle">
            <a:extLst xmlns:a="http://schemas.openxmlformats.org/drawingml/2006/main">
              <a:ext uri="{FF2B5EF4-FFF2-40B4-BE49-F238E27FC236}">
                <a16:creationId xmlns:a16="http://schemas.microsoft.com/office/drawing/2014/main" id="{46F7D485-C964-46E9-A0CE-CDC2326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"/>
            <a:ext cx="6705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26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20262C"/>
                </a:solidFill>
                <a:latin typeface="Apple SD Gothic Neo"/>
                <a:ea typeface="Apple SD Gothic Neo"/>
                <a:cs typeface="Apple SD Gothic Neo"/>
              </a:rPr>
              <a:t>과제 소개 | 대표 시나리오</a:t>
            </a:r>
          </a:p>
        </p:txBody>
      </p:sp>
      <p:sp>
        <p:nvSpPr>
          <p:cNvPr id="2" name="section-0">
            <a:extLst xmlns:a="http://schemas.openxmlformats.org/drawingml/2006/main">
              <a:ext uri="{FF2B5EF4-FFF2-40B4-BE49-F238E27FC236}">
                <a16:creationId xmlns:a16="http://schemas.microsoft.com/office/drawing/2014/main" id="{20627BC3-C17E-4ECB-8D90-84B3CDD8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"/>
            <a:ext cx="99060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8FA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" name="section-label-0">
            <a:extLst xmlns:a="http://schemas.openxmlformats.org/drawingml/2006/main">
              <a:ext uri="{FF2B5EF4-FFF2-40B4-BE49-F238E27FC236}">
                <a16:creationId xmlns:a16="http://schemas.microsoft.com/office/drawing/2014/main" id="{594294E0-16A6-4BF9-84BC-3A17ABB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90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과제 소개</a:t>
            </a:r>
          </a:p>
        </p:txBody>
      </p:sp>
      <p:sp>
        <p:nvSpPr>
          <p:cNvPr id="4" name="section-1">
            <a:extLst xmlns:a="http://schemas.openxmlformats.org/drawingml/2006/main">
              <a:ext uri="{FF2B5EF4-FFF2-40B4-BE49-F238E27FC236}">
                <a16:creationId xmlns:a16="http://schemas.microsoft.com/office/drawing/2014/main" id="{97AB402B-EC30-4A94-87A4-96FBB07F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0500"/>
            <a:ext cx="99060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0666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section-label-1">
            <a:extLst xmlns:a="http://schemas.openxmlformats.org/drawingml/2006/main">
              <a:ext uri="{FF2B5EF4-FFF2-40B4-BE49-F238E27FC236}">
                <a16:creationId xmlns:a16="http://schemas.microsoft.com/office/drawing/2014/main" id="{F8B2CBA6-5C2F-48E7-A45B-F7F4937E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90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요구사항 분석</a:t>
            </a:r>
          </a:p>
        </p:txBody>
      </p:sp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5D16BE09-CF50-44BB-BEFD-FBDA196F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0500"/>
            <a:ext cx="99060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0666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D842BAC8-B832-47D2-8D12-6BDD33D3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90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</a:p>
        </p:txBody>
      </p:sp>
      <p:sp>
        <p:nvSpPr>
          <p:cNvPr id="8" name="section-3">
            <a:extLst xmlns:a="http://schemas.openxmlformats.org/drawingml/2006/main">
              <a:ext uri="{FF2B5EF4-FFF2-40B4-BE49-F238E27FC236}">
                <a16:creationId xmlns:a16="http://schemas.microsoft.com/office/drawing/2014/main" id="{B6F9D7ED-363F-4286-BDD4-67556B86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90500"/>
            <a:ext cx="99060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0666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section-label-3">
            <a:extLst xmlns:a="http://schemas.openxmlformats.org/drawingml/2006/main">
              <a:ext uri="{FF2B5EF4-FFF2-40B4-BE49-F238E27FC236}">
                <a16:creationId xmlns:a16="http://schemas.microsoft.com/office/drawing/2014/main" id="{B467D0E6-2704-4D2E-8C2C-E5592A9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90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구현 및 검증</a:t>
            </a:r>
          </a:p>
        </p:txBody>
      </p:sp>
      <p:sp>
        <p:nvSpPr>
          <p:cNvPr id="10" name="section-4">
            <a:extLst xmlns:a="http://schemas.openxmlformats.org/drawingml/2006/main">
              <a:ext uri="{FF2B5EF4-FFF2-40B4-BE49-F238E27FC236}">
                <a16:creationId xmlns:a16="http://schemas.microsoft.com/office/drawing/2014/main" id="{DF6231EB-4064-404D-AC37-EE49327D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190500"/>
            <a:ext cx="990600" cy="2762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0666B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796213A6-DC64-4F3D-9652-57DC33B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190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결론</a:t>
            </a:r>
          </a:p>
        </p:txBody>
      </p:sp>
      <p:sp>
        <p:nvSpPr>
          <p:cNvPr id="1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B2FFB637-6F21-40C6-93AB-2459860B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47700"/>
            <a:ext cx="1162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C747C"/>
            </a:solidFill>
          </a:ln>
        </p:spPr>
      </p:sp>
      <p:sp>
        <p:nvSpPr>
          <p:cNvPr id="13" name="story-subtitle">
            <a:extLst xmlns:a="http://schemas.openxmlformats.org/drawingml/2006/main">
              <a:ext uri="{FF2B5EF4-FFF2-40B4-BE49-F238E27FC236}">
                <a16:creationId xmlns:a16="http://schemas.microsoft.com/office/drawing/2014/main" id="{47F356DB-9521-48F7-85C3-C5F3CD45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04875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표를 설명받고, 보고서와 메일 초안을 맡긴 뒤 대화로 작업을 이어가는 상황</a:t>
            </a:r>
          </a:p>
        </p:txBody>
      </p:sp>
      <p:sp>
        <p:nvSpPr>
          <p:cNvPr id="14" name="scene-1-heading">
            <a:extLst xmlns:a="http://schemas.openxmlformats.org/drawingml/2006/main">
              <a:ext uri="{FF2B5EF4-FFF2-40B4-BE49-F238E27FC236}">
                <a16:creationId xmlns:a16="http://schemas.microsoft.com/office/drawing/2014/main" id="{C5511969-CEC3-491E-AB61-000EC313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rPr>
              <a:t>① 화면을 짚어 질문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2e7293f74449f5"/>
          <a:stretch xmlns:a="http://schemas.openxmlformats.org/drawingml/2006/main"/>
        </p:blipFill>
        <p:spPr>
          <a:xfrm xmlns:a="http://schemas.openxmlformats.org/drawingml/2006/main">
            <a:off x="381000" y="1790700"/>
            <a:ext cx="2133600" cy="1600200"/>
          </a:xfrm>
          <a:prstGeom xmlns:a="http://schemas.openxmlformats.org/drawingml/2006/main" prst="rect">
            <a:avLst/>
          </a:prstGeom>
        </p:spPr>
      </p:pic>
      <p:sp>
        <p:nvSpPr>
          <p:cNvPr id="16" name="scene-1-quote">
            <a:extLst xmlns:a="http://schemas.openxmlformats.org/drawingml/2006/main">
              <a:ext uri="{FF2B5EF4-FFF2-40B4-BE49-F238E27FC236}">
                <a16:creationId xmlns:a16="http://schemas.microsoft.com/office/drawing/2014/main" id="{691EB006-7091-4E58-A0DB-372F04BD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528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“이 표의 핵심을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설명해줘.”</a:t>
            </a:r>
          </a:p>
        </p:txBody>
      </p:sp>
      <p:sp>
        <p:nvSpPr>
          <p:cNvPr id="17" name="scene-1-behavior">
            <a:extLst xmlns:a="http://schemas.openxmlformats.org/drawingml/2006/main">
              <a:ext uri="{FF2B5EF4-FFF2-40B4-BE49-F238E27FC236}">
                <a16:creationId xmlns:a16="http://schemas.microsoft.com/office/drawing/2014/main" id="{D24BD105-AA78-44A0-83C1-FE0B8B4F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당시 화면의 표를 지정</a:t>
            </a:r>
          </a:p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VIA가 핵심을 직접 설명</a:t>
            </a:r>
          </a:p>
        </p:txBody>
      </p:sp>
      <p:sp>
        <p:nvSpPr>
          <p:cNvPr id="18" name="scene-2-heading">
            <a:extLst xmlns:a="http://schemas.openxmlformats.org/drawingml/2006/main">
              <a:ext uri="{FF2B5EF4-FFF2-40B4-BE49-F238E27FC236}">
                <a16:creationId xmlns:a16="http://schemas.microsoft.com/office/drawing/2014/main" id="{F444B45D-43D8-4C1A-8A6A-75510E1B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76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rPr>
              <a:t>② 두 업무를 위임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fe689e32e4185"/>
          <a:stretch xmlns:a="http://schemas.openxmlformats.org/drawingml/2006/main"/>
        </p:blipFill>
        <p:spPr>
          <a:xfrm xmlns:a="http://schemas.openxmlformats.org/drawingml/2006/main">
            <a:off x="2705100" y="1790700"/>
            <a:ext cx="2133600" cy="1600200"/>
          </a:xfrm>
          <a:prstGeom xmlns:a="http://schemas.openxmlformats.org/drawingml/2006/main" prst="rect">
            <a:avLst/>
          </a:prstGeom>
        </p:spPr>
      </p:pic>
      <p:sp>
        <p:nvSpPr>
          <p:cNvPr id="20" name="scene-2-quote">
            <a:extLst xmlns:a="http://schemas.openxmlformats.org/drawingml/2006/main">
              <a:ext uri="{FF2B5EF4-FFF2-40B4-BE49-F238E27FC236}">
                <a16:creationId xmlns:a16="http://schemas.microsoft.com/office/drawing/2014/main" id="{5C2FC624-B809-4890-B7CF-A40661BC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528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“이 내용으로 PDF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보고서 만들어줘.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회의 안내 메일은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초안만 작성해줘.”</a:t>
            </a:r>
          </a:p>
        </p:txBody>
      </p:sp>
      <p:sp>
        <p:nvSpPr>
          <p:cNvPr id="21" name="scene-2-behavior">
            <a:extLst xmlns:a="http://schemas.openxmlformats.org/drawingml/2006/main">
              <a:ext uri="{FF2B5EF4-FFF2-40B4-BE49-F238E27FC236}">
                <a16:creationId xmlns:a16="http://schemas.microsoft.com/office/drawing/2014/main" id="{B49DEA0C-5527-4A70-B806-7F62CFCE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196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앞선 설명으로 두 업무 위임</a:t>
            </a:r>
          </a:p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PDF와 ‘초안만’ 조건 보존</a:t>
            </a:r>
          </a:p>
        </p:txBody>
      </p:sp>
      <p:sp>
        <p:nvSpPr>
          <p:cNvPr id="22" name="scene-3-heading">
            <a:extLst xmlns:a="http://schemas.openxmlformats.org/drawingml/2006/main">
              <a:ext uri="{FF2B5EF4-FFF2-40B4-BE49-F238E27FC236}">
                <a16:creationId xmlns:a16="http://schemas.microsoft.com/office/drawing/2014/main" id="{5955D440-3682-4EF4-BF97-B254C94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76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rPr>
              <a:t>③ 말하는 도중 정정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4f194c893430b"/>
          <a:stretch xmlns:a="http://schemas.openxmlformats.org/drawingml/2006/main"/>
        </p:blipFill>
        <p:spPr>
          <a:xfrm xmlns:a="http://schemas.openxmlformats.org/drawingml/2006/main">
            <a:off x="5029200" y="1790700"/>
            <a:ext cx="2133600" cy="1600200"/>
          </a:xfrm>
          <a:prstGeom xmlns:a="http://schemas.openxmlformats.org/drawingml/2006/main" prst="rect">
            <a:avLst/>
          </a:prstGeom>
        </p:spPr>
      </p:pic>
      <p:sp>
        <p:nvSpPr>
          <p:cNvPr id="24" name="scene-3-quote">
            <a:extLst xmlns:a="http://schemas.openxmlformats.org/drawingml/2006/main">
              <a:ext uri="{FF2B5EF4-FFF2-40B4-BE49-F238E27FC236}">
                <a16:creationId xmlns:a16="http://schemas.microsoft.com/office/drawing/2014/main" id="{CCE8EA90-40AF-42D8-8483-731D01F7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528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“잠깐, 보고서는 지난번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고친 형식으로 만들어줘.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메일은 그대로 진행해.”</a:t>
            </a:r>
          </a:p>
        </p:txBody>
      </p:sp>
      <p:sp>
        <p:nvSpPr>
          <p:cNvPr id="25" name="scene-3-behavior">
            <a:extLst xmlns:a="http://schemas.openxmlformats.org/drawingml/2006/main">
              <a:ext uri="{FF2B5EF4-FFF2-40B4-BE49-F238E27FC236}">
                <a16:creationId xmlns:a16="http://schemas.microsoft.com/office/drawing/2014/main" id="{CCA6DEBB-4F56-42DC-AD0B-4607FC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196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음성 응답을 즉시 중단</a:t>
            </a:r>
          </a:p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보고서의 형식만 변경</a:t>
            </a:r>
          </a:p>
        </p:txBody>
      </p:sp>
      <p:sp>
        <p:nvSpPr>
          <p:cNvPr id="26" name="scene-4-heading">
            <a:extLst xmlns:a="http://schemas.openxmlformats.org/drawingml/2006/main">
              <a:ext uri="{FF2B5EF4-FFF2-40B4-BE49-F238E27FC236}">
                <a16:creationId xmlns:a16="http://schemas.microsoft.com/office/drawing/2014/main" id="{9DB00A0E-71FC-453F-80B7-2DD7772B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76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rPr>
              <a:t>④ 해당 업무에 답변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c21a837c1492e"/>
          <a:stretch xmlns:a="http://schemas.openxmlformats.org/drawingml/2006/main"/>
        </p:blipFill>
        <p:spPr>
          <a:xfrm xmlns:a="http://schemas.openxmlformats.org/drawingml/2006/main">
            <a:off x="7353300" y="1790700"/>
            <a:ext cx="2133600" cy="1600200"/>
          </a:xfrm>
          <a:prstGeom xmlns:a="http://schemas.openxmlformats.org/drawingml/2006/main" prst="rect">
            <a:avLst/>
          </a:prstGeom>
        </p:spPr>
      </p:pic>
      <p:sp>
        <p:nvSpPr>
          <p:cNvPr id="28" name="scene-4-quote">
            <a:extLst xmlns:a="http://schemas.openxmlformats.org/drawingml/2006/main">
              <a:ext uri="{FF2B5EF4-FFF2-40B4-BE49-F238E27FC236}">
                <a16:creationId xmlns:a16="http://schemas.microsoft.com/office/drawing/2014/main" id="{4D94570C-5467-41D6-8C6E-E2AAAF0A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VIA “초안의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받는 사람은?”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사용자 “영업팀.”</a:t>
            </a:r>
          </a:p>
        </p:txBody>
      </p:sp>
      <p:sp>
        <p:nvSpPr>
          <p:cNvPr id="29" name="scene-4-behavior">
            <a:extLst xmlns:a="http://schemas.openxmlformats.org/drawingml/2006/main">
              <a:ext uri="{FF2B5EF4-FFF2-40B4-BE49-F238E27FC236}">
                <a16:creationId xmlns:a16="http://schemas.microsoft.com/office/drawing/2014/main" id="{35249B1C-946B-40EB-964E-37DBC59A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196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정정 중 도착한 질문을 보류</a:t>
            </a:r>
          </a:p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발화 후 메일에 답변 연결</a:t>
            </a:r>
          </a:p>
        </p:txBody>
      </p:sp>
      <p:sp>
        <p:nvSpPr>
          <p:cNvPr id="30" name="scene-5-heading">
            <a:extLst xmlns:a="http://schemas.openxmlformats.org/drawingml/2006/main">
              <a:ext uri="{FF2B5EF4-FFF2-40B4-BE49-F238E27FC236}">
                <a16:creationId xmlns:a16="http://schemas.microsoft.com/office/drawing/2014/main" id="{D2E74A05-3BE2-41CD-A790-11D160F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76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58FAF"/>
                </a:solidFill>
                <a:latin typeface="Apple SD Gothic Neo"/>
                <a:ea typeface="Apple SD Gothic Neo"/>
                <a:cs typeface="Apple SD Gothic Neo"/>
              </a:rPr>
              <a:t>⑤ Text로 상태 확인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7daa896bb48e9"/>
          <a:stretch xmlns:a="http://schemas.openxmlformats.org/drawingml/2006/main"/>
        </p:blipFill>
        <p:spPr>
          <a:xfrm xmlns:a="http://schemas.openxmlformats.org/drawingml/2006/main">
            <a:off x="9677400" y="1790700"/>
            <a:ext cx="2133600" cy="1600200"/>
          </a:xfrm>
          <a:prstGeom xmlns:a="http://schemas.openxmlformats.org/drawingml/2006/main" prst="rect">
            <a:avLst/>
          </a:prstGeom>
        </p:spPr>
      </p:pic>
      <p:sp>
        <p:nvSpPr>
          <p:cNvPr id="32" name="scene-5-quote">
            <a:extLst xmlns:a="http://schemas.openxmlformats.org/drawingml/2006/main">
              <a:ext uri="{FF2B5EF4-FFF2-40B4-BE49-F238E27FC236}">
                <a16:creationId xmlns:a16="http://schemas.microsoft.com/office/drawing/2014/main" id="{893A4672-D5DF-455D-940A-8A6C3023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52825"/>
            <a:ext cx="2133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“아까 보고서</a:t>
            </a:r>
          </a:p>
          <a:p xmlns:a="http://schemas.openxmlformats.org/drawingml/2006/main">
            <a:pPr algn="l">
              <a:def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22445"/>
                </a:solidFill>
                <a:latin typeface="Apple SD Gothic Neo"/>
                <a:ea typeface="Apple SD Gothic Neo"/>
                <a:cs typeface="Apple SD Gothic Neo"/>
              </a:rPr>
              <a:t>어디까지 됐어?”</a:t>
            </a:r>
          </a:p>
        </p:txBody>
      </p:sp>
      <p:sp>
        <p:nvSpPr>
          <p:cNvPr id="33" name="scene-5-behavior">
            <a:extLst xmlns:a="http://schemas.openxmlformats.org/drawingml/2006/main">
              <a:ext uri="{FF2B5EF4-FFF2-40B4-BE49-F238E27FC236}">
                <a16:creationId xmlns:a16="http://schemas.microsoft.com/office/drawing/2014/main" id="{58D903F9-C2B1-4D00-91ED-95DE6435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8196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음성을 끄고 Text로 전환</a:t>
            </a:r>
          </a:p>
          <a:p xmlns:a="http://schemas.openxmlformats.org/drawingml/2006/main">
            <a:pPr algn="l">
              <a:def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88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기존 업무의 확인된 상태 전달</a:t>
            </a:r>
          </a:p>
        </p:txBody>
      </p:sp>
      <p:graphicFrame>
        <p:nvGraphicFramePr>
          <p:cNvPr id="70" name=""/>
          <p:cNvGraphicFramePr/>
          <p:nvPr/>
        </p:nvGraphicFramePr>
        <p:xfrm>
          <a:off xmlns:a="http://schemas.openxmlformats.org/drawingml/2006/main" x="381000" y="5562600"/>
          <a:ext xmlns:a="http://schemas.openxmlformats.org/drawingml/2006/main" cx="11430000" cy="857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2276475"/>
                <a:gridCol w="2276475"/>
                <a:gridCol w="2276475"/>
                <a:gridCol w="2276475"/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업무 상태</a:t>
                      </a:r>
                    </a:p>
                  </a:txBody>
                  <a:tcPr marL="85725" marR="85725" marT="9525" marB="9525" anchor="ctr">
                    <a:solidFill>
                      <a:srgbClr val="1224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② 위임</a:t>
                      </a:r>
                    </a:p>
                  </a:txBody>
                  <a:tcPr marL="85725" marR="85725" marT="9525" marB="9525" anchor="ctr">
                    <a:solidFill>
                      <a:srgbClr val="1224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③ 부분 정정</a:t>
                      </a:r>
                    </a:p>
                  </a:txBody>
                  <a:tcPr marL="85725" marR="85725" marT="9525" marB="9525" anchor="ctr">
                    <a:solidFill>
                      <a:srgbClr val="1224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④ 질문·답변</a:t>
                      </a:r>
                    </a:p>
                  </a:txBody>
                  <a:tcPr marL="85725" marR="85725" marT="9525" marB="9525" anchor="ctr">
                    <a:solidFill>
                      <a:srgbClr val="1224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⑤ 상태 확인</a:t>
                      </a:r>
                    </a:p>
                  </a:txBody>
                  <a:tcPr marL="85725" marR="85725" marT="9525" marB="9525" anchor="ctr">
                    <a:solidFill>
                      <a:srgbClr val="122445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보고서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PDF 작성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형식 적용, PDF 유지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작성 계속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확인된 진행 상태 전달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메일 초안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초안만 작성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기존 지시 유지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받는 사람: 영업팀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20262C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초안 상태 유지</a:t>
                      </a:r>
                    </a:p>
                  </a:txBody>
                  <a:tcPr marL="85725" marR="8572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le-boundary">
            <a:extLst xmlns:a="http://schemas.openxmlformats.org/drawingml/2006/main">
              <a:ext uri="{FF2B5EF4-FFF2-40B4-BE49-F238E27FC236}">
                <a16:creationId xmlns:a16="http://schemas.microsoft.com/office/drawing/2014/main" id="{18F976E7-BC2C-4ABE-97FC-1718E9E6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6572250"/>
            <a:ext cx="1104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VIA: 요청 이해와 대화·업무 연결     Downstream Agent: 보고서·메일 초안의 실제 작성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47B05C-8071-4B4A-91A2-F4EFB88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572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079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796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2026-10-11T10:33:08.5590000Z</dcterms:created>
  <dcterms:modified xsi:type="dcterms:W3CDTF">2026-10-11T10:33:08.5590000Z</dcterms:modified>
</coreProperties>
</file>