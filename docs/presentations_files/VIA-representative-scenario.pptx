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fca4d673f44bff" /><Relationship Type="http://schemas.openxmlformats.org/officeDocument/2006/relationships/extended-properties" Target="/docProps/app.xml" Id="R96003b1ec82e473f" /><Relationship Type="http://schemas.openxmlformats.org/officeDocument/2006/relationships/officeDocument" Target="/ppt/presentation.xml" Id="Rf3b9fd117a1f47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abd659c97842f4"/>
  </p:sldMasterIdLst>
  <p:notesMasterIdLst>
    <p:notesMasterId xmlns:r="http://schemas.openxmlformats.org/officeDocument/2006/relationships" r:id="Ra071fa44f198401c"/>
  </p:notesMasterIdLst>
  <p:sldIdLst>
    <p:sldId xmlns:r="http://schemas.openxmlformats.org/officeDocument/2006/relationships" id="256" r:id="R3feacd938cfb48f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60d68b7a92443c" /><Relationship Type="http://schemas.openxmlformats.org/officeDocument/2006/relationships/slideMaster" Target="/ppt/slideMasters/slideMaster1.xml" Id="R9fabd659c97842f4" /><Relationship Type="http://schemas.openxmlformats.org/officeDocument/2006/relationships/notesMaster" Target="/ppt/notesMasters/notesMaster1.xml" Id="Ra071fa44f198401c" /><Relationship Type="http://schemas.openxmlformats.org/officeDocument/2006/relationships/presProps" Target="/ppt/presProps.xml" Id="R61a968162017403c" /><Relationship Type="http://schemas.openxmlformats.org/officeDocument/2006/relationships/tableStyles" Target="/ppt/tableStyles.xml" Id="R35c9b7798cc94e8e" /><Relationship Type="http://schemas.openxmlformats.org/officeDocument/2006/relationships/slide" Target="/ppt/slides/slide1.xml" Id="R3feacd938cfb48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b21013b5b249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5603ac5f9c4462" /><Relationship Type="http://schemas.openxmlformats.org/officeDocument/2006/relationships/notesMaster" Target="/ppt/notesMasters/notesMaster1.xml" Id="R218671b8aa4c4f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하나의 대화 안에서 이어지는 다섯 장면이다. 화면의 표 설명은 VIA가 직접 응답하고, 보고서와 메일 초안의 도메인 계획 및 실제 작성은 Downstream Agent가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③은 음성 응답 중 끼어들기와 과거 정정 활용 및 부분 수정의 예다. 보고서만 이전에 고친 형식으로 변경하며 PDF 조건을 보존한다. 메일은 그대로 유지한다. 과거 정정의 재사용이 장기 User Memory 승격을 자동으로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④는 메일 Agent의 질문이 사용자 정정 중 도착한 경우다. VIA는 사용자 발화가 끝난 뒤 질문을 전달하고, ‘영업팀’ 답변을 메일 업무에 연결한다. 보고서 업무는 계속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⑤는 정상적인 Voice 종료와 Text 전환이다. 기존 Task의 검증된 상태를 확인하는 예이며 재시작 또는 장애 복구 성공의 증거는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원문: docs/architecture/05-representative-use-cases.md, docs/architecture/03-fixed-architecture-scope.md, docs/architecture/12-decisions/decision-packages/04-41-request-resolution-control.md, 04-42-lifecycle-ownership.md, 04-43-request-interpretation.md, 04-44-continuous-interaction.md, 04-45-memory-and-context.md. 상세 연결은 docs/presentations_files/representative-scenario/README.md에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그림: docs/presentations_files/requirements-assets/의 기존 FR2, FR3, FR6, FR4, FR1 일러스트를 순서대로 재사용했다. 그림은 장면을 설명하는 독립 이미지 개체이고, 제목·발화·설명 및 업무 상태 표는 PowerPoint에서 편집할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V04는 평균 반응시간, V05는 평균 VIA 처리시간이다. 이 대표 시나리오는 기능과 설계 논점을 보여주는 발표 예시이며, 측정 결과나 대안 우열을 주장하지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05f72f7abe43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c7cc1e7d564027" /><Relationship Type="http://schemas.openxmlformats.org/officeDocument/2006/relationships/slideLayout" Target="/ppt/slideLayouts/slideLayout1.xml" Id="R57b8a08c092741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b8a08c092741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7b7e930b64d69" /><Relationship Type="http://schemas.openxmlformats.org/officeDocument/2006/relationships/image" Target="/ppt/media/image.png" Id="Ra5b14305f14b4083" /><Relationship Type="http://schemas.openxmlformats.org/officeDocument/2006/relationships/image" Target="/ppt/media/image2.png" Id="R50fd83f6dad24aaf" /><Relationship Type="http://schemas.openxmlformats.org/officeDocument/2006/relationships/image" Target="/ppt/media/image3.png" Id="R14d836b58f1f4f9d" /><Relationship Type="http://schemas.openxmlformats.org/officeDocument/2006/relationships/image" Target="/ppt/media/image4.png" Id="Rb350e252d968465d" /><Relationship Type="http://schemas.openxmlformats.org/officeDocument/2006/relationships/image" Target="/ppt/media/image5.png" Id="R5984375ce34b4136" /><Relationship Type="http://schemas.openxmlformats.org/officeDocument/2006/relationships/notesSlide" Target="/ppt/notesSlides/notesSlide1.xml" Id="R160ec339a66b45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itle">
            <a:extLst xmlns:a="http://schemas.openxmlformats.org/drawingml/2006/main">
              <a:ext uri="{FF2B5EF4-FFF2-40B4-BE49-F238E27FC236}">
                <a16:creationId xmlns:a16="http://schemas.microsoft.com/office/drawing/2014/main" id="{67A7F7CD-5B62-4B1C-838B-49C35F15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2875"/>
            <a:ext cx="6705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0262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20262C"/>
                </a:solidFill>
                <a:latin typeface="Apple SD Gothic Neo"/>
                <a:ea typeface="Apple SD Gothic Neo"/>
                <a:cs typeface="Apple SD Gothic Neo"/>
              </a:rPr>
              <a:t>과제 소개 | 대표 시나리오</a:t>
            </a:r>
          </a:p>
        </p:txBody>
      </p:sp>
      <p:sp>
        <p:nvSpPr>
          <p:cNvPr id="2" name="section-0">
            <a:extLst xmlns:a="http://schemas.openxmlformats.org/drawingml/2006/main">
              <a:ext uri="{FF2B5EF4-FFF2-40B4-BE49-F238E27FC236}">
                <a16:creationId xmlns:a16="http://schemas.microsoft.com/office/drawing/2014/main" id="{6F0F70E5-4D3A-4ADA-888A-7D93A134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90500"/>
            <a:ext cx="990600" cy="276225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258FAF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3" name="section-label-0">
            <a:extLst xmlns:a="http://schemas.openxmlformats.org/drawingml/2006/main">
              <a:ext uri="{FF2B5EF4-FFF2-40B4-BE49-F238E27FC236}">
                <a16:creationId xmlns:a16="http://schemas.microsoft.com/office/drawing/2014/main" id="{06A3F4B9-D906-4B6C-B403-17486163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19075"/>
            <a:ext cx="7905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과제 소개</a:t>
            </a:r>
          </a:p>
        </p:txBody>
      </p:sp>
      <p:sp>
        <p:nvSpPr>
          <p:cNvPr id="4" name="section-1">
            <a:extLst xmlns:a="http://schemas.openxmlformats.org/drawingml/2006/main">
              <a:ext uri="{FF2B5EF4-FFF2-40B4-BE49-F238E27FC236}">
                <a16:creationId xmlns:a16="http://schemas.microsoft.com/office/drawing/2014/main" id="{5839236F-B642-4C77-830E-3913305F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90500"/>
            <a:ext cx="990600" cy="276225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60666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5" name="section-label-1">
            <a:extLst xmlns:a="http://schemas.openxmlformats.org/drawingml/2006/main">
              <a:ext uri="{FF2B5EF4-FFF2-40B4-BE49-F238E27FC236}">
                <a16:creationId xmlns:a16="http://schemas.microsoft.com/office/drawing/2014/main" id="{8E527347-9D0B-43DC-BCDB-222F7CBF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9075"/>
            <a:ext cx="7905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요구사항 분석</a:t>
            </a:r>
          </a:p>
        </p:txBody>
      </p:sp>
      <p:sp>
        <p:nvSpPr>
          <p:cNvPr id="6" name="section-2">
            <a:extLst xmlns:a="http://schemas.openxmlformats.org/drawingml/2006/main">
              <a:ext uri="{FF2B5EF4-FFF2-40B4-BE49-F238E27FC236}">
                <a16:creationId xmlns:a16="http://schemas.microsoft.com/office/drawing/2014/main" id="{6B03EF58-75F9-453D-9EB5-2E0ADDE1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190500"/>
            <a:ext cx="990600" cy="276225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60666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7" name="section-label-2">
            <a:extLst xmlns:a="http://schemas.openxmlformats.org/drawingml/2006/main">
              <a:ext uri="{FF2B5EF4-FFF2-40B4-BE49-F238E27FC236}">
                <a16:creationId xmlns:a16="http://schemas.microsoft.com/office/drawing/2014/main" id="{8E6B22D1-E159-40F9-B44B-C23D73C4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19075"/>
            <a:ext cx="7905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설계</a:t>
            </a:r>
          </a:p>
        </p:txBody>
      </p:sp>
      <p:sp>
        <p:nvSpPr>
          <p:cNvPr id="8" name="section-3">
            <a:extLst xmlns:a="http://schemas.openxmlformats.org/drawingml/2006/main">
              <a:ext uri="{FF2B5EF4-FFF2-40B4-BE49-F238E27FC236}">
                <a16:creationId xmlns:a16="http://schemas.microsoft.com/office/drawing/2014/main" id="{CAEC9189-07B6-4407-B61C-5A425373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190500"/>
            <a:ext cx="990600" cy="276225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60666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9" name="section-label-3">
            <a:extLst xmlns:a="http://schemas.openxmlformats.org/drawingml/2006/main">
              <a:ext uri="{FF2B5EF4-FFF2-40B4-BE49-F238E27FC236}">
                <a16:creationId xmlns:a16="http://schemas.microsoft.com/office/drawing/2014/main" id="{323727C9-9E53-4F27-951E-80F9249A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19075"/>
            <a:ext cx="7905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구현 및 검증</a:t>
            </a:r>
          </a:p>
        </p:txBody>
      </p:sp>
      <p:sp>
        <p:nvSpPr>
          <p:cNvPr id="10" name="section-4">
            <a:extLst xmlns:a="http://schemas.openxmlformats.org/drawingml/2006/main">
              <a:ext uri="{FF2B5EF4-FFF2-40B4-BE49-F238E27FC236}">
                <a16:creationId xmlns:a16="http://schemas.microsoft.com/office/drawing/2014/main" id="{71B118AF-B2FC-461D-A075-F8D11174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190500"/>
            <a:ext cx="990600" cy="276225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60666B"/>
          </a:solidFill>
          <a:ln xmlns:a="http://schemas.openxmlformats.org/drawingml/2006/main" w="9525">
            <a:solidFill>
              <a:srgbClr val="FFFFFF"/>
            </a:solidFill>
          </a:ln>
        </p:spPr>
      </p:sp>
      <p:sp>
        <p:nvSpPr>
          <p:cNvPr id="11" name="section-label-4">
            <a:extLst xmlns:a="http://schemas.openxmlformats.org/drawingml/2006/main">
              <a:ext uri="{FF2B5EF4-FFF2-40B4-BE49-F238E27FC236}">
                <a16:creationId xmlns:a16="http://schemas.microsoft.com/office/drawing/2014/main" id="{9D3C965A-191E-4829-B82C-E1EFB05E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225" y="219075"/>
            <a:ext cx="7905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결론</a:t>
            </a:r>
          </a:p>
        </p:txBody>
      </p:sp>
      <p:sp>
        <p:nvSpPr>
          <p:cNvPr id="12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F6A9C59-838A-4C71-8EAA-9BCD28FB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"/>
            <a:ext cx="1162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C747C"/>
            </a:solidFill>
          </a:ln>
        </p:spPr>
      </p:sp>
      <p:sp>
        <p:nvSpPr>
          <p:cNvPr id="13" name="story-subtitle">
            <a:extLst xmlns:a="http://schemas.openxmlformats.org/drawingml/2006/main">
              <a:ext uri="{FF2B5EF4-FFF2-40B4-BE49-F238E27FC236}">
                <a16:creationId xmlns:a16="http://schemas.microsoft.com/office/drawing/2014/main" id="{5F1684A6-FB22-46EF-9413-52FF602F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04875"/>
            <a:ext cx="1139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표를 설명받고, 보고서와 메일 초안을 맡긴 뒤 대화로 작업을 이어가는 상황</a:t>
            </a:r>
          </a:p>
        </p:txBody>
      </p:sp>
      <p:sp>
        <p:nvSpPr>
          <p:cNvPr id="14" name="scene-1-heading">
            <a:extLst xmlns:a="http://schemas.openxmlformats.org/drawingml/2006/main">
              <a:ext uri="{FF2B5EF4-FFF2-40B4-BE49-F238E27FC236}">
                <a16:creationId xmlns:a16="http://schemas.microsoft.com/office/drawing/2014/main" id="{E55D0328-CD90-4025-B5C6-511D3A9E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7637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rPr>
              <a:t>① 화면을 짚어 질문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b14305f14b4083"/>
          <a:stretch xmlns:a="http://schemas.openxmlformats.org/drawingml/2006/main"/>
        </p:blipFill>
        <p:spPr>
          <a:xfrm xmlns:a="http://schemas.openxmlformats.org/drawingml/2006/main">
            <a:off x="381000" y="1790700"/>
            <a:ext cx="2133600" cy="1600200"/>
          </a:xfrm>
          <a:prstGeom xmlns:a="http://schemas.openxmlformats.org/drawingml/2006/main" prst="rect">
            <a:avLst/>
          </a:prstGeom>
        </p:spPr>
      </p:pic>
      <p:sp>
        <p:nvSpPr>
          <p:cNvPr id="16" name="scene-1-quote">
            <a:extLst xmlns:a="http://schemas.openxmlformats.org/drawingml/2006/main">
              <a:ext uri="{FF2B5EF4-FFF2-40B4-BE49-F238E27FC236}">
                <a16:creationId xmlns:a16="http://schemas.microsoft.com/office/drawing/2014/main" id="{388498BD-A2B4-46BA-B08E-5305A0AF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552825"/>
            <a:ext cx="2133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“이 표의 핵심을</a:t>
            </a:r>
          </a:p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설명해줘.”</a:t>
            </a:r>
          </a:p>
        </p:txBody>
      </p:sp>
      <p:sp>
        <p:nvSpPr>
          <p:cNvPr id="17" name="scene-1-behavior">
            <a:extLst xmlns:a="http://schemas.openxmlformats.org/drawingml/2006/main">
              <a:ext uri="{FF2B5EF4-FFF2-40B4-BE49-F238E27FC236}">
                <a16:creationId xmlns:a16="http://schemas.microsoft.com/office/drawing/2014/main" id="{703C3EA7-E129-407E-83CE-B4E4B53F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196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당시 화면의 표를 지정</a:t>
            </a:r>
          </a:p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VIA가 핵심을 직접 설명</a:t>
            </a:r>
          </a:p>
        </p:txBody>
      </p:sp>
      <p:sp>
        <p:nvSpPr>
          <p:cNvPr id="18" name="scene-2-heading">
            <a:extLst xmlns:a="http://schemas.openxmlformats.org/drawingml/2006/main">
              <a:ext uri="{FF2B5EF4-FFF2-40B4-BE49-F238E27FC236}">
                <a16:creationId xmlns:a16="http://schemas.microsoft.com/office/drawing/2014/main" id="{5C20E42F-B1D7-4536-88F9-10E78CF9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47637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rPr>
              <a:t>② 두 업무를 위임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d83f6dad24aaf"/>
          <a:stretch xmlns:a="http://schemas.openxmlformats.org/drawingml/2006/main"/>
        </p:blipFill>
        <p:spPr>
          <a:xfrm xmlns:a="http://schemas.openxmlformats.org/drawingml/2006/main">
            <a:off x="2705100" y="1790700"/>
            <a:ext cx="2133600" cy="1600200"/>
          </a:xfrm>
          <a:prstGeom xmlns:a="http://schemas.openxmlformats.org/drawingml/2006/main" prst="rect">
            <a:avLst/>
          </a:prstGeom>
        </p:spPr>
      </p:pic>
      <p:sp>
        <p:nvSpPr>
          <p:cNvPr id="20" name="scene-2-quote">
            <a:extLst xmlns:a="http://schemas.openxmlformats.org/drawingml/2006/main">
              <a:ext uri="{FF2B5EF4-FFF2-40B4-BE49-F238E27FC236}">
                <a16:creationId xmlns:a16="http://schemas.microsoft.com/office/drawing/2014/main" id="{A1FF0C75-6E89-4B52-B440-99DD00E6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52825"/>
            <a:ext cx="2133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“이 내용으로 PDF</a:t>
            </a:r>
          </a:p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보고서 만들어줘.</a:t>
            </a:r>
          </a:p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회의 안내 메일은</a:t>
            </a:r>
          </a:p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초안만 작성해줘.”</a:t>
            </a:r>
          </a:p>
        </p:txBody>
      </p:sp>
      <p:sp>
        <p:nvSpPr>
          <p:cNvPr id="21" name="scene-2-behavior">
            <a:extLst xmlns:a="http://schemas.openxmlformats.org/drawingml/2006/main">
              <a:ext uri="{FF2B5EF4-FFF2-40B4-BE49-F238E27FC236}">
                <a16:creationId xmlns:a16="http://schemas.microsoft.com/office/drawing/2014/main" id="{C890FF79-D912-4567-8130-B7EB0CD4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8196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앞선 설명으로 두 업무 위임</a:t>
            </a:r>
          </a:p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PDF와 ‘초안만’ 조건 보존</a:t>
            </a:r>
          </a:p>
        </p:txBody>
      </p:sp>
      <p:sp>
        <p:nvSpPr>
          <p:cNvPr id="22" name="scene-3-heading">
            <a:extLst xmlns:a="http://schemas.openxmlformats.org/drawingml/2006/main">
              <a:ext uri="{FF2B5EF4-FFF2-40B4-BE49-F238E27FC236}">
                <a16:creationId xmlns:a16="http://schemas.microsoft.com/office/drawing/2014/main" id="{D59A0FC2-115A-44EE-8474-5D15B362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7637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rPr>
              <a:t>③ 말하는 도중 정정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d836b58f1f4f9d"/>
          <a:stretch xmlns:a="http://schemas.openxmlformats.org/drawingml/2006/main"/>
        </p:blipFill>
        <p:spPr>
          <a:xfrm xmlns:a="http://schemas.openxmlformats.org/drawingml/2006/main">
            <a:off x="5029200" y="1790700"/>
            <a:ext cx="2133600" cy="1600200"/>
          </a:xfrm>
          <a:prstGeom xmlns:a="http://schemas.openxmlformats.org/drawingml/2006/main" prst="rect">
            <a:avLst/>
          </a:prstGeom>
        </p:spPr>
      </p:pic>
      <p:sp>
        <p:nvSpPr>
          <p:cNvPr id="24" name="scene-3-quote">
            <a:extLst xmlns:a="http://schemas.openxmlformats.org/drawingml/2006/main">
              <a:ext uri="{FF2B5EF4-FFF2-40B4-BE49-F238E27FC236}">
                <a16:creationId xmlns:a16="http://schemas.microsoft.com/office/drawing/2014/main" id="{E9CFC49A-0B52-4547-9D1D-8F0C7D7A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52825"/>
            <a:ext cx="2133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“잠깐, 보고서는 지난번</a:t>
            </a:r>
          </a:p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고친 형식으로 만들어줘.</a:t>
            </a:r>
          </a:p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메일은 그대로 진행해.”</a:t>
            </a:r>
          </a:p>
        </p:txBody>
      </p:sp>
      <p:sp>
        <p:nvSpPr>
          <p:cNvPr id="25" name="scene-3-behavior">
            <a:extLst xmlns:a="http://schemas.openxmlformats.org/drawingml/2006/main">
              <a:ext uri="{FF2B5EF4-FFF2-40B4-BE49-F238E27FC236}">
                <a16:creationId xmlns:a16="http://schemas.microsoft.com/office/drawing/2014/main" id="{61EE5EE6-FD9B-48F1-9CA4-CF5F5769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음성 응답을 즉시 중단</a:t>
            </a:r>
          </a:p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보고서의 형식만 변경</a:t>
            </a:r>
          </a:p>
        </p:txBody>
      </p:sp>
      <p:sp>
        <p:nvSpPr>
          <p:cNvPr id="26" name="scene-4-heading">
            <a:extLst xmlns:a="http://schemas.openxmlformats.org/drawingml/2006/main">
              <a:ext uri="{FF2B5EF4-FFF2-40B4-BE49-F238E27FC236}">
                <a16:creationId xmlns:a16="http://schemas.microsoft.com/office/drawing/2014/main" id="{0667582C-DC61-4CAE-9267-18BDD945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7637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rPr>
              <a:t>④ 해당 업무에 답변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0e252d968465d"/>
          <a:stretch xmlns:a="http://schemas.openxmlformats.org/drawingml/2006/main"/>
        </p:blipFill>
        <p:spPr>
          <a:xfrm xmlns:a="http://schemas.openxmlformats.org/drawingml/2006/main">
            <a:off x="7353300" y="1790700"/>
            <a:ext cx="2133600" cy="1600200"/>
          </a:xfrm>
          <a:prstGeom xmlns:a="http://schemas.openxmlformats.org/drawingml/2006/main" prst="rect">
            <a:avLst/>
          </a:prstGeom>
        </p:spPr>
      </p:pic>
      <p:sp>
        <p:nvSpPr>
          <p:cNvPr id="28" name="scene-4-quote">
            <a:extLst xmlns:a="http://schemas.openxmlformats.org/drawingml/2006/main">
              <a:ext uri="{FF2B5EF4-FFF2-40B4-BE49-F238E27FC236}">
                <a16:creationId xmlns:a16="http://schemas.microsoft.com/office/drawing/2014/main" id="{0D37A773-2587-4554-AFB2-77CD1210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2133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VIA “초안의</a:t>
            </a:r>
          </a:p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받는 사람은?”</a:t>
            </a:r>
          </a:p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사용자 “영업팀.”</a:t>
            </a:r>
          </a:p>
        </p:txBody>
      </p:sp>
      <p:sp>
        <p:nvSpPr>
          <p:cNvPr id="29" name="scene-4-behavior">
            <a:extLst xmlns:a="http://schemas.openxmlformats.org/drawingml/2006/main">
              <a:ext uri="{FF2B5EF4-FFF2-40B4-BE49-F238E27FC236}">
                <a16:creationId xmlns:a16="http://schemas.microsoft.com/office/drawing/2014/main" id="{B2CCB08A-F48E-4D84-BD72-F566922B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196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정정 중 도착한 질문을 보류</a:t>
            </a:r>
          </a:p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발화 후 메일에 답변 연결</a:t>
            </a:r>
          </a:p>
        </p:txBody>
      </p:sp>
      <p:sp>
        <p:nvSpPr>
          <p:cNvPr id="30" name="scene-5-heading">
            <a:extLst xmlns:a="http://schemas.openxmlformats.org/drawingml/2006/main">
              <a:ext uri="{FF2B5EF4-FFF2-40B4-BE49-F238E27FC236}">
                <a16:creationId xmlns:a16="http://schemas.microsoft.com/office/drawing/2014/main" id="{D5D5D5FC-3A1C-4688-9839-BC2FCA7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47637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58FAF"/>
                </a:solidFill>
                <a:latin typeface="Apple SD Gothic Neo"/>
                <a:ea typeface="Apple SD Gothic Neo"/>
                <a:cs typeface="Apple SD Gothic Neo"/>
              </a:rPr>
              <a:t>⑤ Text로 상태 확인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84375ce34b4136"/>
          <a:stretch xmlns:a="http://schemas.openxmlformats.org/drawingml/2006/main"/>
        </p:blipFill>
        <p:spPr>
          <a:xfrm xmlns:a="http://schemas.openxmlformats.org/drawingml/2006/main">
            <a:off x="9677400" y="1790700"/>
            <a:ext cx="2133600" cy="1600200"/>
          </a:xfrm>
          <a:prstGeom xmlns:a="http://schemas.openxmlformats.org/drawingml/2006/main" prst="rect">
            <a:avLst/>
          </a:prstGeom>
        </p:spPr>
      </p:pic>
      <p:sp>
        <p:nvSpPr>
          <p:cNvPr id="32" name="scene-5-quote">
            <a:extLst xmlns:a="http://schemas.openxmlformats.org/drawingml/2006/main">
              <a:ext uri="{FF2B5EF4-FFF2-40B4-BE49-F238E27FC236}">
                <a16:creationId xmlns:a16="http://schemas.microsoft.com/office/drawing/2014/main" id="{6BF40EC9-66EE-4EC1-8B4A-0886F0FE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52825"/>
            <a:ext cx="2133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“아까 보고서</a:t>
            </a:r>
          </a:p>
          <a:p xmlns:a="http://schemas.openxmlformats.org/drawingml/2006/main">
            <a:pPr algn="l">
              <a:def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22445"/>
                </a:solidFill>
                <a:latin typeface="Apple SD Gothic Neo"/>
                <a:ea typeface="Apple SD Gothic Neo"/>
                <a:cs typeface="Apple SD Gothic Neo"/>
              </a:rPr>
              <a:t>어디까지 됐어?”</a:t>
            </a:r>
          </a:p>
        </p:txBody>
      </p:sp>
      <p:sp>
        <p:nvSpPr>
          <p:cNvPr id="33" name="scene-5-behavior">
            <a:extLst xmlns:a="http://schemas.openxmlformats.org/drawingml/2006/main">
              <a:ext uri="{FF2B5EF4-FFF2-40B4-BE49-F238E27FC236}">
                <a16:creationId xmlns:a16="http://schemas.microsoft.com/office/drawing/2014/main" id="{17432BF4-4EE2-4BEC-981A-C2BFE172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8196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음성을 끄고 Text로 전환</a:t>
            </a:r>
          </a:p>
          <a:p xmlns:a="http://schemas.openxmlformats.org/drawingml/2006/main">
            <a:pPr algn="l">
              <a:def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88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기존 업무의 확인된 상태 전달</a:t>
            </a:r>
          </a:p>
        </p:txBody>
      </p:sp>
      <p:graphicFrame>
        <p:nvGraphicFramePr>
          <p:cNvPr id="70" name=""/>
          <p:cNvGraphicFramePr/>
          <p:nvPr/>
        </p:nvGraphicFramePr>
        <p:xfrm>
          <a:off xmlns:a="http://schemas.openxmlformats.org/drawingml/2006/main" x="381000" y="5562600"/>
          <a:ext xmlns:a="http://schemas.openxmlformats.org/drawingml/2006/main" cx="11430000" cy="8572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324100"/>
                <a:gridCol w="2276475"/>
                <a:gridCol w="2276475"/>
                <a:gridCol w="2276475"/>
                <a:gridCol w="2276475"/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업무 상태</a:t>
                      </a:r>
                    </a:p>
                  </a:txBody>
                  <a:tcPr marL="85725" marR="85725" marT="9525" marB="9525" anchor="ctr">
                    <a:solidFill>
                      <a:srgbClr val="1224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② 위임</a:t>
                      </a:r>
                    </a:p>
                  </a:txBody>
                  <a:tcPr marL="85725" marR="85725" marT="9525" marB="9525" anchor="ctr">
                    <a:solidFill>
                      <a:srgbClr val="1224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③ 부분 정정</a:t>
                      </a:r>
                    </a:p>
                  </a:txBody>
                  <a:tcPr marL="85725" marR="85725" marT="9525" marB="9525" anchor="ctr">
                    <a:solidFill>
                      <a:srgbClr val="1224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④ 질문·답변</a:t>
                      </a:r>
                    </a:p>
                  </a:txBody>
                  <a:tcPr marL="85725" marR="85725" marT="9525" marB="9525" anchor="ctr">
                    <a:solidFill>
                      <a:srgbClr val="1224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⑤ 상태 확인</a:t>
                      </a:r>
                    </a:p>
                  </a:txBody>
                  <a:tcPr marL="85725" marR="85725" marT="9525" marB="9525" anchor="ctr">
                    <a:solidFill>
                      <a:srgbClr val="122445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보고서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PDF 작성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이전 형식 적용, PDF 유지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작성 계속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확인된 진행 상태 전달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메일 초안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초안만 작성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기존 지시 유지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받는 사람: 영업팀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0262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초안 상태 유지</a:t>
                      </a:r>
                    </a:p>
                  </a:txBody>
                  <a:tcPr marL="85725" marR="85725" marT="9525" marB="95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le-boundary">
            <a:extLst xmlns:a="http://schemas.openxmlformats.org/drawingml/2006/main">
              <a:ext uri="{FF2B5EF4-FFF2-40B4-BE49-F238E27FC236}">
                <a16:creationId xmlns:a16="http://schemas.microsoft.com/office/drawing/2014/main" id="{1F3EDD32-959C-4C94-9D04-00F21A81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657225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VIA: 요청 이해와 대화·업무 연결     Downstream Agent: 보고서·메일 초안의 실제 작성</a:t>
            </a:r>
          </a:p>
        </p:txBody>
      </p:sp>
      <p:sp>
        <p:nvSpPr>
          <p:cNvPr id="3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C5A8D8-4E2F-49BC-B534-92450973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3850" y="6572250"/>
            <a:ext cx="15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57079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87391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2026-10-07T05:17:15.5260000Z</dcterms:created>
  <dcterms:modified xsi:type="dcterms:W3CDTF">2026-10-07T05:17:15.5260000Z</dcterms:modified>
</coreProperties>
</file>