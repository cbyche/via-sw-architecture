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61cde5a5342ca" /><Relationship Type="http://schemas.openxmlformats.org/officeDocument/2006/relationships/extended-properties" Target="/docProps/app.xml" Id="R1b711bd6496a4849" /><Relationship Type="http://schemas.openxmlformats.org/officeDocument/2006/relationships/officeDocument" Target="/ppt/presentation.xml" Id="R5a40eb23ae0f4545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43721017c5344638"/>
  </p:sldMasterIdLst>
  <p:notesMasterIdLst>
    <p:notesMasterId r:id="R69e862f8bfc24afb"/>
  </p:notesMasterIdLst>
  <p:sldIdLst>
    <p:sldId id="256" r:id="R4c9ec22aeb5d423c"/>
  </p:sldIdLst>
  <p:sldSz cx="18288000" cy="10287000"/>
  <p:notesSz cx="6858000" cy="9144000"/>
  <p:defaultTextStyle>
    <a:defPPr>
      <a:defRPr lang="ko-KR">
        <a:latin typeface="Calibri"/>
        <a:ea typeface="Calibri"/>
        <a:cs typeface="Calibri"/>
      </a:defRPr>
    </a:defPPr>
    <a:lvl1pPr>
      <a:defRPr lang="ko-KR">
        <a:latin typeface="Calibri"/>
        <a:ea typeface="Calibri"/>
        <a:cs typeface="Calibri"/>
      </a:defRPr>
    </a:lvl1pPr>
    <a:lvl2pPr>
      <a:defRPr lang="ko-KR">
        <a:latin typeface="Calibri"/>
        <a:ea typeface="Calibri"/>
        <a:cs typeface="Calibri"/>
      </a:defRPr>
    </a:lvl2pPr>
    <a:lvl3pPr>
      <a:defRPr lang="ko-KR">
        <a:latin typeface="Calibri"/>
        <a:ea typeface="Calibri"/>
        <a:cs typeface="Calibri"/>
      </a:defRPr>
    </a:lvl3pPr>
    <a:lvl4pPr>
      <a:defRPr lang="ko-KR">
        <a:latin typeface="Calibri"/>
        <a:ea typeface="Calibri"/>
        <a:cs typeface="Calibri"/>
      </a:defRPr>
    </a:lvl4pPr>
    <a:lvl5pPr>
      <a:defRPr lang="ko-KR">
        <a:latin typeface="Calibri"/>
        <a:ea typeface="Calibri"/>
        <a:cs typeface="Calibri"/>
      </a:defRPr>
    </a:lvl5pPr>
    <a:lvl6pPr>
      <a:defRPr lang="ko-KR">
        <a:latin typeface="Calibri"/>
        <a:ea typeface="Calibri"/>
        <a:cs typeface="Calibri"/>
      </a:defRPr>
    </a:lvl6pPr>
    <a:lvl7pPr>
      <a:defRPr lang="ko-KR">
        <a:latin typeface="Calibri"/>
        <a:ea typeface="Calibri"/>
        <a:cs typeface="Calibri"/>
      </a:defRPr>
    </a:lvl7pPr>
    <a:lvl8pPr>
      <a:defRPr lang="ko-KR">
        <a:latin typeface="Calibri"/>
        <a:ea typeface="Calibri"/>
        <a:cs typeface="Calibri"/>
      </a:defRPr>
    </a:lvl8pPr>
    <a:lvl9pPr>
      <a:defRPr lang="ko-KR"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45f5298d54a00" /><Relationship Type="http://schemas.openxmlformats.org/officeDocument/2006/relationships/slideMaster" Target="/ppt/slideMasters/slideMaster1.xml" Id="R43721017c5344638" /><Relationship Type="http://schemas.openxmlformats.org/officeDocument/2006/relationships/notesMaster" Target="/ppt/notesMasters/notesMaster1.xml" Id="R69e862f8bfc24afb" /><Relationship Type="http://schemas.openxmlformats.org/officeDocument/2006/relationships/presProps" Target="/ppt/presProps.xml" Id="Rc93dff78fa434ca7" /><Relationship Type="http://schemas.openxmlformats.org/officeDocument/2006/relationships/tableStyles" Target="/ppt/tableStyles.xml" Id="R681dbb262d8e408a" /><Relationship Type="http://schemas.openxmlformats.org/officeDocument/2006/relationships/slide" Target="/ppt/slides/slide1.xml" Id="R4c9ec22aeb5d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dfb35dc622460c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latin typeface="Calibri"/>
        <a:ea typeface="Calibri"/>
        <a:cs typeface="Calibri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ef40284ce4fd3" /><Relationship Type="http://schemas.openxmlformats.org/officeDocument/2006/relationships/notesMaster" Target="/ppt/notesMasters/notesMaster1.xml" Id="Rdbd9e6a08102476f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DP-44, DP-47, DP-45, DP-42 순서의 요약이다. 문제, 설계 주제, 두 방안의 차이, 평가를 설명한다.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DP44의 양안 모두 비동기 처리를 지원한다. DP47의 양안 모두 원본과 부분 정정을 지원한다. DP45의 A에도 유효한 캐시를 허용한다. DP42의 A도 대화와 업무의 서로 다른 논리 수명을 지원한다.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평가 근거: docs/architecture/12-decisions/decision-packages/qa-candidate-package/qa-dp-thought-experiment.md (2026-10-15 v2). 구조 기반 예상이며 측정값이나 최종 선택이 아니다.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구조 원문: 04-44-continuous-interaction.md, 04-47-screen-voice-grounding.md, 04-45-memory-and-context.md, 04-42-lifecycle-ownership.md.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0bc07d8c45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3be9fe75242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517b8ba3346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5d06a5d9f41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9c3faf85943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d6d594d6f4689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19F2F2CC-8D3E-43B7-9F9A-A166F6D70F9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Subtitle">
            <a:extLst>
              <a:ext uri="{FF2B5EF4-FFF2-40B4-BE49-F238E27FC236}">
                <ns2:creationId id="{9E63F0BA-7F91-4795-A010-53461C751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4874651D-2259-42FC-A34C-76606F56AC2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78580055-5399-41E1-AA4C-D0B72DFA054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Body">
            <a:extLst>
              <a:ext uri="{FF2B5EF4-FFF2-40B4-BE49-F238E27FC236}">
                <ns2:creationId id="{BE1F9F04-5E9B-4EF4-9EBC-7203D781F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2B821998-4321-4421-9F0B-5355D30E2C2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874A90D9-B38A-44F5-B1AA-B56297262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Right column">
            <a:extLst>
              <a:ext uri="{FF2B5EF4-FFF2-40B4-BE49-F238E27FC236}">
                <ns2:creationId id="{47D3FCB0-F5A6-483B-9C9B-8EF237CDDC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7BA16CE1-80F2-4420-9A67-65B53CC6715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65B9B388-CA4F-4690-A6D7-77CAB574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83fe20ea348ae" /><Relationship Type="http://schemas.openxmlformats.org/officeDocument/2006/relationships/slideLayout" Target="/ppt/slideLayouts/slideLayout1.xml" Id="R40b0c3dc29bb421f" /><Relationship Type="http://schemas.openxmlformats.org/officeDocument/2006/relationships/slideLayout" Target="/ppt/slideLayouts/slideLayout2.xml" Id="R0bf438f5268d488c" /><Relationship Type="http://schemas.openxmlformats.org/officeDocument/2006/relationships/slideLayout" Target="/ppt/slideLayouts/slideLayout3.xml" Id="R512f172c0c144778" /><Relationship Type="http://schemas.openxmlformats.org/officeDocument/2006/relationships/slideLayout" Target="/ppt/slideLayouts/slideLayout4.xml" Id="R21281e52485c44a2" /><Relationship Type="http://schemas.openxmlformats.org/officeDocument/2006/relationships/slideLayout" Target="/ppt/slideLayouts/slideLayout5.xml" Id="R8959c5b2359843c7" /><Relationship Type="http://schemas.openxmlformats.org/officeDocument/2006/relationships/slideLayout" Target="/ppt/slideLayouts/slideLayout6.xml" Id="R7b2f847442d3463a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40b0c3dc29bb421f"/>
    <p:sldLayoutId id="2147483650" r:id="R0bf438f5268d488c"/>
    <p:sldLayoutId id="2147483651" r:id="R512f172c0c144778"/>
    <p:sldLayoutId id="2147483652" r:id="R21281e52485c44a2"/>
    <p:sldLayoutId id="2147483653" r:id="R8959c5b2359843c7"/>
    <p:sldLayoutId id="2147483654" r:id="R7b2f847442d3463a"/>
  </p:sldLayoutIdLst>
  <p:txStyles>
    <p:titleStyle>
      <a:lvl1pPr algn="l">
        <a:lnSpc>
          <a:spcPct val="90000"/>
        </a:lnSpc>
        <a:spcBef>
          <a:spcPts val="0"/>
        </a:spcBef>
        <a:buNone/>
        <a:defRPr sz="4400" lang="ko-KR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7b14a35d44724" /><Relationship Type="http://schemas.openxmlformats.org/officeDocument/2006/relationships/notesSlide" Target="/ppt/notesSlides/notesSlide1.xml" Id="R841b92bf2bb044d2" 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3" name="">
            <a:extLst>
              <a:ext uri="{FF2B5EF4-FFF2-40B4-BE49-F238E27FC236}">
                <ns2:creationId id="{EF0BDE77-04EE-430E-947F-BF95DB648148}"/>
              </a:ext>
            </a:extLst>
          </p:cNvPr>
          <p:cNvGraphicFramePr/>
          <p:nvPr/>
        </p:nvGraphicFramePr>
        <p:xfrm>
          <a:off x="476250" y="1600200"/>
          <a:ext cx="17335500" cy="7620000"/>
        </p:xfrm>
        <a:graphic>
          <a:graphicData uri="http://schemas.openxmlformats.org/drawingml/2006/table">
            <a:tbl>
              <a:tblPr/>
              <a:tblGrid>
                <a:gridCol w="1809750"/>
                <a:gridCol w="3429000"/>
                <a:gridCol w="2476500"/>
                <a:gridCol w="4762500"/>
                <a:gridCol w="485775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DP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L w="9525">
                      <a:solidFill>
                        <a:srgbClr val="929292"/>
                      </a:solidFill>
                      <a:prstDash val="solid"/>
                    </a:lnL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C9E0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풀고자 하는 VIA 문제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C9E0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설계 주제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C9E0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두 방안의 주된 차이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C9E0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평가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C9E0B4"/>
                    </a:solidFill>
                  </a:tcPr>
                </a:tc>
              </a:tr>
              <a:tr h="1752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DP-44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연속 대화 실행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L w="9525">
                      <a:solidFill>
                        <a:srgbClr val="929292"/>
                      </a:solidFill>
                      <a:prstDash val="solid"/>
                    </a:lnL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사용자 정정과 끼어들기,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Agent 질문과 결과가 겹쳐도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유효한 처리를 계속 이어가기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다음 실행과 대기,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취소를 연결하는 방식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 중앙 조정자가 완료를 받고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다음 작업을 지시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  연결된 처리 단계가 각자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조건에 따라 다음 실행을 진행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응답시간과 변경 부담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시간 차이는 작을 것으로 예상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A의 변경 범위와 병행 수정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중복이 작을 것으로 예상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</a:tr>
              <a:tr h="1752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DP-47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화면과 음성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지칭 해석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L w="9525">
                      <a:solidFill>
                        <a:srgbClr val="929292"/>
                      </a:solidFill>
                      <a:prstDash val="solid"/>
                    </a:lnL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화면 전환과 말의 정정 중에도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“이것”, “아래 것”이 가리키는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대상을 정확히 식별하기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말과 화면 근거를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결합하는 방식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 말과 화면 원본을 공동 해석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  말과 화면 후보를 별도 생산해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교환하고 결합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필요하면 원본에서 후보 확장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첫 응답 지연과 지칭 정확도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현재 예상은 A가 유리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B의 후보 재사용 이익과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최종 정확도 차이는 검증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</a:tr>
              <a:tr h="1752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DP-45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기억과 Context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구성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L w="9525">
                      <a:solidFill>
                        <a:srgbClr val="929292"/>
                      </a:solidFill>
                      <a:prstDash val="solid"/>
                    </a:lnL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“아까 설명한 것”처럼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과거 대화와 업무를 참조할 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필요한 근거를 찾기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과거 기록의 관계를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만드는 시점과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재사용 방식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 요청 시 원본과 유효한 캐시를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모아 해석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  관계를 미리 생산하고 저장해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요청 시 조회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응답속도와 준비 및 유지 비용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B는 조회 속도에서 유리할 가능성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A는 모델 비용과 RAM,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변경 부담에서 유리할 것으로 예상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</a:tr>
              <a:tr h="1752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DP-42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대화와 업무의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수명 관리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L w="9525">
                      <a:solidFill>
                        <a:srgbClr val="929292"/>
                      </a:solidFill>
                      <a:prstDash val="solid"/>
                    </a:lnL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대화나 요청이 끝난 뒤에도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남은 업무와 질문, Agent 실행을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올바르게 연결하기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상태 소유권과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서비스 실행 경계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 모듈화된 하나의 Core에서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관련 상태를 함께 확정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  대화와 업무 서비스가 각각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상태를 확정하고 접수 결과로 연결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변경 범위와 RAM, 처리시간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A의 변경 및 자원 부담이 작을 것으로 예상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B의 독립 운영이 정상 사용에서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주는 이익은 추가 검증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3350" marR="114300" marT="114300" marB="114300" anchor="ctr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2" name="dp-summary-evaluation-status">
            <a:extLst>
              <a:ext uri="{FF2B5EF4-FFF2-40B4-BE49-F238E27FC236}">
                <ns2:creationId id="{BE28CCD5-141D-43D1-8DBA-8980A1AE2FFA}"/>
              </a:ext>
            </a:extLst>
          </p:cNvPr>
          <p:cNvSpPr>
            <a:spLocks noGrp="1"/>
          </p:cNvSpPr>
          <p:nvPr/>
        </p:nvSpPr>
        <p:spPr>
          <a:xfrm>
            <a:off x="523875" y="9467850"/>
            <a:ext cx="1724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80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평가는 현재 구조와 동일 관련 시나리오에 따른 예상이다. 실측 결과와 최종 A/B 선정은 아직 없다.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189109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2026-10-15T06:12:29.1960000Z</ns2:created>
  <ns2:modified xsi:type="dcterms:W3CDTF">2026-10-15T06:12:29.1960000Z</ns2:modified>
  <dc:language>ko-KR</dc:language>
</ns0:coreProperties>
</file>