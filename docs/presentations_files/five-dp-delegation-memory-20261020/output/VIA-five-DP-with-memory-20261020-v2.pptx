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1f8195340a94cd0" /><Relationship Type="http://schemas.openxmlformats.org/officeDocument/2006/relationships/extended-properties" Target="/docProps/app.xml" Id="Rb87dab289355472d" /><Relationship Type="http://schemas.openxmlformats.org/officeDocument/2006/relationships/officeDocument" Target="/ppt/presentation.xml" Id="R34614f6cdae3419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21322adde0a45c2"/>
  </p:sldMasterIdLst>
  <p:notesMasterIdLst>
    <p:notesMasterId xmlns:r="http://schemas.openxmlformats.org/officeDocument/2006/relationships" r:id="R0fec6381cef3447c"/>
  </p:notesMasterIdLst>
  <p:sldIdLst>
    <p:sldId xmlns:r="http://schemas.openxmlformats.org/officeDocument/2006/relationships" id="256" r:id="Rf7575c221ab6448a"/>
    <p:sldId xmlns:r="http://schemas.openxmlformats.org/officeDocument/2006/relationships" id="257" r:id="R69d091486dd945e9"/>
    <p:sldId xmlns:r="http://schemas.openxmlformats.org/officeDocument/2006/relationships" id="258" r:id="Rafb4fda70c674efa"/>
    <p:sldId xmlns:r="http://schemas.openxmlformats.org/officeDocument/2006/relationships" id="259" r:id="Rf331ff59dd884373"/>
    <p:sldId xmlns:r="http://schemas.openxmlformats.org/officeDocument/2006/relationships" id="260" r:id="Rd713fa9402c44ea5"/>
    <p:sldId xmlns:r="http://schemas.openxmlformats.org/officeDocument/2006/relationships" id="261" r:id="R2859b2675d9743c5"/>
    <p:sldId xmlns:r="http://schemas.openxmlformats.org/officeDocument/2006/relationships" id="262" r:id="R39f54fd17a1749a0"/>
    <p:sldId xmlns:r="http://schemas.openxmlformats.org/officeDocument/2006/relationships" id="263" r:id="R37b50efc15b149d2"/>
    <p:sldId xmlns:r="http://schemas.openxmlformats.org/officeDocument/2006/relationships" id="264" r:id="R03e02885c122432e"/>
    <p:sldId xmlns:r="http://schemas.openxmlformats.org/officeDocument/2006/relationships" id="265" r:id="Rc52797c4ef954566"/>
    <p:sldId xmlns:r="http://schemas.openxmlformats.org/officeDocument/2006/relationships" id="266" r:id="R8736529c97764fe5"/>
    <p:sldId xmlns:r="http://schemas.openxmlformats.org/officeDocument/2006/relationships" id="267" r:id="R2b2b88442e8240c6"/>
    <p:sldId xmlns:r="http://schemas.openxmlformats.org/officeDocument/2006/relationships" id="268" r:id="R94aba758c81446cd"/>
    <p:sldId xmlns:r="http://schemas.openxmlformats.org/officeDocument/2006/relationships" id="269" r:id="R95975cea0988419d"/>
    <p:sldId xmlns:r="http://schemas.openxmlformats.org/officeDocument/2006/relationships" id="270" r:id="Rcc814c4657de42d3"/>
    <p:sldId xmlns:r="http://schemas.openxmlformats.org/officeDocument/2006/relationships" id="271" r:id="R1c1c8d5967a4406d"/>
    <p:sldId xmlns:r="http://schemas.openxmlformats.org/officeDocument/2006/relationships" id="272" r:id="R0f063c16faa946a1"/>
    <p:sldId xmlns:r="http://schemas.openxmlformats.org/officeDocument/2006/relationships" id="273" r:id="R25a96297cec64ec8"/>
    <p:sldId xmlns:r="http://schemas.openxmlformats.org/officeDocument/2006/relationships" id="274" r:id="Rc237e42de2454681"/>
    <p:sldId xmlns:r="http://schemas.openxmlformats.org/officeDocument/2006/relationships" id="275" r:id="Rfcb6311c17374d9d"/>
    <p:sldId xmlns:r="http://schemas.openxmlformats.org/officeDocument/2006/relationships" id="276" r:id="Rf2796a8fdfc84bef"/>
    <p:sldId xmlns:r="http://schemas.openxmlformats.org/officeDocument/2006/relationships" id="277" r:id="Recc6f180173e4f6d"/>
    <p:sldId xmlns:r="http://schemas.openxmlformats.org/officeDocument/2006/relationships" id="278" r:id="R64566c73632f4f94"/>
    <p:sldId xmlns:r="http://schemas.openxmlformats.org/officeDocument/2006/relationships" id="279" r:id="Rc8c18ab865d843d7"/>
    <p:sldId xmlns:r="http://schemas.openxmlformats.org/officeDocument/2006/relationships" id="280" r:id="R44da151cdfe74a50"/>
    <p:sldId xmlns:r="http://schemas.openxmlformats.org/officeDocument/2006/relationships" id="281" r:id="Rd6e00a2f5c224853"/>
    <p:sldId xmlns:r="http://schemas.openxmlformats.org/officeDocument/2006/relationships" id="282" r:id="R5342a4282954449e"/>
    <p:sldId xmlns:r="http://schemas.openxmlformats.org/officeDocument/2006/relationships" id="283" r:id="R0917648b76534096"/>
    <p:sldId xmlns:r="http://schemas.openxmlformats.org/officeDocument/2006/relationships" id="284" r:id="R48d9f4a879734d05"/>
    <p:sldId xmlns:r="http://schemas.openxmlformats.org/officeDocument/2006/relationships" id="285" r:id="R6d4869d6636b4188"/>
    <p:sldId xmlns:r="http://schemas.openxmlformats.org/officeDocument/2006/relationships" id="286" r:id="R2a07e4e915ad44f1"/>
    <p:sldId xmlns:r="http://schemas.openxmlformats.org/officeDocument/2006/relationships" id="287" r:id="R3316c178c5804b83"/>
    <p:sldId xmlns:r="http://schemas.openxmlformats.org/officeDocument/2006/relationships" id="288" r:id="R6243c2b6b0674361"/>
    <p:sldId xmlns:r="http://schemas.openxmlformats.org/officeDocument/2006/relationships" id="289" r:id="R2c8d52ed22a54180"/>
    <p:sldId xmlns:r="http://schemas.openxmlformats.org/officeDocument/2006/relationships" id="290" r:id="R4b9220aa0a1b4462"/>
    <p:sldId xmlns:r="http://schemas.openxmlformats.org/officeDocument/2006/relationships" id="291" r:id="R530d960089e84627"/>
    <p:sldId xmlns:r="http://schemas.openxmlformats.org/officeDocument/2006/relationships" id="292" r:id="R100f3fd7402f4a17"/>
    <p:sldId xmlns:r="http://schemas.openxmlformats.org/officeDocument/2006/relationships" id="293" r:id="Rb30ec1e605f545f6"/>
    <p:sldId xmlns:r="http://schemas.openxmlformats.org/officeDocument/2006/relationships" id="294" r:id="Rdb5e103a9d984c50"/>
    <p:sldId xmlns:r="http://schemas.openxmlformats.org/officeDocument/2006/relationships" id="295" r:id="R6c817438ddc745e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b107647318947fa" /><Relationship Type="http://schemas.openxmlformats.org/officeDocument/2006/relationships/slideMaster" Target="/ppt/slideMasters/slideMaster1.xml" Id="Rb21322adde0a45c2" /><Relationship Type="http://schemas.openxmlformats.org/officeDocument/2006/relationships/notesMaster" Target="/ppt/notesMasters/notesMaster1.xml" Id="R0fec6381cef3447c" /><Relationship Type="http://schemas.openxmlformats.org/officeDocument/2006/relationships/presProps" Target="/ppt/presProps.xml" Id="R17d97167997645b0" /><Relationship Type="http://schemas.openxmlformats.org/officeDocument/2006/relationships/tableStyles" Target="/ppt/tableStyles.xml" Id="Ra6fa42dfe7434aea" /><Relationship Type="http://schemas.openxmlformats.org/officeDocument/2006/relationships/slide" Target="/ppt/slides/slide1.xml" Id="Rf7575c221ab6448a" /><Relationship Type="http://schemas.openxmlformats.org/officeDocument/2006/relationships/slide" Target="/ppt/slides/slide2.xml" Id="R69d091486dd945e9" /><Relationship Type="http://schemas.openxmlformats.org/officeDocument/2006/relationships/slide" Target="/ppt/slides/slide3.xml" Id="Rafb4fda70c674efa" /><Relationship Type="http://schemas.openxmlformats.org/officeDocument/2006/relationships/slide" Target="/ppt/slides/slide4.xml" Id="Rf331ff59dd884373" /><Relationship Type="http://schemas.openxmlformats.org/officeDocument/2006/relationships/slide" Target="/ppt/slides/slide5.xml" Id="Rd713fa9402c44ea5" /><Relationship Type="http://schemas.openxmlformats.org/officeDocument/2006/relationships/slide" Target="/ppt/slides/slide6.xml" Id="R2859b2675d9743c5" /><Relationship Type="http://schemas.openxmlformats.org/officeDocument/2006/relationships/slide" Target="/ppt/slides/slide7.xml" Id="R39f54fd17a1749a0" /><Relationship Type="http://schemas.openxmlformats.org/officeDocument/2006/relationships/slide" Target="/ppt/slides/slide8.xml" Id="R37b50efc15b149d2" /><Relationship Type="http://schemas.openxmlformats.org/officeDocument/2006/relationships/slide" Target="/ppt/slides/slide9.xml" Id="R03e02885c122432e" /><Relationship Type="http://schemas.openxmlformats.org/officeDocument/2006/relationships/slide" Target="/ppt/slides/slide10.xml" Id="Rc52797c4ef954566" /><Relationship Type="http://schemas.openxmlformats.org/officeDocument/2006/relationships/slide" Target="/ppt/slides/slide11.xml" Id="R8736529c97764fe5" /><Relationship Type="http://schemas.openxmlformats.org/officeDocument/2006/relationships/slide" Target="/ppt/slides/slide12.xml" Id="R2b2b88442e8240c6" /><Relationship Type="http://schemas.openxmlformats.org/officeDocument/2006/relationships/slide" Target="/ppt/slides/slide13.xml" Id="R94aba758c81446cd" /><Relationship Type="http://schemas.openxmlformats.org/officeDocument/2006/relationships/slide" Target="/ppt/slides/slide14.xml" Id="R95975cea0988419d" /><Relationship Type="http://schemas.openxmlformats.org/officeDocument/2006/relationships/slide" Target="/ppt/slides/slide15.xml" Id="Rcc814c4657de42d3" /><Relationship Type="http://schemas.openxmlformats.org/officeDocument/2006/relationships/slide" Target="/ppt/slides/slide16.xml" Id="R1c1c8d5967a4406d" /><Relationship Type="http://schemas.openxmlformats.org/officeDocument/2006/relationships/slide" Target="/ppt/slides/slide17.xml" Id="R0f063c16faa946a1" /><Relationship Type="http://schemas.openxmlformats.org/officeDocument/2006/relationships/slide" Target="/ppt/slides/slide18.xml" Id="R25a96297cec64ec8" /><Relationship Type="http://schemas.openxmlformats.org/officeDocument/2006/relationships/slide" Target="/ppt/slides/slide19.xml" Id="Rc237e42de2454681" /><Relationship Type="http://schemas.openxmlformats.org/officeDocument/2006/relationships/slide" Target="/ppt/slides/slide20.xml" Id="Rfcb6311c17374d9d" /><Relationship Type="http://schemas.openxmlformats.org/officeDocument/2006/relationships/slide" Target="/ppt/slides/slide21.xml" Id="Rf2796a8fdfc84bef" /><Relationship Type="http://schemas.openxmlformats.org/officeDocument/2006/relationships/slide" Target="/ppt/slides/slide22.xml" Id="Recc6f180173e4f6d" /><Relationship Type="http://schemas.openxmlformats.org/officeDocument/2006/relationships/slide" Target="/ppt/slides/slide23.xml" Id="R64566c73632f4f94" /><Relationship Type="http://schemas.openxmlformats.org/officeDocument/2006/relationships/slide" Target="/ppt/slides/slide24.xml" Id="Rc8c18ab865d843d7" /><Relationship Type="http://schemas.openxmlformats.org/officeDocument/2006/relationships/slide" Target="/ppt/slides/slide25.xml" Id="R44da151cdfe74a50" /><Relationship Type="http://schemas.openxmlformats.org/officeDocument/2006/relationships/slide" Target="/ppt/slides/slide26.xml" Id="Rd6e00a2f5c224853" /><Relationship Type="http://schemas.openxmlformats.org/officeDocument/2006/relationships/slide" Target="/ppt/slides/slide27.xml" Id="R5342a4282954449e" /><Relationship Type="http://schemas.openxmlformats.org/officeDocument/2006/relationships/slide" Target="/ppt/slides/slide28.xml" Id="R0917648b76534096" /><Relationship Type="http://schemas.openxmlformats.org/officeDocument/2006/relationships/slide" Target="/ppt/slides/slide29.xml" Id="R48d9f4a879734d05" /><Relationship Type="http://schemas.openxmlformats.org/officeDocument/2006/relationships/slide" Target="/ppt/slides/slide30.xml" Id="R6d4869d6636b4188" /><Relationship Type="http://schemas.openxmlformats.org/officeDocument/2006/relationships/slide" Target="/ppt/slides/slide31.xml" Id="R2a07e4e915ad44f1" /><Relationship Type="http://schemas.openxmlformats.org/officeDocument/2006/relationships/slide" Target="/ppt/slides/slide32.xml" Id="R3316c178c5804b83" /><Relationship Type="http://schemas.openxmlformats.org/officeDocument/2006/relationships/slide" Target="/ppt/slides/slide33.xml" Id="R6243c2b6b0674361" /><Relationship Type="http://schemas.openxmlformats.org/officeDocument/2006/relationships/slide" Target="/ppt/slides/slide34.xml" Id="R2c8d52ed22a54180" /><Relationship Type="http://schemas.openxmlformats.org/officeDocument/2006/relationships/slide" Target="/ppt/slides/slide35.xml" Id="R4b9220aa0a1b4462" /><Relationship Type="http://schemas.openxmlformats.org/officeDocument/2006/relationships/slide" Target="/ppt/slides/slide36.xml" Id="R530d960089e84627" /><Relationship Type="http://schemas.openxmlformats.org/officeDocument/2006/relationships/slide" Target="/ppt/slides/slide37.xml" Id="R100f3fd7402f4a17" /><Relationship Type="http://schemas.openxmlformats.org/officeDocument/2006/relationships/slide" Target="/ppt/slides/slide38.xml" Id="Rb30ec1e605f545f6" /><Relationship Type="http://schemas.openxmlformats.org/officeDocument/2006/relationships/slide" Target="/ppt/slides/slide39.xml" Id="Rdb5e103a9d984c50" /><Relationship Type="http://schemas.openxmlformats.org/officeDocument/2006/relationships/slide" Target="/ppt/slides/slide40.xml" Id="R6c817438ddc745e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d6b788b40df444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4d260b5c2964e09" /><Relationship Type="http://schemas.openxmlformats.org/officeDocument/2006/relationships/notesMaster" Target="/ppt/notesMasters/notesMaster1.xml" Id="Rcc1839b822984ed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8dfd54b0de940b0" /><Relationship Type="http://schemas.openxmlformats.org/officeDocument/2006/relationships/notesMaster" Target="/ppt/notesMasters/notesMaster1.xml" Id="R5e6e6e2e1cfe4c5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473955f422c4d36" /><Relationship Type="http://schemas.openxmlformats.org/officeDocument/2006/relationships/notesMaster" Target="/ppt/notesMasters/notesMaster1.xml" Id="Rfdab0b0168c74d0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63d0b9b6eb04ddc" /><Relationship Type="http://schemas.openxmlformats.org/officeDocument/2006/relationships/notesMaster" Target="/ppt/notesMasters/notesMaster1.xml" Id="Rf9bbf47d575646e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efeeabdd4494fff" /><Relationship Type="http://schemas.openxmlformats.org/officeDocument/2006/relationships/notesMaster" Target="/ppt/notesMasters/notesMaster1.xml" Id="Re7e32a3c68f54c9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8f42f058c414786" /><Relationship Type="http://schemas.openxmlformats.org/officeDocument/2006/relationships/notesMaster" Target="/ppt/notesMasters/notesMaster1.xml" Id="R0b721c6448f94a0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f300c5ed77d4e7a" /><Relationship Type="http://schemas.openxmlformats.org/officeDocument/2006/relationships/notesMaster" Target="/ppt/notesMasters/notesMaster1.xml" Id="R1a35acbca3c8468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1a756b8ad5a42ee" /><Relationship Type="http://schemas.openxmlformats.org/officeDocument/2006/relationships/notesMaster" Target="/ppt/notesMasters/notesMaster1.xml" Id="R376b00c280c847c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3641bea36f0421f" /><Relationship Type="http://schemas.openxmlformats.org/officeDocument/2006/relationships/notesMaster" Target="/ppt/notesMasters/notesMaster1.xml" Id="R96c8cb76cab74f2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39436a0f817441a" /><Relationship Type="http://schemas.openxmlformats.org/officeDocument/2006/relationships/notesMaster" Target="/ppt/notesMasters/notesMaster1.xml" Id="R4feb301652ce490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323f0abb28c4646" /><Relationship Type="http://schemas.openxmlformats.org/officeDocument/2006/relationships/notesMaster" Target="/ppt/notesMasters/notesMaster1.xml" Id="Rc6de8c7062c247d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1d0eff54c064fc8" /><Relationship Type="http://schemas.openxmlformats.org/officeDocument/2006/relationships/notesMaster" Target="/ppt/notesMasters/notesMaster1.xml" Id="Reab4ff38b143471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46f3d631b1e4642" /><Relationship Type="http://schemas.openxmlformats.org/officeDocument/2006/relationships/notesMaster" Target="/ppt/notesMasters/notesMaster1.xml" Id="R4c3f4d707f38444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baa4d28c93e4295" /><Relationship Type="http://schemas.openxmlformats.org/officeDocument/2006/relationships/notesMaster" Target="/ppt/notesMasters/notesMaster1.xml" Id="R67b5a75f5f384fc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555d56300b84192" /><Relationship Type="http://schemas.openxmlformats.org/officeDocument/2006/relationships/notesMaster" Target="/ppt/notesMasters/notesMaster1.xml" Id="R122e9d67b43d4ca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71e2ceef66540b3" /><Relationship Type="http://schemas.openxmlformats.org/officeDocument/2006/relationships/notesMaster" Target="/ppt/notesMasters/notesMaster1.xml" Id="R5515904c45e0458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715892b06a5455f" /><Relationship Type="http://schemas.openxmlformats.org/officeDocument/2006/relationships/notesMaster" Target="/ppt/notesMasters/notesMaster1.xml" Id="R853ab9120bec4f2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b4af4afb16b4279" /><Relationship Type="http://schemas.openxmlformats.org/officeDocument/2006/relationships/notesMaster" Target="/ppt/notesMasters/notesMaster1.xml" Id="R5ff9a015a44b41ac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b2a44f24b074e65" /><Relationship Type="http://schemas.openxmlformats.org/officeDocument/2006/relationships/notesMaster" Target="/ppt/notesMasters/notesMaster1.xml" Id="R4e6e10e48c8349dd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93550e42af14da7" /><Relationship Type="http://schemas.openxmlformats.org/officeDocument/2006/relationships/notesMaster" Target="/ppt/notesMasters/notesMaster1.xml" Id="R7fb6cfab778b4fbb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cbc240db59ab4f83" /><Relationship Type="http://schemas.openxmlformats.org/officeDocument/2006/relationships/notesMaster" Target="/ppt/notesMasters/notesMaster1.xml" Id="R9286991c40994ede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a235447874bc46ad" /><Relationship Type="http://schemas.openxmlformats.org/officeDocument/2006/relationships/notesMaster" Target="/ppt/notesMasters/notesMaster1.xml" Id="R1a3dda6bbfbc4453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119df5b983a54c5a" /><Relationship Type="http://schemas.openxmlformats.org/officeDocument/2006/relationships/notesMaster" Target="/ppt/notesMasters/notesMaster1.xml" Id="Ra3738447addc487d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9325067a274241f5" /><Relationship Type="http://schemas.openxmlformats.org/officeDocument/2006/relationships/notesMaster" Target="/ppt/notesMasters/notesMaster1.xml" Id="R37ff320ab111464a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47cca96217ba44d2" /><Relationship Type="http://schemas.openxmlformats.org/officeDocument/2006/relationships/notesMaster" Target="/ppt/notesMasters/notesMaster1.xml" Id="Rddb1ea79c7a5433c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f307f55c5a3348fe" /><Relationship Type="http://schemas.openxmlformats.org/officeDocument/2006/relationships/notesMaster" Target="/ppt/notesMasters/notesMaster1.xml" Id="Rae3512ad06344732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e04d9a43742541b7" /><Relationship Type="http://schemas.openxmlformats.org/officeDocument/2006/relationships/notesMaster" Target="/ppt/notesMasters/notesMaster1.xml" Id="Rc632785755b24ec9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0de7043a24924a06" /><Relationship Type="http://schemas.openxmlformats.org/officeDocument/2006/relationships/notesMaster" Target="/ppt/notesMasters/notesMaster1.xml" Id="R6a39abad68474310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ca7833eb1518462d" /><Relationship Type="http://schemas.openxmlformats.org/officeDocument/2006/relationships/notesMaster" Target="/ppt/notesMasters/notesMaster1.xml" Id="R5c685a851e0e4e36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d2db3c1a0e714ea8" /><Relationship Type="http://schemas.openxmlformats.org/officeDocument/2006/relationships/notesMaster" Target="/ppt/notesMasters/notesMaster1.xml" Id="R92b558ff83bd48cd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80a7e015bbc74cc4" /><Relationship Type="http://schemas.openxmlformats.org/officeDocument/2006/relationships/notesMaster" Target="/ppt/notesMasters/notesMaster1.xml" Id="R5abd5a5b595a4c6a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666e61321b764ffb" /><Relationship Type="http://schemas.openxmlformats.org/officeDocument/2006/relationships/notesMaster" Target="/ppt/notesMasters/notesMaster1.xml" Id="R8a481d195d854291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236e286ac4a54559" /><Relationship Type="http://schemas.openxmlformats.org/officeDocument/2006/relationships/notesMaster" Target="/ppt/notesMasters/notesMaster1.xml" Id="R56310c8c50b943a1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f9c2ce98d72348cf" /><Relationship Type="http://schemas.openxmlformats.org/officeDocument/2006/relationships/notesMaster" Target="/ppt/notesMasters/notesMaster1.xml" Id="Rf0d709407b424471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489e462134604f97" /><Relationship Type="http://schemas.openxmlformats.org/officeDocument/2006/relationships/notesMaster" Target="/ppt/notesMasters/notesMaster1.xml" Id="R6b8b30bd5389484f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54332ec773e84093" /><Relationship Type="http://schemas.openxmlformats.org/officeDocument/2006/relationships/notesMaster" Target="/ppt/notesMasters/notesMaster1.xml" Id="R601d9010734947fb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a5ee8f874c524c5a" /><Relationship Type="http://schemas.openxmlformats.org/officeDocument/2006/relationships/notesMaster" Target="/ppt/notesMasters/notesMaster1.xml" Id="R953d3434da084bf8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320f3cdf7cd34a48" /><Relationship Type="http://schemas.openxmlformats.org/officeDocument/2006/relationships/notesMaster" Target="/ppt/notesMasters/notesMaster1.xml" Id="R23964d954c154613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b68a4b2b04d44000" /><Relationship Type="http://schemas.openxmlformats.org/officeDocument/2006/relationships/notesMaster" Target="/ppt/notesMasters/notesMaster1.xml" Id="R96c59514ce1f4237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6e61f0eab0b8491c" /><Relationship Type="http://schemas.openxmlformats.org/officeDocument/2006/relationships/notesMaster" Target="/ppt/notesMasters/notesMaster1.xml" Id="R672df01bc190459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비용은 실제 provider 사용량에 입력 $0.40/출력 $1.60 per1M token의 고정 비교 단가를 적용한 환산이며 청구서가 아니다.</a:t>
            </a:r>
          </a:p>
          <a:p xmlns:a="http://schemas.openxmlformats.org/drawingml/2006/main">
            <a:r>
              <a:t>모든 semantic/화면/발화 producer는 같은 원격 Qwen3.7-plus와 공통 Model Access를 사용한다. 별도 학습 모델/가중치 복제는 없다.</a:t>
            </a:r>
          </a:p>
          <a:p xmlns:a="http://schemas.openxmlformats.org/drawingml/2006/main">
            <a:r>
              <a:t>설계: docs/architecture/12-decisions/decision-packages/seven-problem-review/01-evidence-supply.md,02-interpretation-execution.md,04-screen-speech-grounding.md,05-agent-handoff.md</a:t>
            </a:r>
          </a:p>
          <a:p xmlns:a="http://schemas.openxmlformats.org/drawingml/2006/main">
            <a:r>
              <a:t>계약:14-corrected-poc-contract.md,16-presentation-selection-contract.md</a:t>
            </a:r>
          </a:p>
          <a:p xmlns:a="http://schemas.openxmlformats.org/drawingml/2006/main">
            <a:r>
              <a:t>기존 결과:15-corrected-poc-results.md / 새 검토:17-presentation-results.md</a:t>
            </a:r>
          </a:p>
          <a:p xmlns:a="http://schemas.openxmlformats.org/drawingml/2006/main">
            <a:r>
              <a:t>원시:results/architecture-evaluation/current/four-dp-qwen37-review-v2-20261018/ 및 four-dp-presentation-20261019/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비용은 실제 provider 사용량에 입력 $0.40/출력 $1.60 per1M token의 고정 비교 단가를 적용한 환산이며 청구서가 아니다.</a:t>
            </a:r>
          </a:p>
          <a:p xmlns:a="http://schemas.openxmlformats.org/drawingml/2006/main">
            <a:r>
              <a:t>모든 semantic/화면/발화 producer는 같은 원격 Qwen3.7-plus와 공통 Model Access를 사용한다. 별도 학습 모델/가중치 복제는 없다.</a:t>
            </a:r>
          </a:p>
          <a:p xmlns:a="http://schemas.openxmlformats.org/drawingml/2006/main">
            <a:r>
              <a:t>설계: docs/architecture/12-decisions/decision-packages/seven-problem-review/01-evidence-supply.md,02-interpretation-execution.md,04-screen-speech-grounding.md,05-agent-handoff.md</a:t>
            </a:r>
          </a:p>
          <a:p xmlns:a="http://schemas.openxmlformats.org/drawingml/2006/main">
            <a:r>
              <a:t>계약:14-corrected-poc-contract.md,16-presentation-selection-contract.md</a:t>
            </a:r>
          </a:p>
          <a:p xmlns:a="http://schemas.openxmlformats.org/drawingml/2006/main">
            <a:r>
              <a:t>기존 결과:15-corrected-poc-results.md / 새 검토:17-presentation-results.md</a:t>
            </a:r>
          </a:p>
          <a:p xmlns:a="http://schemas.openxmlformats.org/drawingml/2006/main">
            <a:r>
              <a:t>원시:results/architecture-evaluation/current/four-dp-qwen37-review-v2-20261018/ 및 four-dp-presentation-20261019/</a:t>
            </a:r>
          </a:p>
          <a:p xmlns:a="http://schemas.openxmlformats.org/drawingml/2006/main">
            <a:r>
              <a:t>이 장면은 발표 설명 예시이며 새 측정 사례가 아니다.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비용은 실제 provider 사용량에 입력 $0.40/출력 $1.60 per1M token의 고정 비교 단가를 적용한 환산이며 청구서가 아니다.</a:t>
            </a:r>
          </a:p>
          <a:p xmlns:a="http://schemas.openxmlformats.org/drawingml/2006/main">
            <a:r>
              <a:t>모든 semantic/화면/발화 producer는 같은 원격 Qwen3.7-plus와 공통 Model Access를 사용한다. 별도 학습 모델/가중치 복제는 없다.</a:t>
            </a:r>
          </a:p>
          <a:p xmlns:a="http://schemas.openxmlformats.org/drawingml/2006/main">
            <a:r>
              <a:t>설계: docs/architecture/12-decisions/decision-packages/seven-problem-review/01-evidence-supply.md,02-interpretation-execution.md,04-screen-speech-grounding.md,05-agent-handoff.md</a:t>
            </a:r>
          </a:p>
          <a:p xmlns:a="http://schemas.openxmlformats.org/drawingml/2006/main">
            <a:r>
              <a:t>계약:14-corrected-poc-contract.md,16-presentation-selection-contract.md</a:t>
            </a:r>
          </a:p>
          <a:p xmlns:a="http://schemas.openxmlformats.org/drawingml/2006/main">
            <a:r>
              <a:t>기존 결과:15-corrected-poc-results.md / 새 검토:17-presentation-results.md</a:t>
            </a:r>
          </a:p>
          <a:p xmlns:a="http://schemas.openxmlformats.org/drawingml/2006/main">
            <a:r>
              <a:t>원시:results/architecture-evaluation/current/four-dp-qwen37-review-v2-20261018/ 및 four-dp-presentation-20261019/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비용은 실제 provider 사용량에 입력 $0.40/출력 $1.60 per1M token의 고정 비교 단가를 적용한 환산이며 청구서가 아니다.</a:t>
            </a:r>
          </a:p>
          <a:p xmlns:a="http://schemas.openxmlformats.org/drawingml/2006/main">
            <a:r>
              <a:t>모든 semantic/화면/발화 producer는 같은 원격 Qwen3.7-plus와 공통 Model Access를 사용한다. 별도 학습 모델/가중치 복제는 없다.</a:t>
            </a:r>
          </a:p>
          <a:p xmlns:a="http://schemas.openxmlformats.org/drawingml/2006/main">
            <a:r>
              <a:t>설계: docs/architecture/12-decisions/decision-packages/seven-problem-review/01-evidence-supply.md,02-interpretation-execution.md,04-screen-speech-grounding.md,05-agent-handoff.md</a:t>
            </a:r>
          </a:p>
          <a:p xmlns:a="http://schemas.openxmlformats.org/drawingml/2006/main">
            <a:r>
              <a:t>계약:14-corrected-poc-contract.md,16-presentation-selection-contract.md</a:t>
            </a:r>
          </a:p>
          <a:p xmlns:a="http://schemas.openxmlformats.org/drawingml/2006/main">
            <a:r>
              <a:t>기존 결과:15-corrected-poc-results.md / 새 검토:17-presentation-results.md</a:t>
            </a:r>
          </a:p>
          <a:p xmlns:a="http://schemas.openxmlformats.org/drawingml/2006/main">
            <a:r>
              <a:t>원시:results/architecture-evaluation/current/four-dp-qwen37-review-v2-20261018/ 및 four-dp-presentation-20261019/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비용은 실제 provider 사용량에 입력 $0.40/출력 $1.60 per1M token의 고정 비교 단가를 적용한 환산이며 청구서가 아니다.</a:t>
            </a:r>
          </a:p>
          <a:p xmlns:a="http://schemas.openxmlformats.org/drawingml/2006/main">
            <a:r>
              <a:t>모든 semantic/화면/발화 producer는 같은 원격 Qwen3.7-plus와 공통 Model Access를 사용한다. 별도 학습 모델/가중치 복제는 없다.</a:t>
            </a:r>
          </a:p>
          <a:p xmlns:a="http://schemas.openxmlformats.org/drawingml/2006/main">
            <a:r>
              <a:t>설계: docs/architecture/12-decisions/decision-packages/seven-problem-review/01-evidence-supply.md,02-interpretation-execution.md,04-screen-speech-grounding.md,05-agent-handoff.md</a:t>
            </a:r>
          </a:p>
          <a:p xmlns:a="http://schemas.openxmlformats.org/drawingml/2006/main">
            <a:r>
              <a:t>계약:14-corrected-poc-contract.md,16-presentation-selection-contract.md</a:t>
            </a:r>
          </a:p>
          <a:p xmlns:a="http://schemas.openxmlformats.org/drawingml/2006/main">
            <a:r>
              <a:t>기존 결과:15-corrected-poc-results.md / 새 검토:17-presentation-results.md</a:t>
            </a:r>
          </a:p>
          <a:p xmlns:a="http://schemas.openxmlformats.org/drawingml/2006/main">
            <a:r>
              <a:t>원시:results/architecture-evaluation/current/four-dp-qwen37-review-v2-20261018/ 및 four-dp-presentation-20261019/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비용은 실제 provider 사용량에 입력 $0.40/출력 $1.60 per1M token의 고정 비교 단가를 적용한 환산이며 청구서가 아니다.</a:t>
            </a:r>
          </a:p>
          <a:p xmlns:a="http://schemas.openxmlformats.org/drawingml/2006/main">
            <a:r>
              <a:t>모든 semantic/화면/발화 producer는 같은 원격 Qwen3.7-plus와 공통 Model Access를 사용한다. 별도 학습 모델/가중치 복제는 없다.</a:t>
            </a:r>
          </a:p>
          <a:p xmlns:a="http://schemas.openxmlformats.org/drawingml/2006/main">
            <a:r>
              <a:t>설계: docs/architecture/12-decisions/decision-packages/seven-problem-review/01-evidence-supply.md,02-interpretation-execution.md,04-screen-speech-grounding.md,05-agent-handoff.md</a:t>
            </a:r>
          </a:p>
          <a:p xmlns:a="http://schemas.openxmlformats.org/drawingml/2006/main">
            <a:r>
              <a:t>계약:14-corrected-poc-contract.md,16-presentation-selection-contract.md</a:t>
            </a:r>
          </a:p>
          <a:p xmlns:a="http://schemas.openxmlformats.org/drawingml/2006/main">
            <a:r>
              <a:t>기존 결과:15-corrected-poc-results.md / 새 검토:17-presentation-results.md</a:t>
            </a:r>
          </a:p>
          <a:p xmlns:a="http://schemas.openxmlformats.org/drawingml/2006/main">
            <a:r>
              <a:t>원시:results/architecture-evaluation/current/four-dp-qwen37-review-v2-20261018/ 및 four-dp-presentation-20261019/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비용은 실제 provider 사용량에 입력 $0.40/출력 $1.60 per1M token의 고정 비교 단가를 적용한 환산이며 청구서가 아니다.</a:t>
            </a:r>
          </a:p>
          <a:p xmlns:a="http://schemas.openxmlformats.org/drawingml/2006/main">
            <a:r>
              <a:t>모든 semantic/화면/발화 producer는 같은 원격 Qwen3.7-plus와 공통 Model Access를 사용한다. 별도 학습 모델/가중치 복제는 없다.</a:t>
            </a:r>
          </a:p>
          <a:p xmlns:a="http://schemas.openxmlformats.org/drawingml/2006/main">
            <a:r>
              <a:t>설계: docs/architecture/12-decisions/decision-packages/seven-problem-review/01-evidence-supply.md,02-interpretation-execution.md,04-screen-speech-grounding.md,05-agent-handoff.md</a:t>
            </a:r>
          </a:p>
          <a:p xmlns:a="http://schemas.openxmlformats.org/drawingml/2006/main">
            <a:r>
              <a:t>계약:14-corrected-poc-contract.md,16-presentation-selection-contract.md</a:t>
            </a:r>
          </a:p>
          <a:p xmlns:a="http://schemas.openxmlformats.org/drawingml/2006/main">
            <a:r>
              <a:t>기존 결과:15-corrected-poc-results.md / 새 검토:17-presentation-results.md</a:t>
            </a:r>
          </a:p>
          <a:p xmlns:a="http://schemas.openxmlformats.org/drawingml/2006/main">
            <a:r>
              <a:t>원시:results/architecture-evaluation/current/four-dp-qwen37-review-v2-20261018/ 및 four-dp-presentation-20261019/</a:t>
            </a:r>
          </a:p>
          <a:p xmlns:a="http://schemas.openxmlformats.org/drawingml/2006/main">
            <a:r>
              <a:t>DP01 E3 × ABC × original/adoption-only ×3 =18 fresh episodes. 각 정책/안의 first6/6, host종료6/6, QA02 6/6. A/B 첫 payload12쌍 동일; C는 별도 사전생산 변동 포함.</a:t>
            </a:r>
          </a:p>
          <a:p xmlns:a="http://schemas.openxmlformats.org/drawingml/2006/main">
            <a:r>
              <a:t>원문: dp01/fresh-summary.json,first-call-policy-breakdown.json,first-handling-examples.json.</a:t>
            </a:r>
          </a:p>
          <a:p xmlns:a="http://schemas.openxmlformats.org/drawingml/2006/main">
            <a:r>
              <a:t>별도 본문: 저자/동치 A3/6,B3/6,C6/6 각정책 동일. C literal3/6→2/6와 분리. QA04새정책 미측정, RSS소규모 관측변동.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비용은 실제 provider 사용량에 입력 $0.40/출력 $1.60 per1M token의 고정 비교 단가를 적용한 환산이며 청구서가 아니다.</a:t>
            </a:r>
          </a:p>
          <a:p xmlns:a="http://schemas.openxmlformats.org/drawingml/2006/main">
            <a:r>
              <a:t>모든 semantic/화면/발화 producer는 같은 원격 Qwen3.7-plus와 공통 Model Access를 사용한다. 별도 학습 모델/가중치 복제는 없다.</a:t>
            </a:r>
          </a:p>
          <a:p xmlns:a="http://schemas.openxmlformats.org/drawingml/2006/main">
            <a:r>
              <a:t>설계: docs/architecture/12-decisions/decision-packages/seven-problem-review/01-evidence-supply.md,02-interpretation-execution.md,04-screen-speech-grounding.md,05-agent-handoff.md</a:t>
            </a:r>
          </a:p>
          <a:p xmlns:a="http://schemas.openxmlformats.org/drawingml/2006/main">
            <a:r>
              <a:t>계약:14-corrected-poc-contract.md,16-presentation-selection-contract.md</a:t>
            </a:r>
          </a:p>
          <a:p xmlns:a="http://schemas.openxmlformats.org/drawingml/2006/main">
            <a:r>
              <a:t>기존 결과:15-corrected-poc-results.md / 새 검토:17-presentation-results.md</a:t>
            </a:r>
          </a:p>
          <a:p xmlns:a="http://schemas.openxmlformats.org/drawingml/2006/main">
            <a:r>
              <a:t>원시:results/architecture-evaluation/current/four-dp-qwen37-review-v2-20261018/ 및 four-dp-presentation-20261019/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비용은 실제 provider 사용량에 입력 $0.40/출력 $1.60 per1M token의 고정 비교 단가를 적용한 환산이며 청구서가 아니다.</a:t>
            </a:r>
          </a:p>
          <a:p xmlns:a="http://schemas.openxmlformats.org/drawingml/2006/main">
            <a:r>
              <a:t>모든 semantic/화면/발화 producer는 같은 원격 Qwen3.7-plus와 공통 Model Access를 사용한다. 별도 학습 모델/가중치 복제는 없다.</a:t>
            </a:r>
          </a:p>
          <a:p xmlns:a="http://schemas.openxmlformats.org/drawingml/2006/main">
            <a:r>
              <a:t>설계: docs/architecture/12-decisions/decision-packages/seven-problem-review/01-evidence-supply.md,02-interpretation-execution.md,04-screen-speech-grounding.md,05-agent-handoff.md</a:t>
            </a:r>
          </a:p>
          <a:p xmlns:a="http://schemas.openxmlformats.org/drawingml/2006/main">
            <a:r>
              <a:t>계약:14-corrected-poc-contract.md,16-presentation-selection-contract.md</a:t>
            </a:r>
          </a:p>
          <a:p xmlns:a="http://schemas.openxmlformats.org/drawingml/2006/main">
            <a:r>
              <a:t>기존 결과:15-corrected-poc-results.md / 새 검토:17-presentation-results.md</a:t>
            </a:r>
          </a:p>
          <a:p xmlns:a="http://schemas.openxmlformats.org/drawingml/2006/main">
            <a:r>
              <a:t>원시:results/architecture-evaluation/current/four-dp-qwen37-review-v2-20261018/ 및 four-dp-presentation-20261019/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비용은 실제 provider 사용량에 입력 $0.40/출력 $1.60 per1M token의 고정 비교 단가를 적용한 환산이며 청구서가 아니다.</a:t>
            </a:r>
          </a:p>
          <a:p xmlns:a="http://schemas.openxmlformats.org/drawingml/2006/main">
            <a:r>
              <a:t>모든 semantic/화면/발화 producer는 같은 원격 Qwen3.7-plus와 공통 Model Access를 사용한다. 별도 학습 모델/가중치 복제는 없다.</a:t>
            </a:r>
          </a:p>
          <a:p xmlns:a="http://schemas.openxmlformats.org/drawingml/2006/main">
            <a:r>
              <a:t>설계: docs/architecture/12-decisions/decision-packages/seven-problem-review/01-evidence-supply.md,02-interpretation-execution.md,04-screen-speech-grounding.md,05-agent-handoff.md</a:t>
            </a:r>
          </a:p>
          <a:p xmlns:a="http://schemas.openxmlformats.org/drawingml/2006/main">
            <a:r>
              <a:t>계약:14-corrected-poc-contract.md,16-presentation-selection-contract.md</a:t>
            </a:r>
          </a:p>
          <a:p xmlns:a="http://schemas.openxmlformats.org/drawingml/2006/main">
            <a:r>
              <a:t>기존 결과:15-corrected-poc-results.md / 새 검토:17-presentation-results.md</a:t>
            </a:r>
          </a:p>
          <a:p xmlns:a="http://schemas.openxmlformats.org/drawingml/2006/main">
            <a:r>
              <a:t>원시:results/architecture-evaluation/current/four-dp-qwen37-review-v2-20261018/ 및 four-dp-presentation-20261019/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비용은 실제 provider 사용량에 입력 $0.40/출력 $1.60 per1M token의 고정 비교 단가를 적용한 환산이며 청구서가 아니다.</a:t>
            </a:r>
          </a:p>
          <a:p xmlns:a="http://schemas.openxmlformats.org/drawingml/2006/main">
            <a:r>
              <a:t>모든 semantic/화면/발화 producer는 같은 원격 Qwen3.7-plus와 공통 Model Access를 사용한다. 별도 학습 모델/가중치 복제는 없다.</a:t>
            </a:r>
          </a:p>
          <a:p xmlns:a="http://schemas.openxmlformats.org/drawingml/2006/main">
            <a:r>
              <a:t>설계: docs/architecture/12-decisions/decision-packages/seven-problem-review/01-evidence-supply.md,02-interpretation-execution.md,04-screen-speech-grounding.md,05-agent-handoff.md</a:t>
            </a:r>
          </a:p>
          <a:p xmlns:a="http://schemas.openxmlformats.org/drawingml/2006/main">
            <a:r>
              <a:t>계약:14-corrected-poc-contract.md,16-presentation-selection-contract.md</a:t>
            </a:r>
          </a:p>
          <a:p xmlns:a="http://schemas.openxmlformats.org/drawingml/2006/main">
            <a:r>
              <a:t>기존 결과:15-corrected-poc-results.md / 새 검토:17-presentation-results.md</a:t>
            </a:r>
          </a:p>
          <a:p xmlns:a="http://schemas.openxmlformats.org/drawingml/2006/main">
            <a:r>
              <a:t>원시:results/architecture-evaluation/current/four-dp-qwen37-review-v2-20261018/ 및 four-dp-presentation-20261019/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비용은 실제 provider 사용량에 입력 $0.40/출력 $1.60 per1M token의 고정 비교 단가를 적용한 환산이며 청구서가 아니다.</a:t>
            </a:r>
          </a:p>
          <a:p xmlns:a="http://schemas.openxmlformats.org/drawingml/2006/main">
            <a:r>
              <a:t>모든 semantic/화면/발화 producer는 같은 원격 Qwen3.7-plus와 공통 Model Access를 사용한다. 별도 학습 모델/가중치 복제는 없다.</a:t>
            </a:r>
          </a:p>
          <a:p xmlns:a="http://schemas.openxmlformats.org/drawingml/2006/main">
            <a:r>
              <a:t>설계: docs/architecture/12-decisions/decision-packages/seven-problem-review/01-evidence-supply.md,02-interpretation-execution.md,04-screen-speech-grounding.md,05-agent-handoff.md</a:t>
            </a:r>
          </a:p>
          <a:p xmlns:a="http://schemas.openxmlformats.org/drawingml/2006/main">
            <a:r>
              <a:t>계약:14-corrected-poc-contract.md,16-presentation-selection-contract.md</a:t>
            </a:r>
          </a:p>
          <a:p xmlns:a="http://schemas.openxmlformats.org/drawingml/2006/main">
            <a:r>
              <a:t>기존 결과:15-corrected-poc-results.md / 새 검토:17-presentation-results.md</a:t>
            </a:r>
          </a:p>
          <a:p xmlns:a="http://schemas.openxmlformats.org/drawingml/2006/main">
            <a:r>
              <a:t>원시:results/architecture-evaluation/current/four-dp-qwen37-review-v2-20261018/ 및 four-dp-presentation-20261019/</a:t>
            </a:r>
          </a:p>
          <a:p xmlns:a="http://schemas.openxmlformats.org/drawingml/2006/main">
            <a:r>
              <a:t>B1은 의미 오류 보완이 아니다. 기존 B N-R26/27 오류도 고정응답 재생에 그대로 남는다.</a:t>
            </a:r>
          </a:p>
          <a:p xmlns:a="http://schemas.openxmlformats.org/drawingml/2006/main">
            <a:r>
              <a:t>DP02 추가실험 dp02/strict-control-v2/summary.json,report.md,trials.csv</a:t>
            </a:r>
          </a:p>
          <a:p xmlns:a="http://schemas.openxmlformats.org/drawingml/2006/main">
            <a:r>
              <a:t>168 session의 actual input/instruction/max_tokens 비교는 독립 HashMap/HashSet 순서만 정규화했다. 원문/의미 데이터/응답은 변경하지 않았다.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비용은 실제 provider 사용량에 입력 $0.40/출력 $1.60 per1M token의 고정 비교 단가를 적용한 환산이며 청구서가 아니다.</a:t>
            </a:r>
          </a:p>
          <a:p xmlns:a="http://schemas.openxmlformats.org/drawingml/2006/main">
            <a:r>
              <a:t>모든 semantic/화면/발화 producer는 같은 원격 Qwen3.7-plus와 공통 Model Access를 사용한다. 별도 학습 모델/가중치 복제는 없다.</a:t>
            </a:r>
          </a:p>
          <a:p xmlns:a="http://schemas.openxmlformats.org/drawingml/2006/main">
            <a:r>
              <a:t>설계: docs/architecture/12-decisions/decision-packages/seven-problem-review/01-evidence-supply.md,02-interpretation-execution.md,04-screen-speech-grounding.md,05-agent-handoff.md</a:t>
            </a:r>
          </a:p>
          <a:p xmlns:a="http://schemas.openxmlformats.org/drawingml/2006/main">
            <a:r>
              <a:t>계약:14-corrected-poc-contract.md,16-presentation-selection-contract.md</a:t>
            </a:r>
          </a:p>
          <a:p xmlns:a="http://schemas.openxmlformats.org/drawingml/2006/main">
            <a:r>
              <a:t>기존 결과:15-corrected-poc-results.md / 새 검토:17-presentation-results.md</a:t>
            </a:r>
          </a:p>
          <a:p xmlns:a="http://schemas.openxmlformats.org/drawingml/2006/main">
            <a:r>
              <a:t>원시:results/architecture-evaluation/current/four-dp-qwen37-review-v2-20261018/ 및 four-dp-presentation-20261019/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비용은 실제 provider 사용량에 입력 $0.40/출력 $1.60 per1M token의 고정 비교 단가를 적용한 환산이며 청구서가 아니다.</a:t>
            </a:r>
          </a:p>
          <a:p xmlns:a="http://schemas.openxmlformats.org/drawingml/2006/main">
            <a:r>
              <a:t>모든 semantic/화면/발화 producer는 같은 원격 Qwen3.7-plus와 공통 Model Access를 사용한다. 별도 학습 모델/가중치 복제는 없다.</a:t>
            </a:r>
          </a:p>
          <a:p xmlns:a="http://schemas.openxmlformats.org/drawingml/2006/main">
            <a:r>
              <a:t>설계: docs/architecture/12-decisions/decision-packages/seven-problem-review/01-evidence-supply.md,02-interpretation-execution.md,04-screen-speech-grounding.md,05-agent-handoff.md</a:t>
            </a:r>
          </a:p>
          <a:p xmlns:a="http://schemas.openxmlformats.org/drawingml/2006/main">
            <a:r>
              <a:t>계약:14-corrected-poc-contract.md,16-presentation-selection-contract.md</a:t>
            </a:r>
          </a:p>
          <a:p xmlns:a="http://schemas.openxmlformats.org/drawingml/2006/main">
            <a:r>
              <a:t>기존 결과:15-corrected-poc-results.md / 새 검토:17-presentation-results.md</a:t>
            </a:r>
          </a:p>
          <a:p xmlns:a="http://schemas.openxmlformats.org/drawingml/2006/main">
            <a:r>
              <a:t>원시:results/architecture-evaluation/current/four-dp-qwen37-review-v2-20261018/ 및 four-dp-presentation-20261019/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비용은 실제 provider 사용량에 입력 $0.40/출력 $1.60 per1M token의 고정 비교 단가를 적용한 환산이며 청구서가 아니다.</a:t>
            </a:r>
          </a:p>
          <a:p xmlns:a="http://schemas.openxmlformats.org/drawingml/2006/main">
            <a:r>
              <a:t>모든 semantic/화면/발화 producer는 같은 원격 Qwen3.7-plus와 공통 Model Access를 사용한다. 별도 학습 모델/가중치 복제는 없다.</a:t>
            </a:r>
          </a:p>
          <a:p xmlns:a="http://schemas.openxmlformats.org/drawingml/2006/main">
            <a:r>
              <a:t>설계: docs/architecture/12-decisions/decision-packages/seven-problem-review/01-evidence-supply.md,02-interpretation-execution.md,04-screen-speech-grounding.md,05-agent-handoff.md</a:t>
            </a:r>
          </a:p>
          <a:p xmlns:a="http://schemas.openxmlformats.org/drawingml/2006/main">
            <a:r>
              <a:t>계약:14-corrected-poc-contract.md,16-presentation-selection-contract.md</a:t>
            </a:r>
          </a:p>
          <a:p xmlns:a="http://schemas.openxmlformats.org/drawingml/2006/main">
            <a:r>
              <a:t>기존 결과:15-corrected-poc-results.md / 새 검토:17-presentation-results.md</a:t>
            </a:r>
          </a:p>
          <a:p xmlns:a="http://schemas.openxmlformats.org/drawingml/2006/main">
            <a:r>
              <a:t>원시:results/architecture-evaluation/current/four-dp-qwen37-review-v2-20261018/ 및 four-dp-presentation-20261019/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비용은 실제 provider 사용량에 입력 $0.40/출력 $1.60 per1M token의 고정 비교 단가를 적용한 환산이며 청구서가 아니다.</a:t>
            </a:r>
          </a:p>
          <a:p xmlns:a="http://schemas.openxmlformats.org/drawingml/2006/main">
            <a:r>
              <a:t>모든 semantic/화면/발화 producer는 같은 원격 Qwen3.7-plus와 공통 Model Access를 사용한다. 별도 학습 모델/가중치 복제는 없다.</a:t>
            </a:r>
          </a:p>
          <a:p xmlns:a="http://schemas.openxmlformats.org/drawingml/2006/main">
            <a:r>
              <a:t>설계: docs/architecture/12-decisions/decision-packages/seven-problem-review/01-evidence-supply.md,02-interpretation-execution.md,04-screen-speech-grounding.md,05-agent-handoff.md</a:t>
            </a:r>
          </a:p>
          <a:p xmlns:a="http://schemas.openxmlformats.org/drawingml/2006/main">
            <a:r>
              <a:t>계약:14-corrected-poc-contract.md,16-presentation-selection-contract.md</a:t>
            </a:r>
          </a:p>
          <a:p xmlns:a="http://schemas.openxmlformats.org/drawingml/2006/main">
            <a:r>
              <a:t>기존 결과:15-corrected-poc-results.md / 새 검토:17-presentation-results.md</a:t>
            </a:r>
          </a:p>
          <a:p xmlns:a="http://schemas.openxmlformats.org/drawingml/2006/main">
            <a:r>
              <a:t>원시:results/architecture-evaluation/current/four-dp-qwen37-review-v2-20261018/ 및 four-dp-presentation-20261019/</a:t>
            </a:r>
          </a:p>
          <a:p xmlns:a="http://schemas.openxmlformats.org/drawingml/2006/main">
            <a:r>
              <a:t>A2+A5는 원본 PNG와 raw pointer/path overlay를 계속 제공하며, 검증 거절 뒤 좌표 view를 보조 입력으로 추가한다. 원본을 정답 crop으로 교체하거나 최초 호출부터 확대 bbox를 주지 않는다. 기본 B 생산은 순차이며 B4에서만 같은 K 안의 병행을 사용한다.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비용은 실제 provider 사용량에 입력 $0.40/출력 $1.60 per1M token의 고정 비교 단가를 적용한 환산이며 청구서가 아니다.</a:t>
            </a:r>
          </a:p>
          <a:p xmlns:a="http://schemas.openxmlformats.org/drawingml/2006/main">
            <a:r>
              <a:t>모든 semantic/화면/발화 producer는 같은 원격 Qwen3.7-plus와 공통 Model Access를 사용한다. 별도 학습 모델/가중치 복제는 없다.</a:t>
            </a:r>
          </a:p>
          <a:p xmlns:a="http://schemas.openxmlformats.org/drawingml/2006/main">
            <a:r>
              <a:t>설계: docs/architecture/12-decisions/decision-packages/seven-problem-review/01-evidence-supply.md,02-interpretation-execution.md,04-screen-speech-grounding.md,05-agent-handoff.md</a:t>
            </a:r>
          </a:p>
          <a:p xmlns:a="http://schemas.openxmlformats.org/drawingml/2006/main">
            <a:r>
              <a:t>계약:14-corrected-poc-contract.md,16-presentation-selection-contract.md</a:t>
            </a:r>
          </a:p>
          <a:p xmlns:a="http://schemas.openxmlformats.org/drawingml/2006/main">
            <a:r>
              <a:t>기존 결과:15-corrected-poc-results.md / 새 검토:17-presentation-results.md</a:t>
            </a:r>
          </a:p>
          <a:p xmlns:a="http://schemas.openxmlformats.org/drawingml/2006/main">
            <a:r>
              <a:t>원시:results/architecture-evaluation/current/four-dp-qwen37-review-v2-20261018/ 및 four-dp-presentation-20261019/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비용은 실제 provider 사용량에 입력 $0.40/출력 $1.60 per1M token의 고정 비교 단가를 적용한 환산이며 청구서가 아니다.</a:t>
            </a:r>
          </a:p>
          <a:p xmlns:a="http://schemas.openxmlformats.org/drawingml/2006/main">
            <a:r>
              <a:t>모든 semantic/화면/발화 producer는 같은 원격 Qwen3.7-plus와 공통 Model Access를 사용한다. 별도 학습 모델/가중치 복제는 없다.</a:t>
            </a:r>
          </a:p>
          <a:p xmlns:a="http://schemas.openxmlformats.org/drawingml/2006/main">
            <a:r>
              <a:t>설계: docs/architecture/12-decisions/decision-packages/seven-problem-review/01-evidence-supply.md,02-interpretation-execution.md,04-screen-speech-grounding.md,05-agent-handoff.md</a:t>
            </a:r>
          </a:p>
          <a:p xmlns:a="http://schemas.openxmlformats.org/drawingml/2006/main">
            <a:r>
              <a:t>계약:14-corrected-poc-contract.md,16-presentation-selection-contract.md</a:t>
            </a:r>
          </a:p>
          <a:p xmlns:a="http://schemas.openxmlformats.org/drawingml/2006/main">
            <a:r>
              <a:t>기존 결과:15-corrected-poc-results.md / 새 검토:17-presentation-results.md</a:t>
            </a:r>
          </a:p>
          <a:p xmlns:a="http://schemas.openxmlformats.org/drawingml/2006/main">
            <a:r>
              <a:t>원시:results/architecture-evaluation/current/four-dp-qwen37-review-v2-20261018/ 및 four-dp-presentation-20261019/</a:t>
            </a:r>
          </a:p>
          <a:p xmlns:a="http://schemas.openxmlformats.org/drawingml/2006/main">
            <a:r>
              <a:t>A joint/B screen에 같은 qwen_normalized_0_1000 bbox_2d→original frame pixel 경계를 사용한다. raw pointer/path는 원래pixel그대로. no clamp/oracle,동일guard/ownerboundedrecovery. A2/A5/B4없음. normalized-comparison.json의 고정24실행/57요청/사용량확정57/UNKNOWN0. 이번QA04미측정(이전A/B각2.5별도).</a:t>
            </a:r>
          </a:p>
          <a:p xmlns:a="http://schemas.openxmlformats.org/drawingml/2006/main">
            <a:r>
              <a:t>A만이번판본 first15/15,goal12/12,QA02 24/24. B dense3회는 초기올바른라벨을제안했으나 bbox와rawpointer기하불일치, 원생산자확장뒤need_evidence/unknown으로끝났다. normalized A+A2/A5 조합실험은없다.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비용은 실제 provider 사용량에 입력 $0.40/출력 $1.60 per1M token의 고정 비교 단가를 적용한 환산이며 청구서가 아니다.</a:t>
            </a:r>
          </a:p>
          <a:p xmlns:a="http://schemas.openxmlformats.org/drawingml/2006/main">
            <a:r>
              <a:t>모든 semantic/화면/발화 producer는 같은 원격 Qwen3.7-plus와 공통 Model Access를 사용한다. 별도 학습 모델/가중치 복제는 없다.</a:t>
            </a:r>
          </a:p>
          <a:p xmlns:a="http://schemas.openxmlformats.org/drawingml/2006/main">
            <a:r>
              <a:t>설계: docs/architecture/12-decisions/decision-packages/seven-problem-review/01-evidence-supply.md,02-interpretation-execution.md,04-screen-speech-grounding.md,05-agent-handoff.md</a:t>
            </a:r>
          </a:p>
          <a:p xmlns:a="http://schemas.openxmlformats.org/drawingml/2006/main">
            <a:r>
              <a:t>계약:14-corrected-poc-contract.md,16-presentation-selection-contract.md</a:t>
            </a:r>
          </a:p>
          <a:p xmlns:a="http://schemas.openxmlformats.org/drawingml/2006/main">
            <a:r>
              <a:t>기존 결과:15-corrected-poc-results.md / 새 검토:17-presentation-results.md</a:t>
            </a:r>
          </a:p>
          <a:p xmlns:a="http://schemas.openxmlformats.org/drawingml/2006/main">
            <a:r>
              <a:t>원시:results/architecture-evaluation/current/four-dp-qwen37-review-v2-20261018/ 및 four-dp-presentation-20261019/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비용은 실제 provider 사용량에 입력 $0.40/출력 $1.60 per1M token의 고정 비교 단가를 적용한 환산이며 청구서가 아니다.</a:t>
            </a:r>
          </a:p>
          <a:p xmlns:a="http://schemas.openxmlformats.org/drawingml/2006/main">
            <a:r>
              <a:t>모든 semantic/화면/발화 producer는 같은 원격 Qwen3.7-plus와 공통 Model Access를 사용한다. 별도 학습 모델/가중치 복제는 없다.</a:t>
            </a:r>
          </a:p>
          <a:p xmlns:a="http://schemas.openxmlformats.org/drawingml/2006/main">
            <a:r>
              <a:t>설계: docs/architecture/12-decisions/decision-packages/seven-problem-review/01-evidence-supply.md,02-interpretation-execution.md,04-screen-speech-grounding.md,05-agent-handoff.md</a:t>
            </a:r>
          </a:p>
          <a:p xmlns:a="http://schemas.openxmlformats.org/drawingml/2006/main">
            <a:r>
              <a:t>계약:14-corrected-poc-contract.md,16-presentation-selection-contract.md</a:t>
            </a:r>
          </a:p>
          <a:p xmlns:a="http://schemas.openxmlformats.org/drawingml/2006/main">
            <a:r>
              <a:t>기존 결과:15-corrected-poc-results.md / 새 검토:17-presentation-results.md</a:t>
            </a:r>
          </a:p>
          <a:p xmlns:a="http://schemas.openxmlformats.org/drawingml/2006/main">
            <a:r>
              <a:t>원시:results/architecture-evaluation/current/four-dp-qwen37-review-v2-20261018/ 및 four-dp-presentation-20261019/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비용은 실제 provider 사용량에 입력 $0.40/출력 $1.60 per1M token의 고정 비교 단가를 적용한 환산이며 청구서가 아니다.</a:t>
            </a:r>
          </a:p>
          <a:p xmlns:a="http://schemas.openxmlformats.org/drawingml/2006/main">
            <a:r>
              <a:t>모든 semantic/화면/발화 producer는 같은 원격 Qwen3.7-plus와 공통 Model Access를 사용한다. 별도 학습 모델/가중치 복제는 없다.</a:t>
            </a:r>
          </a:p>
          <a:p xmlns:a="http://schemas.openxmlformats.org/drawingml/2006/main">
            <a:r>
              <a:t>설계: docs/architecture/12-decisions/decision-packages/seven-problem-review/01-evidence-supply.md,02-interpretation-execution.md,04-screen-speech-grounding.md,05-agent-handoff.md</a:t>
            </a:r>
          </a:p>
          <a:p xmlns:a="http://schemas.openxmlformats.org/drawingml/2006/main">
            <a:r>
              <a:t>계약:14-corrected-poc-contract.md,16-presentation-selection-contract.md</a:t>
            </a:r>
          </a:p>
          <a:p xmlns:a="http://schemas.openxmlformats.org/drawingml/2006/main">
            <a:r>
              <a:t>기존 결과:15-corrected-poc-results.md / 새 검토:17-presentation-results.md</a:t>
            </a:r>
          </a:p>
          <a:p xmlns:a="http://schemas.openxmlformats.org/drawingml/2006/main">
            <a:r>
              <a:t>원시:results/architecture-evaluation/current/four-dp-qwen37-review-v2-20261018/ 및 four-dp-presentation-20261019/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비용은 실제 provider 사용량에 입력 $0.40/출력 $1.60 per1M token의 고정 비교 단가를 적용한 환산이며 청구서가 아니다.</a:t>
            </a:r>
          </a:p>
          <a:p xmlns:a="http://schemas.openxmlformats.org/drawingml/2006/main">
            <a:r>
              <a:t>모든 semantic/화면/발화 producer는 같은 원격 Qwen3.7-plus와 공통 Model Access를 사용한다. 별도 학습 모델/가중치 복제는 없다.</a:t>
            </a:r>
          </a:p>
          <a:p xmlns:a="http://schemas.openxmlformats.org/drawingml/2006/main">
            <a:r>
              <a:t>설계: docs/architecture/12-decisions/decision-packages/seven-problem-review/01-evidence-supply.md,02-interpretation-execution.md,04-screen-speech-grounding.md,05-agent-handoff.md</a:t>
            </a:r>
          </a:p>
          <a:p xmlns:a="http://schemas.openxmlformats.org/drawingml/2006/main">
            <a:r>
              <a:t>계약:14-corrected-poc-contract.md,16-presentation-selection-contract.md</a:t>
            </a:r>
          </a:p>
          <a:p xmlns:a="http://schemas.openxmlformats.org/drawingml/2006/main">
            <a:r>
              <a:t>기존 결과:15-corrected-poc-results.md / 새 검토:17-presentation-results.md</a:t>
            </a:r>
          </a:p>
          <a:p xmlns:a="http://schemas.openxmlformats.org/drawingml/2006/main">
            <a:r>
              <a:t>원시:results/architecture-evaluation/current/four-dp-qwen37-review-v2-20261018/ 및 four-dp-presentation-20261019/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비용은 실제 provider 사용량에 입력 $0.40/출력 $1.60 per1M token의 고정 비교 단가를 적용한 환산이며 청구서가 아니다.</a:t>
            </a:r>
          </a:p>
          <a:p xmlns:a="http://schemas.openxmlformats.org/drawingml/2006/main">
            <a:r>
              <a:t>모든 semantic/화면/발화 producer는 같은 원격 Qwen3.7-plus와 공통 Model Access를 사용한다. 별도 학습 모델/가중치 복제는 없다.</a:t>
            </a:r>
          </a:p>
          <a:p xmlns:a="http://schemas.openxmlformats.org/drawingml/2006/main">
            <a:r>
              <a:t>설계: docs/architecture/12-decisions/decision-packages/seven-problem-review/01-evidence-supply.md,02-interpretation-execution.md,04-screen-speech-grounding.md,05-agent-handoff.md</a:t>
            </a:r>
          </a:p>
          <a:p xmlns:a="http://schemas.openxmlformats.org/drawingml/2006/main">
            <a:r>
              <a:t>계약:14-corrected-poc-contract.md,16-presentation-selection-contract.md</a:t>
            </a:r>
          </a:p>
          <a:p xmlns:a="http://schemas.openxmlformats.org/drawingml/2006/main">
            <a:r>
              <a:t>기존 결과:15-corrected-poc-results.md / 새 검토:17-presentation-results.md</a:t>
            </a:r>
          </a:p>
          <a:p xmlns:a="http://schemas.openxmlformats.org/drawingml/2006/main">
            <a:r>
              <a:t>원시:results/architecture-evaluation/current/four-dp-qwen37-review-v2-20261018/ 및 four-dp-presentation-20261019/</a:t>
            </a:r>
          </a:p>
          <a:p xmlns:a="http://schemas.openxmlformats.org/drawingml/2006/main">
            <a:r>
              <a:t>새 C/C1 E3 × 3, 각9목표. 기존 condition_source_refs가 양쪽에 있는 동일조건이며 provenance 생성비용 미측정. C1은 입력이전 현재 원문1–2행을 실제 읽어 첨부. read3회/1,848bytes/0.200750ms, 첨부직렬화peak323bytes; 미래위임목적/정답요약없음. QA04이번판본 미측정.</a:t>
            </a:r>
          </a:p>
          <a:p xmlns:a="http://schemas.openxmlformats.org/drawingml/2006/main">
            <a:r>
              <a:t>고정18본문 저자검토: C4PASS/2FAIL/2UNRESOLVED/1미표시, C1 9PASS. literal/동치4/9→7/9. 독립mail6 일부검토 일치. C r2 deck는 facts15&gt;hostcap14로 미표시; numeric14가 prompt에 없던 계약제약이며 오류와원시보존. 첫prefix9쌍요청동일이나 C조건강화안내1건으로 올바른첫내용9/9확정불가.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비용은 실제 provider 사용량에 입력 $0.40/출력 $1.60 per1M token의 고정 비교 단가를 적용한 환산이며 청구서가 아니다.</a:t>
            </a:r>
          </a:p>
          <a:p xmlns:a="http://schemas.openxmlformats.org/drawingml/2006/main">
            <a:r>
              <a:t>모든 semantic/화면/발화 producer는 같은 원격 Qwen3.7-plus와 공통 Model Access를 사용한다. 별도 학습 모델/가중치 복제는 없다.</a:t>
            </a:r>
          </a:p>
          <a:p xmlns:a="http://schemas.openxmlformats.org/drawingml/2006/main">
            <a:r>
              <a:t>설계: docs/architecture/12-decisions/decision-packages/seven-problem-review/01-evidence-supply.md,02-interpretation-execution.md,04-screen-speech-grounding.md,05-agent-handoff.md</a:t>
            </a:r>
          </a:p>
          <a:p xmlns:a="http://schemas.openxmlformats.org/drawingml/2006/main">
            <a:r>
              <a:t>계약:14-corrected-poc-contract.md,16-presentation-selection-contract.md</a:t>
            </a:r>
          </a:p>
          <a:p xmlns:a="http://schemas.openxmlformats.org/drawingml/2006/main">
            <a:r>
              <a:t>기존 결과:15-corrected-poc-results.md / 새 검토:17-presentation-results.md</a:t>
            </a:r>
          </a:p>
          <a:p xmlns:a="http://schemas.openxmlformats.org/drawingml/2006/main">
            <a:r>
              <a:t>원시:results/architecture-evaluation/current/four-dp-qwen37-review-v2-20261018/ 및 four-dp-presentation-20261019/</a:t>
            </a:r>
          </a:p>
          <a:p xmlns:a="http://schemas.openxmlformats.org/drawingml/2006/main">
            <a:r>
              <a:t>새 dp01/native/summary.json,dp01/replay-summary.json,dp05/replay-summary.json</a:t>
            </a:r>
          </a:p>
          <a:p xmlns:a="http://schemas.openxmlformats.org/drawingml/2006/main">
            <a:r>
              <a:t>A3 한계: 작은 실제view12쌍에서는 보존경계에 닿지 않아 A3 미발동. 큰 view→locator 전환 후 실제 Qwen 판단이 직접완료에서 READ+answer로 바뀌면 호출/QA03/QA05가 늘 수 있다. 이 큰 원문 경계는 native 검사뿐이며 전체 모델 경로 이익은 미측정.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설계 근거: docs/architecture/12-decisions/decision-packages/seven-problem-review/dp5-delegation-memory-20261020.md</a:t>
            </a:r>
          </a:p>
          <a:p xmlns:a="http://schemas.openxmlformats.org/drawingml/2006/main">
            <a:r>
              <a:t>관련 원문: 01-evidence-supply.md,05-agent-handoff.md,06-agent-selection.md,INTENT.md. 발표 DP5는 저장소 기존 05-agent-handoff와 다른 번호다. 2026-10-20 설계 가설이며 새 구현·모델 실행·측정·기본안 선택은 없다. QA07은 새 요청 의미 해석 정확도이며 기존 부하 추가 지연 QA07과 다르다. 우선순위와 점수 미확정.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설계 근거: docs/architecture/12-decisions/decision-packages/seven-problem-review/dp5-delegation-memory-20261020.md</a:t>
            </a:r>
          </a:p>
          <a:p xmlns:a="http://schemas.openxmlformats.org/drawingml/2006/main">
            <a:r>
              <a:t>관련 원문: 01-evidence-supply.md,05-agent-handoff.md,06-agent-selection.md,INTENT.md. 발표 DP5는 저장소 기존 05-agent-handoff와 다른 번호다. 2026-10-20 설계 가설이며 새 구현·모델 실행·측정·기본안 선택은 없다. QA07은 새 요청 의미 해석 정확도이며 기존 부하 추가 지연 QA07과 다르다. 우선순위와 점수 미확정.</a:t>
            </a:r>
          </a:p>
          <a:p xmlns:a="http://schemas.openxmlformats.org/drawingml/2006/main">
            <a:r>
              <a:t>설명 예시이며 측정 fixture가 아니다. 당시 표시 판본을 원본으로 보존한다.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설계 근거: docs/architecture/12-decisions/decision-packages/seven-problem-review/dp5-delegation-memory-20261020.md</a:t>
            </a:r>
          </a:p>
          <a:p xmlns:a="http://schemas.openxmlformats.org/drawingml/2006/main">
            <a:r>
              <a:t>관련 원문: 01-evidence-supply.md,05-agent-handoff.md,06-agent-selection.md,INTENT.md. 발표 DP5는 저장소 기존 05-agent-handoff와 다른 번호다. 2026-10-20 설계 가설이며 새 구현·모델 실행·측정·기본안 선택은 없다. QA07은 새 요청 의미 해석 정확도이며 기존 부하 추가 지연 QA07과 다르다. 우선순위와 점수 미확정.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설계 근거: docs/architecture/12-decisions/decision-packages/seven-problem-review/dp5-delegation-memory-20261020.md</a:t>
            </a:r>
          </a:p>
          <a:p xmlns:a="http://schemas.openxmlformats.org/drawingml/2006/main">
            <a:r>
              <a:t>관련 원문: 01-evidence-supply.md,05-agent-handoff.md,06-agent-selection.md,INTENT.md. 발표 DP5는 저장소 기존 05-agent-handoff와 다른 번호다. 2026-10-20 설계 가설이며 새 구현·모델 실행·측정·기본안 선택은 없다. QA07은 새 요청 의미 해석 정확도이며 기존 부하 추가 지연 QA07과 다르다. 우선순위와 점수 미확정.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설계 근거: docs/architecture/12-decisions/decision-packages/seven-problem-review/dp5-delegation-memory-20261020.md</a:t>
            </a:r>
          </a:p>
          <a:p xmlns:a="http://schemas.openxmlformats.org/drawingml/2006/main">
            <a:r>
              <a:t>관련 원문: 01-evidence-supply.md,05-agent-handoff.md,06-agent-selection.md,INTENT.md. 발표 DP5는 저장소 기존 05-agent-handoff와 다른 번호다. 2026-10-20 설계 가설이며 새 구현·모델 실행·측정·기본안 선택은 없다. QA07은 새 요청 의미 해석 정확도이며 기존 부하 추가 지연 QA07과 다르다. 우선순위와 점수 미확정.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설계 근거: docs/architecture/12-decisions/decision-packages/seven-problem-review/dp5-delegation-memory-20261020.md</a:t>
            </a:r>
          </a:p>
          <a:p xmlns:a="http://schemas.openxmlformats.org/drawingml/2006/main">
            <a:r>
              <a:t>관련 원문: 01-evidence-supply.md,05-agent-handoff.md,06-agent-selection.md,INTENT.md. 발표 DP5는 저장소 기존 05-agent-handoff와 다른 번호다. 2026-10-20 설계 가설이며 새 구현·모델 실행·측정·기본안 선택은 없다. QA07은 새 요청 의미 해석 정확도이며 기존 부하 추가 지연 QA07과 다르다. 우선순위와 점수 미확정.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설계 근거: docs/architecture/12-decisions/decision-packages/seven-problem-review/dp5-delegation-memory-20261020.md</a:t>
            </a:r>
          </a:p>
          <a:p xmlns:a="http://schemas.openxmlformats.org/drawingml/2006/main">
            <a:r>
              <a:t>관련 원문: 01-evidence-supply.md,05-agent-handoff.md,06-agent-selection.md,INTENT.md. 발표 DP5는 저장소 기존 05-agent-handoff와 다른 번호다. 2026-10-20 설계 가설이며 새 구현·모델 실행·측정·기본안 선택은 없다. QA07은 새 요청 의미 해석 정확도이며 기존 부하 추가 지연 QA07과 다르다. 우선순위와 점수 미확정.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설계 근거: docs/architecture/12-decisions/decision-packages/seven-problem-review/dp5-delegation-memory-20261020.md</a:t>
            </a:r>
          </a:p>
          <a:p xmlns:a="http://schemas.openxmlformats.org/drawingml/2006/main">
            <a:r>
              <a:t>관련 원문: 01-evidence-supply.md,05-agent-handoff.md,06-agent-selection.md,INTENT.md. 발표 DP5는 저장소 기존 05-agent-handoff와 다른 번호다. 2026-10-20 설계 가설이며 새 구현·모델 실행·측정·기본안 선택은 없다. QA07은 새 요청 의미 해석 정확도이며 기존 부하 추가 지연 QA07과 다르다. 우선순위와 점수 미확정.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설계 근거: docs/architecture/12-decisions/decision-packages/seven-problem-review/dp5-delegation-memory-20261020.md</a:t>
            </a:r>
          </a:p>
          <a:p xmlns:a="http://schemas.openxmlformats.org/drawingml/2006/main">
            <a:r>
              <a:t>관련 원문: 01-evidence-supply.md,05-agent-handoff.md,06-agent-selection.md,INTENT.md. 발표 DP5는 저장소 기존 05-agent-handoff와 다른 번호다. 2026-10-20 설계 가설이며 새 구현·모델 실행·측정·기본안 선택은 없다. QA07은 새 요청 의미 해석 정확도이며 기존 부하 추가 지연 QA07과 다르다. 우선순위와 점수 미확정.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설계 근거: docs/architecture/12-decisions/decision-packages/seven-problem-review/dp5-delegation-memory-20261020.md</a:t>
            </a:r>
          </a:p>
          <a:p xmlns:a="http://schemas.openxmlformats.org/drawingml/2006/main">
            <a:r>
              <a:t>관련 원문: 01-evidence-supply.md,05-agent-handoff.md,06-agent-selection.md,INTENT.md. 발표 DP5는 저장소 기존 05-agent-handoff와 다른 번호다. 2026-10-20 설계 가설이며 새 구현·모델 실행·측정·기본안 선택은 없다. QA07은 새 요청 의미 해석 정확도이며 기존 부하 추가 지연 QA07과 다르다. 우선순위와 점수 미확정.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비용은 실제 provider 사용량에 입력 $0.40/출력 $1.60 per1M token의 고정 비교 단가를 적용한 환산이며 청구서가 아니다.</a:t>
            </a:r>
          </a:p>
          <a:p xmlns:a="http://schemas.openxmlformats.org/drawingml/2006/main">
            <a:r>
              <a:t>모든 semantic/화면/발화 producer는 같은 원격 Qwen3.7-plus와 공통 Model Access를 사용한다. 별도 학습 모델/가중치 복제는 없다.</a:t>
            </a:r>
          </a:p>
          <a:p xmlns:a="http://schemas.openxmlformats.org/drawingml/2006/main">
            <a:r>
              <a:t>설계: docs/architecture/12-decisions/decision-packages/seven-problem-review/01-evidence-supply.md,02-interpretation-execution.md,04-screen-speech-grounding.md,05-agent-handoff.md</a:t>
            </a:r>
          </a:p>
          <a:p xmlns:a="http://schemas.openxmlformats.org/drawingml/2006/main">
            <a:r>
              <a:t>계약:14-corrected-poc-contract.md,16-presentation-selection-contract.md</a:t>
            </a:r>
          </a:p>
          <a:p xmlns:a="http://schemas.openxmlformats.org/drawingml/2006/main">
            <a:r>
              <a:t>기존 결과:15-corrected-poc-results.md / 새 검토:17-presentation-results.md</a:t>
            </a:r>
          </a:p>
          <a:p xmlns:a="http://schemas.openxmlformats.org/drawingml/2006/main">
            <a:r>
              <a:t>원시:results/architecture-evaluation/current/four-dp-qwen37-review-v2-20261018/ 및 four-dp-presentation-20261019/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비용은 실제 provider 사용량에 입력 $0.40/출력 $1.60 per1M token의 고정 비교 단가를 적용한 환산이며 청구서가 아니다.</a:t>
            </a:r>
          </a:p>
          <a:p xmlns:a="http://schemas.openxmlformats.org/drawingml/2006/main">
            <a:r>
              <a:t>모든 semantic/화면/발화 producer는 같은 원격 Qwen3.7-plus와 공통 Model Access를 사용한다. 별도 학습 모델/가중치 복제는 없다.</a:t>
            </a:r>
          </a:p>
          <a:p xmlns:a="http://schemas.openxmlformats.org/drawingml/2006/main">
            <a:r>
              <a:t>설계: docs/architecture/12-decisions/decision-packages/seven-problem-review/01-evidence-supply.md,02-interpretation-execution.md,04-screen-speech-grounding.md,05-agent-handoff.md</a:t>
            </a:r>
          </a:p>
          <a:p xmlns:a="http://schemas.openxmlformats.org/drawingml/2006/main">
            <a:r>
              <a:t>계약:14-corrected-poc-contract.md,16-presentation-selection-contract.md</a:t>
            </a:r>
          </a:p>
          <a:p xmlns:a="http://schemas.openxmlformats.org/drawingml/2006/main">
            <a:r>
              <a:t>기존 결과:15-corrected-poc-results.md / 새 검토:17-presentation-results.md</a:t>
            </a:r>
          </a:p>
          <a:p xmlns:a="http://schemas.openxmlformats.org/drawingml/2006/main">
            <a:r>
              <a:t>원시:results/architecture-evaluation/current/four-dp-qwen37-review-v2-20261018/ 및 four-dp-presentation-20261019/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비용은 실제 provider 사용량에 입력 $0.40/출력 $1.60 per1M token의 고정 비교 단가를 적용한 환산이며 청구서가 아니다.</a:t>
            </a:r>
          </a:p>
          <a:p xmlns:a="http://schemas.openxmlformats.org/drawingml/2006/main">
            <a:r>
              <a:t>모든 semantic/화면/발화 producer는 같은 원격 Qwen3.7-plus와 공통 Model Access를 사용한다. 별도 학습 모델/가중치 복제는 없다.</a:t>
            </a:r>
          </a:p>
          <a:p xmlns:a="http://schemas.openxmlformats.org/drawingml/2006/main">
            <a:r>
              <a:t>설계: docs/architecture/12-decisions/decision-packages/seven-problem-review/01-evidence-supply.md,02-interpretation-execution.md,04-screen-speech-grounding.md,05-agent-handoff.md</a:t>
            </a:r>
          </a:p>
          <a:p xmlns:a="http://schemas.openxmlformats.org/drawingml/2006/main">
            <a:r>
              <a:t>계약:14-corrected-poc-contract.md,16-presentation-selection-contract.md</a:t>
            </a:r>
          </a:p>
          <a:p xmlns:a="http://schemas.openxmlformats.org/drawingml/2006/main">
            <a:r>
              <a:t>기존 결과:15-corrected-poc-results.md / 새 검토:17-presentation-results.md</a:t>
            </a:r>
          </a:p>
          <a:p xmlns:a="http://schemas.openxmlformats.org/drawingml/2006/main">
            <a:r>
              <a:t>원시:results/architecture-evaluation/current/four-dp-qwen37-review-v2-20261018/ 및 four-dp-presentation-20261019/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비용은 실제 provider 사용량에 입력 $0.40/출력 $1.60 per1M token의 고정 비교 단가를 적용한 환산이며 청구서가 아니다.</a:t>
            </a:r>
          </a:p>
          <a:p xmlns:a="http://schemas.openxmlformats.org/drawingml/2006/main">
            <a:r>
              <a:t>모든 semantic/화면/발화 producer는 같은 원격 Qwen3.7-plus와 공통 Model Access를 사용한다. 별도 학습 모델/가중치 복제는 없다.</a:t>
            </a:r>
          </a:p>
          <a:p xmlns:a="http://schemas.openxmlformats.org/drawingml/2006/main">
            <a:r>
              <a:t>설계: docs/architecture/12-decisions/decision-packages/seven-problem-review/01-evidence-supply.md,02-interpretation-execution.md,04-screen-speech-grounding.md,05-agent-handoff.md</a:t>
            </a:r>
          </a:p>
          <a:p xmlns:a="http://schemas.openxmlformats.org/drawingml/2006/main">
            <a:r>
              <a:t>계약:14-corrected-poc-contract.md,16-presentation-selection-contract.md</a:t>
            </a:r>
          </a:p>
          <a:p xmlns:a="http://schemas.openxmlformats.org/drawingml/2006/main">
            <a:r>
              <a:t>기존 결과:15-corrected-poc-results.md / 새 검토:17-presentation-results.md</a:t>
            </a:r>
          </a:p>
          <a:p xmlns:a="http://schemas.openxmlformats.org/drawingml/2006/main">
            <a:r>
              <a:t>원시:results/architecture-evaluation/current/four-dp-qwen37-review-v2-20261018/ 및 four-dp-presentation-20261019/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비용은 실제 provider 사용량에 입력 $0.40/출력 $1.60 per1M token의 고정 비교 단가를 적용한 환산이며 청구서가 아니다.</a:t>
            </a:r>
          </a:p>
          <a:p xmlns:a="http://schemas.openxmlformats.org/drawingml/2006/main">
            <a:r>
              <a:t>모든 semantic/화면/발화 producer는 같은 원격 Qwen3.7-plus와 공통 Model Access를 사용한다. 별도 학습 모델/가중치 복제는 없다.</a:t>
            </a:r>
          </a:p>
          <a:p xmlns:a="http://schemas.openxmlformats.org/drawingml/2006/main">
            <a:r>
              <a:t>설계: docs/architecture/12-decisions/decision-packages/seven-problem-review/01-evidence-supply.md,02-interpretation-execution.md,04-screen-speech-grounding.md,05-agent-handoff.md</a:t>
            </a:r>
          </a:p>
          <a:p xmlns:a="http://schemas.openxmlformats.org/drawingml/2006/main">
            <a:r>
              <a:t>계약:14-corrected-poc-contract.md,16-presentation-selection-contract.md</a:t>
            </a:r>
          </a:p>
          <a:p xmlns:a="http://schemas.openxmlformats.org/drawingml/2006/main">
            <a:r>
              <a:t>기존 결과:15-corrected-poc-results.md / 새 검토:17-presentation-results.md</a:t>
            </a:r>
          </a:p>
          <a:p xmlns:a="http://schemas.openxmlformats.org/drawingml/2006/main">
            <a:r>
              <a:t>원시:results/architecture-evaluation/current/four-dp-qwen37-review-v2-20261018/ 및 four-dp-presentation-20261019/</a:t>
            </a:r>
          </a:p>
          <a:p xmlns:a="http://schemas.openxmlformats.org/drawingml/2006/main">
            <a:r>
              <a:t>원인 대조: analysis/dp02-explanation.md,dp05-final-provenance-failure-audit.json,dp05-final-provenance-failure-audit-C-r1.json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비용은 실제 provider 사용량에 입력 $0.40/출력 $1.60 per1M token의 고정 비교 단가를 적용한 환산이며 청구서가 아니다.</a:t>
            </a:r>
          </a:p>
          <a:p xmlns:a="http://schemas.openxmlformats.org/drawingml/2006/main">
            <a:r>
              <a:t>모든 semantic/화면/발화 producer는 같은 원격 Qwen3.7-plus와 공통 Model Access를 사용한다. 별도 학습 모델/가중치 복제는 없다.</a:t>
            </a:r>
          </a:p>
          <a:p xmlns:a="http://schemas.openxmlformats.org/drawingml/2006/main">
            <a:r>
              <a:t>설계: docs/architecture/12-decisions/decision-packages/seven-problem-review/01-evidence-supply.md,02-interpretation-execution.md,04-screen-speech-grounding.md,05-agent-handoff.md</a:t>
            </a:r>
          </a:p>
          <a:p xmlns:a="http://schemas.openxmlformats.org/drawingml/2006/main">
            <a:r>
              <a:t>계약:14-corrected-poc-contract.md,16-presentation-selection-contract.md</a:t>
            </a:r>
          </a:p>
          <a:p xmlns:a="http://schemas.openxmlformats.org/drawingml/2006/main">
            <a:r>
              <a:t>기존 결과:15-corrected-poc-results.md / 새 검토:17-presentation-results.md</a:t>
            </a:r>
          </a:p>
          <a:p xmlns:a="http://schemas.openxmlformats.org/drawingml/2006/main">
            <a:r>
              <a:t>원시:results/architecture-evaluation/current/four-dp-qwen37-review-v2-20261018/ 및 four-dp-presentation-20261019/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9bb4ad330d4ef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d0d9dff704473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fa8eb5d23c4f2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56f7292bb04c2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18e60fd739466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35db174e7e45b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587D9C2-FAC1-45AB-B7B5-8E50B0D308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F6AD821-4046-4866-B32A-D9220E96826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0BA23A5-7ED6-4EF4-BE6C-AAF97139B7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B9C385F-8EBC-45F8-98AD-066058DC61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9B0DE2A-D0D0-47CF-A1CB-A4A9D224A9D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769D369-7427-4206-B73F-A4AFE3D9BE0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D1C6DFA-3076-47A2-A258-EEE66A1E137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EA64510-A741-4255-AF48-C6341CC5DC4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7C1C576-FDF9-459D-96EB-111D99839F6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924B341-7C39-4BC1-B8B5-7CBBAECF3B2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de2176d48f74877" /><Relationship Type="http://schemas.openxmlformats.org/officeDocument/2006/relationships/slideLayout" Target="/ppt/slideLayouts/slideLayout1.xml" Id="R2a5fb6f915dd4827" /><Relationship Type="http://schemas.openxmlformats.org/officeDocument/2006/relationships/slideLayout" Target="/ppt/slideLayouts/slideLayout2.xml" Id="R0faf899cf32049e3" /><Relationship Type="http://schemas.openxmlformats.org/officeDocument/2006/relationships/slideLayout" Target="/ppt/slideLayouts/slideLayout3.xml" Id="R0bdd352746f340fe" /><Relationship Type="http://schemas.openxmlformats.org/officeDocument/2006/relationships/slideLayout" Target="/ppt/slideLayouts/slideLayout4.xml" Id="Rdb197254d4fd4fee" /><Relationship Type="http://schemas.openxmlformats.org/officeDocument/2006/relationships/slideLayout" Target="/ppt/slideLayouts/slideLayout5.xml" Id="Rde2d847f60b24d34" /><Relationship Type="http://schemas.openxmlformats.org/officeDocument/2006/relationships/slideLayout" Target="/ppt/slideLayouts/slideLayout6.xml" Id="R695e8a4c51c742d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a5fb6f915dd4827"/>
    <p:sldLayoutId xmlns:r="http://schemas.openxmlformats.org/officeDocument/2006/relationships" id="2147483650" r:id="R0faf899cf32049e3"/>
    <p:sldLayoutId xmlns:r="http://schemas.openxmlformats.org/officeDocument/2006/relationships" id="2147483651" r:id="R0bdd352746f340fe"/>
    <p:sldLayoutId xmlns:r="http://schemas.openxmlformats.org/officeDocument/2006/relationships" id="2147483652" r:id="Rdb197254d4fd4fee"/>
    <p:sldLayoutId xmlns:r="http://schemas.openxmlformats.org/officeDocument/2006/relationships" id="2147483653" r:id="Rde2d847f60b24d34"/>
    <p:sldLayoutId xmlns:r="http://schemas.openxmlformats.org/officeDocument/2006/relationships" id="2147483654" r:id="R695e8a4c51c742d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fa6661440b747a7" /><Relationship Type="http://schemas.openxmlformats.org/officeDocument/2006/relationships/notesSlide" Target="/ppt/notesSlides/notesSlide1.xml" Id="R7252e4811ce1412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55c7a5d8a1b42d4" /><Relationship Type="http://schemas.openxmlformats.org/officeDocument/2006/relationships/notesSlide" Target="/ppt/notesSlides/notesSlide2.xml" Id="R4a6f035253364a7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01698b7bc6b4086" /><Relationship Type="http://schemas.openxmlformats.org/officeDocument/2006/relationships/notesSlide" Target="/ppt/notesSlides/notesSlide3.xml" Id="R002ccca36081489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282646d13da46e2" /><Relationship Type="http://schemas.openxmlformats.org/officeDocument/2006/relationships/notesSlide" Target="/ppt/notesSlides/notesSlide4.xml" Id="Rd00c660e11704c7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5178bb7c3474dc2" /><Relationship Type="http://schemas.openxmlformats.org/officeDocument/2006/relationships/notesSlide" Target="/ppt/notesSlides/notesSlide5.xml" Id="Rffe605fca5cd426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139846a766a4840" /><Relationship Type="http://schemas.openxmlformats.org/officeDocument/2006/relationships/notesSlide" Target="/ppt/notesSlides/notesSlide6.xml" Id="R64bccb0dbde54d4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d3582d97d0f4771" /><Relationship Type="http://schemas.openxmlformats.org/officeDocument/2006/relationships/notesSlide" Target="/ppt/notesSlides/notesSlide7.xml" Id="R666615bd412446b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c296fd31b324bf3" /><Relationship Type="http://schemas.openxmlformats.org/officeDocument/2006/relationships/notesSlide" Target="/ppt/notesSlides/notesSlide8.xml" Id="R5b2d856886af42b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814651d27ee428f" /><Relationship Type="http://schemas.openxmlformats.org/officeDocument/2006/relationships/notesSlide" Target="/ppt/notesSlides/notesSlide9.xml" Id="R8f84ea0b7c644e6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2396542e91e4e4e" /><Relationship Type="http://schemas.openxmlformats.org/officeDocument/2006/relationships/notesSlide" Target="/ppt/notesSlides/notesSlide10.xml" Id="R45783b1a40ef482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0e6dbb2ef8845db" /><Relationship Type="http://schemas.openxmlformats.org/officeDocument/2006/relationships/notesSlide" Target="/ppt/notesSlides/notesSlide11.xml" Id="Re4a73b6c03da4e6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24d454cc5cd448d" /><Relationship Type="http://schemas.openxmlformats.org/officeDocument/2006/relationships/notesSlide" Target="/ppt/notesSlides/notesSlide12.xml" Id="R734d48ecf144487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2f0e8effa504aba" /><Relationship Type="http://schemas.openxmlformats.org/officeDocument/2006/relationships/notesSlide" Target="/ppt/notesSlides/notesSlide13.xml" Id="R4319b1c672aa4aa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ce54a3af92f4cd4" /><Relationship Type="http://schemas.openxmlformats.org/officeDocument/2006/relationships/notesSlide" Target="/ppt/notesSlides/notesSlide14.xml" Id="R2e12ab3f1ed3413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ecbd361d2e84398" /><Relationship Type="http://schemas.openxmlformats.org/officeDocument/2006/relationships/notesSlide" Target="/ppt/notesSlides/notesSlide15.xml" Id="Rfc4c986eeab1420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a012e978d8d45b3" /><Relationship Type="http://schemas.openxmlformats.org/officeDocument/2006/relationships/notesSlide" Target="/ppt/notesSlides/notesSlide16.xml" Id="Rdabeecd010ac40a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dfe6b7151664f05" /><Relationship Type="http://schemas.openxmlformats.org/officeDocument/2006/relationships/notesSlide" Target="/ppt/notesSlides/notesSlide17.xml" Id="R56a32b3affa4456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ef91899887e419a" /><Relationship Type="http://schemas.openxmlformats.org/officeDocument/2006/relationships/notesSlide" Target="/ppt/notesSlides/notesSlide18.xml" Id="R640da2a12186452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46fc29134e54e3f" /><Relationship Type="http://schemas.openxmlformats.org/officeDocument/2006/relationships/notesSlide" Target="/ppt/notesSlides/notesSlide19.xml" Id="R7a99d519146148f8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dc1de85a4064431" /><Relationship Type="http://schemas.openxmlformats.org/officeDocument/2006/relationships/notesSlide" Target="/ppt/notesSlides/notesSlide20.xml" Id="Rdf7e14efa5ce41f5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2131d5e158c4a30" /><Relationship Type="http://schemas.openxmlformats.org/officeDocument/2006/relationships/notesSlide" Target="/ppt/notesSlides/notesSlide21.xml" Id="R24f6c92357784cf6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e259d22cb434c0e" /><Relationship Type="http://schemas.openxmlformats.org/officeDocument/2006/relationships/notesSlide" Target="/ppt/notesSlides/notesSlide22.xml" Id="Rb35bc473557b4338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488d1ccee404d86" /><Relationship Type="http://schemas.openxmlformats.org/officeDocument/2006/relationships/notesSlide" Target="/ppt/notesSlides/notesSlide23.xml" Id="R48f04150ddd442ce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4a0edfa58744146" /><Relationship Type="http://schemas.openxmlformats.org/officeDocument/2006/relationships/notesSlide" Target="/ppt/notesSlides/notesSlide24.xml" Id="Rfca3897ef49946b7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6f8157a9a334044" /><Relationship Type="http://schemas.openxmlformats.org/officeDocument/2006/relationships/notesSlide" Target="/ppt/notesSlides/notesSlide25.xml" Id="R17db5de8f794445c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5b65d3f75364347" /><Relationship Type="http://schemas.openxmlformats.org/officeDocument/2006/relationships/notesSlide" Target="/ppt/notesSlides/notesSlide26.xml" Id="R78bc542bbaa3405a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6692362ffcc457f" /><Relationship Type="http://schemas.openxmlformats.org/officeDocument/2006/relationships/notesSlide" Target="/ppt/notesSlides/notesSlide27.xml" Id="R3a0c55695c654f23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184b22814174c9d" /><Relationship Type="http://schemas.openxmlformats.org/officeDocument/2006/relationships/notesSlide" Target="/ppt/notesSlides/notesSlide28.xml" Id="R85531d95dc9244fc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dfd8f1d598d4105" /><Relationship Type="http://schemas.openxmlformats.org/officeDocument/2006/relationships/notesSlide" Target="/ppt/notesSlides/notesSlide29.xml" Id="R44ade5acbff44777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b0470861e8b4863" /><Relationship Type="http://schemas.openxmlformats.org/officeDocument/2006/relationships/notesSlide" Target="/ppt/notesSlides/notesSlide30.xml" Id="R59fde8b78f854656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27efafebccc4346" /><Relationship Type="http://schemas.openxmlformats.org/officeDocument/2006/relationships/notesSlide" Target="/ppt/notesSlides/notesSlide31.xml" Id="R9901e578c7cb4085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d5ae18f16744c6b" /><Relationship Type="http://schemas.openxmlformats.org/officeDocument/2006/relationships/notesSlide" Target="/ppt/notesSlides/notesSlide32.xml" Id="Rd17a2b45a4df489c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23ef14d86d345d0" /><Relationship Type="http://schemas.openxmlformats.org/officeDocument/2006/relationships/notesSlide" Target="/ppt/notesSlides/notesSlide33.xml" Id="R70cec28dda904131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058b38b332b41d0" /><Relationship Type="http://schemas.openxmlformats.org/officeDocument/2006/relationships/notesSlide" Target="/ppt/notesSlides/notesSlide34.xml" Id="Ra9b863a6e4e546f5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b52d8b62ae142f5" /><Relationship Type="http://schemas.openxmlformats.org/officeDocument/2006/relationships/notesSlide" Target="/ppt/notesSlides/notesSlide35.xml" Id="Rd1304b38c2624505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885f9db7afa46da" /><Relationship Type="http://schemas.openxmlformats.org/officeDocument/2006/relationships/notesSlide" Target="/ppt/notesSlides/notesSlide36.xml" Id="Rc3c88596092140f2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4b0d0f804a14dae" /><Relationship Type="http://schemas.openxmlformats.org/officeDocument/2006/relationships/notesSlide" Target="/ppt/notesSlides/notesSlide37.xml" Id="R7493bca356764357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252811f154d49fd" /><Relationship Type="http://schemas.openxmlformats.org/officeDocument/2006/relationships/notesSlide" Target="/ppt/notesSlides/notesSlide38.xml" Id="R03fea7a476ec403c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64718b8b92943d9" /><Relationship Type="http://schemas.openxmlformats.org/officeDocument/2006/relationships/notesSlide" Target="/ppt/notesSlides/notesSlide39.xml" Id="R2ffabe192cec41a3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a585098060f4fc7" /><Relationship Type="http://schemas.openxmlformats.org/officeDocument/2006/relationships/notesSlide" Target="/ppt/notesSlides/notesSlide40.xml" Id="R523de9c42d044fa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5B0DB7-B120-4AB1-BE7E-88D032E58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11353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VIA의 다섯 설계 비교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E93CEC-1DAA-4253-A8D4-4C3E3F732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000125"/>
            <a:ext cx="11353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7C5B"/>
          </a:solidFill>
          <a:ln xmlns:a="http://schemas.openxmlformats.org/drawingml/2006/main" w="0">
            <a:solidFill>
              <a:srgbClr val="387C5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727A13-A635-4A2D-869E-AF0CA836B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6ED35B-7C9E-4F64-8E9B-411024A38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04975"/>
            <a:ext cx="11144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975" b="1">
                <a:solidFill>
                  <a:srgbClr val="387C5B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975" b="1">
                <a:solidFill>
                  <a:srgbClr val="387C5B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975" b="1">
                <a:solidFill>
                  <a:srgbClr val="387C5B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975" b="1">
                <a:solidFill>
                  <a:srgbClr val="387C5B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975" b="1">
                <a:solidFill>
                  <a:srgbClr val="387C5B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975" b="1">
                <a:solidFill>
                  <a:srgbClr val="387C5B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975" b="1">
                <a:solidFill>
                  <a:srgbClr val="387C5B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975" b="1">
                <a:solidFill>
                  <a:srgbClr val="387C5B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975" b="1">
                <a:solidFill>
                  <a:srgbClr val="387C5B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975" b="1">
                <a:solidFill>
                  <a:srgbClr val="387C5B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975" b="1">
                <a:solidFill>
                  <a:srgbClr val="387C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975" b="1">
                <a:solidFill>
                  <a:srgbClr val="387C5B"/>
                </a:solidFill>
                <a:latin typeface="Apple SD Gothic Neo"/>
                <a:ea typeface="Apple SD Gothic Neo"/>
                <a:cs typeface="Apple SD Gothic Neo"/>
              </a:rPr>
              <a:t>연속 대화의 근거와 위임 메모리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6D9BCE-8CFE-462C-B239-565B4D5B9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81300"/>
            <a:ext cx="110490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1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1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1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1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1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1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1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1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1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DP1  현재 요청에 어떤 근거를 공급할까</a:t>
            </a:r>
          </a:p>
          <a:p xmlns:a="http://schemas.openxmlformats.org/drawingml/2006/main">
            <a:pPr>
              <a:defRPr sz="21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DP2  새 입력의 의미 판단을 언제 실행할까</a:t>
            </a:r>
          </a:p>
          <a:p xmlns:a="http://schemas.openxmlformats.org/drawingml/2006/main">
            <a:pPr>
              <a:defRPr sz="21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DP3  화면과 발화의 지칭을 어떻게 결합할까</a:t>
            </a:r>
          </a:p>
          <a:p xmlns:a="http://schemas.openxmlformats.org/drawingml/2006/main">
            <a:pPr>
              <a:defRPr sz="21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DP4  Agent에게 무엇을 넘기고 누가 상세 자료를 읽을까</a:t>
            </a:r>
          </a:p>
          <a:p xmlns:a="http://schemas.openxmlformats.org/drawingml/2006/main">
            <a:pPr>
              <a:defRPr sz="21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DP5  위임 관계를 요청 때 해석할까, 미리 정리할까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3FE097-66CB-4238-8639-7E08DBD76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953125"/>
            <a:ext cx="11315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rPr>
              <a:t>DP1–4는 10월 19일 결과를 보존한다. DP5는 10월 20일 추가 설계이며 미측정·미선택이다.</a:t>
            </a:r>
          </a:p>
        </p:txBody>
      </p:sp>
    </p:spTree>
    <p:extLst>
      <p:ext uri="{BB962C8B-B14F-4D97-AF65-F5344CB8AC3E}">
        <p14:creationId xmlns:p14="http://schemas.microsoft.com/office/powerpoint/2010/main" val="77090547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2691B2-9281-4B4D-9D07-54D073C04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11353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DP1–4의 기존 사용자 장면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B7061A-F6AB-41C5-8BE4-08F55C82C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000125"/>
            <a:ext cx="11353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7C5B"/>
          </a:solidFill>
          <a:ln xmlns:a="http://schemas.openxmlformats.org/drawingml/2006/main" w="0">
            <a:solidFill>
              <a:srgbClr val="387C5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3D1143-7FCA-436D-A313-ADFDD3BC6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763419-A32D-4973-9C66-B220227EE551}"/>
              </a:ext>
            </a:extLst>
          </p:cNvPr>
          <p:cNvGraphicFramePr/>
          <p:nvPr/>
        </p:nvGraphicFramePr>
        <p:xfrm>
          <a:off xmlns:a="http://schemas.openxmlformats.org/drawingml/2006/main" x="438150" y="1381125"/>
          <a:ext xmlns:a="http://schemas.openxmlformats.org/drawingml/2006/main" cx="11315700" cy="3867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7667625"/>
                <a:gridCol w="3648075"/>
              </a:tblGrid>
              <a:tr h="77343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장면</a:t>
                      </a:r>
                    </a:p>
                  </a:txBody>
                  <a:tcPr marL="95250" marR="95250" marT="76200" marB="76200">
                    <a:lnL w="9525">
                      <a:solidFill>
                        <a:srgbClr val="CFD8D2"/>
                      </a:solidFill>
                      <a:prstDash val="solid"/>
                    </a:lnL>
                    <a:lnR w="9525">
                      <a:solidFill>
                        <a:srgbClr val="CFD8D2"/>
                      </a:solidFill>
                      <a:prstDash val="solid"/>
                    </a:lnR>
                    <a:lnT w="9525">
                      <a:solidFill>
                        <a:srgbClr val="CFD8D2"/>
                      </a:solidFill>
                      <a:prstDash val="solid"/>
                    </a:lnT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C9DEB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설계에서 다룰 문제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T w="9525">
                      <a:solidFill>
                        <a:srgbClr val="CFD8D2"/>
                      </a:solidFill>
                      <a:prstDash val="solid"/>
                    </a:lnT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C9DEB1"/>
                    </a:solidFill>
                  </a:tcPr>
                </a:tc>
              </a:tr>
              <a:tr h="77343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DP1  앞서 읽은 자료에 대해 조건을 바꿔 다시 묻는다</a:t>
                      </a:r>
                    </a:p>
                  </a:txBody>
                  <a:tcPr marL="95250" marR="95250" marT="76200" marB="76200">
                    <a:lnL w="9525">
                      <a:solidFill>
                        <a:srgbClr val="CFD8D2"/>
                      </a:solidFill>
                      <a:prstDash val="solid"/>
                    </a:lnL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근거 재사용과 현재성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7343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DP2  분석 도중 추가 질문·정정과 Agent 통지가 들어온다</a:t>
                      </a:r>
                    </a:p>
                  </a:txBody>
                  <a:tcPr marL="95250" marR="95250" marT="76200" marB="76200">
                    <a:lnL w="9525">
                      <a:solidFill>
                        <a:srgbClr val="CFD8D2"/>
                      </a:solidFill>
                      <a:prstDash val="solid"/>
                    </a:lnL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입력 보존과 의미 판단 대기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</a:tr>
              <a:tr h="77343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DP3  화면을 가리켜 “이 둘”이라고 말하고 대상을 고친다</a:t>
                      </a:r>
                    </a:p>
                  </a:txBody>
                  <a:tcPr marL="95250" marR="95250" marT="76200" marB="76200">
                    <a:lnL w="9525">
                      <a:solidFill>
                        <a:srgbClr val="CFD8D2"/>
                      </a:solidFill>
                      <a:prstDash val="solid"/>
                    </a:lnL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동시 원본·대상 집합·revision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7343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DP4  앞서 정한 조건을 유지해 다른 Agent에게 이어 맡긴다</a:t>
                      </a:r>
                    </a:p>
                  </a:txBody>
                  <a:tcPr marL="95250" marR="95250" marT="76200" marB="76200">
                    <a:lnL w="9525">
                      <a:solidFill>
                        <a:srgbClr val="CFD8D2"/>
                      </a:solidFill>
                      <a:prstDash val="solid"/>
                    </a:lnL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기채택 조건과 상세 자료 읽기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93F0D8-48DF-4D72-AB6C-F44036BC3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953125"/>
            <a:ext cx="11315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rPr>
              <a:t>발표 설명 예시다. 새 측정 사례나 전체 VIA 시스템 완성 검증을 뜻하지 않는다.</a:t>
            </a:r>
          </a:p>
        </p:txBody>
      </p:sp>
    </p:spTree>
    <p:extLst>
      <p:ext uri="{BB962C8B-B14F-4D97-AF65-F5344CB8AC3E}">
        <p14:creationId xmlns:p14="http://schemas.microsoft.com/office/powerpoint/2010/main" val="60280978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F6E846-86CE-4468-A8AE-155A6CFC0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11353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DP1–4의 기존 QA 비교 계약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A31059-83CE-4425-96E0-4D649B7A0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000125"/>
            <a:ext cx="11353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7C5B"/>
          </a:solidFill>
          <a:ln xmlns:a="http://schemas.openxmlformats.org/drawingml/2006/main" w="0">
            <a:solidFill>
              <a:srgbClr val="387C5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D1D431-D883-4F77-8BF6-6FDD427E9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5FC800-6CC9-4A17-BD41-7132C2F8F611}"/>
              </a:ext>
            </a:extLst>
          </p:cNvPr>
          <p:cNvGraphicFramePr/>
          <p:nvPr/>
        </p:nvGraphicFramePr>
        <p:xfrm>
          <a:off xmlns:a="http://schemas.openxmlformats.org/drawingml/2006/main" x="438150" y="1381125"/>
          <a:ext xmlns:a="http://schemas.openxmlformats.org/drawingml/2006/main" cx="1131570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04875"/>
                <a:gridCol w="2857500"/>
                <a:gridCol w="7553325"/>
              </a:tblGrid>
              <a:tr h="598714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순서</a:t>
                      </a:r>
                    </a:p>
                  </a:txBody>
                  <a:tcPr marL="95250" marR="95250" marT="76200" marB="76200">
                    <a:lnL w="9525">
                      <a:solidFill>
                        <a:srgbClr val="CFD8D2"/>
                      </a:solidFill>
                      <a:prstDash val="solid"/>
                    </a:lnL>
                    <a:lnR w="9525">
                      <a:solidFill>
                        <a:srgbClr val="CFD8D2"/>
                      </a:solidFill>
                      <a:prstDash val="solid"/>
                    </a:lnR>
                    <a:lnT w="9525">
                      <a:solidFill>
                        <a:srgbClr val="CFD8D2"/>
                      </a:solidFill>
                      <a:prstDash val="solid"/>
                    </a:lnT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C9DEB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QA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T w="9525">
                      <a:solidFill>
                        <a:srgbClr val="CFD8D2"/>
                      </a:solidFill>
                      <a:prstDash val="solid"/>
                    </a:lnT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C9DEB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이번 PoC의 관찰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T w="9525">
                      <a:solidFill>
                        <a:srgbClr val="CFD8D2"/>
                      </a:solidFill>
                      <a:prstDash val="solid"/>
                    </a:lnT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C9DEB1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</a:t>
                      </a:r>
                    </a:p>
                  </a:txBody>
                  <a:tcPr marL="95250" marR="95250" marT="76200" marB="76200">
                    <a:lnL w="9525">
                      <a:solidFill>
                        <a:srgbClr val="CFD8D2"/>
                      </a:solidFill>
                      <a:prstDash val="solid"/>
                    </a:lnL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첫 응답 지연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채택한 구체적 내용의 실제 출력 callback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</a:t>
                      </a:r>
                    </a:p>
                  </a:txBody>
                  <a:tcPr marL="95250" marR="95250" marT="76200" marB="76200">
                    <a:lnL w="9525">
                      <a:solidFill>
                        <a:srgbClr val="CFD8D2"/>
                      </a:solidFill>
                      <a:prstDash val="solid"/>
                    </a:lnL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지칭 집합 정확도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대상 집합과 의미 있는 현재 revision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3</a:t>
                      </a:r>
                    </a:p>
                  </a:txBody>
                  <a:tcPr marL="95250" marR="95250" marT="76200" marB="76200">
                    <a:lnL w="9525">
                      <a:solidFill>
                        <a:srgbClr val="CFD8D2"/>
                      </a:solidFill>
                      <a:prstDash val="solid"/>
                    </a:lnL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VIA 처리시간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목표 완료까지 VIA 시간과 별도 전체 경과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4</a:t>
                      </a:r>
                    </a:p>
                  </a:txBody>
                  <a:tcPr marL="95250" marR="95250" marT="76200" marB="76200">
                    <a:lnL w="9525">
                      <a:solidFill>
                        <a:srgbClr val="CFD8D2"/>
                      </a:solidFill>
                      <a:prstDash val="solid"/>
                    </a:lnL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변경 범위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같은 네 변경 과제의 실제 Rust 모듈 수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5</a:t>
                      </a:r>
                    </a:p>
                  </a:txBody>
                  <a:tcPr marL="95250" marR="95250" marT="76200" marB="76200">
                    <a:lnL w="9525">
                      <a:solidFill>
                        <a:srgbClr val="CFD8D2"/>
                      </a:solidFill>
                      <a:prstDash val="solid"/>
                    </a:lnL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모델 비용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준비·실패·수신자를 포함한 실제 사용량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6</a:t>
                      </a:r>
                    </a:p>
                  </a:txBody>
                  <a:tcPr marL="95250" marR="95250" marT="76200" marB="76200">
                    <a:lnL w="9525">
                      <a:solidFill>
                        <a:srgbClr val="CFD8D2"/>
                      </a:solidFill>
                      <a:prstDash val="solid"/>
                    </a:lnL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로컬 메모리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같은 시각 Python+Rust RSS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DB3712-E1C4-4160-AAD8-8EBB9102B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953125"/>
            <a:ext cx="11315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rPr>
              <a:t>구조적 동점은 다음 QA로 판단한다. 미확정과 미관측은 동점으로 바꾸지 않는다.</a:t>
            </a:r>
          </a:p>
        </p:txBody>
      </p:sp>
    </p:spTree>
    <p:extLst>
      <p:ext uri="{BB962C8B-B14F-4D97-AF65-F5344CB8AC3E}">
        <p14:creationId xmlns:p14="http://schemas.microsoft.com/office/powerpoint/2010/main" val="997020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F33B9CF-CFC4-49F6-9052-5B37E39E5DD7}"/>
              </a:ext>
            </a:extLst>
          </p:cNvPr>
          <p:cNvCxnSpPr>
            <a:stCxn xmlns:a="http://schemas.openxmlformats.org/drawingml/2006/main" id="31" idx="3"/>
            <a:endCxn xmlns:a="http://schemas.openxmlformats.org/drawingml/2006/main" id="30" idx="3"/>
          </p:cNvCxnSpPr>
          <p:nvPr/>
        </p:nvCxnSpPr>
        <p:spPr>
          <a:xfrm xmlns:a="http://schemas.openxmlformats.org/drawingml/2006/main" flipH="1" flipV="1">
            <a:off x="10372725" y="4324350"/>
            <a:ext cx="47625" cy="738188"/>
          </a:xfrm>
          <a:prstGeom xmlns:a="http://schemas.openxmlformats.org/drawingml/2006/main" prst="bentConnector2">
            <a:avLst/>
          </a:prstGeom>
          <a:ln xmlns:a="http://schemas.openxmlformats.org/drawingml/2006/main" w="14288">
            <a:solidFill>
              <a:srgbClr val="202720"/>
            </a:solidFill>
            <a:prstDash val="dash"/>
            <a:tailEnd type="arrow" w="med" len="med"/>
          </a:ln>
        </p:spPr>
      </p:cxnSp>
      <p:cxnSp>
        <p:nvCxn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0E6A6A3-65C9-49F7-B628-7C981E52E6B5}"/>
              </a:ext>
            </a:extLst>
          </p:cNvPr>
          <p:cNvCxnSpPr>
            <a:stCxn xmlns:a="http://schemas.openxmlformats.org/drawingml/2006/main" id="28" idx="2"/>
            <a:endCxn xmlns:a="http://schemas.openxmlformats.org/drawingml/2006/main" id="31" idx="0"/>
          </p:cNvCxnSpPr>
          <p:nvPr/>
        </p:nvCxnSpPr>
        <p:spPr>
          <a:xfrm xmlns:a="http://schemas.openxmlformats.org/drawingml/2006/main">
            <a:off x="8991600" y="3162300"/>
            <a:ext cx="0" cy="159067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02720"/>
            </a:solidFill>
            <a:prstDash val="solid"/>
            <a:tailEnd type="arrow" w="med" len="med"/>
          </a:ln>
        </p:spPr>
      </p:cxnSp>
      <p:cxnSp>
        <p:nvCxn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7343921-AF44-4B3D-AC9E-8FAD9301E8F4}"/>
              </a:ext>
            </a:extLst>
          </p:cNvPr>
          <p:cNvCxnSpPr>
            <a:stCxn xmlns:a="http://schemas.openxmlformats.org/drawingml/2006/main" id="30" idx="1"/>
            <a:endCxn xmlns:a="http://schemas.openxmlformats.org/drawingml/2006/main" id="28" idx="3"/>
          </p:cNvCxnSpPr>
          <p:nvPr/>
        </p:nvCxnSpPr>
        <p:spPr>
          <a:xfrm xmlns:a="http://schemas.openxmlformats.org/drawingml/2006/main" flipV="1">
            <a:off x="10372725" y="2867025"/>
            <a:ext cx="276225" cy="638175"/>
          </a:xfrm>
          <a:prstGeom xmlns:a="http://schemas.openxmlformats.org/drawingml/2006/main" prst="bentConnector4">
            <a:avLst/>
          </a:prstGeom>
          <a:ln xmlns:a="http://schemas.openxmlformats.org/drawingml/2006/main" w="14288">
            <a:solidFill>
              <a:srgbClr val="202720"/>
            </a:solidFill>
            <a:prstDash val="solid"/>
            <a:tailEnd type="arrow" w="med" len="med"/>
          </a:ln>
        </p:spPr>
      </p:cxnSp>
      <p:cxnSp>
        <p:nvCxn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EA4FCC0-F56C-46D2-B284-0CA768433042}"/>
              </a:ext>
            </a:extLst>
          </p:cNvPr>
          <p:cNvCxnSpPr>
            <a:stCxn xmlns:a="http://schemas.openxmlformats.org/drawingml/2006/main" id="29" idx="3"/>
            <a:endCxn xmlns:a="http://schemas.openxmlformats.org/drawingml/2006/main" id="30" idx="2"/>
          </p:cNvCxnSpPr>
          <p:nvPr/>
        </p:nvCxnSpPr>
        <p:spPr>
          <a:xfrm xmlns:a="http://schemas.openxmlformats.org/drawingml/2006/main">
            <a:off x="8677275" y="3914775"/>
            <a:ext cx="50482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02720"/>
            </a:solidFill>
            <a:prstDash val="solid"/>
            <a:tailEnd type="arrow" w="med" len="med"/>
          </a:ln>
        </p:spPr>
      </p:cxnSp>
      <p:cxnSp>
        <p:nvCxn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1C67EFF-3FC6-4F82-ABE3-658DF6A57460}"/>
              </a:ext>
            </a:extLst>
          </p:cNvPr>
          <p:cNvCxnSpPr>
            <a:stCxn xmlns:a="http://schemas.openxmlformats.org/drawingml/2006/main" id="28" idx="2"/>
            <a:endCxn xmlns:a="http://schemas.openxmlformats.org/drawingml/2006/main" id="29" idx="0"/>
          </p:cNvCxnSpPr>
          <p:nvPr/>
        </p:nvCxnSpPr>
        <p:spPr>
          <a:xfrm xmlns:a="http://schemas.openxmlformats.org/drawingml/2006/main" flipH="1">
            <a:off x="7510463" y="3162300"/>
            <a:ext cx="1481138" cy="3429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4288">
            <a:solidFill>
              <a:srgbClr val="202720"/>
            </a:solidFill>
            <a:prstDash val="solid"/>
            <a:tailEnd type="arrow" w="med" len="med"/>
          </a:ln>
        </p:spPr>
      </p:cxnSp>
      <p:cxnSp>
        <p:nvCxn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834F208-DF9F-48CC-A348-77C8120C9710}"/>
              </a:ext>
            </a:extLst>
          </p:cNvPr>
          <p:cNvCxnSpPr>
            <a:stCxn xmlns:a="http://schemas.openxmlformats.org/drawingml/2006/main" id="27" idx="2"/>
            <a:endCxn xmlns:a="http://schemas.openxmlformats.org/drawingml/2006/main" id="28" idx="0"/>
          </p:cNvCxnSpPr>
          <p:nvPr/>
        </p:nvCxnSpPr>
        <p:spPr>
          <a:xfrm xmlns:a="http://schemas.openxmlformats.org/drawingml/2006/main">
            <a:off x="8991600" y="2276475"/>
            <a:ext cx="0" cy="29527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02720"/>
            </a:solidFill>
            <a:prstDash val="solid"/>
            <a:tailEnd type="arrow" w="med" len="med"/>
          </a:ln>
        </p:spPr>
      </p:cxnSp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1BA77A5-7CFA-470D-8E4C-A3BA1A38879C}"/>
              </a:ext>
            </a:extLst>
          </p:cNvPr>
          <p:cNvCxnSpPr>
            <a:stCxn xmlns:a="http://schemas.openxmlformats.org/drawingml/2006/main" id="12" idx="1"/>
            <a:endCxn xmlns:a="http://schemas.openxmlformats.org/drawingml/2006/main" id="10" idx="3"/>
          </p:cNvCxnSpPr>
          <p:nvPr/>
        </p:nvCxnSpPr>
        <p:spPr>
          <a:xfrm xmlns:a="http://schemas.openxmlformats.org/drawingml/2006/main" flipH="1" flipV="1">
            <a:off x="1719263" y="4381500"/>
            <a:ext cx="52388" cy="681038"/>
          </a:xfrm>
          <a:prstGeom xmlns:a="http://schemas.openxmlformats.org/drawingml/2006/main" prst="bentConnector2">
            <a:avLst/>
          </a:prstGeom>
          <a:ln xmlns:a="http://schemas.openxmlformats.org/drawingml/2006/main" w="14288">
            <a:solidFill>
              <a:srgbClr val="202720"/>
            </a:solidFill>
            <a:prstDash val="solid"/>
            <a:tailEnd type="arrow" w="med" len="med"/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0243B3-7EFE-4A48-82CD-47971309659A}"/>
              </a:ext>
            </a:extLst>
          </p:cNvPr>
          <p:cNvCxnSpPr>
            <a:stCxn xmlns:a="http://schemas.openxmlformats.org/drawingml/2006/main" id="9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3200400" y="3162300"/>
            <a:ext cx="0" cy="159067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02720"/>
            </a:solidFill>
            <a:prstDash val="solid"/>
            <a:tailEnd type="arrow" w="med" len="med"/>
          </a:ln>
        </p:spPr>
      </p:cxn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F9411A-6161-441B-82FE-FAD384CAEFAA}"/>
              </a:ext>
            </a:extLst>
          </p:cNvPr>
          <p:cNvCxnSpPr>
            <a:stCxn xmlns:a="http://schemas.openxmlformats.org/drawingml/2006/main" id="11" idx="1"/>
            <a:endCxn xmlns:a="http://schemas.openxmlformats.org/drawingml/2006/main" id="9" idx="3"/>
          </p:cNvCxnSpPr>
          <p:nvPr/>
        </p:nvCxnSpPr>
        <p:spPr>
          <a:xfrm xmlns:a="http://schemas.openxmlformats.org/drawingml/2006/main" flipV="1">
            <a:off x="3162300" y="2867025"/>
            <a:ext cx="2724150" cy="1571625"/>
          </a:xfrm>
          <a:prstGeom xmlns:a="http://schemas.openxmlformats.org/drawingml/2006/main" prst="bentConnector4">
            <a:avLst/>
          </a:prstGeom>
          <a:ln xmlns:a="http://schemas.openxmlformats.org/drawingml/2006/main" w="14288">
            <a:solidFill>
              <a:srgbClr val="202720"/>
            </a:solidFill>
            <a:prstDash val="dash"/>
            <a:tailEnd type="arrow" w="med" len="med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F77108-E90B-472A-B492-8DC6F3A521D7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1" idx="0"/>
          </p:cNvCxnSpPr>
          <p:nvPr/>
        </p:nvCxnSpPr>
        <p:spPr>
          <a:xfrm xmlns:a="http://schemas.openxmlformats.org/drawingml/2006/main" flipH="1">
            <a:off x="4581525" y="2867025"/>
            <a:ext cx="47625" cy="638175"/>
          </a:xfrm>
          <a:prstGeom xmlns:a="http://schemas.openxmlformats.org/drawingml/2006/main" prst="bentConnector2">
            <a:avLst/>
          </a:prstGeom>
          <a:ln xmlns:a="http://schemas.openxmlformats.org/drawingml/2006/main" w="14288">
            <a:solidFill>
              <a:srgbClr val="202720"/>
            </a:solidFill>
            <a:prstDash val="dash"/>
            <a:tailEnd type="arrow" w="med" len="med"/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991E1D-0F03-4C46-B3F0-9C99C4315404}"/>
              </a:ext>
            </a:extLst>
          </p:cNvPr>
          <p:cNvCxnSpPr>
            <a:stCxn xmlns:a="http://schemas.openxmlformats.org/drawingml/2006/main" id="10" idx="4"/>
            <a:endCxn xmlns:a="http://schemas.openxmlformats.org/drawingml/2006/main" id="9" idx="1"/>
          </p:cNvCxnSpPr>
          <p:nvPr/>
        </p:nvCxnSpPr>
        <p:spPr>
          <a:xfrm xmlns:a="http://schemas.openxmlformats.org/drawingml/2006/main" flipH="1" flipV="1">
            <a:off x="1771650" y="2867025"/>
            <a:ext cx="1114425" cy="10763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4288">
            <a:solidFill>
              <a:srgbClr val="202720"/>
            </a:solidFill>
            <a:prstDash val="solid"/>
            <a:tailEnd type="arrow" w="med" len="med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46A78F-CA74-491E-80D1-AC6124F24FC9}"/>
              </a:ext>
            </a:extLst>
          </p:cNvPr>
          <p:cNvCxnSpPr>
            <a:stCxn xmlns:a="http://schemas.openxmlformats.org/drawingml/2006/main" id="9" idx="1"/>
            <a:endCxn xmlns:a="http://schemas.openxmlformats.org/drawingml/2006/main" id="10" idx="1"/>
          </p:cNvCxnSpPr>
          <p:nvPr/>
        </p:nvCxnSpPr>
        <p:spPr>
          <a:xfrm xmlns:a="http://schemas.openxmlformats.org/drawingml/2006/main" flipH="1">
            <a:off x="1719263" y="2867025"/>
            <a:ext cx="52388" cy="638175"/>
          </a:xfrm>
          <a:prstGeom xmlns:a="http://schemas.openxmlformats.org/drawingml/2006/main" prst="bentConnector2">
            <a:avLst/>
          </a:prstGeom>
          <a:ln xmlns:a="http://schemas.openxmlformats.org/drawingml/2006/main" w="14288">
            <a:solidFill>
              <a:srgbClr val="202720"/>
            </a:solidFill>
            <a:prstDash val="solid"/>
            <a:tailEnd type="arrow" w="med" len="me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25ADE7-7C73-4BEE-B564-AB288D90D6B9}"/>
              </a:ext>
            </a:extLst>
          </p:cNvPr>
          <p:cNvCxnSpPr>
            <a:stCxn xmlns:a="http://schemas.openxmlformats.org/drawingml/2006/main" id="8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3200400" y="2276475"/>
            <a:ext cx="0" cy="29527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02720"/>
            </a:solidFill>
            <a:prstDash val="solid"/>
            <a:tailEnd type="arrow" w="med" len="med"/>
          </a:ln>
        </p:spPr>
      </p:cxn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D5D3E96-F79E-4122-899A-33C027FF3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11353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DP1 기본안: 현재 요청의 근거 공급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1BA16C-6BC7-4E37-B0E4-A4E30D36C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000125"/>
            <a:ext cx="11353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7C5B"/>
          </a:solidFill>
          <a:ln xmlns:a="http://schemas.openxmlformats.org/drawingml/2006/main" w="0">
            <a:solidFill>
              <a:srgbClr val="387C5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9CF0A8-730A-4C20-AD0A-E385C1779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57ADCA-9908-4DDE-B9C8-A0AC0264C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266825"/>
            <a:ext cx="55245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EB1"/>
          </a:solidFill>
          <a:ln xmlns:a="http://schemas.openxmlformats.org/drawingml/2006/main" w="9525">
            <a:solidFill>
              <a:srgbClr val="A7B7A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D71221-D719-47AE-B79A-9FA4D74C2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9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9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9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9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9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9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9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9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9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A  대화 작업 문맥 유지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819002-3F9A-4980-BC3B-AB21E4905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266825"/>
            <a:ext cx="55245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EB1"/>
          </a:solidFill>
          <a:ln xmlns:a="http://schemas.openxmlformats.org/drawingml/2006/main" w="9525">
            <a:solidFill>
              <a:srgbClr val="A7B7A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F7A00B-2FB1-4052-BDA1-1681CBEDE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35255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9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9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9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9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9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9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9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9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9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B  요청별 원본 구성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D2C624-156B-458D-8F56-450DA549F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857375"/>
            <a:ext cx="5238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DE"/>
          </a:solidFill>
          <a:ln xmlns:a="http://schemas.openxmlformats.org/drawingml/2006/main" w="9525">
            <a:solidFill>
              <a:srgbClr val="202720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1  새 입력 + 최소 공통 상태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A4B087-F002-49BE-BECF-0F7CB5973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571750"/>
            <a:ext cx="2857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DE"/>
          </a:solidFill>
          <a:ln xmlns:a="http://schemas.openxmlformats.org/drawingml/2006/main" w="9525">
            <a:solidFill>
              <a:srgbClr val="202720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Request Interpreter</a:t>
            </a:r>
          </a:p>
          <a:p xmlns:a="http://schemas.openxmlformats.org/drawingml/2006/main">
            <a: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의미 판단·부족 범위 결정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88877C-8CF0-45F9-9989-47B21A3B1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05200"/>
            <a:ext cx="2333625" cy="876300"/>
          </a:xfrm>
          <a:prstGeom xmlns:a="http://schemas.openxmlformats.org/drawingml/2006/main" prst="can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02720"/>
            </a:solidFill>
            <a:prstDash val="solid"/>
          </a:ln>
        </p:spPr>
        <p:txBody>
          <a:bodyPr xmlns:a="http://schemas.openxmlformats.org/drawingml/2006/main" lIns="47625" tIns="76200" rIns="47625" bIns="76200" anchor="ctr"/>
          <a:lstStyle xmlns:a="http://schemas.openxmlformats.org/drawingml/2006/main">
            <a:def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Context Manager</a:t>
            </a:r>
          </a:p>
          <a:p xmlns:a="http://schemas.openxmlformats.org/drawingml/2006/main">
            <a: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작업 문맥</a:t>
            </a:r>
          </a:p>
          <a:p xmlns:a="http://schemas.openxmlformats.org/drawingml/2006/main">
            <a: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발췌·출처·revision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AE42DE-3B07-4EAB-A5B4-EBDCB8D16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505200"/>
            <a:ext cx="2381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DE"/>
          </a:solidFill>
          <a:ln xmlns:a="http://schemas.openxmlformats.org/drawingml/2006/main" w="9525">
            <a:solidFill>
              <a:srgbClr val="202720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원본 read port</a:t>
            </a:r>
          </a:p>
          <a:p xmlns:a="http://schemas.openxmlformats.org/drawingml/2006/main">
            <a: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현재 권한·허용 범위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DC297F-BB0B-4B4A-BF00-640135DCD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752975"/>
            <a:ext cx="28575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DE"/>
          </a:solidFill>
          <a:ln xmlns:a="http://schemas.openxmlformats.org/drawingml/2006/main" w="9525">
            <a:solidFill>
              <a:srgbClr val="202720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Request Controller</a:t>
            </a:r>
          </a:p>
          <a:p xmlns:a="http://schemas.openxmlformats.org/drawingml/2006/main">
            <a: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현재 revision 채택·실제 표시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DC64B6-D1AA-400E-852A-BE1912411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3209925"/>
            <a:ext cx="19050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FD78D0-416A-4325-9D7C-D57288691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3209925"/>
            <a:ext cx="190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2  유효 근거 재사용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01B5DD-31FB-4E14-9034-4F75E7786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20992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CB8C2B-0614-4CDA-90C4-964D8D43D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209925"/>
            <a:ext cx="2000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3  부족한 범위만 읽기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8401EAD-427A-46CE-B1DA-6E3FD1082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4457700"/>
            <a:ext cx="19050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DA46171-E58C-40D3-BCB9-A1EC1DE5C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4457700"/>
            <a:ext cx="190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4  유효 원문 유지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2C763C2-750D-4D7E-A52D-2524960ED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810250"/>
            <a:ext cx="5524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rPr>
              <a:t>QA03/05 후속 조합 호출 절약</a:t>
            </a:r>
          </a:p>
          <a:p xmlns:a="http://schemas.openxmlformats.org/drawingml/2006/main">
            <a: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rPr>
              <a:t>QA05/06 보존 원문의 재입력·갱신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6B0BB91-A20E-428E-B665-B591E03D5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1857375"/>
            <a:ext cx="5238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DE"/>
          </a:solidFill>
          <a:ln xmlns:a="http://schemas.openxmlformats.org/drawingml/2006/main" w="9525">
            <a:solidFill>
              <a:srgbClr val="202720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1  새 입력 + 최소 공통 상태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344D9CF-15F0-4A08-B41B-FBE95E5D4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571750"/>
            <a:ext cx="2857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DE"/>
          </a:solidFill>
          <a:ln xmlns:a="http://schemas.openxmlformats.org/drawingml/2006/main" w="9525">
            <a:solidFill>
              <a:srgbClr val="202720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Request Interpreter</a:t>
            </a:r>
          </a:p>
          <a:p xmlns:a="http://schemas.openxmlformats.org/drawingml/2006/main">
            <a: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이번 요청의 근거 선택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596EEFD-C2F4-4258-822F-5511397E5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505200"/>
            <a:ext cx="2333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DE"/>
          </a:solidFill>
          <a:ln xmlns:a="http://schemas.openxmlformats.org/drawingml/2006/main" w="9525">
            <a:solidFill>
              <a:srgbClr val="202720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Context Manager</a:t>
            </a:r>
          </a:p>
          <a:p xmlns:a="http://schemas.openxmlformats.org/drawingml/2006/main">
            <a: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bounded 원본 읽기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C4F1AEB-9762-4B53-B238-49B03E398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505200"/>
            <a:ext cx="2381250" cy="819150"/>
          </a:xfrm>
          <a:prstGeom xmlns:a="http://schemas.openxmlformats.org/drawingml/2006/main" prst="can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02720"/>
            </a:solidFill>
            <a:prstDash val="solid"/>
          </a:ln>
        </p:spPr>
        <p:txBody>
          <a:bodyPr xmlns:a="http://schemas.openxmlformats.org/drawingml/2006/main" lIns="47625" tIns="76200" rIns="47625" bIns="76200" anchor="ctr"/>
          <a:lstStyle xmlns:a="http://schemas.openxmlformats.org/drawingml/2006/main">
            <a:def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요청 EvidenceBundle</a:t>
            </a:r>
          </a:p>
          <a:p xmlns:a="http://schemas.openxmlformats.org/drawingml/2006/main">
            <a: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현재 발췌·출처·coverage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F3E0DE6-9362-4BA2-9D4D-46E8BE174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752975"/>
            <a:ext cx="28575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DE"/>
          </a:solidFill>
          <a:ln xmlns:a="http://schemas.openxmlformats.org/drawingml/2006/main" w="9525">
            <a:solidFill>
              <a:srgbClr val="202720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Request Controller</a:t>
            </a:r>
          </a:p>
          <a:p xmlns:a="http://schemas.openxmlformats.org/drawingml/2006/main">
            <a: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현재 의미 채택·실제 표시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41A69D4-A481-430C-81A9-B64ABE6F8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3248025"/>
            <a:ext cx="19050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F749CFF-5953-411B-A641-D701E2F4A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3248025"/>
            <a:ext cx="190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2  요청 묶음 구성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E31A097-AF69-4BB8-93DD-A49CAA0D4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4457700"/>
            <a:ext cx="19050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963D965-F446-4025-8FAB-6CA3B9BAE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4457700"/>
            <a:ext cx="190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3  종료 후 해제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57C6525-7A35-4FB9-B1BD-0B4B62F91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810250"/>
            <a:ext cx="5524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rPr>
              <a:t>QA05 필요한 범위만 요청 시 구성</a:t>
            </a:r>
          </a:p>
          <a:p xmlns:a="http://schemas.openxmlformats.org/drawingml/2006/main">
            <a: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rPr>
              <a:t>QA03/05 후속 질의에서 재조회·조합</a:t>
            </a:r>
          </a:p>
        </p:txBody>
      </p:sp>
    </p:spTree>
    <p:extLst>
      <p:ext uri="{BB962C8B-B14F-4D97-AF65-F5344CB8AC3E}">
        <p14:creationId xmlns:p14="http://schemas.microsoft.com/office/powerpoint/2010/main" val="62873626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A415B7-D75A-4FC8-B007-4E816FF5C6EF}"/>
              </a:ext>
            </a:extLst>
          </p:cNvPr>
          <p:cNvCxnSpPr>
            <a:stCxn xmlns:a="http://schemas.openxmlformats.org/drawingml/2006/main" id="11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4152900" y="5419725"/>
            <a:ext cx="0" cy="3619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02720"/>
            </a:solidFill>
            <a:prstDash val="solid"/>
            <a:tailEnd type="arrow" w="med" len="med"/>
          </a:ln>
        </p:spPr>
      </p:cxn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81B9D3-289C-40F1-B4F6-253C453BF861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8" idx="3"/>
          </p:cNvCxnSpPr>
          <p:nvPr/>
        </p:nvCxnSpPr>
        <p:spPr>
          <a:xfrm xmlns:a="http://schemas.openxmlformats.org/drawingml/2006/main" flipV="1">
            <a:off x="6010275" y="2952750"/>
            <a:ext cx="1866900" cy="2171700"/>
          </a:xfrm>
          <a:prstGeom xmlns:a="http://schemas.openxmlformats.org/drawingml/2006/main" prst="bentConnector4">
            <a:avLst/>
          </a:prstGeom>
          <a:ln xmlns:a="http://schemas.openxmlformats.org/drawingml/2006/main" w="14288">
            <a:solidFill>
              <a:srgbClr val="202720"/>
            </a:solidFill>
            <a:prstDash val="dash"/>
            <a:tailEnd type="arrow" w="med" len="med"/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C6328C-207F-4E32-983E-7ECB2FEFBA1A}"/>
              </a:ext>
            </a:extLst>
          </p:cNvPr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 flipH="1">
            <a:off x="4152900" y="4276725"/>
            <a:ext cx="1952625" cy="5524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4288">
            <a:solidFill>
              <a:srgbClr val="202720"/>
            </a:solidFill>
            <a:prstDash val="solid"/>
            <a:tailEnd type="arrow" w="med" len="med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0CFFDC-F52C-4EA6-90A2-517F900A6C52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2200275" y="4448175"/>
            <a:ext cx="1952625" cy="3810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4288">
            <a:solidFill>
              <a:srgbClr val="202720"/>
            </a:solidFill>
            <a:prstDash val="solid"/>
            <a:tailEnd type="arrow" w="med" len="med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63C840-0FE6-4F79-8FB8-5F890601EE5D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2200275" y="3267075"/>
            <a:ext cx="0" cy="4000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02720"/>
            </a:solidFill>
            <a:prstDash val="solid"/>
            <a:tailEnd type="arrow" w="med" len="med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C8B09E-53B5-407D-9F1C-45CB265C21C2}"/>
              </a:ext>
            </a:extLst>
          </p:cNvPr>
          <p:cNvCxnSpPr>
            <a:stCxn xmlns:a="http://schemas.openxmlformats.org/drawingml/2006/main" id="8" idx="1"/>
            <a:endCxn xmlns:a="http://schemas.openxmlformats.org/drawingml/2006/main" id="7" idx="3"/>
          </p:cNvCxnSpPr>
          <p:nvPr/>
        </p:nvCxnSpPr>
        <p:spPr>
          <a:xfrm xmlns:a="http://schemas.openxmlformats.org/drawingml/2006/main" flipH="1">
            <a:off x="3676650" y="2952750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02720"/>
            </a:solidFill>
            <a:prstDash val="solid"/>
            <a:tailEnd type="arrow" w="med" len="me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BF1613-9DFF-44A6-9A6A-60CA099D92B4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 flipH="1">
            <a:off x="2200275" y="2276475"/>
            <a:ext cx="1952625" cy="3619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4288">
            <a:solidFill>
              <a:srgbClr val="202720"/>
            </a:solidFill>
            <a:prstDash val="solid"/>
            <a:tailEnd type="arrow" w="med" len="med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C84D6F8-2E30-41D3-960F-6ADDEE104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11353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DP1 C: 별도 생산과 게시 근거 조회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5A3EBA-6EEB-49F9-9831-04E28D9FC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000125"/>
            <a:ext cx="11353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7C5B"/>
          </a:solidFill>
          <a:ln xmlns:a="http://schemas.openxmlformats.org/drawingml/2006/main" w="0">
            <a:solidFill>
              <a:srgbClr val="387C5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052BD8-F306-4875-A43E-ED8EF2583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607782-1EFA-4B6A-832D-5BB4DB20D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266825"/>
            <a:ext cx="74295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EB1"/>
          </a:solidFill>
          <a:ln xmlns:a="http://schemas.openxmlformats.org/drawingml/2006/main" w="9525">
            <a:solidFill>
              <a:srgbClr val="A7B7A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43904E-B5AF-42EF-975A-B80389FD4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9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9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9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9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9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9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9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9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9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C  게시 근거 조회와 부족한 원본 보완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8C9BB9-FDDA-4273-A0FB-1F48CFF05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857375"/>
            <a:ext cx="7143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DE"/>
          </a:solidFill>
          <a:ln xmlns:a="http://schemas.openxmlformats.org/drawingml/2006/main" w="9525">
            <a:solidFill>
              <a:srgbClr val="202720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1  실제 공개 원본·정정 사건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5751E9-9145-48DE-AE85-1D5D2EF1E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38425"/>
            <a:ext cx="2952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DE"/>
          </a:solidFill>
          <a:ln xmlns:a="http://schemas.openxmlformats.org/drawingml/2006/main" w="9525">
            <a:solidFill>
              <a:srgbClr val="202720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Evidence Producer</a:t>
            </a:r>
          </a:p>
          <a:p xmlns:a="http://schemas.openxmlformats.org/drawingml/2006/main">
            <a: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관계·coverage·source revision 생산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BA25AD-CDB4-4959-B88F-CF926B674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638425"/>
            <a:ext cx="2952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DE"/>
          </a:solidFill>
          <a:ln xmlns:a="http://schemas.openxmlformats.org/drawingml/2006/main" w="9525">
            <a:solidFill>
              <a:srgbClr val="202720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원본 read port</a:t>
            </a:r>
          </a:p>
          <a:p xmlns:a="http://schemas.openxmlformats.org/drawingml/2006/main">
            <a: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현재 권한·허용 범위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CC72E5-5B1C-49AC-9F0E-F34F9BA9C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67125"/>
            <a:ext cx="2952750" cy="781050"/>
          </a:xfrm>
          <a:prstGeom xmlns:a="http://schemas.openxmlformats.org/drawingml/2006/main" prst="can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02720"/>
            </a:solidFill>
            <a:prstDash val="solid"/>
          </a:ln>
        </p:spPr>
        <p:txBody>
          <a:bodyPr xmlns:a="http://schemas.openxmlformats.org/drawingml/2006/main" lIns="47625" tIns="76200" rIns="47625" bIns="76200" anchor="ctr"/>
          <a:lstStyle xmlns:a="http://schemas.openxmlformats.org/drawingml/2006/main">
            <a:def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게시 근거 저장소</a:t>
            </a:r>
          </a:p>
          <a:p xmlns:a="http://schemas.openxmlformats.org/drawingml/2006/main">
            <a: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발췌·관계·미해결 범위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E68B1A-695D-4466-8ED0-3B462F0A6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762375"/>
            <a:ext cx="2952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DE"/>
          </a:solidFill>
          <a:ln xmlns:a="http://schemas.openxmlformats.org/drawingml/2006/main" w="9525">
            <a:solidFill>
              <a:srgbClr val="202720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새 요청 + 최소 공통 상태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AEE66E-1EE3-42AB-9700-FDC6008C5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4829175"/>
            <a:ext cx="3714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DE"/>
          </a:solidFill>
          <a:ln xmlns:a="http://schemas.openxmlformats.org/drawingml/2006/main" w="9525">
            <a:solidFill>
              <a:srgbClr val="202720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Request Interpreter</a:t>
            </a:r>
          </a:p>
          <a:p xmlns:a="http://schemas.openxmlformats.org/drawingml/2006/main">
            <a: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유효 게시물 조회·부족 범위 결정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0A2A78-A755-45B9-A725-3FAB409A4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5781675"/>
            <a:ext cx="3714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DE"/>
          </a:solidFill>
          <a:ln xmlns:a="http://schemas.openxmlformats.org/drawingml/2006/main" w="9525">
            <a:solidFill>
              <a:srgbClr val="202720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현재성 gate·채택·실제 표시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FBF8E0-2F61-4A34-A56C-04F4D91FF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33750"/>
            <a:ext cx="24765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213EAF-E922-48E9-93BC-FA088AE4E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33750"/>
            <a:ext cx="2476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2  검증한 revision 게시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F284C0-555F-4D30-88E2-F687E6881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486275"/>
            <a:ext cx="28575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B0DA4B-847E-4CF2-A8F5-5BF3EC1F5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486275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3  미생산·오래된 범위 원본 보완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2B266E5-C031-4EB7-B7B3-5E14D9604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000250"/>
            <a:ext cx="3333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2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2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2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2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2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2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2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2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2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구조상 예상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091AE8B-AEF4-4970-BB5F-55167F406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571750"/>
            <a:ext cx="333375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rPr>
              <a:t>QA03</a:t>
            </a:r>
          </a:p>
          <a:p xmlns:a="http://schemas.openxmlformats.org/drawingml/2006/main">
            <a:pPr>
              <a:defRPr sz="18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rPr>
              <a:t>반복 관계·조합을 요청 전에 생산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rPr>
              <a:t>QA05/06</a:t>
            </a:r>
          </a:p>
          <a:p xmlns:a="http://schemas.openxmlformats.org/drawingml/2006/main">
            <a:pPr>
              <a:defRPr sz="18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rPr>
              <a:t>미소비 생산·갱신·게시 상태 부담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rPr>
              <a:t>유효한 원본 조회 경로는 유지</a:t>
            </a:r>
          </a:p>
        </p:txBody>
      </p:sp>
    </p:spTree>
    <p:extLst>
      <p:ext uri="{BB962C8B-B14F-4D97-AF65-F5344CB8AC3E}">
        <p14:creationId xmlns:p14="http://schemas.microsoft.com/office/powerpoint/2010/main" val="131780245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613D0C-9AB0-4ECE-9B74-BC7DBBD71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11353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DP1 실측: 재사용 이익과 첫 응답의 미확정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2B65FA-A887-466E-B0E0-FE3D957C9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000125"/>
            <a:ext cx="11353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7C5B"/>
          </a:solidFill>
          <a:ln xmlns:a="http://schemas.openxmlformats.org/drawingml/2006/main" w="0">
            <a:solidFill>
              <a:srgbClr val="387C5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A57F83-A480-4291-A57A-E354E7AA2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rPr>
              <a:t>06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B0368D-A89B-42E7-A7B5-9F9D7C18E14F}"/>
              </a:ext>
            </a:extLst>
          </p:cNvPr>
          <p:cNvGraphicFramePr/>
          <p:nvPr/>
        </p:nvGraphicFramePr>
        <p:xfrm>
          <a:off xmlns:a="http://schemas.openxmlformats.org/drawingml/2006/main" x="438150" y="1381125"/>
          <a:ext xmlns:a="http://schemas.openxmlformats.org/drawingml/2006/main" cx="11315700" cy="2190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47750"/>
                <a:gridCol w="2085975"/>
                <a:gridCol w="1047750"/>
                <a:gridCol w="2085975"/>
                <a:gridCol w="952500"/>
                <a:gridCol w="2238375"/>
                <a:gridCol w="1857375"/>
              </a:tblGrid>
              <a:tr h="54768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안</a:t>
                      </a:r>
                    </a:p>
                  </a:txBody>
                  <a:tcPr marL="95250" marR="95250" marT="76200" marB="76200">
                    <a:lnL w="9525">
                      <a:solidFill>
                        <a:srgbClr val="CFD8D2"/>
                      </a:solidFill>
                      <a:prstDash val="solid"/>
                    </a:lnL>
                    <a:lnR w="9525">
                      <a:solidFill>
                        <a:srgbClr val="CFD8D2"/>
                      </a:solidFill>
                      <a:prstDash val="solid"/>
                    </a:lnR>
                    <a:lnT w="9525">
                      <a:solidFill>
                        <a:srgbClr val="CFD8D2"/>
                      </a:solidFill>
                      <a:prstDash val="solid"/>
                    </a:lnT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C9DEB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QA01 초 / 관측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T w="9525">
                      <a:solidFill>
                        <a:srgbClr val="CFD8D2"/>
                      </a:solidFill>
                      <a:prstDash val="solid"/>
                    </a:lnT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C9DEB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QA02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T w="9525">
                      <a:solidFill>
                        <a:srgbClr val="CFD8D2"/>
                      </a:solidFill>
                      <a:prstDash val="solid"/>
                    </a:lnT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C9DEB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QA03 초 / 완료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T w="9525">
                      <a:solidFill>
                        <a:srgbClr val="CFD8D2"/>
                      </a:solidFill>
                      <a:prstDash val="solid"/>
                    </a:lnT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C9DEB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QA04 개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T w="9525">
                      <a:solidFill>
                        <a:srgbClr val="CFD8D2"/>
                      </a:solidFill>
                      <a:prstDash val="solid"/>
                    </a:lnT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C9DEB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QA05 USD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T w="9525">
                      <a:solidFill>
                        <a:srgbClr val="CFD8D2"/>
                      </a:solidFill>
                      <a:prstDash val="solid"/>
                    </a:lnT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C9DEB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QA06 MB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T w="9525">
                      <a:solidFill>
                        <a:srgbClr val="CFD8D2"/>
                      </a:solidFill>
                      <a:prstDash val="solid"/>
                    </a:lnT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C9DEB1"/>
                    </a:solidFill>
                  </a:tcPr>
                </a:tc>
              </a:tr>
              <a:tr h="54768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A</a:t>
                      </a:r>
                    </a:p>
                  </a:txBody>
                  <a:tcPr marL="95250" marR="95250" marT="76200" marB="76200">
                    <a:lnL w="9525">
                      <a:solidFill>
                        <a:srgbClr val="CFD8D2"/>
                      </a:solidFill>
                      <a:prstDash val="solid"/>
                    </a:lnL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6.609  36/36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36/36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13.617  36/36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1.75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$0.0674956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44.253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768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B</a:t>
                      </a:r>
                    </a:p>
                  </a:txBody>
                  <a:tcPr marL="95250" marR="95250" marT="76200" marB="76200">
                    <a:lnL w="9525">
                      <a:solidFill>
                        <a:srgbClr val="CFD8D2"/>
                      </a:solidFill>
                      <a:prstDash val="solid"/>
                    </a:lnL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6.267  36/36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36/36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14.242  35/36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1.75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$0.0699160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45.318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</a:tr>
              <a:tr h="54768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C</a:t>
                      </a:r>
                    </a:p>
                  </a:txBody>
                  <a:tcPr marL="95250" marR="95250" marT="76200" marB="76200">
                    <a:lnL w="9525">
                      <a:solidFill>
                        <a:srgbClr val="CFD8D2"/>
                      </a:solidFill>
                      <a:prstDash val="solid"/>
                    </a:lnL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11.995  36/36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34/36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12.364  36/36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2.00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$0.1630788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50.364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7C5424-AE02-4E02-8C4F-EE4AB1C69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57625"/>
            <a:ext cx="112395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A/B의 첫 호출 위치는 같아도 유지 입력과 완성 답변 분기가 다르다.</a:t>
            </a:r>
          </a:p>
          <a:p xmlns:a="http://schemas.openxmlformats.org/drawingml/2006/main">
            <a: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342 ms 차이를 확정 우위나 구조적 동점으로 단정하지 않는다.</a:t>
            </a:r>
          </a:p>
          <a:p xmlns:a="http://schemas.openxmlformats.org/drawingml/2006/main">
            <a: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같은 완료 35개 목표 A 13.730초 / B 14.242초. A는 답변 호출 6회 절약.</a:t>
            </a:r>
          </a:p>
          <a:p xmlns:a="http://schemas.openxmlformats.org/drawingml/2006/main">
            <a: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C는 호스트 종료 36/36의 QA03 12.364초, 저자 본문 검토 34/36(A/B 30/36). 준비비용과 교환.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DEE985-45ED-4CBA-A70F-ABA6C9916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953125"/>
            <a:ext cx="11315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rPr>
              <a:t>완료는 호스트 종료 관측, 본문은 별도 저자 조건 검토다. QA01 callback proxy, QA03 조건부 평균. 비용은 12회 전체.</a:t>
            </a:r>
          </a:p>
        </p:txBody>
      </p:sp>
    </p:spTree>
    <p:extLst>
      <p:ext uri="{BB962C8B-B14F-4D97-AF65-F5344CB8AC3E}">
        <p14:creationId xmlns:p14="http://schemas.microsoft.com/office/powerpoint/2010/main" val="21498183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2BDA40-335C-4E03-9307-8F215FABA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11353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DP1 공통 첫 안내 분리: 빠른 채택과 추가 비용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F48CAB-E6A9-42F8-9E71-61285B555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000125"/>
            <a:ext cx="11353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7C5B"/>
          </a:solidFill>
          <a:ln xmlns:a="http://schemas.openxmlformats.org/drawingml/2006/main" w="0">
            <a:solidFill>
              <a:srgbClr val="387C5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AE4803-8063-4E44-B23B-6E9F94D68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rPr>
              <a:t>07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84186F-788C-4A80-B276-0A01AF964131}"/>
              </a:ext>
            </a:extLst>
          </p:cNvPr>
          <p:cNvGraphicFramePr/>
          <p:nvPr/>
        </p:nvGraphicFramePr>
        <p:xfrm>
          <a:off xmlns:a="http://schemas.openxmlformats.org/drawingml/2006/main" x="438150" y="1381125"/>
          <a:ext xmlns:a="http://schemas.openxmlformats.org/drawingml/2006/main" cx="11315700" cy="2524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19125"/>
                <a:gridCol w="1809750"/>
                <a:gridCol w="1238250"/>
                <a:gridCol w="1809750"/>
                <a:gridCol w="1000125"/>
                <a:gridCol w="2790825"/>
                <a:gridCol w="2047875"/>
              </a:tblGrid>
              <a:tr h="631031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안</a:t>
                      </a:r>
                    </a:p>
                  </a:txBody>
                  <a:tcPr marL="95250" marR="95250" marT="76200" marB="76200">
                    <a:lnL w="9525">
                      <a:solidFill>
                        <a:srgbClr val="CFD8D2"/>
                      </a:solidFill>
                      <a:prstDash val="solid"/>
                    </a:lnL>
                    <a:lnR w="9525">
                      <a:solidFill>
                        <a:srgbClr val="CFD8D2"/>
                      </a:solidFill>
                      <a:prstDash val="solid"/>
                    </a:lnR>
                    <a:lnT w="9525">
                      <a:solidFill>
                        <a:srgbClr val="CFD8D2"/>
                      </a:solidFill>
                      <a:prstDash val="solid"/>
                    </a:lnT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C9DEB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QA01 초 전 → 후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T w="9525">
                      <a:solidFill>
                        <a:srgbClr val="CFD8D2"/>
                      </a:solidFill>
                      <a:prstDash val="solid"/>
                    </a:lnT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C9DEB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QA02 집합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T w="9525">
                      <a:solidFill>
                        <a:srgbClr val="CFD8D2"/>
                      </a:solidFill>
                      <a:prstDash val="solid"/>
                    </a:lnT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C9DEB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QA03 초 전 → 후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T w="9525">
                      <a:solidFill>
                        <a:srgbClr val="CFD8D2"/>
                      </a:solidFill>
                      <a:prstDash val="solid"/>
                    </a:lnT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C9DEB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QA04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T w="9525">
                      <a:solidFill>
                        <a:srgbClr val="CFD8D2"/>
                      </a:solidFill>
                      <a:prstDash val="solid"/>
                    </a:lnT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C9DEB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QA05 USD 전 → 후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T w="9525">
                      <a:solidFill>
                        <a:srgbClr val="CFD8D2"/>
                      </a:solidFill>
                      <a:prstDash val="solid"/>
                    </a:lnT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C9DEB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QA06 MB 전 → 후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T w="9525">
                      <a:solidFill>
                        <a:srgbClr val="CFD8D2"/>
                      </a:solidFill>
                      <a:prstDash val="solid"/>
                    </a:lnT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C9DEB1"/>
                    </a:solidFill>
                  </a:tcPr>
                </a:tc>
              </a:tr>
              <a:tr h="631031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A</a:t>
                      </a:r>
                    </a:p>
                  </a:txBody>
                  <a:tcPr marL="95250" marR="95250" marT="76200" marB="76200">
                    <a:lnL w="9525">
                      <a:solidFill>
                        <a:srgbClr val="CFD8D2"/>
                      </a:solidFill>
                      <a:prstDash val="solid"/>
                    </a:lnL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7.092 →</a:t>
                      </a:r>
                      <a:r>
                        <a:rPr sz="1575" b="1">
                          <a:solidFill>
                            <a:srgbClr val="186FC1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 1.905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6/6 →</a:t>
                      </a:r>
                      <a:r>
                        <a:rPr sz="1575" b="1">
                          <a:solidFill>
                            <a:srgbClr val="186FC1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 6/6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21.508 →</a:t>
                      </a:r>
                      <a:r>
                        <a:rPr sz="1575" b="1">
                          <a:solidFill>
                            <a:srgbClr val="186FC1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 23.118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미측정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$0.0146552</a:t>
                      </a:r>
                      <a:br>
                        <a:rPr sz="157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</a:br>
                      <a:r>
                        <a:rPr sz="157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→</a:t>
                      </a:r>
                      <a:r>
                        <a:rPr sz="1575" b="1">
                          <a:solidFill>
                            <a:srgbClr val="186FC1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 $0.0157364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41.189</a:t>
                      </a:r>
                      <a:br>
                        <a:rPr sz="157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</a:br>
                      <a:r>
                        <a:rPr sz="157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→</a:t>
                      </a:r>
                      <a:r>
                        <a:rPr sz="1575" b="1">
                          <a:solidFill>
                            <a:srgbClr val="186FC1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 40.124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1031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B</a:t>
                      </a:r>
                    </a:p>
                  </a:txBody>
                  <a:tcPr marL="95250" marR="95250" marT="76200" marB="76200">
                    <a:lnL w="9525">
                      <a:solidFill>
                        <a:srgbClr val="CFD8D2"/>
                      </a:solidFill>
                      <a:prstDash val="solid"/>
                    </a:lnL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6.724 →</a:t>
                      </a:r>
                      <a:r>
                        <a:rPr sz="1575" b="1">
                          <a:solidFill>
                            <a:srgbClr val="186FC1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 1.829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6/6 →</a:t>
                      </a:r>
                      <a:r>
                        <a:rPr sz="1575" b="1">
                          <a:solidFill>
                            <a:srgbClr val="186FC1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 6/6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22.172 →</a:t>
                      </a:r>
                      <a:r>
                        <a:rPr sz="1575" b="1">
                          <a:solidFill>
                            <a:srgbClr val="186FC1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 23.422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미측정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$0.0150744</a:t>
                      </a:r>
                      <a:br>
                        <a:rPr sz="157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</a:br>
                      <a:r>
                        <a:rPr sz="157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→</a:t>
                      </a:r>
                      <a:r>
                        <a:rPr sz="1575" b="1">
                          <a:solidFill>
                            <a:srgbClr val="186FC1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 $0.0159652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39.993</a:t>
                      </a:r>
                      <a:br>
                        <a:rPr sz="157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</a:br>
                      <a:r>
                        <a:rPr sz="157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→</a:t>
                      </a:r>
                      <a:r>
                        <a:rPr sz="1575" b="1">
                          <a:solidFill>
                            <a:srgbClr val="186FC1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 40.157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</a:tr>
              <a:tr h="631031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C</a:t>
                      </a:r>
                    </a:p>
                  </a:txBody>
                  <a:tcPr marL="95250" marR="95250" marT="76200" marB="76200">
                    <a:lnL w="9525">
                      <a:solidFill>
                        <a:srgbClr val="CFD8D2"/>
                      </a:solidFill>
                      <a:prstDash val="solid"/>
                    </a:lnL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17.730 →</a:t>
                      </a:r>
                      <a:r>
                        <a:rPr sz="1575" b="1">
                          <a:solidFill>
                            <a:srgbClr val="186FC1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 2.322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6/6 →</a:t>
                      </a:r>
                      <a:r>
                        <a:rPr sz="1575" b="1">
                          <a:solidFill>
                            <a:srgbClr val="186FC1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 6/6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17.731 →</a:t>
                      </a:r>
                      <a:r>
                        <a:rPr sz="1575" b="1">
                          <a:solidFill>
                            <a:srgbClr val="186FC1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 20.350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미측정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$0.0348104</a:t>
                      </a:r>
                      <a:br>
                        <a:rPr sz="157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</a:br>
                      <a:r>
                        <a:rPr sz="157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→</a:t>
                      </a:r>
                      <a:r>
                        <a:rPr sz="1575" b="1">
                          <a:solidFill>
                            <a:srgbClr val="186FC1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 $0.0426752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42.254</a:t>
                      </a:r>
                      <a:br>
                        <a:rPr sz="157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</a:br>
                      <a:r>
                        <a:rPr sz="157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→</a:t>
                      </a:r>
                      <a:r>
                        <a:rPr sz="1575" b="1">
                          <a:solidFill>
                            <a:srgbClr val="186FC1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 43.074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569218-F297-46CC-A95C-8CD22685A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3950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같은 E3에서 첫 안내 분리는 QA01을 줄였지만 QA03과 비용이 늘었다.</a:t>
            </a:r>
          </a:p>
          <a:p xmlns:a="http://schemas.openxmlformats.org/drawingml/2006/main">
            <a: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호출 A/B 12 → </a:t>
            </a:r>
            <a:r>
              <a:rPr sz="180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rPr>
              <a:t>18</a:t>
            </a:r>
            <a:r>
              <a: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회, C 15 → </a:t>
            </a:r>
            <a:r>
              <a:rPr sz="180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rPr>
              <a:t>21</a:t>
            </a:r>
            <a:r>
              <a: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회. 호스트 종료 각 6/6, 본문 A/B 3/6·C 6/6 불변.</a:t>
            </a:r>
          </a:p>
          <a:p xmlns:a="http://schemas.openxmlformats.org/drawingml/2006/main">
            <a: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출력은 출처·대상 채택 안내이며 내부 처리의도 라벨도 노출됐다. 자연스러운 제품 응답은 미검증.</a:t>
            </a:r>
          </a:p>
          <a:p xmlns:a="http://schemas.openxmlformats.org/drawingml/2006/main">
            <a: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QA01 우선의 공통 설계 방향이다. 기본 A/B 선택 효과나 네 사례 전체 이익은 아니다.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FA9414-AE6D-400B-9840-4B64E7CE7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953125"/>
            <a:ext cx="11315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rPr>
              <a:t>파랑은 분리 후 값. 현재 source/target 처리안내 callback이며 상세 사실 답변의 첫 제공 시각과 구별한다.</a:t>
            </a:r>
          </a:p>
        </p:txBody>
      </p:sp>
    </p:spTree>
    <p:extLst>
      <p:ext uri="{BB962C8B-B14F-4D97-AF65-F5344CB8AC3E}">
        <p14:creationId xmlns:p14="http://schemas.microsoft.com/office/powerpoint/2010/main" val="120779239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A21B880-0CAA-464B-BA40-491A2278A876}"/>
              </a:ext>
            </a:extLst>
          </p:cNvPr>
          <p:cNvCxnSpPr>
            <a:stCxn xmlns:a="http://schemas.openxmlformats.org/drawingml/2006/main" id="26" idx="2"/>
            <a:endCxn xmlns:a="http://schemas.openxmlformats.org/drawingml/2006/main" id="29" idx="0"/>
          </p:cNvCxnSpPr>
          <p:nvPr/>
        </p:nvCxnSpPr>
        <p:spPr>
          <a:xfrm xmlns:a="http://schemas.openxmlformats.org/drawingml/2006/main">
            <a:off x="8984457" y="4143375"/>
            <a:ext cx="0" cy="22860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02720"/>
            </a:solidFill>
            <a:prstDash val="solid"/>
            <a:tailEnd type="arrow" w="med" len="med"/>
          </a:ln>
        </p:spPr>
      </p:cxnSp>
      <p:cxnSp>
        <p:nvCxn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510ACB1-FF80-4858-82E8-B9AC9581057E}"/>
              </a:ext>
            </a:extLst>
          </p:cNvPr>
          <p:cNvCxnSpPr>
            <a:stCxn xmlns:a="http://schemas.openxmlformats.org/drawingml/2006/main" id="23" idx="2"/>
            <a:endCxn xmlns:a="http://schemas.openxmlformats.org/drawingml/2006/main" id="26" idx="0"/>
          </p:cNvCxnSpPr>
          <p:nvPr/>
        </p:nvCxnSpPr>
        <p:spPr>
          <a:xfrm xmlns:a="http://schemas.openxmlformats.org/drawingml/2006/main">
            <a:off x="8984457" y="3324225"/>
            <a:ext cx="0" cy="22860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02720"/>
            </a:solidFill>
            <a:prstDash val="solid"/>
            <a:tailEnd type="arrow" w="med" len="med"/>
          </a:ln>
        </p:spPr>
      </p:cxnSp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275EE02-BC7F-405E-8264-F8F2A0508C4B}"/>
              </a:ext>
            </a:extLst>
          </p:cNvPr>
          <p:cNvCxnSpPr>
            <a:stCxn xmlns:a="http://schemas.openxmlformats.org/drawingml/2006/main" id="21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8984457" y="2505075"/>
            <a:ext cx="0" cy="22860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02720"/>
            </a:solidFill>
            <a:prstDash val="solid"/>
            <a:tailEnd type="arrow" w="med" len="med"/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18E4A4-38F6-4E9E-80B2-53436CF4BD2B}"/>
              </a:ext>
            </a:extLst>
          </p:cNvPr>
          <p:cNvCxnSpPr>
            <a:stCxn xmlns:a="http://schemas.openxmlformats.org/drawingml/2006/main" id="12" idx="2"/>
            <a:endCxn xmlns:a="http://schemas.openxmlformats.org/drawingml/2006/main" id="15" idx="0"/>
          </p:cNvCxnSpPr>
          <p:nvPr/>
        </p:nvCxnSpPr>
        <p:spPr>
          <a:xfrm xmlns:a="http://schemas.openxmlformats.org/drawingml/2006/main">
            <a:off x="3207544" y="4143375"/>
            <a:ext cx="0" cy="22860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02720"/>
            </a:solidFill>
            <a:prstDash val="solid"/>
            <a:tailEnd type="arrow" w="med" len="med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7BBD3F-3579-4942-AC99-D6F4D582169C}"/>
              </a:ext>
            </a:extLst>
          </p:cNvPr>
          <p:cNvCxnSpPr>
            <a:stCxn xmlns:a="http://schemas.openxmlformats.org/drawingml/2006/main" id="9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3207544" y="3324225"/>
            <a:ext cx="0" cy="22860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02720"/>
            </a:solidFill>
            <a:prstDash val="solid"/>
            <a:tailEnd type="arrow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06700A-B60D-4549-A6D9-9B6DF51BAD0F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3207544" y="2505075"/>
            <a:ext cx="0" cy="22860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02720"/>
            </a:solidFill>
            <a:prstDash val="solid"/>
            <a:tailEnd type="arrow" w="med" len="med"/>
          </a:ln>
        </p:spPr>
      </p:cxn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FC9ED4C-CB89-42C2-9B2C-7584CB66B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11353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DP1 조건부 A 선택과 변경 조각 갱신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D62C1C-B54B-4493-9F66-0931BEC69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000125"/>
            <a:ext cx="11353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7C5B"/>
          </a:solidFill>
          <a:ln xmlns:a="http://schemas.openxmlformats.org/drawingml/2006/main" w="0">
            <a:solidFill>
              <a:srgbClr val="387C5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168378-2B91-4E2D-BECD-B712F9766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346B68-BE99-4021-B8D9-E27238420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1200150"/>
            <a:ext cx="5672138" cy="469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86FC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C7BF19-D4F6-407F-9A83-2DABFC322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266825"/>
            <a:ext cx="5538788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EB1"/>
          </a:solidFill>
          <a:ln xmlns:a="http://schemas.openxmlformats.org/drawingml/2006/main" w="9525">
            <a:solidFill>
              <a:srgbClr val="A7B7A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263B4E-B388-4929-858B-260E45647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1343025"/>
            <a:ext cx="5291138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025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025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025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025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025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025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025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025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025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A  유효 근거 유지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0094FB-F601-4C3B-8B16-FCE1D62BF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14525"/>
            <a:ext cx="5348288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DE"/>
          </a:solidFill>
          <a:ln xmlns:a="http://schemas.openxmlformats.org/drawingml/2006/main" w="9525">
            <a:solidFill>
              <a:srgbClr val="20272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4C7CD7-E2BE-4EA8-93CC-3D4F5E571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81200"/>
            <a:ext cx="5119688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6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6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6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6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6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6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6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6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6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1. 읽은 원본 발췌와 의존 출처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AAFF8D-1F25-4141-8948-B1B5022F2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33675"/>
            <a:ext cx="5348288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DE"/>
          </a:solidFill>
          <a:ln xmlns:a="http://schemas.openxmlformats.org/drawingml/2006/main" w="9525">
            <a:solidFill>
              <a:srgbClr val="20272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706EF8-2A58-4E73-98F7-6BCE560B7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00350"/>
            <a:ext cx="5119688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6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6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6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6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6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6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6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6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6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2. 변경된 source revision 확인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0C5C79-A473-47F3-821D-622B79BB2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52825"/>
            <a:ext cx="5348288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DE"/>
          </a:solidFill>
          <a:ln xmlns:a="http://schemas.openxmlformats.org/drawingml/2006/main" w="9525">
            <a:solidFill>
              <a:srgbClr val="20272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A9773D-4997-4E03-A578-BD7669810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0"/>
            <a:ext cx="5119688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6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6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6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6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6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6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6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6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6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3. 유효 조각 유지·누락 재조회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8E0F46-7C89-4D28-8CAD-1A77BDEB1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71975"/>
            <a:ext cx="5348288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DE"/>
          </a:solidFill>
          <a:ln xmlns:a="http://schemas.openxmlformats.org/drawingml/2006/main" w="9525">
            <a:solidFill>
              <a:srgbClr val="20272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1FF5DA-2E0C-4A78-95C2-BCB92B591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38650"/>
            <a:ext cx="5119688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6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6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6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6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6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6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6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6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6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4. 전체 현재성 재검사·채택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A1F221-3B7A-48AF-8771-233399BB4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067300"/>
            <a:ext cx="5481638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rPr>
              <a:t>후속 자료 재사용을 근거로 조건부 A</a:t>
            </a:r>
          </a:p>
          <a:p xmlns:a="http://schemas.openxmlformats.org/drawingml/2006/main">
            <a: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rPr>
              <a:t>본문 30/36, 조건 미충족 6건 유지</a:t>
            </a:r>
          </a:p>
          <a:p xmlns:a="http://schemas.openxmlformats.org/drawingml/2006/main">
            <a: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rPr>
              <a:t>최상위 QA01 확정 승자는 미입증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6AB1F1-B20E-4F88-A48A-92744CB46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5063" y="1266825"/>
            <a:ext cx="5538788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EB1"/>
          </a:solidFill>
          <a:ln xmlns:a="http://schemas.openxmlformats.org/drawingml/2006/main" w="9525">
            <a:solidFill>
              <a:srgbClr val="A7B7A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DA4A86-B133-4089-97FE-349228304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8888" y="1343025"/>
            <a:ext cx="5291138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025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025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025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025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025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025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025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025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025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A2  변경 조각만 갱신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A039FB-677C-4A10-B89F-FAEA7A002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0313" y="1914525"/>
            <a:ext cx="5348288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3FF"/>
          </a:solidFill>
          <a:ln xmlns:a="http://schemas.openxmlformats.org/drawingml/2006/main" w="9525">
            <a:solidFill>
              <a:srgbClr val="186FC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73FBAF5-1D8E-46DC-9120-19E18E7C4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4613" y="1981200"/>
            <a:ext cx="5119688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rPr>
              <a:t>1. source별 의존 조각 분리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D5A64C2-8933-4065-8096-FB95B11A1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0313" y="2733675"/>
            <a:ext cx="5348288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3FF"/>
          </a:solidFill>
          <a:ln xmlns:a="http://schemas.openxmlformats.org/drawingml/2006/main" w="9525">
            <a:solidFill>
              <a:srgbClr val="186FC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55A4E90-BE3F-4F66-B683-38E5EC364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4613" y="2800350"/>
            <a:ext cx="5119688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rPr>
              <a:t>2. 영향 조각을 무효화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A174883-0783-4173-973E-FEDAF2B27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0313" y="3552825"/>
            <a:ext cx="5348288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3FF"/>
          </a:solidFill>
          <a:ln xmlns:a="http://schemas.openxmlformats.org/drawingml/2006/main" w="9525">
            <a:solidFill>
              <a:srgbClr val="186FC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22D19C4-1F39-42BC-B8BF-2D9FB75CC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4613" y="3619500"/>
            <a:ext cx="5119688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rPr>
              <a:t>3. 남은 유효 발췌 재사용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36D6047-C100-4CEF-99AC-53091153C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0313" y="4371975"/>
            <a:ext cx="5348288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3FF"/>
          </a:solidFill>
          <a:ln xmlns:a="http://schemas.openxmlformats.org/drawingml/2006/main" w="9525">
            <a:solidFill>
              <a:srgbClr val="186FC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A50CEDD-E538-4EFA-BBDE-8715F9716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4613" y="4438650"/>
            <a:ext cx="5119688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rPr>
              <a:t>4. 재조합 후 동일 최종 검사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FFBEC0D-2909-402E-9166-2005A2EED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3638" y="5067300"/>
            <a:ext cx="5481638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rPr>
              <a:t>정정 E3 × 3: 읽기 12회 → </a:t>
            </a:r>
            <a:r>
              <a:rPr sz="1575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rPr>
              <a:t>9</a:t>
            </a:r>
            <a:r>
              <a: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rPr>
              <a:t>회</a:t>
            </a:r>
          </a:p>
          <a:p xmlns:a="http://schemas.openxmlformats.org/drawingml/2006/main">
            <a: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rPr>
              <a:t>본문 충족 3/6 → </a:t>
            </a:r>
            <a:r>
              <a:rPr sz="1575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rPr>
              <a:t>3/6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C5F3F01-ABCF-445C-8B35-ADF2E1999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953125"/>
            <a:ext cx="11315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rPr>
              <a:t>A2: QA03 21.822 → </a:t>
            </a:r>
            <a:r>
              <a:rPr sz="150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rPr>
              <a:t>21.433</a:t>
            </a:r>
            <a:r>
              <a: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rPr>
              <a:t>초, 호출 12 → </a:t>
            </a:r>
            <a:r>
              <a:rPr sz="150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rPr>
              <a:t>12,</a:t>
            </a:r>
            <a:r>
              <a: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rPr>
              <a:t> 비용 $0.0148424 → </a:t>
            </a:r>
            <a:r>
              <a:rPr sz="150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rPr>
              <a:t>$0.0145860.</a:t>
            </a:r>
            <a:r>
              <a: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rPr>
              <a:t> 원문 재조회 절약에 한정 적용.</a:t>
            </a:r>
          </a:p>
        </p:txBody>
      </p:sp>
    </p:spTree>
    <p:extLst>
      <p:ext uri="{BB962C8B-B14F-4D97-AF65-F5344CB8AC3E}">
        <p14:creationId xmlns:p14="http://schemas.microsoft.com/office/powerpoint/2010/main" val="196723980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A0F012E-2429-459F-8B3C-B12FB295D19D}"/>
              </a:ext>
            </a:extLst>
          </p:cNvPr>
          <p:cNvCxnSpPr>
            <a:stCxn xmlns:a="http://schemas.openxmlformats.org/drawingml/2006/main" id="28" idx="3"/>
            <a:endCxn xmlns:a="http://schemas.openxmlformats.org/drawingml/2006/main" id="24" idx="4"/>
          </p:cNvCxnSpPr>
          <p:nvPr/>
        </p:nvCxnSpPr>
        <p:spPr>
          <a:xfrm xmlns:a="http://schemas.openxmlformats.org/drawingml/2006/main" flipV="1">
            <a:off x="10991850" y="2190750"/>
            <a:ext cx="800100" cy="2662238"/>
          </a:xfrm>
          <a:prstGeom xmlns:a="http://schemas.openxmlformats.org/drawingml/2006/main" prst="bentConnector4">
            <a:avLst/>
          </a:prstGeom>
          <a:ln xmlns:a="http://schemas.openxmlformats.org/drawingml/2006/main" w="14288">
            <a:solidFill>
              <a:srgbClr val="202720"/>
            </a:solidFill>
            <a:prstDash val="solid"/>
            <a:tailEnd type="arrow" w="med" len="med"/>
          </a:ln>
        </p:spPr>
      </p:cxnSp>
      <p:cxnSp>
        <p:nvCxn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41EC33A-4B4C-4B5C-92D1-8ACCB2ECA90F}"/>
              </a:ext>
            </a:extLst>
          </p:cNvPr>
          <p:cNvCxnSpPr>
            <a:stCxn xmlns:a="http://schemas.openxmlformats.org/drawingml/2006/main" id="27" idx="3"/>
            <a:endCxn xmlns:a="http://schemas.openxmlformats.org/drawingml/2006/main" id="29" idx="3"/>
          </p:cNvCxnSpPr>
          <p:nvPr/>
        </p:nvCxnSpPr>
        <p:spPr>
          <a:xfrm xmlns:a="http://schemas.openxmlformats.org/drawingml/2006/main">
            <a:off x="11563350" y="3838575"/>
            <a:ext cx="238125" cy="1785938"/>
          </a:xfrm>
          <a:prstGeom xmlns:a="http://schemas.openxmlformats.org/drawingml/2006/main" prst="bentConnector4">
            <a:avLst/>
          </a:prstGeom>
          <a:ln xmlns:a="http://schemas.openxmlformats.org/drawingml/2006/main" w="14288">
            <a:solidFill>
              <a:srgbClr val="202720"/>
            </a:solidFill>
            <a:prstDash val="dash"/>
            <a:tailEnd type="arrow" w="med" len="med"/>
          </a:ln>
        </p:spPr>
      </p:cxnSp>
      <p:cxnSp>
        <p:nvCxn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AB5B3B1-0BC5-419B-8CC3-2073170473D1}"/>
              </a:ext>
            </a:extLst>
          </p:cNvPr>
          <p:cNvCxnSpPr>
            <a:stCxn xmlns:a="http://schemas.openxmlformats.org/drawingml/2006/main" id="26" idx="1"/>
            <a:endCxn xmlns:a="http://schemas.openxmlformats.org/drawingml/2006/main" id="29" idx="1"/>
          </p:cNvCxnSpPr>
          <p:nvPr/>
        </p:nvCxnSpPr>
        <p:spPr>
          <a:xfrm xmlns:a="http://schemas.openxmlformats.org/drawingml/2006/main">
            <a:off x="6134100" y="3838575"/>
            <a:ext cx="238125" cy="1785938"/>
          </a:xfrm>
          <a:prstGeom xmlns:a="http://schemas.openxmlformats.org/drawingml/2006/main" prst="bentConnector4">
            <a:avLst/>
          </a:prstGeom>
          <a:ln xmlns:a="http://schemas.openxmlformats.org/drawingml/2006/main" w="14288">
            <a:solidFill>
              <a:srgbClr val="202720"/>
            </a:solidFill>
            <a:prstDash val="dash"/>
            <a:tailEnd type="arrow" w="med" len="med"/>
          </a:ln>
        </p:spPr>
      </p:cxnSp>
      <p:cxnSp>
        <p:nvCxn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7E723FD-0669-4EB5-AE02-7568BB531917}"/>
              </a:ext>
            </a:extLst>
          </p:cNvPr>
          <p:cNvCxnSpPr>
            <a:stCxn xmlns:a="http://schemas.openxmlformats.org/drawingml/2006/main" id="25" idx="1"/>
            <a:endCxn xmlns:a="http://schemas.openxmlformats.org/drawingml/2006/main" id="29" idx="1"/>
          </p:cNvCxnSpPr>
          <p:nvPr/>
        </p:nvCxnSpPr>
        <p:spPr>
          <a:xfrm xmlns:a="http://schemas.openxmlformats.org/drawingml/2006/main" flipH="1">
            <a:off x="6134100" y="2924175"/>
            <a:ext cx="857250" cy="2700338"/>
          </a:xfrm>
          <a:prstGeom xmlns:a="http://schemas.openxmlformats.org/drawingml/2006/main" prst="bentConnector4">
            <a:avLst/>
          </a:prstGeom>
          <a:ln xmlns:a="http://schemas.openxmlformats.org/drawingml/2006/main" w="14288">
            <a:solidFill>
              <a:srgbClr val="202720"/>
            </a:solidFill>
            <a:prstDash val="dash"/>
            <a:tailEnd type="arrow" w="med" len="med"/>
          </a:ln>
        </p:spPr>
      </p:cxnSp>
      <p:cxnSp>
        <p:nvCxn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64FB465-F731-41C7-9B0E-69CE8A4CB20C}"/>
              </a:ext>
            </a:extLst>
          </p:cNvPr>
          <p:cNvCxnSpPr>
            <a:stCxn xmlns:a="http://schemas.openxmlformats.org/drawingml/2006/main" id="27" idx="2"/>
            <a:endCxn xmlns:a="http://schemas.openxmlformats.org/drawingml/2006/main" id="28" idx="0"/>
          </p:cNvCxnSpPr>
          <p:nvPr/>
        </p:nvCxnSpPr>
        <p:spPr>
          <a:xfrm xmlns:a="http://schemas.openxmlformats.org/drawingml/2006/main" flipH="1">
            <a:off x="8991600" y="4143375"/>
            <a:ext cx="1381125" cy="3333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4288">
            <a:solidFill>
              <a:srgbClr val="202720"/>
            </a:solidFill>
            <a:prstDash val="solid"/>
            <a:tailEnd type="arrow" w="med" len="med"/>
          </a:ln>
        </p:spPr>
      </p:cxnSp>
      <p:cxnSp>
        <p:nvCxn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D7A2446-9B95-45B4-AFA8-A45B59EA2891}"/>
              </a:ext>
            </a:extLst>
          </p:cNvPr>
          <p:cNvCxnSpPr>
            <a:stCxn xmlns:a="http://schemas.openxmlformats.org/drawingml/2006/main" id="26" idx="2"/>
            <a:endCxn xmlns:a="http://schemas.openxmlformats.org/drawingml/2006/main" id="28" idx="0"/>
          </p:cNvCxnSpPr>
          <p:nvPr/>
        </p:nvCxnSpPr>
        <p:spPr>
          <a:xfrm xmlns:a="http://schemas.openxmlformats.org/drawingml/2006/main">
            <a:off x="7553325" y="4143375"/>
            <a:ext cx="1438275" cy="3333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4288">
            <a:solidFill>
              <a:srgbClr val="202720"/>
            </a:solidFill>
            <a:prstDash val="solid"/>
            <a:tailEnd type="arrow" w="med" len="med"/>
          </a:ln>
        </p:spPr>
      </p:cxnSp>
      <p:cxnSp>
        <p:nvCxn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91CE078-9EF2-4D1A-B4D1-6A0CDE23A6C5}"/>
              </a:ext>
            </a:extLst>
          </p:cNvPr>
          <p:cNvCxnSpPr>
            <a:stCxn xmlns:a="http://schemas.openxmlformats.org/drawingml/2006/main" id="25" idx="3"/>
            <a:endCxn xmlns:a="http://schemas.openxmlformats.org/drawingml/2006/main" id="28" idx="3"/>
          </p:cNvCxnSpPr>
          <p:nvPr/>
        </p:nvCxnSpPr>
        <p:spPr>
          <a:xfrm xmlns:a="http://schemas.openxmlformats.org/drawingml/2006/main">
            <a:off x="10991850" y="2924175"/>
            <a:ext cx="733425" cy="1928813"/>
          </a:xfrm>
          <a:prstGeom xmlns:a="http://schemas.openxmlformats.org/drawingml/2006/main" prst="bentConnector4">
            <a:avLst/>
          </a:prstGeom>
          <a:ln xmlns:a="http://schemas.openxmlformats.org/drawingml/2006/main" w="14288">
            <a:solidFill>
              <a:srgbClr val="202720"/>
            </a:solidFill>
            <a:prstDash val="dash"/>
            <a:tailEnd type="arrow" w="med" len="med"/>
          </a:ln>
        </p:spPr>
      </p:cxnSp>
      <p:cxnSp>
        <p:nvCxn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1346783-BF9D-4D45-9E81-74257ECBC675}"/>
              </a:ext>
            </a:extLst>
          </p:cNvPr>
          <p:cNvCxnSpPr>
            <a:stCxn xmlns:a="http://schemas.openxmlformats.org/drawingml/2006/main" id="25" idx="2"/>
            <a:endCxn xmlns:a="http://schemas.openxmlformats.org/drawingml/2006/main" id="27" idx="0"/>
          </p:cNvCxnSpPr>
          <p:nvPr/>
        </p:nvCxnSpPr>
        <p:spPr>
          <a:xfrm xmlns:a="http://schemas.openxmlformats.org/drawingml/2006/main">
            <a:off x="8991600" y="3190875"/>
            <a:ext cx="1381125" cy="3429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4288">
            <a:solidFill>
              <a:srgbClr val="202720"/>
            </a:solidFill>
            <a:prstDash val="solid"/>
            <a:tailEnd type="arrow" w="med" len="med"/>
          </a:ln>
        </p:spPr>
      </p:cxnSp>
      <p:cxnSp>
        <p:nvCxn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8D648DC-FF60-4020-8CF4-2E94A2C7D37D}"/>
              </a:ext>
            </a:extLst>
          </p:cNvPr>
          <p:cNvCxnSpPr>
            <a:stCxn xmlns:a="http://schemas.openxmlformats.org/drawingml/2006/main" id="25" idx="2"/>
            <a:endCxn xmlns:a="http://schemas.openxmlformats.org/drawingml/2006/main" id="26" idx="0"/>
          </p:cNvCxnSpPr>
          <p:nvPr/>
        </p:nvCxnSpPr>
        <p:spPr>
          <a:xfrm xmlns:a="http://schemas.openxmlformats.org/drawingml/2006/main" flipH="1">
            <a:off x="7553325" y="3190875"/>
            <a:ext cx="1438275" cy="3429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4288">
            <a:solidFill>
              <a:srgbClr val="202720"/>
            </a:solidFill>
            <a:prstDash val="solid"/>
            <a:tailEnd type="arrow" w="med" len="med"/>
          </a:ln>
        </p:spPr>
      </p:cxnSp>
      <p:cxnSp>
        <p:nvCxn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B0EE442-3FFD-47EC-AAD6-D50E2E0BB8FF}"/>
              </a:ext>
            </a:extLst>
          </p:cNvPr>
          <p:cNvCxnSpPr>
            <a:stCxn xmlns:a="http://schemas.openxmlformats.org/drawingml/2006/main" id="24" idx="3"/>
            <a:endCxn xmlns:a="http://schemas.openxmlformats.org/drawingml/2006/main" id="25" idx="0"/>
          </p:cNvCxnSpPr>
          <p:nvPr/>
        </p:nvCxnSpPr>
        <p:spPr>
          <a:xfrm xmlns:a="http://schemas.openxmlformats.org/drawingml/2006/main" flipH="1">
            <a:off x="8991600" y="2524125"/>
            <a:ext cx="1381125" cy="133350"/>
          </a:xfrm>
          <a:prstGeom xmlns:a="http://schemas.openxmlformats.org/drawingml/2006/main" prst="bentConnector4">
            <a:avLst>
              <a:gd name="adj1" fmla="val 0"/>
              <a:gd name="adj2" fmla="val 85714"/>
            </a:avLst>
          </a:prstGeom>
          <a:ln xmlns:a="http://schemas.openxmlformats.org/drawingml/2006/main" w="14288">
            <a:solidFill>
              <a:srgbClr val="202720"/>
            </a:solidFill>
            <a:prstDash val="solid"/>
            <a:tailEnd type="arrow" w="med" len="med"/>
          </a:ln>
        </p:spPr>
      </p:cxnSp>
      <p:cxnSp>
        <p:nvCxn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EA278A8-37C0-4866-91E1-B33A22B82D64}"/>
              </a:ext>
            </a:extLst>
          </p:cNvPr>
          <p:cNvCxnSpPr>
            <a:stCxn xmlns:a="http://schemas.openxmlformats.org/drawingml/2006/main" id="23" idx="2"/>
            <a:endCxn xmlns:a="http://schemas.openxmlformats.org/drawingml/2006/main" id="25" idx="0"/>
          </p:cNvCxnSpPr>
          <p:nvPr/>
        </p:nvCxnSpPr>
        <p:spPr>
          <a:xfrm xmlns:a="http://schemas.openxmlformats.org/drawingml/2006/main">
            <a:off x="7553325" y="2343150"/>
            <a:ext cx="1438275" cy="3143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4288">
            <a:solidFill>
              <a:srgbClr val="202720"/>
            </a:solidFill>
            <a:prstDash val="solid"/>
            <a:tailEnd type="arrow" w="med" len="med"/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0EF9CF-5CC0-470A-8ED9-AA102FD1A087}"/>
              </a:ext>
            </a:extLst>
          </p:cNvPr>
          <p:cNvCxnSpPr>
            <a:stCxn xmlns:a="http://schemas.openxmlformats.org/drawingml/2006/main" id="11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>
            <a:off x="3200400" y="4543425"/>
            <a:ext cx="1381125" cy="4286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4288">
            <a:solidFill>
              <a:srgbClr val="202720"/>
            </a:solidFill>
            <a:prstDash val="solid"/>
            <a:tailEnd type="arrow" w="med" len="med"/>
          </a:ln>
        </p:spPr>
      </p:cxn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B69F3D-FAFB-43A6-A1AD-3AA016D79D28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9" idx="4"/>
          </p:cNvCxnSpPr>
          <p:nvPr/>
        </p:nvCxnSpPr>
        <p:spPr>
          <a:xfrm xmlns:a="http://schemas.openxmlformats.org/drawingml/2006/main" flipV="1">
            <a:off x="5200650" y="2190750"/>
            <a:ext cx="800100" cy="2047875"/>
          </a:xfrm>
          <a:prstGeom xmlns:a="http://schemas.openxmlformats.org/drawingml/2006/main" prst="bentConnector4">
            <a:avLst/>
          </a:prstGeom>
          <a:ln xmlns:a="http://schemas.openxmlformats.org/drawingml/2006/main" w="14288">
            <a:solidFill>
              <a:srgbClr val="202720"/>
            </a:solidFill>
            <a:prstDash val="solid"/>
            <a:tailEnd type="arrow" w="med" len="med"/>
          </a:ln>
        </p:spPr>
      </p:cxn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1B7CD6-B22A-4751-9220-91BEFFBC85E6}"/>
              </a:ext>
            </a:extLst>
          </p:cNvPr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3200400" y="3505200"/>
            <a:ext cx="0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02720"/>
            </a:solidFill>
            <a:prstDash val="solid"/>
            <a:tailEnd type="arrow" w="med" len="med"/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06687F-96AF-4D9D-B7F5-535DF3ACED6F}"/>
              </a:ext>
            </a:extLst>
          </p:cNvPr>
          <p:cNvCxnSpPr>
            <a:stCxn xmlns:a="http://schemas.openxmlformats.org/drawingml/2006/main" id="12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 flipH="1" flipV="1">
            <a:off x="971550" y="3200400"/>
            <a:ext cx="2219325" cy="2014538"/>
          </a:xfrm>
          <a:prstGeom xmlns:a="http://schemas.openxmlformats.org/drawingml/2006/main" prst="bentConnector4">
            <a:avLst/>
          </a:prstGeom>
          <a:ln xmlns:a="http://schemas.openxmlformats.org/drawingml/2006/main" w="14288">
            <a:solidFill>
              <a:srgbClr val="202720"/>
            </a:solidFill>
            <a:prstDash val="dash"/>
            <a:tailEnd type="arrow" w="med" len="med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908467-8DE8-4473-B972-3B48D0E31A8F}"/>
              </a:ext>
            </a:extLst>
          </p:cNvPr>
          <p:cNvCxnSpPr>
            <a:stCxn xmlns:a="http://schemas.openxmlformats.org/drawingml/2006/main" id="10" idx="1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971550" y="3200400"/>
            <a:ext cx="800100" cy="1771650"/>
          </a:xfrm>
          <a:prstGeom xmlns:a="http://schemas.openxmlformats.org/drawingml/2006/main" prst="bentConnector4">
            <a:avLst/>
          </a:prstGeom>
          <a:ln xmlns:a="http://schemas.openxmlformats.org/drawingml/2006/main" w="14288">
            <a:solidFill>
              <a:srgbClr val="202720"/>
            </a:solidFill>
            <a:prstDash val="dash"/>
            <a:tailEnd type="arrow" w="med" len="med"/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7D5AEE-6E22-40D5-A023-B490A7D02638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0" idx="3"/>
          </p:cNvCxnSpPr>
          <p:nvPr/>
        </p:nvCxnSpPr>
        <p:spPr>
          <a:xfrm xmlns:a="http://schemas.openxmlformats.org/drawingml/2006/main">
            <a:off x="4581525" y="2524125"/>
            <a:ext cx="847725" cy="676275"/>
          </a:xfrm>
          <a:prstGeom xmlns:a="http://schemas.openxmlformats.org/drawingml/2006/main" prst="bentConnector4">
            <a:avLst/>
          </a:prstGeom>
          <a:ln xmlns:a="http://schemas.openxmlformats.org/drawingml/2006/main" w="14288">
            <a:solidFill>
              <a:srgbClr val="202720"/>
            </a:solidFill>
            <a:prstDash val="solid"/>
            <a:tailEnd type="arrow" w="med" len="med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282358-24FC-4E11-9709-E90F2E21DF33}"/>
              </a:ext>
            </a:extLst>
          </p:cNvPr>
          <p:cNvCxnSpPr>
            <a:stCxn xmlns:a="http://schemas.openxmlformats.org/drawingml/2006/main" id="8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1762125" y="2428875"/>
            <a:ext cx="1438275" cy="4667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4288">
            <a:solidFill>
              <a:srgbClr val="202720"/>
            </a:solidFill>
            <a:prstDash val="solid"/>
            <a:tailEnd type="arrow" w="med" len="med"/>
          </a:ln>
        </p:spPr>
      </p:cxn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E68B982-DB7D-405A-B6EE-CA1391F14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11353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DP2 기본안: 후속 입력의 의미 판단 실행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97D850-445E-4084-BD37-082BA7E19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000125"/>
            <a:ext cx="11353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7C5B"/>
          </a:solidFill>
          <a:ln xmlns:a="http://schemas.openxmlformats.org/drawingml/2006/main" w="0">
            <a:solidFill>
              <a:srgbClr val="387C5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3F2F1F-DBDE-4508-9063-BAF1635AB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4C4D3F-B665-4E2A-9C23-74DE4EC31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266825"/>
            <a:ext cx="55245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EB1"/>
          </a:solidFill>
          <a:ln xmlns:a="http://schemas.openxmlformats.org/drawingml/2006/main" w="9525">
            <a:solidFill>
              <a:srgbClr val="A7B7A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05BFFB-9A43-43CC-BF0E-5E9DA6FB9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9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9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9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9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9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9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9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9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9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A  한 대화 해석 실행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89D955-3346-4478-B322-801669773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266825"/>
            <a:ext cx="55245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EB1"/>
          </a:solidFill>
          <a:ln xmlns:a="http://schemas.openxmlformats.org/drawingml/2006/main" w="9525">
            <a:solidFill>
              <a:srgbClr val="A7B7A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BE2440-895E-426A-B7C0-23F133866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35255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9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9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9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9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9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9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9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9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9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B  공통 대화 + 요청별 실행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72EB9B-C94D-447B-BF87-2D4DADC0B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57375"/>
            <a:ext cx="2381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DE"/>
          </a:solidFill>
          <a:ln xmlns:a="http://schemas.openxmlformats.org/drawingml/2006/main" w="9525">
            <a:solidFill>
              <a:srgbClr val="202720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1  Input Buffer</a:t>
            </a:r>
          </a:p>
          <a:p xmlns:a="http://schemas.openxmlformats.org/drawingml/2006/main">
            <a: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새 발화·통지 원시 보존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78157E-7EC7-4B04-9EEC-CC44F8301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857375"/>
            <a:ext cx="2381250" cy="666750"/>
          </a:xfrm>
          <a:prstGeom xmlns:a="http://schemas.openxmlformats.org/drawingml/2006/main" prst="can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02720"/>
            </a:solidFill>
            <a:prstDash val="solid"/>
          </a:ln>
        </p:spPr>
        <p:txBody>
          <a:bodyPr xmlns:a="http://schemas.openxmlformats.org/drawingml/2006/main" lIns="47625" tIns="76200" rIns="47625" bIns="76200" anchor="ctr"/>
          <a:lstStyle xmlns:a="http://schemas.openxmlformats.org/drawingml/2006/main">
            <a:def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Context Manager</a:t>
            </a:r>
          </a:p>
          <a:p xmlns:a="http://schemas.openxmlformats.org/drawingml/2006/main">
            <a: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공통 대화·채택 상태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8C4647-FB34-4AD7-83D5-0B326D133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95600"/>
            <a:ext cx="4000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DE"/>
          </a:solidFill>
          <a:ln xmlns:a="http://schemas.openxmlformats.org/drawingml/2006/main" w="9525">
            <a:solidFill>
              <a:srgbClr val="202720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Request Interpreter</a:t>
            </a:r>
          </a:p>
          <a:p xmlns:a="http://schemas.openxmlformats.org/drawingml/2006/main">
            <a: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현재 VIA step 경계에서 의미 판단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8653A2-74ED-49E7-888A-69081D972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933825"/>
            <a:ext cx="4000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DE"/>
          </a:solidFill>
          <a:ln xmlns:a="http://schemas.openxmlformats.org/drawingml/2006/main" w="9525">
            <a:solidFill>
              <a:srgbClr val="202720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Request Controller</a:t>
            </a:r>
          </a:p>
          <a:p xmlns:a="http://schemas.openxmlformats.org/drawingml/2006/main">
            <a: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관계·scope·현재 revision gate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CC10F3-3D50-4413-884A-83D4DFE16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972050"/>
            <a:ext cx="238125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DE"/>
          </a:solidFill>
          <a:ln xmlns:a="http://schemas.openxmlformats.org/drawingml/2006/main" w="9525">
            <a:solidFill>
              <a:srgbClr val="202720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Model Access</a:t>
            </a:r>
          </a:p>
          <a:p xmlns:a="http://schemas.openxmlformats.org/drawingml/2006/main">
            <a: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공통 호출 예산 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4DC294-6489-437E-B9CB-00B106FBF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972050"/>
            <a:ext cx="238125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DE"/>
          </a:solidFill>
          <a:ln xmlns:a="http://schemas.openxmlformats.org/drawingml/2006/main" w="9525">
            <a:solidFill>
              <a:srgbClr val="202720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표시 + 원래 목표 계속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FD62F4-14B1-4CC8-A525-5E6682FDC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00325"/>
            <a:ext cx="1619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8157EC-41AE-4479-95C3-42DE32B57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00325"/>
            <a:ext cx="1619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2  step 대기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5812B3-67D9-47D4-A33E-ED3FBCCC6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57375"/>
            <a:ext cx="238125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DE"/>
          </a:solidFill>
          <a:ln xmlns:a="http://schemas.openxmlformats.org/drawingml/2006/main" w="9525">
            <a:solidFill>
              <a:srgbClr val="202720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1  원시 Input Buffer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833E17A-6ABA-4C2A-9D12-2E131A87A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857375"/>
            <a:ext cx="2381250" cy="666750"/>
          </a:xfrm>
          <a:prstGeom xmlns:a="http://schemas.openxmlformats.org/drawingml/2006/main" prst="can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02720"/>
            </a:solidFill>
            <a:prstDash val="solid"/>
          </a:ln>
        </p:spPr>
        <p:txBody>
          <a:bodyPr xmlns:a="http://schemas.openxmlformats.org/drawingml/2006/main" lIns="47625" tIns="76200" rIns="47625" bIns="76200" anchor="ctr"/>
          <a:lstStyle xmlns:a="http://schemas.openxmlformats.org/drawingml/2006/main">
            <a:def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공통 대화·채택 상태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5E4C23D-B944-4653-859B-E9257E06A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657475"/>
            <a:ext cx="4000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DE"/>
          </a:solidFill>
          <a:ln xmlns:a="http://schemas.openxmlformats.org/drawingml/2006/main" w="9525">
            <a:solidFill>
              <a:srgbClr val="202720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공통 Request Interpreter</a:t>
            </a:r>
          </a:p>
          <a:p xmlns:a="http://schemas.openxmlformats.org/drawingml/2006/main">
            <a: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새 입력의 관계·처리 결정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D1445A1-626A-4AF8-935D-F6AFA0BBC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533775"/>
            <a:ext cx="2381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DE"/>
          </a:solidFill>
          <a:ln xmlns:a="http://schemas.openxmlformats.org/drawingml/2006/main" w="9525">
            <a:solidFill>
              <a:srgbClr val="202720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R1 Request Execution</a:t>
            </a:r>
          </a:p>
          <a:p xmlns:a="http://schemas.openxmlformats.org/drawingml/2006/main">
            <a: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개별 잠정 상태·revision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C15331F-FA40-4730-8C8F-5926A5C15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533775"/>
            <a:ext cx="2381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DE"/>
          </a:solidFill>
          <a:ln xmlns:a="http://schemas.openxmlformats.org/drawingml/2006/main" w="9525">
            <a:solidFill>
              <a:srgbClr val="202720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R2 Request Execution</a:t>
            </a:r>
          </a:p>
          <a:p xmlns:a="http://schemas.openxmlformats.org/drawingml/2006/main">
            <a: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개별 잠정 상태·revision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C2A11AD-8A4B-47C7-A089-7AAAEC9FC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476750"/>
            <a:ext cx="4000500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DE"/>
          </a:solidFill>
          <a:ln xmlns:a="http://schemas.openxmlformats.org/drawingml/2006/main" w="9525">
            <a:solidFill>
              <a:srgbClr val="202720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Request Controller</a:t>
            </a:r>
          </a:p>
          <a:p xmlns:a="http://schemas.openxmlformats.org/drawingml/2006/main">
            <a: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현재성·관계 gate</a:t>
            </a:r>
          </a:p>
          <a:p xmlns:a="http://schemas.openxmlformats.org/drawingml/2006/main">
            <a: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표시·원래 목표 계속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B3D71DE-2F72-41D7-8DA2-9763C73F0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5429250"/>
            <a:ext cx="520065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DE"/>
          </a:solidFill>
          <a:ln xmlns:a="http://schemas.openxmlformats.org/drawingml/2006/main" w="9525">
            <a:solidFill>
              <a:srgbClr val="202720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Model Access   같은 K 슬롯 경쟁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5F15BDA-4841-401F-A786-27967D957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228975"/>
            <a:ext cx="1619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E9FAA3D-8A14-430A-8CEC-1E867129F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228975"/>
            <a:ext cx="1619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2  긴 작업 분리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FFA1942-AB46-4F2B-A32F-808C2E126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228975"/>
            <a:ext cx="17145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2E26FC4-D5AE-4AA8-B207-79B92EF34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228975"/>
            <a:ext cx="1714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별도 긴 요청 R2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410244E-DDC1-47CC-980D-0F3A18BE4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22910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3DB8C62-2D4A-40A2-81DE-057D98B71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229100"/>
            <a:ext cx="2000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짧은 완결 답 직접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BB7CF99-6E3E-4F9A-8B7A-BA453AE12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4743450"/>
            <a:ext cx="6858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0FA457B-95BF-43C4-8E55-B614E743A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4743450"/>
            <a:ext cx="685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해석도</a:t>
            </a:r>
          </a:p>
          <a:p xmlns:a="http://schemas.openxmlformats.org/drawingml/2006/main">
            <a: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K 경쟁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8094158-A256-4523-B361-DED806B9B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86450"/>
            <a:ext cx="11315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rPr>
              <a:t>QA01/03  A는 현재 의미 step 대기 / B는 여유 슬롯에서 독립 입력 중첩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5565EDC-D058-41CA-BCC9-5AB2CDD04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91250"/>
            <a:ext cx="11315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rPr>
              <a:t>QA06  B는 동시 요청 문맥·잠정 결과를 보존 / QA05 이익은 호출 경로에 따라 달라짐</a:t>
            </a:r>
          </a:p>
        </p:txBody>
      </p:sp>
    </p:spTree>
    <p:extLst>
      <p:ext uri="{BB962C8B-B14F-4D97-AF65-F5344CB8AC3E}">
        <p14:creationId xmlns:p14="http://schemas.microsoft.com/office/powerpoint/2010/main" val="46927982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F36351-E950-4CD9-B584-562692B37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11353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DP2 실측: 호출 여유가 있을 때 B 선택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095688-38DB-402F-98FE-DADD3F7A0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000125"/>
            <a:ext cx="11353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7C5B"/>
          </a:solidFill>
          <a:ln xmlns:a="http://schemas.openxmlformats.org/drawingml/2006/main" w="0">
            <a:solidFill>
              <a:srgbClr val="387C5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A6710E-5BD6-45FC-AB82-F5EDDCBF3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rPr>
              <a:t>10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61C2A1-815C-4C9D-9440-D273A00B530B}"/>
              </a:ext>
            </a:extLst>
          </p:cNvPr>
          <p:cNvGraphicFramePr/>
          <p:nvPr/>
        </p:nvGraphicFramePr>
        <p:xfrm>
          <a:off xmlns:a="http://schemas.openxmlformats.org/drawingml/2006/main" x="438150" y="1381125"/>
          <a:ext xmlns:a="http://schemas.openxmlformats.org/drawingml/2006/main" cx="11315700" cy="2190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47750"/>
                <a:gridCol w="2085975"/>
                <a:gridCol w="1047750"/>
                <a:gridCol w="2085975"/>
                <a:gridCol w="952500"/>
                <a:gridCol w="2238375"/>
                <a:gridCol w="1857375"/>
              </a:tblGrid>
              <a:tr h="7302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안</a:t>
                      </a:r>
                    </a:p>
                  </a:txBody>
                  <a:tcPr marL="95250" marR="95250" marT="76200" marB="76200">
                    <a:lnL w="9525">
                      <a:solidFill>
                        <a:srgbClr val="CFD8D2"/>
                      </a:solidFill>
                      <a:prstDash val="solid"/>
                    </a:lnL>
                    <a:lnR w="9525">
                      <a:solidFill>
                        <a:srgbClr val="CFD8D2"/>
                      </a:solidFill>
                      <a:prstDash val="solid"/>
                    </a:lnR>
                    <a:lnT w="9525">
                      <a:solidFill>
                        <a:srgbClr val="CFD8D2"/>
                      </a:solidFill>
                      <a:prstDash val="solid"/>
                    </a:lnT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C9DEB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QA01 초 / 관측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T w="9525">
                      <a:solidFill>
                        <a:srgbClr val="CFD8D2"/>
                      </a:solidFill>
                      <a:prstDash val="solid"/>
                    </a:lnT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C9DEB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QA02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T w="9525">
                      <a:solidFill>
                        <a:srgbClr val="CFD8D2"/>
                      </a:solidFill>
                      <a:prstDash val="solid"/>
                    </a:lnT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C9DEB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QA03 초 / 완료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T w="9525">
                      <a:solidFill>
                        <a:srgbClr val="CFD8D2"/>
                      </a:solidFill>
                      <a:prstDash val="solid"/>
                    </a:lnT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C9DEB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QA04 개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T w="9525">
                      <a:solidFill>
                        <a:srgbClr val="CFD8D2"/>
                      </a:solidFill>
                      <a:prstDash val="solid"/>
                    </a:lnT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C9DEB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QA05 USD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T w="9525">
                      <a:solidFill>
                        <a:srgbClr val="CFD8D2"/>
                      </a:solidFill>
                      <a:prstDash val="solid"/>
                    </a:lnT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C9DEB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QA06 MB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T w="9525">
                      <a:solidFill>
                        <a:srgbClr val="CFD8D2"/>
                      </a:solidFill>
                      <a:prstDash val="solid"/>
                    </a:lnT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C9DEB1"/>
                    </a:solidFill>
                  </a:tcPr>
                </a:tc>
              </a:tr>
              <a:tr h="7302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A</a:t>
                      </a:r>
                    </a:p>
                  </a:txBody>
                  <a:tcPr marL="95250" marR="95250" marT="76200" marB="76200">
                    <a:lnL w="9525">
                      <a:solidFill>
                        <a:srgbClr val="CFD8D2"/>
                      </a:solidFill>
                      <a:prstDash val="solid"/>
                    </a:lnL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8.677  30/30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N/A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24.092  23/24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2.00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$0.1224560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45.351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02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B</a:t>
                      </a:r>
                    </a:p>
                  </a:txBody>
                  <a:tcPr marL="95250" marR="95250" marT="76200" marB="76200">
                    <a:lnL w="9525">
                      <a:solidFill>
                        <a:srgbClr val="CFD8D2"/>
                      </a:solidFill>
                      <a:prstDash val="solid"/>
                    </a:lnL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6.698  30/30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N/A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20.982  24/24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2.00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$0.1125156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46.170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FCD6BB-8E62-4AA4-B844-E113420F8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57625"/>
            <a:ext cx="112395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K=2 독립 후속 질문: QA01 A 13.388초, B 6.270초. 실제 API 중첩 6.261초.</a:t>
            </a:r>
          </a:p>
          <a:p xmlns:a="http://schemas.openxmlformats.org/drawingml/2006/main">
            <a: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K=1 같은 질문 완료: A 13.429초, B 13.087초. 중첩 이익이 사라진다.</a:t>
            </a:r>
          </a:p>
          <a:p xmlns:a="http://schemas.openxmlformats.org/drawingml/2006/main">
            <a: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N-R 27/27 대 26/27은 별도 연결 진단. QA02는 비적용.</a:t>
            </a:r>
          </a:p>
          <a:p xmlns:a="http://schemas.openxmlformats.org/drawingml/2006/main">
            <a: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B의 추가 Task 메타데이터 오류를 실제 잘못된 메일 발송으로 확대하지 않는다.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06CABE-0AB6-422D-9BA0-0237D6AE8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953125"/>
            <a:ext cx="11315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rPr>
              <a:t>완료는 호스트 종료 관측, 본문은 별도 저자 조건 검토다. QA01 callback proxy, QA03 조건부 평균. 비용은 12회 전체.</a:t>
            </a:r>
          </a:p>
        </p:txBody>
      </p:sp>
    </p:spTree>
    <p:extLst>
      <p:ext uri="{BB962C8B-B14F-4D97-AF65-F5344CB8AC3E}">
        <p14:creationId xmlns:p14="http://schemas.microsoft.com/office/powerpoint/2010/main" val="97619472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62CB4DC-11A6-47AE-BFE4-98DCE6E3F46D}"/>
              </a:ext>
            </a:extLst>
          </p:cNvPr>
          <p:cNvCxnSpPr>
            <a:stCxn xmlns:a="http://schemas.openxmlformats.org/drawingml/2006/main" id="26" idx="2"/>
            <a:endCxn xmlns:a="http://schemas.openxmlformats.org/drawingml/2006/main" id="29" idx="0"/>
          </p:cNvCxnSpPr>
          <p:nvPr/>
        </p:nvCxnSpPr>
        <p:spPr>
          <a:xfrm xmlns:a="http://schemas.openxmlformats.org/drawingml/2006/main">
            <a:off x="8984457" y="4143375"/>
            <a:ext cx="0" cy="22860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02720"/>
            </a:solidFill>
            <a:prstDash val="solid"/>
            <a:tailEnd type="arrow" w="med" len="med"/>
          </a:ln>
        </p:spPr>
      </p:cxnSp>
      <p:cxnSp>
        <p:nvCxn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E08CD38-36BA-4859-8BC0-76168434C7AF}"/>
              </a:ext>
            </a:extLst>
          </p:cNvPr>
          <p:cNvCxnSpPr>
            <a:stCxn xmlns:a="http://schemas.openxmlformats.org/drawingml/2006/main" id="23" idx="2"/>
            <a:endCxn xmlns:a="http://schemas.openxmlformats.org/drawingml/2006/main" id="26" idx="0"/>
          </p:cNvCxnSpPr>
          <p:nvPr/>
        </p:nvCxnSpPr>
        <p:spPr>
          <a:xfrm xmlns:a="http://schemas.openxmlformats.org/drawingml/2006/main">
            <a:off x="8984457" y="3324225"/>
            <a:ext cx="0" cy="22860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02720"/>
            </a:solidFill>
            <a:prstDash val="solid"/>
            <a:tailEnd type="arrow" w="med" len="med"/>
          </a:ln>
        </p:spPr>
      </p:cxnSp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9B56A13-5DD1-4BE7-ABBC-157E29A35C7B}"/>
              </a:ext>
            </a:extLst>
          </p:cNvPr>
          <p:cNvCxnSpPr>
            <a:stCxn xmlns:a="http://schemas.openxmlformats.org/drawingml/2006/main" id="21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8984457" y="2505075"/>
            <a:ext cx="0" cy="22860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02720"/>
            </a:solidFill>
            <a:prstDash val="solid"/>
            <a:tailEnd type="arrow" w="med" len="med"/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EA9FA8-DF37-4BB3-9586-10A3DC7FD705}"/>
              </a:ext>
            </a:extLst>
          </p:cNvPr>
          <p:cNvCxnSpPr>
            <a:stCxn xmlns:a="http://schemas.openxmlformats.org/drawingml/2006/main" id="12" idx="2"/>
            <a:endCxn xmlns:a="http://schemas.openxmlformats.org/drawingml/2006/main" id="15" idx="0"/>
          </p:cNvCxnSpPr>
          <p:nvPr/>
        </p:nvCxnSpPr>
        <p:spPr>
          <a:xfrm xmlns:a="http://schemas.openxmlformats.org/drawingml/2006/main">
            <a:off x="3207544" y="4143375"/>
            <a:ext cx="0" cy="22860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02720"/>
            </a:solidFill>
            <a:prstDash val="solid"/>
            <a:tailEnd type="arrow" w="med" len="med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FE2215-97B5-4BF0-A3E1-116EEA6E020F}"/>
              </a:ext>
            </a:extLst>
          </p:cNvPr>
          <p:cNvCxnSpPr>
            <a:stCxn xmlns:a="http://schemas.openxmlformats.org/drawingml/2006/main" id="9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3207544" y="3324225"/>
            <a:ext cx="0" cy="22860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02720"/>
            </a:solidFill>
            <a:prstDash val="solid"/>
            <a:tailEnd type="arrow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03639E-3FAE-4673-A31F-00E370ABB0D9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3207544" y="2505075"/>
            <a:ext cx="0" cy="22860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02720"/>
            </a:solidFill>
            <a:prstDash val="solid"/>
            <a:tailEnd type="arrow" w="med" len="med"/>
          </a:ln>
        </p:spPr>
      </p:cxn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368ED6B-881F-46AB-BA71-2560C0718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11353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DP2 선택과 B1 불변 문맥 공유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D01D4F-9171-4BB7-92DA-12ABCEAE3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000125"/>
            <a:ext cx="11353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7C5B"/>
          </a:solidFill>
          <a:ln xmlns:a="http://schemas.openxmlformats.org/drawingml/2006/main" w="0">
            <a:solidFill>
              <a:srgbClr val="387C5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5FDA51-44D2-456B-BC09-9D715B834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2827E1-D5A2-4651-ABC8-72D4A694B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1200150"/>
            <a:ext cx="5672138" cy="469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86FC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5F59E2-7924-4B9B-8E6E-409B7963A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266825"/>
            <a:ext cx="5538788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EB1"/>
          </a:solidFill>
          <a:ln xmlns:a="http://schemas.openxmlformats.org/drawingml/2006/main" w="9525">
            <a:solidFill>
              <a:srgbClr val="A7B7A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3DDAE0-F71F-4D3C-B5B7-2CE9F2D1C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1343025"/>
            <a:ext cx="5291138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025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025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025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025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025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025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025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025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025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B  독립 실행 유지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C7E4C3-898C-4493-9846-9279464D6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14525"/>
            <a:ext cx="5348288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DE"/>
          </a:solidFill>
          <a:ln xmlns:a="http://schemas.openxmlformats.org/drawingml/2006/main" w="9525">
            <a:solidFill>
              <a:srgbClr val="20272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A374B4-59FA-41B0-A71B-293BCB31B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81200"/>
            <a:ext cx="5119688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6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6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6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6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6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6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6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6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6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1. 공통 원본 input/source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231976-792C-4BE9-A3E1-A36F88FA7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33675"/>
            <a:ext cx="5348288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DE"/>
          </a:solidFill>
          <a:ln xmlns:a="http://schemas.openxmlformats.org/drawingml/2006/main" w="9525">
            <a:solidFill>
              <a:srgbClr val="20272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8E5E1A-4078-4BB9-B83A-6A314B94C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00350"/>
            <a:ext cx="5119688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6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6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6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6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6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6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6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6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6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2. worker별 input 깊은 복제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C5FBDD-D122-4A1D-BE59-573B7FC1E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52825"/>
            <a:ext cx="5348288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DE"/>
          </a:solidFill>
          <a:ln xmlns:a="http://schemas.openxmlformats.org/drawingml/2006/main" w="9525">
            <a:solidFill>
              <a:srgbClr val="20272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833A34-31A1-415F-9D33-4529E73DE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0"/>
            <a:ext cx="5119688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6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6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6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6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6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6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6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6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6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3. source payload·wire 복제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5EFC1C-B715-4C2F-9FA5-28172C114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71975"/>
            <a:ext cx="5348288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DE"/>
          </a:solidFill>
          <a:ln xmlns:a="http://schemas.openxmlformats.org/drawingml/2006/main" w="9525">
            <a:solidFill>
              <a:srgbClr val="20272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43720D-F33A-4B0F-8F6D-833AA05C7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38650"/>
            <a:ext cx="5119688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6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6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6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6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6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6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6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6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6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4. 각 요청 상태·revision 독립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066421-B573-4DCB-AE0E-B4B224DB8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067300"/>
            <a:ext cx="5481638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rPr>
              <a:t>실제 원본 약 7.5 KB</a:t>
            </a:r>
          </a:p>
          <a:p xmlns:a="http://schemas.openxmlformats.org/drawingml/2006/main">
            <a: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rPr>
              <a:t>모델 가중치 복제는 없음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DF04AA-3533-4335-B3C6-FC61BFD7F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5063" y="1266825"/>
            <a:ext cx="5538788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EB1"/>
          </a:solidFill>
          <a:ln xmlns:a="http://schemas.openxmlformats.org/drawingml/2006/main" w="9525">
            <a:solidFill>
              <a:srgbClr val="A7B7A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D2D50C7-EA81-46B6-8521-7E18FAD3D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8888" y="1343025"/>
            <a:ext cx="5291138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025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025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025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025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025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025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025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025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025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B1  같은 원본을 참조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D49F9E-79F6-4A2B-A128-A60F28011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0313" y="1914525"/>
            <a:ext cx="5348288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3FF"/>
          </a:solidFill>
          <a:ln xmlns:a="http://schemas.openxmlformats.org/drawingml/2006/main" w="9525">
            <a:solidFill>
              <a:srgbClr val="186FC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402666-A7A4-465B-80DD-2097200E9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4613" y="1981200"/>
            <a:ext cx="5119688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rPr>
              <a:t>1. immutable input Arc 공유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753C8C-341B-47A4-A0DA-07A6A3817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0313" y="2733675"/>
            <a:ext cx="5348288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3FF"/>
          </a:solidFill>
          <a:ln xmlns:a="http://schemas.openxmlformats.org/drawingml/2006/main" w="9525">
            <a:solidFill>
              <a:srgbClr val="186FC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82C3B9D-E372-40E4-9CC2-3E4130881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4613" y="2800350"/>
            <a:ext cx="5119688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rPr>
              <a:t>2. worker는 참조만 유지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DC5858B-25EB-401A-9C83-4B0A222BA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0313" y="3552825"/>
            <a:ext cx="5348288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3FF"/>
          </a:solidFill>
          <a:ln xmlns:a="http://schemas.openxmlformats.org/drawingml/2006/main" w="9525">
            <a:solidFill>
              <a:srgbClr val="186FC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CDCF64E-1882-4FC9-90B5-E538F15F3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4613" y="3619500"/>
            <a:ext cx="5119688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rPr>
              <a:t>3. source·wire를 빌려 직렬화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2846BC1-7370-41C7-80F6-33AB20543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0313" y="4371975"/>
            <a:ext cx="5348288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3FF"/>
          </a:solidFill>
          <a:ln xmlns:a="http://schemas.openxmlformats.org/drawingml/2006/main" w="9525">
            <a:solidFill>
              <a:srgbClr val="186FC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A925CDD-0366-4327-8CBB-77E07650A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4613" y="4438650"/>
            <a:ext cx="5119688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rPr>
              <a:t>4. mutable 요청 상태는 독립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9464516-112F-4163-A366-3ABF0407D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3638" y="5067300"/>
            <a:ext cx="5481638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rPr>
              <a:t>작은 소유 할당 감소 확인</a:t>
            </a:r>
          </a:p>
          <a:p xmlns:a="http://schemas.openxmlformats.org/drawingml/2006/main">
            <a: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rPr>
              <a:t>N=1 전체 RSS 우세 미확인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047FFC7-DB88-4E1B-90E2-EF5A94B0C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953125"/>
            <a:ext cx="11315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rPr>
              <a:t>72회 실제 응답 재생, API 0. 기존 live RSS 45~46 MB와 새 재생 30~32 MB를 전후 개선으로 비교하지 않는다.</a:t>
            </a:r>
          </a:p>
        </p:txBody>
      </p:sp>
    </p:spTree>
    <p:extLst>
      <p:ext uri="{BB962C8B-B14F-4D97-AF65-F5344CB8AC3E}">
        <p14:creationId xmlns:p14="http://schemas.microsoft.com/office/powerpoint/2010/main" val="187564021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10C7C1-4169-43B4-82C8-7929E281C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11353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B1 전후: 요청 할당과 전체 RSS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EFC4CC-80AE-477E-AF9A-5B92DF0DA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000125"/>
            <a:ext cx="11353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7C5B"/>
          </a:solidFill>
          <a:ln xmlns:a="http://schemas.openxmlformats.org/drawingml/2006/main" w="0">
            <a:solidFill>
              <a:srgbClr val="387C5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7E13D2-3DB4-4322-9F3A-FF49FD79F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rPr>
              <a:t>12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2EE5FB-CC70-4201-9698-1FA09573D30C}"/>
              </a:ext>
            </a:extLst>
          </p:cNvPr>
          <p:cNvGraphicFramePr/>
          <p:nvPr/>
        </p:nvGraphicFramePr>
        <p:xfrm>
          <a:off xmlns:a="http://schemas.openxmlformats.org/drawingml/2006/main" x="438150" y="1381125"/>
          <a:ext xmlns:a="http://schemas.openxmlformats.org/drawingml/2006/main" cx="11315700" cy="2619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238250"/>
                <a:gridCol w="5143500"/>
                <a:gridCol w="4933950"/>
              </a:tblGrid>
              <a:tr h="654844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동시 N</a:t>
                      </a:r>
                    </a:p>
                  </a:txBody>
                  <a:tcPr marL="95250" marR="95250" marT="76200" marB="76200">
                    <a:lnL w="9525">
                      <a:solidFill>
                        <a:srgbClr val="CFD8D2"/>
                      </a:solidFill>
                      <a:prstDash val="solid"/>
                    </a:lnL>
                    <a:lnR w="9525">
                      <a:solidFill>
                        <a:srgbClr val="CFD8D2"/>
                      </a:solidFill>
                      <a:prstDash val="solid"/>
                    </a:lnR>
                    <a:lnT w="9525">
                      <a:solidFill>
                        <a:srgbClr val="CFD8D2"/>
                      </a:solidFill>
                      <a:prstDash val="solid"/>
                    </a:lnT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C9DEB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할당 peak 평균 bytes B / B1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T w="9525">
                      <a:solidFill>
                        <a:srgbClr val="CFD8D2"/>
                      </a:solidFill>
                      <a:prstDash val="solid"/>
                    </a:lnT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C9DEB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전체 RSS 최고 MB B / B1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T w="9525">
                      <a:solidFill>
                        <a:srgbClr val="CFD8D2"/>
                      </a:solidFill>
                      <a:prstDash val="solid"/>
                    </a:lnT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C9DEB1"/>
                    </a:solidFill>
                  </a:tcPr>
                </a:tc>
              </a:tr>
              <a:tr h="654844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</a:t>
                      </a:r>
                    </a:p>
                  </a:txBody>
                  <a:tcPr marL="95250" marR="95250" marT="76200" marB="76200">
                    <a:lnL w="9525">
                      <a:solidFill>
                        <a:srgbClr val="CFD8D2"/>
                      </a:solidFill>
                      <a:prstDash val="solid"/>
                    </a:lnL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180,134 / </a:t>
                      </a:r>
                      <a:r>
                        <a:rPr sz="1950" b="1">
                          <a:solidFill>
                            <a:srgbClr val="186FC1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130,440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30.097 / </a:t>
                      </a:r>
                      <a:r>
                        <a:rPr sz="1950" b="1">
                          <a:solidFill>
                            <a:srgbClr val="186FC1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30.294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4844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</a:t>
                      </a:r>
                    </a:p>
                  </a:txBody>
                  <a:tcPr marL="95250" marR="95250" marT="76200" marB="76200">
                    <a:lnL w="9525">
                      <a:solidFill>
                        <a:srgbClr val="CFD8D2"/>
                      </a:solidFill>
                      <a:prstDash val="solid"/>
                    </a:lnL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313,253 / </a:t>
                      </a:r>
                      <a:r>
                        <a:rPr sz="1950" b="1">
                          <a:solidFill>
                            <a:srgbClr val="186FC1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212,126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30.802 / </a:t>
                      </a:r>
                      <a:r>
                        <a:rPr sz="1950" b="1">
                          <a:solidFill>
                            <a:srgbClr val="186FC1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30.507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</a:tr>
              <a:tr h="654844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4</a:t>
                      </a:r>
                    </a:p>
                  </a:txBody>
                  <a:tcPr marL="95250" marR="95250" marT="76200" marB="76200">
                    <a:lnL w="9525">
                      <a:solidFill>
                        <a:srgbClr val="CFD8D2"/>
                      </a:solidFill>
                      <a:prstDash val="solid"/>
                    </a:lnL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573,372 / </a:t>
                      </a:r>
                      <a:r>
                        <a:rPr sz="1950" b="1">
                          <a:solidFill>
                            <a:srgbClr val="186FC1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365,413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32.326 / </a:t>
                      </a:r>
                      <a:r>
                        <a:rPr sz="1950" b="1">
                          <a:solidFill>
                            <a:srgbClr val="186FC1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31.867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972B7C-FFE0-4291-BAE9-2A35EFA38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52925"/>
            <a:ext cx="11239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통제 72회 최종 결과·callback과 입력 snapshot 168/168 session 동일.</a:t>
            </a:r>
          </a:p>
          <a:p xmlns:a="http://schemas.openxmlformats.org/drawingml/2006/main">
            <a:pPr>
              <a:defRPr sz="18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이전 72회의 상태 순서 차이는 보존하고, 원래 호출 준비 barrier를 강화했다.</a:t>
            </a:r>
          </a:p>
          <a:p xmlns:a="http://schemas.openxmlformats.org/drawingml/2006/main">
            <a:pPr>
              <a:defRPr sz="18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N=1 평균 RSS 동점. N=2·4의 작은 감소를 일반적 큰 개선으로 확대하지 않는다.</a:t>
            </a:r>
          </a:p>
          <a:p xmlns:a="http://schemas.openxmlformats.org/drawingml/2006/main">
            <a:pPr>
              <a:defRPr sz="18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대가: 빌린 직렬화 API와 불변 참조의 수명 관리가 추가된다.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3F20D5-6351-4F6D-9B85-E68887432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953125"/>
            <a:ext cx="11315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rPr>
              <a:t>파랑은 보완 후 값이다. 할당 bytes는 RSS가 아니다. 새 QA01/03이 아닌 API 0 재생, 네 사례와 세 seed의 관측이다.</a:t>
            </a:r>
          </a:p>
        </p:txBody>
      </p:sp>
    </p:spTree>
    <p:extLst>
      <p:ext uri="{BB962C8B-B14F-4D97-AF65-F5344CB8AC3E}">
        <p14:creationId xmlns:p14="http://schemas.microsoft.com/office/powerpoint/2010/main" val="196023788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ED999D2-0F54-46AB-BA4C-08D10ED32492}"/>
              </a:ext>
            </a:extLst>
          </p:cNvPr>
          <p:cNvCxnSpPr>
            <a:stCxn xmlns:a="http://schemas.openxmlformats.org/drawingml/2006/main" id="26" idx="2"/>
            <a:endCxn xmlns:a="http://schemas.openxmlformats.org/drawingml/2006/main" id="36" idx="0"/>
          </p:cNvCxnSpPr>
          <p:nvPr/>
        </p:nvCxnSpPr>
        <p:spPr>
          <a:xfrm xmlns:a="http://schemas.openxmlformats.org/drawingml/2006/main">
            <a:off x="8972550" y="5181600"/>
            <a:ext cx="0" cy="1714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02720"/>
            </a:solidFill>
            <a:prstDash val="solid"/>
            <a:tailEnd type="arrow" w="med" len="med"/>
          </a:ln>
        </p:spPr>
      </p:cxnSp>
      <p:cxnSp>
        <p:nvCxn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640B790-F6BB-4609-BD2F-F41ACCF70D46}"/>
              </a:ext>
            </a:extLst>
          </p:cNvPr>
          <p:cNvCxnSpPr>
            <a:stCxn xmlns:a="http://schemas.openxmlformats.org/drawingml/2006/main" id="26" idx="3"/>
            <a:endCxn xmlns:a="http://schemas.openxmlformats.org/drawingml/2006/main" id="23" idx="3"/>
          </p:cNvCxnSpPr>
          <p:nvPr/>
        </p:nvCxnSpPr>
        <p:spPr>
          <a:xfrm xmlns:a="http://schemas.openxmlformats.org/drawingml/2006/main" flipV="1">
            <a:off x="11430000" y="2981325"/>
            <a:ext cx="381000" cy="1895475"/>
          </a:xfrm>
          <a:prstGeom xmlns:a="http://schemas.openxmlformats.org/drawingml/2006/main" prst="bentConnector4">
            <a:avLst/>
          </a:prstGeom>
          <a:ln xmlns:a="http://schemas.openxmlformats.org/drawingml/2006/main" w="14288">
            <a:solidFill>
              <a:srgbClr val="202720"/>
            </a:solidFill>
            <a:prstDash val="dash"/>
            <a:tailEnd type="arrow" w="med" len="med"/>
          </a:ln>
        </p:spPr>
      </p:cxnSp>
      <p:cxnSp>
        <p:nvCxn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FDC0C7A-7994-4AC7-BA8F-C1DBA5DF7942}"/>
              </a:ext>
            </a:extLst>
          </p:cNvPr>
          <p:cNvCxnSpPr>
            <a:stCxn xmlns:a="http://schemas.openxmlformats.org/drawingml/2006/main" id="25" idx="3"/>
            <a:endCxn xmlns:a="http://schemas.openxmlformats.org/drawingml/2006/main" id="26" idx="0"/>
          </p:cNvCxnSpPr>
          <p:nvPr/>
        </p:nvCxnSpPr>
        <p:spPr>
          <a:xfrm xmlns:a="http://schemas.openxmlformats.org/drawingml/2006/main" flipH="1">
            <a:off x="8972550" y="4191000"/>
            <a:ext cx="1371600" cy="3810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4288">
            <a:solidFill>
              <a:srgbClr val="202720"/>
            </a:solidFill>
            <a:prstDash val="solid"/>
            <a:tailEnd type="arrow" w="med" len="med"/>
          </a:ln>
        </p:spPr>
      </p:cxnSp>
      <p:cxnSp>
        <p:nvCxn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DDFAED7-5710-4ACE-9C58-87BE3710519E}"/>
              </a:ext>
            </a:extLst>
          </p:cNvPr>
          <p:cNvCxnSpPr>
            <a:stCxn xmlns:a="http://schemas.openxmlformats.org/drawingml/2006/main" id="24" idx="3"/>
            <a:endCxn xmlns:a="http://schemas.openxmlformats.org/drawingml/2006/main" id="26" idx="0"/>
          </p:cNvCxnSpPr>
          <p:nvPr/>
        </p:nvCxnSpPr>
        <p:spPr>
          <a:xfrm xmlns:a="http://schemas.openxmlformats.org/drawingml/2006/main">
            <a:off x="7610475" y="4191000"/>
            <a:ext cx="1362075" cy="3810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4288">
            <a:solidFill>
              <a:srgbClr val="202720"/>
            </a:solidFill>
            <a:prstDash val="solid"/>
            <a:tailEnd type="arrow" w="med" len="med"/>
          </a:ln>
        </p:spPr>
      </p:cxnSp>
      <p:cxnSp>
        <p:nvCxn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6759D19-F42C-45FE-98AF-3B7FF87E7C18}"/>
              </a:ext>
            </a:extLst>
          </p:cNvPr>
          <p:cNvCxnSpPr>
            <a:stCxn xmlns:a="http://schemas.openxmlformats.org/drawingml/2006/main" id="23" idx="2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10344150" y="3248025"/>
            <a:ext cx="0" cy="27622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02720"/>
            </a:solidFill>
            <a:prstDash val="solid"/>
            <a:tailEnd type="arrow" w="med" len="med"/>
          </a:ln>
        </p:spPr>
      </p:cxnSp>
      <p:cxnSp>
        <p:nvCxn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E179B68-F8AE-4A36-9A49-9F5C511C1407}"/>
              </a:ext>
            </a:extLst>
          </p:cNvPr>
          <p:cNvCxnSpPr>
            <a:stCxn xmlns:a="http://schemas.openxmlformats.org/drawingml/2006/main" id="22" idx="2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7610475" y="3248025"/>
            <a:ext cx="0" cy="27622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02720"/>
            </a:solidFill>
            <a:prstDash val="solid"/>
            <a:tailEnd type="arrow" w="med" len="med"/>
          </a:ln>
        </p:spPr>
      </p:cxnSp>
      <p:cxnSp>
        <p:nvCxn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2583476-3E70-4D7B-9FF7-DF4FDDAD862A}"/>
              </a:ext>
            </a:extLst>
          </p:cNvPr>
          <p:cNvCxnSpPr>
            <a:stCxn xmlns:a="http://schemas.openxmlformats.org/drawingml/2006/main" id="21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8967788" y="2400300"/>
            <a:ext cx="1376363" cy="3143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4288">
            <a:solidFill>
              <a:srgbClr val="202720"/>
            </a:solidFill>
            <a:prstDash val="solid"/>
            <a:tailEnd type="arrow" w="med" len="med"/>
          </a:ln>
        </p:spPr>
      </p:cxnSp>
      <p:cxnSp>
        <p:nvCxn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CAE8DC1-66EE-4D00-8C36-D86B9998C2F8}"/>
              </a:ext>
            </a:extLst>
          </p:cNvPr>
          <p:cNvCxnSpPr>
            <a:stCxn xmlns:a="http://schemas.openxmlformats.org/drawingml/2006/main" id="21" idx="2"/>
            <a:endCxn xmlns:a="http://schemas.openxmlformats.org/drawingml/2006/main" id="22" idx="0"/>
          </p:cNvCxnSpPr>
          <p:nvPr/>
        </p:nvCxnSpPr>
        <p:spPr>
          <a:xfrm xmlns:a="http://schemas.openxmlformats.org/drawingml/2006/main" flipH="1">
            <a:off x="7610475" y="2400300"/>
            <a:ext cx="1357313" cy="3143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4288">
            <a:solidFill>
              <a:srgbClr val="202720"/>
            </a:solidFill>
            <a:prstDash val="solid"/>
            <a:tailEnd type="arrow" w="med" len="med"/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4E8916-0897-4709-BBB2-FB0AECF9D6BF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9" idx="3"/>
          </p:cNvCxnSpPr>
          <p:nvPr/>
        </p:nvCxnSpPr>
        <p:spPr>
          <a:xfrm xmlns:a="http://schemas.openxmlformats.org/drawingml/2006/main" flipH="1" flipV="1">
            <a:off x="3581400" y="2852738"/>
            <a:ext cx="666750" cy="91916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4288">
            <a:solidFill>
              <a:srgbClr val="202720"/>
            </a:solidFill>
            <a:prstDash val="dash"/>
            <a:tailEnd type="arrow" w="med" len="med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212B97-4602-4205-946C-59966B6C2C2D}"/>
              </a:ext>
            </a:extLst>
          </p:cNvPr>
          <p:cNvCxnSpPr>
            <a:stCxn xmlns:a="http://schemas.openxmlformats.org/drawingml/2006/main" id="11" idx="4"/>
            <a:endCxn xmlns:a="http://schemas.openxmlformats.org/drawingml/2006/main" id="12" idx="1"/>
          </p:cNvCxnSpPr>
          <p:nvPr/>
        </p:nvCxnSpPr>
        <p:spPr>
          <a:xfrm xmlns:a="http://schemas.openxmlformats.org/drawingml/2006/main" flipV="1">
            <a:off x="4248150" y="4619625"/>
            <a:ext cx="323850" cy="1238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4288">
            <a:solidFill>
              <a:srgbClr val="202720"/>
            </a:solidFill>
            <a:prstDash val="solid"/>
            <a:tailEnd type="arrow" w="med" len="med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04A268-5E1D-492A-B714-F5B929754FBA}"/>
              </a:ext>
            </a:extLst>
          </p:cNvPr>
          <p:cNvCxnSpPr>
            <a:stCxn xmlns:a="http://schemas.openxmlformats.org/drawingml/2006/main" id="10" idx="2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2581275" y="4086225"/>
            <a:ext cx="0" cy="3238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02720"/>
            </a:solidFill>
            <a:prstDash val="solid"/>
            <a:tailEnd type="arrow" w="med" len="med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9311E3-92CD-4582-9004-C4A83190ECE6}"/>
              </a:ext>
            </a:extLst>
          </p:cNvPr>
          <p:cNvCxnSpPr>
            <a:stCxn xmlns:a="http://schemas.openxmlformats.org/drawingml/2006/main" id="9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2247900" y="3124200"/>
            <a:ext cx="333375" cy="3333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4288">
            <a:solidFill>
              <a:srgbClr val="202720"/>
            </a:solidFill>
            <a:prstDash val="solid"/>
            <a:tailEnd type="arrow" w="med" len="me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A7728F-A9C0-4F4B-A715-BF4B6771E861}"/>
              </a:ext>
            </a:extLst>
          </p:cNvPr>
          <p:cNvCxnSpPr>
            <a:stCxn xmlns:a="http://schemas.openxmlformats.org/drawingml/2006/main" id="8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 flipH="1">
            <a:off x="2247900" y="2266950"/>
            <a:ext cx="928688" cy="3143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4288">
            <a:solidFill>
              <a:srgbClr val="202720"/>
            </a:solidFill>
            <a:prstDash val="solid"/>
            <a:tailEnd type="arrow" w="med" len="med"/>
          </a:ln>
        </p:spPr>
      </p:cxn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9ACDAE6-046B-47DF-9FB9-2E1C439B5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11353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DP3 기본안: 화면과 발화의 지칭 결합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8DB747-469D-47D0-9203-2AB986D67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000125"/>
            <a:ext cx="11353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7C5B"/>
          </a:solidFill>
          <a:ln xmlns:a="http://schemas.openxmlformats.org/drawingml/2006/main" w="0">
            <a:solidFill>
              <a:srgbClr val="387C5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6561E0-5405-4F85-AD2B-0F9185DC5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16B535-63C0-4026-89EF-D2186A3CC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266825"/>
            <a:ext cx="55245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EB1"/>
          </a:solidFill>
          <a:ln xmlns:a="http://schemas.openxmlformats.org/drawingml/2006/main" w="9525">
            <a:solidFill>
              <a:srgbClr val="A7B7A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78F9D7-A86B-4304-B6E2-10E6AD5F5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9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9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9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9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9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9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9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9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9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A  원본 결합 판단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FD3442-039E-4A7F-86E0-9577F0051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266825"/>
            <a:ext cx="55245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EB1"/>
          </a:solidFill>
          <a:ln xmlns:a="http://schemas.openxmlformats.org/drawingml/2006/main" w="9525">
            <a:solidFill>
              <a:srgbClr val="A7B7A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CAE37F-6D76-4A88-96A3-93FF8F274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35255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9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9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9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9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9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9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9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9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9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B  후보 생산과 결합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4B8757-8593-4ED1-B969-34F0D0CFE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857375"/>
            <a:ext cx="51911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DE"/>
          </a:solidFill>
          <a:ln xmlns:a="http://schemas.openxmlformats.org/drawingml/2006/main" w="9525">
            <a:solidFill>
              <a:srgbClr val="202720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1  발화 + frame + pointer/선택 + 시각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98A48C-34B9-418B-AABC-7AD21A06B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81275"/>
            <a:ext cx="26670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DE"/>
          </a:solidFill>
          <a:ln xmlns:a="http://schemas.openxmlformats.org/drawingml/2006/main" w="9525">
            <a:solidFill>
              <a:srgbClr val="202720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Evidence Reader</a:t>
            </a:r>
          </a:p>
          <a:p xmlns:a="http://schemas.openxmlformats.org/drawingml/2006/main">
            <a: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당시 원본을 bounded read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7DC9FE-5AF0-4C6D-90AF-4D0EBC5AF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57575"/>
            <a:ext cx="3333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DE"/>
          </a:solidFill>
          <a:ln xmlns:a="http://schemas.openxmlformats.org/drawingml/2006/main" w="9525">
            <a:solidFill>
              <a:srgbClr val="202720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Joint Grounding Interpreter</a:t>
            </a:r>
          </a:p>
          <a:p xmlns:a="http://schemas.openxmlformats.org/drawingml/2006/main">
            <a: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대상 extent + 의미 관계의 최종 writer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654BC5-9308-4173-A735-B5AE4C8BF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10075"/>
            <a:ext cx="3333750" cy="666750"/>
          </a:xfrm>
          <a:prstGeom xmlns:a="http://schemas.openxmlformats.org/drawingml/2006/main" prst="can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02720"/>
            </a:solidFill>
            <a:prstDash val="solid"/>
          </a:ln>
        </p:spPr>
        <p:txBody>
          <a:bodyPr xmlns:a="http://schemas.openxmlformats.org/drawingml/2006/main" lIns="47625" tIns="76200" rIns="47625" bIns="76200" anchor="ctr"/>
          <a:lstStyle xmlns:a="http://schemas.openxmlformats.org/drawingml/2006/main">
            <a:def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Joint Grounding State</a:t>
            </a:r>
          </a:p>
          <a:p xmlns:a="http://schemas.openxmlformats.org/drawingml/2006/main">
            <a: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원본 참조·target·관계·revision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BE7C4E-102F-4202-96D4-59149FCFE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238625"/>
            <a:ext cx="12001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DE"/>
          </a:solidFill>
          <a:ln xmlns:a="http://schemas.openxmlformats.org/drawingml/2006/main" w="9525">
            <a:solidFill>
              <a:srgbClr val="202720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TryApply</a:t>
            </a:r>
          </a:p>
          <a:p xmlns:a="http://schemas.openxmlformats.org/drawingml/2006/main">
            <a: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현재성 gate</a:t>
            </a:r>
          </a:p>
          <a:p xmlns:a="http://schemas.openxmlformats.org/drawingml/2006/main">
            <a: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채택/표시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E08338-F92C-4D69-90EF-5B8E3BA97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2762250"/>
            <a:ext cx="21907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7BEF2D-9D76-402A-9477-294A4037F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2762250"/>
            <a:ext cx="219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2  검증 거절·근거 부족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6899E4-4EC4-4A90-89A2-02AE7B0EF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772150"/>
            <a:ext cx="5524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rPr>
              <a:t>QA01/03/05 별도 producer 단계 절약</a:t>
            </a:r>
          </a:p>
          <a:p xmlns:a="http://schemas.openxmlformats.org/drawingml/2006/main">
            <a: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rPr>
              <a:t>QA02 원본 좌표·집합의 판단 실패와 재판단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D2E631-337C-4264-AEEC-A98FE87CB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1857375"/>
            <a:ext cx="519112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DE"/>
          </a:solidFill>
          <a:ln xmlns:a="http://schemas.openxmlformats.org/drawingml/2006/main" w="9525">
            <a:solidFill>
              <a:srgbClr val="202720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1  Grounding Coordinator</a:t>
            </a:r>
          </a:p>
          <a:p xmlns:a="http://schemas.openxmlformats.org/drawingml/2006/main">
            <a: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같은 raw snapshot / 기본 순차 실행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071210-48BB-4765-AD65-105F654B2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714625"/>
            <a:ext cx="2476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DE"/>
          </a:solidFill>
          <a:ln xmlns:a="http://schemas.openxmlformats.org/drawingml/2006/main" w="9525">
            <a:solidFill>
              <a:srgbClr val="202720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Speech Reference Producer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AF0A26-202E-427A-9944-B698CAD55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714625"/>
            <a:ext cx="2476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DE"/>
          </a:solidFill>
          <a:ln xmlns:a="http://schemas.openxmlformats.org/drawingml/2006/main" w="9525">
            <a:solidFill>
              <a:srgbClr val="202720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Screen Target Producer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9F6D48E-8EB3-4118-B697-14E8606A7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3524250"/>
            <a:ext cx="2476500" cy="666750"/>
          </a:xfrm>
          <a:prstGeom xmlns:a="http://schemas.openxmlformats.org/drawingml/2006/main" prst="can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02720"/>
            </a:solidFill>
            <a:prstDash val="solid"/>
          </a:ln>
        </p:spPr>
        <p:txBody>
          <a:bodyPr xmlns:a="http://schemas.openxmlformats.org/drawingml/2006/main" lIns="47625" tIns="76200" rIns="47625" bIns="76200" anchor="ctr"/>
          <a:lstStyle xmlns:a="http://schemas.openxmlformats.org/drawingml/2006/main">
            <a:def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speech state</a:t>
            </a:r>
          </a:p>
          <a:p xmlns:a="http://schemas.openxmlformats.org/drawingml/2006/main">
            <a: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관계·개수·cue·unknown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74143E4-CC9F-4365-B733-218F16562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524250"/>
            <a:ext cx="2476500" cy="666750"/>
          </a:xfrm>
          <a:prstGeom xmlns:a="http://schemas.openxmlformats.org/drawingml/2006/main" prst="can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02720"/>
            </a:solidFill>
            <a:prstDash val="solid"/>
          </a:ln>
        </p:spPr>
        <p:txBody>
          <a:bodyPr xmlns:a="http://schemas.openxmlformats.org/drawingml/2006/main" lIns="47625" tIns="76200" rIns="47625" bIns="76200" anchor="ctr"/>
          <a:lstStyle xmlns:a="http://schemas.openxmlformats.org/drawingml/2006/main">
            <a:def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screen state</a:t>
            </a:r>
          </a:p>
          <a:p xmlns:a="http://schemas.openxmlformats.org/drawingml/2006/main">
            <a: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후보 extent·source revision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37348FB-C2B8-459A-81D9-F8092480C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572000"/>
            <a:ext cx="49149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DE"/>
          </a:solidFill>
          <a:ln xmlns:a="http://schemas.openxmlformats.org/drawingml/2006/main" w="9525">
            <a:solidFill>
              <a:srgbClr val="202720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Multimodal Binding Resolver</a:t>
            </a:r>
          </a:p>
          <a:p xmlns:a="http://schemas.openxmlformats.org/drawingml/2006/main">
            <a: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충분한 관계는 코드 / 모호하면 의미 호출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1933AA8-A485-4600-9209-CDCAFD132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248150"/>
            <a:ext cx="24288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9B156E5-B167-4395-AE8C-B8E0D93D8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248150"/>
            <a:ext cx="24288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2  부족 범위 확장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37F128E-C908-4264-B631-D7EC34053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353050"/>
            <a:ext cx="49149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DE"/>
          </a:solidFill>
          <a:ln xmlns:a="http://schemas.openxmlformats.org/drawingml/2006/main" w="9525">
            <a:solidFill>
              <a:srgbClr val="202720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TryApply / Request Controller</a:t>
            </a:r>
          </a:p>
          <a:p xmlns:a="http://schemas.openxmlformats.org/drawingml/2006/main">
            <a: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현재 revision gate → 채택·표시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2B337CD-36E5-4E40-8259-E37DE99DB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886450"/>
            <a:ext cx="5524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rPr>
              <a:t>QA02 후보·관계의 명시적 근거</a:t>
            </a:r>
          </a:p>
          <a:p xmlns:a="http://schemas.openxmlformats.org/drawingml/2006/main">
            <a: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rPr>
              <a:t>QA01/03/05 추가 생산·결합 대기</a:t>
            </a:r>
          </a:p>
        </p:txBody>
      </p:sp>
    </p:spTree>
    <p:extLst>
      <p:ext uri="{BB962C8B-B14F-4D97-AF65-F5344CB8AC3E}">
        <p14:creationId xmlns:p14="http://schemas.microsoft.com/office/powerpoint/2010/main" val="94613613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23CB96-CEF0-4F48-97D2-B329DA1A3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11353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DP3 기존 실측: 빠른 관측과 미관측 구별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6EC2EB-F7D8-4578-8710-2C4B22EEE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000125"/>
            <a:ext cx="11353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7C5B"/>
          </a:solidFill>
          <a:ln xmlns:a="http://schemas.openxmlformats.org/drawingml/2006/main" w="0">
            <a:solidFill>
              <a:srgbClr val="387C5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A6DECD-4E97-4EB4-91C8-4F30C8368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rPr>
              <a:t>14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078E93-2829-4976-AFDF-CF227973643C}"/>
              </a:ext>
            </a:extLst>
          </p:cNvPr>
          <p:cNvGraphicFramePr/>
          <p:nvPr/>
        </p:nvGraphicFramePr>
        <p:xfrm>
          <a:off xmlns:a="http://schemas.openxmlformats.org/drawingml/2006/main" x="438150" y="1381125"/>
          <a:ext xmlns:a="http://schemas.openxmlformats.org/drawingml/2006/main" cx="11315700" cy="2190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47750"/>
                <a:gridCol w="2085975"/>
                <a:gridCol w="1047750"/>
                <a:gridCol w="2085975"/>
                <a:gridCol w="952500"/>
                <a:gridCol w="2238375"/>
                <a:gridCol w="1857375"/>
              </a:tblGrid>
              <a:tr h="7302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안</a:t>
                      </a:r>
                    </a:p>
                  </a:txBody>
                  <a:tcPr marL="95250" marR="95250" marT="76200" marB="76200">
                    <a:lnL w="9525">
                      <a:solidFill>
                        <a:srgbClr val="CFD8D2"/>
                      </a:solidFill>
                      <a:prstDash val="solid"/>
                    </a:lnL>
                    <a:lnR w="9525">
                      <a:solidFill>
                        <a:srgbClr val="CFD8D2"/>
                      </a:solidFill>
                      <a:prstDash val="solid"/>
                    </a:lnR>
                    <a:lnT w="9525">
                      <a:solidFill>
                        <a:srgbClr val="CFD8D2"/>
                      </a:solidFill>
                      <a:prstDash val="solid"/>
                    </a:lnT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C9DEB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QA01 초 / 관측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T w="9525">
                      <a:solidFill>
                        <a:srgbClr val="CFD8D2"/>
                      </a:solidFill>
                      <a:prstDash val="solid"/>
                    </a:lnT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C9DEB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QA02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T w="9525">
                      <a:solidFill>
                        <a:srgbClr val="CFD8D2"/>
                      </a:solidFill>
                      <a:prstDash val="solid"/>
                    </a:lnT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C9DEB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QA03 초 / 완료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T w="9525">
                      <a:solidFill>
                        <a:srgbClr val="CFD8D2"/>
                      </a:solidFill>
                      <a:prstDash val="solid"/>
                    </a:lnT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C9DEB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QA04 개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T w="9525">
                      <a:solidFill>
                        <a:srgbClr val="CFD8D2"/>
                      </a:solidFill>
                      <a:prstDash val="solid"/>
                    </a:lnT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C9DEB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QA05 USD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T w="9525">
                      <a:solidFill>
                        <a:srgbClr val="CFD8D2"/>
                      </a:solidFill>
                      <a:prstDash val="solid"/>
                    </a:lnT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C9DEB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QA06 MB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T w="9525">
                      <a:solidFill>
                        <a:srgbClr val="CFD8D2"/>
                      </a:solidFill>
                      <a:prstDash val="solid"/>
                    </a:lnT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C9DEB1"/>
                    </a:solidFill>
                  </a:tcPr>
                </a:tc>
              </a:tr>
              <a:tr h="7302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A</a:t>
                      </a:r>
                    </a:p>
                  </a:txBody>
                  <a:tcPr marL="95250" marR="95250" marT="76200" marB="76200">
                    <a:lnL w="9525">
                      <a:solidFill>
                        <a:srgbClr val="CFD8D2"/>
                      </a:solidFill>
                      <a:prstDash val="solid"/>
                    </a:lnL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11.176  10/15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17/24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15.624  9/12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2.50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$0.0415828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45.220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02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B</a:t>
                      </a:r>
                    </a:p>
                  </a:txBody>
                  <a:tcPr marL="95250" marR="95250" marT="76200" marB="76200">
                    <a:lnL w="9525">
                      <a:solidFill>
                        <a:srgbClr val="CFD8D2"/>
                      </a:solidFill>
                      <a:prstDash val="solid"/>
                    </a:lnL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18.344  15/15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24/24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22.930  12/12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2.50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$0.0431172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45.351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A04090-7130-414B-85FD-A3C2BAFE0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57625"/>
            <a:ext cx="112395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이전 A callback 10/15·완료 9/12, B 15/15·12/12의 세대다.</a:t>
            </a:r>
          </a:p>
          <a:p xmlns:a="http://schemas.openxmlformats.org/drawingml/2006/main">
            <a: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별도 pixel 기본은 A 12/15·10/12·19/24, B 14/15·11/12·22/24로 양쪽 미완료.</a:t>
            </a:r>
          </a:p>
          <a:p xmlns:a="http://schemas.openxmlformats.org/drawingml/2006/main">
            <a: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이 pixel 판본의 전체 승자는 미확정. 빠른 관측과 실패를 함께 본다.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52CAB1-33A2-47BC-B464-CA80A0181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953125"/>
            <a:ext cx="11315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rPr>
              <a:t>완료는 호스트 종료 관측, 본문은 별도 저자 조건 검토다. QA01 callback proxy, QA03 조건부 평균. 비용은 12회 전체.</a:t>
            </a:r>
          </a:p>
        </p:txBody>
      </p:sp>
    </p:spTree>
    <p:extLst>
      <p:ext uri="{BB962C8B-B14F-4D97-AF65-F5344CB8AC3E}">
        <p14:creationId xmlns:p14="http://schemas.microsoft.com/office/powerpoint/2010/main" val="46437137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CDB161-823C-4753-BD59-26A86A880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11353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DP3 pixel 기본: 양쪽 모두 미완료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BE3385-F137-4CF8-9666-AE2854531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000125"/>
            <a:ext cx="11353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7C5B"/>
          </a:solidFill>
          <a:ln xmlns:a="http://schemas.openxmlformats.org/drawingml/2006/main" w="0">
            <a:solidFill>
              <a:srgbClr val="387C5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14CBC5-CF81-4AA5-B82E-38C75172B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rPr>
              <a:t>15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1261B5-29DC-44D8-8013-E6855EA6112B}"/>
              </a:ext>
            </a:extLst>
          </p:cNvPr>
          <p:cNvGraphicFramePr/>
          <p:nvPr/>
        </p:nvGraphicFramePr>
        <p:xfrm>
          <a:off xmlns:a="http://schemas.openxmlformats.org/drawingml/2006/main" x="438150" y="1381125"/>
          <a:ext xmlns:a="http://schemas.openxmlformats.org/drawingml/2006/main" cx="11315700" cy="2190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47750"/>
                <a:gridCol w="2085975"/>
                <a:gridCol w="1047750"/>
                <a:gridCol w="2085975"/>
                <a:gridCol w="952500"/>
                <a:gridCol w="2238375"/>
                <a:gridCol w="1857375"/>
              </a:tblGrid>
              <a:tr h="7302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안</a:t>
                      </a:r>
                    </a:p>
                  </a:txBody>
                  <a:tcPr marL="95250" marR="95250" marT="76200" marB="76200">
                    <a:lnL w="9525">
                      <a:solidFill>
                        <a:srgbClr val="CFD8D2"/>
                      </a:solidFill>
                      <a:prstDash val="solid"/>
                    </a:lnL>
                    <a:lnR w="9525">
                      <a:solidFill>
                        <a:srgbClr val="CFD8D2"/>
                      </a:solidFill>
                      <a:prstDash val="solid"/>
                    </a:lnR>
                    <a:lnT w="9525">
                      <a:solidFill>
                        <a:srgbClr val="CFD8D2"/>
                      </a:solidFill>
                      <a:prstDash val="solid"/>
                    </a:lnT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C9DEB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QA01 초 / 관측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T w="9525">
                      <a:solidFill>
                        <a:srgbClr val="CFD8D2"/>
                      </a:solidFill>
                      <a:prstDash val="solid"/>
                    </a:lnT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C9DEB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QA02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T w="9525">
                      <a:solidFill>
                        <a:srgbClr val="CFD8D2"/>
                      </a:solidFill>
                      <a:prstDash val="solid"/>
                    </a:lnT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C9DEB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QA03 초 / 완료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T w="9525">
                      <a:solidFill>
                        <a:srgbClr val="CFD8D2"/>
                      </a:solidFill>
                      <a:prstDash val="solid"/>
                    </a:lnT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C9DEB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QA04 개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T w="9525">
                      <a:solidFill>
                        <a:srgbClr val="CFD8D2"/>
                      </a:solidFill>
                      <a:prstDash val="solid"/>
                    </a:lnT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C9DEB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QA05 USD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T w="9525">
                      <a:solidFill>
                        <a:srgbClr val="CFD8D2"/>
                      </a:solidFill>
                      <a:prstDash val="solid"/>
                    </a:lnT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C9DEB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QA06 MB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T w="9525">
                      <a:solidFill>
                        <a:srgbClr val="CFD8D2"/>
                      </a:solidFill>
                      <a:prstDash val="solid"/>
                    </a:lnT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C9DEB1"/>
                    </a:solidFill>
                  </a:tcPr>
                </a:tc>
              </a:tr>
              <a:tr h="7302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A</a:t>
                      </a:r>
                    </a:p>
                  </a:txBody>
                  <a:tcPr marL="95250" marR="95250" marT="76200" marB="76200">
                    <a:lnL w="9525">
                      <a:solidFill>
                        <a:srgbClr val="CFD8D2"/>
                      </a:solidFill>
                      <a:prstDash val="solid"/>
                    </a:lnL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9.268  12/15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19/24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12.559  10/12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미측정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$0.0339156</a:t>
                      </a:r>
                    </a:p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+미확정 1회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41.452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02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B</a:t>
                      </a:r>
                    </a:p>
                  </a:txBody>
                  <a:tcPr marL="95250" marR="95250" marT="76200" marB="76200">
                    <a:lnL w="9525">
                      <a:solidFill>
                        <a:srgbClr val="CFD8D2"/>
                      </a:solidFill>
                      <a:prstDash val="solid"/>
                    </a:lnL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18.922  14/15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22/24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22.622  11/12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미측정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$0.0446804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41.337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28BB5C-822C-4E0B-953E-D36A03A90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57625"/>
            <a:ext cx="112395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동일한 pixel 출력 계약의 기본 24회. 엄격한 전체 승자는 미확정.</a:t>
            </a:r>
          </a:p>
          <a:p xmlns:a="http://schemas.openxmlformats.org/drawingml/2006/main">
            <a: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A의 provider JSON 생성 400은 사용량 미확정 1회·예약 상한 $0.0729404를 보존했다.</a:t>
            </a:r>
          </a:p>
          <a:p xmlns:a="http://schemas.openxmlformats.org/drawingml/2006/main">
            <a: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B 1회는 정정 대상은 맞지만 bbox가 frame 높이를 초과했다. 기존 결과와 섞지 않는다.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A95AA8-3D02-44FA-91E4-5465FD752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953125"/>
            <a:ext cx="11315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rPr>
              <a:t>완료는 호스트 종료 관측, 본문은 별도 저자 조건 검토다. QA01 callback proxy, QA03 조건부 평균. 비용은 12회 전체.</a:t>
            </a:r>
          </a:p>
        </p:txBody>
      </p:sp>
    </p:spTree>
    <p:extLst>
      <p:ext uri="{BB962C8B-B14F-4D97-AF65-F5344CB8AC3E}">
        <p14:creationId xmlns:p14="http://schemas.microsoft.com/office/powerpoint/2010/main" val="173575079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8355B70-6D3F-4FF4-8783-F16EDCBD691F}"/>
              </a:ext>
            </a:extLst>
          </p:cNvPr>
          <p:cNvCxnSpPr>
            <a:stCxn xmlns:a="http://schemas.openxmlformats.org/drawingml/2006/main" id="25" idx="2"/>
            <a:endCxn xmlns:a="http://schemas.openxmlformats.org/drawingml/2006/main" id="28" idx="0"/>
          </p:cNvCxnSpPr>
          <p:nvPr/>
        </p:nvCxnSpPr>
        <p:spPr>
          <a:xfrm xmlns:a="http://schemas.openxmlformats.org/drawingml/2006/main">
            <a:off x="8984457" y="4143375"/>
            <a:ext cx="0" cy="22860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02720"/>
            </a:solidFill>
            <a:prstDash val="solid"/>
            <a:tailEnd type="arrow" w="med" len="med"/>
          </a:ln>
        </p:spPr>
      </p:cxnSp>
      <p:cxnSp>
        <p:nvCxn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7FE3DDF-5D33-4A4F-A76F-47EFB373F45F}"/>
              </a:ext>
            </a:extLst>
          </p:cNvPr>
          <p:cNvCxnSpPr>
            <a:stCxn xmlns:a="http://schemas.openxmlformats.org/drawingml/2006/main" id="22" idx="2"/>
            <a:endCxn xmlns:a="http://schemas.openxmlformats.org/drawingml/2006/main" id="25" idx="0"/>
          </p:cNvCxnSpPr>
          <p:nvPr/>
        </p:nvCxnSpPr>
        <p:spPr>
          <a:xfrm xmlns:a="http://schemas.openxmlformats.org/drawingml/2006/main">
            <a:off x="8984457" y="3324225"/>
            <a:ext cx="0" cy="22860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02720"/>
            </a:solidFill>
            <a:prstDash val="solid"/>
            <a:tailEnd type="arrow" w="med" len="med"/>
          </a:ln>
        </p:spPr>
      </p:cxnSp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1525B05-2888-466F-99BD-291638863624}"/>
              </a:ext>
            </a:extLst>
          </p:cNvPr>
          <p:cNvCxnSpPr>
            <a:stCxn xmlns:a="http://schemas.openxmlformats.org/drawingml/2006/main" id="20" idx="2"/>
            <a:endCxn xmlns:a="http://schemas.openxmlformats.org/drawingml/2006/main" id="22" idx="0"/>
          </p:cNvCxnSpPr>
          <p:nvPr/>
        </p:nvCxnSpPr>
        <p:spPr>
          <a:xfrm xmlns:a="http://schemas.openxmlformats.org/drawingml/2006/main">
            <a:off x="8984457" y="2505075"/>
            <a:ext cx="0" cy="22860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02720"/>
            </a:solidFill>
            <a:prstDash val="solid"/>
            <a:tailEnd type="arrow" w="med" len="med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66DE60-5DE3-4E3E-BED2-BCCAF8816020}"/>
              </a:ext>
            </a:extLst>
          </p:cNvPr>
          <p:cNvCxnSpPr>
            <a:stCxn xmlns:a="http://schemas.openxmlformats.org/drawingml/2006/main" id="11" idx="2"/>
            <a:endCxn xmlns:a="http://schemas.openxmlformats.org/drawingml/2006/main" id="14" idx="0"/>
          </p:cNvCxnSpPr>
          <p:nvPr/>
        </p:nvCxnSpPr>
        <p:spPr>
          <a:xfrm xmlns:a="http://schemas.openxmlformats.org/drawingml/2006/main">
            <a:off x="3207544" y="4143375"/>
            <a:ext cx="0" cy="22860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02720"/>
            </a:solidFill>
            <a:prstDash val="solid"/>
            <a:tailEnd type="arrow" w="med" len="me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19ACDA-6A8D-45C6-AB01-0F8EB682DC0B}"/>
              </a:ext>
            </a:extLst>
          </p:cNvPr>
          <p:cNvCxnSpPr>
            <a:stCxn xmlns:a="http://schemas.openxmlformats.org/drawingml/2006/main" id="8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3207544" y="3324225"/>
            <a:ext cx="0" cy="22860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02720"/>
            </a:solidFill>
            <a:prstDash val="solid"/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4F7DA2-5D53-4FBF-B23E-DC5013F7AF8B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3207544" y="2505075"/>
            <a:ext cx="0" cy="22860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02720"/>
            </a:solidFill>
            <a:prstDash val="solid"/>
            <a:tailEnd type="arrow" w="med" len="med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3D28E78-AA46-414D-ABB8-328A02487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11353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DP3 보완: 실패 범위 재판단과 독립 생산 병행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877A21-F77F-4E2C-8DE5-E794DCED0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000125"/>
            <a:ext cx="11353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7C5B"/>
          </a:solidFill>
          <a:ln xmlns:a="http://schemas.openxmlformats.org/drawingml/2006/main" w="0">
            <a:solidFill>
              <a:srgbClr val="387C5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F83159-C96C-4E51-B6B3-3D7E6A59C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1C71EC-10EA-49A1-89C5-7741E7EC5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266825"/>
            <a:ext cx="5538788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EB1"/>
          </a:solidFill>
          <a:ln xmlns:a="http://schemas.openxmlformats.org/drawingml/2006/main" w="9525">
            <a:solidFill>
              <a:srgbClr val="A7B7A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EF12E1-90CA-4049-AD66-40308352B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1343025"/>
            <a:ext cx="5291138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025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025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025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025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025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025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025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025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025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A2+A5  실패 때만 원본 재판단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9FEF2D-E4B4-4502-8D58-F6B753AF2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14525"/>
            <a:ext cx="5348288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3FF"/>
          </a:solidFill>
          <a:ln xmlns:a="http://schemas.openxmlformats.org/drawingml/2006/main" w="9525">
            <a:solidFill>
              <a:srgbClr val="186FC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922087-2424-43F6-A574-873185BD6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81200"/>
            <a:ext cx="5119688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rPr>
              <a:t>1. 공통 guard가 실제 거절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2D91BA-78C7-47CE-8E79-D1A3CBFA4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33675"/>
            <a:ext cx="5348288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3FF"/>
          </a:solidFill>
          <a:ln xmlns:a="http://schemas.openxmlformats.org/drawingml/2006/main" w="9525">
            <a:solidFill>
              <a:srgbClr val="186FC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F3B123-AF35-4BAF-841F-A29952DEA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00350"/>
            <a:ext cx="5119688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rPr>
              <a:t>2. 영향 부분 또는 raw cue crop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0CACAC-FBAE-4856-A300-54275E5DE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52825"/>
            <a:ext cx="5348288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3FF"/>
          </a:solidFill>
          <a:ln xmlns:a="http://schemas.openxmlformats.org/drawingml/2006/main" w="9525">
            <a:solidFill>
              <a:srgbClr val="186FC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905DAA-3EBA-4AF0-AB2D-139302025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0"/>
            <a:ext cx="5119688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rPr>
              <a:t>3. grid view·좌표 affine 확인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9058EC-65F6-44EB-AC3D-0679B72AF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71975"/>
            <a:ext cx="5348288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3FF"/>
          </a:solidFill>
          <a:ln xmlns:a="http://schemas.openxmlformats.org/drawingml/2006/main" w="9525">
            <a:solidFill>
              <a:srgbClr val="186FC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7B3721-6452-4E2E-AF21-A60296FB4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38650"/>
            <a:ext cx="5119688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rPr>
              <a:t>4. 같은 의미 책임이 다시 판단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DCD3FE-3D5C-45DB-BCF3-63D624A65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067300"/>
            <a:ext cx="5481638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rPr>
              <a:t>정답 bbox를 제공하지 않음</a:t>
            </a:r>
          </a:p>
          <a:p xmlns:a="http://schemas.openxmlformats.org/drawingml/2006/main">
            <a: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rPr>
              <a:t>추가 호출·복구 실패 그대로 보존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83F8A3-AB8A-4DC6-804E-1E57F43EA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5063" y="1266825"/>
            <a:ext cx="5538788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EB1"/>
          </a:solidFill>
          <a:ln xmlns:a="http://schemas.openxmlformats.org/drawingml/2006/main" w="9525">
            <a:solidFill>
              <a:srgbClr val="A7B7A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A378EB-6447-46FC-84EE-75190AFF1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8888" y="1343025"/>
            <a:ext cx="5291138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025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025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025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025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025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025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025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025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025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B4  독립 producer 병행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396267-AC2E-44CB-8C31-F8D9868B9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0313" y="1914525"/>
            <a:ext cx="5348288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3FF"/>
          </a:solidFill>
          <a:ln xmlns:a="http://schemas.openxmlformats.org/drawingml/2006/main" w="9525">
            <a:solidFill>
              <a:srgbClr val="186FC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CD445C-048D-4C82-87E8-60EC467E3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4613" y="1981200"/>
            <a:ext cx="5119688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rPr>
              <a:t>1. 같은 K 호출 슬롯 예산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F0361E-5448-4616-A8EB-7BEAFE100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0313" y="2733675"/>
            <a:ext cx="5348288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3FF"/>
          </a:solidFill>
          <a:ln xmlns:a="http://schemas.openxmlformats.org/drawingml/2006/main" w="9525">
            <a:solidFill>
              <a:srgbClr val="186FC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FFF2B8-E2C6-4947-914E-3C200D786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4613" y="2800350"/>
            <a:ext cx="5119688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rPr>
              <a:t>2. 화면과 발화 producer 병행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43DC798-7DCF-4631-B3A0-3E296A1A3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0313" y="3552825"/>
            <a:ext cx="5348288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3FF"/>
          </a:solidFill>
          <a:ln xmlns:a="http://schemas.openxmlformats.org/drawingml/2006/main" w="9525">
            <a:solidFill>
              <a:srgbClr val="186FC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5921F18-E692-4CC3-9D5D-44E8997AE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4613" y="3619500"/>
            <a:ext cx="5119688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rPr>
              <a:t>3. 양쪽 revision 도착 후 join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4D2CC24-2DF6-440D-A994-A83F64E0F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0313" y="4371975"/>
            <a:ext cx="5348288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3FF"/>
          </a:solidFill>
          <a:ln xmlns:a="http://schemas.openxmlformats.org/drawingml/2006/main" w="9525">
            <a:solidFill>
              <a:srgbClr val="186FC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348C913-732B-42D9-8522-53E0A32C6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4613" y="4438650"/>
            <a:ext cx="5119688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rPr>
              <a:t>4. 기존 binder와 gate 그대로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A751AA7-1EC2-4AF6-9A09-A207B2655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3638" y="5067300"/>
            <a:ext cx="5481638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rPr>
              <a:t>초기 생산 대기를 겹침</a:t>
            </a:r>
          </a:p>
          <a:p xmlns:a="http://schemas.openxmlformats.org/drawingml/2006/main">
            <a: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rPr>
              <a:t>둘의 근거가 있어야 최종 결합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2D7461E-9A90-4506-A96F-7ED7279BE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953125"/>
            <a:ext cx="11315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rPr>
              <a:t>pixel 출력 48회의 보완이다. 이전 A4도 24/24를 회복했으나 시간·비용을 더 썼다. 정규화 A에 A2/A5를 추가한 실험은 없다.</a:t>
            </a:r>
          </a:p>
        </p:txBody>
      </p:sp>
    </p:spTree>
    <p:extLst>
      <p:ext uri="{BB962C8B-B14F-4D97-AF65-F5344CB8AC3E}">
        <p14:creationId xmlns:p14="http://schemas.microsoft.com/office/powerpoint/2010/main" val="45950263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189D8D-16FC-4097-A13A-1A5EEE5CF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11353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DP3 원본 pixel 출력의 기본·보완 48회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375FE1-945D-421D-AD69-3B9EF3AD2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000125"/>
            <a:ext cx="11353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7C5B"/>
          </a:solidFill>
          <a:ln xmlns:a="http://schemas.openxmlformats.org/drawingml/2006/main" w="0">
            <a:solidFill>
              <a:srgbClr val="387C5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0502A5-EC62-44CD-BFE8-58DEA58A9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rPr>
              <a:t>17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AE51A2-1EF5-4CEB-ABA0-B5D3D0CD9DC7}"/>
              </a:ext>
            </a:extLst>
          </p:cNvPr>
          <p:cNvGraphicFramePr/>
          <p:nvPr/>
        </p:nvGraphicFramePr>
        <p:xfrm>
          <a:off xmlns:a="http://schemas.openxmlformats.org/drawingml/2006/main" x="438150" y="1381125"/>
          <a:ext xmlns:a="http://schemas.openxmlformats.org/drawingml/2006/main" cx="113157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47750"/>
                <a:gridCol w="2085975"/>
                <a:gridCol w="1047750"/>
                <a:gridCol w="2085975"/>
                <a:gridCol w="952500"/>
                <a:gridCol w="2238375"/>
                <a:gridCol w="1857375"/>
              </a:tblGrid>
              <a:tr h="62865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안</a:t>
                      </a:r>
                    </a:p>
                  </a:txBody>
                  <a:tcPr marL="95250" marR="95250" marT="76200" marB="76200">
                    <a:lnL w="9525">
                      <a:solidFill>
                        <a:srgbClr val="CFD8D2"/>
                      </a:solidFill>
                      <a:prstDash val="solid"/>
                    </a:lnL>
                    <a:lnR w="9525">
                      <a:solidFill>
                        <a:srgbClr val="CFD8D2"/>
                      </a:solidFill>
                      <a:prstDash val="solid"/>
                    </a:lnR>
                    <a:lnT w="9525">
                      <a:solidFill>
                        <a:srgbClr val="CFD8D2"/>
                      </a:solidFill>
                      <a:prstDash val="solid"/>
                    </a:lnT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C9DEB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QA01 초 / 관측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T w="9525">
                      <a:solidFill>
                        <a:srgbClr val="CFD8D2"/>
                      </a:solidFill>
                      <a:prstDash val="solid"/>
                    </a:lnT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C9DEB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QA02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T w="9525">
                      <a:solidFill>
                        <a:srgbClr val="CFD8D2"/>
                      </a:solidFill>
                      <a:prstDash val="solid"/>
                    </a:lnT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C9DEB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QA03 초 / 완료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T w="9525">
                      <a:solidFill>
                        <a:srgbClr val="CFD8D2"/>
                      </a:solidFill>
                      <a:prstDash val="solid"/>
                    </a:lnT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C9DEB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QA04 개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T w="9525">
                      <a:solidFill>
                        <a:srgbClr val="CFD8D2"/>
                      </a:solidFill>
                      <a:prstDash val="solid"/>
                    </a:lnT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C9DEB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QA05 USD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T w="9525">
                      <a:solidFill>
                        <a:srgbClr val="CFD8D2"/>
                      </a:solidFill>
                      <a:prstDash val="solid"/>
                    </a:lnT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C9DEB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QA06 MB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T w="9525">
                      <a:solidFill>
                        <a:srgbClr val="CFD8D2"/>
                      </a:solidFill>
                      <a:prstDash val="solid"/>
                    </a:lnT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C9DEB1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A</a:t>
                      </a:r>
                    </a:p>
                  </a:txBody>
                  <a:tcPr marL="95250" marR="95250" marT="76200" marB="76200">
                    <a:lnL w="9525">
                      <a:solidFill>
                        <a:srgbClr val="CFD8D2"/>
                      </a:solidFill>
                      <a:prstDash val="solid"/>
                    </a:lnL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9.268  12/15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19/24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12.559  10/12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미측정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$0.0339156*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41.452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B</a:t>
                      </a:r>
                    </a:p>
                  </a:txBody>
                  <a:tcPr marL="95250" marR="95250" marT="76200" marB="76200">
                    <a:lnL w="9525">
                      <a:solidFill>
                        <a:srgbClr val="CFD8D2"/>
                      </a:solidFill>
                      <a:prstDash val="solid"/>
                    </a:lnL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18.922  14/15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22/24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22.622  11/12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미측정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$0.0446804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41.337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6FC1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A2+A5</a:t>
                      </a:r>
                    </a:p>
                  </a:txBody>
                  <a:tcPr marL="95250" marR="95250" marT="76200" marB="76200">
                    <a:lnL w="9525">
                      <a:solidFill>
                        <a:srgbClr val="CFD8D2"/>
                      </a:solidFill>
                      <a:prstDash val="solid"/>
                    </a:lnL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6FC1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11.036  15/15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6FC1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24/24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6FC1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13.795  12/12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미측정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6FC1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$0.0413400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6FC1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50.037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6FC1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B4</a:t>
                      </a:r>
                    </a:p>
                  </a:txBody>
                  <a:tcPr marL="95250" marR="95250" marT="76200" marB="76200">
                    <a:lnL w="9525">
                      <a:solidFill>
                        <a:srgbClr val="CFD8D2"/>
                      </a:solidFill>
                      <a:prstDash val="solid"/>
                    </a:lnL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6FC1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13.881  13/15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6FC1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20/24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6FC1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17.604  11/12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미측정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6FC1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$0.0459164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6FC1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42.762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406F04-87E6-40FA-B91D-17E8587AE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62500"/>
            <a:ext cx="11239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A2+A5는 15/15·12/12·24/24를 회복했지만 최고 RSS가 41.452 → </a:t>
            </a:r>
            <a:r>
              <a:rPr sz="180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rPr>
              <a:t>50.037</a:t>
            </a:r>
            <a:r>
              <a: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 MB.</a:t>
            </a:r>
          </a:p>
          <a:p xmlns:a="http://schemas.openxmlformats.org/drawingml/2006/main">
            <a: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B4는 첫 응답 13/15·완료 11/12·집합 20/24로 전체 회복에 실패했다.</a:t>
            </a:r>
          </a:p>
          <a:p xmlns:a="http://schemas.openxmlformats.org/drawingml/2006/main">
            <a: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A 공통 첫 응답 12개는 9.268 → </a:t>
            </a:r>
            <a:r>
              <a:rPr sz="180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rPr>
              <a:t>10.875</a:t>
            </a:r>
            <a:r>
              <a: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초. 회복과 첫 응답 부담을 교환했다.</a:t>
            </a:r>
          </a:p>
          <a:p xmlns:a="http://schemas.openxmlformats.org/drawingml/2006/main">
            <a: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* A 비용은 사용량 미확정 1회를 제외한 확정액. 평균의 관측 분모가 달라 전체 개선율로 쓰지 않는다.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941CB7-7AD1-44CB-ADAA-FDE74533C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953125"/>
            <a:ext cx="11315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rPr>
              <a:t>완료는 호스트 종료 관측, 본문은 별도 저자 조건 검토다. QA01 callback proxy, QA03 조건부 평균. 비용은 12회 전체.</a:t>
            </a:r>
          </a:p>
        </p:txBody>
      </p:sp>
    </p:spTree>
    <p:extLst>
      <p:ext uri="{BB962C8B-B14F-4D97-AF65-F5344CB8AC3E}">
        <p14:creationId xmlns:p14="http://schemas.microsoft.com/office/powerpoint/2010/main" val="143734853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7D27E2-969B-4C64-BB21-275F66E09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11353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DP3 공통 정규화 판본: 조건부 기본 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717766-5017-482B-9B6A-76D71BE7A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000125"/>
            <a:ext cx="11353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7C5B"/>
          </a:solidFill>
          <a:ln xmlns:a="http://schemas.openxmlformats.org/drawingml/2006/main" w="0">
            <a:solidFill>
              <a:srgbClr val="387C5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6695F8-FED6-4DD4-95E5-C071BD097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rPr>
              <a:t>18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7D5804-B7CB-4B6F-BCFC-36D71CBB7395}"/>
              </a:ext>
            </a:extLst>
          </p:cNvPr>
          <p:cNvGraphicFramePr/>
          <p:nvPr/>
        </p:nvGraphicFramePr>
        <p:xfrm>
          <a:off xmlns:a="http://schemas.openxmlformats.org/drawingml/2006/main" x="438150" y="1381125"/>
          <a:ext xmlns:a="http://schemas.openxmlformats.org/drawingml/2006/main" cx="11315700" cy="2190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09625"/>
                <a:gridCol w="1905000"/>
                <a:gridCol w="952500"/>
                <a:gridCol w="1905000"/>
                <a:gridCol w="1809750"/>
                <a:gridCol w="2143125"/>
                <a:gridCol w="1790700"/>
              </a:tblGrid>
              <a:tr h="73025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안</a:t>
                      </a:r>
                    </a:p>
                  </a:txBody>
                  <a:tcPr marL="95250" marR="95250" marT="76200" marB="76200">
                    <a:lnL w="9525">
                      <a:solidFill>
                        <a:srgbClr val="CFD8D2"/>
                      </a:solidFill>
                      <a:prstDash val="solid"/>
                    </a:lnL>
                    <a:lnR w="9525">
                      <a:solidFill>
                        <a:srgbClr val="CFD8D2"/>
                      </a:solidFill>
                      <a:prstDash val="solid"/>
                    </a:lnR>
                    <a:lnT w="9525">
                      <a:solidFill>
                        <a:srgbClr val="CFD8D2"/>
                      </a:solidFill>
                      <a:prstDash val="solid"/>
                    </a:lnT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C9DEB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QA01 초 / 관측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T w="9525">
                      <a:solidFill>
                        <a:srgbClr val="CFD8D2"/>
                      </a:solidFill>
                      <a:prstDash val="solid"/>
                    </a:lnT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C9DEB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QA02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T w="9525">
                      <a:solidFill>
                        <a:srgbClr val="CFD8D2"/>
                      </a:solidFill>
                      <a:prstDash val="solid"/>
                    </a:lnT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C9DEB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QA03 초 / 종료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T w="9525">
                      <a:solidFill>
                        <a:srgbClr val="CFD8D2"/>
                      </a:solidFill>
                      <a:prstDash val="solid"/>
                    </a:lnT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C9DEB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QA04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T w="9525">
                      <a:solidFill>
                        <a:srgbClr val="CFD8D2"/>
                      </a:solidFill>
                      <a:prstDash val="solid"/>
                    </a:lnT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C9DEB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QA05 USD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T w="9525">
                      <a:solidFill>
                        <a:srgbClr val="CFD8D2"/>
                      </a:solidFill>
                      <a:prstDash val="solid"/>
                    </a:lnT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C9DEB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QA06 MB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T w="9525">
                      <a:solidFill>
                        <a:srgbClr val="CFD8D2"/>
                      </a:solidFill>
                      <a:prstDash val="solid"/>
                    </a:lnT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C9DEB1"/>
                    </a:solidFill>
                  </a:tcPr>
                </a:tc>
              </a:tr>
              <a:tr h="7302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A</a:t>
                      </a:r>
                    </a:p>
                  </a:txBody>
                  <a:tcPr marL="95250" marR="95250" marT="76200" marB="76200">
                    <a:lnL w="9525">
                      <a:solidFill>
                        <a:srgbClr val="CFD8D2"/>
                      </a:solidFill>
                      <a:prstDash val="solid"/>
                    </a:lnL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7.716  15/15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24/24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9.646  12/12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이번 판본</a:t>
                      </a:r>
                    </a:p>
                    <a:p>
                      <a:r>
                        <a:rPr sz="1650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미측정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$0.0254572</a:t>
                      </a:r>
                    </a:p>
                    <a:p>
                      <a:r>
                        <a:rPr sz="1650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15회 호출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40.141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02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B</a:t>
                      </a:r>
                    </a:p>
                  </a:txBody>
                  <a:tcPr marL="95250" marR="95250" marT="76200" marB="76200">
                    <a:lnL w="9525">
                      <a:solidFill>
                        <a:srgbClr val="CFD8D2"/>
                      </a:solidFill>
                      <a:prstDash val="solid"/>
                    </a:lnL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18.774  12/15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18/24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25.033  9/12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이번 판본</a:t>
                      </a:r>
                    </a:p>
                    <a:p>
                      <a:r>
                        <a:rPr sz="1650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미측정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$0.0650212</a:t>
                      </a:r>
                    </a:p>
                    <a:p>
                      <a:r>
                        <a:rPr sz="1650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42회 호출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41.894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6E9A32-A2CA-486D-87E0-199AF0C7C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52875"/>
            <a:ext cx="1123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025" b="1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025" b="1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025" b="1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025" b="1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025" b="1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025" b="1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025" b="1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025" b="1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025" b="1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rPr>
              <a:t>이 공통 출력 계약에서 A를 조건부 기본안으로 선택한다.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25EB58-BF81-4253-83DD-70544C78E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57700"/>
            <a:ext cx="1123950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A만 첫 응답 15/15·종료 12/12·지칭 24/24를 관측했다. B는 밀집 화면 3회 미완료.</a:t>
            </a:r>
          </a:p>
          <a:p xmlns:a="http://schemas.openxmlformats.org/drawingml/2006/main">
            <a: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A/B 모두 0..1000 출력의 같은 변환을 쓴다. 원시 지시점·원본·공통 guard는 유지했다.</a:t>
            </a:r>
          </a:p>
          <a:p xmlns:a="http://schemas.openxmlformats.org/drawingml/2006/main">
            <a: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QA04는 이번 판본 미측정이다. 이전 A/B 각 2.5는 별도 원값으로 남겼다.</a:t>
            </a:r>
          </a:p>
          <a:p xmlns:a="http://schemas.openxmlformats.org/drawingml/2006/main">
            <a: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A2/A5/B4는 이 판본에 없다. pixel 48회의 보완 성적과 분리한다.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3CBBC5-C91F-4104-BB2F-014D9D989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953125"/>
            <a:ext cx="11315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rPr>
              <a:t>관측 조건부 평균과 고정 분모를 함께 표시한다. 정규화 A에 A2/A5를 더한 조합은 실행하지 않았다.</a:t>
            </a:r>
          </a:p>
        </p:txBody>
      </p:sp>
    </p:spTree>
    <p:extLst>
      <p:ext uri="{BB962C8B-B14F-4D97-AF65-F5344CB8AC3E}">
        <p14:creationId xmlns:p14="http://schemas.microsoft.com/office/powerpoint/2010/main" val="137594962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F1DAFB6-EB35-40ED-B1C6-BB0256022DB2}"/>
              </a:ext>
            </a:extLst>
          </p:cNvPr>
          <p:cNvCxnSpPr>
            <a:stCxn xmlns:a="http://schemas.openxmlformats.org/drawingml/2006/main" id="24" idx="2"/>
            <a:endCxn xmlns:a="http://schemas.openxmlformats.org/drawingml/2006/main" id="25" idx="0"/>
          </p:cNvCxnSpPr>
          <p:nvPr/>
        </p:nvCxnSpPr>
        <p:spPr>
          <a:xfrm xmlns:a="http://schemas.openxmlformats.org/drawingml/2006/main">
            <a:off x="8991600" y="5124450"/>
            <a:ext cx="0" cy="1905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02720"/>
            </a:solidFill>
            <a:prstDash val="solid"/>
            <a:tailEnd type="arrow" w="med" len="med"/>
          </a:ln>
        </p:spPr>
      </p:cxnSp>
      <p:cxnSp>
        <p:nvCxn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5E4C8D9-F06C-4016-8D22-6D2F9F0A494D}"/>
              </a:ext>
            </a:extLst>
          </p:cNvPr>
          <p:cNvCxnSpPr>
            <a:stCxn xmlns:a="http://schemas.openxmlformats.org/drawingml/2006/main" id="24" idx="3"/>
            <a:endCxn xmlns:a="http://schemas.openxmlformats.org/drawingml/2006/main" id="22" idx="3"/>
          </p:cNvCxnSpPr>
          <p:nvPr/>
        </p:nvCxnSpPr>
        <p:spPr>
          <a:xfrm xmlns:a="http://schemas.openxmlformats.org/drawingml/2006/main" flipV="1">
            <a:off x="10991850" y="2833688"/>
            <a:ext cx="704850" cy="2014538"/>
          </a:xfrm>
          <a:prstGeom xmlns:a="http://schemas.openxmlformats.org/drawingml/2006/main" prst="bentConnector4">
            <a:avLst/>
          </a:prstGeom>
          <a:ln xmlns:a="http://schemas.openxmlformats.org/drawingml/2006/main" w="14288">
            <a:solidFill>
              <a:srgbClr val="202720"/>
            </a:solidFill>
            <a:prstDash val="dash"/>
            <a:tailEnd type="arrow" w="med" len="med"/>
          </a:ln>
        </p:spPr>
      </p:cxnSp>
      <p:cxnSp>
        <p:nvCxn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28DFF30-49C8-4579-A7F2-68BE0BC09D81}"/>
              </a:ext>
            </a:extLst>
          </p:cNvPr>
          <p:cNvCxnSpPr>
            <a:stCxn xmlns:a="http://schemas.openxmlformats.org/drawingml/2006/main" id="23" idx="3"/>
            <a:endCxn xmlns:a="http://schemas.openxmlformats.org/drawingml/2006/main" id="24" idx="0"/>
          </p:cNvCxnSpPr>
          <p:nvPr/>
        </p:nvCxnSpPr>
        <p:spPr>
          <a:xfrm xmlns:a="http://schemas.openxmlformats.org/drawingml/2006/main">
            <a:off x="8991600" y="4171950"/>
            <a:ext cx="0" cy="4000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02720"/>
            </a:solidFill>
            <a:prstDash val="solid"/>
            <a:tailEnd type="arrow" w="med" len="med"/>
          </a:ln>
        </p:spPr>
      </p:cxnSp>
      <p:cxnSp>
        <p:nvCxn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0F0D505-C273-4662-8210-7ADD01B5940F}"/>
              </a:ext>
            </a:extLst>
          </p:cNvPr>
          <p:cNvCxnSpPr>
            <a:stCxn xmlns:a="http://schemas.openxmlformats.org/drawingml/2006/main" id="22" idx="2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8991600" y="3124200"/>
            <a:ext cx="0" cy="3048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02720"/>
            </a:solidFill>
            <a:prstDash val="solid"/>
            <a:tailEnd type="arrow" w="med" len="med"/>
          </a:ln>
        </p:spPr>
      </p:cxnSp>
      <p:cxnSp>
        <p:nvCxn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B9783E1-AB0B-4C6F-AC60-B6A350C13F21}"/>
              </a:ext>
            </a:extLst>
          </p:cNvPr>
          <p:cNvCxnSpPr>
            <a:stCxn xmlns:a="http://schemas.openxmlformats.org/drawingml/2006/main" id="21" idx="2"/>
            <a:endCxn xmlns:a="http://schemas.openxmlformats.org/drawingml/2006/main" id="22" idx="0"/>
          </p:cNvCxnSpPr>
          <p:nvPr/>
        </p:nvCxnSpPr>
        <p:spPr>
          <a:xfrm xmlns:a="http://schemas.openxmlformats.org/drawingml/2006/main">
            <a:off x="8991600" y="2276475"/>
            <a:ext cx="0" cy="2667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02720"/>
            </a:solidFill>
            <a:prstDash val="solid"/>
            <a:tailEnd type="arrow" w="med" len="med"/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6E3FAE-31FE-4012-B25C-1CDB486A886A}"/>
              </a:ext>
            </a:extLst>
          </p:cNvPr>
          <p:cNvCxnSpPr>
            <a:stCxn xmlns:a="http://schemas.openxmlformats.org/drawingml/2006/main" id="11" idx="1"/>
            <a:endCxn xmlns:a="http://schemas.openxmlformats.org/drawingml/2006/main" id="9" idx="1"/>
          </p:cNvCxnSpPr>
          <p:nvPr/>
        </p:nvCxnSpPr>
        <p:spPr>
          <a:xfrm xmlns:a="http://schemas.openxmlformats.org/drawingml/2006/main" flipH="1" flipV="1">
            <a:off x="323850" y="2995613"/>
            <a:ext cx="876300" cy="1114425"/>
          </a:xfrm>
          <a:prstGeom xmlns:a="http://schemas.openxmlformats.org/drawingml/2006/main" prst="bentConnector4">
            <a:avLst/>
          </a:prstGeom>
          <a:ln xmlns:a="http://schemas.openxmlformats.org/drawingml/2006/main" w="14288">
            <a:solidFill>
              <a:srgbClr val="202720"/>
            </a:solidFill>
            <a:prstDash val="dash"/>
            <a:tailEnd type="arrow" w="med" len="med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7C4FBB-2121-4953-A952-B339DE5F7701}"/>
              </a:ext>
            </a:extLst>
          </p:cNvPr>
          <p:cNvCxnSpPr>
            <a:stCxn xmlns:a="http://schemas.openxmlformats.org/drawingml/2006/main" id="11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3200400" y="4419600"/>
            <a:ext cx="0" cy="4381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02720"/>
            </a:solidFill>
            <a:prstDash val="solid"/>
            <a:tailEnd type="arrow" w="med" len="med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8AF7D4-566E-4EC2-B982-5C761B9D5712}"/>
              </a:ext>
            </a:extLst>
          </p:cNvPr>
          <p:cNvCxnSpPr>
            <a:stCxn xmlns:a="http://schemas.openxmlformats.org/drawingml/2006/main" id="9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1719263" y="3352800"/>
            <a:ext cx="1481138" cy="4476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4288">
            <a:solidFill>
              <a:srgbClr val="202720"/>
            </a:solidFill>
            <a:prstDash val="solid"/>
            <a:tailEnd type="arrow" w="med" len="med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358CE0-CD47-4E5E-BF0B-CD4316A9D6D9}"/>
              </a:ext>
            </a:extLst>
          </p:cNvPr>
          <p:cNvCxnSpPr>
            <a:stCxn xmlns:a="http://schemas.openxmlformats.org/drawingml/2006/main" id="10" idx="2"/>
            <a:endCxn xmlns:a="http://schemas.openxmlformats.org/drawingml/2006/main" id="9" idx="3"/>
          </p:cNvCxnSpPr>
          <p:nvPr/>
        </p:nvCxnSpPr>
        <p:spPr>
          <a:xfrm xmlns:a="http://schemas.openxmlformats.org/drawingml/2006/main" flipH="1">
            <a:off x="2886075" y="2995613"/>
            <a:ext cx="50482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02720"/>
            </a:solidFill>
            <a:prstDash val="solid"/>
            <a:tailEnd type="arrow" w="med" len="me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7894B9-081B-4F63-9056-F956809CBF65}"/>
              </a:ext>
            </a:extLst>
          </p:cNvPr>
          <p:cNvCxnSpPr>
            <a:stCxn xmlns:a="http://schemas.openxmlformats.org/drawingml/2006/main" id="8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 flipH="1">
            <a:off x="1719263" y="2276475"/>
            <a:ext cx="1481138" cy="3619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4288">
            <a:solidFill>
              <a:srgbClr val="202720"/>
            </a:solidFill>
            <a:prstDash val="solid"/>
            <a:tailEnd type="arrow" w="med" len="med"/>
          </a:ln>
        </p:spPr>
      </p:cxn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FBE01EF-6A09-48E7-B35D-A395BFB81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11353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DP4 기본안: Agent 간 업무 인계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23E83A-9445-421B-8687-947A6DB79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000125"/>
            <a:ext cx="11353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7C5B"/>
          </a:solidFill>
          <a:ln xmlns:a="http://schemas.openxmlformats.org/drawingml/2006/main" w="0">
            <a:solidFill>
              <a:srgbClr val="387C5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5EA170-4CC9-4A0F-8198-285550359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rPr>
              <a:t>19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1E7D53-57BA-46F9-BD67-496C19118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266825"/>
            <a:ext cx="55245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EB1"/>
          </a:solidFill>
          <a:ln xmlns:a="http://schemas.openxmlformats.org/drawingml/2006/main" w="9525">
            <a:solidFill>
              <a:srgbClr val="A7B7A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424A83-733E-4E25-AD19-F26A50AD0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9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9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9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9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9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9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9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9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9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A  위임 때 목적별 구성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2B67EE-3B55-4EBC-8B2C-F8D57BCD0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266825"/>
            <a:ext cx="55245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EB1"/>
          </a:solidFill>
          <a:ln xmlns:a="http://schemas.openxmlformats.org/drawingml/2006/main" w="9525">
            <a:solidFill>
              <a:srgbClr val="A7B7A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51ED88-961B-4044-AE05-9FA20C825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35255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9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9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9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9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9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9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9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9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9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B  지속 업무 기록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14256E-B80A-4906-A887-7861F1C88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857375"/>
            <a:ext cx="5238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DE"/>
          </a:solidFill>
          <a:ln xmlns:a="http://schemas.openxmlformats.org/drawingml/2006/main" w="9525">
            <a:solidFill>
              <a:srgbClr val="202720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1  채택 목적·조건·수행 범위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707F4A-7B99-477B-B194-7B9F43078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38425"/>
            <a:ext cx="233362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DE"/>
          </a:solidFill>
          <a:ln xmlns:a="http://schemas.openxmlformats.org/drawingml/2006/main" w="9525">
            <a:solidFill>
              <a:srgbClr val="202720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Source Reader</a:t>
            </a:r>
          </a:p>
          <a:p xmlns:a="http://schemas.openxmlformats.org/drawingml/2006/main">
            <a: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유효 원본·읽은 발췌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E111A1-5A66-435B-B6A1-191108773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638425"/>
            <a:ext cx="2381250" cy="714375"/>
          </a:xfrm>
          <a:prstGeom xmlns:a="http://schemas.openxmlformats.org/drawingml/2006/main" prst="can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02720"/>
            </a:solidFill>
            <a:prstDash val="solid"/>
          </a:ln>
        </p:spPr>
        <p:txBody>
          <a:bodyPr xmlns:a="http://schemas.openxmlformats.org/drawingml/2006/main" lIns="47625" tIns="76200" rIns="47625" bIns="76200" anchor="ctr"/>
          <a:lstStyle xmlns:a="http://schemas.openxmlformats.org/drawingml/2006/main">
            <a:def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현재 원문 원장</a:t>
            </a:r>
          </a:p>
          <a:p xmlns:a="http://schemas.openxmlformats.org/drawingml/2006/main">
            <a: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권한·판본·range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5D3E6F-582E-4817-AC36-9C1A4A592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800475"/>
            <a:ext cx="40005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DE"/>
          </a:solidFill>
          <a:ln xmlns:a="http://schemas.openxmlformats.org/drawingml/2006/main" w="9525">
            <a:solidFill>
              <a:srgbClr val="202720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Purpose-specific Composer</a:t>
            </a:r>
          </a:p>
          <a:p xmlns:a="http://schemas.openxmlformats.org/drawingml/2006/main">
            <a: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실제 원문으로 목적별 capsule 구성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4A1108-5A4D-4FEC-BC57-DAFA8DD06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857750"/>
            <a:ext cx="40005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DE"/>
          </a:solidFill>
          <a:ln xmlns:a="http://schemas.openxmlformats.org/drawingml/2006/main" w="9525">
            <a:solidFill>
              <a:srgbClr val="202720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currentness·권한 gate</a:t>
            </a:r>
          </a:p>
          <a:p xmlns:a="http://schemas.openxmlformats.org/drawingml/2006/main">
            <a: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Agent 전달·receipt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3EDCA2-8ACC-495C-9D56-57B43ECF2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3486150"/>
            <a:ext cx="19050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6901A5-D8A3-4657-8DD6-CEFE99899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3486150"/>
            <a:ext cx="190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2  부족 범위 읽기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6E1486-C44A-4DAE-8436-013F042EE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810250"/>
            <a:ext cx="5524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rPr>
              <a:t>QA05 위임 필요 시에만 구성</a:t>
            </a:r>
          </a:p>
          <a:p xmlns:a="http://schemas.openxmlformats.org/drawingml/2006/main">
            <a: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rPr>
              <a:t>QA03 반복 목적의 원문 조합 비용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8567A8-58B1-499C-B826-FE2B14D21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1857375"/>
            <a:ext cx="5238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DE"/>
          </a:solidFill>
          <a:ln xmlns:a="http://schemas.openxmlformats.org/drawingml/2006/main" w="9525">
            <a:solidFill>
              <a:srgbClr val="202720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1  공개 결과·정정 사건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4640131-CD73-4399-8E7B-F9CFC0C38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543175"/>
            <a:ext cx="40005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DE"/>
          </a:solidFill>
          <a:ln xmlns:a="http://schemas.openxmlformats.org/drawingml/2006/main" w="9525">
            <a:solidFill>
              <a:srgbClr val="202720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Record Producer</a:t>
            </a:r>
          </a:p>
          <a:p xmlns:a="http://schemas.openxmlformats.org/drawingml/2006/main">
            <a: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원문에 근거한 설명·coverage 생산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A114DF6-2B7B-4967-94BA-2737E0EBE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429000"/>
            <a:ext cx="4000500" cy="742950"/>
          </a:xfrm>
          <a:prstGeom xmlns:a="http://schemas.openxmlformats.org/drawingml/2006/main" prst="can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02720"/>
            </a:solidFill>
            <a:prstDash val="solid"/>
          </a:ln>
        </p:spPr>
        <p:txBody>
          <a:bodyPr xmlns:a="http://schemas.openxmlformats.org/drawingml/2006/main" lIns="47625" tIns="76200" rIns="47625" bIns="76200" anchor="ctr"/>
          <a:lstStyle xmlns:a="http://schemas.openxmlformats.org/drawingml/2006/main">
            <a:def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지속 업무 기록 저장소</a:t>
            </a:r>
          </a:p>
          <a:p xmlns:a="http://schemas.openxmlformats.org/drawingml/2006/main">
            <a: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설명 + supporting passages + 판본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82577F2-2AA1-415F-A983-7A08AC298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572000"/>
            <a:ext cx="400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DE"/>
          </a:solidFill>
          <a:ln xmlns:a="http://schemas.openxmlformats.org/drawingml/2006/main" w="9525">
            <a:solidFill>
              <a:srgbClr val="202720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Handoff Builder</a:t>
            </a:r>
          </a:p>
          <a:p xmlns:a="http://schemas.openxmlformats.org/drawingml/2006/main">
            <a: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목적별 추출·부족 원본 보완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4E8BAFB-BC63-4D3F-B684-E3D0BD8DD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5314950"/>
            <a:ext cx="40005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DE"/>
          </a:solidFill>
          <a:ln xmlns:a="http://schemas.openxmlformats.org/drawingml/2006/main" w="9525">
            <a:solidFill>
              <a:srgbClr val="202720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currentness·권한 gate</a:t>
            </a:r>
          </a:p>
          <a:p xmlns:a="http://schemas.openxmlformats.org/drawingml/2006/main">
            <a: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Agent 전달·receipt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B272623-F839-4739-8DF6-40668228B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24815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2478AD4-0CD5-4451-9685-DCFB03F25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248150"/>
            <a:ext cx="2000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2  유효 원문 보완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8E1B271-D6D9-45DD-BF1D-5D2336AAC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886450"/>
            <a:ext cx="5524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rPr>
              <a:t>QA03 유효 설명의 반복 추출</a:t>
            </a:r>
          </a:p>
          <a:p xmlns:a="http://schemas.openxmlformats.org/drawingml/2006/main">
            <a: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rPr>
              <a:t>QA05/06 미사용 생산·갱신·보존</a:t>
            </a:r>
          </a:p>
        </p:txBody>
      </p:sp>
    </p:spTree>
    <p:extLst>
      <p:ext uri="{BB962C8B-B14F-4D97-AF65-F5344CB8AC3E}">
        <p14:creationId xmlns:p14="http://schemas.microsoft.com/office/powerpoint/2010/main" val="179772463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61F8A94-6E4F-4D95-AC7F-B0BA59EDE613}"/>
              </a:ext>
            </a:extLst>
          </p:cNvPr>
          <p:cNvCxnSpPr>
            <a:stCxn xmlns:a="http://schemas.openxmlformats.org/drawingml/2006/main" id="14" idx="2"/>
            <a:endCxn xmlns:a="http://schemas.openxmlformats.org/drawingml/2006/main" id="15" idx="0"/>
          </p:cNvCxnSpPr>
          <p:nvPr/>
        </p:nvCxnSpPr>
        <p:spPr>
          <a:xfrm xmlns:a="http://schemas.openxmlformats.org/drawingml/2006/main">
            <a:off x="2143125" y="4743450"/>
            <a:ext cx="0" cy="50482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02720"/>
            </a:solidFill>
            <a:prstDash val="solid"/>
            <a:tailEnd type="arrow" w="med" len="med"/>
          </a:ln>
        </p:spPr>
      </p:cxnSp>
      <p:cxnSp>
        <p:nvCxn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9A70A89-078F-4896-9EDD-A0DE94559F2D}"/>
              </a:ext>
            </a:extLst>
          </p:cNvPr>
          <p:cNvCxnSpPr>
            <a:stCxn xmlns:a="http://schemas.openxmlformats.org/drawingml/2006/main" id="11" idx="2"/>
            <a:endCxn xmlns:a="http://schemas.openxmlformats.org/drawingml/2006/main" id="14" idx="3"/>
          </p:cNvCxnSpPr>
          <p:nvPr/>
        </p:nvCxnSpPr>
        <p:spPr>
          <a:xfrm xmlns:a="http://schemas.openxmlformats.org/drawingml/2006/main" flipH="1" flipV="1">
            <a:off x="3571875" y="4381500"/>
            <a:ext cx="952500" cy="4572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4288">
            <a:solidFill>
              <a:srgbClr val="202720"/>
            </a:solidFill>
            <a:prstDash val="solid"/>
            <a:tailEnd type="arrow" w="med" len="med"/>
          </a:ln>
        </p:spPr>
      </p:cxnSp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95303F7-14CC-4E4B-AF95-DD468668127C}"/>
              </a:ext>
            </a:extLst>
          </p:cNvPr>
          <p:cNvCxnSpPr>
            <a:stCxn xmlns:a="http://schemas.openxmlformats.org/drawingml/2006/main" id="10" idx="2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6096000" y="3943350"/>
            <a:ext cx="0" cy="48577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02720"/>
            </a:solidFill>
            <a:prstDash val="solid"/>
            <a:tailEnd type="arrow" w="med" len="med"/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7CFE5E-AB5B-4B09-A367-7E9871227498}"/>
              </a:ext>
            </a:extLst>
          </p:cNvPr>
          <p:cNvCxnSpPr>
            <a:stCxn xmlns:a="http://schemas.openxmlformats.org/drawingml/2006/main" id="14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 flipV="1">
            <a:off x="3571875" y="3633788"/>
            <a:ext cx="952500" cy="7477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4288">
            <a:solidFill>
              <a:srgbClr val="202720"/>
            </a:solidFill>
            <a:prstDash val="solid"/>
            <a:tailEnd type="arrow" w="med" len="med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459C90-76FB-4C03-9FCE-175CF8638DBA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571875" y="2557463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02720"/>
            </a:solidFill>
            <a:prstDash val="solid"/>
            <a:tailEnd type="arrow" w="med" len="med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DAEA0CE-9E93-4312-BDDD-DF6FB4EBC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11353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DP4 C: VIA와 수신자의 읽기 책임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502922-2CE8-415F-9ACA-6F10385F7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000125"/>
            <a:ext cx="11353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7C5B"/>
          </a:solidFill>
          <a:ln xmlns:a="http://schemas.openxmlformats.org/drawingml/2006/main" w="0">
            <a:solidFill>
              <a:srgbClr val="387C5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16D7B2-0AB5-4D29-9173-25F4893A7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rPr>
              <a:t>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D9504F-F319-4B20-AC4C-8ADF0F9AC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200150"/>
            <a:ext cx="7524750" cy="480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86FC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B0C7D0-3AD0-4BAC-931C-106AD1520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266825"/>
            <a:ext cx="74295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EB1"/>
          </a:solidFill>
          <a:ln xmlns:a="http://schemas.openxmlformats.org/drawingml/2006/main" w="9525">
            <a:solidFill>
              <a:srgbClr val="A7B7A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646A87-9F74-41E9-9FE9-BF0512026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9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9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9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9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9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9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9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9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9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C  필수 manifest와 수신자 읽기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30B079-59DE-43B2-A799-AFA8938A1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80022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65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65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65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65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65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65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65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65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65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rPr>
              <a:t>VIA 자료 제공 경계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60271B-441D-4583-8226-89BC2EF54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247900"/>
            <a:ext cx="28575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DE"/>
          </a:solidFill>
          <a:ln xmlns:a="http://schemas.openxmlformats.org/drawingml/2006/main" w="9525">
            <a:solidFill>
              <a:srgbClr val="202720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1  채택 목표·조건·수행 범위</a:t>
            </a:r>
          </a:p>
          <a:p xmlns:a="http://schemas.openxmlformats.org/drawingml/2006/main">
            <a: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필수 명세 + 자료 manifest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FCBFAE-AE09-45A3-A00C-60F100106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247900"/>
            <a:ext cx="31432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DE"/>
          </a:solidFill>
          <a:ln xmlns:a="http://schemas.openxmlformats.org/drawingml/2006/main" w="9525">
            <a:solidFill>
              <a:srgbClr val="202720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Adapter·lease 검사</a:t>
            </a:r>
          </a:p>
          <a:p xmlns:a="http://schemas.openxmlformats.org/drawingml/2006/main">
            <a: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수신자·판본·허용 range 확인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735C34-F7D1-4FCD-AC84-FF6EC9B10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324225"/>
            <a:ext cx="31432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DE"/>
          </a:solidFill>
          <a:ln xmlns:a="http://schemas.openxmlformats.org/drawingml/2006/main" w="9525">
            <a:solidFill>
              <a:srgbClr val="202720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Read Service</a:t>
            </a:r>
          </a:p>
          <a:p xmlns:a="http://schemas.openxmlformats.org/drawingml/2006/main">
            <a: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매읽기 권한·판본·철회 검사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F65137-C1FE-4D7B-A470-0FBB3F7ED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429125"/>
            <a:ext cx="3143250" cy="819150"/>
          </a:xfrm>
          <a:prstGeom xmlns:a="http://schemas.openxmlformats.org/drawingml/2006/main" prst="can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02720"/>
            </a:solidFill>
            <a:prstDash val="solid"/>
          </a:ln>
        </p:spPr>
        <p:txBody>
          <a:bodyPr xmlns:a="http://schemas.openxmlformats.org/drawingml/2006/main" lIns="47625" tIns="76200" rIns="47625" bIns="76200" anchor="ctr"/>
          <a:lstStyle xmlns:a="http://schemas.openxmlformats.org/drawingml/2006/main">
            <a:def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원본 store</a:t>
            </a:r>
          </a:p>
          <a:p xmlns:a="http://schemas.openxmlformats.org/drawingml/2006/main">
            <a: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현재 source + revision + 허용 범위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4AB839-B0F8-4EE2-A325-6629B3BA3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514725"/>
            <a:ext cx="333375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06A66"/>
            </a:solidFill>
            <a:prstDash val="dash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EDEF70-008E-41EE-9137-63A568E51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562350"/>
            <a:ext cx="1381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rPr>
              <a:t>Downstream</a:t>
            </a:r>
          </a:p>
          <a:p xmlns:a="http://schemas.openxmlformats.org/drawingml/2006/main">
            <a: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rPr>
              <a:t>Agent 경계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CBA926-504D-46F1-BC9E-65E94EED4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19550"/>
            <a:ext cx="2857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DE"/>
          </a:solidFill>
          <a:ln xmlns:a="http://schemas.openxmlformats.org/drawingml/2006/main" w="9525">
            <a:solidFill>
              <a:srgbClr val="202720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Agent Receiver</a:t>
            </a:r>
          </a:p>
          <a:p xmlns:a="http://schemas.openxmlformats.org/drawingml/2006/main">
            <a: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필요한 상세 범위 선택·결과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6AEAF5-5A48-417E-8EA1-424D7ACAF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248275"/>
            <a:ext cx="2857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DE"/>
          </a:solidFill>
          <a:ln xmlns:a="http://schemas.openxmlformats.org/drawingml/2006/main" w="9525">
            <a:solidFill>
              <a:srgbClr val="202720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실제 결과 반환·receipt</a:t>
            </a:r>
          </a:p>
        </p:txBody>
      </p: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95EAE2-7A85-49DC-86C3-AF9CC9C3CB00}"/>
              </a:ext>
            </a:extLst>
          </p:cNvPr>
          <p:cNvCxnSpPr/>
          <p:nvPr/>
        </p:nvCxnSpPr>
        <p:spPr>
          <a:xfrm xmlns:a="http://schemas.openxmlformats.org/drawingml/2006/main">
            <a:off x="6096000" y="2867025"/>
            <a:ext cx="0" cy="20002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02720"/>
            </a:solidFill>
            <a:prstDash val="solid"/>
            <a:tailEnd type="none" w="med" len="med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12AC7E-BEF7-43F6-8867-DF473F64761B}"/>
              </a:ext>
            </a:extLst>
          </p:cNvPr>
          <p:cNvCxnSpPr/>
          <p:nvPr/>
        </p:nvCxnSpPr>
        <p:spPr>
          <a:xfrm xmlns:a="http://schemas.openxmlformats.org/drawingml/2006/main">
            <a:off x="2143125" y="3067050"/>
            <a:ext cx="395287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02720"/>
            </a:solidFill>
            <a:prstDash val="solid"/>
            <a:tailEnd type="none" w="med" len="med"/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9BA2A3-49F2-445F-B420-AB507090010C}"/>
              </a:ext>
            </a:extLst>
          </p:cNvPr>
          <p:cNvCxnSpPr/>
          <p:nvPr/>
        </p:nvCxnSpPr>
        <p:spPr>
          <a:xfrm xmlns:a="http://schemas.openxmlformats.org/drawingml/2006/main">
            <a:off x="2143125" y="3067050"/>
            <a:ext cx="0" cy="9525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02720"/>
            </a:solidFill>
            <a:prstDash val="solid"/>
            <a:tailEnd type="arrow" w="med" len="me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EBE648-532B-4E38-9888-9EA108797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114675"/>
            <a:ext cx="290512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20500D-EF0D-48BA-91A9-7651AE61F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114675"/>
            <a:ext cx="2905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2  검사 통과 후 manifest 전달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B73389F-F629-40C4-9EFB-867F5F864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933825"/>
            <a:ext cx="8382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7390F67-C942-48A3-B1A4-5F67BAB20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933825"/>
            <a:ext cx="838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3  범위</a:t>
            </a:r>
          </a:p>
          <a:p xmlns:a="http://schemas.openxmlformats.org/drawingml/2006/main">
            <a: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읽기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4361DD9-F87F-4384-BF87-254EE64A2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895850"/>
            <a:ext cx="8382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E1CB595-0BAB-4217-94EF-CE59F2ED5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895850"/>
            <a:ext cx="838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4  원문</a:t>
            </a:r>
          </a:p>
          <a:p xmlns:a="http://schemas.openxmlformats.org/drawingml/2006/main">
            <a: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반환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53A1097-DC8C-43C7-A38C-24738FBEB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009775"/>
            <a:ext cx="3333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2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2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2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2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2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2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2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2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2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구조상 예상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A96EBA9-EFD2-411D-8548-DC0D57B7E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581275"/>
            <a:ext cx="33337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rPr>
              <a:t>QA03/05</a:t>
            </a:r>
          </a:p>
          <a:p xmlns:a="http://schemas.openxmlformats.org/drawingml/2006/main">
            <a:pPr>
              <a:defRPr sz="18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rPr>
              <a:t>VIA의 상세 선택·가공 생략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rPr>
              <a:t>교환 조건</a:t>
            </a:r>
          </a:p>
          <a:p xmlns:a="http://schemas.openxmlformats.org/drawingml/2006/main">
            <a:pPr>
              <a:defRPr sz="18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rPr>
              <a:t>수신자의 실제 읽기 지원과 상세 선택 부담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rPr>
              <a:t>미지원이면 명시적 A/B 전환 또는 보류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85F86E4-836E-4900-A101-0F10D3205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6143625"/>
            <a:ext cx="11144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rPr>
              <a:t>수신자 제외 VIA 시간과 전체 경과시간을 함께 보고한다.</a:t>
            </a:r>
          </a:p>
        </p:txBody>
      </p:sp>
    </p:spTree>
    <p:extLst>
      <p:ext uri="{BB962C8B-B14F-4D97-AF65-F5344CB8AC3E}">
        <p14:creationId xmlns:p14="http://schemas.microsoft.com/office/powerpoint/2010/main" val="1051084302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F285B2-DE95-492F-B1EB-4A00963C8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11353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DP4 실측: 첫 응답 미확정과 조건부 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C361BA-5814-47B6-B922-53795B9F1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000125"/>
            <a:ext cx="11353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7C5B"/>
          </a:solidFill>
          <a:ln xmlns:a="http://schemas.openxmlformats.org/drawingml/2006/main" w="0">
            <a:solidFill>
              <a:srgbClr val="387C5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E3E16A-C9FC-4108-AA0F-A964E28CF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rPr>
              <a:t>21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30F58E-1B0B-4369-ADEB-60EDF2C44F59}"/>
              </a:ext>
            </a:extLst>
          </p:cNvPr>
          <p:cNvGraphicFramePr/>
          <p:nvPr/>
        </p:nvGraphicFramePr>
        <p:xfrm>
          <a:off xmlns:a="http://schemas.openxmlformats.org/drawingml/2006/main" x="438150" y="1381125"/>
          <a:ext xmlns:a="http://schemas.openxmlformats.org/drawingml/2006/main" cx="11315700" cy="2190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47750"/>
                <a:gridCol w="2085975"/>
                <a:gridCol w="1047750"/>
                <a:gridCol w="2085975"/>
                <a:gridCol w="952500"/>
                <a:gridCol w="2238375"/>
                <a:gridCol w="1857375"/>
              </a:tblGrid>
              <a:tr h="54768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안</a:t>
                      </a:r>
                    </a:p>
                  </a:txBody>
                  <a:tcPr marL="95250" marR="95250" marT="76200" marB="76200">
                    <a:lnL w="9525">
                      <a:solidFill>
                        <a:srgbClr val="CFD8D2"/>
                      </a:solidFill>
                      <a:prstDash val="solid"/>
                    </a:lnL>
                    <a:lnR w="9525">
                      <a:solidFill>
                        <a:srgbClr val="CFD8D2"/>
                      </a:solidFill>
                      <a:prstDash val="solid"/>
                    </a:lnR>
                    <a:lnT w="9525">
                      <a:solidFill>
                        <a:srgbClr val="CFD8D2"/>
                      </a:solidFill>
                      <a:prstDash val="solid"/>
                    </a:lnT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C9DEB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QA01 초 / 관측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T w="9525">
                      <a:solidFill>
                        <a:srgbClr val="CFD8D2"/>
                      </a:solidFill>
                      <a:prstDash val="solid"/>
                    </a:lnT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C9DEB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QA02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T w="9525">
                      <a:solidFill>
                        <a:srgbClr val="CFD8D2"/>
                      </a:solidFill>
                      <a:prstDash val="solid"/>
                    </a:lnT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C9DEB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QA03 초 / 완료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T w="9525">
                      <a:solidFill>
                        <a:srgbClr val="CFD8D2"/>
                      </a:solidFill>
                      <a:prstDash val="solid"/>
                    </a:lnT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C9DEB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QA04 개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T w="9525">
                      <a:solidFill>
                        <a:srgbClr val="CFD8D2"/>
                      </a:solidFill>
                      <a:prstDash val="solid"/>
                    </a:lnT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C9DEB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QA05 USD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T w="9525">
                      <a:solidFill>
                        <a:srgbClr val="CFD8D2"/>
                      </a:solidFill>
                      <a:prstDash val="solid"/>
                    </a:lnT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C9DEB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QA06 MB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T w="9525">
                      <a:solidFill>
                        <a:srgbClr val="CFD8D2"/>
                      </a:solidFill>
                      <a:prstDash val="solid"/>
                    </a:lnT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C9DEB1"/>
                    </a:solidFill>
                  </a:tcPr>
                </a:tc>
              </a:tr>
              <a:tr h="54768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A</a:t>
                      </a:r>
                    </a:p>
                  </a:txBody>
                  <a:tcPr marL="95250" marR="95250" marT="76200" marB="76200">
                    <a:lnL w="9525">
                      <a:solidFill>
                        <a:srgbClr val="CFD8D2"/>
                      </a:solidFill>
                      <a:prstDash val="solid"/>
                    </a:lnL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4.307  20/21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N/A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11.019  20/21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1.50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$0.1018408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49.119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768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B</a:t>
                      </a:r>
                    </a:p>
                  </a:txBody>
                  <a:tcPr marL="95250" marR="95250" marT="76200" marB="76200">
                    <a:lnL w="9525">
                      <a:solidFill>
                        <a:srgbClr val="CFD8D2"/>
                      </a:solidFill>
                      <a:prstDash val="solid"/>
                    </a:lnL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4.421  21/21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N/A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12.439  19/21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1.75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$0.2886828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57.229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</a:tr>
              <a:tr h="54768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C</a:t>
                      </a:r>
                    </a:p>
                  </a:txBody>
                  <a:tcPr marL="95250" marR="95250" marT="76200" marB="76200">
                    <a:lnL w="9525">
                      <a:solidFill>
                        <a:srgbClr val="CFD8D2"/>
                      </a:solidFill>
                      <a:prstDash val="solid"/>
                    </a:lnL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4.321  21/21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N/A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4.329  19/21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1.50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$0.0757928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48.153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6DF025-422B-40AD-A425-A846D823A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57625"/>
            <a:ext cx="112395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같은 최초 채택 함수여도 실제 원문 입력은 다르다. QA01 우열 미확정.</a:t>
            </a:r>
          </a:p>
          <a:p xmlns:a="http://schemas.openxmlformats.org/drawingml/2006/main">
            <a: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첫 21호출 입력 token 합계 A 15,318 / B 41,002 / C 13,722. QA02는 비적용.</a:t>
            </a:r>
          </a:p>
          <a:p xmlns:a="http://schemas.openxmlformats.org/drawingml/2006/main">
            <a: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공통 완료 16개 목표 VIA 시간 A 10.565 / B 12.299 / C 4.213초.</a:t>
            </a:r>
          </a:p>
          <a:p xmlns:a="http://schemas.openxmlformats.org/drawingml/2006/main">
            <a: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전체 경과시간 A 31.372 / B 31.406 / C 23.532초. 완료 20/19/19도 함께 보존.</a:t>
            </a:r>
          </a:p>
          <a:p xmlns:a="http://schemas.openxmlformats.org/drawingml/2006/main">
            <a: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저자 본문 충족 B 15/18 / C 12/18 / A 8/18은 B의 실제 반대 이익.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6E7903-27D2-418B-8161-1A5E68BC6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953125"/>
            <a:ext cx="11315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rPr>
              <a:t>완료는 호스트 종료 관측, 본문은 별도 저자 조건 검토다. QA01 callback proxy, QA03 조건부 평균. 비용은 12회 전체.</a:t>
            </a:r>
          </a:p>
        </p:txBody>
      </p:sp>
    </p:spTree>
    <p:extLst>
      <p:ext uri="{BB962C8B-B14F-4D97-AF65-F5344CB8AC3E}">
        <p14:creationId xmlns:p14="http://schemas.microsoft.com/office/powerpoint/2010/main" val="1711894630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901D24D-C5DC-453B-A3FD-86768669BBD5}"/>
              </a:ext>
            </a:extLst>
          </p:cNvPr>
          <p:cNvCxnSpPr>
            <a:stCxn xmlns:a="http://schemas.openxmlformats.org/drawingml/2006/main" id="25" idx="2"/>
            <a:endCxn xmlns:a="http://schemas.openxmlformats.org/drawingml/2006/main" id="28" idx="0"/>
          </p:cNvCxnSpPr>
          <p:nvPr/>
        </p:nvCxnSpPr>
        <p:spPr>
          <a:xfrm xmlns:a="http://schemas.openxmlformats.org/drawingml/2006/main">
            <a:off x="8984457" y="4143375"/>
            <a:ext cx="0" cy="22860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02720"/>
            </a:solidFill>
            <a:prstDash val="solid"/>
            <a:tailEnd type="arrow" w="med" len="med"/>
          </a:ln>
        </p:spPr>
      </p:cxnSp>
      <p:cxnSp>
        <p:nvCxn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E3B74AE-3026-4486-AD50-E9A4FC09A281}"/>
              </a:ext>
            </a:extLst>
          </p:cNvPr>
          <p:cNvCxnSpPr>
            <a:stCxn xmlns:a="http://schemas.openxmlformats.org/drawingml/2006/main" id="22" idx="2"/>
            <a:endCxn xmlns:a="http://schemas.openxmlformats.org/drawingml/2006/main" id="25" idx="0"/>
          </p:cNvCxnSpPr>
          <p:nvPr/>
        </p:nvCxnSpPr>
        <p:spPr>
          <a:xfrm xmlns:a="http://schemas.openxmlformats.org/drawingml/2006/main">
            <a:off x="8984457" y="3324225"/>
            <a:ext cx="0" cy="22860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02720"/>
            </a:solidFill>
            <a:prstDash val="solid"/>
            <a:tailEnd type="arrow" w="med" len="med"/>
          </a:ln>
        </p:spPr>
      </p:cxnSp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B900B7A-3F42-4CFD-B800-4B2521775E68}"/>
              </a:ext>
            </a:extLst>
          </p:cNvPr>
          <p:cNvCxnSpPr>
            <a:stCxn xmlns:a="http://schemas.openxmlformats.org/drawingml/2006/main" id="20" idx="2"/>
            <a:endCxn xmlns:a="http://schemas.openxmlformats.org/drawingml/2006/main" id="22" idx="0"/>
          </p:cNvCxnSpPr>
          <p:nvPr/>
        </p:nvCxnSpPr>
        <p:spPr>
          <a:xfrm xmlns:a="http://schemas.openxmlformats.org/drawingml/2006/main">
            <a:off x="8984457" y="2505075"/>
            <a:ext cx="0" cy="22860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02720"/>
            </a:solidFill>
            <a:prstDash val="solid"/>
            <a:tailEnd type="arrow" w="med" len="med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072FD8-8FB4-46DF-9004-D267C29DF222}"/>
              </a:ext>
            </a:extLst>
          </p:cNvPr>
          <p:cNvCxnSpPr>
            <a:stCxn xmlns:a="http://schemas.openxmlformats.org/drawingml/2006/main" id="11" idx="2"/>
            <a:endCxn xmlns:a="http://schemas.openxmlformats.org/drawingml/2006/main" id="14" idx="0"/>
          </p:cNvCxnSpPr>
          <p:nvPr/>
        </p:nvCxnSpPr>
        <p:spPr>
          <a:xfrm xmlns:a="http://schemas.openxmlformats.org/drawingml/2006/main">
            <a:off x="3207544" y="4143375"/>
            <a:ext cx="0" cy="22860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02720"/>
            </a:solidFill>
            <a:prstDash val="solid"/>
            <a:tailEnd type="arrow" w="med" len="me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F2CE0D-8D3F-43DC-AB3B-47BF9D27C164}"/>
              </a:ext>
            </a:extLst>
          </p:cNvPr>
          <p:cNvCxnSpPr>
            <a:stCxn xmlns:a="http://schemas.openxmlformats.org/drawingml/2006/main" id="8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3207544" y="3324225"/>
            <a:ext cx="0" cy="22860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02720"/>
            </a:solidFill>
            <a:prstDash val="solid"/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9DB912-B3FA-4BA5-9868-375251CA6728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3207544" y="2505075"/>
            <a:ext cx="0" cy="22860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02720"/>
            </a:solidFill>
            <a:prstDash val="solid"/>
            <a:tailEnd type="arrow" w="med" len="med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BDC8E39-1C78-480F-A313-DDB7DE794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11353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DP4 조건부 C와 조건 원문 보완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255D5C-DEA7-4A4D-8696-6E22CCD18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000125"/>
            <a:ext cx="11353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7C5B"/>
          </a:solidFill>
          <a:ln xmlns:a="http://schemas.openxmlformats.org/drawingml/2006/main" w="0">
            <a:solidFill>
              <a:srgbClr val="387C5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0C20BE-AAA6-40F9-95E4-1C8370567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rPr>
              <a:t>22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7B614A-3C24-45A5-BC93-64A08D7E7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266825"/>
            <a:ext cx="5538788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EB1"/>
          </a:solidFill>
          <a:ln xmlns:a="http://schemas.openxmlformats.org/drawingml/2006/main" w="9525">
            <a:solidFill>
              <a:srgbClr val="A7B7A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C545BE-7778-4DF3-A65B-89DD07248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1343025"/>
            <a:ext cx="5291138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025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025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025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025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025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025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025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025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025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C1  기채택 조건 원문 prefetch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C4354B-51F8-4A3F-A2CA-EB48C0C86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14525"/>
            <a:ext cx="5348288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3FF"/>
          </a:solidFill>
          <a:ln xmlns:a="http://schemas.openxmlformats.org/drawingml/2006/main" w="9525">
            <a:solidFill>
              <a:srgbClr val="186FC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42077B-BEDD-4F9E-B1D0-E2CDC6C97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81200"/>
            <a:ext cx="5119688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rPr>
              <a:t>1. 채택된 조건의 provenance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628DC0-BFF7-4F8A-9DED-C0818B6B0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33675"/>
            <a:ext cx="5348288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3FF"/>
          </a:solidFill>
          <a:ln xmlns:a="http://schemas.openxmlformats.org/drawingml/2006/main" w="9525">
            <a:solidFill>
              <a:srgbClr val="186FC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38136F-3A55-4DD1-92F8-F499BFBE4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00350"/>
            <a:ext cx="5119688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rPr>
              <a:t>2. 권한·현재성 확인 후 읽기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6806AF-3C43-4125-928C-0008E6F21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52825"/>
            <a:ext cx="5348288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3FF"/>
          </a:solidFill>
          <a:ln xmlns:a="http://schemas.openxmlformats.org/drawingml/2006/main" w="9525">
            <a:solidFill>
              <a:srgbClr val="186FC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E23871-D706-4526-AA6F-459C68BC9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0"/>
            <a:ext cx="5119688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rPr>
              <a:t>3. 실제 원문을 capsule에 제공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3CC772-8856-40B9-9161-43430C0AE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71975"/>
            <a:ext cx="5348288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3FF"/>
          </a:solidFill>
          <a:ln xmlns:a="http://schemas.openxmlformats.org/drawingml/2006/main" w="9525">
            <a:solidFill>
              <a:srgbClr val="186FC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C7BED1-2CC2-4871-8FC2-7CCA30E5C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38650"/>
            <a:ext cx="5119688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rPr>
              <a:t>4. 수신자가 상세 선택·결과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F34047-29B7-4FE2-B526-CFA14E7EF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067300"/>
            <a:ext cx="5481638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rPr>
              <a:t>조건 원문 누락 줄이기에 한정 적용</a:t>
            </a:r>
          </a:p>
          <a:p xmlns:a="http://schemas.openxmlformats.org/drawingml/2006/main">
            <a: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rPr>
              <a:t>기존 provenance 보유가 전제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34475F-F3AF-4882-B245-F4AE19272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5063" y="1266825"/>
            <a:ext cx="5538788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EB1"/>
          </a:solidFill>
          <a:ln xmlns:a="http://schemas.openxmlformats.org/drawingml/2006/main" w="9525">
            <a:solidFill>
              <a:srgbClr val="A7B7A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8BFEB8-51B1-4112-A4EC-CE91CFE4E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8888" y="1343025"/>
            <a:ext cx="5291138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025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025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025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025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025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025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025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025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025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C2  같은 범위 읽기 cache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4BB655-1A21-4CF4-B032-12BB88D86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0313" y="1914525"/>
            <a:ext cx="5348288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3FF"/>
          </a:solidFill>
          <a:ln xmlns:a="http://schemas.openxmlformats.org/drawingml/2006/main" w="9525">
            <a:solidFill>
              <a:srgbClr val="186FC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F16763-BE89-4247-BC1D-F9E830937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4613" y="1981200"/>
            <a:ext cx="5119688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rPr>
              <a:t>1. 수신자의 실제 범위 요청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4D840D-0D6B-4F1D-8B6A-BCF5E12C3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0313" y="2733675"/>
            <a:ext cx="5348288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3FF"/>
          </a:solidFill>
          <a:ln xmlns:a="http://schemas.openxmlformats.org/drawingml/2006/main" w="9525">
            <a:solidFill>
              <a:srgbClr val="186FC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80823D8-B2A2-4174-83D9-F6DA7D8D2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4613" y="2800350"/>
            <a:ext cx="5119688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rPr>
              <a:t>2. source·revision·range·권한 key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48C7AE1-A0F8-4FF0-8530-31013678D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0313" y="3552825"/>
            <a:ext cx="5348288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3FF"/>
          </a:solidFill>
          <a:ln xmlns:a="http://schemas.openxmlformats.org/drawingml/2006/main" w="9525">
            <a:solidFill>
              <a:srgbClr val="186FC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66266DD-7F8B-4E23-A811-28425B3BE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4613" y="3619500"/>
            <a:ext cx="5119688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rPr>
              <a:t>3. 매 hit 현재 권한 재확인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3E286B8-5096-4563-8578-4D77BD5C4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0313" y="4371975"/>
            <a:ext cx="5348288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3FF"/>
          </a:solidFill>
          <a:ln xmlns:a="http://schemas.openxmlformats.org/drawingml/2006/main" w="9525">
            <a:solidFill>
              <a:srgbClr val="186FC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5DD1099-036D-4147-99EB-1A7BDB589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4613" y="4438650"/>
            <a:ext cx="5119688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rPr>
              <a:t>4. 동일 원문 반환·실제 read 절약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5A64E75-378B-45E6-8A9A-F5045CE94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3638" y="5067300"/>
            <a:ext cx="5481638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rPr>
              <a:t>전체 서비스 지연 이익 없어 보류</a:t>
            </a:r>
          </a:p>
          <a:p xmlns:a="http://schemas.openxmlformats.org/drawingml/2006/main">
            <a: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rPr>
              <a:t>모델 비용 절감으로 해석 금지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48F4B13-915A-4766-82B1-8AAF30867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953125"/>
            <a:ext cx="11315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rPr>
              <a:t>QA01 입력 차이로 우열 미확정. C는 읽기 지원 조건부 권고다. C1/C2는 독립 보완이며 조합 결과가 아니다.</a:t>
            </a:r>
          </a:p>
        </p:txBody>
      </p:sp>
    </p:spTree>
    <p:extLst>
      <p:ext uri="{BB962C8B-B14F-4D97-AF65-F5344CB8AC3E}">
        <p14:creationId xmlns:p14="http://schemas.microsoft.com/office/powerpoint/2010/main" val="33802421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E2E9C0-5D25-4FA6-AB82-065DBB03B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11353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C1 전후: 채택 조건 원문을 인계마다 제공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7820AC-F3EB-4E57-801E-58C0F4D04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000125"/>
            <a:ext cx="11353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7C5B"/>
          </a:solidFill>
          <a:ln xmlns:a="http://schemas.openxmlformats.org/drawingml/2006/main" w="0">
            <a:solidFill>
              <a:srgbClr val="387C5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1291A5-FE3D-4580-B84F-6161D4EF8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rPr>
              <a:t>23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DCAC06-5A8C-4CFC-8A85-E7EF34BBD820}"/>
              </a:ext>
            </a:extLst>
          </p:cNvPr>
          <p:cNvGraphicFramePr/>
          <p:nvPr/>
        </p:nvGraphicFramePr>
        <p:xfrm>
          <a:off xmlns:a="http://schemas.openxmlformats.org/drawingml/2006/main" x="438150" y="1381125"/>
          <a:ext xmlns:a="http://schemas.openxmlformats.org/drawingml/2006/main" cx="11315700" cy="1952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47750"/>
                <a:gridCol w="2095500"/>
                <a:gridCol w="952500"/>
                <a:gridCol w="2095500"/>
                <a:gridCol w="1047750"/>
                <a:gridCol w="2219325"/>
                <a:gridCol w="1857375"/>
              </a:tblGrid>
              <a:tr h="6508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구성</a:t>
                      </a:r>
                    </a:p>
                  </a:txBody>
                  <a:tcPr marL="95250" marR="95250" marT="76200" marB="76200">
                    <a:lnL w="9525">
                      <a:solidFill>
                        <a:srgbClr val="CFD8D2"/>
                      </a:solidFill>
                      <a:prstDash val="solid"/>
                    </a:lnL>
                    <a:lnR w="9525">
                      <a:solidFill>
                        <a:srgbClr val="CFD8D2"/>
                      </a:solidFill>
                      <a:prstDash val="solid"/>
                    </a:lnR>
                    <a:lnT w="9525">
                      <a:solidFill>
                        <a:srgbClr val="CFD8D2"/>
                      </a:solidFill>
                      <a:prstDash val="solid"/>
                    </a:lnT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C9DEB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QA01 초 / 관측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T w="9525">
                      <a:solidFill>
                        <a:srgbClr val="CFD8D2"/>
                      </a:solidFill>
                      <a:prstDash val="solid"/>
                    </a:lnT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C9DEB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QA02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T w="9525">
                      <a:solidFill>
                        <a:srgbClr val="CFD8D2"/>
                      </a:solidFill>
                      <a:prstDash val="solid"/>
                    </a:lnT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C9DEB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QA03 초 / 종료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T w="9525">
                      <a:solidFill>
                        <a:srgbClr val="CFD8D2"/>
                      </a:solidFill>
                      <a:prstDash val="solid"/>
                    </a:lnT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C9DEB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QA04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T w="9525">
                      <a:solidFill>
                        <a:srgbClr val="CFD8D2"/>
                      </a:solidFill>
                      <a:prstDash val="solid"/>
                    </a:lnT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C9DEB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QA05 전체 USD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T w="9525">
                      <a:solidFill>
                        <a:srgbClr val="CFD8D2"/>
                      </a:solidFill>
                      <a:prstDash val="solid"/>
                    </a:lnT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C9DEB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QA06 MB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T w="9525">
                      <a:solidFill>
                        <a:srgbClr val="CFD8D2"/>
                      </a:solidFill>
                      <a:prstDash val="solid"/>
                    </a:lnT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C9DEB1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C</a:t>
                      </a:r>
                    </a:p>
                  </a:txBody>
                  <a:tcPr marL="95250" marR="95250" marT="76200" marB="76200">
                    <a:lnL w="9525">
                      <a:solidFill>
                        <a:srgbClr val="CFD8D2"/>
                      </a:solidFill>
                      <a:prstDash val="solid"/>
                    </a:lnL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4.256  9/9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N/A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4.302  8/9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미측정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$0.0407024</a:t>
                      </a:r>
                    </a:p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28회 호출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45.269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6FC1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C1</a:t>
                      </a:r>
                    </a:p>
                  </a:txBody>
                  <a:tcPr marL="95250" marR="95250" marT="76200" marB="76200">
                    <a:lnL w="9525">
                      <a:solidFill>
                        <a:srgbClr val="CFD8D2"/>
                      </a:solidFill>
                      <a:prstDash val="solid"/>
                    </a:lnL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6FC1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4.271  9/9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N/A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6FC1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4.301  9/9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미측정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6FC1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$0.0376028</a:t>
                      </a:r>
                    </a:p>
                    <a:p>
                      <a:r>
                        <a:rPr sz="1725" b="0">
                          <a:solidFill>
                            <a:srgbClr val="186FC1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27회 호출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6FC1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43.254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41E9A1-CC57-4111-B781-DEC238A49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0"/>
            <a:ext cx="11239500" cy="1971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N-H 9/9 → </a:t>
            </a:r>
            <a:r>
              <a:rPr sz="180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rPr>
              <a:t>9/9.</a:t>
            </a:r>
            <a:r>
              <a: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 저자 본문 4 PASS·2 실패·2 모호·1 미표시 → </a:t>
            </a:r>
            <a:r>
              <a:rPr sz="180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rPr>
              <a:t>9</a:t>
            </a:r>
            <a:r>
              <a: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 PASS.</a:t>
            </a:r>
          </a:p>
          <a:p xmlns:a="http://schemas.openxmlformats.org/drawingml/2006/main">
            <a: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공통 완료 8개 목표: VIA 4.302 → </a:t>
            </a:r>
            <a:r>
              <a:rPr sz="180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rPr>
              <a:t>4.284</a:t>
            </a:r>
            <a:r>
              <a: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초 / 전체 경과 30.532 → </a:t>
            </a:r>
            <a:r>
              <a:rPr sz="180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rPr>
              <a:t>31.519</a:t>
            </a:r>
            <a:r>
              <a: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초.</a:t>
            </a:r>
          </a:p>
          <a:p xmlns:a="http://schemas.openxmlformats.org/drawingml/2006/main">
            <a: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비용 감소에는 C의 복구 1회가 포함된다. 이를 빼면 $0.0365256 → </a:t>
            </a:r>
            <a:r>
              <a:rPr sz="180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rPr>
              <a:t>$0.0376028.</a:t>
            </a:r>
          </a:p>
          <a:p xmlns:a="http://schemas.openxmlformats.org/drawingml/2006/main">
            <a: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C의 첫 안내 조건 강화 1건도 보존했다. 9/9 callback은 올바른 내용 9/9의 확정이 아니다.</a:t>
            </a:r>
          </a:p>
          <a:p xmlns:a="http://schemas.openxmlformats.org/drawingml/2006/main">
            <a: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조건 provenance가 이미 있을 때 원문 조건 누락을 줄이는 범위에 한정 적용한다.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286305-4CC5-49EA-AFF2-455999B00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953125"/>
            <a:ext cx="11315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rPr>
              <a:t>본문은 별도 저자 진단. 수신자 API 경계 제외 VIA 시간과 전체 경과를 구별하며 미표시 초안은 성공으로 세지 않는다.</a:t>
            </a:r>
          </a:p>
        </p:txBody>
      </p:sp>
    </p:spTree>
    <p:extLst>
      <p:ext uri="{BB962C8B-B14F-4D97-AF65-F5344CB8AC3E}">
        <p14:creationId xmlns:p14="http://schemas.microsoft.com/office/powerpoint/2010/main" val="62214607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7929AB-6A27-47EC-B495-52986B4D8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11353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보존·읽기 보완의 실제 이익과 대가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5DF24F-ED6B-4FA8-B37E-80EA13F18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000125"/>
            <a:ext cx="11353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7C5B"/>
          </a:solidFill>
          <a:ln xmlns:a="http://schemas.openxmlformats.org/drawingml/2006/main" w="0">
            <a:solidFill>
              <a:srgbClr val="387C5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5B2464-07EA-4AD1-BDB9-5FBB0A064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rPr>
              <a:t>24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9F38E3-6CA4-4BEB-8F29-7D81B6C22ACB}"/>
              </a:ext>
            </a:extLst>
          </p:cNvPr>
          <p:cNvGraphicFramePr/>
          <p:nvPr/>
        </p:nvGraphicFramePr>
        <p:xfrm>
          <a:off xmlns:a="http://schemas.openxmlformats.org/drawingml/2006/main" x="438150" y="1381125"/>
          <a:ext xmlns:a="http://schemas.openxmlformats.org/drawingml/2006/main" cx="11315700" cy="3190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76625"/>
                <a:gridCol w="1857375"/>
                <a:gridCol w="1857375"/>
                <a:gridCol w="4124325"/>
              </a:tblGrid>
              <a:tr h="6381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비교 대상</a:t>
                      </a:r>
                    </a:p>
                  </a:txBody>
                  <a:tcPr marL="95250" marR="95250" marT="76200" marB="76200">
                    <a:lnL w="9525">
                      <a:solidFill>
                        <a:srgbClr val="CFD8D2"/>
                      </a:solidFill>
                      <a:prstDash val="solid"/>
                    </a:lnL>
                    <a:lnR w="9525">
                      <a:solidFill>
                        <a:srgbClr val="CFD8D2"/>
                      </a:solidFill>
                      <a:prstDash val="solid"/>
                    </a:lnR>
                    <a:lnT w="9525">
                      <a:solidFill>
                        <a:srgbClr val="CFD8D2"/>
                      </a:solidFill>
                      <a:prstDash val="solid"/>
                    </a:lnT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C9DEB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보완 전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T w="9525">
                      <a:solidFill>
                        <a:srgbClr val="CFD8D2"/>
                      </a:solidFill>
                      <a:prstDash val="solid"/>
                    </a:lnT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C9DEB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보완 후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T w="9525">
                      <a:solidFill>
                        <a:srgbClr val="CFD8D2"/>
                      </a:solidFill>
                      <a:prstDash val="solid"/>
                    </a:lnT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C9DEB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교환·판정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T w="9525">
                      <a:solidFill>
                        <a:srgbClr val="CFD8D2"/>
                      </a:solidFill>
                      <a:prstDash val="solid"/>
                    </a:lnT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C9DEB1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A3 실제 응답 12쌍의 원문 읽기</a:t>
                      </a:r>
                    </a:p>
                  </a:txBody>
                  <a:tcPr marL="95250" marR="95250" marT="76200" marB="76200">
                    <a:lnL w="9525">
                      <a:solidFill>
                        <a:srgbClr val="CFD8D2"/>
                      </a:solidFill>
                      <a:prstDash val="solid"/>
                    </a:lnL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39회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6FC1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39회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이 모집단은 보존경계 미도달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A3 큰 원문 native 유지 상태</a:t>
                      </a:r>
                    </a:p>
                  </a:txBody>
                  <a:tcPr marL="95250" marR="95250" marT="76200" marB="76200">
                    <a:lnL w="9525">
                      <a:solidFill>
                        <a:srgbClr val="CFD8D2"/>
                      </a:solidFill>
                      <a:prstDash val="solid"/>
                    </a:lnL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8,555 bytes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6FC1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146 bytes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재조회 12회 추가. 이번 기본 적용 보류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C2 같은 판본·범위 원문 읽기</a:t>
                      </a:r>
                    </a:p>
                  </a:txBody>
                  <a:tcPr marL="95250" marR="95250" marT="76200" marB="76200">
                    <a:lnL w="9525">
                      <a:solidFill>
                        <a:srgbClr val="CFD8D2"/>
                      </a:solidFill>
                      <a:prstDash val="solid"/>
                    </a:lnL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34회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6FC1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22회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12회 cache hit. 결과·전송 입력 동일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C2 실제 read 서비스 합계</a:t>
                      </a:r>
                    </a:p>
                  </a:txBody>
                  <a:tcPr marL="95250" marR="95250" marT="76200" marB="76200">
                    <a:lnL w="9525">
                      <a:solidFill>
                        <a:srgbClr val="CFD8D2"/>
                      </a:solidFill>
                      <a:prstDash val="solid"/>
                    </a:lnL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7.602 ms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6FC1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8.784 ms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직렬화 cache 최대 14,790 bytes. 적용 보류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834D95-9D2D-4209-9291-770007225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14900"/>
            <a:ext cx="1123950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A3는 보존 상태를 줄이는 대신 원본을 다시 읽는다.</a:t>
            </a:r>
          </a:p>
          <a:p xmlns:a="http://schemas.openxmlformats.org/drawingml/2006/main">
            <a:pPr>
              <a:defRPr sz="18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C2는 파일 읽기 호출을 줄였지만 작은 서비스 구간의 시간은 좋아지지 않았다.</a:t>
            </a:r>
          </a:p>
          <a:p xmlns:a="http://schemas.openxmlformats.org/drawingml/2006/main">
            <a:pPr>
              <a:defRPr sz="18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둘 다 API 비용·모델 응답 시간 개선으로 해석하지 않는다.</a:t>
            </a:r>
          </a:p>
        </p:txBody>
      </p:sp>
    </p:spTree>
    <p:extLst>
      <p:ext uri="{BB962C8B-B14F-4D97-AF65-F5344CB8AC3E}">
        <p14:creationId xmlns:p14="http://schemas.microsoft.com/office/powerpoint/2010/main" val="950596209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66470A-7DE3-4379-93AF-E45AB28CE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11353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DP5 문제: 위임을 위한 메모리 관리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39C65D-883E-49C7-8A90-1040C66DE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000125"/>
            <a:ext cx="11353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7C5B"/>
          </a:solidFill>
          <a:ln xmlns:a="http://schemas.openxmlformats.org/drawingml/2006/main" w="0">
            <a:solidFill>
              <a:srgbClr val="387C5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4428D8-19CA-4ABE-B183-99B25E305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rPr>
              <a:t>25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108CA6-272C-42EE-8686-C86D61F31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52550"/>
            <a:ext cx="11239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5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5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5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5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5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5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5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5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5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“고객용으로 좋다고 했던 그 자료 형식으로 다시 만들어줘.</a:t>
            </a:r>
          </a:p>
          <a:p xmlns:a="http://schemas.openxmlformats.org/drawingml/2006/main">
            <a:pPr>
              <a:defRPr sz="25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작성은 그 자료 만든 쪽에 맡겨.”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D6CF44-EA7B-450D-AD1D-BDE57882257B}"/>
              </a:ext>
            </a:extLst>
          </p:cNvPr>
          <p:cNvGraphicFramePr/>
          <p:nvPr/>
        </p:nvGraphicFramePr>
        <p:xfrm>
          <a:off xmlns:a="http://schemas.openxmlformats.org/drawingml/2006/main" x="438150" y="2667000"/>
          <a:ext xmlns:a="http://schemas.openxmlformats.org/drawingml/2006/main" cx="11315700" cy="2476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000750"/>
                <a:gridCol w="5314950"/>
              </a:tblGrid>
              <a:tr h="6191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VIA가 연결해야 할 정보</a:t>
                      </a:r>
                    </a:p>
                  </a:txBody>
                  <a:tcPr marL="95250" marR="95250" marT="76200" marB="76200">
                    <a:lnL w="9525">
                      <a:solidFill>
                        <a:srgbClr val="CFD8D2"/>
                      </a:solidFill>
                      <a:prstDash val="solid"/>
                    </a:lnL>
                    <a:lnR w="9525">
                      <a:solidFill>
                        <a:srgbClr val="CFD8D2"/>
                      </a:solidFill>
                      <a:prstDash val="solid"/>
                    </a:lnR>
                    <a:lnT w="9525">
                      <a:solidFill>
                        <a:srgbClr val="CFD8D2"/>
                      </a:solidFill>
                      <a:prstDash val="solid"/>
                    </a:lnT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C9DEB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기존 설계에서 얻은 지식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T w="9525">
                      <a:solidFill>
                        <a:srgbClr val="CFD8D2"/>
                      </a:solidFill>
                      <a:prstDash val="solid"/>
                    </a:lnT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C9DEB1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실제 본 자료와 판본, 그 자료를 만든 Agent</a:t>
                      </a:r>
                    </a:p>
                  </a:txBody>
                  <a:tcPr marL="95250" marR="95250" marT="76200" marB="76200">
                    <a:lnL w="9525">
                      <a:solidFill>
                        <a:srgbClr val="CFD8D2"/>
                      </a:solidFill>
                      <a:prstDash val="solid"/>
                    </a:lnL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DP1: 원본 조회와 사전 관계 생산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좋다고 한 측면과 그 평가의 적용 상황</a:t>
                      </a:r>
                    </a:p>
                  </a:txBody>
                  <a:tcPr marL="95250" marR="95250" marT="76200" marB="76200">
                    <a:lnL w="9525">
                      <a:solidFill>
                        <a:srgbClr val="CFD8D2"/>
                      </a:solidFill>
                      <a:prstDash val="solid"/>
                    </a:lnL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DP4: 지속 기록의 갱신과 미소비 비용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현재 요청의 목적과 과거 조건의 적용 범위</a:t>
                      </a:r>
                    </a:p>
                  </a:txBody>
                  <a:tcPr marL="95250" marR="95250" marT="76200" marB="76200">
                    <a:lnL w="9525">
                      <a:solidFill>
                        <a:srgbClr val="CFD8D2"/>
                      </a:solidFill>
                      <a:prstDash val="solid"/>
                    </a:lnL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DP4: 상세 업무 판단은 수신자에게 유지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E6DCB7-2479-4692-8BB5-B00C18853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53050"/>
            <a:ext cx="1123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1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1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1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1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1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1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1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1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1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결정: 필요한 관계를 요청 때 해석할까, 사건 발생 후 미리 해석해 둘까?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881351-823B-48F8-B9F6-AA7DF361F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953125"/>
            <a:ext cx="11315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rPr>
              <a:t>DP1의 생산 축을 위임에 구체화한 비교다. 같은 관계 생산의 효과와 비용은 중복 계산하지 않는다.  [DP5 설계 가설 · 미측정]</a:t>
            </a:r>
          </a:p>
        </p:txBody>
      </p:sp>
    </p:spTree>
    <p:extLst>
      <p:ext uri="{BB962C8B-B14F-4D97-AF65-F5344CB8AC3E}">
        <p14:creationId xmlns:p14="http://schemas.microsoft.com/office/powerpoint/2010/main" val="1367957460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722E0A-E6D1-4746-8CB6-6A713E7B6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11353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DP5 사례: 작성자와 수정자, 선호의 범위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1DAA67-E8BF-4CB3-959C-4DA917B1C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000125"/>
            <a:ext cx="11353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7C5B"/>
          </a:solidFill>
          <a:ln xmlns:a="http://schemas.openxmlformats.org/drawingml/2006/main" w="0">
            <a:solidFill>
              <a:srgbClr val="387C5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AE868F-7C9D-4370-A997-CF681AD7C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rPr>
              <a:t>26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8ABF76-9323-47E8-A00C-603100743047}"/>
              </a:ext>
            </a:extLst>
          </p:cNvPr>
          <p:cNvGraphicFramePr/>
          <p:nvPr/>
        </p:nvGraphicFramePr>
        <p:xfrm>
          <a:off xmlns:a="http://schemas.openxmlformats.org/drawingml/2006/main" x="438150" y="1381125"/>
          <a:ext xmlns:a="http://schemas.openxmlformats.org/drawingml/2006/main" cx="1131570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8172450"/>
              </a:tblGrid>
              <a:tr h="5715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사건</a:t>
                      </a:r>
                    </a:p>
                  </a:txBody>
                  <a:tcPr marL="95250" marR="95250" marT="76200" marB="76200">
                    <a:lnL w="9525">
                      <a:solidFill>
                        <a:srgbClr val="CFD8D2"/>
                      </a:solidFill>
                      <a:prstDash val="solid"/>
                    </a:lnL>
                    <a:lnR w="9525">
                      <a:solidFill>
                        <a:srgbClr val="CFD8D2"/>
                      </a:solidFill>
                      <a:prstDash val="solid"/>
                    </a:lnR>
                    <a:lnT w="9525">
                      <a:solidFill>
                        <a:srgbClr val="CFD8D2"/>
                      </a:solidFill>
                      <a:prstDash val="solid"/>
                    </a:lnT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C9DEB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공개 기록과 사용자의 판단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T w="9525">
                      <a:solidFill>
                        <a:srgbClr val="CFD8D2"/>
                      </a:solidFill>
                      <a:prstDash val="solid"/>
                    </a:lnT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C9DEB1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  R이 조사 D1 작성</a:t>
                      </a:r>
                    </a:p>
                  </a:txBody>
                  <a:tcPr marL="95250" marR="95250" marT="76200" marB="76200">
                    <a:lnL w="9525">
                      <a:solidFill>
                        <a:srgbClr val="CFD8D2"/>
                      </a:solidFill>
                      <a:prstDash val="solid"/>
                    </a:lnL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조사의 실제 생산자는 R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  P가 발표 D2 작성</a:t>
                      </a:r>
                    </a:p>
                  </a:txBody>
                  <a:tcPr marL="95250" marR="95250" marT="76200" marB="76200">
                    <a:lnL w="9525">
                      <a:solidFill>
                        <a:srgbClr val="CFD8D2"/>
                      </a:solidFill>
                      <a:prstDash val="solid"/>
                    </a:lnL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발표의 실제 생산자는 P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3  Q가 내부회의용 D3 수정</a:t>
                      </a:r>
                    </a:p>
                  </a:txBody>
                  <a:tcPr marL="95250" marR="95250" marT="76200" marB="76200">
                    <a:lnL w="9525">
                      <a:solidFill>
                        <a:srgbClr val="CFD8D2"/>
                      </a:solidFill>
                      <a:prstDash val="solid"/>
                    </a:lnL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D2를 수정한 판본 D3의 생산자는 Q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4  사용자가 D2와 D3를 비교</a:t>
                      </a:r>
                    </a:p>
                  </a:txBody>
                  <a:tcPr marL="95250" marR="95250" marT="76200" marB="76200">
                    <a:lnL w="9525">
                      <a:solidFill>
                        <a:srgbClr val="CFD8D2"/>
                      </a:solidFill>
                      <a:prstDash val="solid"/>
                    </a:lnL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“외부 고객은 처음 구성, 이번 내부회의는 수정본”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70BDA6-CD34-48A7-87AF-45C597F72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48175"/>
            <a:ext cx="112395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1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1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1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1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1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1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1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1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1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새 요청: “고객용으로 좋다고 한 형식, 수치는 이번 조사,</a:t>
            </a:r>
          </a:p>
          <a:p xmlns:a="http://schemas.openxmlformats.org/drawingml/2006/main">
            <a:pPr>
              <a:defRPr sz="21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작성은 그 자료 만든 쪽에 맡겨.”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BF780C-6F53-4299-B12D-674BA9708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91150"/>
            <a:ext cx="11239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387C5B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175" b="1">
                <a:solidFill>
                  <a:srgbClr val="387C5B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175" b="1">
                <a:solidFill>
                  <a:srgbClr val="387C5B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175" b="1">
                <a:solidFill>
                  <a:srgbClr val="387C5B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175" b="1">
                <a:solidFill>
                  <a:srgbClr val="387C5B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175" b="1">
                <a:solidFill>
                  <a:srgbClr val="387C5B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175" b="1">
                <a:solidFill>
                  <a:srgbClr val="387C5B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175" b="1">
                <a:solidFill>
                  <a:srgbClr val="387C5B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175" b="1">
                <a:solidFill>
                  <a:srgbClr val="387C5B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175" b="1">
                <a:solidFill>
                  <a:srgbClr val="387C5B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387C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387C5B"/>
                </a:solidFill>
                <a:latin typeface="Apple SD Gothic Neo"/>
                <a:ea typeface="Apple SD Gothic Neo"/>
                <a:cs typeface="Apple SD Gothic Neo"/>
              </a:rPr>
              <a:t>해석할 의미: 형식 D2  /  내용은 신규 조사  /  지칭한 작성자 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96F097-6B82-4941-AA68-D0744DAAF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953125"/>
            <a:ext cx="11315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rPr>
              <a:t>“D2의 외부 고객용 구성”이라는 평가를 “모든 업무에서 P 선호”로 넓히지 않는다.  [DP5 설계 가설 · 미측정]</a:t>
            </a:r>
          </a:p>
        </p:txBody>
      </p:sp>
    </p:spTree>
    <p:extLst>
      <p:ext uri="{BB962C8B-B14F-4D97-AF65-F5344CB8AC3E}">
        <p14:creationId xmlns:p14="http://schemas.microsoft.com/office/powerpoint/2010/main" val="1866911755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31AB34E-F5BF-4F97-8822-4D21E86BF3FF}"/>
              </a:ext>
            </a:extLst>
          </p:cNvPr>
          <p:cNvCxnSpPr>
            <a:stCxn xmlns:a="http://schemas.openxmlformats.org/drawingml/2006/main" id="15" idx="4"/>
            <a:endCxn xmlns:a="http://schemas.openxmlformats.org/drawingml/2006/main" id="18" idx="3"/>
          </p:cNvCxnSpPr>
          <p:nvPr/>
        </p:nvCxnSpPr>
        <p:spPr>
          <a:xfrm xmlns:a="http://schemas.openxmlformats.org/drawingml/2006/main" flipH="1">
            <a:off x="11325225" y="2271713"/>
            <a:ext cx="514350" cy="2209800"/>
          </a:xfrm>
          <a:prstGeom xmlns:a="http://schemas.openxmlformats.org/drawingml/2006/main" prst="bentConnector4">
            <a:avLst/>
          </a:prstGeom>
          <a:ln xmlns:a="http://schemas.openxmlformats.org/drawingml/2006/main" w="15240">
            <a:solidFill>
              <a:srgbClr val="202720"/>
            </a:solidFill>
            <a:prstDash val="dash"/>
            <a:tailEnd type="arrow" w="med" len="med"/>
          </a:ln>
        </p:spPr>
      </p:cxnSp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4B03FDB-3A7B-4D0D-A120-2AB102A75C00}"/>
              </a:ext>
            </a:extLst>
          </p:cNvPr>
          <p:cNvCxnSpPr>
            <a:stCxn xmlns:a="http://schemas.openxmlformats.org/drawingml/2006/main" id="18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>
            <a:off x="8991600" y="4829175"/>
            <a:ext cx="0" cy="43815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202720"/>
            </a:solidFill>
            <a:prstDash val="solid"/>
            <a:tailEnd type="arrow" w="med" len="med"/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A0EC510-FD83-41EE-BE4B-DC2E15AF4D47}"/>
              </a:ext>
            </a:extLst>
          </p:cNvPr>
          <p:cNvCxnSpPr>
            <a:stCxn xmlns:a="http://schemas.openxmlformats.org/drawingml/2006/main" id="17" idx="3"/>
            <a:endCxn xmlns:a="http://schemas.openxmlformats.org/drawingml/2006/main" id="18" idx="0"/>
          </p:cNvCxnSpPr>
          <p:nvPr/>
        </p:nvCxnSpPr>
        <p:spPr>
          <a:xfrm xmlns:a="http://schemas.openxmlformats.org/drawingml/2006/main" flipH="1">
            <a:off x="8991600" y="3733800"/>
            <a:ext cx="1381125" cy="4000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5240">
            <a:solidFill>
              <a:srgbClr val="202720"/>
            </a:solidFill>
            <a:prstDash val="solid"/>
            <a:tailEnd type="arrow" w="med" len="med"/>
          </a:ln>
        </p:spPr>
      </p:cxn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04FFDAF-745C-48E4-ABCC-B791995A0F5A}"/>
              </a:ext>
            </a:extLst>
          </p:cNvPr>
          <p:cNvCxnSpPr>
            <a:stCxn xmlns:a="http://schemas.openxmlformats.org/drawingml/2006/main" id="16" idx="3"/>
            <a:endCxn xmlns:a="http://schemas.openxmlformats.org/drawingml/2006/main" id="17" idx="2"/>
          </p:cNvCxnSpPr>
          <p:nvPr/>
        </p:nvCxnSpPr>
        <p:spPr>
          <a:xfrm xmlns:a="http://schemas.openxmlformats.org/drawingml/2006/main">
            <a:off x="8848725" y="3328988"/>
            <a:ext cx="285750" cy="476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5240">
            <a:solidFill>
              <a:srgbClr val="202720"/>
            </a:solidFill>
            <a:prstDash val="solid"/>
            <a:tailEnd type="arrow" w="med" len="med"/>
          </a:ln>
        </p:spPr>
      </p:cxn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9E9DA3-0026-4D2B-A1BA-165C5830A092}"/>
              </a:ext>
            </a:extLst>
          </p:cNvPr>
          <p:cNvCxnSpPr>
            <a:stCxn xmlns:a="http://schemas.openxmlformats.org/drawingml/2006/main" id="15" idx="3"/>
            <a:endCxn xmlns:a="http://schemas.openxmlformats.org/drawingml/2006/main" id="16" idx="0"/>
          </p:cNvCxnSpPr>
          <p:nvPr/>
        </p:nvCxnSpPr>
        <p:spPr>
          <a:xfrm xmlns:a="http://schemas.openxmlformats.org/drawingml/2006/main" flipH="1">
            <a:off x="7610475" y="2619375"/>
            <a:ext cx="1381125" cy="3810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5240">
            <a:solidFill>
              <a:srgbClr val="202720"/>
            </a:solidFill>
            <a:prstDash val="solid"/>
            <a:tailEnd type="arrow" w="med" len="med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58E5CE-5B15-4C1D-B5A5-5BD43824314E}"/>
              </a:ext>
            </a:extLst>
          </p:cNvPr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3200400" y="4610100"/>
            <a:ext cx="0" cy="41910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202720"/>
            </a:solidFill>
            <a:prstDash val="solid"/>
            <a:tailEnd type="arrow" w="med" len="me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740E0F-94D8-40FA-BC30-DEEF01040B14}"/>
              </a:ext>
            </a:extLst>
          </p:cNvPr>
          <p:cNvCxnSpPr>
            <a:stCxn xmlns:a="http://schemas.openxmlformats.org/drawingml/2006/main" id="9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3200400" y="3581400"/>
            <a:ext cx="0" cy="36195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202720"/>
            </a:solidFill>
            <a:prstDash val="solid"/>
            <a:tailEnd type="arrow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3FB09D-C293-471F-BD65-FF38D3060122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3200400" y="2619375"/>
            <a:ext cx="0" cy="409575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202720"/>
            </a:solidFill>
            <a:prstDash val="solid"/>
            <a:tailEnd type="arrow" w="med" len="med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CCBEEC2-1328-4883-9B08-A1FAFB9AA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11353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DP5 기본안: 요청 시 해석과 사전 관계 메모리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0E3CE4-B87F-4854-B3BC-8EB1CAB96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000125"/>
            <a:ext cx="11353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7C5B"/>
          </a:solidFill>
          <a:ln xmlns:a="http://schemas.openxmlformats.org/drawingml/2006/main" w="0">
            <a:solidFill>
              <a:srgbClr val="387C5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DC7BCC-28B1-4D39-BAFE-840A5B67A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rPr>
              <a:t>27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EBE51B-6A5F-4FA5-A810-0D6680A01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266825"/>
            <a:ext cx="55245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EB1"/>
          </a:solidFill>
          <a:ln xmlns:a="http://schemas.openxmlformats.org/drawingml/2006/main" w="9525">
            <a:solidFill>
              <a:srgbClr val="A7B7A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8B2279-2B9D-43F4-9CA5-33CBB9BA6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529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025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025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025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025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025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025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025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025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025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A  요청 시 관계 해석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3B57E2-7F57-4BA8-B277-1925DF3A7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266825"/>
            <a:ext cx="55245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EB1"/>
          </a:solidFill>
          <a:ln xmlns:a="http://schemas.openxmlformats.org/drawingml/2006/main" w="9525">
            <a:solidFill>
              <a:srgbClr val="A7B7A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BCAC35-DFFE-4067-913A-631902A0C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352550"/>
            <a:ext cx="529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025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025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025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025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025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025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025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025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025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B  사전 관계 메모리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3746E6-A58E-40EA-8AEF-F2F5FE5BD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924050"/>
            <a:ext cx="5238750" cy="695325"/>
          </a:xfrm>
          <a:prstGeom xmlns:a="http://schemas.openxmlformats.org/drawingml/2006/main" prst="can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02720"/>
            </a:solidFill>
            <a:prstDash val="solid"/>
          </a:ln>
        </p:spPr>
        <p:txBody>
          <a:bodyPr xmlns:a="http://schemas.openxmlformats.org/drawingml/2006/main" lIns="47625" tIns="76200" rIns="47625" bIns="76200" anchor="ctr"/>
          <a:lstStyle xmlns:a="http://schemas.openxmlformats.org/drawingml/2006/main">
            <a:defPPr algn="ctr">
              <a:defRPr sz="165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65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65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65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65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65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65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65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65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65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65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1  공개 사건의 원본 + 명시적 사실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FDF5DF-E128-4E9C-9412-3CEF7C3B7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28950"/>
            <a:ext cx="4381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DE"/>
          </a:solidFill>
          <a:ln xmlns:a="http://schemas.openxmlformats.org/drawingml/2006/main" w="9525">
            <a:solidFill>
              <a:srgbClr val="202720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65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65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65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65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65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65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65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65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65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65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65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2  새 요청에서 필요한 범위 검색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87844C-E035-4935-B7D3-C08161D6C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43350"/>
            <a:ext cx="4381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DE"/>
          </a:solidFill>
          <a:ln xmlns:a="http://schemas.openxmlformats.org/drawingml/2006/main" w="9525">
            <a:solidFill>
              <a:srgbClr val="202720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65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65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65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65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65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65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65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65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65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65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65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3  요청 해석기</a:t>
            </a:r>
          </a:p>
          <a:p xmlns:a="http://schemas.openxmlformats.org/drawingml/2006/main">
            <a:pPr algn="ctr">
              <a:defRPr sz="165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원본 관계 해석 + 현재 의미 판단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DB2BA9-1856-45EB-8A7F-C3E7EE1CF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029200"/>
            <a:ext cx="4381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DE"/>
          </a:solidFill>
          <a:ln xmlns:a="http://schemas.openxmlformats.org/drawingml/2006/main" w="9525">
            <a:solidFill>
              <a:srgbClr val="202720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65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65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65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65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65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65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65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65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65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65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65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4  현재 의미 채택·표시·공통 위임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BD4EFC-3EC3-41C9-9E90-16FC1A2DA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1924050"/>
            <a:ext cx="5238750" cy="695325"/>
          </a:xfrm>
          <a:prstGeom xmlns:a="http://schemas.openxmlformats.org/drawingml/2006/main" prst="can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02720"/>
            </a:solidFill>
            <a:prstDash val="solid"/>
          </a:ln>
        </p:spPr>
        <p:txBody>
          <a:bodyPr xmlns:a="http://schemas.openxmlformats.org/drawingml/2006/main" lIns="47625" tIns="76200" rIns="47625" bIns="76200" anchor="ctr"/>
          <a:lstStyle xmlns:a="http://schemas.openxmlformats.org/drawingml/2006/main">
            <a:defPPr algn="ctr">
              <a:defRPr sz="165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65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65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65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65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65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65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65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65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65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65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1  같은 원본 + 명시적 사실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25EFCA-03C1-441C-9B26-5386EBA5A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3000375"/>
            <a:ext cx="247650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DE"/>
          </a:solidFill>
          <a:ln xmlns:a="http://schemas.openxmlformats.org/drawingml/2006/main" w="9525">
            <a:solidFill>
              <a:srgbClr val="202720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65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65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65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65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65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65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65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65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65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65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65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2  사건 후 관계 생산</a:t>
            </a:r>
          </a:p>
          <a:p xmlns:a="http://schemas.openxmlformats.org/drawingml/2006/main">
            <a:pPr algn="ctr">
              <a:defRPr sz="165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필요할 때 의미 모델 호출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805E81-3D0F-49B9-85E1-704E6CD83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2933700"/>
            <a:ext cx="2476500" cy="800100"/>
          </a:xfrm>
          <a:prstGeom xmlns:a="http://schemas.openxmlformats.org/drawingml/2006/main" prst="can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02720"/>
            </a:solidFill>
            <a:prstDash val="solid"/>
          </a:ln>
        </p:spPr>
        <p:txBody>
          <a:bodyPr xmlns:a="http://schemas.openxmlformats.org/drawingml/2006/main" lIns="47625" tIns="76200" rIns="47625" bIns="76200" anchor="ctr"/>
          <a:lstStyle xmlns:a="http://schemas.openxmlformats.org/drawingml/2006/main">
            <a:defPPr algn="ctr">
              <a:defRPr sz="165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65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65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65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65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65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65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65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65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65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65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파생 관계 + 출처</a:t>
            </a:r>
          </a:p>
          <a:p xmlns:a="http://schemas.openxmlformats.org/drawingml/2006/main">
            <a:pPr algn="ctr">
              <a:defRPr sz="165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판본·미확인 범위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BBF365-F932-4FA7-9120-DCAD98B0F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4133850"/>
            <a:ext cx="466725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DE"/>
          </a:solidFill>
          <a:ln xmlns:a="http://schemas.openxmlformats.org/drawingml/2006/main" w="9525">
            <a:solidFill>
              <a:srgbClr val="202720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65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65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65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65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65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65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65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65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65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65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65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3  새 요청: 관계 조회·적용 판단</a:t>
            </a:r>
          </a:p>
          <a:p xmlns:a="http://schemas.openxmlformats.org/drawingml/2006/main">
            <a:pPr algn="ctr">
              <a:defRPr sz="165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미생산·오래된 범위는 원본 보완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A50362-8A3B-4A68-8983-BE7E338F3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5267325"/>
            <a:ext cx="4667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DE"/>
          </a:solidFill>
          <a:ln xmlns:a="http://schemas.openxmlformats.org/drawingml/2006/main" w="9525">
            <a:solidFill>
              <a:srgbClr val="202720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65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65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65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65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65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65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65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65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65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65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65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4  같은 의미 채택·표시·공통 위임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369E7C0-0CF8-4833-A807-65721916A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5648325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rPr>
              <a:t>유효한 확정 사실은 A도 재사용한다.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3C4858E-7C80-4E67-AE66-947555432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953125"/>
            <a:ext cx="11315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rPr>
              <a:t>추가된 것은 관계 생산·저장 책임이다. 모델 가중치, DP2 실행 구조와 DP44 스케줄러는 동일하다.  [DP5 설계 가설 · 미측정]</a:t>
            </a:r>
          </a:p>
        </p:txBody>
      </p:sp>
    </p:spTree>
    <p:extLst>
      <p:ext uri="{BB962C8B-B14F-4D97-AF65-F5344CB8AC3E}">
        <p14:creationId xmlns:p14="http://schemas.microsoft.com/office/powerpoint/2010/main" val="819964699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A85BE6-9CF2-41C1-A9C6-958BE94F2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11353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DP5 B가 보존하는 관계와 적용 범위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2992DB-6A48-4F50-9AE6-51BF5BE91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000125"/>
            <a:ext cx="11353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7C5B"/>
          </a:solidFill>
          <a:ln xmlns:a="http://schemas.openxmlformats.org/drawingml/2006/main" w="0">
            <a:solidFill>
              <a:srgbClr val="387C5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CA9862-49B0-489B-80F2-05ED9C3EE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rPr>
              <a:t>28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D8863E-E060-4786-AA82-9AE987E24C74}"/>
              </a:ext>
            </a:extLst>
          </p:cNvPr>
          <p:cNvGraphicFramePr/>
          <p:nvPr/>
        </p:nvGraphicFramePr>
        <p:xfrm>
          <a:off xmlns:a="http://schemas.openxmlformats.org/drawingml/2006/main" x="438150" y="1381125"/>
          <a:ext xmlns:a="http://schemas.openxmlformats.org/drawingml/2006/main" cx="11315700" cy="3581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4000500"/>
                <a:gridCol w="4743450"/>
              </a:tblGrid>
              <a:tr h="5969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관계 필드</a:t>
                      </a:r>
                    </a:p>
                  </a:txBody>
                  <a:tcPr marL="95250" marR="95250" marT="76200" marB="76200">
                    <a:lnL w="9525">
                      <a:solidFill>
                        <a:srgbClr val="CFD8D2"/>
                      </a:solidFill>
                      <a:prstDash val="solid"/>
                    </a:lnL>
                    <a:lnR w="9525">
                      <a:solidFill>
                        <a:srgbClr val="CFD8D2"/>
                      </a:solidFill>
                      <a:prstDash val="solid"/>
                    </a:lnR>
                    <a:lnT w="9525">
                      <a:solidFill>
                        <a:srgbClr val="CFD8D2"/>
                      </a:solidFill>
                      <a:prstDash val="solid"/>
                    </a:lnT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C9DEB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예시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T w="9525">
                      <a:solidFill>
                        <a:srgbClr val="CFD8D2"/>
                      </a:solidFill>
                      <a:prstDash val="solid"/>
                    </a:lnT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C9DEB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사용할 때 확인할 것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T w="9525">
                      <a:solidFill>
                        <a:srgbClr val="CFD8D2"/>
                      </a:solidFill>
                      <a:prstDash val="solid"/>
                    </a:lnT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C9DEB1"/>
                    </a:solidFill>
                  </a:tcPr>
                </a:tc>
              </a:tr>
              <a:tr h="5969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대상과 평가 측면</a:t>
                      </a:r>
                    </a:p>
                  </a:txBody>
                  <a:tcPr marL="95250" marR="95250" marT="76200" marB="76200">
                    <a:lnL w="9525">
                      <a:solidFill>
                        <a:srgbClr val="CFD8D2"/>
                      </a:solidFill>
                      <a:prstDash val="solid"/>
                    </a:lnL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D2@v1의 구성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최신 자료 D3와 구별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69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적용 상황</a:t>
                      </a:r>
                    </a:p>
                  </a:txBody>
                  <a:tcPr marL="95250" marR="95250" marT="76200" marB="76200">
                    <a:lnL w="9525">
                      <a:solidFill>
                        <a:srgbClr val="CFD8D2"/>
                      </a:solidFill>
                      <a:prstDash val="solid"/>
                    </a:lnL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외부 고객 대상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새 요청에도 같은 상황인가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</a:tr>
              <a:tr h="5969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근거</a:t>
                      </a:r>
                    </a:p>
                  </a:txBody>
                  <a:tcPr marL="95250" marR="95250" marT="76200" marB="76200">
                    <a:lnL w="9525">
                      <a:solidFill>
                        <a:srgbClr val="CFD8D2"/>
                      </a:solidFill>
                      <a:prstDash val="solid"/>
                    </a:lnL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피드백 원문 + 실제 표시 판본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원문은 해석본과 함께 보존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69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의존 판본과 처리 범위</a:t>
                      </a:r>
                    </a:p>
                  </a:txBody>
                  <a:tcPr marL="95250" marR="95250" marT="76200" marB="76200">
                    <a:lnL w="9525">
                      <a:solidFill>
                        <a:srgbClr val="CFD8D2"/>
                      </a:solidFill>
                      <a:prstDash val="solid"/>
                    </a:lnL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source revisions + 사건 cursor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변경·누락이면 원본 보완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</a:tr>
              <a:tr h="5969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공통 사실 연결</a:t>
                      </a:r>
                    </a:p>
                  </a:txBody>
                  <a:tcPr marL="95250" marR="95250" marT="76200" marB="76200">
                    <a:lnL w="9525">
                      <a:solidFill>
                        <a:srgbClr val="CFD8D2"/>
                      </a:solidFill>
                      <a:prstDash val="solid"/>
                    </a:lnL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D2의 실제 작성자는 P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과거 작성자와 현재 가용성 구별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F259F7-BF4B-4BD0-ACCD-0593F1540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48275"/>
            <a:ext cx="1123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02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02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02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02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02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02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02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02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02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판본이 유효해도 의미 해석은 틀릴 수 있다.</a:t>
            </a:r>
          </a:p>
          <a:p xmlns:a="http://schemas.openxmlformats.org/drawingml/2006/main">
            <a:pPr>
              <a:defRPr sz="202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과거 평가의 범위와 현재 요청의 의미는 요청 해석기가 다시 판단한다.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DF4751-F778-4E03-B6F4-94CB708B1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953125"/>
            <a:ext cx="11315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rPr>
              <a:t>이미 확정된 조건과 명시적 선호는 두 안의 공통 사실이다. B만의 이익으로 세지 않는다.  [DP5 설계 가설 · 미측정]</a:t>
            </a:r>
          </a:p>
        </p:txBody>
      </p:sp>
    </p:spTree>
    <p:extLst>
      <p:ext uri="{BB962C8B-B14F-4D97-AF65-F5344CB8AC3E}">
        <p14:creationId xmlns:p14="http://schemas.microsoft.com/office/powerpoint/2010/main" val="1130088248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DFB82C-4863-40F5-B565-B52A0AA50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11353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DP5 실행: 검색과 의미 해석의 역할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0302EA-DEDF-4D5C-A10F-B952CE9F5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000125"/>
            <a:ext cx="11353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7C5B"/>
          </a:solidFill>
          <a:ln xmlns:a="http://schemas.openxmlformats.org/drawingml/2006/main" w="0">
            <a:solidFill>
              <a:srgbClr val="387C5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10B6EB-717F-4E43-96A7-844EE2369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rPr>
              <a:t>29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E387F5-4D31-489B-8137-3EB44F81CC45}"/>
              </a:ext>
            </a:extLst>
          </p:cNvPr>
          <p:cNvGraphicFramePr/>
          <p:nvPr/>
        </p:nvGraphicFramePr>
        <p:xfrm>
          <a:off xmlns:a="http://schemas.openxmlformats.org/drawingml/2006/main" x="438150" y="1381125"/>
          <a:ext xmlns:a="http://schemas.openxmlformats.org/drawingml/2006/main" cx="11315700" cy="361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76375"/>
                <a:gridCol w="4914900"/>
                <a:gridCol w="4924425"/>
              </a:tblGrid>
              <a:tr h="7239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단계</a:t>
                      </a:r>
                    </a:p>
                  </a:txBody>
                  <a:tcPr marL="95250" marR="95250" marT="76200" marB="76200">
                    <a:lnL w="9525">
                      <a:solidFill>
                        <a:srgbClr val="CFD8D2"/>
                      </a:solidFill>
                      <a:prstDash val="solid"/>
                    </a:lnL>
                    <a:lnR w="9525">
                      <a:solidFill>
                        <a:srgbClr val="CFD8D2"/>
                      </a:solidFill>
                      <a:prstDash val="solid"/>
                    </a:lnR>
                    <a:lnT w="9525">
                      <a:solidFill>
                        <a:srgbClr val="CFD8D2"/>
                      </a:solidFill>
                      <a:prstDash val="solid"/>
                    </a:lnT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C9DEB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A 요청 시 해석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T w="9525">
                      <a:solidFill>
                        <a:srgbClr val="CFD8D2"/>
                      </a:solidFill>
                      <a:prstDash val="solid"/>
                    </a:lnT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C9DEB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B 사전 관계 메모리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T w="9525">
                      <a:solidFill>
                        <a:srgbClr val="CFD8D2"/>
                      </a:solidFill>
                      <a:prstDash val="solid"/>
                    </a:lnT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C9DEB1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사건 수신</a:t>
                      </a:r>
                    </a:p>
                  </a:txBody>
                  <a:tcPr marL="95250" marR="95250" marT="76200" marB="76200">
                    <a:lnL w="9525">
                      <a:solidFill>
                        <a:srgbClr val="CFD8D2"/>
                      </a:solidFill>
                      <a:prstDash val="solid"/>
                    </a:lnL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공통 사실·원문 기록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같은 기록 + 미확정 관계 생산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후보 검색</a:t>
                      </a:r>
                    </a:p>
                  </a:txBody>
                  <a:tcPr marL="95250" marR="95250" marT="76200" marB="76200">
                    <a:lnL w="9525">
                      <a:solidFill>
                        <a:srgbClr val="CFD8D2"/>
                      </a:solidFill>
                      <a:prstDash val="solid"/>
                    </a:lnL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ID·시각·Task 연결 필터</a:t>
                      </a:r>
                    </a:p>
                    <a:p>
                      <a:r>
                        <a:rPr sz="1800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텍스트 검색으로 원본 확보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같은 검색 수단으로 관계 확보</a:t>
                      </a:r>
                    </a:p>
                    <a:p>
                      <a:r>
                        <a:rPr sz="1800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현재성·확인 범위 검사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의미 판단</a:t>
                      </a:r>
                    </a:p>
                  </a:txBody>
                  <a:tcPr marL="95250" marR="95250" marT="76200" marB="76200">
                    <a:lnL w="9525">
                      <a:solidFill>
                        <a:srgbClr val="CFD8D2"/>
                      </a:solidFill>
                      <a:prstDash val="solid"/>
                    </a:lnL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요청 해석기가 원본 사이의</a:t>
                      </a:r>
                    </a:p>
                    <a:p>
                      <a:r>
                        <a:rPr sz="1800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관계와 현재 목적을 함께 판단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요청 해석기가 관계 적용 판단</a:t>
                      </a:r>
                    </a:p>
                    <a:p>
                      <a:r>
                        <a:rPr sz="1800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부족하면 같은 원본에서 해석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채택 후</a:t>
                      </a:r>
                    </a:p>
                  </a:txBody>
                  <a:tcPr marL="95250" marR="95250" marT="76200" marB="76200">
                    <a:lnL w="9525">
                      <a:solidFill>
                        <a:srgbClr val="CFD8D2"/>
                      </a:solidFill>
                      <a:prstDash val="solid"/>
                    </a:lnL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같은 목표·조건 명세와 자료 참조로 위임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상세 조사·계획·실행은 같은 수신자가 수행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795C60-B501-49FF-8B6E-927E33A9C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0"/>
            <a:ext cx="112395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9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9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9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9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9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9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9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9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9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검색은 후보를 찾고, LLM은 의미를 판단한다. 고정된 호출 횟수 비교가 아니다.</a:t>
            </a:r>
          </a:p>
          <a:p xmlns:a="http://schemas.openxmlformats.org/drawingml/2006/main">
            <a:pPr>
              <a:defRPr sz="19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Embedding 검색은 선택적 공통 보완이며 기본안의 차이로 두지 않는다.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DBD5F9-1F68-4A84-AED5-8C291D07B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953125"/>
            <a:ext cx="11315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rPr>
              <a:t>명시적 작성자·Task 조회에는 모델이 필요 없다. 두 안 모두 필요한 원본 범위만 읽는다.  [DP5 설계 가설 · 미측정]</a:t>
            </a:r>
          </a:p>
        </p:txBody>
      </p:sp>
    </p:spTree>
    <p:extLst>
      <p:ext uri="{BB962C8B-B14F-4D97-AF65-F5344CB8AC3E}">
        <p14:creationId xmlns:p14="http://schemas.microsoft.com/office/powerpoint/2010/main" val="948942997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661F14-5FA3-45D0-8D4A-DF9835B48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11353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DP5 주요 손익: 응답 대기와 사전 생산 비용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5C0176-DB3B-4A4E-AF03-4E5B5CF56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000125"/>
            <a:ext cx="11353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7C5B"/>
          </a:solidFill>
          <a:ln xmlns:a="http://schemas.openxmlformats.org/drawingml/2006/main" w="0">
            <a:solidFill>
              <a:srgbClr val="387C5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6FE8DC-0319-47D3-9661-8ED369EE8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rPr>
              <a:t>30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85BAB4-A9C5-4917-AEAF-29634A84845D}"/>
              </a:ext>
            </a:extLst>
          </p:cNvPr>
          <p:cNvGraphicFramePr/>
          <p:nvPr/>
        </p:nvGraphicFramePr>
        <p:xfrm>
          <a:off xmlns:a="http://schemas.openxmlformats.org/drawingml/2006/main" x="438150" y="1381125"/>
          <a:ext xmlns:a="http://schemas.openxmlformats.org/drawingml/2006/main" cx="113157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05000"/>
                <a:gridCol w="4705350"/>
                <a:gridCol w="4705350"/>
              </a:tblGrid>
              <a:tr h="833438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QA</a:t>
                      </a:r>
                    </a:p>
                  </a:txBody>
                  <a:tcPr marL="95250" marR="95250" marT="76200" marB="76200">
                    <a:lnL w="9525">
                      <a:solidFill>
                        <a:srgbClr val="CFD8D2"/>
                      </a:solidFill>
                      <a:prstDash val="solid"/>
                    </a:lnL>
                    <a:lnR w="9525">
                      <a:solidFill>
                        <a:srgbClr val="CFD8D2"/>
                      </a:solidFill>
                      <a:prstDash val="solid"/>
                    </a:lnR>
                    <a:lnT w="9525">
                      <a:solidFill>
                        <a:srgbClr val="CFD8D2"/>
                      </a:solidFill>
                      <a:prstDash val="solid"/>
                    </a:lnT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C9DEB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A가 유리한 조건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T w="9525">
                      <a:solidFill>
                        <a:srgbClr val="CFD8D2"/>
                      </a:solidFill>
                      <a:prstDash val="solid"/>
                    </a:lnT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C9DEB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B가 유리한 조건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T w="9525">
                      <a:solidFill>
                        <a:srgbClr val="CFD8D2"/>
                      </a:solidFill>
                      <a:prstDash val="solid"/>
                    </a:lnT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C9DEB1"/>
                    </a:solidFill>
                  </a:tcPr>
                </a:tc>
              </a:tr>
              <a:tr h="83343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QA01</a:t>
                      </a:r>
                    </a:p>
                    <a:p>
                      <a:r>
                        <a:rPr sz="1800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첫 응답 지연</a:t>
                      </a:r>
                    </a:p>
                  </a:txBody>
                  <a:tcPr marL="95250" marR="95250" marT="76200" marB="76200">
                    <a:lnL w="9525">
                      <a:solidFill>
                        <a:srgbClr val="CFD8D2"/>
                      </a:solidFill>
                      <a:prstDash val="solid"/>
                    </a:lnL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명시적 ID·소수 원본으로 충분</a:t>
                      </a:r>
                    </a:p>
                    <a:p>
                      <a:r>
                        <a:rPr sz="1800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B 갱신이 요청과 자원 경합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첫 재참조의 관계가 이미 준비됨</a:t>
                      </a:r>
                    </a:p>
                    <a:p>
                      <a:r>
                        <a:rPr sz="1800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그 관계가 첫 올바른 응답에 필수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3343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QA03</a:t>
                      </a:r>
                    </a:p>
                    <a:p>
                      <a:r>
                        <a:rPr sz="1800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VIA 처리시간</a:t>
                      </a:r>
                    </a:p>
                  </a:txBody>
                  <a:tcPr marL="95250" marR="95250" marT="76200" marB="76200">
                    <a:lnL w="9525">
                      <a:solidFill>
                        <a:srgbClr val="CFD8D2"/>
                      </a:solidFill>
                      <a:prstDash val="solid"/>
                    </a:lnL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단순 조회 또는 새로운 조건</a:t>
                      </a:r>
                    </a:p>
                    <a:p>
                      <a:r>
                        <a:rPr sz="1800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B가 원본까지 다시 읽어야 함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유효 관계로 요청 내 원본 탐색과</a:t>
                      </a:r>
                    </a:p>
                    <a:p>
                      <a:r>
                        <a:rPr sz="1800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조합 작업을 실제로 줄임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</a:tr>
              <a:tr h="83343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QA05</a:t>
                      </a:r>
                    </a:p>
                    <a:p>
                      <a:r>
                        <a:rPr sz="1800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전체 모델 비용</a:t>
                      </a:r>
                    </a:p>
                  </a:txBody>
                  <a:tcPr marL="95250" marR="95250" marT="76200" marB="76200">
                    <a:lnL w="9525">
                      <a:solidFill>
                        <a:srgbClr val="CFD8D2"/>
                      </a:solidFill>
                      <a:prstDash val="solid"/>
                    </a:lnL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결과는 많지만 재참조는 적음</a:t>
                      </a:r>
                    </a:p>
                    <a:p>
                      <a:r>
                        <a:rPr sz="1800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쓰지 않은 해석본 생산을 생략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같은 관계의 여러 요청 재사용이</a:t>
                      </a:r>
                    </a:p>
                    <a:p>
                      <a:r>
                        <a:rPr sz="1800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생산·갱신 비용을 상쇄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170326-9821-4D95-88E2-8CC6326E9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19675"/>
            <a:ext cx="11239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02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02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02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02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02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02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02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02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02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직관적 교환: B는 미래의 관계 해석을 앞당기며, 쓰이지 않은 생산비용도 낸다.</a:t>
            </a:r>
          </a:p>
          <a:p xmlns:a="http://schemas.openxmlformats.org/drawingml/2006/main">
            <a:pPr>
              <a:defRPr sz="202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A도 확정한 사실을 재사용한다. B가 모든 반복 요청에서 더 싼 것은 아니다.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28E06C-240A-4F27-AE69-89C768546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953125"/>
            <a:ext cx="11315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rPr>
              <a:t>QA01/03은 같은 대기를 함께 줄일 수 있다. QA05에는 미소비 생산·갱신·실패·수신자를 포함한다.  [DP5 설계 가설 · 미측정]</a:t>
            </a:r>
          </a:p>
        </p:txBody>
      </p:sp>
    </p:spTree>
    <p:extLst>
      <p:ext uri="{BB962C8B-B14F-4D97-AF65-F5344CB8AC3E}">
        <p14:creationId xmlns:p14="http://schemas.microsoft.com/office/powerpoint/2010/main" val="1629985077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8FA84F-AA03-45B3-BE7F-70972B082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11353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DP5 정확성: 대상과 조건을 처음 채택할 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D6A881-68A7-40DD-8DCF-B1BE6EFC5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000125"/>
            <a:ext cx="11353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7C5B"/>
          </a:solidFill>
          <a:ln xmlns:a="http://schemas.openxmlformats.org/drawingml/2006/main" w="0">
            <a:solidFill>
              <a:srgbClr val="387C5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E69776-FE57-47FF-8BE8-4FEF03844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rPr>
              <a:t>31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7279B9-AF3D-4EAE-A07A-5E39F60E5EA0}"/>
              </a:ext>
            </a:extLst>
          </p:cNvPr>
          <p:cNvGraphicFramePr/>
          <p:nvPr/>
        </p:nvGraphicFramePr>
        <p:xfrm>
          <a:off xmlns:a="http://schemas.openxmlformats.org/drawingml/2006/main" x="438150" y="1381125"/>
          <a:ext xmlns:a="http://schemas.openxmlformats.org/drawingml/2006/main" cx="11315700" cy="2714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43125"/>
                <a:gridCol w="4429125"/>
                <a:gridCol w="4743450"/>
              </a:tblGrid>
              <a:tr h="90487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평가</a:t>
                      </a:r>
                    </a:p>
                  </a:txBody>
                  <a:tcPr marL="95250" marR="95250" marT="76200" marB="76200">
                    <a:lnL w="9525">
                      <a:solidFill>
                        <a:srgbClr val="CFD8D2"/>
                      </a:solidFill>
                      <a:prstDash val="solid"/>
                    </a:lnL>
                    <a:lnR w="9525">
                      <a:solidFill>
                        <a:srgbClr val="CFD8D2"/>
                      </a:solidFill>
                      <a:prstDash val="solid"/>
                    </a:lnR>
                    <a:lnT w="9525">
                      <a:solidFill>
                        <a:srgbClr val="CFD8D2"/>
                      </a:solidFill>
                      <a:prstDash val="solid"/>
                    </a:lnT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C9DEB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이 사례에서 확인할 의미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T w="9525">
                      <a:solidFill>
                        <a:srgbClr val="CFD8D2"/>
                      </a:solidFill>
                      <a:prstDash val="solid"/>
                    </a:lnT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C9DEB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두 안의 반대 위험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T w="9525">
                      <a:solidFill>
                        <a:srgbClr val="CFD8D2"/>
                      </a:solidFill>
                      <a:prstDash val="solid"/>
                    </a:lnT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C9DEB1"/>
                    </a:solidFill>
                  </a:tcPr>
                </a:tc>
              </a:tr>
              <a:tr h="9048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QA02</a:t>
                      </a:r>
                    </a:p>
                    <a:p>
                      <a:r>
                        <a:rPr sz="187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지칭 대상 식별</a:t>
                      </a:r>
                    </a:p>
                  </a:txBody>
                  <a:tcPr marL="95250" marR="95250" marT="76200" marB="76200">
                    <a:lnL w="9525">
                      <a:solidFill>
                        <a:srgbClr val="CFD8D2"/>
                      </a:solidFill>
                      <a:prstDash val="solid"/>
                    </a:lnL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“좋다고 한 자료” = D2</a:t>
                      </a:r>
                    </a:p>
                    <a:p>
                      <a:r>
                        <a:rPr sz="187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“그 자료 만든 쪽” = P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A: 흩어진 원본의 연결 누락</a:t>
                      </a:r>
                    </a:p>
                    <a:p>
                      <a:r>
                        <a:rPr sz="187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B: 잘못 묶은 관계를 재사용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048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새 QA07</a:t>
                      </a:r>
                    </a:p>
                    <a:p>
                      <a:r>
                        <a:rPr sz="187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요청 의미 해석</a:t>
                      </a:r>
                    </a:p>
                  </a:txBody>
                  <a:tcPr marL="95250" marR="95250" marT="76200" marB="76200">
                    <a:lnL w="9525">
                      <a:solidFill>
                        <a:srgbClr val="CFD8D2"/>
                      </a:solidFill>
                      <a:prstDash val="solid"/>
                    </a:lnL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형식은 D2, 내용은 신규 조사</a:t>
                      </a:r>
                    </a:p>
                    <a:p>
                      <a:r>
                        <a:rPr sz="187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명시적 작성자 P로 새 작업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A: 자료는 맞아도 조건 누락</a:t>
                      </a:r>
                    </a:p>
                    <a:p>
                      <a:r>
                        <a:rPr sz="187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B: 외부 고객용 평가를 과잉 일반화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6ED87F-AFDC-40ED-B324-02B0DC417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29125"/>
            <a:ext cx="11239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9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9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9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9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9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9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9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9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9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B의 구조화는 관계 누락을 줄일 수 있고, A의 원본 해석은 새 조건에 유연하다.</a:t>
            </a:r>
          </a:p>
          <a:p xmlns:a="http://schemas.openxmlformats.org/drawingml/2006/main">
            <a:pPr>
              <a:defRPr sz="19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원본 보완이 충분하면 동점일 수 있다. 정확도 우열은 모델·사례에 의존한다.</a:t>
            </a:r>
          </a:p>
          <a:p xmlns:a="http://schemas.openxmlformats.org/drawingml/2006/main">
            <a:pPr>
              <a:defRPr sz="19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QA07은 입력별 필수 의미 전체 충족이며, 인계 후 누락·실행 성패를 세지 않는다.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40959C-6CF2-4ED5-9C92-38CC1AD84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953125"/>
            <a:ext cx="11315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rPr>
              <a:t>같은 지칭 오류가 QA02와 QA07을 함께 실패하게 할 수 있다. 독립적인 두 정확성 이익으로 세지 않는다.  [DP5 설계 가설 · 미측정]</a:t>
            </a:r>
          </a:p>
        </p:txBody>
      </p:sp>
    </p:spTree>
    <p:extLst>
      <p:ext uri="{BB962C8B-B14F-4D97-AF65-F5344CB8AC3E}">
        <p14:creationId xmlns:p14="http://schemas.microsoft.com/office/powerpoint/2010/main" val="89314233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E55AF1-958B-4680-A71F-6C2E65CB2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11353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DP5 변경과 자원: 추가 상태의 실제 대가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811228-E9C4-439B-9C29-03A9AE0E3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000125"/>
            <a:ext cx="11353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7C5B"/>
          </a:solidFill>
          <a:ln xmlns:a="http://schemas.openxmlformats.org/drawingml/2006/main" w="0">
            <a:solidFill>
              <a:srgbClr val="387C5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BBB4E2-2369-4745-87E4-8EB2A057F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rPr>
              <a:t>32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ADF641-FD4C-4517-B627-752FE106197C}"/>
              </a:ext>
            </a:extLst>
          </p:cNvPr>
          <p:cNvGraphicFramePr/>
          <p:nvPr/>
        </p:nvGraphicFramePr>
        <p:xfrm>
          <a:off xmlns:a="http://schemas.openxmlformats.org/drawingml/2006/main" x="438150" y="1381125"/>
          <a:ext xmlns:a="http://schemas.openxmlformats.org/drawingml/2006/main" cx="11315700" cy="3543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4191000"/>
                <a:gridCol w="4743450"/>
              </a:tblGrid>
              <a:tr h="70866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검토 항목</a:t>
                      </a:r>
                    </a:p>
                  </a:txBody>
                  <a:tcPr marL="95250" marR="95250" marT="76200" marB="76200">
                    <a:lnL w="9525">
                      <a:solidFill>
                        <a:srgbClr val="CFD8D2"/>
                      </a:solidFill>
                      <a:prstDash val="solid"/>
                    </a:lnL>
                    <a:lnR w="9525">
                      <a:solidFill>
                        <a:srgbClr val="CFD8D2"/>
                      </a:solidFill>
                      <a:prstDash val="solid"/>
                    </a:lnR>
                    <a:lnT w="9525">
                      <a:solidFill>
                        <a:srgbClr val="CFD8D2"/>
                      </a:solidFill>
                      <a:prstDash val="solid"/>
                    </a:lnT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C9DEB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A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T w="9525">
                      <a:solidFill>
                        <a:srgbClr val="CFD8D2"/>
                      </a:solidFill>
                      <a:prstDash val="solid"/>
                    </a:lnT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C9DEB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B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T w="9525">
                      <a:solidFill>
                        <a:srgbClr val="CFD8D2"/>
                      </a:solidFill>
                      <a:prstDash val="solid"/>
                    </a:lnT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C9DEB1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QA04 실제 변경 모듈</a:t>
                      </a:r>
                    </a:p>
                  </a:txBody>
                  <a:tcPr marL="95250" marR="95250" marT="76200" marB="76200">
                    <a:lnL w="9525">
                      <a:solidFill>
                        <a:srgbClr val="CFD8D2"/>
                      </a:solidFill>
                      <a:prstDash val="solid"/>
                    </a:lnL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조회·요청 해석 경로 중심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생산·관계 계약·무효화 경로 추가</a:t>
                      </a:r>
                    </a:p>
                    <a:p>
                      <a:r>
                        <a:rPr sz="1800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consumer 재사용 이익도 가능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QA06 로컬 peak RAM</a:t>
                      </a:r>
                    </a:p>
                  </a:txBody>
                  <a:tcPr marL="95250" marR="95250" marT="76200" marB="76200">
                    <a:lnL w="9525">
                      <a:solidFill>
                        <a:srgbClr val="CFD8D2"/>
                      </a:solidFill>
                      <a:prstDash val="solid"/>
                    </a:lnL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요청 때 읽는 원본 문맥이 커질 수 있음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파생 자료·색인·생산 상태 추가</a:t>
                      </a:r>
                    </a:p>
                    <a:p>
                      <a:r>
                        <a:rPr sz="1800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요청 문맥은 작아질 수 있음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정정·새로운 사건</a:t>
                      </a:r>
                    </a:p>
                  </a:txBody>
                  <a:tcPr marL="95250" marR="95250" marT="76200" marB="76200">
                    <a:lnL w="9525">
                      <a:solidFill>
                        <a:srgbClr val="CFD8D2"/>
                      </a:solidFill>
                      <a:prstDash val="solid"/>
                    </a:lnL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영향 원본과 현재 조건을 재조회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의존 관계 무효화 + 미처리 구간 확인</a:t>
                      </a:r>
                    </a:p>
                    <a:p>
                      <a:r>
                        <a:rPr sz="1800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원본 보완 또는 갱신 대기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생산 장애·의미 오해</a:t>
                      </a:r>
                    </a:p>
                  </a:txBody>
                  <a:tcPr marL="95250" marR="95250" marT="76200" marB="76200">
                    <a:lnL w="9525">
                      <a:solidFill>
                        <a:srgbClr val="CFD8D2"/>
                      </a:solidFill>
                      <a:prstDash val="solid"/>
                    </a:lnL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공통 원본에서 필요한 범위 해석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원본 경로로 보완</a:t>
                      </a:r>
                    </a:p>
                    <a:p>
                      <a:r>
                        <a:rPr sz="1800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판본이 같아도 오해 신고·무효화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5C8012-D040-4377-A293-E0D482CE8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19700"/>
            <a:ext cx="11239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9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9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9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9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9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9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9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9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9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QA04와 QA06의 우열은 아직 미정이다. 구현·같은 변경 과제·실제 peak로 확인한다.</a:t>
            </a:r>
          </a:p>
          <a:p xmlns:a="http://schemas.openxmlformats.org/drawingml/2006/main">
            <a:pPr>
              <a:defRPr sz="19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모델 가중치 공유와 삭제·권한·현재성 검사는 두 안 모두 유지한다.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5689DE-E561-4004-9A62-25C3648DB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953125"/>
            <a:ext cx="11315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rPr>
              <a:t>표는 관련 경로다. Component 수나 저장 파일 크기를 QA04·QA06 성능 차이로 바꾸지 않는다.  [DP5 설계 가설 · 미측정]</a:t>
            </a:r>
          </a:p>
        </p:txBody>
      </p:sp>
    </p:spTree>
    <p:extLst>
      <p:ext uri="{BB962C8B-B14F-4D97-AF65-F5344CB8AC3E}">
        <p14:creationId xmlns:p14="http://schemas.microsoft.com/office/powerpoint/2010/main" val="794118805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2F1FDC5-5ED0-4764-BE46-682F61EA5B35}"/>
              </a:ext>
            </a:extLst>
          </p:cNvPr>
          <p:cNvCxnSpPr>
            <a:stCxn xmlns:a="http://schemas.openxmlformats.org/drawingml/2006/main" id="25" idx="2"/>
            <a:endCxn xmlns:a="http://schemas.openxmlformats.org/drawingml/2006/main" id="28" idx="0"/>
          </p:cNvCxnSpPr>
          <p:nvPr/>
        </p:nvCxnSpPr>
        <p:spPr>
          <a:xfrm xmlns:a="http://schemas.openxmlformats.org/drawingml/2006/main">
            <a:off x="8984457" y="4143375"/>
            <a:ext cx="0" cy="22860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02720"/>
            </a:solidFill>
            <a:prstDash val="solid"/>
            <a:tailEnd type="arrow" w="med" len="med"/>
          </a:ln>
        </p:spPr>
      </p:cxnSp>
      <p:cxnSp>
        <p:nvCxn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F785C99-5B55-4DA2-8CB1-3DBDEE1194CE}"/>
              </a:ext>
            </a:extLst>
          </p:cNvPr>
          <p:cNvCxnSpPr>
            <a:stCxn xmlns:a="http://schemas.openxmlformats.org/drawingml/2006/main" id="22" idx="2"/>
            <a:endCxn xmlns:a="http://schemas.openxmlformats.org/drawingml/2006/main" id="25" idx="0"/>
          </p:cNvCxnSpPr>
          <p:nvPr/>
        </p:nvCxnSpPr>
        <p:spPr>
          <a:xfrm xmlns:a="http://schemas.openxmlformats.org/drawingml/2006/main">
            <a:off x="8984457" y="3324225"/>
            <a:ext cx="0" cy="22860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02720"/>
            </a:solidFill>
            <a:prstDash val="solid"/>
            <a:tailEnd type="arrow" w="med" len="med"/>
          </a:ln>
        </p:spPr>
      </p:cxnSp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8230818-FDC6-420D-81FA-E7B262026B64}"/>
              </a:ext>
            </a:extLst>
          </p:cNvPr>
          <p:cNvCxnSpPr>
            <a:stCxn xmlns:a="http://schemas.openxmlformats.org/drawingml/2006/main" id="20" idx="2"/>
            <a:endCxn xmlns:a="http://schemas.openxmlformats.org/drawingml/2006/main" id="22" idx="0"/>
          </p:cNvCxnSpPr>
          <p:nvPr/>
        </p:nvCxnSpPr>
        <p:spPr>
          <a:xfrm xmlns:a="http://schemas.openxmlformats.org/drawingml/2006/main">
            <a:off x="8984457" y="2505075"/>
            <a:ext cx="0" cy="22860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02720"/>
            </a:solidFill>
            <a:prstDash val="solid"/>
            <a:tailEnd type="arrow" w="med" len="med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EF0B86-B749-4062-94F9-0FBDBB158A1F}"/>
              </a:ext>
            </a:extLst>
          </p:cNvPr>
          <p:cNvCxnSpPr>
            <a:stCxn xmlns:a="http://schemas.openxmlformats.org/drawingml/2006/main" id="11" idx="2"/>
            <a:endCxn xmlns:a="http://schemas.openxmlformats.org/drawingml/2006/main" id="14" idx="0"/>
          </p:cNvCxnSpPr>
          <p:nvPr/>
        </p:nvCxnSpPr>
        <p:spPr>
          <a:xfrm xmlns:a="http://schemas.openxmlformats.org/drawingml/2006/main">
            <a:off x="3207544" y="4143375"/>
            <a:ext cx="0" cy="22860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02720"/>
            </a:solidFill>
            <a:prstDash val="solid"/>
            <a:tailEnd type="arrow" w="med" len="me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A73DA4-3D60-446A-AF3A-52FAC212CEC5}"/>
              </a:ext>
            </a:extLst>
          </p:cNvPr>
          <p:cNvCxnSpPr>
            <a:stCxn xmlns:a="http://schemas.openxmlformats.org/drawingml/2006/main" id="8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3207544" y="3324225"/>
            <a:ext cx="0" cy="22860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02720"/>
            </a:solidFill>
            <a:prstDash val="solid"/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7C069E-4037-4F4C-AF1B-71D37571A194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3207544" y="2505075"/>
            <a:ext cx="0" cy="22860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02720"/>
            </a:solidFill>
            <a:prstDash val="solid"/>
            <a:tailEnd type="arrow" w="med" len="med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C78B7E1-6294-409C-9557-4D39BEBB2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11353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DP5 선택 후 검토할 보완안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0784BA-A0EB-41B8-8522-C5C5AC529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000125"/>
            <a:ext cx="11353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7C5B"/>
          </a:solidFill>
          <a:ln xmlns:a="http://schemas.openxmlformats.org/drawingml/2006/main" w="0">
            <a:solidFill>
              <a:srgbClr val="387C5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41EBC2-2B5C-4800-8643-00EE5D0A3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rPr>
              <a:t>33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8F39C3-CE98-425B-941F-A60F289AD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266825"/>
            <a:ext cx="5538788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EB1"/>
          </a:solidFill>
          <a:ln xmlns:a="http://schemas.openxmlformats.org/drawingml/2006/main" w="9525">
            <a:solidFill>
              <a:srgbClr val="A7B7A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848BED-7FD0-42C2-BF79-D8391DD70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1343025"/>
            <a:ext cx="5291138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025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025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025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025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025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025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025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025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025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A1  확인한 관계의 재조회 색인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BEBEAC-2E74-4C35-8EF0-9F3758DAD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14525"/>
            <a:ext cx="5348288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3FF"/>
          </a:solidFill>
          <a:ln xmlns:a="http://schemas.openxmlformats.org/drawingml/2006/main" w="9525">
            <a:solidFill>
              <a:srgbClr val="186FC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F90D80-D0CC-42C2-8FA9-E9EA05AD2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81200"/>
            <a:ext cx="5119688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rPr>
              <a:t>1. 요청에서 확정한 관계를 사용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C95F9D-7158-43BD-A24A-F1CA18112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33675"/>
            <a:ext cx="5348288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3FF"/>
          </a:solidFill>
          <a:ln xmlns:a="http://schemas.openxmlformats.org/drawingml/2006/main" w="9525">
            <a:solidFill>
              <a:srgbClr val="186FC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F14104-312B-4679-937F-74C51487D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00350"/>
            <a:ext cx="5119688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rPr>
              <a:t>2. 후속 질의용 검색 색인 추가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6D89E1-F93D-43F2-89B1-57386DF64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52825"/>
            <a:ext cx="5348288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3FF"/>
          </a:solidFill>
          <a:ln xmlns:a="http://schemas.openxmlformats.org/drawingml/2006/main" w="9525">
            <a:solidFill>
              <a:srgbClr val="186FC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9EB2AE-BE7B-4A39-953F-1830C91FF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0"/>
            <a:ext cx="5119688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rPr>
              <a:t>3. source 변경 때 색인 갱신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E912E3-766E-42AA-A670-F1086DE3D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71975"/>
            <a:ext cx="5348288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3FF"/>
          </a:solidFill>
          <a:ln xmlns:a="http://schemas.openxmlformats.org/drawingml/2006/main" w="9525">
            <a:solidFill>
              <a:srgbClr val="186FC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AF9EEB-2CEA-4D66-8CDB-E408B0CBC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38650"/>
            <a:ext cx="5119688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rPr>
              <a:t>4. 같은 권한·현재성 검사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5200B6-709F-4DE9-9AB9-F7A06928A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067300"/>
            <a:ext cx="5481638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rPr>
              <a:t>반복 조회의 검색 부담 감소 가능</a:t>
            </a:r>
          </a:p>
          <a:p xmlns:a="http://schemas.openxmlformats.org/drawingml/2006/main">
            <a: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rPr>
              <a:t>색인 갱신과 메모리 비용 추가</a:t>
            </a:r>
          </a:p>
          <a:p xmlns:a="http://schemas.openxmlformats.org/drawingml/2006/main">
            <a: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rPr>
              <a:t>첫 재참조의 사전 생산 이익은 없음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6EE5AD-A339-4A3C-9123-BE0FAC903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5063" y="1266825"/>
            <a:ext cx="5538788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EB1"/>
          </a:solidFill>
          <a:ln xmlns:a="http://schemas.openxmlformats.org/drawingml/2006/main" w="9525">
            <a:solidFill>
              <a:srgbClr val="A7B7A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2866A4-54F5-4F1B-A9AF-21EAB1632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8888" y="1343025"/>
            <a:ext cx="5291138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025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025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025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025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025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025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025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025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025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B1  연속 사건을 묶어 생산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A1F526-E202-45BC-92B3-E2AD99FB5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0313" y="1914525"/>
            <a:ext cx="5348288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3FF"/>
          </a:solidFill>
          <a:ln xmlns:a="http://schemas.openxmlformats.org/drawingml/2006/main" w="9525">
            <a:solidFill>
              <a:srgbClr val="186FC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50B53A-61A5-48DB-9A5A-9F3FD4F33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4613" y="1981200"/>
            <a:ext cx="5119688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rPr>
              <a:t>1. 같은 업무의 호환 사건을 모음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73CCCC-1B27-48F4-8AD5-CD41BCA6A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0313" y="2733675"/>
            <a:ext cx="5348288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3FF"/>
          </a:solidFill>
          <a:ln xmlns:a="http://schemas.openxmlformats.org/drawingml/2006/main" w="9525">
            <a:solidFill>
              <a:srgbClr val="186FC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43D9EB-1D87-40CC-A2C9-7CB199BC4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4613" y="2800350"/>
            <a:ext cx="5119688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rPr>
              <a:t>2. 겹치는 관계를 한 번 생산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7B4EA4-1181-4806-9252-239A0FEC9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0313" y="3552825"/>
            <a:ext cx="5348288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3FF"/>
          </a:solidFill>
          <a:ln xmlns:a="http://schemas.openxmlformats.org/drawingml/2006/main" w="9525">
            <a:solidFill>
              <a:srgbClr val="186FC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A65BA7B-A245-4C5F-A3B2-A1D03CE21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4613" y="3619500"/>
            <a:ext cx="5119688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rPr>
              <a:t>3. 게시 공백을 coverage에 표시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3707C18-209F-468E-A617-ADCFCFD97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0313" y="4371975"/>
            <a:ext cx="5348288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3FF"/>
          </a:solidFill>
          <a:ln xmlns:a="http://schemas.openxmlformats.org/drawingml/2006/main" w="9525">
            <a:solidFill>
              <a:srgbClr val="186FC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A126952-8973-4710-AAA3-E45DD34FA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4613" y="4438650"/>
            <a:ext cx="5119688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rPr>
              <a:t>4. 요청이 먼저 오면 원본 보완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935E0ED-B54F-4421-BEEC-B3980CC16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3638" y="5067300"/>
            <a:ext cx="5481638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rPr>
              <a:t>중복 생산 비용 감소 가능</a:t>
            </a:r>
          </a:p>
          <a:p xmlns:a="http://schemas.openxmlformats.org/drawingml/2006/main">
            <a: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rPr>
              <a:t>게시 지연과 원본 보완 증가</a:t>
            </a:r>
          </a:p>
          <a:p xmlns:a="http://schemas.openxmlformats.org/drawingml/2006/main">
            <a: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rPr>
              <a:t>개입·스케줄러 정책은 공통 유지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07579A9-8490-4774-8041-2D6207F7B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953125"/>
            <a:ext cx="11315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rPr>
              <a:t>기본안 선택 후 별도 비교할 보완이다. A의 확정 사실 보존과 B의 필수 원본 보완은 이미 기본 기능이다.  [DP5 설계 가설 · 미측정]</a:t>
            </a:r>
          </a:p>
        </p:txBody>
      </p:sp>
    </p:spTree>
    <p:extLst>
      <p:ext uri="{BB962C8B-B14F-4D97-AF65-F5344CB8AC3E}">
        <p14:creationId xmlns:p14="http://schemas.microsoft.com/office/powerpoint/2010/main" val="530301034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B9C56D-772B-490D-B7FA-4894EB349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11353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DP5 판단 조건과 검증할 가설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BCE548-382F-4C27-AEF6-F8C8C537A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000125"/>
            <a:ext cx="11353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7C5B"/>
          </a:solidFill>
          <a:ln xmlns:a="http://schemas.openxmlformats.org/drawingml/2006/main" w="0">
            <a:solidFill>
              <a:srgbClr val="387C5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78C7B9-5CE1-4BCA-AA7B-E7330FCDE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rPr>
              <a:t>34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61DD52-7444-443C-AFD7-6452FE576069}"/>
              </a:ext>
            </a:extLst>
          </p:cNvPr>
          <p:cNvGraphicFramePr/>
          <p:nvPr/>
        </p:nvGraphicFramePr>
        <p:xfrm>
          <a:off xmlns:a="http://schemas.openxmlformats.org/drawingml/2006/main" x="438150" y="1381125"/>
          <a:ext xmlns:a="http://schemas.openxmlformats.org/drawingml/2006/main" cx="113157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7524750"/>
                <a:gridCol w="3790950"/>
              </a:tblGrid>
              <a:tr h="6286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사용 환경 또는 관측</a:t>
                      </a:r>
                    </a:p>
                  </a:txBody>
                  <a:tcPr marL="95250" marR="95250" marT="76200" marB="76200">
                    <a:lnL w="9525">
                      <a:solidFill>
                        <a:srgbClr val="CFD8D2"/>
                      </a:solidFill>
                      <a:prstDash val="solid"/>
                    </a:lnL>
                    <a:lnR w="9525">
                      <a:solidFill>
                        <a:srgbClr val="CFD8D2"/>
                      </a:solidFill>
                      <a:prstDash val="solid"/>
                    </a:lnR>
                    <a:lnT w="9525">
                      <a:solidFill>
                        <a:srgbClr val="CFD8D2"/>
                      </a:solidFill>
                      <a:prstDash val="solid"/>
                    </a:lnT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C9DEB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설계 판단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T w="9525">
                      <a:solidFill>
                        <a:srgbClr val="CFD8D2"/>
                      </a:solidFill>
                      <a:prstDash val="solid"/>
                    </a:lnT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C9DEB1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단순 사실 조회가 많고, 과거 관계 재참조가 적음</a:t>
                      </a:r>
                    </a:p>
                  </a:txBody>
                  <a:tcPr marL="95250" marR="95250" marT="76200" marB="76200">
                    <a:lnL w="9525">
                      <a:solidFill>
                        <a:srgbClr val="CFD8D2"/>
                      </a:solidFill>
                      <a:prstDash val="solid"/>
                    </a:lnL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A: 필요한 관계에만 해석비용 사용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최초의 과거 관계 재참조가 첫 응답을 자주 막음</a:t>
                      </a:r>
                    </a:p>
                  </a:txBody>
                  <a:tcPr marL="95250" marR="95250" marT="76200" marB="76200">
                    <a:lnL w="9525">
                      <a:solidFill>
                        <a:srgbClr val="CFD8D2"/>
                      </a:solidFill>
                      <a:prstDash val="solid"/>
                    </a:lnL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B: 사전 생산이 실제 대기를 줄이면 선택 근거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B가 자주 원본 보완하거나 의미 범위를 잘못 적용</a:t>
                      </a:r>
                    </a:p>
                  </a:txBody>
                  <a:tcPr marL="95250" marR="95250" marT="76200" marB="76200">
                    <a:lnL w="9525">
                      <a:solidFill>
                        <a:srgbClr val="CFD8D2"/>
                      </a:solidFill>
                      <a:prstDash val="solid"/>
                    </a:lnL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지연·정확성 이익 재검토, 비용까지 비교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A 재사용과 공통 사실만으로 대부분 해결</a:t>
                      </a:r>
                    </a:p>
                  </a:txBody>
                  <a:tcPr marL="95250" marR="95250" marT="76200" marB="76200">
                    <a:lnL w="9525">
                      <a:solidFill>
                        <a:srgbClr val="CFD8D2"/>
                      </a:solidFill>
                      <a:prstDash val="solid"/>
                    </a:lnL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DP5 독립 차별화 약함. DP1/4 상세 설계로 통합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2A51EE-4863-4032-8851-492328AB0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29175"/>
            <a:ext cx="11239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9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9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9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9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9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9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9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9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9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현재 결론: 두 기본안의 선택은 보류. 지연과 생산비용의 교환을 우선 검증한다.</a:t>
            </a:r>
          </a:p>
          <a:p xmlns:a="http://schemas.openxmlformats.org/drawingml/2006/main">
            <a:pPr>
              <a:defRPr sz="19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최초 재참조·반복·미사용 결과·정정·상황 변경을 같은 원본과 모델로 비교한다.</a:t>
            </a:r>
          </a:p>
          <a:p xmlns:a="http://schemas.openxmlformats.org/drawingml/2006/main">
            <a:pPr>
              <a:defRPr sz="19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기존 DP1/4의 실측값을 DP5 결과로 옮기거나 미측정을 0점으로 표시하지 않는다.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8D71DB-0C89-443C-B42E-369C1F703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953125"/>
            <a:ext cx="11315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rPr>
              <a:t>기존 DP1 C가 같은 관계를 이미 생산한다면 공유한다. 다섯 DP의 개선 효과를 독립적으로 합산하지 않는다.  [DP5 설계 가설 · 미측정]</a:t>
            </a:r>
          </a:p>
        </p:txBody>
      </p:sp>
    </p:spTree>
    <p:extLst>
      <p:ext uri="{BB962C8B-B14F-4D97-AF65-F5344CB8AC3E}">
        <p14:creationId xmlns:p14="http://schemas.microsoft.com/office/powerpoint/2010/main" val="1961669511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358724-F9FE-4522-9B4D-FB2593DB6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11353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DP1–4의 기존 권고와 적용 조건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47982D-5D3A-4D92-A311-0AEBDB0D1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000125"/>
            <a:ext cx="11353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7C5B"/>
          </a:solidFill>
          <a:ln xmlns:a="http://schemas.openxmlformats.org/drawingml/2006/main" w="0">
            <a:solidFill>
              <a:srgbClr val="387C5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09F1F2-5C4F-4564-AC25-3B0D1392B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rPr>
              <a:t>35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C8AA12-E14D-4EAE-8553-59050826C2C0}"/>
              </a:ext>
            </a:extLst>
          </p:cNvPr>
          <p:cNvGraphicFramePr/>
          <p:nvPr/>
        </p:nvGraphicFramePr>
        <p:xfrm>
          <a:off xmlns:a="http://schemas.openxmlformats.org/drawingml/2006/main" x="438150" y="1381125"/>
          <a:ext xmlns:a="http://schemas.openxmlformats.org/drawingml/2006/main" cx="11315700" cy="3638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714375"/>
                <a:gridCol w="1714500"/>
                <a:gridCol w="4810125"/>
                <a:gridCol w="4076700"/>
              </a:tblGrid>
              <a:tr h="72771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DP</a:t>
                      </a:r>
                    </a:p>
                  </a:txBody>
                  <a:tcPr marL="95250" marR="95250" marT="76200" marB="76200">
                    <a:lnL w="9525">
                      <a:solidFill>
                        <a:srgbClr val="CFD8D2"/>
                      </a:solidFill>
                      <a:prstDash val="solid"/>
                    </a:lnL>
                    <a:lnR w="9525">
                      <a:solidFill>
                        <a:srgbClr val="CFD8D2"/>
                      </a:solidFill>
                      <a:prstDash val="solid"/>
                    </a:lnR>
                    <a:lnT w="9525">
                      <a:solidFill>
                        <a:srgbClr val="CFD8D2"/>
                      </a:solidFill>
                      <a:prstDash val="solid"/>
                    </a:lnT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C9DEB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권고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T w="9525">
                      <a:solidFill>
                        <a:srgbClr val="CFD8D2"/>
                      </a:solidFill>
                      <a:prstDash val="solid"/>
                    </a:lnT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C9DEB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가장 높은 판단 근거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T w="9525">
                      <a:solidFill>
                        <a:srgbClr val="CFD8D2"/>
                      </a:solidFill>
                      <a:prstDash val="solid"/>
                    </a:lnT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C9DEB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선택을 바꿀 조건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T w="9525">
                      <a:solidFill>
                        <a:srgbClr val="CFD8D2"/>
                      </a:solidFill>
                      <a:prstDash val="solid"/>
                    </a:lnT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C9DEB1"/>
                    </a:solidFill>
                  </a:tcPr>
                </a:tc>
              </a:tr>
              <a:tr h="72771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</a:t>
                      </a:r>
                    </a:p>
                  </a:txBody>
                  <a:tcPr marL="95250" marR="95250" marT="76200" marB="76200">
                    <a:lnL w="9525">
                      <a:solidFill>
                        <a:srgbClr val="CFD8D2"/>
                      </a:solidFill>
                      <a:prstDash val="solid"/>
                    </a:lnL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조건부 A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QA01 미확정. 재사용·완료 관측</a:t>
                      </a:r>
                    </a:p>
                    <a:p>
                      <a:r>
                        <a:rPr sz="187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본문 30/36, 조건 미충족 6건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독립 요청 위주 또는 입력 부담 증가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2771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</a:t>
                      </a:r>
                    </a:p>
                  </a:txBody>
                  <a:tcPr marL="95250" marR="95250" marT="76200" marB="76200">
                    <a:lnL w="9525">
                      <a:solidFill>
                        <a:srgbClr val="CFD8D2"/>
                      </a:solidFill>
                      <a:prstDash val="solid"/>
                    </a:lnL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B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호출 여유가 있는 독립 후속 입력의 QA01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K=1 또는 겹치는 입력이 적음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</a:tr>
              <a:tr h="72771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3</a:t>
                      </a:r>
                    </a:p>
                  </a:txBody>
                  <a:tcPr marL="95250" marR="95250" marT="76200" marB="76200">
                    <a:lnL w="9525">
                      <a:solidFill>
                        <a:srgbClr val="CFD8D2"/>
                      </a:solidFill>
                      <a:prstDash val="solid"/>
                    </a:lnL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조건부 A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정규화 응답·종료 관측</a:t>
                      </a:r>
                    </a:p>
                    <a:p>
                      <a:r>
                        <a:rPr sz="187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QA04 이번 미측정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다른 화면·모델에서 A 실패,</a:t>
                      </a:r>
                    </a:p>
                    <a:p>
                      <a:r>
                        <a:rPr sz="187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B 근거의 반복 재사용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2771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4</a:t>
                      </a:r>
                    </a:p>
                  </a:txBody>
                  <a:tcPr marL="95250" marR="95250" marT="76200" marB="76200">
                    <a:lnL w="9525">
                      <a:solidFill>
                        <a:srgbClr val="CFD8D2"/>
                      </a:solidFill>
                      <a:prstDash val="solid"/>
                    </a:lnL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조건부 C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QA01 미확정. QA03/05 관측 이익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수신자 읽기 미지원, 실제 내용 조건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A87E62-293C-4504-8CB3-D5EB8C528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953125"/>
            <a:ext cx="11315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rPr>
              <a:t>DP1–4의 기존 조건부 권고다. DP5는 앞 절의 설계 가설이며 기본안 선택과 실측은 아직 없다.</a:t>
            </a:r>
          </a:p>
        </p:txBody>
      </p:sp>
    </p:spTree>
    <p:extLst>
      <p:ext uri="{BB962C8B-B14F-4D97-AF65-F5344CB8AC3E}">
        <p14:creationId xmlns:p14="http://schemas.microsoft.com/office/powerpoint/2010/main" val="1629318164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629C55-CF52-48F8-9925-88C6B586B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11353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기본안 전체 원값: DP1과 DP2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6311E5-8690-4B29-B65D-F0492C658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000125"/>
            <a:ext cx="11353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7C5B"/>
          </a:solidFill>
          <a:ln xmlns:a="http://schemas.openxmlformats.org/drawingml/2006/main" w="0">
            <a:solidFill>
              <a:srgbClr val="387C5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0504CF-8D71-4CCD-A379-EA77238B3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rPr>
              <a:t>36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88C6AC-3D28-4586-ACD4-47FE540986B3}"/>
              </a:ext>
            </a:extLst>
          </p:cNvPr>
          <p:cNvGraphicFramePr/>
          <p:nvPr/>
        </p:nvGraphicFramePr>
        <p:xfrm>
          <a:off xmlns:a="http://schemas.openxmlformats.org/drawingml/2006/main" x="438150" y="1381125"/>
          <a:ext xmlns:a="http://schemas.openxmlformats.org/drawingml/2006/main" cx="1131570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47750"/>
                <a:gridCol w="2085975"/>
                <a:gridCol w="1047750"/>
                <a:gridCol w="2085975"/>
                <a:gridCol w="952500"/>
                <a:gridCol w="2238375"/>
                <a:gridCol w="1857375"/>
              </a:tblGrid>
              <a:tr h="4286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안</a:t>
                      </a:r>
                    </a:p>
                  </a:txBody>
                  <a:tcPr marL="95250" marR="95250" marT="76200" marB="76200">
                    <a:lnL w="9525">
                      <a:solidFill>
                        <a:srgbClr val="CFD8D2"/>
                      </a:solidFill>
                      <a:prstDash val="solid"/>
                    </a:lnL>
                    <a:lnR w="9525">
                      <a:solidFill>
                        <a:srgbClr val="CFD8D2"/>
                      </a:solidFill>
                      <a:prstDash val="solid"/>
                    </a:lnR>
                    <a:lnT w="9525">
                      <a:solidFill>
                        <a:srgbClr val="CFD8D2"/>
                      </a:solidFill>
                      <a:prstDash val="solid"/>
                    </a:lnT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C9DEB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QA01 초 / 관측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T w="9525">
                      <a:solidFill>
                        <a:srgbClr val="CFD8D2"/>
                      </a:solidFill>
                      <a:prstDash val="solid"/>
                    </a:lnT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C9DEB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QA02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T w="9525">
                      <a:solidFill>
                        <a:srgbClr val="CFD8D2"/>
                      </a:solidFill>
                      <a:prstDash val="solid"/>
                    </a:lnT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C9DEB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QA03 초 / 완료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T w="9525">
                      <a:solidFill>
                        <a:srgbClr val="CFD8D2"/>
                      </a:solidFill>
                      <a:prstDash val="solid"/>
                    </a:lnT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C9DEB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QA04 개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T w="9525">
                      <a:solidFill>
                        <a:srgbClr val="CFD8D2"/>
                      </a:solidFill>
                      <a:prstDash val="solid"/>
                    </a:lnT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C9DEB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QA05 USD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T w="9525">
                      <a:solidFill>
                        <a:srgbClr val="CFD8D2"/>
                      </a:solidFill>
                      <a:prstDash val="solid"/>
                    </a:lnT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C9DEB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QA06 MB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T w="9525">
                      <a:solidFill>
                        <a:srgbClr val="CFD8D2"/>
                      </a:solidFill>
                      <a:prstDash val="solid"/>
                    </a:lnT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C9DEB1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DP1 A</a:t>
                      </a:r>
                    </a:p>
                  </a:txBody>
                  <a:tcPr marL="95250" marR="95250" marT="76200" marB="76200">
                    <a:lnL w="9525">
                      <a:solidFill>
                        <a:srgbClr val="CFD8D2"/>
                      </a:solidFill>
                      <a:prstDash val="solid"/>
                    </a:lnL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6.609  36/36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36/36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13.617  36/36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1.75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$0.0674956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44.253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DP1 B</a:t>
                      </a:r>
                    </a:p>
                  </a:txBody>
                  <a:tcPr marL="95250" marR="95250" marT="76200" marB="76200">
                    <a:lnL w="9525">
                      <a:solidFill>
                        <a:srgbClr val="CFD8D2"/>
                      </a:solidFill>
                      <a:prstDash val="solid"/>
                    </a:lnL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6.267  36/36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36/36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14.242  35/36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1.75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$0.0699160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45.318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DP1 C</a:t>
                      </a:r>
                    </a:p>
                  </a:txBody>
                  <a:tcPr marL="95250" marR="95250" marT="76200" marB="76200">
                    <a:lnL w="9525">
                      <a:solidFill>
                        <a:srgbClr val="CFD8D2"/>
                      </a:solidFill>
                      <a:prstDash val="solid"/>
                    </a:lnL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11.995  36/36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34/36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12.364  36/36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2.00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$0.1630788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50.364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DP2 A</a:t>
                      </a:r>
                    </a:p>
                  </a:txBody>
                  <a:tcPr marL="95250" marR="95250" marT="76200" marB="76200">
                    <a:lnL w="9525">
                      <a:solidFill>
                        <a:srgbClr val="CFD8D2"/>
                      </a:solidFill>
                      <a:prstDash val="solid"/>
                    </a:lnL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8.677  30/30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N/A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24.092  23/24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2.00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$0.1224560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45.351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DP2 B</a:t>
                      </a:r>
                    </a:p>
                  </a:txBody>
                  <a:tcPr marL="95250" marR="95250" marT="76200" marB="76200">
                    <a:lnL w="9525">
                      <a:solidFill>
                        <a:srgbClr val="CFD8D2"/>
                      </a:solidFill>
                      <a:prstDash val="solid"/>
                    </a:lnL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6.698  30/30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N/A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20.982  24/24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2.00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$0.1125156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46.170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1A4532-73C8-40B6-9057-3801C5D79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95775"/>
            <a:ext cx="11239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시간은 관측 조건부 평균과 고정 분모. 실패를 평균 시간으로 대체하지 않는다.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31F340-AD84-4616-B3D6-C5C6AE6B3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953125"/>
            <a:ext cx="11315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rPr>
              <a:t>완료는 호스트 종료 관측, 본문은 별도 저자 조건 검토다. QA01 callback proxy, QA03 조건부 평균. 비용은 12회 전체.</a:t>
            </a:r>
          </a:p>
        </p:txBody>
      </p:sp>
    </p:spTree>
    <p:extLst>
      <p:ext uri="{BB962C8B-B14F-4D97-AF65-F5344CB8AC3E}">
        <p14:creationId xmlns:p14="http://schemas.microsoft.com/office/powerpoint/2010/main" val="1330498740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1009A2-CF5B-459F-888B-00563B470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11353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기본안 전체 원값: DP3과 DP4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73972A-0FFC-4D52-8891-86615C641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000125"/>
            <a:ext cx="11353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7C5B"/>
          </a:solidFill>
          <a:ln xmlns:a="http://schemas.openxmlformats.org/drawingml/2006/main" w="0">
            <a:solidFill>
              <a:srgbClr val="387C5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FC5911-8206-40C2-8C44-7E0779D6F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rPr>
              <a:t>37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5F2584-F4CA-4E10-844E-D17EDC3388DC}"/>
              </a:ext>
            </a:extLst>
          </p:cNvPr>
          <p:cNvGraphicFramePr/>
          <p:nvPr/>
        </p:nvGraphicFramePr>
        <p:xfrm>
          <a:off xmlns:a="http://schemas.openxmlformats.org/drawingml/2006/main" x="438150" y="1381125"/>
          <a:ext xmlns:a="http://schemas.openxmlformats.org/drawingml/2006/main" cx="1131570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47750"/>
                <a:gridCol w="2085975"/>
                <a:gridCol w="1047750"/>
                <a:gridCol w="2085975"/>
                <a:gridCol w="952500"/>
                <a:gridCol w="2238375"/>
                <a:gridCol w="1857375"/>
              </a:tblGrid>
              <a:tr h="4286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안</a:t>
                      </a:r>
                    </a:p>
                  </a:txBody>
                  <a:tcPr marL="95250" marR="95250" marT="76200" marB="76200">
                    <a:lnL w="9525">
                      <a:solidFill>
                        <a:srgbClr val="CFD8D2"/>
                      </a:solidFill>
                      <a:prstDash val="solid"/>
                    </a:lnL>
                    <a:lnR w="9525">
                      <a:solidFill>
                        <a:srgbClr val="CFD8D2"/>
                      </a:solidFill>
                      <a:prstDash val="solid"/>
                    </a:lnR>
                    <a:lnT w="9525">
                      <a:solidFill>
                        <a:srgbClr val="CFD8D2"/>
                      </a:solidFill>
                      <a:prstDash val="solid"/>
                    </a:lnT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C9DEB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QA01 초 / 관측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T w="9525">
                      <a:solidFill>
                        <a:srgbClr val="CFD8D2"/>
                      </a:solidFill>
                      <a:prstDash val="solid"/>
                    </a:lnT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C9DEB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QA02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T w="9525">
                      <a:solidFill>
                        <a:srgbClr val="CFD8D2"/>
                      </a:solidFill>
                      <a:prstDash val="solid"/>
                    </a:lnT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C9DEB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QA03 초 / 완료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T w="9525">
                      <a:solidFill>
                        <a:srgbClr val="CFD8D2"/>
                      </a:solidFill>
                      <a:prstDash val="solid"/>
                    </a:lnT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C9DEB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QA04 개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T w="9525">
                      <a:solidFill>
                        <a:srgbClr val="CFD8D2"/>
                      </a:solidFill>
                      <a:prstDash val="solid"/>
                    </a:lnT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C9DEB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QA05 USD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T w="9525">
                      <a:solidFill>
                        <a:srgbClr val="CFD8D2"/>
                      </a:solidFill>
                      <a:prstDash val="solid"/>
                    </a:lnT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C9DEB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QA06 MB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T w="9525">
                      <a:solidFill>
                        <a:srgbClr val="CFD8D2"/>
                      </a:solidFill>
                      <a:prstDash val="solid"/>
                    </a:lnT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C9DEB1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DP3 A</a:t>
                      </a:r>
                    </a:p>
                  </a:txBody>
                  <a:tcPr marL="95250" marR="95250" marT="76200" marB="76200">
                    <a:lnL w="9525">
                      <a:solidFill>
                        <a:srgbClr val="CFD8D2"/>
                      </a:solidFill>
                      <a:prstDash val="solid"/>
                    </a:lnL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11.176  10/15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17/24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15.624  9/12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2.50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$0.0415828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45.220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DP3 B</a:t>
                      </a:r>
                    </a:p>
                  </a:txBody>
                  <a:tcPr marL="95250" marR="95250" marT="76200" marB="76200">
                    <a:lnL w="9525">
                      <a:solidFill>
                        <a:srgbClr val="CFD8D2"/>
                      </a:solidFill>
                      <a:prstDash val="solid"/>
                    </a:lnL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18.344  15/15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24/24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22.930  12/12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2.50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$0.0431172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45.351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DP4 A</a:t>
                      </a:r>
                    </a:p>
                  </a:txBody>
                  <a:tcPr marL="95250" marR="95250" marT="76200" marB="76200">
                    <a:lnL w="9525">
                      <a:solidFill>
                        <a:srgbClr val="CFD8D2"/>
                      </a:solidFill>
                      <a:prstDash val="solid"/>
                    </a:lnL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4.307  20/21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N/A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11.019  20/21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1.50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$0.1018408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49.119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DP4 B</a:t>
                      </a:r>
                    </a:p>
                  </a:txBody>
                  <a:tcPr marL="95250" marR="95250" marT="76200" marB="76200">
                    <a:lnL w="9525">
                      <a:solidFill>
                        <a:srgbClr val="CFD8D2"/>
                      </a:solidFill>
                      <a:prstDash val="solid"/>
                    </a:lnL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4.421  21/21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N/A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12.439  19/21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1.75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$0.2886828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57.229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DP4 C</a:t>
                      </a:r>
                    </a:p>
                  </a:txBody>
                  <a:tcPr marL="95250" marR="95250" marT="76200" marB="76200">
                    <a:lnL w="9525">
                      <a:solidFill>
                        <a:srgbClr val="CFD8D2"/>
                      </a:solidFill>
                      <a:prstDash val="solid"/>
                    </a:lnL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4.321  21/21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N/A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4.329  19/21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1.50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$0.0757928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48.153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7AAD19-814A-4BE5-98D2-31493FC1F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95775"/>
            <a:ext cx="11239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이 표는 기존 effective 120이다. 새 live 실험의 기본/보완은 별도 세대로 표시한다.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C4EBBE-0D86-45FA-943E-09B75B801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953125"/>
            <a:ext cx="11315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rPr>
              <a:t>완료는 호스트 종료 관측, 본문은 별도 저자 조건 검토다. QA01 callback proxy, QA03 조건부 평균. 비용은 12회 전체.</a:t>
            </a:r>
          </a:p>
        </p:txBody>
      </p:sp>
    </p:spTree>
    <p:extLst>
      <p:ext uri="{BB962C8B-B14F-4D97-AF65-F5344CB8AC3E}">
        <p14:creationId xmlns:p14="http://schemas.microsoft.com/office/powerpoint/2010/main" val="548723485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62673C-FF94-4BB4-9065-EB018500C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11353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실패와 측정 범위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8DB579-F440-4B78-B00A-AA07CA443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000125"/>
            <a:ext cx="11353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7C5B"/>
          </a:solidFill>
          <a:ln xmlns:a="http://schemas.openxmlformats.org/drawingml/2006/main" w="0">
            <a:solidFill>
              <a:srgbClr val="387C5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87EF18-97B7-4D85-BDAD-7C230E3D0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rPr>
              <a:t>38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008206-9F4E-4758-8387-9DCD1E7C3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38275"/>
            <a:ext cx="11239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1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1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1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1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1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1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1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1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1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기본 비교는 작성 사례 4개 × 3회인 유한 PoC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첫 내용 callback은 실제 제품 UI와 모든 문장의 정확성 검증을 대신하지 않는다.</a:t>
            </a:r>
          </a:p>
          <a:p xmlns:a="http://schemas.openxmlformats.org/drawingml/2006/main">
            <a:pPr>
              <a:defRPr sz="21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목표 완료 판정과 별도 본문 충족 진단을 구별한다.</a:t>
            </a:r>
          </a:p>
          <a:p xmlns:a="http://schemas.openxmlformats.org/drawingml/2006/main">
            <a:pPr>
              <a:defRPr sz="21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수신자 API 경계 제외시간과 전체 경과시간을 함께 본다.</a:t>
            </a:r>
          </a:p>
          <a:p xmlns:a="http://schemas.openxmlformats.org/drawingml/2006/main">
            <a:pPr>
              <a:defRPr sz="21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Python/Rust RSS에는 실험 기록 부담이 있고 클라우드 모델 가중치는 없다.</a:t>
            </a:r>
          </a:p>
          <a:p xmlns:a="http://schemas.openxmlformats.org/drawingml/2006/main">
            <a:pPr>
              <a:defRPr sz="21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변경 모듈 수를 인월이나 제품 유지보수 비용으로 바꾸지 않는다.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E7B690-52EE-48CA-A34A-11C8DF58C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76750"/>
            <a:ext cx="112395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72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72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72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72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72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72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72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72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72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추가 실패: C fresh 초안 1건은 미안내 상한 14개에 사실 15개를 반환해 미표시.</a:t>
            </a:r>
          </a:p>
          <a:p xmlns:a="http://schemas.openxmlformats.org/drawingml/2006/main">
            <a:pPr>
              <a:defRPr sz="172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정규화 B의 밀집 화면 3회는 모두 기하 근거가 미해결이었다.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DECE0F-03B1-44FD-8A72-4DC9D4FB9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953125"/>
            <a:ext cx="11315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rPr>
              <a:t>실패, calibration, 중단된 교정, 원본/최종 교정, 보완과 진단의 원시 이력을 보존했다.</a:t>
            </a:r>
          </a:p>
        </p:txBody>
      </p:sp>
    </p:spTree>
    <p:extLst>
      <p:ext uri="{BB962C8B-B14F-4D97-AF65-F5344CB8AC3E}">
        <p14:creationId xmlns:p14="http://schemas.microsoft.com/office/powerpoint/2010/main" val="1456077169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5D6618-D1D5-454B-820A-FBF6B31CB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11353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실패 원문과 끝난 시각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C62864-21C2-42AB-AEAC-046D6A06A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000125"/>
            <a:ext cx="11353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7C5B"/>
          </a:solidFill>
          <a:ln xmlns:a="http://schemas.openxmlformats.org/drawingml/2006/main" w="0">
            <a:solidFill>
              <a:srgbClr val="387C5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8CA8E4-1DE4-44F0-BC96-F62397104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rPr>
              <a:t>39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71A58D-6D02-404E-A67B-A938305273ED}"/>
              </a:ext>
            </a:extLst>
          </p:cNvPr>
          <p:cNvGraphicFramePr/>
          <p:nvPr/>
        </p:nvGraphicFramePr>
        <p:xfrm>
          <a:off xmlns:a="http://schemas.openxmlformats.org/drawingml/2006/main" x="438150" y="1381125"/>
          <a:ext xmlns:a="http://schemas.openxmlformats.org/drawingml/2006/main" cx="11315700" cy="3381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5924550"/>
                <a:gridCol w="2914650"/>
              </a:tblGrid>
              <a:tr h="563563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실제 사례</a:t>
                      </a:r>
                    </a:p>
                  </a:txBody>
                  <a:tcPr marL="95250" marR="95250" marT="76200" marB="76200">
                    <a:lnL w="9525">
                      <a:solidFill>
                        <a:srgbClr val="CFD8D2"/>
                      </a:solidFill>
                      <a:prstDash val="solid"/>
                    </a:lnL>
                    <a:lnR w="9525">
                      <a:solidFill>
                        <a:srgbClr val="CFD8D2"/>
                      </a:solidFill>
                      <a:prstDash val="solid"/>
                    </a:lnR>
                    <a:lnT w="9525">
                      <a:solidFill>
                        <a:srgbClr val="CFD8D2"/>
                      </a:solidFill>
                      <a:prstDash val="solid"/>
                    </a:lnT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C9DEB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확인한 실패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T w="9525">
                      <a:solidFill>
                        <a:srgbClr val="CFD8D2"/>
                      </a:solidFill>
                      <a:prstDash val="solid"/>
                    </a:lnT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C9DEB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입력부터 실제 실패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T w="9525">
                      <a:solidFill>
                        <a:srgbClr val="CFD8D2"/>
                      </a:solidFill>
                      <a:prstDash val="solid"/>
                    </a:lnT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C9DEB1"/>
                    </a:solidFill>
                  </a:tcPr>
                </a:tc>
              </a:tr>
              <a:tr h="56356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DP1 B 원본 q2</a:t>
                      </a:r>
                    </a:p>
                  </a:txBody>
                  <a:tcPr marL="95250" marR="95250" marT="76200" marB="76200">
                    <a:lnL w="9525">
                      <a:solidFill>
                        <a:srgbClr val="CFD8D2"/>
                      </a:solidFill>
                      <a:prstDash val="solid"/>
                    </a:lnL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잘못된 source span. 본문 미표시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21.054초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356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DP2 A E1 r3 R1</a:t>
                      </a:r>
                    </a:p>
                  </a:txBody>
                  <a:tcPr marL="95250" marR="95250" marT="76200" marB="76200">
                    <a:lnL w="9525">
                      <a:solidFill>
                        <a:srgbClr val="CFD8D2"/>
                      </a:solidFill>
                      <a:prstDash val="solid"/>
                    </a:lnL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인용·판본 계약 복구 소진. null·충돌 아님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41.759초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</a:tr>
              <a:tr h="56356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DP3 pixel A 1회</a:t>
                      </a:r>
                    </a:p>
                  </a:txBody>
                  <a:tcPr marL="95250" marR="95250" marT="76200" marB="76200">
                    <a:lnL w="9525">
                      <a:solidFill>
                        <a:srgbClr val="CFD8D2"/>
                      </a:solidFill>
                      <a:prstDash val="solid"/>
                    </a:lnL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provider JSON 생성400. 사용량 미확정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성공 지연으로 대체 안 함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356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DP4 B E4 r1</a:t>
                      </a:r>
                    </a:p>
                  </a:txBody>
                  <a:tcPr marL="95250" marR="95250" marT="76200" marB="76200">
                    <a:lnL w="9525">
                      <a:solidFill>
                        <a:srgbClr val="CFD8D2"/>
                      </a:solidFill>
                      <a:prstDash val="solid"/>
                    </a:lnL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실제 16행 인용을 17행으로 신고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63.338초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</a:tr>
              <a:tr h="56356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DP4 C E4 r1</a:t>
                      </a:r>
                    </a:p>
                  </a:txBody>
                  <a:tcPr marL="95250" marR="95250" marT="76200" marB="76200">
                    <a:lnL w="9525">
                      <a:solidFill>
                        <a:srgbClr val="CFD8D2"/>
                      </a:solidFill>
                      <a:prstDash val="solid"/>
                    </a:lnL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실제 5행 인용을 4행으로 신고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38.173초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66678E-4784-439B-8105-E959F302F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72075"/>
            <a:ext cx="11239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실패 시간은 별도 attempt endpoint다. 성공 QA01/03 평균에 넣는 임의 벌점이 아니다.</a:t>
            </a:r>
          </a:p>
          <a:p xmlns:a="http://schemas.openxmlformats.org/drawingml/2006/main">
            <a:pPr>
              <a:defRPr sz="18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미표시 초안은 성공 본문으로 세지 않았고 원시·복구·사용 비용을 남겼다.</a:t>
            </a:r>
          </a:p>
        </p:txBody>
      </p:sp>
    </p:spTree>
    <p:extLst>
      <p:ext uri="{BB962C8B-B14F-4D97-AF65-F5344CB8AC3E}">
        <p14:creationId xmlns:p14="http://schemas.microsoft.com/office/powerpoint/2010/main" val="86377190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F8CDFA-63CC-4E4D-8D84-D62D3E829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11353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DP1–4의 기존 근거와 재현 진입점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D8EB4D-8EB8-4698-AFE1-322D389A6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000125"/>
            <a:ext cx="11353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7C5B"/>
          </a:solidFill>
          <a:ln xmlns:a="http://schemas.openxmlformats.org/drawingml/2006/main" w="0">
            <a:solidFill>
              <a:srgbClr val="387C5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F1D77F-9171-410B-B5BE-0B01590CE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rPr>
              <a:t>40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96AF07-D87C-439E-8CF3-D94E20437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81125"/>
            <a:ext cx="11239500" cy="440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1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1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1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1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1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1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1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1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1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설계와 선택 계약</a:t>
            </a:r>
          </a:p>
          <a:p xmlns:a="http://schemas.openxmlformats.org/drawingml/2006/main">
            <a:pPr>
              <a:defRPr sz="21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seven-problem-review의 14 계약, 15 기존결과, 16 추가계약, 17 발표검토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기존 전체 원시·실패·재현 패키지</a:t>
            </a:r>
          </a:p>
          <a:p xmlns:a="http://schemas.openxmlformats.org/drawingml/2006/main">
            <a:pPr>
              <a:defRPr sz="21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current/four-dp-poc-evidence-20261019/README.md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새 기본·보완·재생 근거</a:t>
            </a:r>
          </a:p>
          <a:p xmlns:a="http://schemas.openxmlformats.org/drawingml/2006/main">
            <a:pPr>
              <a:defRPr sz="21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current/four-dp-presentation-20261019/ 각 DP의 plan,freeze,summary,raw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추가 실제 요청 331회: 확정 환산 $0.4735528 + 사용량 미확정 1회.</a:t>
            </a:r>
          </a:p>
          <a:p xmlns:a="http://schemas.openxmlformats.org/drawingml/2006/main">
            <a:pPr>
              <a:defRPr sz="21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시간·비용·메모리를 다른 실행 세대와 섞지 않고 원본으로 추적한다.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51F5C0-E8FF-46F5-9F58-2C3803364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953125"/>
            <a:ext cx="11315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rPr>
              <a:t>비용은 입력 $0.40·출력 $1.60 / 100만 token의 고정 비교 단가 환산이다. 공급자 청구액은 아니다.</a:t>
            </a:r>
          </a:p>
        </p:txBody>
      </p:sp>
    </p:spTree>
    <p:extLst>
      <p:ext uri="{BB962C8B-B14F-4D97-AF65-F5344CB8AC3E}">
        <p14:creationId xmlns:p14="http://schemas.microsoft.com/office/powerpoint/2010/main" val="11491922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2026-10-20T10:32:44.5550000Z</dcterms:created>
  <dcterms:modified xsi:type="dcterms:W3CDTF">2026-10-20T10:32:44.5550000Z</dcterms:modified>
</coreProperties>
</file>