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cb7ceffae8443b" /><Relationship Type="http://schemas.openxmlformats.org/officeDocument/2006/relationships/extended-properties" Target="/docProps/app.xml" Id="R384d0b8ec1914a26" /><Relationship Type="http://schemas.openxmlformats.org/officeDocument/2006/relationships/officeDocument" Target="/ppt/presentation.xml" Id="R807b0fd070014d4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4957346d634669"/>
  </p:sldMasterIdLst>
  <p:notesMasterIdLst>
    <p:notesMasterId xmlns:r="http://schemas.openxmlformats.org/officeDocument/2006/relationships" r:id="Rc559b8d0e8224eed"/>
  </p:notesMasterIdLst>
  <p:sldIdLst>
    <p:sldId xmlns:r="http://schemas.openxmlformats.org/officeDocument/2006/relationships" id="256" r:id="R64ed24f253d74316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1270ba9e5241ae" /><Relationship Type="http://schemas.openxmlformats.org/officeDocument/2006/relationships/slideMaster" Target="/ppt/slideMasters/slideMaster1.xml" Id="Rda4957346d634669" /><Relationship Type="http://schemas.openxmlformats.org/officeDocument/2006/relationships/notesMaster" Target="/ppt/notesMasters/notesMaster1.xml" Id="Rc559b8d0e8224eed" /><Relationship Type="http://schemas.openxmlformats.org/officeDocument/2006/relationships/presProps" Target="/ppt/presProps.xml" Id="Rc8cdb26bd4c443c5" /><Relationship Type="http://schemas.openxmlformats.org/officeDocument/2006/relationships/tableStyles" Target="/ppt/tableStyles.xml" Id="Rdc250afefbe14b7f" /><Relationship Type="http://schemas.openxmlformats.org/officeDocument/2006/relationships/slide" Target="/ppt/slides/slide1.xml" Id="R64ed24f253d743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f0f99b7e72421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5ac410743a433a" /><Relationship Type="http://schemas.openxmlformats.org/officeDocument/2006/relationships/notesMaster" Target="/ppt/notesMasters/notesMaster1.xml" Id="R93d05ae172d8486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DP44 구현 구조 비교. 기존 DP44 비교 페이지 뒤에 추가한 확대 보기.</a:t>
            </a:r>
          </a:p>
          <a:p xmlns:a="http://schemas.openxmlformats.org/drawingml/2006/main">
            <a:r>
              <a:t>A: Request Controller의 Control Lane과 Event Mailbox를 Dialogue Dispatcher가 소비하고, Job Index 및 Dialogue Progress State를 조회해 후속 실행과 결과 폐기를 결정한다. Request Interpreter 및 Response Composer의 비동기 완료는 Event Mailbox로 돌아온다.</a:t>
            </a:r>
          </a:p>
          <a:p xmlns:a="http://schemas.openxmlformats.org/drawingml/2006/main">
            <a:r>
              <a:t>B: Input Resolution Stage와 Task Notice Stage는 Request Controller 안에, Response Composer와 Publication Join은 Response Manager 안에 있다. 각 Stage는 입력, 완료, 제어 Queue 및 로컬 RAM 상태를 소유한다. 완료 callback은 생산 Stage의 Done Queue로 돌아오며 Join은 후보와 조건을 ID 및 revision으로 결합한다.</a:t>
            </a:r>
          </a:p>
          <a:p xmlns:a="http://schemas.openxmlformats.org/drawingml/2006/main">
            <a:r>
              <a:t>빨간 점선은 InputStarted의 즉시 hold, 채택된 정정의 invalidate, 실행 중 Job 취소 요청이다. 파란 실선은 일반 입력 및 후속 실행, 파란 점선은 비동기 완료 반환이다. 취소 요청만으로 실제 Job 중단을 단정하지 않는다.</a:t>
            </a:r>
          </a:p>
          <a:p xmlns:a="http://schemas.openxmlformats.org/drawingml/2006/main">
            <a:r>
              <a:t>양안 모두 Interaction Manager의 실제 출력과 ActualReceipt, Publication Control의 현재성 및 권한 검사를 거친다. 이 장은 미구현, 미측정, 미선정 설계안이다.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fbd482734840f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9d79275de64c3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81c65415394a0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cd6749935e4e8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cd2f0baeaa48a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d3beca0bf4450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EE4812-7D33-4743-A3C6-29EACAF985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0" y="3886200"/>
            <a:ext cx="146304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1217C64-6493-4DFC-A66F-7AB404EB7FF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743200" y="5657850"/>
            <a:ext cx="12801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2FC7ADF-13A7-4BAD-A4E5-F525F42DD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0" y="4286250"/>
            <a:ext cx="1463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ED683F0-AA30-4F0A-9E38-0D320979F1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B7805DA-EB9B-438A-923C-2C521F9F67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162306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DB346DB-2140-43F7-909D-E939709385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B271D16-825E-4BB0-AE5A-E95E2A2843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8C09662-BDD6-44F6-A620-D5049ACCCDF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97155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76DFC12-B929-4928-84D3-30A0CCF62B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F4B79A8-2F46-4F32-882A-AE62878B2B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e5a4ea4a32417a" /><Relationship Type="http://schemas.openxmlformats.org/officeDocument/2006/relationships/slideLayout" Target="/ppt/slideLayouts/slideLayout1.xml" Id="R23b17ee263d14b65" /><Relationship Type="http://schemas.openxmlformats.org/officeDocument/2006/relationships/slideLayout" Target="/ppt/slideLayouts/slideLayout2.xml" Id="R7cebe42c79604d3d" /><Relationship Type="http://schemas.openxmlformats.org/officeDocument/2006/relationships/slideLayout" Target="/ppt/slideLayouts/slideLayout3.xml" Id="R4ee9fe893df64cd1" /><Relationship Type="http://schemas.openxmlformats.org/officeDocument/2006/relationships/slideLayout" Target="/ppt/slideLayouts/slideLayout4.xml" Id="Ra430f31cc2314d12" /><Relationship Type="http://schemas.openxmlformats.org/officeDocument/2006/relationships/slideLayout" Target="/ppt/slideLayouts/slideLayout5.xml" Id="Rbb34bb99d1514474" /><Relationship Type="http://schemas.openxmlformats.org/officeDocument/2006/relationships/slideLayout" Target="/ppt/slideLayouts/slideLayout6.xml" Id="Re818334bee9c429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b17ee263d14b65"/>
    <p:sldLayoutId xmlns:r="http://schemas.openxmlformats.org/officeDocument/2006/relationships" id="2147483650" r:id="R7cebe42c79604d3d"/>
    <p:sldLayoutId xmlns:r="http://schemas.openxmlformats.org/officeDocument/2006/relationships" id="2147483651" r:id="R4ee9fe893df64cd1"/>
    <p:sldLayoutId xmlns:r="http://schemas.openxmlformats.org/officeDocument/2006/relationships" id="2147483652" r:id="Ra430f31cc2314d12"/>
    <p:sldLayoutId xmlns:r="http://schemas.openxmlformats.org/officeDocument/2006/relationships" id="2147483653" r:id="Rbb34bb99d1514474"/>
    <p:sldLayoutId xmlns:r="http://schemas.openxmlformats.org/officeDocument/2006/relationships" id="2147483654" r:id="Re818334bee9c429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925cf2cf2b48c1" /><Relationship Type="http://schemas.openxmlformats.org/officeDocument/2006/relationships/notesSlide" Target="/ppt/notesSlides/notesSlide1.xml" Id="R5ed6d27dc1dd47a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3" name="dp44-implementation-comparison / n1">
            <a:extLst xmlns:a="http://schemas.openxmlformats.org/drawingml/2006/main">
              <a:ext uri="{FF2B5EF4-FFF2-40B4-BE49-F238E27FC236}">
                <a16:creationId xmlns:a16="http://schemas.microsoft.com/office/drawing/2014/main" id="{82A17C33-D17F-476B-B9F4-A98305D0D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implementation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5FF0963E-8F54-4770-BCC1-C339E997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6859250" cy="5800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DP44. 중앙 회수와 단계별 완료 처리의 구현 구조</a:t>
            </a:r>
          </a:p>
        </p:txBody>
      </p:sp>
      <p:sp>
        <p:nvSpPr>
          <p:cNvPr id="3" name="dp44-implementation-comparison / n3 / path">
            <a:extLst xmlns:a="http://schemas.openxmlformats.org/drawingml/2006/main">
              <a:ext uri="{FF2B5EF4-FFF2-40B4-BE49-F238E27FC236}">
                <a16:creationId xmlns:a16="http://schemas.microsoft.com/office/drawing/2014/main" id="{4A9D6BB0-D255-4C9E-B2F3-3038011D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81075"/>
            <a:ext cx="17259300" cy="953"/>
          </a:xfrm>
          <a:custGeom xmlns:a="http://schemas.openxmlformats.org/drawingml/2006/main">
            <a:pathLst>
              <a:path w="17259300" h="953">
                <a:moveTo>
                  <a:pt x="0" y="0"/>
                </a:moveTo>
                <a:lnTo>
                  <a:pt x="17259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4" name="dp44-implementation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2B9D32DF-579F-4310-A923-72139692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71575"/>
            <a:ext cx="1725930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같은 사건: R1 rev1의 응답 Job J1 실행 중 새 발화와 메일 질문 도착, 이후 J1이 늦게 완료</a:t>
            </a:r>
          </a:p>
        </p:txBody>
      </p:sp>
      <p:sp>
        <p:nvSpPr>
          <p:cNvPr id="5" name="dp44-implementation-comparison / n5 / text 1">
            <a:extLst xmlns:a="http://schemas.openxmlformats.org/drawingml/2006/main">
              <a:ext uri="{FF2B5EF4-FFF2-40B4-BE49-F238E27FC236}">
                <a16:creationId xmlns:a16="http://schemas.microsoft.com/office/drawing/2014/main" id="{B9CA10F1-84F4-4C39-A752-27B71E84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172593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F6B77"/>
                </a:solidFill>
                <a:latin typeface="Calibri"/>
                <a:ea typeface="Calibri"/>
                <a:cs typeface="Calibri"/>
              </a:rPr>
              <a:t>공통: Interaction Manager가 입력을 계속 받고 즉시 출력을 멈춘다. Task Manager는 확인된 업무 사건을 제공한다.</a:t>
            </a:r>
          </a:p>
        </p:txBody>
      </p:sp>
      <p:sp>
        <p:nvSpPr>
          <p:cNvPr id="6" name="dp44-implementation-comparison / n6">
            <a:extLst xmlns:a="http://schemas.openxmlformats.org/drawingml/2006/main">
              <a:ext uri="{FF2B5EF4-FFF2-40B4-BE49-F238E27FC236}">
                <a16:creationId xmlns:a16="http://schemas.microsoft.com/office/drawing/2014/main" id="{1DD2D899-7415-4923-B2EF-DD2E0587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71675"/>
            <a:ext cx="828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7" name="dp44-implementation-comparison / n7">
            <a:extLst xmlns:a="http://schemas.openxmlformats.org/drawingml/2006/main">
              <a:ext uri="{FF2B5EF4-FFF2-40B4-BE49-F238E27FC236}">
                <a16:creationId xmlns:a16="http://schemas.microsoft.com/office/drawing/2014/main" id="{ACFC8545-DB2F-424E-932B-3CAE04127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971675"/>
            <a:ext cx="828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DB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8" name="dp44-implementation-comparison / n8 / text 1">
            <a:extLst xmlns:a="http://schemas.openxmlformats.org/drawingml/2006/main">
              <a:ext uri="{FF2B5EF4-FFF2-40B4-BE49-F238E27FC236}">
                <a16:creationId xmlns:a16="http://schemas.microsoft.com/office/drawing/2014/main" id="{FE6BFBD3-0550-4C3A-A4B1-557923A9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80962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A  중앙 Mailbox와 Dispatcher가 다음 실행을 결정</a:t>
            </a:r>
          </a:p>
        </p:txBody>
      </p:sp>
      <p:sp>
        <p:nvSpPr>
          <p:cNvPr id="9" name="dp44-implementation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BAB77E2E-FC59-4D6C-A7AC-A59B2639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095500"/>
            <a:ext cx="80962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B  각 Stage가 자기 Done을 처리하고 다음 Queue로 전달</a:t>
            </a:r>
          </a:p>
        </p:txBody>
      </p:sp>
      <p:sp>
        <p:nvSpPr>
          <p:cNvPr id="10" name="dp44-implementation-comparison / n10">
            <a:extLst xmlns:a="http://schemas.openxmlformats.org/drawingml/2006/main">
              <a:ext uri="{FF2B5EF4-FFF2-40B4-BE49-F238E27FC236}">
                <a16:creationId xmlns:a16="http://schemas.microsoft.com/office/drawing/2014/main" id="{743DA428-F7F4-4583-8716-6F0B74119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86050"/>
            <a:ext cx="8239125" cy="3095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" name="dp44-implementation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A95F54D5-9558-4208-93A3-AC517CA2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71775"/>
            <a:ext cx="7905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Request Controller</a:t>
            </a:r>
          </a:p>
        </p:txBody>
      </p:sp>
      <p:sp>
        <p:nvSpPr>
          <p:cNvPr id="12" name="dp44-implementation-comparison / n12 / text 1">
            <a:extLst xmlns:a="http://schemas.openxmlformats.org/drawingml/2006/main">
              <a:ext uri="{FF2B5EF4-FFF2-40B4-BE49-F238E27FC236}">
                <a16:creationId xmlns:a16="http://schemas.microsoft.com/office/drawing/2014/main" id="{7D16D2A0-8A52-43F9-B278-9A9F10EC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0375"/>
            <a:ext cx="29527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B637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B6373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B63732"/>
                </a:solidFill>
                <a:latin typeface="Calibri"/>
                <a:ea typeface="Calibri"/>
                <a:cs typeface="Calibri"/>
              </a:rPr>
              <a:t>InputStarted</a:t>
            </a:r>
          </a:p>
        </p:txBody>
      </p:sp>
      <p:sp>
        <p:nvSpPr>
          <p:cNvPr id="13" name="dp44-implementation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1066C240-CF35-45AA-99DC-4B0B4C10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000375"/>
            <a:ext cx="44767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2858A5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2858A5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2858A5"/>
                </a:solidFill>
                <a:latin typeface="Calibri"/>
                <a:ea typeface="Calibri"/>
                <a:cs typeface="Calibri"/>
              </a:rPr>
              <a:t>InputReady / TaskEvent / JobDone / Presented</a:t>
            </a:r>
          </a:p>
        </p:txBody>
      </p:sp>
      <p:sp>
        <p:nvSpPr>
          <p:cNvPr id="14" name="dp44-implementation-comparison / n14">
            <a:extLst xmlns:a="http://schemas.openxmlformats.org/drawingml/2006/main">
              <a:ext uri="{FF2B5EF4-FFF2-40B4-BE49-F238E27FC236}">
                <a16:creationId xmlns:a16="http://schemas.microsoft.com/office/drawing/2014/main" id="{701FDFD8-76ED-42C4-B168-DB2E364F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219450"/>
            <a:ext cx="304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5" name="dp44-implementation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AF052D5F-784D-4A34-B908-44194598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86125"/>
            <a:ext cx="28765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Control Lane</a:t>
            </a:r>
          </a:p>
        </p:txBody>
      </p:sp>
      <p:sp>
        <p:nvSpPr>
          <p:cNvPr id="16" name="dp44-implementation-comparison / n16 / text 1">
            <a:extLst xmlns:a="http://schemas.openxmlformats.org/drawingml/2006/main">
              <a:ext uri="{FF2B5EF4-FFF2-40B4-BE49-F238E27FC236}">
                <a16:creationId xmlns:a16="http://schemas.microsoft.com/office/drawing/2014/main" id="{FB9E26F5-C44B-41BF-89F8-BB1B2E10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33775"/>
            <a:ext cx="28765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F6B77"/>
                </a:solidFill>
                <a:latin typeface="Calibri"/>
                <a:ea typeface="Calibri"/>
                <a:cs typeface="Calibri"/>
              </a:rPr>
              <a:t>onset / adopted Invalidate</a:t>
            </a:r>
          </a:p>
        </p:txBody>
      </p:sp>
      <p:sp>
        <p:nvSpPr>
          <p:cNvPr id="17" name="dp44-implementation-comparison / n17">
            <a:extLst xmlns:a="http://schemas.openxmlformats.org/drawingml/2006/main">
              <a:ext uri="{FF2B5EF4-FFF2-40B4-BE49-F238E27FC236}">
                <a16:creationId xmlns:a16="http://schemas.microsoft.com/office/drawing/2014/main" id="{D39080CF-5D7B-46FA-8673-A31967A8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6480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" name="dp44-implementation-comparison / n18">
            <a:extLst xmlns:a="http://schemas.openxmlformats.org/drawingml/2006/main">
              <a:ext uri="{FF2B5EF4-FFF2-40B4-BE49-F238E27FC236}">
                <a16:creationId xmlns:a16="http://schemas.microsoft.com/office/drawing/2014/main" id="{585E7B81-1243-4675-9C62-58AF5DFE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6480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9" name="dp44-implementation-comparison / n19">
            <a:extLst xmlns:a="http://schemas.openxmlformats.org/drawingml/2006/main">
              <a:ext uri="{FF2B5EF4-FFF2-40B4-BE49-F238E27FC236}">
                <a16:creationId xmlns:a16="http://schemas.microsoft.com/office/drawing/2014/main" id="{869DE988-EE35-4D0D-93D4-8A25EB82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6480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0" name="dp44-implementation-comparison / n20">
            <a:extLst xmlns:a="http://schemas.openxmlformats.org/drawingml/2006/main">
              <a:ext uri="{FF2B5EF4-FFF2-40B4-BE49-F238E27FC236}">
                <a16:creationId xmlns:a16="http://schemas.microsoft.com/office/drawing/2014/main" id="{0D468641-83EF-41AB-BAD5-3CBFEA92A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6480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1" name="dp44-implementation-comparison / n21">
            <a:extLst xmlns:a="http://schemas.openxmlformats.org/drawingml/2006/main">
              <a:ext uri="{FF2B5EF4-FFF2-40B4-BE49-F238E27FC236}">
                <a16:creationId xmlns:a16="http://schemas.microsoft.com/office/drawing/2014/main" id="{F8A64587-024A-4D11-80AB-1237D922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219450"/>
            <a:ext cx="4476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22" name="dp44-implementation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7D92F8A6-9E89-4EEC-A344-0A96E99B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286125"/>
            <a:ext cx="4305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Event Mailbox</a:t>
            </a:r>
          </a:p>
        </p:txBody>
      </p:sp>
      <p:sp>
        <p:nvSpPr>
          <p:cNvPr id="23" name="dp44-implementation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D593FEBE-873A-4D18-B66A-E14853EE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533775"/>
            <a:ext cx="43053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F6B77"/>
                </a:solidFill>
                <a:latin typeface="Calibri"/>
                <a:ea typeface="Calibri"/>
                <a:cs typeface="Calibri"/>
              </a:rPr>
              <a:t>priority + seq + aging</a:t>
            </a:r>
          </a:p>
        </p:txBody>
      </p:sp>
      <p:sp>
        <p:nvSpPr>
          <p:cNvPr id="24" name="dp44-implementation-comparison / n24">
            <a:extLst xmlns:a="http://schemas.openxmlformats.org/drawingml/2006/main">
              <a:ext uri="{FF2B5EF4-FFF2-40B4-BE49-F238E27FC236}">
                <a16:creationId xmlns:a16="http://schemas.microsoft.com/office/drawing/2014/main" id="{6A9BBA31-1179-4C51-B4D7-016B54D7D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480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5" name="dp44-implementation-comparison / n25">
            <a:extLst xmlns:a="http://schemas.openxmlformats.org/drawingml/2006/main">
              <a:ext uri="{FF2B5EF4-FFF2-40B4-BE49-F238E27FC236}">
                <a16:creationId xmlns:a16="http://schemas.microsoft.com/office/drawing/2014/main" id="{FD4534D8-8688-47D6-9B4D-8D3B43DC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480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6" name="dp44-implementation-comparison / n26">
            <a:extLst xmlns:a="http://schemas.openxmlformats.org/drawingml/2006/main">
              <a:ext uri="{FF2B5EF4-FFF2-40B4-BE49-F238E27FC236}">
                <a16:creationId xmlns:a16="http://schemas.microsoft.com/office/drawing/2014/main" id="{CD4C62F5-2204-4D68-82AD-134ADEA6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480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7" name="dp44-implementation-comparison / n27">
            <a:extLst xmlns:a="http://schemas.openxmlformats.org/drawingml/2006/main">
              <a:ext uri="{FF2B5EF4-FFF2-40B4-BE49-F238E27FC236}">
                <a16:creationId xmlns:a16="http://schemas.microsoft.com/office/drawing/2014/main" id="{8099ED28-6BAE-4DF5-BC6D-E4DB7465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6480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8" name="dp44-implementation-comparison / n28 / path">
            <a:extLst xmlns:a="http://schemas.openxmlformats.org/drawingml/2006/main">
              <a:ext uri="{FF2B5EF4-FFF2-40B4-BE49-F238E27FC236}">
                <a16:creationId xmlns:a16="http://schemas.microsoft.com/office/drawing/2014/main" id="{6E98BFAD-0355-448D-ACD7-B81AF797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95250" cy="438150"/>
          </a:xfrm>
          <a:custGeom xmlns:a="http://schemas.openxmlformats.org/drawingml/2006/main">
            <a:pathLst>
              <a:path w="95250" h="438150">
                <a:moveTo>
                  <a:pt x="0" y="0"/>
                </a:moveTo>
                <a:lnTo>
                  <a:pt x="0" y="438150"/>
                </a:lnTo>
                <a:lnTo>
                  <a:pt x="95250" y="4381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29" name="dp44-implementation-comparison / n28 / arrow">
            <a:extLst xmlns:a="http://schemas.openxmlformats.org/drawingml/2006/main">
              <a:ext uri="{FF2B5EF4-FFF2-40B4-BE49-F238E27FC236}">
                <a16:creationId xmlns:a16="http://schemas.microsoft.com/office/drawing/2014/main" id="{90B68A75-5A73-46D7-956B-BAEC4A6D7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" y="34918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30" name="dp44-implementation-comparison / n29">
            <a:extLst xmlns:a="http://schemas.openxmlformats.org/drawingml/2006/main">
              <a:ext uri="{FF2B5EF4-FFF2-40B4-BE49-F238E27FC236}">
                <a16:creationId xmlns:a16="http://schemas.microsoft.com/office/drawing/2014/main" id="{4EC2065A-93EE-4472-B79A-DEA50B45C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81500"/>
            <a:ext cx="51435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5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31" name="dp44-implementation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1883217E-9EFB-4857-B1BA-D9FA3968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467225"/>
            <a:ext cx="49530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Dialogue Dispatcher: Pump / Handle(event)</a:t>
            </a:r>
          </a:p>
        </p:txBody>
      </p:sp>
      <p:sp>
        <p:nvSpPr>
          <p:cNvPr id="32" name="dp44-implementation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F9DD8635-0C0D-460E-9C16-2F02EBE7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724400"/>
            <a:ext cx="4953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F6B77"/>
                </a:solidFill>
                <a:latin typeface="Calibri"/>
                <a:ea typeface="Calibri"/>
                <a:cs typeface="Calibri"/>
              </a:rPr>
              <a:t>짧은 전이에서 의미 채택, 다음 Job 지시, 오래된 결과 폐기</a:t>
            </a:r>
          </a:p>
        </p:txBody>
      </p:sp>
      <p:sp>
        <p:nvSpPr>
          <p:cNvPr id="33" name="dp44-implementation-comparison / n32">
            <a:extLst xmlns:a="http://schemas.openxmlformats.org/drawingml/2006/main">
              <a:ext uri="{FF2B5EF4-FFF2-40B4-BE49-F238E27FC236}">
                <a16:creationId xmlns:a16="http://schemas.microsoft.com/office/drawing/2014/main" id="{DADAB15C-EB36-43AC-9931-F2AAB0AB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19700"/>
            <a:ext cx="3333750" cy="485775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FFF3E5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34" name="dp44-implementation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58FC07B7-3BBB-4D17-8010-2F507D44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38775"/>
            <a:ext cx="3162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Job Index: revision / Future / CancelHandle</a:t>
            </a:r>
          </a:p>
        </p:txBody>
      </p:sp>
      <p:sp>
        <p:nvSpPr>
          <p:cNvPr id="35" name="dp44-implementation-comparison / n34">
            <a:extLst xmlns:a="http://schemas.openxmlformats.org/drawingml/2006/main">
              <a:ext uri="{FF2B5EF4-FFF2-40B4-BE49-F238E27FC236}">
                <a16:creationId xmlns:a16="http://schemas.microsoft.com/office/drawing/2014/main" id="{B3FB760C-EBE1-4116-B0F6-E31CE26D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219700"/>
            <a:ext cx="4124325" cy="485775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FFF3E5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36" name="dp44-implementation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07C10AB4-8565-47A3-9E3C-9CA51CD4B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438775"/>
            <a:ext cx="39528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Dialogue Progress State: 대기 ID / 후보 참조</a:t>
            </a:r>
          </a:p>
        </p:txBody>
      </p:sp>
      <p:sp>
        <p:nvSpPr>
          <p:cNvPr id="37" name="dp44-implementation-comparison / n36 / path">
            <a:extLst xmlns:a="http://schemas.openxmlformats.org/drawingml/2006/main">
              <a:ext uri="{FF2B5EF4-FFF2-40B4-BE49-F238E27FC236}">
                <a16:creationId xmlns:a16="http://schemas.microsoft.com/office/drawing/2014/main" id="{78A7BE55-4806-4F40-BCDD-2688B09D4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3886200"/>
            <a:ext cx="876300" cy="495300"/>
          </a:xfrm>
          <a:custGeom xmlns:a="http://schemas.openxmlformats.org/drawingml/2006/main">
            <a:pathLst>
              <a:path w="876300" h="495300">
                <a:moveTo>
                  <a:pt x="0" y="0"/>
                </a:moveTo>
                <a:lnTo>
                  <a:pt x="0" y="276225"/>
                </a:lnTo>
                <a:lnTo>
                  <a:pt x="876300" y="276225"/>
                </a:lnTo>
                <a:lnTo>
                  <a:pt x="876300" y="495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8232E"/>
            </a:solidFill>
            <a:prstDash val="solid"/>
          </a:ln>
        </p:spPr>
      </p:sp>
      <p:sp>
        <p:nvSpPr>
          <p:cNvPr id="38" name="dp44-implementation-comparison / n36 / arrow">
            <a:extLst xmlns:a="http://schemas.openxmlformats.org/drawingml/2006/main">
              <a:ext uri="{FF2B5EF4-FFF2-40B4-BE49-F238E27FC236}">
                <a16:creationId xmlns:a16="http://schemas.microsoft.com/office/drawing/2014/main" id="{085730CB-EFE3-4D6C-8C8E-133B1DE0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9915" y="42595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18232E"/>
            </a:solidFill>
            <a:prstDash val="solid"/>
          </a:ln>
        </p:spPr>
      </p:sp>
      <p:sp>
        <p:nvSpPr>
          <p:cNvPr id="39" name="dp44-implementation-comparison / n37 / path">
            <a:extLst xmlns:a="http://schemas.openxmlformats.org/drawingml/2006/main">
              <a:ext uri="{FF2B5EF4-FFF2-40B4-BE49-F238E27FC236}">
                <a16:creationId xmlns:a16="http://schemas.microsoft.com/office/drawing/2014/main" id="{7EB37862-3D7F-405D-9E66-7BB29C5F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86200"/>
            <a:ext cx="219075" cy="495300"/>
          </a:xfrm>
          <a:custGeom xmlns:a="http://schemas.openxmlformats.org/drawingml/2006/main">
            <a:pathLst>
              <a:path w="219075" h="495300">
                <a:moveTo>
                  <a:pt x="219075" y="0"/>
                </a:moveTo>
                <a:lnTo>
                  <a:pt x="219075" y="276225"/>
                </a:lnTo>
                <a:lnTo>
                  <a:pt x="0" y="276225"/>
                </a:lnTo>
                <a:lnTo>
                  <a:pt x="0" y="495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8232E"/>
            </a:solidFill>
            <a:prstDash val="solid"/>
          </a:ln>
        </p:spPr>
      </p:sp>
      <p:sp>
        <p:nvSpPr>
          <p:cNvPr id="40" name="dp44-implementation-comparison / n37 / arrow">
            <a:extLst xmlns:a="http://schemas.openxmlformats.org/drawingml/2006/main">
              <a:ext uri="{FF2B5EF4-FFF2-40B4-BE49-F238E27FC236}">
                <a16:creationId xmlns:a16="http://schemas.microsoft.com/office/drawing/2014/main" id="{A243E8CD-8DCF-4CE5-BECC-6BBADC00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42595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18232E"/>
            </a:solidFill>
            <a:prstDash val="solid"/>
          </a:ln>
        </p:spPr>
      </p:sp>
      <p:sp>
        <p:nvSpPr>
          <p:cNvPr id="41" name="dp44-implementation-comparison / n38 / path">
            <a:extLst xmlns:a="http://schemas.openxmlformats.org/drawingml/2006/main">
              <a:ext uri="{FF2B5EF4-FFF2-40B4-BE49-F238E27FC236}">
                <a16:creationId xmlns:a16="http://schemas.microsoft.com/office/drawing/2014/main" id="{F359D078-127D-4D56-A364-59ECED9F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076825"/>
            <a:ext cx="781050" cy="142875"/>
          </a:xfrm>
          <a:custGeom xmlns:a="http://schemas.openxmlformats.org/drawingml/2006/main">
            <a:pathLst>
              <a:path w="781050" h="142875">
                <a:moveTo>
                  <a:pt x="781050" y="0"/>
                </a:moveTo>
                <a:lnTo>
                  <a:pt x="781050" y="76200"/>
                </a:lnTo>
                <a:lnTo>
                  <a:pt x="0" y="76200"/>
                </a:lnTo>
                <a:lnTo>
                  <a:pt x="0" y="1428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42" name="dp44-implementation-comparison / n38 / arrow">
            <a:extLst xmlns:a="http://schemas.openxmlformats.org/drawingml/2006/main">
              <a:ext uri="{FF2B5EF4-FFF2-40B4-BE49-F238E27FC236}">
                <a16:creationId xmlns:a16="http://schemas.microsoft.com/office/drawing/2014/main" id="{0D9FCFBD-C636-46DA-8CDD-28F570F8C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50977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43" name="dp44-implementation-comparison / n39 / path">
            <a:extLst xmlns:a="http://schemas.openxmlformats.org/drawingml/2006/main">
              <a:ext uri="{FF2B5EF4-FFF2-40B4-BE49-F238E27FC236}">
                <a16:creationId xmlns:a16="http://schemas.microsoft.com/office/drawing/2014/main" id="{8EF358B1-D599-436A-84DE-91FD357D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76825"/>
            <a:ext cx="381000" cy="142875"/>
          </a:xfrm>
          <a:custGeom xmlns:a="http://schemas.openxmlformats.org/drawingml/2006/main">
            <a:pathLst>
              <a:path w="381000" h="142875">
                <a:moveTo>
                  <a:pt x="0" y="0"/>
                </a:moveTo>
                <a:lnTo>
                  <a:pt x="0" y="76200"/>
                </a:lnTo>
                <a:lnTo>
                  <a:pt x="381000" y="76200"/>
                </a:lnTo>
                <a:lnTo>
                  <a:pt x="381000" y="1428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44" name="dp44-implementation-comparison / n39 / arrow">
            <a:extLst xmlns:a="http://schemas.openxmlformats.org/drawingml/2006/main">
              <a:ext uri="{FF2B5EF4-FFF2-40B4-BE49-F238E27FC236}">
                <a16:creationId xmlns:a16="http://schemas.microsoft.com/office/drawing/2014/main" id="{FE5B5B61-948F-4341-AD98-EBD0CB93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6040" y="50977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45" name="dp44-implementation-comparison / n40 / path">
            <a:extLst xmlns:a="http://schemas.openxmlformats.org/drawingml/2006/main">
              <a:ext uri="{FF2B5EF4-FFF2-40B4-BE49-F238E27FC236}">
                <a16:creationId xmlns:a16="http://schemas.microsoft.com/office/drawing/2014/main" id="{D0361F48-02B0-4EC7-BB38-3E8210B86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076825"/>
            <a:ext cx="953" cy="142875"/>
          </a:xfrm>
          <a:custGeom xmlns:a="http://schemas.openxmlformats.org/drawingml/2006/main">
            <a:pathLst>
              <a:path w="953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46" name="dp44-implementation-comparison / n40 / arrow">
            <a:extLst xmlns:a="http://schemas.openxmlformats.org/drawingml/2006/main">
              <a:ext uri="{FF2B5EF4-FFF2-40B4-BE49-F238E27FC236}">
                <a16:creationId xmlns:a16="http://schemas.microsoft.com/office/drawing/2014/main" id="{75334D72-13E5-4281-8857-D219B78C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65" y="50977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47" name="dp44-implementation-comparison / n41">
            <a:extLst xmlns:a="http://schemas.openxmlformats.org/drawingml/2006/main">
              <a:ext uri="{FF2B5EF4-FFF2-40B4-BE49-F238E27FC236}">
                <a16:creationId xmlns:a16="http://schemas.microsoft.com/office/drawing/2014/main" id="{97F1D978-7F21-4182-BE43-1C1E333C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6172200"/>
            <a:ext cx="2333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48" name="dp44-implementation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520C9F6B-DDE2-44A5-9626-3C7B21B8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6257925"/>
            <a:ext cx="21431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Request Interpreter</a:t>
            </a:r>
          </a:p>
        </p:txBody>
      </p:sp>
      <p:sp>
        <p:nvSpPr>
          <p:cNvPr id="49" name="dp44-implementation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2A930ECF-E2A9-4914-8824-B6400386D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6515100"/>
            <a:ext cx="2143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F6B77"/>
                </a:solidFill>
                <a:latin typeface="Calibri"/>
                <a:ea typeface="Calibri"/>
                <a:cs typeface="Calibri"/>
              </a:rPr>
              <a:t>InterpretAsync</a:t>
            </a:r>
          </a:p>
        </p:txBody>
      </p:sp>
      <p:sp>
        <p:nvSpPr>
          <p:cNvPr id="50" name="dp44-implementation-comparison / n44">
            <a:extLst xmlns:a="http://schemas.openxmlformats.org/drawingml/2006/main">
              <a:ext uri="{FF2B5EF4-FFF2-40B4-BE49-F238E27FC236}">
                <a16:creationId xmlns:a16="http://schemas.microsoft.com/office/drawing/2014/main" id="{84301A9F-E277-4AF2-B529-C363AF69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895975"/>
            <a:ext cx="54578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1" name="dp44-implementation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E56673CF-7BC4-424A-8B0C-29C6BB88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943600"/>
            <a:ext cx="514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Response Manager</a:t>
            </a:r>
          </a:p>
        </p:txBody>
      </p:sp>
      <p:sp>
        <p:nvSpPr>
          <p:cNvPr id="52" name="dp44-implementation-comparison / n46">
            <a:extLst xmlns:a="http://schemas.openxmlformats.org/drawingml/2006/main">
              <a:ext uri="{FF2B5EF4-FFF2-40B4-BE49-F238E27FC236}">
                <a16:creationId xmlns:a16="http://schemas.microsoft.com/office/drawing/2014/main" id="{CC65D97F-337F-4D49-B719-DF0DB995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6172200"/>
            <a:ext cx="2333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3" name="dp44-implementation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35717A64-2CBF-4DA0-8B3B-806B3FCD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6257925"/>
            <a:ext cx="21431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Response Composer</a:t>
            </a:r>
          </a:p>
        </p:txBody>
      </p:sp>
      <p:sp>
        <p:nvSpPr>
          <p:cNvPr id="54" name="dp44-implementation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50AE3D64-0F5E-499B-8C82-7DD9C6602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6515100"/>
            <a:ext cx="2143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F6B77"/>
                </a:solidFill>
                <a:latin typeface="Calibri"/>
                <a:ea typeface="Calibri"/>
                <a:cs typeface="Calibri"/>
              </a:rPr>
              <a:t>PrepareAsync</a:t>
            </a:r>
          </a:p>
        </p:txBody>
      </p:sp>
      <p:sp>
        <p:nvSpPr>
          <p:cNvPr id="55" name="dp44-implementation-comparison / n49">
            <a:extLst xmlns:a="http://schemas.openxmlformats.org/drawingml/2006/main">
              <a:ext uri="{FF2B5EF4-FFF2-40B4-BE49-F238E27FC236}">
                <a16:creationId xmlns:a16="http://schemas.microsoft.com/office/drawing/2014/main" id="{9EF9EDEF-FEA9-4630-9B3C-B4FF8528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61722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4-implementation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87109649-59C1-4A46-B526-B3F27D51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6257925"/>
            <a:ext cx="23812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Publication Control</a:t>
            </a:r>
          </a:p>
        </p:txBody>
      </p:sp>
      <p:sp>
        <p:nvSpPr>
          <p:cNvPr id="57" name="dp44-implementation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61B7F484-6F34-47EE-A24D-051B0898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6515100"/>
            <a:ext cx="2381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F6B77"/>
                </a:solidFill>
                <a:latin typeface="Calibri"/>
                <a:ea typeface="Calibri"/>
                <a:cs typeface="Calibri"/>
              </a:rPr>
              <a:t>현재성 검사 후 게시</a:t>
            </a:r>
          </a:p>
        </p:txBody>
      </p:sp>
      <p:sp>
        <p:nvSpPr>
          <p:cNvPr id="58" name="dp44-implementation-comparison / n52 / path">
            <a:extLst xmlns:a="http://schemas.openxmlformats.org/drawingml/2006/main">
              <a:ext uri="{FF2B5EF4-FFF2-40B4-BE49-F238E27FC236}">
                <a16:creationId xmlns:a16="http://schemas.microsoft.com/office/drawing/2014/main" id="{E517C5C7-5292-4FF2-8EBB-62CB8F27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33925"/>
            <a:ext cx="266700" cy="1438275"/>
          </a:xfrm>
          <a:custGeom xmlns:a="http://schemas.openxmlformats.org/drawingml/2006/main">
            <a:pathLst>
              <a:path w="266700" h="1438275">
                <a:moveTo>
                  <a:pt x="266700" y="0"/>
                </a:moveTo>
                <a:lnTo>
                  <a:pt x="0" y="0"/>
                </a:lnTo>
                <a:lnTo>
                  <a:pt x="0" y="1323975"/>
                </a:lnTo>
                <a:lnTo>
                  <a:pt x="123825" y="1323975"/>
                </a:lnTo>
                <a:lnTo>
                  <a:pt x="123825" y="14382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8232E"/>
            </a:solidFill>
            <a:prstDash val="solid"/>
          </a:ln>
        </p:spPr>
      </p:sp>
      <p:sp>
        <p:nvSpPr>
          <p:cNvPr id="59" name="dp44-implementation-comparison / n52 / arrow">
            <a:extLst xmlns:a="http://schemas.openxmlformats.org/drawingml/2006/main">
              <a:ext uri="{FF2B5EF4-FFF2-40B4-BE49-F238E27FC236}">
                <a16:creationId xmlns:a16="http://schemas.microsoft.com/office/drawing/2014/main" id="{EFDDB487-45BF-4B56-8DFE-0D97E46C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1665" y="60502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18232E"/>
            </a:solidFill>
            <a:prstDash val="solid"/>
          </a:ln>
        </p:spPr>
      </p:sp>
      <p:sp>
        <p:nvSpPr>
          <p:cNvPr id="60" name="dp44-implementation-comparison / n53 / path">
            <a:extLst xmlns:a="http://schemas.openxmlformats.org/drawingml/2006/main">
              <a:ext uri="{FF2B5EF4-FFF2-40B4-BE49-F238E27FC236}">
                <a16:creationId xmlns:a16="http://schemas.microsoft.com/office/drawing/2014/main" id="{7D2FCEDF-8308-47BF-9B71-488A7949A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076825"/>
            <a:ext cx="333375" cy="1095375"/>
          </a:xfrm>
          <a:custGeom xmlns:a="http://schemas.openxmlformats.org/drawingml/2006/main">
            <a:pathLst>
              <a:path w="333375" h="1095375">
                <a:moveTo>
                  <a:pt x="0" y="0"/>
                </a:moveTo>
                <a:lnTo>
                  <a:pt x="0" y="742950"/>
                </a:lnTo>
                <a:lnTo>
                  <a:pt x="333375" y="742950"/>
                </a:lnTo>
                <a:lnTo>
                  <a:pt x="333375" y="1095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8232E"/>
            </a:solidFill>
            <a:prstDash val="solid"/>
          </a:ln>
        </p:spPr>
      </p:sp>
      <p:sp>
        <p:nvSpPr>
          <p:cNvPr id="61" name="dp44-implementation-comparison / n53 / arrow">
            <a:extLst xmlns:a="http://schemas.openxmlformats.org/drawingml/2006/main">
              <a:ext uri="{FF2B5EF4-FFF2-40B4-BE49-F238E27FC236}">
                <a16:creationId xmlns:a16="http://schemas.microsoft.com/office/drawing/2014/main" id="{7CBC3BDF-76C9-46B2-9F9B-D1E81265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465" y="60502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18232E"/>
            </a:solidFill>
            <a:prstDash val="solid"/>
          </a:ln>
        </p:spPr>
      </p:sp>
      <p:sp>
        <p:nvSpPr>
          <p:cNvPr id="62" name="dp44-implementation-comparison / n54 / path">
            <a:extLst xmlns:a="http://schemas.openxmlformats.org/drawingml/2006/main">
              <a:ext uri="{FF2B5EF4-FFF2-40B4-BE49-F238E27FC236}">
                <a16:creationId xmlns:a16="http://schemas.microsoft.com/office/drawing/2014/main" id="{D8F1EFDD-3789-44A9-9622-5421D87C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33925"/>
            <a:ext cx="1457325" cy="1438275"/>
          </a:xfrm>
          <a:custGeom xmlns:a="http://schemas.openxmlformats.org/drawingml/2006/main">
            <a:pathLst>
              <a:path w="1457325" h="1438275">
                <a:moveTo>
                  <a:pt x="0" y="0"/>
                </a:moveTo>
                <a:lnTo>
                  <a:pt x="1457325" y="0"/>
                </a:lnTo>
                <a:lnTo>
                  <a:pt x="1457325" y="1333500"/>
                </a:lnTo>
                <a:lnTo>
                  <a:pt x="19050" y="1333500"/>
                </a:lnTo>
                <a:lnTo>
                  <a:pt x="19050" y="14382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8232E"/>
            </a:solidFill>
            <a:prstDash val="solid"/>
          </a:ln>
        </p:spPr>
      </p:sp>
      <p:sp>
        <p:nvSpPr>
          <p:cNvPr id="63" name="dp44-implementation-comparison / n54 / arrow">
            <a:extLst xmlns:a="http://schemas.openxmlformats.org/drawingml/2006/main">
              <a:ext uri="{FF2B5EF4-FFF2-40B4-BE49-F238E27FC236}">
                <a16:creationId xmlns:a16="http://schemas.microsoft.com/office/drawing/2014/main" id="{281B9D58-FDB7-44FA-BDEA-8BF7629D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7090" y="60502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18232E"/>
            </a:solidFill>
            <a:prstDash val="solid"/>
          </a:ln>
        </p:spPr>
      </p:sp>
      <p:sp>
        <p:nvSpPr>
          <p:cNvPr id="64" name="dp44-implementation-comparison / n55 / path">
            <a:extLst xmlns:a="http://schemas.openxmlformats.org/drawingml/2006/main">
              <a:ext uri="{FF2B5EF4-FFF2-40B4-BE49-F238E27FC236}">
                <a16:creationId xmlns:a16="http://schemas.microsoft.com/office/drawing/2014/main" id="{84FBE2B9-198A-4FCC-97DF-7CCEA950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552825"/>
            <a:ext cx="3419475" cy="2981325"/>
          </a:xfrm>
          <a:custGeom xmlns:a="http://schemas.openxmlformats.org/drawingml/2006/main">
            <a:pathLst>
              <a:path w="3419475" h="2981325">
                <a:moveTo>
                  <a:pt x="133350" y="2981325"/>
                </a:moveTo>
                <a:lnTo>
                  <a:pt x="0" y="2981325"/>
                </a:lnTo>
                <a:lnTo>
                  <a:pt x="0" y="542925"/>
                </a:lnTo>
                <a:lnTo>
                  <a:pt x="3305175" y="542925"/>
                </a:lnTo>
                <a:lnTo>
                  <a:pt x="3305175" y="0"/>
                </a:lnTo>
                <a:lnTo>
                  <a:pt x="34194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65" name="dp44-implementation-comparison / n55 / arrow">
            <a:extLst xmlns:a="http://schemas.openxmlformats.org/drawingml/2006/main">
              <a:ext uri="{FF2B5EF4-FFF2-40B4-BE49-F238E27FC236}">
                <a16:creationId xmlns:a16="http://schemas.microsoft.com/office/drawing/2014/main" id="{1A7EA737-A067-4EE4-85C5-BB68BAB32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4780" y="34918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6" name="dp44-implementation-comparison / n56 / path">
            <a:extLst xmlns:a="http://schemas.openxmlformats.org/drawingml/2006/main">
              <a:ext uri="{FF2B5EF4-FFF2-40B4-BE49-F238E27FC236}">
                <a16:creationId xmlns:a16="http://schemas.microsoft.com/office/drawing/2014/main" id="{4FB8BECF-AAA3-4109-8CA6-837480B7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552825"/>
            <a:ext cx="3019425" cy="3638550"/>
          </a:xfrm>
          <a:custGeom xmlns:a="http://schemas.openxmlformats.org/drawingml/2006/main">
            <a:pathLst>
              <a:path w="3019425" h="3638550">
                <a:moveTo>
                  <a:pt x="0" y="2981325"/>
                </a:moveTo>
                <a:lnTo>
                  <a:pt x="123825" y="2981325"/>
                </a:lnTo>
                <a:lnTo>
                  <a:pt x="123825" y="3638550"/>
                </a:lnTo>
                <a:lnTo>
                  <a:pt x="3019425" y="3638550"/>
                </a:lnTo>
                <a:lnTo>
                  <a:pt x="3019425" y="438150"/>
                </a:lnTo>
                <a:lnTo>
                  <a:pt x="2924175" y="438150"/>
                </a:lnTo>
                <a:lnTo>
                  <a:pt x="2924175" y="0"/>
                </a:lnTo>
                <a:lnTo>
                  <a:pt x="2838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67" name="dp44-implementation-comparison / n56 / arrow">
            <a:extLst xmlns:a="http://schemas.openxmlformats.org/drawingml/2006/main">
              <a:ext uri="{FF2B5EF4-FFF2-40B4-BE49-F238E27FC236}">
                <a16:creationId xmlns:a16="http://schemas.microsoft.com/office/drawing/2014/main" id="{59A87F5A-87B6-4997-982B-AF436DDC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4918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8" name="dp44-implementation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A7D0858A-C8C7-48CD-A44B-A77F3343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7524750"/>
            <a:ext cx="7620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J1 취소 요청 뒤 늦은 완료: Event Mailbox 수신, Dispatcher가 rev1 결과 폐기</a:t>
            </a:r>
          </a:p>
        </p:txBody>
      </p:sp>
      <p:sp>
        <p:nvSpPr>
          <p:cNvPr id="69" name="dp44-implementation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26EA5D81-2022-49A1-B199-2BF57F81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7791450"/>
            <a:ext cx="7620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F6B77"/>
                </a:solidFill>
                <a:latin typeface="Calibri"/>
                <a:ea typeface="Calibri"/>
                <a:cs typeface="Calibri"/>
              </a:rPr>
              <a:t>Queue 순서와 실행 중 Job의 CancelHandle은 별개</a:t>
            </a:r>
          </a:p>
        </p:txBody>
      </p:sp>
      <p:sp>
        <p:nvSpPr>
          <p:cNvPr id="70" name="dp44-implementation-comparison / n59">
            <a:extLst xmlns:a="http://schemas.openxmlformats.org/drawingml/2006/main">
              <a:ext uri="{FF2B5EF4-FFF2-40B4-BE49-F238E27FC236}">
                <a16:creationId xmlns:a16="http://schemas.microsoft.com/office/drawing/2014/main" id="{5C61AEFE-ACB9-4B13-897B-00BFFF73B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686050"/>
            <a:ext cx="8286750" cy="2352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1" name="dp44-implementation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E056931C-2D0C-4123-BCA3-E1C4C23D5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771775"/>
            <a:ext cx="79819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Request Controller</a:t>
            </a:r>
          </a:p>
        </p:txBody>
      </p:sp>
      <p:sp>
        <p:nvSpPr>
          <p:cNvPr id="72" name="dp44-implementation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81428E15-F2B4-4737-AD53-F7AC0D70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009900"/>
            <a:ext cx="79057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B637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B6373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B63732"/>
                </a:solidFill>
                <a:latin typeface="Calibri"/>
                <a:ea typeface="Calibri"/>
                <a:cs typeface="Calibri"/>
              </a:rPr>
              <a:t>InputStarted와 채택된 Invalidate는 관련 Control Queue마다 복사</a:t>
            </a:r>
          </a:p>
        </p:txBody>
      </p:sp>
      <p:sp>
        <p:nvSpPr>
          <p:cNvPr id="73" name="dp44-implementation-comparison / n62 / path">
            <a:extLst xmlns:a="http://schemas.openxmlformats.org/drawingml/2006/main">
              <a:ext uri="{FF2B5EF4-FFF2-40B4-BE49-F238E27FC236}">
                <a16:creationId xmlns:a16="http://schemas.microsoft.com/office/drawing/2014/main" id="{F39B1665-4850-446C-B54C-2F1D2FB84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190875"/>
            <a:ext cx="4048125" cy="953"/>
          </a:xfrm>
          <a:custGeom xmlns:a="http://schemas.openxmlformats.org/drawingml/2006/main">
            <a:pathLst>
              <a:path w="4048125" h="953">
                <a:moveTo>
                  <a:pt x="0" y="0"/>
                </a:moveTo>
                <a:lnTo>
                  <a:pt x="404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74" name="dp44-implementation-comparison / n63 / path">
            <a:extLst xmlns:a="http://schemas.openxmlformats.org/drawingml/2006/main">
              <a:ext uri="{FF2B5EF4-FFF2-40B4-BE49-F238E27FC236}">
                <a16:creationId xmlns:a16="http://schemas.microsoft.com/office/drawing/2014/main" id="{0231E32C-863B-49E6-B660-03826789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190875"/>
            <a:ext cx="953" cy="3028950"/>
          </a:xfrm>
          <a:custGeom xmlns:a="http://schemas.openxmlformats.org/drawingml/2006/main">
            <a:pathLst>
              <a:path w="953" h="3028950">
                <a:moveTo>
                  <a:pt x="0" y="0"/>
                </a:moveTo>
                <a:lnTo>
                  <a:pt x="0" y="30289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75" name="dp44-implementation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10B50459-6979-42F5-A553-4590E96E8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3190875"/>
            <a:ext cx="953" cy="3028950"/>
          </a:xfrm>
          <a:custGeom xmlns:a="http://schemas.openxmlformats.org/drawingml/2006/main">
            <a:pathLst>
              <a:path w="953" h="3028950">
                <a:moveTo>
                  <a:pt x="0" y="0"/>
                </a:moveTo>
                <a:lnTo>
                  <a:pt x="0" y="30289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76" name="dp44-implementation-comparison / n65 / path">
            <a:extLst xmlns:a="http://schemas.openxmlformats.org/drawingml/2006/main">
              <a:ext uri="{FF2B5EF4-FFF2-40B4-BE49-F238E27FC236}">
                <a16:creationId xmlns:a16="http://schemas.microsoft.com/office/drawing/2014/main" id="{D54288BF-500B-4A83-82D9-4DF1948B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876675"/>
            <a:ext cx="161925" cy="953"/>
          </a:xfrm>
          <a:custGeom xmlns:a="http://schemas.openxmlformats.org/drawingml/2006/main">
            <a:pathLst>
              <a:path w="161925" h="953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77" name="dp44-implementation-comparison / n65 / arrow">
            <a:extLst xmlns:a="http://schemas.openxmlformats.org/drawingml/2006/main">
              <a:ext uri="{FF2B5EF4-FFF2-40B4-BE49-F238E27FC236}">
                <a16:creationId xmlns:a16="http://schemas.microsoft.com/office/drawing/2014/main" id="{44DE5B1A-D55F-43CA-9C3E-F460D9D3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3815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78" name="dp44-implementation-comparison / n66 / path">
            <a:extLst xmlns:a="http://schemas.openxmlformats.org/drawingml/2006/main">
              <a:ext uri="{FF2B5EF4-FFF2-40B4-BE49-F238E27FC236}">
                <a16:creationId xmlns:a16="http://schemas.microsoft.com/office/drawing/2014/main" id="{3E4A6EFD-22A4-417A-A4F2-1F7ED809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3876675"/>
            <a:ext cx="209550" cy="953"/>
          </a:xfrm>
          <a:custGeom xmlns:a="http://schemas.openxmlformats.org/drawingml/2006/main">
            <a:pathLst>
              <a:path w="209550" h="953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79" name="dp44-implementation-comparison / n66 / arrow">
            <a:extLst xmlns:a="http://schemas.openxmlformats.org/drawingml/2006/main">
              <a:ext uri="{FF2B5EF4-FFF2-40B4-BE49-F238E27FC236}">
                <a16:creationId xmlns:a16="http://schemas.microsoft.com/office/drawing/2014/main" id="{7FE0DCAA-F6E7-4068-AAD5-005EC1502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8380" y="3815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80" name="dp44-implementation-comparison / n67 / path">
            <a:extLst xmlns:a="http://schemas.openxmlformats.org/drawingml/2006/main">
              <a:ext uri="{FF2B5EF4-FFF2-40B4-BE49-F238E27FC236}">
                <a16:creationId xmlns:a16="http://schemas.microsoft.com/office/drawing/2014/main" id="{48F30386-409D-4AB4-B3FF-29E0192C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6238875"/>
            <a:ext cx="161925" cy="953"/>
          </a:xfrm>
          <a:custGeom xmlns:a="http://schemas.openxmlformats.org/drawingml/2006/main">
            <a:pathLst>
              <a:path w="161925" h="953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81" name="dp44-implementation-comparison / n67 / arrow">
            <a:extLst xmlns:a="http://schemas.openxmlformats.org/drawingml/2006/main">
              <a:ext uri="{FF2B5EF4-FFF2-40B4-BE49-F238E27FC236}">
                <a16:creationId xmlns:a16="http://schemas.microsoft.com/office/drawing/2014/main" id="{37775349-0416-4A4D-B52E-33CDD72F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61779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82" name="dp44-implementation-comparison / n68 / path">
            <a:extLst xmlns:a="http://schemas.openxmlformats.org/drawingml/2006/main">
              <a:ext uri="{FF2B5EF4-FFF2-40B4-BE49-F238E27FC236}">
                <a16:creationId xmlns:a16="http://schemas.microsoft.com/office/drawing/2014/main" id="{6BFFC4F6-4B45-4D38-8DE4-A124BCF0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6238875"/>
            <a:ext cx="209550" cy="953"/>
          </a:xfrm>
          <a:custGeom xmlns:a="http://schemas.openxmlformats.org/drawingml/2006/main">
            <a:pathLst>
              <a:path w="209550" h="953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83" name="dp44-implementation-comparison / n68 / arrow">
            <a:extLst xmlns:a="http://schemas.openxmlformats.org/drawingml/2006/main">
              <a:ext uri="{FF2B5EF4-FFF2-40B4-BE49-F238E27FC236}">
                <a16:creationId xmlns:a16="http://schemas.microsoft.com/office/drawing/2014/main" id="{3B3E38A1-A98F-43F9-A9D3-8E9F6DFD5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8380" y="61779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84" name="dp44-implementation-comparison / n69">
            <a:extLst xmlns:a="http://schemas.openxmlformats.org/drawingml/2006/main">
              <a:ext uri="{FF2B5EF4-FFF2-40B4-BE49-F238E27FC236}">
                <a16:creationId xmlns:a16="http://schemas.microsoft.com/office/drawing/2014/main" id="{BBAA18B7-FFE3-45F7-92D6-1826E264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38500"/>
            <a:ext cx="388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5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85" name="dp44-implementation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167C8434-52D5-46F1-A5BD-0EF3A8549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314700"/>
            <a:ext cx="36957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Input Resolution Stage</a:t>
            </a:r>
          </a:p>
        </p:txBody>
      </p:sp>
      <p:sp>
        <p:nvSpPr>
          <p:cNvPr id="86" name="dp44-implementation-comparison / n71">
            <a:extLst xmlns:a="http://schemas.openxmlformats.org/drawingml/2006/main">
              <a:ext uri="{FF2B5EF4-FFF2-40B4-BE49-F238E27FC236}">
                <a16:creationId xmlns:a16="http://schemas.microsoft.com/office/drawing/2014/main" id="{672C43A5-6C08-4C2B-A0FD-94E23028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638550"/>
            <a:ext cx="1162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87" name="dp44-implementation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BA34415A-70DF-4C64-9B59-A74BFE3A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3705225"/>
            <a:ext cx="990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Control</a:t>
            </a:r>
          </a:p>
        </p:txBody>
      </p:sp>
      <p:sp>
        <p:nvSpPr>
          <p:cNvPr id="88" name="dp44-implementation-comparison / n73">
            <a:extLst xmlns:a="http://schemas.openxmlformats.org/drawingml/2006/main">
              <a:ext uri="{FF2B5EF4-FFF2-40B4-BE49-F238E27FC236}">
                <a16:creationId xmlns:a16="http://schemas.microsoft.com/office/drawing/2014/main" id="{B2DA8CEB-D64E-4CBE-9204-6024A69E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89" name="dp44-implementation-comparison / n74">
            <a:extLst xmlns:a="http://schemas.openxmlformats.org/drawingml/2006/main">
              <a:ext uri="{FF2B5EF4-FFF2-40B4-BE49-F238E27FC236}">
                <a16:creationId xmlns:a16="http://schemas.microsoft.com/office/drawing/2014/main" id="{AC69EA6E-BC9F-4BA8-8392-093143937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90" name="dp44-implementation-comparison / n75">
            <a:extLst xmlns:a="http://schemas.openxmlformats.org/drawingml/2006/main">
              <a:ext uri="{FF2B5EF4-FFF2-40B4-BE49-F238E27FC236}">
                <a16:creationId xmlns:a16="http://schemas.microsoft.com/office/drawing/2014/main" id="{8197979B-155C-4A0C-BB55-9F5FBC69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91" name="dp44-implementation-comparison / n76">
            <a:extLst xmlns:a="http://schemas.openxmlformats.org/drawingml/2006/main">
              <a:ext uri="{FF2B5EF4-FFF2-40B4-BE49-F238E27FC236}">
                <a16:creationId xmlns:a16="http://schemas.microsoft.com/office/drawing/2014/main" id="{82B7FBFA-7EC5-4EB8-B0E6-8350D78FA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92" name="dp44-implementation-comparison / n77">
            <a:extLst xmlns:a="http://schemas.openxmlformats.org/drawingml/2006/main">
              <a:ext uri="{FF2B5EF4-FFF2-40B4-BE49-F238E27FC236}">
                <a16:creationId xmlns:a16="http://schemas.microsoft.com/office/drawing/2014/main" id="{0B6DCCF7-D789-4B68-B4B5-44B86C835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638550"/>
            <a:ext cx="1162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93" name="dp44-implementation-comparison / n78 / text 1">
            <a:extLst xmlns:a="http://schemas.openxmlformats.org/drawingml/2006/main">
              <a:ext uri="{FF2B5EF4-FFF2-40B4-BE49-F238E27FC236}">
                <a16:creationId xmlns:a16="http://schemas.microsoft.com/office/drawing/2014/main" id="{694B6FEA-464A-46ED-9576-2E407D0E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705225"/>
            <a:ext cx="990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Input</a:t>
            </a:r>
          </a:p>
        </p:txBody>
      </p:sp>
      <p:sp>
        <p:nvSpPr>
          <p:cNvPr id="94" name="dp44-implementation-comparison / n79">
            <a:extLst xmlns:a="http://schemas.openxmlformats.org/drawingml/2006/main">
              <a:ext uri="{FF2B5EF4-FFF2-40B4-BE49-F238E27FC236}">
                <a16:creationId xmlns:a16="http://schemas.microsoft.com/office/drawing/2014/main" id="{2021B18B-25BB-4420-AE54-DEA660BA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95" name="dp44-implementation-comparison / n80">
            <a:extLst xmlns:a="http://schemas.openxmlformats.org/drawingml/2006/main">
              <a:ext uri="{FF2B5EF4-FFF2-40B4-BE49-F238E27FC236}">
                <a16:creationId xmlns:a16="http://schemas.microsoft.com/office/drawing/2014/main" id="{788A5880-8780-48C6-86A2-1E6E63F06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96" name="dp44-implementation-comparison / n81">
            <a:extLst xmlns:a="http://schemas.openxmlformats.org/drawingml/2006/main">
              <a:ext uri="{FF2B5EF4-FFF2-40B4-BE49-F238E27FC236}">
                <a16:creationId xmlns:a16="http://schemas.microsoft.com/office/drawing/2014/main" id="{E5818D53-B304-4694-876A-BCB471D0C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25275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97" name="dp44-implementation-comparison / n82">
            <a:extLst xmlns:a="http://schemas.openxmlformats.org/drawingml/2006/main">
              <a:ext uri="{FF2B5EF4-FFF2-40B4-BE49-F238E27FC236}">
                <a16:creationId xmlns:a16="http://schemas.microsoft.com/office/drawing/2014/main" id="{48641A56-C0A7-4E56-96DB-16DCEE02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0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98" name="dp44-implementation-comparison / n83">
            <a:extLst xmlns:a="http://schemas.openxmlformats.org/drawingml/2006/main">
              <a:ext uri="{FF2B5EF4-FFF2-40B4-BE49-F238E27FC236}">
                <a16:creationId xmlns:a16="http://schemas.microsoft.com/office/drawing/2014/main" id="{4CC2DCCF-747E-42A6-931A-DDBA7CB1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638550"/>
            <a:ext cx="1162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99" name="dp44-implementation-comparison / n84 / text 1">
            <a:extLst xmlns:a="http://schemas.openxmlformats.org/drawingml/2006/main">
              <a:ext uri="{FF2B5EF4-FFF2-40B4-BE49-F238E27FC236}">
                <a16:creationId xmlns:a16="http://schemas.microsoft.com/office/drawing/2014/main" id="{7A0970D3-94A5-40AF-9BC2-258C6F02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53925" y="3705225"/>
            <a:ext cx="990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Done</a:t>
            </a:r>
          </a:p>
        </p:txBody>
      </p:sp>
      <p:sp>
        <p:nvSpPr>
          <p:cNvPr id="100" name="dp44-implementation-comparison / n85">
            <a:extLst xmlns:a="http://schemas.openxmlformats.org/drawingml/2006/main">
              <a:ext uri="{FF2B5EF4-FFF2-40B4-BE49-F238E27FC236}">
                <a16:creationId xmlns:a16="http://schemas.microsoft.com/office/drawing/2014/main" id="{99942692-3651-43CA-B02D-206E83398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01" name="dp44-implementation-comparison / n86">
            <a:extLst xmlns:a="http://schemas.openxmlformats.org/drawingml/2006/main">
              <a:ext uri="{FF2B5EF4-FFF2-40B4-BE49-F238E27FC236}">
                <a16:creationId xmlns:a16="http://schemas.microsoft.com/office/drawing/2014/main" id="{64A5B404-F12E-41DF-AE5F-025A0AF1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25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02" name="dp44-implementation-comparison / n87">
            <a:extLst xmlns:a="http://schemas.openxmlformats.org/drawingml/2006/main">
              <a:ext uri="{FF2B5EF4-FFF2-40B4-BE49-F238E27FC236}">
                <a16:creationId xmlns:a16="http://schemas.microsoft.com/office/drawing/2014/main" id="{A7330C7D-6FF7-4FE6-82E1-CF7ECE55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03" name="dp44-implementation-comparison / n88">
            <a:extLst xmlns:a="http://schemas.openxmlformats.org/drawingml/2006/main">
              <a:ext uri="{FF2B5EF4-FFF2-40B4-BE49-F238E27FC236}">
                <a16:creationId xmlns:a16="http://schemas.microsoft.com/office/drawing/2014/main" id="{5B7E5A8E-D0BA-4927-8F7D-3D4CF6EC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73075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04" name="dp44-implementation-comparison / n89">
            <a:extLst xmlns:a="http://schemas.openxmlformats.org/drawingml/2006/main">
              <a:ext uri="{FF2B5EF4-FFF2-40B4-BE49-F238E27FC236}">
                <a16:creationId xmlns:a16="http://schemas.microsoft.com/office/drawing/2014/main" id="{8F84B158-2F87-4CBC-B7ED-53165468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181475"/>
            <a:ext cx="36957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05" name="dp44-implementation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C4A1E950-B995-44A2-A472-8F47DBED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267200"/>
            <a:ext cx="3505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Pump / InterpretAsync</a:t>
            </a:r>
          </a:p>
        </p:txBody>
      </p:sp>
      <p:sp>
        <p:nvSpPr>
          <p:cNvPr id="106" name="dp44-implementation-comparison / n91">
            <a:extLst xmlns:a="http://schemas.openxmlformats.org/drawingml/2006/main">
              <a:ext uri="{FF2B5EF4-FFF2-40B4-BE49-F238E27FC236}">
                <a16:creationId xmlns:a16="http://schemas.microsoft.com/office/drawing/2014/main" id="{BC2AA588-1E1D-478A-837D-1BAC790D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591050"/>
            <a:ext cx="3695700" cy="38100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FFF3E5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07" name="dp44-implementation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1658F23B-0B7A-45D6-ABE8-7FC79F68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4762500"/>
            <a:ext cx="35242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Input Window (RAM)</a:t>
            </a:r>
          </a:p>
        </p:txBody>
      </p:sp>
      <p:sp>
        <p:nvSpPr>
          <p:cNvPr id="108" name="dp44-implementation-comparison / n93 / path">
            <a:extLst xmlns:a="http://schemas.openxmlformats.org/drawingml/2006/main">
              <a:ext uri="{FF2B5EF4-FFF2-40B4-BE49-F238E27FC236}">
                <a16:creationId xmlns:a16="http://schemas.microsoft.com/office/drawing/2014/main" id="{E6C06232-4A0D-4607-B23D-592182988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3895725"/>
            <a:ext cx="47625" cy="523875"/>
          </a:xfrm>
          <a:custGeom xmlns:a="http://schemas.openxmlformats.org/drawingml/2006/main">
            <a:pathLst>
              <a:path w="47625" h="523875">
                <a:moveTo>
                  <a:pt x="0" y="523875"/>
                </a:moveTo>
                <a:lnTo>
                  <a:pt x="47625" y="523875"/>
                </a:lnTo>
                <a:lnTo>
                  <a:pt x="476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2858A5"/>
            </a:solidFill>
            <a:prstDash val="dash"/>
          </a:ln>
        </p:spPr>
      </p:sp>
      <p:sp>
        <p:nvSpPr>
          <p:cNvPr id="109" name="dp44-implementation-comparison / n93 / arrow">
            <a:extLst xmlns:a="http://schemas.openxmlformats.org/drawingml/2006/main">
              <a:ext uri="{FF2B5EF4-FFF2-40B4-BE49-F238E27FC236}">
                <a16:creationId xmlns:a16="http://schemas.microsoft.com/office/drawing/2014/main" id="{508F3AA0-F2E7-4AC4-B370-FAA5AA55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3843909"/>
            <a:ext cx="103632" cy="103632"/>
          </a:xfrm>
          <a:custGeom xmlns:a="http://schemas.openxmlformats.org/drawingml/2006/main">
            <a:pathLst>
              <a:path w="103632" h="103632">
                <a:moveTo>
                  <a:pt x="103632" y="0"/>
                </a:moveTo>
                <a:lnTo>
                  <a:pt x="0" y="51816"/>
                </a:lnTo>
                <a:lnTo>
                  <a:pt x="103632" y="103632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2858A5"/>
            </a:solidFill>
            <a:prstDash val="solid"/>
          </a:ln>
        </p:spPr>
      </p:sp>
      <p:sp>
        <p:nvSpPr>
          <p:cNvPr id="110" name="dp44-implementation-comparison / n94">
            <a:extLst xmlns:a="http://schemas.openxmlformats.org/drawingml/2006/main">
              <a:ext uri="{FF2B5EF4-FFF2-40B4-BE49-F238E27FC236}">
                <a16:creationId xmlns:a16="http://schemas.microsoft.com/office/drawing/2014/main" id="{E9A16330-3605-4B11-A4C1-B042E718C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5050" y="3238500"/>
            <a:ext cx="388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5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11" name="dp44-implementation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24E9FE22-883B-4571-88C9-0011A6E4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314700"/>
            <a:ext cx="36957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Task Notice Stage</a:t>
            </a:r>
          </a:p>
        </p:txBody>
      </p:sp>
      <p:sp>
        <p:nvSpPr>
          <p:cNvPr id="112" name="dp44-implementation-comparison / n96">
            <a:extLst xmlns:a="http://schemas.openxmlformats.org/drawingml/2006/main">
              <a:ext uri="{FF2B5EF4-FFF2-40B4-BE49-F238E27FC236}">
                <a16:creationId xmlns:a16="http://schemas.microsoft.com/office/drawing/2014/main" id="{87A7BCDA-DA8C-402B-879B-8D63EB30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638550"/>
            <a:ext cx="1162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13" name="dp44-implementation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8322AB48-D0B4-4134-9D02-F865A4EC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6025" y="3705225"/>
            <a:ext cx="990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Control</a:t>
            </a:r>
          </a:p>
        </p:txBody>
      </p:sp>
      <p:sp>
        <p:nvSpPr>
          <p:cNvPr id="114" name="dp44-implementation-comparison / n98">
            <a:extLst xmlns:a="http://schemas.openxmlformats.org/drawingml/2006/main">
              <a:ext uri="{FF2B5EF4-FFF2-40B4-BE49-F238E27FC236}">
                <a16:creationId xmlns:a16="http://schemas.microsoft.com/office/drawing/2014/main" id="{02843DFB-E1DC-4F52-B531-B51E9C06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15" name="dp44-implementation-comparison / n99">
            <a:extLst xmlns:a="http://schemas.openxmlformats.org/drawingml/2006/main">
              <a:ext uri="{FF2B5EF4-FFF2-40B4-BE49-F238E27FC236}">
                <a16:creationId xmlns:a16="http://schemas.microsoft.com/office/drawing/2014/main" id="{0868AA96-C2C9-4688-B318-5A851D7E9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73225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16" name="dp44-implementation-comparison / n100">
            <a:extLst xmlns:a="http://schemas.openxmlformats.org/drawingml/2006/main">
              <a:ext uri="{FF2B5EF4-FFF2-40B4-BE49-F238E27FC236}">
                <a16:creationId xmlns:a16="http://schemas.microsoft.com/office/drawing/2014/main" id="{7CC6A7D0-86EE-4A60-8638-B22535A0A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4200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17" name="dp44-implementation-comparison / n101">
            <a:extLst xmlns:a="http://schemas.openxmlformats.org/drawingml/2006/main">
              <a:ext uri="{FF2B5EF4-FFF2-40B4-BE49-F238E27FC236}">
                <a16:creationId xmlns:a16="http://schemas.microsoft.com/office/drawing/2014/main" id="{B4B660F9-D35E-44E7-8D37-3495E050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5175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18" name="dp44-implementation-comparison / n102">
            <a:extLst xmlns:a="http://schemas.openxmlformats.org/drawingml/2006/main">
              <a:ext uri="{FF2B5EF4-FFF2-40B4-BE49-F238E27FC236}">
                <a16:creationId xmlns:a16="http://schemas.microsoft.com/office/drawing/2014/main" id="{DBB19BBD-74C1-4E4D-9E04-76B9C021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3638550"/>
            <a:ext cx="1162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19" name="dp44-implementation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D8982034-6985-45E9-84D3-FE7E800D7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82850" y="3705225"/>
            <a:ext cx="990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Task</a:t>
            </a:r>
          </a:p>
        </p:txBody>
      </p:sp>
      <p:sp>
        <p:nvSpPr>
          <p:cNvPr id="120" name="dp44-implementation-comparison / n104">
            <a:extLst xmlns:a="http://schemas.openxmlformats.org/drawingml/2006/main">
              <a:ext uri="{FF2B5EF4-FFF2-40B4-BE49-F238E27FC236}">
                <a16:creationId xmlns:a16="http://schemas.microsoft.com/office/drawing/2014/main" id="{9110CE30-9ADC-43BB-BDB0-ABCB9415A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59075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1" name="dp44-implementation-comparison / n105">
            <a:extLst xmlns:a="http://schemas.openxmlformats.org/drawingml/2006/main">
              <a:ext uri="{FF2B5EF4-FFF2-40B4-BE49-F238E27FC236}">
                <a16:creationId xmlns:a16="http://schemas.microsoft.com/office/drawing/2014/main" id="{A804F05E-F2E9-46D9-AA50-CE6E6B2E9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0050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2" name="dp44-implementation-comparison / n106">
            <a:extLst xmlns:a="http://schemas.openxmlformats.org/drawingml/2006/main">
              <a:ext uri="{FF2B5EF4-FFF2-40B4-BE49-F238E27FC236}">
                <a16:creationId xmlns:a16="http://schemas.microsoft.com/office/drawing/2014/main" id="{40D842C4-A228-420D-8DAE-4472C882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025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3" name="dp44-implementation-comparison / n107">
            <a:extLst xmlns:a="http://schemas.openxmlformats.org/drawingml/2006/main">
              <a:ext uri="{FF2B5EF4-FFF2-40B4-BE49-F238E27FC236}">
                <a16:creationId xmlns:a16="http://schemas.microsoft.com/office/drawing/2014/main" id="{E261DB45-A4B3-4182-A84F-FB90E5003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4" name="dp44-implementation-comparison / n108">
            <a:extLst xmlns:a="http://schemas.openxmlformats.org/drawingml/2006/main">
              <a:ext uri="{FF2B5EF4-FFF2-40B4-BE49-F238E27FC236}">
                <a16:creationId xmlns:a16="http://schemas.microsoft.com/office/drawing/2014/main" id="{66318BE1-70D8-40CE-8225-BCD4DC5F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63950" y="3638550"/>
            <a:ext cx="1162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25" name="dp44-implementation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A5E00862-54B8-4464-BBD6-B3B9164B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49675" y="3705225"/>
            <a:ext cx="990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Done</a:t>
            </a:r>
          </a:p>
        </p:txBody>
      </p:sp>
      <p:sp>
        <p:nvSpPr>
          <p:cNvPr id="126" name="dp44-implementation-comparison / n110">
            <a:extLst xmlns:a="http://schemas.openxmlformats.org/drawingml/2006/main">
              <a:ext uri="{FF2B5EF4-FFF2-40B4-BE49-F238E27FC236}">
                <a16:creationId xmlns:a16="http://schemas.microsoft.com/office/drawing/2014/main" id="{F1CE416D-371E-4861-B760-4B1737F02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25900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7" name="dp44-implementation-comparison / n111">
            <a:extLst xmlns:a="http://schemas.openxmlformats.org/drawingml/2006/main">
              <a:ext uri="{FF2B5EF4-FFF2-40B4-BE49-F238E27FC236}">
                <a16:creationId xmlns:a16="http://schemas.microsoft.com/office/drawing/2014/main" id="{F7CF8735-48C1-424F-8DAB-58A60995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06875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8" name="dp44-implementation-comparison / n112">
            <a:extLst xmlns:a="http://schemas.openxmlformats.org/drawingml/2006/main">
              <a:ext uri="{FF2B5EF4-FFF2-40B4-BE49-F238E27FC236}">
                <a16:creationId xmlns:a16="http://schemas.microsoft.com/office/drawing/2014/main" id="{72CD3934-25C3-4FA9-AA65-C54A17EF8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87850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9" name="dp44-implementation-comparison / n113">
            <a:extLst xmlns:a="http://schemas.openxmlformats.org/drawingml/2006/main">
              <a:ext uri="{FF2B5EF4-FFF2-40B4-BE49-F238E27FC236}">
                <a16:creationId xmlns:a16="http://schemas.microsoft.com/office/drawing/2014/main" id="{47A11615-606A-4E90-838D-1F2C2FB7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8825" y="39243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30" name="dp44-implementation-comparison / n114">
            <a:extLst xmlns:a="http://schemas.openxmlformats.org/drawingml/2006/main">
              <a:ext uri="{FF2B5EF4-FFF2-40B4-BE49-F238E27FC236}">
                <a16:creationId xmlns:a16="http://schemas.microsoft.com/office/drawing/2014/main" id="{AB9850E9-9D4E-4BA9-B330-4BCBE135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4181475"/>
            <a:ext cx="36957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31" name="dp44-implementation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0E978BC4-7F59-4303-A5C6-801D4D7B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5550" y="4267200"/>
            <a:ext cx="3505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Pump / NoticeAsync</a:t>
            </a:r>
          </a:p>
        </p:txBody>
      </p:sp>
      <p:sp>
        <p:nvSpPr>
          <p:cNvPr id="132" name="dp44-implementation-comparison / n116">
            <a:extLst xmlns:a="http://schemas.openxmlformats.org/drawingml/2006/main">
              <a:ext uri="{FF2B5EF4-FFF2-40B4-BE49-F238E27FC236}">
                <a16:creationId xmlns:a16="http://schemas.microsoft.com/office/drawing/2014/main" id="{279D4E69-3620-484D-A4A8-B6F48DF82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4591050"/>
            <a:ext cx="3695700" cy="38100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FFF3E5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33" name="dp44-implementation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65A8CAA9-E9C1-445A-8649-E4417F9B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6025" y="4762500"/>
            <a:ext cx="35242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Notice Window (RAM)</a:t>
            </a:r>
          </a:p>
        </p:txBody>
      </p:sp>
      <p:sp>
        <p:nvSpPr>
          <p:cNvPr id="134" name="dp44-implementation-comparison / n118 / path">
            <a:extLst xmlns:a="http://schemas.openxmlformats.org/drawingml/2006/main">
              <a:ext uri="{FF2B5EF4-FFF2-40B4-BE49-F238E27FC236}">
                <a16:creationId xmlns:a16="http://schemas.microsoft.com/office/drawing/2014/main" id="{DAEE64AF-322C-4F35-8645-031B7FD4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0" y="3895725"/>
            <a:ext cx="47625" cy="523875"/>
          </a:xfrm>
          <a:custGeom xmlns:a="http://schemas.openxmlformats.org/drawingml/2006/main">
            <a:pathLst>
              <a:path w="47625" h="523875">
                <a:moveTo>
                  <a:pt x="0" y="523875"/>
                </a:moveTo>
                <a:lnTo>
                  <a:pt x="47625" y="523875"/>
                </a:lnTo>
                <a:lnTo>
                  <a:pt x="476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2858A5"/>
            </a:solidFill>
            <a:prstDash val="dash"/>
          </a:ln>
        </p:spPr>
      </p:sp>
      <p:sp>
        <p:nvSpPr>
          <p:cNvPr id="135" name="dp44-implementation-comparison / n118 / arrow">
            <a:extLst xmlns:a="http://schemas.openxmlformats.org/drawingml/2006/main">
              <a:ext uri="{FF2B5EF4-FFF2-40B4-BE49-F238E27FC236}">
                <a16:creationId xmlns:a16="http://schemas.microsoft.com/office/drawing/2014/main" id="{20863FC7-2A78-47F9-86CA-184EF1FDE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0" y="3843909"/>
            <a:ext cx="103632" cy="103632"/>
          </a:xfrm>
          <a:custGeom xmlns:a="http://schemas.openxmlformats.org/drawingml/2006/main">
            <a:pathLst>
              <a:path w="103632" h="103632">
                <a:moveTo>
                  <a:pt x="103632" y="0"/>
                </a:moveTo>
                <a:lnTo>
                  <a:pt x="0" y="51816"/>
                </a:lnTo>
                <a:lnTo>
                  <a:pt x="103632" y="103632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2858A5"/>
            </a:solidFill>
            <a:prstDash val="solid"/>
          </a:ln>
        </p:spPr>
      </p:sp>
      <p:sp>
        <p:nvSpPr>
          <p:cNvPr id="136" name="dp44-implementation-comparison / n119">
            <a:extLst xmlns:a="http://schemas.openxmlformats.org/drawingml/2006/main">
              <a:ext uri="{FF2B5EF4-FFF2-40B4-BE49-F238E27FC236}">
                <a16:creationId xmlns:a16="http://schemas.microsoft.com/office/drawing/2014/main" id="{A53ACB33-0287-44B3-BCD3-DF49CC7E9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229225"/>
            <a:ext cx="8286750" cy="2466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7" name="dp44-implementation-comparison / n120 / text 1">
            <a:extLst xmlns:a="http://schemas.openxmlformats.org/drawingml/2006/main">
              <a:ext uri="{FF2B5EF4-FFF2-40B4-BE49-F238E27FC236}">
                <a16:creationId xmlns:a16="http://schemas.microsoft.com/office/drawing/2014/main" id="{343ACC15-7A84-4887-A3B4-AB2EC5B44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314950"/>
            <a:ext cx="79819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Response Manager</a:t>
            </a:r>
          </a:p>
        </p:txBody>
      </p:sp>
      <p:sp>
        <p:nvSpPr>
          <p:cNvPr id="138" name="dp44-implementation-comparison / n121">
            <a:extLst xmlns:a="http://schemas.openxmlformats.org/drawingml/2006/main">
              <a:ext uri="{FF2B5EF4-FFF2-40B4-BE49-F238E27FC236}">
                <a16:creationId xmlns:a16="http://schemas.microsoft.com/office/drawing/2014/main" id="{98E16886-4B6A-4687-9607-08B29987D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600700"/>
            <a:ext cx="388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5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39" name="dp44-implementation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6068B36B-547A-4C7E-BCAA-16B67F23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676900"/>
            <a:ext cx="36957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Response Composer</a:t>
            </a:r>
          </a:p>
        </p:txBody>
      </p:sp>
      <p:sp>
        <p:nvSpPr>
          <p:cNvPr id="140" name="dp44-implementation-comparison / n123">
            <a:extLst xmlns:a="http://schemas.openxmlformats.org/drawingml/2006/main">
              <a:ext uri="{FF2B5EF4-FFF2-40B4-BE49-F238E27FC236}">
                <a16:creationId xmlns:a16="http://schemas.microsoft.com/office/drawing/2014/main" id="{E6A1B95D-101C-46BA-95C2-47275BCC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6000750"/>
            <a:ext cx="1162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41" name="dp44-implementation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DF85B826-01BE-47FF-9C98-E06BA45E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6067425"/>
            <a:ext cx="990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Control</a:t>
            </a:r>
          </a:p>
        </p:txBody>
      </p:sp>
      <p:sp>
        <p:nvSpPr>
          <p:cNvPr id="142" name="dp44-implementation-comparison / n125">
            <a:extLst xmlns:a="http://schemas.openxmlformats.org/drawingml/2006/main">
              <a:ext uri="{FF2B5EF4-FFF2-40B4-BE49-F238E27FC236}">
                <a16:creationId xmlns:a16="http://schemas.microsoft.com/office/drawing/2014/main" id="{7C4CD356-8166-4353-99E6-F734E5CD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43" name="dp44-implementation-comparison / n126">
            <a:extLst xmlns:a="http://schemas.openxmlformats.org/drawingml/2006/main">
              <a:ext uri="{FF2B5EF4-FFF2-40B4-BE49-F238E27FC236}">
                <a16:creationId xmlns:a16="http://schemas.microsoft.com/office/drawing/2014/main" id="{0C26341C-E2A8-4803-9931-887088A1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44" name="dp44-implementation-comparison / n127">
            <a:extLst xmlns:a="http://schemas.openxmlformats.org/drawingml/2006/main">
              <a:ext uri="{FF2B5EF4-FFF2-40B4-BE49-F238E27FC236}">
                <a16:creationId xmlns:a16="http://schemas.microsoft.com/office/drawing/2014/main" id="{02A22CB6-94A2-4614-8010-83F004964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45" name="dp44-implementation-comparison / n128">
            <a:extLst xmlns:a="http://schemas.openxmlformats.org/drawingml/2006/main">
              <a:ext uri="{FF2B5EF4-FFF2-40B4-BE49-F238E27FC236}">
                <a16:creationId xmlns:a16="http://schemas.microsoft.com/office/drawing/2014/main" id="{5B65AD69-3C87-4A33-968F-1515BAC8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46" name="dp44-implementation-comparison / n129">
            <a:extLst xmlns:a="http://schemas.openxmlformats.org/drawingml/2006/main">
              <a:ext uri="{FF2B5EF4-FFF2-40B4-BE49-F238E27FC236}">
                <a16:creationId xmlns:a16="http://schemas.microsoft.com/office/drawing/2014/main" id="{61C4687A-3FAF-4DA1-99A6-3189DD43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000750"/>
            <a:ext cx="1162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47" name="dp44-implementation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726C0EC5-3B43-4F29-AFC7-57C6BBC9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067425"/>
            <a:ext cx="990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Prepare</a:t>
            </a:r>
          </a:p>
        </p:txBody>
      </p:sp>
      <p:sp>
        <p:nvSpPr>
          <p:cNvPr id="148" name="dp44-implementation-comparison / n131">
            <a:extLst xmlns:a="http://schemas.openxmlformats.org/drawingml/2006/main">
              <a:ext uri="{FF2B5EF4-FFF2-40B4-BE49-F238E27FC236}">
                <a16:creationId xmlns:a16="http://schemas.microsoft.com/office/drawing/2014/main" id="{A635C2E4-CE36-42D8-95A2-AEED97A2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49" name="dp44-implementation-comparison / n132">
            <a:extLst xmlns:a="http://schemas.openxmlformats.org/drawingml/2006/main">
              <a:ext uri="{FF2B5EF4-FFF2-40B4-BE49-F238E27FC236}">
                <a16:creationId xmlns:a16="http://schemas.microsoft.com/office/drawing/2014/main" id="{5BDBEF49-F0A0-462E-80F7-09C51FA8C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50" name="dp44-implementation-comparison / n133">
            <a:extLst xmlns:a="http://schemas.openxmlformats.org/drawingml/2006/main">
              <a:ext uri="{FF2B5EF4-FFF2-40B4-BE49-F238E27FC236}">
                <a16:creationId xmlns:a16="http://schemas.microsoft.com/office/drawing/2014/main" id="{623996D8-B345-4936-9EDF-444E06C39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25275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51" name="dp44-implementation-comparison / n134">
            <a:extLst xmlns:a="http://schemas.openxmlformats.org/drawingml/2006/main">
              <a:ext uri="{FF2B5EF4-FFF2-40B4-BE49-F238E27FC236}">
                <a16:creationId xmlns:a16="http://schemas.microsoft.com/office/drawing/2014/main" id="{2F01F0D6-AB36-4275-B9FC-5B587AAC4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0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52" name="dp44-implementation-comparison / n135">
            <a:extLst xmlns:a="http://schemas.openxmlformats.org/drawingml/2006/main">
              <a:ext uri="{FF2B5EF4-FFF2-40B4-BE49-F238E27FC236}">
                <a16:creationId xmlns:a16="http://schemas.microsoft.com/office/drawing/2014/main" id="{5893C526-6D8A-43F6-A1E7-5A4A1895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6000750"/>
            <a:ext cx="1162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53" name="dp44-implementation-comparison / n136 / text 1">
            <a:extLst xmlns:a="http://schemas.openxmlformats.org/drawingml/2006/main">
              <a:ext uri="{FF2B5EF4-FFF2-40B4-BE49-F238E27FC236}">
                <a16:creationId xmlns:a16="http://schemas.microsoft.com/office/drawing/2014/main" id="{2EA62365-B2E6-4025-A20F-EFE8E4D1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53925" y="6067425"/>
            <a:ext cx="990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Done</a:t>
            </a:r>
          </a:p>
        </p:txBody>
      </p:sp>
      <p:sp>
        <p:nvSpPr>
          <p:cNvPr id="154" name="dp44-implementation-comparison / n137">
            <a:extLst xmlns:a="http://schemas.openxmlformats.org/drawingml/2006/main">
              <a:ext uri="{FF2B5EF4-FFF2-40B4-BE49-F238E27FC236}">
                <a16:creationId xmlns:a16="http://schemas.microsoft.com/office/drawing/2014/main" id="{28714094-4DF4-4A5B-AC46-141FC1C7C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55" name="dp44-implementation-comparison / n138">
            <a:extLst xmlns:a="http://schemas.openxmlformats.org/drawingml/2006/main">
              <a:ext uri="{FF2B5EF4-FFF2-40B4-BE49-F238E27FC236}">
                <a16:creationId xmlns:a16="http://schemas.microsoft.com/office/drawing/2014/main" id="{C6F09FC3-904B-45B1-A879-428C4AB4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25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56" name="dp44-implementation-comparison / n139">
            <a:extLst xmlns:a="http://schemas.openxmlformats.org/drawingml/2006/main">
              <a:ext uri="{FF2B5EF4-FFF2-40B4-BE49-F238E27FC236}">
                <a16:creationId xmlns:a16="http://schemas.microsoft.com/office/drawing/2014/main" id="{CFDF6B3F-C265-41EB-8B1E-F60BEBF1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57" name="dp44-implementation-comparison / n140">
            <a:extLst xmlns:a="http://schemas.openxmlformats.org/drawingml/2006/main">
              <a:ext uri="{FF2B5EF4-FFF2-40B4-BE49-F238E27FC236}">
                <a16:creationId xmlns:a16="http://schemas.microsoft.com/office/drawing/2014/main" id="{EA96EBD1-D11F-49B8-A8C0-ABFBAE32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73075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58" name="dp44-implementation-comparison / n141">
            <a:extLst xmlns:a="http://schemas.openxmlformats.org/drawingml/2006/main">
              <a:ext uri="{FF2B5EF4-FFF2-40B4-BE49-F238E27FC236}">
                <a16:creationId xmlns:a16="http://schemas.microsoft.com/office/drawing/2014/main" id="{C47F193E-49C8-498E-8A92-D830F2C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6543675"/>
            <a:ext cx="36957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59" name="dp44-implementation-comparison / n142 / text 1">
            <a:extLst xmlns:a="http://schemas.openxmlformats.org/drawingml/2006/main">
              <a:ext uri="{FF2B5EF4-FFF2-40B4-BE49-F238E27FC236}">
                <a16:creationId xmlns:a16="http://schemas.microsoft.com/office/drawing/2014/main" id="{C91D90F2-06F2-4BEE-B310-0454C5CF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629400"/>
            <a:ext cx="3505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Pump / PrepareAsync</a:t>
            </a:r>
          </a:p>
        </p:txBody>
      </p:sp>
      <p:sp>
        <p:nvSpPr>
          <p:cNvPr id="160" name="dp44-implementation-comparison / n143">
            <a:extLst xmlns:a="http://schemas.openxmlformats.org/drawingml/2006/main">
              <a:ext uri="{FF2B5EF4-FFF2-40B4-BE49-F238E27FC236}">
                <a16:creationId xmlns:a16="http://schemas.microsoft.com/office/drawing/2014/main" id="{CEDC8364-5B4A-4392-95EA-8B4E58EB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6953250"/>
            <a:ext cx="3695700" cy="38100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FFF3E5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61" name="dp44-implementation-comparison / n144 / text 1">
            <a:extLst xmlns:a="http://schemas.openxmlformats.org/drawingml/2006/main">
              <a:ext uri="{FF2B5EF4-FFF2-40B4-BE49-F238E27FC236}">
                <a16:creationId xmlns:a16="http://schemas.microsoft.com/office/drawing/2014/main" id="{9BB12441-BB30-4AAA-B8CC-2FA355546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7124700"/>
            <a:ext cx="35242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Prepare Job Index (RAM)</a:t>
            </a:r>
          </a:p>
        </p:txBody>
      </p:sp>
      <p:sp>
        <p:nvSpPr>
          <p:cNvPr id="162" name="dp44-implementation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728A68DB-CF2E-4242-9C72-4C3FA1402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6257925"/>
            <a:ext cx="47625" cy="523875"/>
          </a:xfrm>
          <a:custGeom xmlns:a="http://schemas.openxmlformats.org/drawingml/2006/main">
            <a:pathLst>
              <a:path w="47625" h="523875">
                <a:moveTo>
                  <a:pt x="0" y="523875"/>
                </a:moveTo>
                <a:lnTo>
                  <a:pt x="47625" y="523875"/>
                </a:lnTo>
                <a:lnTo>
                  <a:pt x="476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2858A5"/>
            </a:solidFill>
            <a:prstDash val="dash"/>
          </a:ln>
        </p:spPr>
      </p:sp>
      <p:sp>
        <p:nvSpPr>
          <p:cNvPr id="163" name="dp44-implementation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7B20B6A0-3F70-4DB4-93A9-3D97164A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6206109"/>
            <a:ext cx="103632" cy="103632"/>
          </a:xfrm>
          <a:custGeom xmlns:a="http://schemas.openxmlformats.org/drawingml/2006/main">
            <a:pathLst>
              <a:path w="103632" h="103632">
                <a:moveTo>
                  <a:pt x="103632" y="0"/>
                </a:moveTo>
                <a:lnTo>
                  <a:pt x="0" y="51816"/>
                </a:lnTo>
                <a:lnTo>
                  <a:pt x="103632" y="103632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2858A5"/>
            </a:solidFill>
            <a:prstDash val="solid"/>
          </a:ln>
        </p:spPr>
      </p:sp>
      <p:sp>
        <p:nvSpPr>
          <p:cNvPr id="164" name="dp44-implementation-comparison / n146">
            <a:extLst xmlns:a="http://schemas.openxmlformats.org/drawingml/2006/main">
              <a:ext uri="{FF2B5EF4-FFF2-40B4-BE49-F238E27FC236}">
                <a16:creationId xmlns:a16="http://schemas.microsoft.com/office/drawing/2014/main" id="{227582D7-BE7A-4F06-B7F2-1403D77C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5050" y="5600700"/>
            <a:ext cx="388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5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65" name="dp44-implementation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09740C40-0680-41BD-8E32-EBDAE0A14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5676900"/>
            <a:ext cx="36957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Publication Join</a:t>
            </a:r>
          </a:p>
        </p:txBody>
      </p:sp>
      <p:sp>
        <p:nvSpPr>
          <p:cNvPr id="166" name="dp44-implementation-comparison / n148">
            <a:extLst xmlns:a="http://schemas.openxmlformats.org/drawingml/2006/main">
              <a:ext uri="{FF2B5EF4-FFF2-40B4-BE49-F238E27FC236}">
                <a16:creationId xmlns:a16="http://schemas.microsoft.com/office/drawing/2014/main" id="{21A6EB1A-56CB-40A9-9853-A2F7EBBAD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6000750"/>
            <a:ext cx="1162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67" name="dp44-implementation-comparison / n149 / text 1">
            <a:extLst xmlns:a="http://schemas.openxmlformats.org/drawingml/2006/main">
              <a:ext uri="{FF2B5EF4-FFF2-40B4-BE49-F238E27FC236}">
                <a16:creationId xmlns:a16="http://schemas.microsoft.com/office/drawing/2014/main" id="{22A27920-D4CF-4466-8750-FDE4CC85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6025" y="6067425"/>
            <a:ext cx="990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Control</a:t>
            </a:r>
          </a:p>
        </p:txBody>
      </p:sp>
      <p:sp>
        <p:nvSpPr>
          <p:cNvPr id="168" name="dp44-implementation-comparison / n150">
            <a:extLst xmlns:a="http://schemas.openxmlformats.org/drawingml/2006/main">
              <a:ext uri="{FF2B5EF4-FFF2-40B4-BE49-F238E27FC236}">
                <a16:creationId xmlns:a16="http://schemas.microsoft.com/office/drawing/2014/main" id="{E76D4F18-F7B5-43C8-915E-6AFFC0B06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69" name="dp44-implementation-comparison / n151">
            <a:extLst xmlns:a="http://schemas.openxmlformats.org/drawingml/2006/main">
              <a:ext uri="{FF2B5EF4-FFF2-40B4-BE49-F238E27FC236}">
                <a16:creationId xmlns:a16="http://schemas.microsoft.com/office/drawing/2014/main" id="{CEB3C593-BA58-494D-B771-FF26AC74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73225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70" name="dp44-implementation-comparison / n152">
            <a:extLst xmlns:a="http://schemas.openxmlformats.org/drawingml/2006/main">
              <a:ext uri="{FF2B5EF4-FFF2-40B4-BE49-F238E27FC236}">
                <a16:creationId xmlns:a16="http://schemas.microsoft.com/office/drawing/2014/main" id="{CF4F47D8-A3A5-4EF5-B844-97ABB783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4200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71" name="dp44-implementation-comparison / n153">
            <a:extLst xmlns:a="http://schemas.openxmlformats.org/drawingml/2006/main">
              <a:ext uri="{FF2B5EF4-FFF2-40B4-BE49-F238E27FC236}">
                <a16:creationId xmlns:a16="http://schemas.microsoft.com/office/drawing/2014/main" id="{0A7D4F56-4E95-4373-ADE0-325CA3AD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5175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72" name="dp44-implementation-comparison / n154">
            <a:extLst xmlns:a="http://schemas.openxmlformats.org/drawingml/2006/main">
              <a:ext uri="{FF2B5EF4-FFF2-40B4-BE49-F238E27FC236}">
                <a16:creationId xmlns:a16="http://schemas.microsoft.com/office/drawing/2014/main" id="{3F7AC839-7A8D-4018-8709-742D057F4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6000750"/>
            <a:ext cx="1162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73" name="dp44-implementation-comparison / n155 / text 1">
            <a:extLst xmlns:a="http://schemas.openxmlformats.org/drawingml/2006/main">
              <a:ext uri="{FF2B5EF4-FFF2-40B4-BE49-F238E27FC236}">
                <a16:creationId xmlns:a16="http://schemas.microsoft.com/office/drawing/2014/main" id="{B550FA5F-AD51-4582-9F99-EEBCCC68C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82850" y="6067425"/>
            <a:ext cx="990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Candidate</a:t>
            </a:r>
          </a:p>
        </p:txBody>
      </p:sp>
      <p:sp>
        <p:nvSpPr>
          <p:cNvPr id="174" name="dp44-implementation-comparison / n156">
            <a:extLst xmlns:a="http://schemas.openxmlformats.org/drawingml/2006/main">
              <a:ext uri="{FF2B5EF4-FFF2-40B4-BE49-F238E27FC236}">
                <a16:creationId xmlns:a16="http://schemas.microsoft.com/office/drawing/2014/main" id="{BCD121F3-0691-4C4A-94FB-8E8BD387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59075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75" name="dp44-implementation-comparison / n157">
            <a:extLst xmlns:a="http://schemas.openxmlformats.org/drawingml/2006/main">
              <a:ext uri="{FF2B5EF4-FFF2-40B4-BE49-F238E27FC236}">
                <a16:creationId xmlns:a16="http://schemas.microsoft.com/office/drawing/2014/main" id="{9C25AA45-9480-4857-B5EA-4BD98822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0050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76" name="dp44-implementation-comparison / n158">
            <a:extLst xmlns:a="http://schemas.openxmlformats.org/drawingml/2006/main">
              <a:ext uri="{FF2B5EF4-FFF2-40B4-BE49-F238E27FC236}">
                <a16:creationId xmlns:a16="http://schemas.microsoft.com/office/drawing/2014/main" id="{F9BB5F6A-A196-4E86-98AF-D44B098A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025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77" name="dp44-implementation-comparison / n159">
            <a:extLst xmlns:a="http://schemas.openxmlformats.org/drawingml/2006/main">
              <a:ext uri="{FF2B5EF4-FFF2-40B4-BE49-F238E27FC236}">
                <a16:creationId xmlns:a16="http://schemas.microsoft.com/office/drawing/2014/main" id="{8F807F80-1D3B-4C88-A696-B186DD21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78" name="dp44-implementation-comparison / n160">
            <a:extLst xmlns:a="http://schemas.openxmlformats.org/drawingml/2006/main">
              <a:ext uri="{FF2B5EF4-FFF2-40B4-BE49-F238E27FC236}">
                <a16:creationId xmlns:a16="http://schemas.microsoft.com/office/drawing/2014/main" id="{2841AB4B-3527-41E1-A603-AEAA6B14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63950" y="6000750"/>
            <a:ext cx="1162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79" name="dp44-implementation-comparison / n161 / text 1">
            <a:extLst xmlns:a="http://schemas.openxmlformats.org/drawingml/2006/main">
              <a:ext uri="{FF2B5EF4-FFF2-40B4-BE49-F238E27FC236}">
                <a16:creationId xmlns:a16="http://schemas.microsoft.com/office/drawing/2014/main" id="{74DA2CDC-EEE9-47B4-9F37-AF7BE09A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49675" y="6067425"/>
            <a:ext cx="990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Condition</a:t>
            </a:r>
          </a:p>
        </p:txBody>
      </p:sp>
      <p:sp>
        <p:nvSpPr>
          <p:cNvPr id="180" name="dp44-implementation-comparison / n162">
            <a:extLst xmlns:a="http://schemas.openxmlformats.org/drawingml/2006/main">
              <a:ext uri="{FF2B5EF4-FFF2-40B4-BE49-F238E27FC236}">
                <a16:creationId xmlns:a16="http://schemas.microsoft.com/office/drawing/2014/main" id="{9EA9A7BD-65AD-4545-BAD9-A9071B4F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25900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1" name="dp44-implementation-comparison / n163">
            <a:extLst xmlns:a="http://schemas.openxmlformats.org/drawingml/2006/main">
              <a:ext uri="{FF2B5EF4-FFF2-40B4-BE49-F238E27FC236}">
                <a16:creationId xmlns:a16="http://schemas.microsoft.com/office/drawing/2014/main" id="{41AC44E4-37C7-4AEA-B509-61910F72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06875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2" name="dp44-implementation-comparison / n164">
            <a:extLst xmlns:a="http://schemas.openxmlformats.org/drawingml/2006/main">
              <a:ext uri="{FF2B5EF4-FFF2-40B4-BE49-F238E27FC236}">
                <a16:creationId xmlns:a16="http://schemas.microsoft.com/office/drawing/2014/main" id="{963B28C2-F70B-4B41-B6E9-AADDFDBA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87850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3" name="dp44-implementation-comparison / n165">
            <a:extLst xmlns:a="http://schemas.openxmlformats.org/drawingml/2006/main">
              <a:ext uri="{FF2B5EF4-FFF2-40B4-BE49-F238E27FC236}">
                <a16:creationId xmlns:a16="http://schemas.microsoft.com/office/drawing/2014/main" id="{63FFEA61-DD79-4BAF-8351-E2503015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8825" y="62865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4-implementation-comparison / n166">
            <a:extLst xmlns:a="http://schemas.openxmlformats.org/drawingml/2006/main">
              <a:ext uri="{FF2B5EF4-FFF2-40B4-BE49-F238E27FC236}">
                <a16:creationId xmlns:a16="http://schemas.microsoft.com/office/drawing/2014/main" id="{E1C0E7EB-FC10-4341-9FD9-FC57BD63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6543675"/>
            <a:ext cx="36957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85" name="dp44-implementation-comparison / n167 / text 1">
            <a:extLst xmlns:a="http://schemas.openxmlformats.org/drawingml/2006/main">
              <a:ext uri="{FF2B5EF4-FFF2-40B4-BE49-F238E27FC236}">
                <a16:creationId xmlns:a16="http://schemas.microsoft.com/office/drawing/2014/main" id="{C702D8BB-5478-4FE9-B05A-798C6CA31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5550" y="6629400"/>
            <a:ext cx="3505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Pump / match ID and revision</a:t>
            </a:r>
          </a:p>
        </p:txBody>
      </p:sp>
      <p:sp>
        <p:nvSpPr>
          <p:cNvPr id="186" name="dp44-implementation-comparison / n168">
            <a:extLst xmlns:a="http://schemas.openxmlformats.org/drawingml/2006/main">
              <a:ext uri="{FF2B5EF4-FFF2-40B4-BE49-F238E27FC236}">
                <a16:creationId xmlns:a16="http://schemas.microsoft.com/office/drawing/2014/main" id="{E0456B8E-66BE-47E4-88F1-20C6C0FBD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6953250"/>
            <a:ext cx="3695700" cy="38100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FFF3E5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187" name="dp44-implementation-comparison / n169 / text 1">
            <a:extLst xmlns:a="http://schemas.openxmlformats.org/drawingml/2006/main">
              <a:ext uri="{FF2B5EF4-FFF2-40B4-BE49-F238E27FC236}">
                <a16:creationId xmlns:a16="http://schemas.microsoft.com/office/drawing/2014/main" id="{4A3528D6-B505-42A7-8922-FDB35DB9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6025" y="7124700"/>
            <a:ext cx="35242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Publication Window (RAM)</a:t>
            </a:r>
          </a:p>
        </p:txBody>
      </p:sp>
      <p:sp>
        <p:nvSpPr>
          <p:cNvPr id="188" name="dp44-implementation-comparison / n170 / path">
            <a:extLst xmlns:a="http://schemas.openxmlformats.org/drawingml/2006/main">
              <a:ext uri="{FF2B5EF4-FFF2-40B4-BE49-F238E27FC236}">
                <a16:creationId xmlns:a16="http://schemas.microsoft.com/office/drawing/2014/main" id="{483C52B6-D2D2-4D93-A67B-A88DD872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4972050"/>
            <a:ext cx="953" cy="628650"/>
          </a:xfrm>
          <a:custGeom xmlns:a="http://schemas.openxmlformats.org/drawingml/2006/main">
            <a:pathLst>
              <a:path w="953" h="628650">
                <a:moveTo>
                  <a:pt x="0" y="0"/>
                </a:moveTo>
                <a:lnTo>
                  <a:pt x="0" y="6286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89" name="dp44-implementation-comparison / n170 / arrow">
            <a:extLst xmlns:a="http://schemas.openxmlformats.org/drawingml/2006/main">
              <a:ext uri="{FF2B5EF4-FFF2-40B4-BE49-F238E27FC236}">
                <a16:creationId xmlns:a16="http://schemas.microsoft.com/office/drawing/2014/main" id="{E09D779C-FDB7-4133-8005-F5832F1B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4787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90" name="dp44-implementation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A4FB05C5-5929-48B7-91E9-FAA615EC6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972050"/>
            <a:ext cx="3200400" cy="628650"/>
          </a:xfrm>
          <a:custGeom xmlns:a="http://schemas.openxmlformats.org/drawingml/2006/main">
            <a:pathLst>
              <a:path w="3200400" h="628650">
                <a:moveTo>
                  <a:pt x="3200400" y="0"/>
                </a:moveTo>
                <a:lnTo>
                  <a:pt x="3200400" y="161925"/>
                </a:lnTo>
                <a:lnTo>
                  <a:pt x="0" y="161925"/>
                </a:lnTo>
                <a:lnTo>
                  <a:pt x="0" y="6286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91" name="dp44-implementation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69685FF1-97D4-4476-90B7-A4C0C894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16790" y="54787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92" name="dp44-implementation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FBA147CE-945C-4BE0-9BF1-C4EF4C06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6248400"/>
            <a:ext cx="209550" cy="953"/>
          </a:xfrm>
          <a:custGeom xmlns:a="http://schemas.openxmlformats.org/drawingml/2006/main">
            <a:pathLst>
              <a:path w="209550" h="953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93" name="dp44-implementation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23744343-E18C-41E2-A7AC-A50B6074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3130" y="61874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94" name="dp44-implementation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E18711FA-50E9-4357-9B85-2C89E6B9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4972050"/>
            <a:ext cx="953" cy="628650"/>
          </a:xfrm>
          <a:custGeom xmlns:a="http://schemas.openxmlformats.org/drawingml/2006/main">
            <a:pathLst>
              <a:path w="953" h="628650">
                <a:moveTo>
                  <a:pt x="0" y="0"/>
                </a:moveTo>
                <a:lnTo>
                  <a:pt x="0" y="6286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95" name="dp44-implementation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F054D957-6526-4855-B11F-FB776C9D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190" y="54787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96" name="dp44-implementation-comparison / n174 / path">
            <a:extLst xmlns:a="http://schemas.openxmlformats.org/drawingml/2006/main">
              <a:ext uri="{FF2B5EF4-FFF2-40B4-BE49-F238E27FC236}">
                <a16:creationId xmlns:a16="http://schemas.microsoft.com/office/drawing/2014/main" id="{84AC5D22-EAC9-480D-99BF-8F21276F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7334250"/>
            <a:ext cx="953" cy="200025"/>
          </a:xfrm>
          <a:custGeom xmlns:a="http://schemas.openxmlformats.org/drawingml/2006/main">
            <a:pathLst>
              <a:path w="953" h="200025">
                <a:moveTo>
                  <a:pt x="0" y="0"/>
                </a:moveTo>
                <a:lnTo>
                  <a:pt x="0" y="2000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97" name="dp44-implementation-comparison / n174 / arrow">
            <a:extLst xmlns:a="http://schemas.openxmlformats.org/drawingml/2006/main">
              <a:ext uri="{FF2B5EF4-FFF2-40B4-BE49-F238E27FC236}">
                <a16:creationId xmlns:a16="http://schemas.microsoft.com/office/drawing/2014/main" id="{FA83C895-81A9-40A2-B86C-04FA153E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190" y="74123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98" name="dp44-implementation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E4C461DD-F13A-40E7-ABCF-8A10A72B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7458075"/>
            <a:ext cx="2857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2858A5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858A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858A5"/>
                </a:solidFill>
                <a:latin typeface="Calibri"/>
                <a:ea typeface="Calibri"/>
                <a:cs typeface="Calibri"/>
              </a:rPr>
              <a:t>eligible → Publication Control</a:t>
            </a:r>
          </a:p>
        </p:txBody>
      </p:sp>
      <p:sp>
        <p:nvSpPr>
          <p:cNvPr id="199" name="dp44-implementation-comparison / n176 / text 1">
            <a:extLst xmlns:a="http://schemas.openxmlformats.org/drawingml/2006/main">
              <a:ext uri="{FF2B5EF4-FFF2-40B4-BE49-F238E27FC236}">
                <a16:creationId xmlns:a16="http://schemas.microsoft.com/office/drawing/2014/main" id="{0CBA1341-7B75-438E-B5A0-5DDF252B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7848600"/>
            <a:ext cx="79533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J1 늦은 완료: Composer Done Queue에서 자기 Job 무효 검사 후 폐기</a:t>
            </a:r>
          </a:p>
        </p:txBody>
      </p:sp>
      <p:sp>
        <p:nvSpPr>
          <p:cNvPr id="200" name="dp44-implementation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F74DF091-5885-4B66-91DC-C7B42C8E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8096250"/>
            <a:ext cx="7953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F6B77"/>
                </a:solidFill>
                <a:latin typeface="Calibri"/>
                <a:ea typeface="Calibri"/>
                <a:cs typeface="Calibri"/>
              </a:rPr>
              <a:t>후보와 조건은 Join의 별도 Queue에 도착하며 ID와 revision으로 결합</a:t>
            </a:r>
          </a:p>
        </p:txBody>
      </p:sp>
      <p:sp>
        <p:nvSpPr>
          <p:cNvPr id="201" name="dp44-implementation-comparison / n178">
            <a:extLst xmlns:a="http://schemas.openxmlformats.org/drawingml/2006/main">
              <a:ext uri="{FF2B5EF4-FFF2-40B4-BE49-F238E27FC236}">
                <a16:creationId xmlns:a16="http://schemas.microsoft.com/office/drawing/2014/main" id="{9D07384D-EB69-4A4C-A5CE-8585F128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382000"/>
            <a:ext cx="172593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02" name="dp44-implementation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34A51FB7-4554-4E5D-A54C-9D326A9D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486775"/>
            <a:ext cx="2190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양안 공통 최종 전달</a:t>
            </a:r>
          </a:p>
        </p:txBody>
      </p:sp>
      <p:sp>
        <p:nvSpPr>
          <p:cNvPr id="203" name="dp44-implementation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8F1D2CB1-46B8-49CA-91D0-03648481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8486775"/>
            <a:ext cx="146208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Publication Control 현재성 및 권한 확인 → Interaction Manager 실제 표시와 재생 → ActualReceipt → Presented</a:t>
            </a:r>
          </a:p>
        </p:txBody>
      </p:sp>
      <p:sp>
        <p:nvSpPr>
          <p:cNvPr id="204" name="dp44-implementation-comparison / n181 / text 1">
            <a:extLst xmlns:a="http://schemas.openxmlformats.org/drawingml/2006/main">
              <a:ext uri="{FF2B5EF4-FFF2-40B4-BE49-F238E27FC236}">
                <a16:creationId xmlns:a16="http://schemas.microsoft.com/office/drawing/2014/main" id="{71466A0B-2DD2-46C1-8B88-6214164C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43950"/>
            <a:ext cx="169068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F6B77"/>
                </a:solidFill>
                <a:latin typeface="Calibri"/>
                <a:ea typeface="Calibri"/>
                <a:cs typeface="Calibri"/>
              </a:rPr>
              <a:t>발화 감지는 즉시 출력 중단과 관련 게시 hold를 유발한다. Task나 Job 취소는 정정 의도 채택 후 별도로 판단한다.</a:t>
            </a:r>
          </a:p>
        </p:txBody>
      </p:sp>
      <p:sp>
        <p:nvSpPr>
          <p:cNvPr id="205" name="dp44-implementation-comparison / n182">
            <a:extLst xmlns:a="http://schemas.openxmlformats.org/drawingml/2006/main">
              <a:ext uri="{FF2B5EF4-FFF2-40B4-BE49-F238E27FC236}">
                <a16:creationId xmlns:a16="http://schemas.microsoft.com/office/drawing/2014/main" id="{D5CBDE6B-F438-423B-9F7F-FF533563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286875"/>
            <a:ext cx="169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206" name="dp44-implementation-comparison / n183 / text 1">
            <a:extLst xmlns:a="http://schemas.openxmlformats.org/drawingml/2006/main">
              <a:ext uri="{FF2B5EF4-FFF2-40B4-BE49-F238E27FC236}">
                <a16:creationId xmlns:a16="http://schemas.microsoft.com/office/drawing/2014/main" id="{7A70CF74-C266-4CFF-9EB0-DAE893ED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9353550"/>
            <a:ext cx="152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Queue</a:t>
            </a:r>
          </a:p>
        </p:txBody>
      </p:sp>
      <p:sp>
        <p:nvSpPr>
          <p:cNvPr id="207" name="dp44-implementation-comparison / n184">
            <a:extLst xmlns:a="http://schemas.openxmlformats.org/drawingml/2006/main">
              <a:ext uri="{FF2B5EF4-FFF2-40B4-BE49-F238E27FC236}">
                <a16:creationId xmlns:a16="http://schemas.microsoft.com/office/drawing/2014/main" id="{E4BD2E90-1C1E-4616-8DD7-D8637DEB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9515475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08" name="dp44-implementation-comparison / n185">
            <a:extLst xmlns:a="http://schemas.openxmlformats.org/drawingml/2006/main">
              <a:ext uri="{FF2B5EF4-FFF2-40B4-BE49-F238E27FC236}">
                <a16:creationId xmlns:a16="http://schemas.microsoft.com/office/drawing/2014/main" id="{1880E16A-2A70-4262-BFC3-C5E3B9F7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9515475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09" name="dp44-implementation-comparison / n186">
            <a:extLst xmlns:a="http://schemas.openxmlformats.org/drawingml/2006/main">
              <a:ext uri="{FF2B5EF4-FFF2-40B4-BE49-F238E27FC236}">
                <a16:creationId xmlns:a16="http://schemas.microsoft.com/office/drawing/2014/main" id="{E1B0C30B-4A2D-4343-943B-A9A23D25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9515475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10" name="dp44-implementation-comparison / n187">
            <a:extLst xmlns:a="http://schemas.openxmlformats.org/drawingml/2006/main">
              <a:ext uri="{FF2B5EF4-FFF2-40B4-BE49-F238E27FC236}">
                <a16:creationId xmlns:a16="http://schemas.microsoft.com/office/drawing/2014/main" id="{044AF4D0-DFA6-444E-9C26-566903C6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9515475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11" name="dp44-implementation-comparison / n188">
            <a:extLst xmlns:a="http://schemas.openxmlformats.org/drawingml/2006/main">
              <a:ext uri="{FF2B5EF4-FFF2-40B4-BE49-F238E27FC236}">
                <a16:creationId xmlns:a16="http://schemas.microsoft.com/office/drawing/2014/main" id="{55D7987A-3B60-42AD-BF57-462A6BD6F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9286875"/>
            <a:ext cx="1695450" cy="4381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B8753F"/>
            </a:solidFill>
            <a:prstDash val="solid"/>
          </a:ln>
        </p:spPr>
      </p:sp>
      <p:sp>
        <p:nvSpPr>
          <p:cNvPr id="212" name="dp44-implementation-comparison / n189 / text 1">
            <a:extLst xmlns:a="http://schemas.openxmlformats.org/drawingml/2006/main">
              <a:ext uri="{FF2B5EF4-FFF2-40B4-BE49-F238E27FC236}">
                <a16:creationId xmlns:a16="http://schemas.microsoft.com/office/drawing/2014/main" id="{2DA6AE18-DBB0-4363-8213-6C24A1DA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9458325"/>
            <a:ext cx="15240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상태 원통</a:t>
            </a:r>
          </a:p>
        </p:txBody>
      </p:sp>
      <p:sp>
        <p:nvSpPr>
          <p:cNvPr id="213" name="dp44-implementation-comparison / n190 / path">
            <a:extLst xmlns:a="http://schemas.openxmlformats.org/drawingml/2006/main">
              <a:ext uri="{FF2B5EF4-FFF2-40B4-BE49-F238E27FC236}">
                <a16:creationId xmlns:a16="http://schemas.microsoft.com/office/drawing/2014/main" id="{2CFEABFE-2F38-4D60-B323-82190695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9505950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214" name="dp44-implementation-comparison / n190 / arrow">
            <a:extLst xmlns:a="http://schemas.openxmlformats.org/drawingml/2006/main">
              <a:ext uri="{FF2B5EF4-FFF2-40B4-BE49-F238E27FC236}">
                <a16:creationId xmlns:a16="http://schemas.microsoft.com/office/drawing/2014/main" id="{B78EDEBA-7C1E-46C6-B830-8071AB7F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3955" y="94449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215" name="dp44-implementation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F7E24ECE-B495-4FCE-A989-0E8E1AB5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9353550"/>
            <a:ext cx="1238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enqueue</a:t>
            </a:r>
          </a:p>
        </p:txBody>
      </p:sp>
      <p:sp>
        <p:nvSpPr>
          <p:cNvPr id="216" name="dp44-implementation-comparison / n192 / path">
            <a:extLst xmlns:a="http://schemas.openxmlformats.org/drawingml/2006/main">
              <a:ext uri="{FF2B5EF4-FFF2-40B4-BE49-F238E27FC236}">
                <a16:creationId xmlns:a16="http://schemas.microsoft.com/office/drawing/2014/main" id="{C830D0B6-7A83-4E2B-A948-CECADAD4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9505950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217" name="dp44-implementation-comparison / n192 / arrow">
            <a:extLst xmlns:a="http://schemas.openxmlformats.org/drawingml/2006/main">
              <a:ext uri="{FF2B5EF4-FFF2-40B4-BE49-F238E27FC236}">
                <a16:creationId xmlns:a16="http://schemas.microsoft.com/office/drawing/2014/main" id="{D557B9F3-EE60-4B4C-87BE-E7C60CFD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9455" y="94449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218" name="dp44-implementation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734B0704-F399-4ACB-9309-CB805F92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9353550"/>
            <a:ext cx="16668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완료 callback</a:t>
            </a:r>
          </a:p>
        </p:txBody>
      </p:sp>
      <p:sp>
        <p:nvSpPr>
          <p:cNvPr id="219" name="dp44-implementation-comparison / n194 / path">
            <a:extLst xmlns:a="http://schemas.openxmlformats.org/drawingml/2006/main">
              <a:ext uri="{FF2B5EF4-FFF2-40B4-BE49-F238E27FC236}">
                <a16:creationId xmlns:a16="http://schemas.microsoft.com/office/drawing/2014/main" id="{9F376EB2-B66E-47C9-822D-625D17F1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9505950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220" name="dp44-implementation-comparison / n194 / arrow">
            <a:extLst xmlns:a="http://schemas.openxmlformats.org/drawingml/2006/main">
              <a:ext uri="{FF2B5EF4-FFF2-40B4-BE49-F238E27FC236}">
                <a16:creationId xmlns:a16="http://schemas.microsoft.com/office/drawing/2014/main" id="{02AFF28E-E4CC-4E1D-8F0E-E8378677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6455" y="94449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221" name="dp44-implementation-comparison / n195 / text 1">
            <a:extLst xmlns:a="http://schemas.openxmlformats.org/drawingml/2006/main">
              <a:ext uri="{FF2B5EF4-FFF2-40B4-BE49-F238E27FC236}">
                <a16:creationId xmlns:a16="http://schemas.microsoft.com/office/drawing/2014/main" id="{D02D396D-CA20-4B21-93A6-880DF448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9353550"/>
            <a:ext cx="17621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18232E"/>
                </a:solidFill>
                <a:latin typeface="Calibri"/>
                <a:ea typeface="Calibri"/>
                <a:cs typeface="Calibri"/>
              </a:rPr>
              <a:t>제어와 취소</a:t>
            </a:r>
          </a:p>
        </p:txBody>
      </p:sp>
      <p:sp>
        <p:nvSpPr>
          <p:cNvPr id="222" name="dp44-implementation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1A9E7947-6B8B-40AF-9429-A456DD6F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9353550"/>
            <a:ext cx="54768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F6B77"/>
                </a:solidFill>
                <a:latin typeface="Calibri"/>
                <a:ea typeface="Calibri"/>
                <a:cs typeface="Calibri"/>
              </a:rPr>
              <a:t>A/B 미선정, 제품 구현과 품질 측정 없음</a:t>
            </a:r>
          </a:p>
        </p:txBody>
      </p:sp>
    </p:spTree>
    <p:extLst>
      <p:ext uri="{BB962C8B-B14F-4D97-AF65-F5344CB8AC3E}">
        <p14:creationId xmlns:p14="http://schemas.microsoft.com/office/powerpoint/2010/main" val="14842289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2026-10-14T17:50:35.9560000Z</dcterms:created>
  <dcterms:modified xsi:type="dcterms:W3CDTF">2026-10-14T17:50:35.9560000Z</dcterms:modified>
</coreProperties>
</file>