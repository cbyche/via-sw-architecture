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3d3dac5d4de436a" /><Relationship Type="http://schemas.openxmlformats.org/officeDocument/2006/relationships/extended-properties" Target="/docProps/app.xml" Id="R6bf2eb6dd4674d9a" /><Relationship Type="http://schemas.openxmlformats.org/officeDocument/2006/relationships/officeDocument" Target="/ppt/presentation.xml" Id="R1b8c858ffb62420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a7854a83f864a14"/>
  </p:sldMasterIdLst>
  <p:notesMasterIdLst>
    <p:notesMasterId xmlns:r="http://schemas.openxmlformats.org/officeDocument/2006/relationships" r:id="R9ecad5fc71f046e8"/>
  </p:notesMasterIdLst>
  <p:sldIdLst>
    <p:sldId xmlns:r="http://schemas.openxmlformats.org/officeDocument/2006/relationships" id="256" r:id="R34b3822a122e42c3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3b55e7d8d194532" /><Relationship Type="http://schemas.openxmlformats.org/officeDocument/2006/relationships/slideMaster" Target="/ppt/slideMasters/slideMaster1.xml" Id="R7a7854a83f864a14" /><Relationship Type="http://schemas.openxmlformats.org/officeDocument/2006/relationships/notesMaster" Target="/ppt/notesMasters/notesMaster1.xml" Id="R9ecad5fc71f046e8" /><Relationship Type="http://schemas.openxmlformats.org/officeDocument/2006/relationships/presProps" Target="/ppt/presProps.xml" Id="Re89908c702214040" /><Relationship Type="http://schemas.openxmlformats.org/officeDocument/2006/relationships/tableStyles" Target="/ppt/tableStyles.xml" Id="Rfb6fa00f36364e99" /><Relationship Type="http://schemas.openxmlformats.org/officeDocument/2006/relationships/slide" Target="/ppt/slides/slide1.xml" Id="R34b3822a122e42c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0807e829f2d48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14577add6f0455f" /><Relationship Type="http://schemas.openxmlformats.org/officeDocument/2006/relationships/notesMaster" Target="/ppt/notesMasters/notesMaster1.xml" Id="Rb9101b88cdb34ba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VIA 기능 요구사항 및 제약사항</a:t>
            </a:r>
          </a:p>
          <a:p xmlns:a="http://schemas.openxmlformats.org/drawingml/2006/main">
            <a:r>
              <a:t>원문: docs/presentations_files/functional-requirements-and-constraints.md</a:t>
            </a:r>
          </a:p>
          <a:p xmlns:a="http://schemas.openxmlformats.org/drawingml/2006/main">
            <a:r>
              <a:t>현재 네 DP의 발표용 요구사항이다. 관련 DP는 직접적인 설계 영향의 연결이며 전체 준수 범위를 뜻하지 않는다. 모델 배치는 04-40 공통 실행 계약을 따른다. 로컬 VAD는 Interaction Manager의 Turn-Taking Control에 있고 Request, Task와 실제 전달의 권위는 로컬 VIA에 남는다. 음성 모델과 의미 LLM은 별도 클라우드 의존성이며 Model Access가 공급자 연동을 담당한다. 공급자 및 checkpoint를 기능 요구사항으로 고정하지 않는다. 특정 설계 대안의 선택 또는 구현 및 측정 결과를 나타내지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FR1 지속 대화 처리</a:t>
            </a:r>
          </a:p>
          <a:p xmlns:a="http://schemas.openxmlformats.org/drawingml/2006/main">
            <a:r>
              <a:t>VIA가 요청을 처리하거나 응답하는 동안에도 사용자의 음성 또는 텍스트 입력을 받아 대화를 이어갈 수 있어야 한다.</a:t>
            </a:r>
          </a:p>
          <a:p xmlns:a="http://schemas.openxmlformats.org/drawingml/2006/main">
            <a:r>
              <a:t>관련 DP: 04-44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FR2 맥락 기반 요청 해석</a:t>
            </a:r>
          </a:p>
          <a:p xmlns:a="http://schemas.openxmlformats.org/drawingml/2006/main">
            <a:r>
              <a:t>화면, 자료와 대화 맥락을 이용해 사용자 입력을 목표, 대상, 조건과 관련 업무가 식별된 요청으로 해석할 수 있어야 한다.</a:t>
            </a:r>
          </a:p>
          <a:p xmlns:a="http://schemas.openxmlformats.org/drawingml/2006/main">
            <a:r>
              <a:t>관련 DP: 04-41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FR3 복합 요청 처리</a:t>
            </a:r>
          </a:p>
          <a:p xmlns:a="http://schemas.openxmlformats.org/drawingml/2006/main">
            <a:r>
              <a:t>한 입력에 포함된 여러 요청을 사용자가 명시한 순서, 조건과 결과 의존 관계에 따라 처리할 수 있어야 한다.</a:t>
            </a:r>
          </a:p>
          <a:p xmlns:a="http://schemas.openxmlformats.org/drawingml/2006/main">
            <a:r>
              <a:t>관련 DP: 04-41, 04-44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FR4 다중 업무 상호작용</a:t>
            </a:r>
          </a:p>
          <a:p xmlns:a="http://schemas.openxmlformats.org/drawingml/2006/main">
            <a:r>
              <a:t>여러 업무의 질문, 진행 상황, 결과와 사용자 후속 지시를 각각 해당 업무에 연결할 수 있어야 한다.</a:t>
            </a:r>
          </a:p>
          <a:p xmlns:a="http://schemas.openxmlformats.org/drawingml/2006/main">
            <a:r>
              <a:t>관련 DP: 04-42, 04-44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FR5 업무 연속성 유지</a:t>
            </a:r>
          </a:p>
          <a:p xmlns:a="http://schemas.openxmlformats.org/drawingml/2006/main">
            <a:r>
              <a:t>음성 연결 종료, 대화 전환 또는 VIA 재시작 이후에도 기존 업무를 중복 실행 없이 확인 가능한 상태로 이어갈 수 있어야 한다.</a:t>
            </a:r>
          </a:p>
          <a:p xmlns:a="http://schemas.openxmlformats.org/drawingml/2006/main">
            <a:r>
              <a:t>관련 DP: 04-42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FR6 과거 맥락 활용</a:t>
            </a:r>
          </a:p>
          <a:p xmlns:a="http://schemas.openxmlformats.org/drawingml/2006/main">
            <a:r>
              <a:t>이전 대화의 정정 내용, 업무 결과와 허용된 사용자 기억을 현재 요청에 필요한 맥락으로 활용할 수 있어야 한다.</a:t>
            </a:r>
          </a:p>
          <a:p xmlns:a="http://schemas.openxmlformats.org/drawingml/2006/main">
            <a:r>
              <a:t>관련 DP: 04-45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C1 음성과 의미 모델 분리</a:t>
            </a:r>
          </a:p>
          <a:p xmlns:a="http://schemas.openxmlformats.org/drawingml/2006/main">
            <a:r>
              <a:t>VIA와 VAD는 사용자 PC에서 실행하고, 음성과 의미 해석은 별도 클라우드 모델을 Model Access를 통해 사용해야 한다.</a:t>
            </a:r>
          </a:p>
          <a:p xmlns:a="http://schemas.openxmlformats.org/drawingml/2006/main">
            <a:r>
              <a:t>관련 DP: 04-41, 04-44, 04-45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C2 업무 실행 위임</a:t>
            </a:r>
          </a:p>
          <a:p xmlns:a="http://schemas.openxmlformats.org/drawingml/2006/main">
            <a:r>
              <a:t>실제 업무 수행에 필요한 도메인 추론, 계획, 도구 선택과 실행은 Downstream Agent에 위임해야 한다.</a:t>
            </a:r>
          </a:p>
          <a:p xmlns:a="http://schemas.openxmlformats.org/drawingml/2006/main">
            <a:r>
              <a:t>관련 DP: 04-41, 04-42, 04-44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관련 설계 문서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[04-41 요청 의미 해결](../architecture/12-decisions/decision-packages/04-41-request-resolution-control.md)</a:t>
            </a:r>
          </a:p>
          <a:p xmlns:a="http://schemas.openxmlformats.org/drawingml/2006/main">
            <a:r>
              <a:t>- [04-42 대화와 업무의 수명](../architecture/12-decisions/decision-packages/04-42-lifecycle-ownership.md)</a:t>
            </a:r>
          </a:p>
          <a:p xmlns:a="http://schemas.openxmlformats.org/drawingml/2006/main">
            <a:r>
              <a:t>- [04-44 지속 대화 실행](../architecture/12-decisions/decision-packages/04-44-continuous-interaction.md)</a:t>
            </a:r>
          </a:p>
          <a:p xmlns:a="http://schemas.openxmlformats.org/drawingml/2006/main">
            <a:r>
              <a:t>- [04-45 기억과 Context](../architecture/12-decisions/decision-packages/04-45-memory-and-context.md)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디자인 참고: 사용자 제공 조제현_09_기능요구사항및제약사항.png의 기능 요구사항 상단 표와 제약사항 하단 표. 관련 DP 열을 추가하여 한 장에 배치했다.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12ea0de36046c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a453d37e7d8423c" /><Relationship Type="http://schemas.openxmlformats.org/officeDocument/2006/relationships/slideLayout" Target="/ppt/slideLayouts/slideLayout1.xml" Id="R0cce4c37d09c4e3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cce4c37d09c4e3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0162de70694709" /><Relationship Type="http://schemas.openxmlformats.org/officeDocument/2006/relationships/notesSlide" Target="/ppt/notesSlides/notesSlide1.xml" Id="Rcbc28d37b1124b1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4092BEB7-8E0A-41CB-A00E-B902962BF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73736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202B3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800" b="1">
                <a:solidFill>
                  <a:srgbClr val="202B35"/>
                </a:solidFill>
                <a:latin typeface="Apple SD Gothic Neo"/>
                <a:ea typeface="Apple SD Gothic Neo"/>
                <a:cs typeface="Apple SD Gothic Neo"/>
              </a:rPr>
              <a:t>기능 요구사항 및 제약사항</a:t>
            </a:r>
          </a:p>
        </p:txBody>
      </p:sp>
      <p:sp>
        <p:nvSpPr>
          <p:cNvPr id="2" name="functional-heading">
            <a:extLst xmlns:a="http://schemas.openxmlformats.org/drawingml/2006/main">
              <a:ext uri="{FF2B5EF4-FFF2-40B4-BE49-F238E27FC236}">
                <a16:creationId xmlns:a16="http://schemas.microsoft.com/office/drawing/2014/main" id="{D342F900-6824-479E-8844-5EB8A5366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66825"/>
            <a:ext cx="17373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873B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2873B9"/>
                </a:solidFill>
                <a:latin typeface="Apple SD Gothic Neo"/>
                <a:ea typeface="Apple SD Gothic Neo"/>
                <a:cs typeface="Apple SD Gothic Neo"/>
              </a:rPr>
              <a:t>기능 요구사항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457200" y="1809750"/>
          <a:ext xmlns:a="http://schemas.openxmlformats.org/drawingml/2006/main" cx="17373600" cy="49911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952500"/>
                <a:gridCol w="3333750"/>
                <a:gridCol w="10572750"/>
                <a:gridCol w="2514600"/>
              </a:tblGrid>
              <a:tr h="476250">
                <a:tc>
                  <a:txBody>
                    <a:bodyPr/>
                    <a:lstStyle/>
                    <a:p>
                      <a:pPr algn="ctr"/>
                      <a:r>
                        <a:rPr sz="202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ID</a:t>
                      </a:r>
                    </a:p>
                  </a:txBody>
                  <a:tcPr marL="95250" marR="95250" marT="19050" marB="19050" anchor="ctr">
                    <a:solidFill>
                      <a:srgbClr val="2873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기능 요구사항명</a:t>
                      </a:r>
                    </a:p>
                  </a:txBody>
                  <a:tcPr marL="95250" marR="95250" marT="19050" marB="19050" anchor="ctr">
                    <a:solidFill>
                      <a:srgbClr val="2873B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설명</a:t>
                      </a:r>
                    </a:p>
                  </a:txBody>
                  <a:tcPr marL="152400" marR="152400" marT="19050" marB="19050" anchor="ctr">
                    <a:solidFill>
                      <a:srgbClr val="2873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관련 DP</a:t>
                      </a:r>
                    </a:p>
                  </a:txBody>
                  <a:tcPr marL="95250" marR="95250" marT="19050" marB="19050" anchor="ctr">
                    <a:solidFill>
                      <a:srgbClr val="2873B9"/>
                    </a:solidFill>
                  </a:tcPr>
                </a:tc>
              </a:tr>
              <a:tr h="752475">
                <a:tc>
                  <a:txBody>
                    <a:bodyPr/>
                    <a:lstStyle/>
                    <a:p>
                      <a:pPr algn="ctr"/>
                      <a:r>
                        <a:rPr sz="2175" b="1">
                          <a:solidFill>
                            <a:srgbClr val="2873B9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FR1</a:t>
                      </a:r>
                    </a:p>
                  </a:txBody>
                  <a:tcPr marL="95250" marR="95250" marT="19050" marB="19050" anchor="ctr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1">
                          <a:solidFill>
                            <a:srgbClr val="202B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지속 대화 처리</a:t>
                      </a:r>
                    </a:p>
                  </a:txBody>
                  <a:tcPr marL="95250" marR="95250" marT="19050" marB="19050" anchor="ctr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75" b="0">
                          <a:solidFill>
                            <a:srgbClr val="202B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VIA가 요청을 처리하거나 응답하는 동안에도 사용자의 음성 또는 텍스트 입력을 받아</a:t>
                      </a:r>
                    </a:p>
                    <a:p>
                      <a:pPr algn="l"/>
                      <a:r>
                        <a:rPr sz="2175" b="0">
                          <a:solidFill>
                            <a:srgbClr val="202B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대화를 이어갈 수 있어야 한다.</a:t>
                      </a:r>
                    </a:p>
                  </a:txBody>
                  <a:tcPr marL="152400" marR="152400" marT="19050" marB="19050" anchor="ctr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02B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04-44</a:t>
                      </a:r>
                    </a:p>
                  </a:txBody>
                  <a:tcPr marL="95250" marR="95250" marT="19050" marB="19050" anchor="ctr">
                    <a:solidFill>
                      <a:srgbClr val="EEF4F9"/>
                    </a:solidFill>
                  </a:tcPr>
                </a:tc>
              </a:tr>
              <a:tr h="752475">
                <a:tc>
                  <a:txBody>
                    <a:bodyPr/>
                    <a:lstStyle/>
                    <a:p>
                      <a:pPr algn="ctr"/>
                      <a:r>
                        <a:rPr sz="2175" b="1">
                          <a:solidFill>
                            <a:srgbClr val="2873B9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FR2</a:t>
                      </a:r>
                    </a:p>
                  </a:txBody>
                  <a:tcPr marL="95250" marR="95250" marT="19050" marB="1905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1">
                          <a:solidFill>
                            <a:srgbClr val="202B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맥락 기반 요청 해석</a:t>
                      </a:r>
                    </a:p>
                  </a:txBody>
                  <a:tcPr marL="95250" marR="95250" marT="19050" marB="1905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75" b="0">
                          <a:solidFill>
                            <a:srgbClr val="202B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화면, 자료와 대화 맥락을 이용해 사용자 입력을 목표, 대상, 조건과 관련 업무가</a:t>
                      </a:r>
                    </a:p>
                    <a:p>
                      <a:pPr algn="l"/>
                      <a:r>
                        <a:rPr sz="2175" b="0">
                          <a:solidFill>
                            <a:srgbClr val="202B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식별된 요청으로 해석할 수 있어야 한다.</a:t>
                      </a:r>
                    </a:p>
                  </a:txBody>
                  <a:tcPr marL="152400" marR="152400" marT="19050" marB="1905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02B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04-41</a:t>
                      </a:r>
                    </a:p>
                  </a:txBody>
                  <a:tcPr marL="95250" marR="95250" marT="19050" marB="19050" anchor="ctr">
                    <a:solidFill>
                      <a:srgbClr val="F8FAFC"/>
                    </a:solidFill>
                  </a:tcPr>
                </a:tc>
              </a:tr>
              <a:tr h="752475">
                <a:tc>
                  <a:txBody>
                    <a:bodyPr/>
                    <a:lstStyle/>
                    <a:p>
                      <a:pPr algn="ctr"/>
                      <a:r>
                        <a:rPr sz="2175" b="1">
                          <a:solidFill>
                            <a:srgbClr val="2873B9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FR3</a:t>
                      </a:r>
                    </a:p>
                  </a:txBody>
                  <a:tcPr marL="95250" marR="95250" marT="19050" marB="19050" anchor="ctr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1">
                          <a:solidFill>
                            <a:srgbClr val="202B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복합 요청 처리</a:t>
                      </a:r>
                    </a:p>
                  </a:txBody>
                  <a:tcPr marL="95250" marR="95250" marT="19050" marB="19050" anchor="ctr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75" b="0">
                          <a:solidFill>
                            <a:srgbClr val="202B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한 입력에 포함된 여러 요청을 사용자가 명시한 순서, 조건과 결과 의존 관계에 따라</a:t>
                      </a:r>
                    </a:p>
                    <a:p>
                      <a:pPr algn="l"/>
                      <a:r>
                        <a:rPr sz="2175" b="0">
                          <a:solidFill>
                            <a:srgbClr val="202B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처리할 수 있어야 한다.</a:t>
                      </a:r>
                    </a:p>
                  </a:txBody>
                  <a:tcPr marL="152400" marR="152400" marT="19050" marB="19050" anchor="ctr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02B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04-41, 04-44</a:t>
                      </a:r>
                    </a:p>
                  </a:txBody>
                  <a:tcPr marL="95250" marR="95250" marT="19050" marB="19050" anchor="ctr">
                    <a:solidFill>
                      <a:srgbClr val="EEF4F9"/>
                    </a:solidFill>
                  </a:tcPr>
                </a:tc>
              </a:tr>
              <a:tr h="752475">
                <a:tc>
                  <a:txBody>
                    <a:bodyPr/>
                    <a:lstStyle/>
                    <a:p>
                      <a:pPr algn="ctr"/>
                      <a:r>
                        <a:rPr sz="2175" b="1">
                          <a:solidFill>
                            <a:srgbClr val="2873B9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FR4</a:t>
                      </a:r>
                    </a:p>
                  </a:txBody>
                  <a:tcPr marL="95250" marR="95250" marT="19050" marB="1905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1">
                          <a:solidFill>
                            <a:srgbClr val="202B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다중 업무 상호작용</a:t>
                      </a:r>
                    </a:p>
                  </a:txBody>
                  <a:tcPr marL="95250" marR="95250" marT="19050" marB="1905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75" b="0">
                          <a:solidFill>
                            <a:srgbClr val="202B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여러 업무의 질문, 진행 상황, 결과와 사용자 후속 지시를 각각</a:t>
                      </a:r>
                    </a:p>
                    <a:p>
                      <a:pPr algn="l"/>
                      <a:r>
                        <a:rPr sz="2175" b="0">
                          <a:solidFill>
                            <a:srgbClr val="202B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해당 업무에 연결할 수 있어야 한다.</a:t>
                      </a:r>
                    </a:p>
                  </a:txBody>
                  <a:tcPr marL="152400" marR="152400" marT="19050" marB="1905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02B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04-42, 04-44</a:t>
                      </a:r>
                    </a:p>
                  </a:txBody>
                  <a:tcPr marL="95250" marR="95250" marT="19050" marB="19050" anchor="ctr">
                    <a:solidFill>
                      <a:srgbClr val="F8FAFC"/>
                    </a:solidFill>
                  </a:tcPr>
                </a:tc>
              </a:tr>
              <a:tr h="752475">
                <a:tc>
                  <a:txBody>
                    <a:bodyPr/>
                    <a:lstStyle/>
                    <a:p>
                      <a:pPr algn="ctr"/>
                      <a:r>
                        <a:rPr sz="2175" b="1">
                          <a:solidFill>
                            <a:srgbClr val="2873B9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FR5</a:t>
                      </a:r>
                    </a:p>
                  </a:txBody>
                  <a:tcPr marL="95250" marR="95250" marT="19050" marB="19050" anchor="ctr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1">
                          <a:solidFill>
                            <a:srgbClr val="202B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업무 연속성 유지</a:t>
                      </a:r>
                    </a:p>
                  </a:txBody>
                  <a:tcPr marL="95250" marR="95250" marT="19050" marB="19050" anchor="ctr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75" b="0">
                          <a:solidFill>
                            <a:srgbClr val="202B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음성 연결 종료, 대화 전환 또는 VIA 재시작 이후에도 기존 업무를</a:t>
                      </a:r>
                    </a:p>
                    <a:p>
                      <a:pPr algn="l"/>
                      <a:r>
                        <a:rPr sz="2175" b="0">
                          <a:solidFill>
                            <a:srgbClr val="202B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중복 실행 없이 확인 가능한 상태로 이어갈 수 있어야 한다.</a:t>
                      </a:r>
                    </a:p>
                  </a:txBody>
                  <a:tcPr marL="152400" marR="152400" marT="19050" marB="19050" anchor="ctr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02B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04-42</a:t>
                      </a:r>
                    </a:p>
                  </a:txBody>
                  <a:tcPr marL="95250" marR="95250" marT="19050" marB="19050" anchor="ctr">
                    <a:solidFill>
                      <a:srgbClr val="EEF4F9"/>
                    </a:solidFill>
                  </a:tcPr>
                </a:tc>
              </a:tr>
              <a:tr h="752475">
                <a:tc>
                  <a:txBody>
                    <a:bodyPr/>
                    <a:lstStyle/>
                    <a:p>
                      <a:pPr algn="ctr"/>
                      <a:r>
                        <a:rPr sz="2175" b="1">
                          <a:solidFill>
                            <a:srgbClr val="2873B9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FR6</a:t>
                      </a:r>
                    </a:p>
                  </a:txBody>
                  <a:tcPr marL="95250" marR="95250" marT="19050" marB="1905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1">
                          <a:solidFill>
                            <a:srgbClr val="202B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과거 맥락 활용</a:t>
                      </a:r>
                    </a:p>
                  </a:txBody>
                  <a:tcPr marL="95250" marR="95250" marT="19050" marB="1905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75" b="0">
                          <a:solidFill>
                            <a:srgbClr val="202B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이전 대화의 정정 내용, 업무 결과와 허용된 사용자 기억을</a:t>
                      </a:r>
                    </a:p>
                    <a:p>
                      <a:pPr algn="l"/>
                      <a:r>
                        <a:rPr sz="2175" b="0">
                          <a:solidFill>
                            <a:srgbClr val="202B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현재 요청에 필요한 맥락으로 활용할 수 있어야 한다.</a:t>
                      </a:r>
                    </a:p>
                  </a:txBody>
                  <a:tcPr marL="152400" marR="152400" marT="19050" marB="1905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02B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04-45</a:t>
                      </a:r>
                    </a:p>
                  </a:txBody>
                  <a:tcPr marL="95250" marR="95250" marT="19050" marB="1905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4" name="constraints-heading">
            <a:extLst xmlns:a="http://schemas.openxmlformats.org/drawingml/2006/main">
              <a:ext uri="{FF2B5EF4-FFF2-40B4-BE49-F238E27FC236}">
                <a16:creationId xmlns:a16="http://schemas.microsoft.com/office/drawing/2014/main" id="{D36FAAF4-C26E-41F6-BBE5-D3138EC8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62800"/>
            <a:ext cx="17373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B96D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B96D14"/>
                </a:solidFill>
                <a:latin typeface="Apple SD Gothic Neo"/>
                <a:ea typeface="Apple SD Gothic Neo"/>
                <a:cs typeface="Apple SD Gothic Neo"/>
              </a:rPr>
              <a:t>제약사항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457200" y="7686675"/>
          <a:ext xmlns:a="http://schemas.openxmlformats.org/drawingml/2006/main" cx="17373600" cy="2076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952500"/>
                <a:gridCol w="3333750"/>
                <a:gridCol w="10572750"/>
                <a:gridCol w="2514600"/>
              </a:tblGrid>
              <a:tr h="476250">
                <a:tc>
                  <a:txBody>
                    <a:bodyPr/>
                    <a:lstStyle/>
                    <a:p>
                      <a:pPr algn="ctr"/>
                      <a:r>
                        <a:rPr sz="202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ID</a:t>
                      </a:r>
                    </a:p>
                  </a:txBody>
                  <a:tcPr marL="95250" marR="95250" marT="19050" marB="19050" anchor="ctr">
                    <a:solidFill>
                      <a:srgbClr val="B96D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제약사항명</a:t>
                      </a:r>
                    </a:p>
                  </a:txBody>
                  <a:tcPr marL="95250" marR="95250" marT="19050" marB="19050" anchor="ctr">
                    <a:solidFill>
                      <a:srgbClr val="B96D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설명</a:t>
                      </a:r>
                    </a:p>
                  </a:txBody>
                  <a:tcPr marL="152400" marR="152400" marT="19050" marB="19050" anchor="ctr">
                    <a:solidFill>
                      <a:srgbClr val="B96D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관련 DP</a:t>
                      </a:r>
                    </a:p>
                  </a:txBody>
                  <a:tcPr marL="95250" marR="95250" marT="19050" marB="19050" anchor="ctr">
                    <a:solidFill>
                      <a:srgbClr val="B96D14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/>
                      <a:r>
                        <a:rPr sz="2175" b="1">
                          <a:solidFill>
                            <a:srgbClr val="B96D1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C1</a:t>
                      </a:r>
                    </a:p>
                  </a:txBody>
                  <a:tcPr marL="95250" marR="95250" marT="19050" marB="19050" anchor="ctr">
                    <a:solidFill>
                      <a:srgbClr val="FCF4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1">
                          <a:solidFill>
                            <a:srgbClr val="202B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음성과 의미 모델 분리</a:t>
                      </a:r>
                    </a:p>
                  </a:txBody>
                  <a:tcPr marL="95250" marR="95250" marT="19050" marB="19050" anchor="ctr">
                    <a:solidFill>
                      <a:srgbClr val="FCF4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75" b="0">
                          <a:solidFill>
                            <a:srgbClr val="202B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VIA와 VAD는 사용자 PC에서 실행하고, 음성과 의미 해석은 별도 클라우드 모델을</a:t>
                      </a:r>
                    </a:p>
                    <a:p>
                      <a:pPr algn="l"/>
                      <a:r>
                        <a:rPr sz="2175" b="0">
                          <a:solidFill>
                            <a:srgbClr val="202B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Model Access를 통해 사용해야 한다.</a:t>
                      </a:r>
                    </a:p>
                  </a:txBody>
                  <a:tcPr marL="152400" marR="152400" marT="19050" marB="19050" anchor="ctr">
                    <a:solidFill>
                      <a:srgbClr val="FCF4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02B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04-41, 04-44,</a:t>
                      </a:r>
                    </a:p>
                    <a:p>
                      <a:pPr algn="ctr"/>
                      <a:r>
                        <a:rPr sz="1950" b="0">
                          <a:solidFill>
                            <a:srgbClr val="202B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04-45</a:t>
                      </a:r>
                    </a:p>
                  </a:txBody>
                  <a:tcPr marL="95250" marR="95250" marT="19050" marB="19050" anchor="ctr">
                    <a:solidFill>
                      <a:srgbClr val="FCF4E8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/>
                      <a:r>
                        <a:rPr sz="2175" b="1">
                          <a:solidFill>
                            <a:srgbClr val="B96D1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C2</a:t>
                      </a:r>
                    </a:p>
                  </a:txBody>
                  <a:tcPr marL="95250" marR="95250" marT="19050" marB="19050" anchor="ctr">
                    <a:solidFill>
                      <a:srgbClr val="FEFA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1">
                          <a:solidFill>
                            <a:srgbClr val="202B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업무 실행 위임</a:t>
                      </a:r>
                    </a:p>
                  </a:txBody>
                  <a:tcPr marL="95250" marR="95250" marT="19050" marB="19050" anchor="ctr">
                    <a:solidFill>
                      <a:srgbClr val="FEFA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75" b="0">
                          <a:solidFill>
                            <a:srgbClr val="202B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실제 업무 수행에 필요한 도메인 추론, 계획, 도구 선택과 실행은</a:t>
                      </a:r>
                    </a:p>
                    <a:p>
                      <a:pPr algn="l"/>
                      <a:r>
                        <a:rPr sz="2175" b="0">
                          <a:solidFill>
                            <a:srgbClr val="202B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Downstream Agent에 위임해야 한다.</a:t>
                      </a:r>
                    </a:p>
                  </a:txBody>
                  <a:tcPr marL="152400" marR="152400" marT="19050" marB="19050" anchor="ctr">
                    <a:solidFill>
                      <a:srgbClr val="FEFA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02B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04-41, 04-42,</a:t>
                      </a:r>
                    </a:p>
                    <a:p>
                      <a:pPr algn="ctr"/>
                      <a:r>
                        <a:rPr sz="1950" b="0">
                          <a:solidFill>
                            <a:srgbClr val="202B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04-44</a:t>
                      </a:r>
                    </a:p>
                  </a:txBody>
                  <a:tcPr marL="95250" marR="95250" marT="19050" marB="19050" anchor="ctr">
                    <a:solidFill>
                      <a:srgbClr val="FEFAF3"/>
                    </a:solidFill>
                  </a:tcPr>
                </a:tc>
              </a:tr>
            </a:tbl>
          </a:graphicData>
        </a:graphic>
      </p:graphicFrame>
      <p:sp>
        <p:nvSpPr>
          <p:cNvPr id="6" name="mapping-boundary">
            <a:extLst xmlns:a="http://schemas.openxmlformats.org/drawingml/2006/main">
              <a:ext uri="{FF2B5EF4-FFF2-40B4-BE49-F238E27FC236}">
                <a16:creationId xmlns:a16="http://schemas.microsoft.com/office/drawing/2014/main" id="{07A64B9E-7E9D-41F7-8E41-80C979F47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906000"/>
            <a:ext cx="1737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868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86878"/>
                </a:solidFill>
                <a:latin typeface="Apple SD Gothic Neo"/>
                <a:ea typeface="Apple SD Gothic Neo"/>
                <a:cs typeface="Apple SD Gothic Neo"/>
              </a:rPr>
              <a:t>관련 DP는 직접 설계 영향만 표시한다. 로컬 VAD와 업무 상태의 권위는 VIA에 있으며 모델 공급자는 별도 reference다.</a:t>
            </a:r>
          </a:p>
        </p:txBody>
      </p:sp>
    </p:spTree>
    <p:extLst>
      <p:ext uri="{BB962C8B-B14F-4D97-AF65-F5344CB8AC3E}">
        <p14:creationId xmlns:p14="http://schemas.microsoft.com/office/powerpoint/2010/main" val="15038805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2026-10-11T10:33:08.5650000Z</dcterms:created>
  <dcterms:modified xsi:type="dcterms:W3CDTF">2026-10-11T10:33:08.5650000Z</dcterms:modified>
</coreProperties>
</file>