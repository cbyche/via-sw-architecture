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7ab7dfdbf3c46c3" /><Relationship Type="http://schemas.openxmlformats.org/officeDocument/2006/relationships/extended-properties" Target="/docProps/app.xml" Id="Ree79411eabf041f9" /><Relationship Type="http://schemas.openxmlformats.org/officeDocument/2006/relationships/officeDocument" Target="/ppt/presentation.xml" Id="R802f675791a64e84" /></Relationships>
</file>

<file path=ppt/presentation.xml><?xml version="1.0" encoding="utf-8"?>
<p:presentation xmlns:p="http://schemas.openxmlformats.org/presentationml/2006/main">
  <p:sldMasterIdLst>
    <p:sldMasterId xmlns:r="http://schemas.openxmlformats.org/officeDocument/2006/relationships" id="2147483648" r:id="R1a1899b72375481e"/>
  </p:sldMasterIdLst>
  <p:notesMasterIdLst>
    <p:notesMasterId xmlns:r="http://schemas.openxmlformats.org/officeDocument/2006/relationships" r:id="R288f64ebe7a04b6b"/>
  </p:notesMasterIdLst>
  <p:sldIdLst>
    <p:sldId xmlns:r="http://schemas.openxmlformats.org/officeDocument/2006/relationships" id="256" r:id="R66f04170531a482b"/>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7087509ce3424c" /><Relationship Type="http://schemas.openxmlformats.org/officeDocument/2006/relationships/slideMaster" Target="/ppt/slideMasters/slideMaster1.xml" Id="R1a1899b72375481e" /><Relationship Type="http://schemas.openxmlformats.org/officeDocument/2006/relationships/notesMaster" Target="/ppt/notesMasters/notesMaster1.xml" Id="R288f64ebe7a04b6b" /><Relationship Type="http://schemas.openxmlformats.org/officeDocument/2006/relationships/presProps" Target="/ppt/presProps.xml" Id="R53d8453327e74639" /><Relationship Type="http://schemas.openxmlformats.org/officeDocument/2006/relationships/tableStyles" Target="/ppt/tableStyles.xml" Id="Rc1bdd93a1a80420e" /><Relationship Type="http://schemas.openxmlformats.org/officeDocument/2006/relationships/slide" Target="/ppt/slides/slide1.xml" Id="R66f04170531a482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a8a77f9a464eb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b3fc2d6b664bc0" /><Relationship Type="http://schemas.openxmlformats.org/officeDocument/2006/relationships/notesMaster" Target="/ppt/notesMasters/notesMaster1.xml" Id="Re5496b71280846e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VIA 기능 요구사항 및 제약사항</a:t>
            </a:r>
          </a:p>
          <a:p xmlns:a="http://schemas.openxmlformats.org/drawingml/2006/main">
            <a:r>
              <a:t>원문: docs/presentations_files/functional-requirements-and-constraints.md</a:t>
            </a:r>
          </a:p>
          <a:p xmlns:a="http://schemas.openxmlformats.org/drawingml/2006/main">
            <a:r>
              <a:t>04-41~45와 직접 연결되는 발표용 요구사항이다. 관련 DP는 직접적인 설계 영향의 연결이며 전체 준수 범위를 뜻하지 않는다. 단일 Omni 공유는 별도 입력 인식용 Streaming ASR을 금지한다는 뜻이 아니다. 특정 설계 대안의 선택 또는 구현 및 측정 결과를 나타내지 않는다.</a:t>
            </a:r>
          </a:p>
          <a:p xmlns:a="http://schemas.openxmlformats.org/drawingml/2006/main">
            <a:r>
              <a:t/>
            </a:r>
          </a:p>
          <a:p xmlns:a="http://schemas.openxmlformats.org/drawingml/2006/main">
            <a:r>
              <a:t>FR1 지속 대화 처리</a:t>
            </a:r>
          </a:p>
          <a:p xmlns:a="http://schemas.openxmlformats.org/drawingml/2006/main">
            <a:r>
              <a:t>VIA가 요청을 처리하거나 응답하는 동안에도 사용자의 음성 또는 텍스트 입력을 받아 대화를 이어갈 수 있어야 한다.</a:t>
            </a:r>
          </a:p>
          <a:p xmlns:a="http://schemas.openxmlformats.org/drawingml/2006/main">
            <a:r>
              <a:t>관련 DP: 04-44</a:t>
            </a:r>
          </a:p>
          <a:p xmlns:a="http://schemas.openxmlformats.org/drawingml/2006/main">
            <a:r>
              <a:t/>
            </a:r>
          </a:p>
          <a:p xmlns:a="http://schemas.openxmlformats.org/drawingml/2006/main">
            <a:r>
              <a:t>FR2 맥락 기반 요청 해석</a:t>
            </a:r>
          </a:p>
          <a:p xmlns:a="http://schemas.openxmlformats.org/drawingml/2006/main">
            <a:r>
              <a:t>화면, 자료와 대화 맥락을 이용해 사용자 입력을 목표, 대상, 조건과 관련 업무가 식별된 요청으로 해석할 수 있어야 한다.</a:t>
            </a:r>
          </a:p>
          <a:p xmlns:a="http://schemas.openxmlformats.org/drawingml/2006/main">
            <a:r>
              <a:t>관련 DP: 04-41, 04-43</a:t>
            </a:r>
          </a:p>
          <a:p xmlns:a="http://schemas.openxmlformats.org/drawingml/2006/main">
            <a:r>
              <a:t/>
            </a:r>
          </a:p>
          <a:p xmlns:a="http://schemas.openxmlformats.org/drawingml/2006/main">
            <a:r>
              <a:t>FR3 복합 요청 처리</a:t>
            </a:r>
          </a:p>
          <a:p xmlns:a="http://schemas.openxmlformats.org/drawingml/2006/main">
            <a:r>
              <a:t>한 입력에 포함된 여러 요청을 사용자가 명시한 순서, 조건과 결과 의존 관계에 따라 처리할 수 있어야 한다.</a:t>
            </a:r>
          </a:p>
          <a:p xmlns:a="http://schemas.openxmlformats.org/drawingml/2006/main">
            <a:r>
              <a:t>관련 DP: 04-41, 04-43, 04-44</a:t>
            </a:r>
          </a:p>
          <a:p xmlns:a="http://schemas.openxmlformats.org/drawingml/2006/main">
            <a:r>
              <a:t/>
            </a:r>
          </a:p>
          <a:p xmlns:a="http://schemas.openxmlformats.org/drawingml/2006/main">
            <a:r>
              <a:t>FR4 다중 업무 상호작용</a:t>
            </a:r>
          </a:p>
          <a:p xmlns:a="http://schemas.openxmlformats.org/drawingml/2006/main">
            <a:r>
              <a:t>여러 업무의 질문, 진행 상황, 결과와 사용자 후속 지시를 각각 해당 업무에 연결할 수 있어야 한다.</a:t>
            </a:r>
          </a:p>
          <a:p xmlns:a="http://schemas.openxmlformats.org/drawingml/2006/main">
            <a:r>
              <a:t>관련 DP: 04-42, 04-43, 04-44</a:t>
            </a:r>
          </a:p>
          <a:p xmlns:a="http://schemas.openxmlformats.org/drawingml/2006/main">
            <a:r>
              <a:t/>
            </a:r>
          </a:p>
          <a:p xmlns:a="http://schemas.openxmlformats.org/drawingml/2006/main">
            <a:r>
              <a:t>FR5 업무 연속성 유지</a:t>
            </a:r>
          </a:p>
          <a:p xmlns:a="http://schemas.openxmlformats.org/drawingml/2006/main">
            <a:r>
              <a:t>음성 연결 종료, 대화 전환 또는 VIA 재시작 이후에도 기존 업무를 중복 실행 없이 확인 가능한 상태로 이어갈 수 있어야 한다.</a:t>
            </a:r>
          </a:p>
          <a:p xmlns:a="http://schemas.openxmlformats.org/drawingml/2006/main">
            <a:r>
              <a:t>관련 DP: 04-42</a:t>
            </a:r>
          </a:p>
          <a:p xmlns:a="http://schemas.openxmlformats.org/drawingml/2006/main">
            <a:r>
              <a:t/>
            </a:r>
          </a:p>
          <a:p xmlns:a="http://schemas.openxmlformats.org/drawingml/2006/main">
            <a:r>
              <a:t>FR6 과거 맥락 활용</a:t>
            </a:r>
          </a:p>
          <a:p xmlns:a="http://schemas.openxmlformats.org/drawingml/2006/main">
            <a:r>
              <a:t>이전 대화의 정정 내용, 업무 결과와 허용된 사용자 기억을 현재 요청에 필요한 맥락으로 활용할 수 있어야 한다.</a:t>
            </a:r>
          </a:p>
          <a:p xmlns:a="http://schemas.openxmlformats.org/drawingml/2006/main">
            <a:r>
              <a:t>관련 DP: 04-45</a:t>
            </a:r>
          </a:p>
          <a:p xmlns:a="http://schemas.openxmlformats.org/drawingml/2006/main">
            <a:r>
              <a:t/>
            </a:r>
          </a:p>
          <a:p xmlns:a="http://schemas.openxmlformats.org/drawingml/2006/main">
            <a:r>
              <a:t>C1 온디바이스 Omni 공유</a:t>
            </a:r>
          </a:p>
          <a:p xmlns:a="http://schemas.openxmlformats.org/drawingml/2006/main">
            <a:r>
              <a:t>음성 대화와 요청 의미 해석은 사용자 PC에 적재된 하나의 Omni 모델 가중치를 공유해야 한다.</a:t>
            </a:r>
          </a:p>
          <a:p xmlns:a="http://schemas.openxmlformats.org/drawingml/2006/main">
            <a:r>
              <a:t>관련 DP: 04-41, 04-43, 04-44, 04-45</a:t>
            </a:r>
          </a:p>
          <a:p xmlns:a="http://schemas.openxmlformats.org/drawingml/2006/main">
            <a:r>
              <a:t/>
            </a:r>
          </a:p>
          <a:p xmlns:a="http://schemas.openxmlformats.org/drawingml/2006/main">
            <a:r>
              <a:t>C2 업무 실행 위임</a:t>
            </a:r>
          </a:p>
          <a:p xmlns:a="http://schemas.openxmlformats.org/drawingml/2006/main">
            <a:r>
              <a:t>실제 업무 수행에 필요한 도메인 추론, 계획, 도구 선택과 실행은 Downstream Agent에 위임해야 한다.</a:t>
            </a:r>
          </a:p>
          <a:p xmlns:a="http://schemas.openxmlformats.org/drawingml/2006/main">
            <a:r>
              <a:t>관련 DP: 04-41, 04-42, 04-43</a:t>
            </a:r>
          </a:p>
          <a:p xmlns:a="http://schemas.openxmlformats.org/drawingml/2006/main">
            <a:r>
              <a:t/>
            </a:r>
          </a:p>
          <a:p xmlns:a="http://schemas.openxmlformats.org/drawingml/2006/main">
            <a:r>
              <a:t>관련 설계 문서</a:t>
            </a:r>
          </a:p>
          <a:p xmlns:a="http://schemas.openxmlformats.org/drawingml/2006/main">
            <a:r>
              <a:t/>
            </a:r>
          </a:p>
          <a:p xmlns:a="http://schemas.openxmlformats.org/drawingml/2006/main">
            <a:r>
              <a:t>- [04-41 요청 의미 해결](../architecture/12-decisions/decision-packages/04-41-request-resolution-control.md)</a:t>
            </a:r>
          </a:p>
          <a:p xmlns:a="http://schemas.openxmlformats.org/drawingml/2006/main">
            <a:r>
              <a:t>- [04-42 대화와 업무의 수명](../architecture/12-decisions/decision-packages/04-42-lifecycle-ownership.md)</a:t>
            </a:r>
          </a:p>
          <a:p xmlns:a="http://schemas.openxmlformats.org/drawingml/2006/main">
            <a:r>
              <a:t>- [04-43 요청 이해의 판단 책임](../architecture/12-decisions/decision-packages/04-43-request-interpretation.md)</a:t>
            </a:r>
          </a:p>
          <a:p xmlns:a="http://schemas.openxmlformats.org/drawingml/2006/main">
            <a:r>
              <a:t>- [04-44 지속 대화 실행](../architecture/12-decisions/decision-packages/04-44-continuous-interaction.md)</a:t>
            </a:r>
          </a:p>
          <a:p xmlns:a="http://schemas.openxmlformats.org/drawingml/2006/main">
            <a:r>
              <a:t>- [04-45 기억과 Context](../architecture/12-decisions/decision-packages/04-45-memory-and-context.md)</a:t>
            </a:r>
          </a:p>
          <a:p xmlns:a="http://schemas.openxmlformats.org/drawingml/2006/main">
            <a:r>
              <a:t/>
            </a:r>
          </a:p>
          <a:p xmlns:a="http://schemas.openxmlformats.org/drawingml/2006/main">
            <a:r>
              <a:t>디자인 참고: 사용자 제공 조제현_09_기능요구사항및제약사항.png의 기능 요구사항 상단 표와 제약사항 하단 표. 관련 DP 열을 추가하여 한 장에 배치했다.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88dcaaf056047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33fb023a9a497a" /><Relationship Type="http://schemas.openxmlformats.org/officeDocument/2006/relationships/slideLayout" Target="/ppt/slideLayouts/slideLayout1.xml" Id="R8005d6fd879c47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05d6fd879c47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09acdadd3f44d1a" /><Relationship Type="http://schemas.openxmlformats.org/officeDocument/2006/relationships/notesSlide" Target="/ppt/notesSlides/notesSlide1.xml" Id="Rf326d77946fc4f9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D7A081B1-32D6-4647-BF3C-4BDC8B1CFD85}"/>
              </a:ext>
            </a:extLst>
          </p:cNvPr>
          <p:cNvSpPr>
            <a:spLocks xmlns:a="http://schemas.openxmlformats.org/drawingml/2006/main" noGrp="1"/>
          </p:cNvSpPr>
          <p:nvPr/>
        </p:nvSpPr>
        <p:spPr>
          <a:xfrm xmlns:a="http://schemas.openxmlformats.org/drawingml/2006/main">
            <a:off x="457200" y="304800"/>
            <a:ext cx="173736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800" b="1">
                <a:solidFill>
                  <a:srgbClr val="202B35"/>
                </a:solidFill>
                <a:latin typeface="Apple SD Gothic Neo"/>
                <a:ea typeface="Apple SD Gothic Neo"/>
                <a:cs typeface="Apple SD Gothic Neo"/>
              </a:defRPr>
            </a:pPr>
            <a:r>
              <a:rPr sz="4800" b="1">
                <a:solidFill>
                  <a:srgbClr val="202B35"/>
                </a:solidFill>
                <a:latin typeface="Apple SD Gothic Neo"/>
                <a:ea typeface="Apple SD Gothic Neo"/>
                <a:cs typeface="Apple SD Gothic Neo"/>
              </a:rPr>
              <a:t>기능 요구사항 및 제약사항</a:t>
            </a:r>
          </a:p>
        </p:txBody>
      </p:sp>
      <p:sp>
        <p:nvSpPr>
          <p:cNvPr id="2" name="functional-heading">
            <a:extLst xmlns:a="http://schemas.openxmlformats.org/drawingml/2006/main">
              <a:ext uri="{FF2B5EF4-FFF2-40B4-BE49-F238E27FC236}">
                <a16:creationId xmlns:a16="http://schemas.microsoft.com/office/drawing/2014/main" id="{C21D7758-B9C9-4B05-8BF3-17D954E2D432}"/>
              </a:ext>
            </a:extLst>
          </p:cNvPr>
          <p:cNvSpPr>
            <a:spLocks xmlns:a="http://schemas.openxmlformats.org/drawingml/2006/main" noGrp="1"/>
          </p:cNvSpPr>
          <p:nvPr/>
        </p:nvSpPr>
        <p:spPr>
          <a:xfrm xmlns:a="http://schemas.openxmlformats.org/drawingml/2006/main">
            <a:off x="457200" y="1266825"/>
            <a:ext cx="17373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700" b="1">
                <a:solidFill>
                  <a:srgbClr val="2873B9"/>
                </a:solidFill>
                <a:latin typeface="Apple SD Gothic Neo"/>
                <a:ea typeface="Apple SD Gothic Neo"/>
                <a:cs typeface="Apple SD Gothic Neo"/>
              </a:defRPr>
            </a:pPr>
            <a:r>
              <a:rPr sz="2700" b="1">
                <a:solidFill>
                  <a:srgbClr val="2873B9"/>
                </a:solidFill>
                <a:latin typeface="Apple SD Gothic Neo"/>
                <a:ea typeface="Apple SD Gothic Neo"/>
                <a:cs typeface="Apple SD Gothic Neo"/>
              </a:rPr>
              <a:t>기능 요구사항</a:t>
            </a:r>
          </a:p>
        </p:txBody>
      </p:sp>
      <p:graphicFrame>
        <p:nvGraphicFramePr>
          <p:cNvPr id="9" name=""/>
          <p:cNvGraphicFramePr/>
          <p:nvPr/>
        </p:nvGraphicFramePr>
        <p:xfrm>
          <a:off xmlns:a="http://schemas.openxmlformats.org/drawingml/2006/main" x="457200" y="1809750"/>
          <a:ext xmlns:a="http://schemas.openxmlformats.org/drawingml/2006/main" cx="17373600" cy="4991100"/>
        </p:xfrm>
        <a:graphic xmlns:a="http://schemas.openxmlformats.org/drawingml/2006/main">
          <a:graphicData uri="http://schemas.openxmlformats.org/drawingml/2006/table">
            <a:tbl>
              <a:tblPr firstRow="0" bandRow="0"/>
              <a:tblGrid>
                <a:gridCol w="952500"/>
                <a:gridCol w="3333750"/>
                <a:gridCol w="10572750"/>
                <a:gridCol w="2514600"/>
              </a:tblGrid>
              <a:tr h="476250">
                <a:tc>
                  <a:txBody>
                    <a:bodyPr/>
                    <a:lstStyle/>
                    <a:p>
                      <a:pPr algn="ctr"/>
                      <a:r>
                        <a:rPr sz="2025" b="1">
                          <a:solidFill>
                            <a:srgbClr val="FFFFFF"/>
                          </a:solidFill>
                          <a:latin typeface="Apple SD Gothic Neo"/>
                          <a:ea typeface="Apple SD Gothic Neo"/>
                          <a:cs typeface="Apple SD Gothic Neo"/>
                        </a:rPr>
                        <a:t>ID</a:t>
                      </a:r>
                    </a:p>
                  </a:txBody>
                  <a:tcPr marL="95250" marR="95250" marT="19050" marB="19050" anchor="ctr">
                    <a:solidFill>
                      <a:srgbClr val="2873B9"/>
                    </a:solidFill>
                  </a:tcPr>
                </a:tc>
                <a:tc>
                  <a:txBody>
                    <a:bodyPr/>
                    <a:lstStyle/>
                    <a:p>
                      <a:pPr algn="ctr"/>
                      <a:r>
                        <a:rPr sz="2025" b="1">
                          <a:solidFill>
                            <a:srgbClr val="FFFFFF"/>
                          </a:solidFill>
                          <a:latin typeface="Apple SD Gothic Neo"/>
                          <a:ea typeface="Apple SD Gothic Neo"/>
                          <a:cs typeface="Apple SD Gothic Neo"/>
                        </a:rPr>
                        <a:t>기능 요구사항명</a:t>
                      </a:r>
                    </a:p>
                  </a:txBody>
                  <a:tcPr marL="95250" marR="95250" marT="19050" marB="19050" anchor="ctr">
                    <a:solidFill>
                      <a:srgbClr val="2873B9"/>
                    </a:solidFill>
                  </a:tcPr>
                </a:tc>
                <a:tc>
                  <a:txBody>
                    <a:bodyPr/>
                    <a:lstStyle/>
                    <a:p>
                      <a:pPr algn="l"/>
                      <a:r>
                        <a:rPr sz="2025" b="1">
                          <a:solidFill>
                            <a:srgbClr val="FFFFFF"/>
                          </a:solidFill>
                          <a:latin typeface="Apple SD Gothic Neo"/>
                          <a:ea typeface="Apple SD Gothic Neo"/>
                          <a:cs typeface="Apple SD Gothic Neo"/>
                        </a:rPr>
                        <a:t>설명</a:t>
                      </a:r>
                    </a:p>
                  </a:txBody>
                  <a:tcPr marL="152400" marR="152400" marT="19050" marB="19050" anchor="ctr">
                    <a:solidFill>
                      <a:srgbClr val="2873B9"/>
                    </a:solidFill>
                  </a:tcPr>
                </a:tc>
                <a:tc>
                  <a:txBody>
                    <a:bodyPr/>
                    <a:lstStyle/>
                    <a:p>
                      <a:pPr algn="ctr"/>
                      <a:r>
                        <a:rPr sz="2025" b="1">
                          <a:solidFill>
                            <a:srgbClr val="FFFFFF"/>
                          </a:solidFill>
                          <a:latin typeface="Apple SD Gothic Neo"/>
                          <a:ea typeface="Apple SD Gothic Neo"/>
                          <a:cs typeface="Apple SD Gothic Neo"/>
                        </a:rPr>
                        <a:t>관련 DP</a:t>
                      </a:r>
                    </a:p>
                  </a:txBody>
                  <a:tcPr marL="95250" marR="95250" marT="19050" marB="19050" anchor="ctr">
                    <a:solidFill>
                      <a:srgbClr val="2873B9"/>
                    </a:solidFill>
                  </a:tcPr>
                </a:tc>
              </a:tr>
              <a:tr h="752475">
                <a:tc>
                  <a:txBody>
                    <a:bodyPr/>
                    <a:lstStyle/>
                    <a:p>
                      <a:pPr algn="ctr"/>
                      <a:r>
                        <a:rPr sz="2175" b="1">
                          <a:solidFill>
                            <a:srgbClr val="2873B9"/>
                          </a:solidFill>
                          <a:latin typeface="Apple SD Gothic Neo"/>
                          <a:ea typeface="Apple SD Gothic Neo"/>
                          <a:cs typeface="Apple SD Gothic Neo"/>
                        </a:rPr>
                        <a:t>FR1</a:t>
                      </a:r>
                    </a:p>
                  </a:txBody>
                  <a:tcPr marL="95250" marR="95250" marT="19050" marB="19050" anchor="ctr">
                    <a:solidFill>
                      <a:srgbClr val="EEF4F9"/>
                    </a:solidFill>
                  </a:tcPr>
                </a:tc>
                <a:tc>
                  <a:txBody>
                    <a:bodyPr/>
                    <a:lstStyle/>
                    <a:p>
                      <a:pPr algn="ctr"/>
                      <a:r>
                        <a:rPr sz="2175" b="1">
                          <a:solidFill>
                            <a:srgbClr val="202B35"/>
                          </a:solidFill>
                          <a:latin typeface="Apple SD Gothic Neo"/>
                          <a:ea typeface="Apple SD Gothic Neo"/>
                          <a:cs typeface="Apple SD Gothic Neo"/>
                        </a:rPr>
                        <a:t>지속 대화 처리</a:t>
                      </a:r>
                    </a:p>
                  </a:txBody>
                  <a:tcPr marL="95250" marR="95250" marT="19050" marB="19050" anchor="ctr">
                    <a:solidFill>
                      <a:srgbClr val="EEF4F9"/>
                    </a:solidFill>
                  </a:tcPr>
                </a:tc>
                <a:tc>
                  <a:txBody>
                    <a:bodyPr/>
                    <a:lstStyle/>
                    <a:p>
                      <a:pPr algn="l"/>
                      <a:r>
                        <a:rPr sz="2175" b="0">
                          <a:solidFill>
                            <a:srgbClr val="202B35"/>
                          </a:solidFill>
                          <a:latin typeface="Apple SD Gothic Neo"/>
                          <a:ea typeface="Apple SD Gothic Neo"/>
                          <a:cs typeface="Apple SD Gothic Neo"/>
                        </a:rPr>
                        <a:t>VIA가 요청을 처리하거나 응답하는 동안에도 사용자의 음성 또는 텍스트 입력을 받아</a:t>
                      </a:r>
                    </a:p>
                    <a:p>
                      <a:pPr algn="l"/>
                      <a:r>
                        <a:rPr sz="2175" b="0">
                          <a:solidFill>
                            <a:srgbClr val="202B35"/>
                          </a:solidFill>
                          <a:latin typeface="Apple SD Gothic Neo"/>
                          <a:ea typeface="Apple SD Gothic Neo"/>
                          <a:cs typeface="Apple SD Gothic Neo"/>
                        </a:rPr>
                        <a:t>대화를 이어갈 수 있어야 한다.</a:t>
                      </a:r>
                    </a:p>
                  </a:txBody>
                  <a:tcPr marL="152400" marR="152400" marT="19050" marB="19050" anchor="ctr">
                    <a:solidFill>
                      <a:srgbClr val="EEF4F9"/>
                    </a:solidFill>
                  </a:tcPr>
                </a:tc>
                <a:tc>
                  <a:txBody>
                    <a:bodyPr/>
                    <a:lstStyle/>
                    <a:p>
                      <a:pPr algn="ctr"/>
                      <a:r>
                        <a:rPr sz="1950" b="0">
                          <a:solidFill>
                            <a:srgbClr val="202B35"/>
                          </a:solidFill>
                          <a:latin typeface="Apple SD Gothic Neo"/>
                          <a:ea typeface="Apple SD Gothic Neo"/>
                          <a:cs typeface="Apple SD Gothic Neo"/>
                        </a:rPr>
                        <a:t>04-44</a:t>
                      </a:r>
                    </a:p>
                  </a:txBody>
                  <a:tcPr marL="95250" marR="95250" marT="19050" marB="19050" anchor="ctr">
                    <a:solidFill>
                      <a:srgbClr val="EEF4F9"/>
                    </a:solidFill>
                  </a:tcPr>
                </a:tc>
              </a:tr>
              <a:tr h="752475">
                <a:tc>
                  <a:txBody>
                    <a:bodyPr/>
                    <a:lstStyle/>
                    <a:p>
                      <a:pPr algn="ctr"/>
                      <a:r>
                        <a:rPr sz="2175" b="1">
                          <a:solidFill>
                            <a:srgbClr val="2873B9"/>
                          </a:solidFill>
                          <a:latin typeface="Apple SD Gothic Neo"/>
                          <a:ea typeface="Apple SD Gothic Neo"/>
                          <a:cs typeface="Apple SD Gothic Neo"/>
                        </a:rPr>
                        <a:t>FR2</a:t>
                      </a:r>
                    </a:p>
                  </a:txBody>
                  <a:tcPr marL="95250" marR="95250" marT="19050" marB="19050" anchor="ctr">
                    <a:solidFill>
                      <a:srgbClr val="F8FAFC"/>
                    </a:solidFill>
                  </a:tcPr>
                </a:tc>
                <a:tc>
                  <a:txBody>
                    <a:bodyPr/>
                    <a:lstStyle/>
                    <a:p>
                      <a:pPr algn="ctr"/>
                      <a:r>
                        <a:rPr sz="2175" b="1">
                          <a:solidFill>
                            <a:srgbClr val="202B35"/>
                          </a:solidFill>
                          <a:latin typeface="Apple SD Gothic Neo"/>
                          <a:ea typeface="Apple SD Gothic Neo"/>
                          <a:cs typeface="Apple SD Gothic Neo"/>
                        </a:rPr>
                        <a:t>맥락 기반 요청 해석</a:t>
                      </a:r>
                    </a:p>
                  </a:txBody>
                  <a:tcPr marL="95250" marR="95250" marT="19050" marB="19050" anchor="ctr">
                    <a:solidFill>
                      <a:srgbClr val="F8FAFC"/>
                    </a:solidFill>
                  </a:tcPr>
                </a:tc>
                <a:tc>
                  <a:txBody>
                    <a:bodyPr/>
                    <a:lstStyle/>
                    <a:p>
                      <a:pPr algn="l"/>
                      <a:r>
                        <a:rPr sz="2175" b="0">
                          <a:solidFill>
                            <a:srgbClr val="202B35"/>
                          </a:solidFill>
                          <a:latin typeface="Apple SD Gothic Neo"/>
                          <a:ea typeface="Apple SD Gothic Neo"/>
                          <a:cs typeface="Apple SD Gothic Neo"/>
                        </a:rPr>
                        <a:t>화면, 자료와 대화 맥락을 이용해 사용자 입력을 목표, 대상, 조건과 관련 업무가</a:t>
                      </a:r>
                    </a:p>
                    <a:p>
                      <a:pPr algn="l"/>
                      <a:r>
                        <a:rPr sz="2175" b="0">
                          <a:solidFill>
                            <a:srgbClr val="202B35"/>
                          </a:solidFill>
                          <a:latin typeface="Apple SD Gothic Neo"/>
                          <a:ea typeface="Apple SD Gothic Neo"/>
                          <a:cs typeface="Apple SD Gothic Neo"/>
                        </a:rPr>
                        <a:t>식별된 요청으로 해석할 수 있어야 한다.</a:t>
                      </a:r>
                    </a:p>
                  </a:txBody>
                  <a:tcPr marL="152400" marR="152400" marT="19050" marB="19050" anchor="ctr">
                    <a:solidFill>
                      <a:srgbClr val="F8FAFC"/>
                    </a:solidFill>
                  </a:tcPr>
                </a:tc>
                <a:tc>
                  <a:txBody>
                    <a:bodyPr/>
                    <a:lstStyle/>
                    <a:p>
                      <a:pPr algn="ctr"/>
                      <a:r>
                        <a:rPr sz="1950" b="0">
                          <a:solidFill>
                            <a:srgbClr val="202B35"/>
                          </a:solidFill>
                          <a:latin typeface="Apple SD Gothic Neo"/>
                          <a:ea typeface="Apple SD Gothic Neo"/>
                          <a:cs typeface="Apple SD Gothic Neo"/>
                        </a:rPr>
                        <a:t>04-41, 04-43</a:t>
                      </a:r>
                    </a:p>
                  </a:txBody>
                  <a:tcPr marL="95250" marR="95250" marT="19050" marB="19050" anchor="ctr">
                    <a:solidFill>
                      <a:srgbClr val="F8FAFC"/>
                    </a:solidFill>
                  </a:tcPr>
                </a:tc>
              </a:tr>
              <a:tr h="752475">
                <a:tc>
                  <a:txBody>
                    <a:bodyPr/>
                    <a:lstStyle/>
                    <a:p>
                      <a:pPr algn="ctr"/>
                      <a:r>
                        <a:rPr sz="2175" b="1">
                          <a:solidFill>
                            <a:srgbClr val="2873B9"/>
                          </a:solidFill>
                          <a:latin typeface="Apple SD Gothic Neo"/>
                          <a:ea typeface="Apple SD Gothic Neo"/>
                          <a:cs typeface="Apple SD Gothic Neo"/>
                        </a:rPr>
                        <a:t>FR3</a:t>
                      </a:r>
                    </a:p>
                  </a:txBody>
                  <a:tcPr marL="95250" marR="95250" marT="19050" marB="19050" anchor="ctr">
                    <a:solidFill>
                      <a:srgbClr val="EEF4F9"/>
                    </a:solidFill>
                  </a:tcPr>
                </a:tc>
                <a:tc>
                  <a:txBody>
                    <a:bodyPr/>
                    <a:lstStyle/>
                    <a:p>
                      <a:pPr algn="ctr"/>
                      <a:r>
                        <a:rPr sz="2175" b="1">
                          <a:solidFill>
                            <a:srgbClr val="202B35"/>
                          </a:solidFill>
                          <a:latin typeface="Apple SD Gothic Neo"/>
                          <a:ea typeface="Apple SD Gothic Neo"/>
                          <a:cs typeface="Apple SD Gothic Neo"/>
                        </a:rPr>
                        <a:t>복합 요청 처리</a:t>
                      </a:r>
                    </a:p>
                  </a:txBody>
                  <a:tcPr marL="95250" marR="95250" marT="19050" marB="19050" anchor="ctr">
                    <a:solidFill>
                      <a:srgbClr val="EEF4F9"/>
                    </a:solidFill>
                  </a:tcPr>
                </a:tc>
                <a:tc>
                  <a:txBody>
                    <a:bodyPr/>
                    <a:lstStyle/>
                    <a:p>
                      <a:pPr algn="l"/>
                      <a:r>
                        <a:rPr sz="2175" b="0">
                          <a:solidFill>
                            <a:srgbClr val="202B35"/>
                          </a:solidFill>
                          <a:latin typeface="Apple SD Gothic Neo"/>
                          <a:ea typeface="Apple SD Gothic Neo"/>
                          <a:cs typeface="Apple SD Gothic Neo"/>
                        </a:rPr>
                        <a:t>한 입력에 포함된 여러 요청을 사용자가 명시한 순서, 조건과 결과 의존 관계에 따라</a:t>
                      </a:r>
                    </a:p>
                    <a:p>
                      <a:pPr algn="l"/>
                      <a:r>
                        <a:rPr sz="2175" b="0">
                          <a:solidFill>
                            <a:srgbClr val="202B35"/>
                          </a:solidFill>
                          <a:latin typeface="Apple SD Gothic Neo"/>
                          <a:ea typeface="Apple SD Gothic Neo"/>
                          <a:cs typeface="Apple SD Gothic Neo"/>
                        </a:rPr>
                        <a:t>처리할 수 있어야 한다.</a:t>
                      </a:r>
                    </a:p>
                  </a:txBody>
                  <a:tcPr marL="152400" marR="152400" marT="19050" marB="19050" anchor="ctr">
                    <a:solidFill>
                      <a:srgbClr val="EEF4F9"/>
                    </a:solidFill>
                  </a:tcPr>
                </a:tc>
                <a:tc>
                  <a:txBody>
                    <a:bodyPr/>
                    <a:lstStyle/>
                    <a:p>
                      <a:pPr algn="ctr"/>
                      <a:r>
                        <a:rPr sz="1950" b="0">
                          <a:solidFill>
                            <a:srgbClr val="202B35"/>
                          </a:solidFill>
                          <a:latin typeface="Apple SD Gothic Neo"/>
                          <a:ea typeface="Apple SD Gothic Neo"/>
                          <a:cs typeface="Apple SD Gothic Neo"/>
                        </a:rPr>
                        <a:t>04-41, 04-43,</a:t>
                      </a:r>
                    </a:p>
                    <a:p>
                      <a:pPr algn="ctr"/>
                      <a:r>
                        <a:rPr sz="1950" b="0">
                          <a:solidFill>
                            <a:srgbClr val="202B35"/>
                          </a:solidFill>
                          <a:latin typeface="Apple SD Gothic Neo"/>
                          <a:ea typeface="Apple SD Gothic Neo"/>
                          <a:cs typeface="Apple SD Gothic Neo"/>
                        </a:rPr>
                        <a:t>04-44</a:t>
                      </a:r>
                    </a:p>
                  </a:txBody>
                  <a:tcPr marL="95250" marR="95250" marT="19050" marB="19050" anchor="ctr">
                    <a:solidFill>
                      <a:srgbClr val="EEF4F9"/>
                    </a:solidFill>
                  </a:tcPr>
                </a:tc>
              </a:tr>
              <a:tr h="752475">
                <a:tc>
                  <a:txBody>
                    <a:bodyPr/>
                    <a:lstStyle/>
                    <a:p>
                      <a:pPr algn="ctr"/>
                      <a:r>
                        <a:rPr sz="2175" b="1">
                          <a:solidFill>
                            <a:srgbClr val="2873B9"/>
                          </a:solidFill>
                          <a:latin typeface="Apple SD Gothic Neo"/>
                          <a:ea typeface="Apple SD Gothic Neo"/>
                          <a:cs typeface="Apple SD Gothic Neo"/>
                        </a:rPr>
                        <a:t>FR4</a:t>
                      </a:r>
                    </a:p>
                  </a:txBody>
                  <a:tcPr marL="95250" marR="95250" marT="19050" marB="19050" anchor="ctr">
                    <a:solidFill>
                      <a:srgbClr val="F8FAFC"/>
                    </a:solidFill>
                  </a:tcPr>
                </a:tc>
                <a:tc>
                  <a:txBody>
                    <a:bodyPr/>
                    <a:lstStyle/>
                    <a:p>
                      <a:pPr algn="ctr"/>
                      <a:r>
                        <a:rPr sz="2175" b="1">
                          <a:solidFill>
                            <a:srgbClr val="202B35"/>
                          </a:solidFill>
                          <a:latin typeface="Apple SD Gothic Neo"/>
                          <a:ea typeface="Apple SD Gothic Neo"/>
                          <a:cs typeface="Apple SD Gothic Neo"/>
                        </a:rPr>
                        <a:t>다중 업무 상호작용</a:t>
                      </a:r>
                    </a:p>
                  </a:txBody>
                  <a:tcPr marL="95250" marR="95250" marT="19050" marB="19050" anchor="ctr">
                    <a:solidFill>
                      <a:srgbClr val="F8FAFC"/>
                    </a:solidFill>
                  </a:tcPr>
                </a:tc>
                <a:tc>
                  <a:txBody>
                    <a:bodyPr/>
                    <a:lstStyle/>
                    <a:p>
                      <a:pPr algn="l"/>
                      <a:r>
                        <a:rPr sz="2175" b="0">
                          <a:solidFill>
                            <a:srgbClr val="202B35"/>
                          </a:solidFill>
                          <a:latin typeface="Apple SD Gothic Neo"/>
                          <a:ea typeface="Apple SD Gothic Neo"/>
                          <a:cs typeface="Apple SD Gothic Neo"/>
                        </a:rPr>
                        <a:t>여러 업무의 질문, 진행 상황, 결과와 사용자 후속 지시를 각각</a:t>
                      </a:r>
                    </a:p>
                    <a:p>
                      <a:pPr algn="l"/>
                      <a:r>
                        <a:rPr sz="2175" b="0">
                          <a:solidFill>
                            <a:srgbClr val="202B35"/>
                          </a:solidFill>
                          <a:latin typeface="Apple SD Gothic Neo"/>
                          <a:ea typeface="Apple SD Gothic Neo"/>
                          <a:cs typeface="Apple SD Gothic Neo"/>
                        </a:rPr>
                        <a:t>해당 업무에 연결할 수 있어야 한다.</a:t>
                      </a:r>
                    </a:p>
                  </a:txBody>
                  <a:tcPr marL="152400" marR="152400" marT="19050" marB="19050" anchor="ctr">
                    <a:solidFill>
                      <a:srgbClr val="F8FAFC"/>
                    </a:solidFill>
                  </a:tcPr>
                </a:tc>
                <a:tc>
                  <a:txBody>
                    <a:bodyPr/>
                    <a:lstStyle/>
                    <a:p>
                      <a:pPr algn="ctr"/>
                      <a:r>
                        <a:rPr sz="1950" b="0">
                          <a:solidFill>
                            <a:srgbClr val="202B35"/>
                          </a:solidFill>
                          <a:latin typeface="Apple SD Gothic Neo"/>
                          <a:ea typeface="Apple SD Gothic Neo"/>
                          <a:cs typeface="Apple SD Gothic Neo"/>
                        </a:rPr>
                        <a:t>04-42, 04-43,</a:t>
                      </a:r>
                    </a:p>
                    <a:p>
                      <a:pPr algn="ctr"/>
                      <a:r>
                        <a:rPr sz="1950" b="0">
                          <a:solidFill>
                            <a:srgbClr val="202B35"/>
                          </a:solidFill>
                          <a:latin typeface="Apple SD Gothic Neo"/>
                          <a:ea typeface="Apple SD Gothic Neo"/>
                          <a:cs typeface="Apple SD Gothic Neo"/>
                        </a:rPr>
                        <a:t>04-44</a:t>
                      </a:r>
                    </a:p>
                  </a:txBody>
                  <a:tcPr marL="95250" marR="95250" marT="19050" marB="19050" anchor="ctr">
                    <a:solidFill>
                      <a:srgbClr val="F8FAFC"/>
                    </a:solidFill>
                  </a:tcPr>
                </a:tc>
              </a:tr>
              <a:tr h="752475">
                <a:tc>
                  <a:txBody>
                    <a:bodyPr/>
                    <a:lstStyle/>
                    <a:p>
                      <a:pPr algn="ctr"/>
                      <a:r>
                        <a:rPr sz="2175" b="1">
                          <a:solidFill>
                            <a:srgbClr val="2873B9"/>
                          </a:solidFill>
                          <a:latin typeface="Apple SD Gothic Neo"/>
                          <a:ea typeface="Apple SD Gothic Neo"/>
                          <a:cs typeface="Apple SD Gothic Neo"/>
                        </a:rPr>
                        <a:t>FR5</a:t>
                      </a:r>
                    </a:p>
                  </a:txBody>
                  <a:tcPr marL="95250" marR="95250" marT="19050" marB="19050" anchor="ctr">
                    <a:solidFill>
                      <a:srgbClr val="EEF4F9"/>
                    </a:solidFill>
                  </a:tcPr>
                </a:tc>
                <a:tc>
                  <a:txBody>
                    <a:bodyPr/>
                    <a:lstStyle/>
                    <a:p>
                      <a:pPr algn="ctr"/>
                      <a:r>
                        <a:rPr sz="2175" b="1">
                          <a:solidFill>
                            <a:srgbClr val="202B35"/>
                          </a:solidFill>
                          <a:latin typeface="Apple SD Gothic Neo"/>
                          <a:ea typeface="Apple SD Gothic Neo"/>
                          <a:cs typeface="Apple SD Gothic Neo"/>
                        </a:rPr>
                        <a:t>업무 연속성 유지</a:t>
                      </a:r>
                    </a:p>
                  </a:txBody>
                  <a:tcPr marL="95250" marR="95250" marT="19050" marB="19050" anchor="ctr">
                    <a:solidFill>
                      <a:srgbClr val="EEF4F9"/>
                    </a:solidFill>
                  </a:tcPr>
                </a:tc>
                <a:tc>
                  <a:txBody>
                    <a:bodyPr/>
                    <a:lstStyle/>
                    <a:p>
                      <a:pPr algn="l"/>
                      <a:r>
                        <a:rPr sz="2175" b="0">
                          <a:solidFill>
                            <a:srgbClr val="202B35"/>
                          </a:solidFill>
                          <a:latin typeface="Apple SD Gothic Neo"/>
                          <a:ea typeface="Apple SD Gothic Neo"/>
                          <a:cs typeface="Apple SD Gothic Neo"/>
                        </a:rPr>
                        <a:t>음성 연결 종료, 대화 전환 또는 VIA 재시작 이후에도 기존 업무를</a:t>
                      </a:r>
                    </a:p>
                    <a:p>
                      <a:pPr algn="l"/>
                      <a:r>
                        <a:rPr sz="2175" b="0">
                          <a:solidFill>
                            <a:srgbClr val="202B35"/>
                          </a:solidFill>
                          <a:latin typeface="Apple SD Gothic Neo"/>
                          <a:ea typeface="Apple SD Gothic Neo"/>
                          <a:cs typeface="Apple SD Gothic Neo"/>
                        </a:rPr>
                        <a:t>중복 실행 없이 확인 가능한 상태로 이어갈 수 있어야 한다.</a:t>
                      </a:r>
                    </a:p>
                  </a:txBody>
                  <a:tcPr marL="152400" marR="152400" marT="19050" marB="19050" anchor="ctr">
                    <a:solidFill>
                      <a:srgbClr val="EEF4F9"/>
                    </a:solidFill>
                  </a:tcPr>
                </a:tc>
                <a:tc>
                  <a:txBody>
                    <a:bodyPr/>
                    <a:lstStyle/>
                    <a:p>
                      <a:pPr algn="ctr"/>
                      <a:r>
                        <a:rPr sz="1950" b="0">
                          <a:solidFill>
                            <a:srgbClr val="202B35"/>
                          </a:solidFill>
                          <a:latin typeface="Apple SD Gothic Neo"/>
                          <a:ea typeface="Apple SD Gothic Neo"/>
                          <a:cs typeface="Apple SD Gothic Neo"/>
                        </a:rPr>
                        <a:t>04-42</a:t>
                      </a:r>
                    </a:p>
                  </a:txBody>
                  <a:tcPr marL="95250" marR="95250" marT="19050" marB="19050" anchor="ctr">
                    <a:solidFill>
                      <a:srgbClr val="EEF4F9"/>
                    </a:solidFill>
                  </a:tcPr>
                </a:tc>
              </a:tr>
              <a:tr h="752475">
                <a:tc>
                  <a:txBody>
                    <a:bodyPr/>
                    <a:lstStyle/>
                    <a:p>
                      <a:pPr algn="ctr"/>
                      <a:r>
                        <a:rPr sz="2175" b="1">
                          <a:solidFill>
                            <a:srgbClr val="2873B9"/>
                          </a:solidFill>
                          <a:latin typeface="Apple SD Gothic Neo"/>
                          <a:ea typeface="Apple SD Gothic Neo"/>
                          <a:cs typeface="Apple SD Gothic Neo"/>
                        </a:rPr>
                        <a:t>FR6</a:t>
                      </a:r>
                    </a:p>
                  </a:txBody>
                  <a:tcPr marL="95250" marR="95250" marT="19050" marB="19050" anchor="ctr">
                    <a:solidFill>
                      <a:srgbClr val="F8FAFC"/>
                    </a:solidFill>
                  </a:tcPr>
                </a:tc>
                <a:tc>
                  <a:txBody>
                    <a:bodyPr/>
                    <a:lstStyle/>
                    <a:p>
                      <a:pPr algn="ctr"/>
                      <a:r>
                        <a:rPr sz="2175" b="1">
                          <a:solidFill>
                            <a:srgbClr val="202B35"/>
                          </a:solidFill>
                          <a:latin typeface="Apple SD Gothic Neo"/>
                          <a:ea typeface="Apple SD Gothic Neo"/>
                          <a:cs typeface="Apple SD Gothic Neo"/>
                        </a:rPr>
                        <a:t>과거 맥락 활용</a:t>
                      </a:r>
                    </a:p>
                  </a:txBody>
                  <a:tcPr marL="95250" marR="95250" marT="19050" marB="19050" anchor="ctr">
                    <a:solidFill>
                      <a:srgbClr val="F8FAFC"/>
                    </a:solidFill>
                  </a:tcPr>
                </a:tc>
                <a:tc>
                  <a:txBody>
                    <a:bodyPr/>
                    <a:lstStyle/>
                    <a:p>
                      <a:pPr algn="l"/>
                      <a:r>
                        <a:rPr sz="2175" b="0">
                          <a:solidFill>
                            <a:srgbClr val="202B35"/>
                          </a:solidFill>
                          <a:latin typeface="Apple SD Gothic Neo"/>
                          <a:ea typeface="Apple SD Gothic Neo"/>
                          <a:cs typeface="Apple SD Gothic Neo"/>
                        </a:rPr>
                        <a:t>이전 대화의 정정 내용, 업무 결과와 허용된 사용자 기억을</a:t>
                      </a:r>
                    </a:p>
                    <a:p>
                      <a:pPr algn="l"/>
                      <a:r>
                        <a:rPr sz="2175" b="0">
                          <a:solidFill>
                            <a:srgbClr val="202B35"/>
                          </a:solidFill>
                          <a:latin typeface="Apple SD Gothic Neo"/>
                          <a:ea typeface="Apple SD Gothic Neo"/>
                          <a:cs typeface="Apple SD Gothic Neo"/>
                        </a:rPr>
                        <a:t>현재 요청에 필요한 맥락으로 활용할 수 있어야 한다.</a:t>
                      </a:r>
                    </a:p>
                  </a:txBody>
                  <a:tcPr marL="152400" marR="152400" marT="19050" marB="19050" anchor="ctr">
                    <a:solidFill>
                      <a:srgbClr val="F8FAFC"/>
                    </a:solidFill>
                  </a:tcPr>
                </a:tc>
                <a:tc>
                  <a:txBody>
                    <a:bodyPr/>
                    <a:lstStyle/>
                    <a:p>
                      <a:pPr algn="ctr"/>
                      <a:r>
                        <a:rPr sz="1950" b="0">
                          <a:solidFill>
                            <a:srgbClr val="202B35"/>
                          </a:solidFill>
                          <a:latin typeface="Apple SD Gothic Neo"/>
                          <a:ea typeface="Apple SD Gothic Neo"/>
                          <a:cs typeface="Apple SD Gothic Neo"/>
                        </a:rPr>
                        <a:t>04-45</a:t>
                      </a:r>
                    </a:p>
                  </a:txBody>
                  <a:tcPr marL="95250" marR="95250" marT="19050" marB="19050" anchor="ctr">
                    <a:solidFill>
                      <a:srgbClr val="F8FAFC"/>
                    </a:solidFill>
                  </a:tcPr>
                </a:tc>
              </a:tr>
            </a:tbl>
          </a:graphicData>
        </a:graphic>
      </p:graphicFrame>
      <p:sp>
        <p:nvSpPr>
          <p:cNvPr id="4" name="constraints-heading">
            <a:extLst xmlns:a="http://schemas.openxmlformats.org/drawingml/2006/main">
              <a:ext uri="{FF2B5EF4-FFF2-40B4-BE49-F238E27FC236}">
                <a16:creationId xmlns:a16="http://schemas.microsoft.com/office/drawing/2014/main" id="{37CDE1A5-7772-4A42-AFC8-001B437AFC59}"/>
              </a:ext>
            </a:extLst>
          </p:cNvPr>
          <p:cNvSpPr>
            <a:spLocks xmlns:a="http://schemas.openxmlformats.org/drawingml/2006/main" noGrp="1"/>
          </p:cNvSpPr>
          <p:nvPr/>
        </p:nvSpPr>
        <p:spPr>
          <a:xfrm xmlns:a="http://schemas.openxmlformats.org/drawingml/2006/main">
            <a:off x="457200" y="7162800"/>
            <a:ext cx="17373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700" b="1">
                <a:solidFill>
                  <a:srgbClr val="B96D14"/>
                </a:solidFill>
                <a:latin typeface="Apple SD Gothic Neo"/>
                <a:ea typeface="Apple SD Gothic Neo"/>
                <a:cs typeface="Apple SD Gothic Neo"/>
              </a:defRPr>
            </a:pPr>
            <a:r>
              <a:rPr sz="2700" b="1">
                <a:solidFill>
                  <a:srgbClr val="B96D14"/>
                </a:solidFill>
                <a:latin typeface="Apple SD Gothic Neo"/>
                <a:ea typeface="Apple SD Gothic Neo"/>
                <a:cs typeface="Apple SD Gothic Neo"/>
              </a:rPr>
              <a:t>제약사항</a:t>
            </a:r>
          </a:p>
        </p:txBody>
      </p:sp>
      <p:graphicFrame>
        <p:nvGraphicFramePr>
          <p:cNvPr id="11" name=""/>
          <p:cNvGraphicFramePr/>
          <p:nvPr/>
        </p:nvGraphicFramePr>
        <p:xfrm>
          <a:off xmlns:a="http://schemas.openxmlformats.org/drawingml/2006/main" x="457200" y="7686675"/>
          <a:ext xmlns:a="http://schemas.openxmlformats.org/drawingml/2006/main" cx="17373600" cy="2076450"/>
        </p:xfrm>
        <a:graphic xmlns:a="http://schemas.openxmlformats.org/drawingml/2006/main">
          <a:graphicData uri="http://schemas.openxmlformats.org/drawingml/2006/table">
            <a:tbl>
              <a:tblPr firstRow="0" bandRow="0"/>
              <a:tblGrid>
                <a:gridCol w="952500"/>
                <a:gridCol w="3333750"/>
                <a:gridCol w="10572750"/>
                <a:gridCol w="2514600"/>
              </a:tblGrid>
              <a:tr h="476250">
                <a:tc>
                  <a:txBody>
                    <a:bodyPr/>
                    <a:lstStyle/>
                    <a:p>
                      <a:pPr algn="ctr"/>
                      <a:r>
                        <a:rPr sz="2025" b="1">
                          <a:solidFill>
                            <a:srgbClr val="FFFFFF"/>
                          </a:solidFill>
                          <a:latin typeface="Apple SD Gothic Neo"/>
                          <a:ea typeface="Apple SD Gothic Neo"/>
                          <a:cs typeface="Apple SD Gothic Neo"/>
                        </a:rPr>
                        <a:t>ID</a:t>
                      </a:r>
                    </a:p>
                  </a:txBody>
                  <a:tcPr marL="95250" marR="95250" marT="19050" marB="19050" anchor="ctr">
                    <a:solidFill>
                      <a:srgbClr val="B96D14"/>
                    </a:solidFill>
                  </a:tcPr>
                </a:tc>
                <a:tc>
                  <a:txBody>
                    <a:bodyPr/>
                    <a:lstStyle/>
                    <a:p>
                      <a:pPr algn="ctr"/>
                      <a:r>
                        <a:rPr sz="2025" b="1">
                          <a:solidFill>
                            <a:srgbClr val="FFFFFF"/>
                          </a:solidFill>
                          <a:latin typeface="Apple SD Gothic Neo"/>
                          <a:ea typeface="Apple SD Gothic Neo"/>
                          <a:cs typeface="Apple SD Gothic Neo"/>
                        </a:rPr>
                        <a:t>제약사항명</a:t>
                      </a:r>
                    </a:p>
                  </a:txBody>
                  <a:tcPr marL="95250" marR="95250" marT="19050" marB="19050" anchor="ctr">
                    <a:solidFill>
                      <a:srgbClr val="B96D14"/>
                    </a:solidFill>
                  </a:tcPr>
                </a:tc>
                <a:tc>
                  <a:txBody>
                    <a:bodyPr/>
                    <a:lstStyle/>
                    <a:p>
                      <a:pPr algn="l"/>
                      <a:r>
                        <a:rPr sz="2025" b="1">
                          <a:solidFill>
                            <a:srgbClr val="FFFFFF"/>
                          </a:solidFill>
                          <a:latin typeface="Apple SD Gothic Neo"/>
                          <a:ea typeface="Apple SD Gothic Neo"/>
                          <a:cs typeface="Apple SD Gothic Neo"/>
                        </a:rPr>
                        <a:t>설명</a:t>
                      </a:r>
                    </a:p>
                  </a:txBody>
                  <a:tcPr marL="152400" marR="152400" marT="19050" marB="19050" anchor="ctr">
                    <a:solidFill>
                      <a:srgbClr val="B96D14"/>
                    </a:solidFill>
                  </a:tcPr>
                </a:tc>
                <a:tc>
                  <a:txBody>
                    <a:bodyPr/>
                    <a:lstStyle/>
                    <a:p>
                      <a:pPr algn="ctr"/>
                      <a:r>
                        <a:rPr sz="2025" b="1">
                          <a:solidFill>
                            <a:srgbClr val="FFFFFF"/>
                          </a:solidFill>
                          <a:latin typeface="Apple SD Gothic Neo"/>
                          <a:ea typeface="Apple SD Gothic Neo"/>
                          <a:cs typeface="Apple SD Gothic Neo"/>
                        </a:rPr>
                        <a:t>관련 DP</a:t>
                      </a:r>
                    </a:p>
                  </a:txBody>
                  <a:tcPr marL="95250" marR="95250" marT="19050" marB="19050" anchor="ctr">
                    <a:solidFill>
                      <a:srgbClr val="B96D14"/>
                    </a:solidFill>
                  </a:tcPr>
                </a:tc>
              </a:tr>
              <a:tr h="800100">
                <a:tc>
                  <a:txBody>
                    <a:bodyPr/>
                    <a:lstStyle/>
                    <a:p>
                      <a:pPr algn="ctr"/>
                      <a:r>
                        <a:rPr sz="2175" b="1">
                          <a:solidFill>
                            <a:srgbClr val="B96D14"/>
                          </a:solidFill>
                          <a:latin typeface="Apple SD Gothic Neo"/>
                          <a:ea typeface="Apple SD Gothic Neo"/>
                          <a:cs typeface="Apple SD Gothic Neo"/>
                        </a:rPr>
                        <a:t>C1</a:t>
                      </a:r>
                    </a:p>
                  </a:txBody>
                  <a:tcPr marL="95250" marR="95250" marT="19050" marB="19050" anchor="ctr">
                    <a:solidFill>
                      <a:srgbClr val="FCF4E8"/>
                    </a:solidFill>
                  </a:tcPr>
                </a:tc>
                <a:tc>
                  <a:txBody>
                    <a:bodyPr/>
                    <a:lstStyle/>
                    <a:p>
                      <a:pPr algn="ctr"/>
                      <a:r>
                        <a:rPr sz="2175" b="1">
                          <a:solidFill>
                            <a:srgbClr val="202B35"/>
                          </a:solidFill>
                          <a:latin typeface="Apple SD Gothic Neo"/>
                          <a:ea typeface="Apple SD Gothic Neo"/>
                          <a:cs typeface="Apple SD Gothic Neo"/>
                        </a:rPr>
                        <a:t>온디바이스 Omni 공유</a:t>
                      </a:r>
                    </a:p>
                  </a:txBody>
                  <a:tcPr marL="95250" marR="95250" marT="19050" marB="19050" anchor="ctr">
                    <a:solidFill>
                      <a:srgbClr val="FCF4E8"/>
                    </a:solidFill>
                  </a:tcPr>
                </a:tc>
                <a:tc>
                  <a:txBody>
                    <a:bodyPr/>
                    <a:lstStyle/>
                    <a:p>
                      <a:pPr algn="l"/>
                      <a:r>
                        <a:rPr sz="2175" b="0">
                          <a:solidFill>
                            <a:srgbClr val="202B35"/>
                          </a:solidFill>
                          <a:latin typeface="Apple SD Gothic Neo"/>
                          <a:ea typeface="Apple SD Gothic Neo"/>
                          <a:cs typeface="Apple SD Gothic Neo"/>
                        </a:rPr>
                        <a:t>음성 대화와 요청 의미 해석은 사용자 PC에 적재된 하나의</a:t>
                      </a:r>
                    </a:p>
                    <a:p>
                      <a:pPr algn="l"/>
                      <a:r>
                        <a:rPr sz="2175" b="0">
                          <a:solidFill>
                            <a:srgbClr val="202B35"/>
                          </a:solidFill>
                          <a:latin typeface="Apple SD Gothic Neo"/>
                          <a:ea typeface="Apple SD Gothic Neo"/>
                          <a:cs typeface="Apple SD Gothic Neo"/>
                        </a:rPr>
                        <a:t>Omni 모델 가중치를 공유해야 한다.</a:t>
                      </a:r>
                    </a:p>
                  </a:txBody>
                  <a:tcPr marL="152400" marR="152400" marT="19050" marB="19050" anchor="ctr">
                    <a:solidFill>
                      <a:srgbClr val="FCF4E8"/>
                    </a:solidFill>
                  </a:tcPr>
                </a:tc>
                <a:tc>
                  <a:txBody>
                    <a:bodyPr/>
                    <a:lstStyle/>
                    <a:p>
                      <a:pPr algn="ctr"/>
                      <a:r>
                        <a:rPr sz="1950" b="0">
                          <a:solidFill>
                            <a:srgbClr val="202B35"/>
                          </a:solidFill>
                          <a:latin typeface="Apple SD Gothic Neo"/>
                          <a:ea typeface="Apple SD Gothic Neo"/>
                          <a:cs typeface="Apple SD Gothic Neo"/>
                        </a:rPr>
                        <a:t>04-41, 04-43,</a:t>
                      </a:r>
                    </a:p>
                    <a:p>
                      <a:pPr algn="ctr"/>
                      <a:r>
                        <a:rPr sz="1950" b="0">
                          <a:solidFill>
                            <a:srgbClr val="202B35"/>
                          </a:solidFill>
                          <a:latin typeface="Apple SD Gothic Neo"/>
                          <a:ea typeface="Apple SD Gothic Neo"/>
                          <a:cs typeface="Apple SD Gothic Neo"/>
                        </a:rPr>
                        <a:t>04-44, 04-45</a:t>
                      </a:r>
                    </a:p>
                  </a:txBody>
                  <a:tcPr marL="95250" marR="95250" marT="19050" marB="19050" anchor="ctr">
                    <a:solidFill>
                      <a:srgbClr val="FCF4E8"/>
                    </a:solidFill>
                  </a:tcPr>
                </a:tc>
              </a:tr>
              <a:tr h="800100">
                <a:tc>
                  <a:txBody>
                    <a:bodyPr/>
                    <a:lstStyle/>
                    <a:p>
                      <a:pPr algn="ctr"/>
                      <a:r>
                        <a:rPr sz="2175" b="1">
                          <a:solidFill>
                            <a:srgbClr val="B96D14"/>
                          </a:solidFill>
                          <a:latin typeface="Apple SD Gothic Neo"/>
                          <a:ea typeface="Apple SD Gothic Neo"/>
                          <a:cs typeface="Apple SD Gothic Neo"/>
                        </a:rPr>
                        <a:t>C2</a:t>
                      </a:r>
                    </a:p>
                  </a:txBody>
                  <a:tcPr marL="95250" marR="95250" marT="19050" marB="19050" anchor="ctr">
                    <a:solidFill>
                      <a:srgbClr val="FEFAF3"/>
                    </a:solidFill>
                  </a:tcPr>
                </a:tc>
                <a:tc>
                  <a:txBody>
                    <a:bodyPr/>
                    <a:lstStyle/>
                    <a:p>
                      <a:pPr algn="ctr"/>
                      <a:r>
                        <a:rPr sz="2175" b="1">
                          <a:solidFill>
                            <a:srgbClr val="202B35"/>
                          </a:solidFill>
                          <a:latin typeface="Apple SD Gothic Neo"/>
                          <a:ea typeface="Apple SD Gothic Neo"/>
                          <a:cs typeface="Apple SD Gothic Neo"/>
                        </a:rPr>
                        <a:t>업무 실행 위임</a:t>
                      </a:r>
                    </a:p>
                  </a:txBody>
                  <a:tcPr marL="95250" marR="95250" marT="19050" marB="19050" anchor="ctr">
                    <a:solidFill>
                      <a:srgbClr val="FEFAF3"/>
                    </a:solidFill>
                  </a:tcPr>
                </a:tc>
                <a:tc>
                  <a:txBody>
                    <a:bodyPr/>
                    <a:lstStyle/>
                    <a:p>
                      <a:pPr algn="l"/>
                      <a:r>
                        <a:rPr sz="2175" b="0">
                          <a:solidFill>
                            <a:srgbClr val="202B35"/>
                          </a:solidFill>
                          <a:latin typeface="Apple SD Gothic Neo"/>
                          <a:ea typeface="Apple SD Gothic Neo"/>
                          <a:cs typeface="Apple SD Gothic Neo"/>
                        </a:rPr>
                        <a:t>실제 업무 수행에 필요한 도메인 추론, 계획, 도구 선택과 실행은</a:t>
                      </a:r>
                    </a:p>
                    <a:p>
                      <a:pPr algn="l"/>
                      <a:r>
                        <a:rPr sz="2175" b="0">
                          <a:solidFill>
                            <a:srgbClr val="202B35"/>
                          </a:solidFill>
                          <a:latin typeface="Apple SD Gothic Neo"/>
                          <a:ea typeface="Apple SD Gothic Neo"/>
                          <a:cs typeface="Apple SD Gothic Neo"/>
                        </a:rPr>
                        <a:t>Downstream Agent에 위임해야 한다.</a:t>
                      </a:r>
                    </a:p>
                  </a:txBody>
                  <a:tcPr marL="152400" marR="152400" marT="19050" marB="19050" anchor="ctr">
                    <a:solidFill>
                      <a:srgbClr val="FEFAF3"/>
                    </a:solidFill>
                  </a:tcPr>
                </a:tc>
                <a:tc>
                  <a:txBody>
                    <a:bodyPr/>
                    <a:lstStyle/>
                    <a:p>
                      <a:pPr algn="ctr"/>
                      <a:r>
                        <a:rPr sz="1950" b="0">
                          <a:solidFill>
                            <a:srgbClr val="202B35"/>
                          </a:solidFill>
                          <a:latin typeface="Apple SD Gothic Neo"/>
                          <a:ea typeface="Apple SD Gothic Neo"/>
                          <a:cs typeface="Apple SD Gothic Neo"/>
                        </a:rPr>
                        <a:t>04-41, 04-42,</a:t>
                      </a:r>
                    </a:p>
                    <a:p>
                      <a:pPr algn="ctr"/>
                      <a:r>
                        <a:rPr sz="1950" b="0">
                          <a:solidFill>
                            <a:srgbClr val="202B35"/>
                          </a:solidFill>
                          <a:latin typeface="Apple SD Gothic Neo"/>
                          <a:ea typeface="Apple SD Gothic Neo"/>
                          <a:cs typeface="Apple SD Gothic Neo"/>
                        </a:rPr>
                        <a:t>04-43</a:t>
                      </a:r>
                    </a:p>
                  </a:txBody>
                  <a:tcPr marL="95250" marR="95250" marT="19050" marB="19050" anchor="ctr">
                    <a:solidFill>
                      <a:srgbClr val="FEFAF3"/>
                    </a:solidFill>
                  </a:tcPr>
                </a:tc>
              </a:tr>
            </a:tbl>
          </a:graphicData>
        </a:graphic>
      </p:graphicFrame>
      <p:sp>
        <p:nvSpPr>
          <p:cNvPr id="6" name="mapping-boundary">
            <a:extLst xmlns:a="http://schemas.openxmlformats.org/drawingml/2006/main">
              <a:ext uri="{FF2B5EF4-FFF2-40B4-BE49-F238E27FC236}">
                <a16:creationId xmlns:a16="http://schemas.microsoft.com/office/drawing/2014/main" id="{2CBC0817-0C4B-4E8F-990F-D21CEE4D9CD9}"/>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725" b="0">
                <a:solidFill>
                  <a:srgbClr val="586878"/>
                </a:solidFill>
                <a:latin typeface="Apple SD Gothic Neo"/>
                <a:ea typeface="Apple SD Gothic Neo"/>
                <a:cs typeface="Apple SD Gothic Neo"/>
              </a:defRPr>
            </a:pPr>
            <a:r>
              <a:rPr sz="1725" b="0">
                <a:solidFill>
                  <a:srgbClr val="586878"/>
                </a:solidFill>
                <a:latin typeface="Apple SD Gothic Neo"/>
                <a:ea typeface="Apple SD Gothic Neo"/>
                <a:cs typeface="Apple SD Gothic Neo"/>
              </a:rPr>
              <a:t>관련 DP는 직접 설계 영향만 표시하며, Omni 공유는 별도 Streaming ASR을 금지하지 않는다.</a:t>
            </a:r>
          </a:p>
        </p:txBody>
      </p:sp>
    </p:spTree>
    <p:extLst>
      <p:ext uri="{BB962C8B-B14F-4D97-AF65-F5344CB8AC3E}">
        <p14:creationId xmlns:p14="http://schemas.microsoft.com/office/powerpoint/2010/main" val="17892542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2026-10-06T15:00:08.8390000Z</dcterms:created>
  <dcterms:modified xsi:type="dcterms:W3CDTF">2026-10-06T15:00:08.8390000Z</dcterms:modified>
</coreProperties>
</file>