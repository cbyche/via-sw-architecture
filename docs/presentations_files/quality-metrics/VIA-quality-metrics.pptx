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834cb95b544eba" /><Relationship Type="http://schemas.openxmlformats.org/officeDocument/2006/relationships/extended-properties" Target="/docProps/app.xml" Id="R5a438e515cd0434b" /><Relationship Type="http://schemas.openxmlformats.org/officeDocument/2006/relationships/officeDocument" Target="/ppt/presentation.xml" Id="R9979b83434b84598" /></Relationships>
</file>

<file path=ppt/presentation.xml><?xml version="1.0" encoding="utf-8"?>
<p:presentation xmlns:p="http://schemas.openxmlformats.org/presentationml/2006/main">
  <p:sldMasterIdLst>
    <p:sldMasterId xmlns:r="http://schemas.openxmlformats.org/officeDocument/2006/relationships" id="2147483648" r:id="R1fe0047cb8e54683"/>
  </p:sldMasterIdLst>
  <p:notesMasterIdLst>
    <p:notesMasterId xmlns:r="http://schemas.openxmlformats.org/officeDocument/2006/relationships" r:id="R58ca046465724d0c"/>
  </p:notesMasterIdLst>
  <p:sldIdLst>
    <p:sldId xmlns:r="http://schemas.openxmlformats.org/officeDocument/2006/relationships" id="256" r:id="R1f49a642970a4970"/>
    <p:sldId xmlns:r="http://schemas.openxmlformats.org/officeDocument/2006/relationships" id="257" r:id="R5217fddb32694e63"/>
    <p:sldId xmlns:r="http://schemas.openxmlformats.org/officeDocument/2006/relationships" id="258" r:id="R3c27435285784b83"/>
    <p:sldId xmlns:r="http://schemas.openxmlformats.org/officeDocument/2006/relationships" id="259" r:id="R019f95c883864faf"/>
    <p:sldId xmlns:r="http://schemas.openxmlformats.org/officeDocument/2006/relationships" id="260" r:id="Rce8e03afb9814749"/>
    <p:sldId xmlns:r="http://schemas.openxmlformats.org/officeDocument/2006/relationships" id="261" r:id="R457634e78b9e44f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18b76eb7494798" /><Relationship Type="http://schemas.openxmlformats.org/officeDocument/2006/relationships/slideMaster" Target="/ppt/slideMasters/slideMaster1.xml" Id="R1fe0047cb8e54683" /><Relationship Type="http://schemas.openxmlformats.org/officeDocument/2006/relationships/notesMaster" Target="/ppt/notesMasters/notesMaster1.xml" Id="R58ca046465724d0c" /><Relationship Type="http://schemas.openxmlformats.org/officeDocument/2006/relationships/presProps" Target="/ppt/presProps.xml" Id="R346fef8210ea40b3" /><Relationship Type="http://schemas.openxmlformats.org/officeDocument/2006/relationships/tableStyles" Target="/ppt/tableStyles.xml" Id="R5be10192371342f0" /><Relationship Type="http://schemas.openxmlformats.org/officeDocument/2006/relationships/slide" Target="/ppt/slides/slide1.xml" Id="R1f49a642970a4970" /><Relationship Type="http://schemas.openxmlformats.org/officeDocument/2006/relationships/slide" Target="/ppt/slides/slide2.xml" Id="R5217fddb32694e63" /><Relationship Type="http://schemas.openxmlformats.org/officeDocument/2006/relationships/slide" Target="/ppt/slides/slide3.xml" Id="R3c27435285784b83" /><Relationship Type="http://schemas.openxmlformats.org/officeDocument/2006/relationships/slide" Target="/ppt/slides/slide4.xml" Id="R019f95c883864faf" /><Relationship Type="http://schemas.openxmlformats.org/officeDocument/2006/relationships/slide" Target="/ppt/slides/slide5.xml" Id="Rce8e03afb9814749" /><Relationship Type="http://schemas.openxmlformats.org/officeDocument/2006/relationships/slide" Target="/ppt/slides/slide6.xml" Id="R457634e78b9e44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b8b06d49e940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1edebeefa0448e" /><Relationship Type="http://schemas.openxmlformats.org/officeDocument/2006/relationships/notesMaster" Target="/ppt/notesMasters/notesMaster1.xml" Id="Rab6910f14f9643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6c62a520ac40d9" /><Relationship Type="http://schemas.openxmlformats.org/officeDocument/2006/relationships/notesMaster" Target="/ppt/notesMasters/notesMaster1.xml" Id="R50722d4c00ae40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8e75784b4b47af" /><Relationship Type="http://schemas.openxmlformats.org/officeDocument/2006/relationships/notesMaster" Target="/ppt/notesMasters/notesMaster1.xml" Id="R92681360458749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ee4146c3e948b0" /><Relationship Type="http://schemas.openxmlformats.org/officeDocument/2006/relationships/notesMaster" Target="/ppt/notesMasters/notesMaster1.xml" Id="Re35f50fbd93746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bd3d1598b5472b" /><Relationship Type="http://schemas.openxmlformats.org/officeDocument/2006/relationships/notesMaster" Target="/ppt/notesMasters/notesMaster1.xml" Id="Rf325e51b838840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9dabd8028b40cd" /><Relationship Type="http://schemas.openxmlformats.org/officeDocument/2006/relationships/notesMaster" Target="/ppt/notesMasters/notesMaster1.xml" Id="R7ae6329e8e3840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≥100/105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Qwen 공식 H20 속도 benchmark: https://qwen.readthedocs.io/en/latest/getting_started/speed_benchmark.html</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$0.351840, 이력 audio/추가생산/재시도 여유 $0.148160.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Alibaba Qwen Instruct-2507 공식 단가: https://docs.modelstudio.console.alibabacloud.com/en/model-studio/qwen3-30b-a3b-instruct-2507</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0.034720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**0.351840** |</a:t>
            </a:r>
          </a:p>
          <a:p xmlns:a="http://schemas.openxmlformats.org/drawingml/2006/main">
            <a:r>
              <a:t>| 이력 audio 재입력/추가생산/재시도 여유 | **0.148160** |</a:t>
            </a:r>
          </a:p>
          <a:p xmlns:a="http://schemas.openxmlformats.org/drawingml/2006/main">
            <a:r>
              <a:t>| 목표 | **0.50/P21** |</a:t>
            </a:r>
          </a:p>
          <a:p xmlns:a="http://schemas.openxmlformats.org/drawingml/2006/main">
            <a:r>
              <a:t/>
            </a:r>
          </a:p>
          <a:p xmlns:a="http://schemas.openxmlformats.org/drawingml/2006/main">
            <a: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53f2b332fa7a1a197855765d7755465a096b9cecb8426068ae366e9cd9413102</a:t>
            </a:r>
          </a:p>
          <a:p xmlns:a="http://schemas.openxmlformats.org/drawingml/2006/main">
            <a:r>
              <a:t>작성일: 2026-10-11</a:t>
            </a:r>
          </a:p>
          <a:p xmlns:a="http://schemas.openxmlformats.org/drawingml/2006/main">
            <a:r>
              <a:t>원본 SHA-256: ab76bfc813e1f5c8bb72894a705cfcc9495f7f92e021d566dfcbf8224d8d7d65</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모델 reference 상세 §8.4</a:t>
            </a:r>
          </a:p>
          <a:p xmlns:a="http://schemas.openxmlformats.org/drawingml/2006/main">
            <a:r>
              <a:t> 장치와 모델 계산 reference — 2026-10-11 확인</a:t>
            </a:r>
          </a:p>
          <a:p xmlns:a="http://schemas.openxmlformats.org/drawingml/2006/main">
            <a:r>
              <a:t/>
            </a:r>
          </a:p>
          <a:p xmlns:a="http://schemas.openxmlformats.org/drawingml/2006/main">
            <a: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p>
          <a:p xmlns:a="http://schemas.openxmlformats.org/drawingml/2006/main">
            <a:r>
              <a:t/>
            </a:r>
          </a:p>
          <a:p xmlns:a="http://schemas.openxmlformats.org/drawingml/2006/main">
            <a:r>
              <a:t>| 용도 | 선택 reference / 값 | 출처와 적용 범위 |</a:t>
            </a:r>
          </a:p>
          <a:p xmlns:a="http://schemas.openxmlformats.org/drawingml/2006/main">
            <a:r>
              <a:t>| --- | --- | --- |</a:t>
            </a:r>
          </a:p>
          <a:p xmlns:a="http://schemas.openxmlformats.org/drawingml/2006/main">
            <a: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p>
          <a:p xmlns:a="http://schemas.openxmlformats.org/drawingml/2006/main">
            <a: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p>
          <a:p xmlns:a="http://schemas.openxmlformats.org/drawingml/2006/main">
            <a: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p>
          <a:p xmlns:a="http://schemas.openxmlformats.org/drawingml/2006/main">
            <a: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p>
          <a:p xmlns:a="http://schemas.openxmlformats.org/drawingml/2006/main">
            <a: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p>
          <a:p xmlns:a="http://schemas.openxmlformats.org/drawingml/2006/main">
            <a:r>
              <a:t/>
            </a:r>
          </a:p>
          <a:p xmlns:a="http://schemas.openxmlformats.org/drawingml/2006/main">
            <a: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p>
          <a:p xmlns:a="http://schemas.openxmlformats.org/drawingml/2006/main">
            <a:r>
              <a:t/>
            </a:r>
          </a:p>
          <a:p xmlns:a="http://schemas.openxmlformats.org/drawingml/2006/main">
            <a: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p>
          <a:p xmlns:a="http://schemas.openxmlformats.org/drawingml/2006/main">
            <a:r>
              <a:t/>
            </a:r>
          </a:p>
          <a:p xmlns:a="http://schemas.openxmlformats.org/drawingml/2006/main">
            <a:r>
              <a:t/>
            </a:r>
          </a:p>
          <a:p xmlns:a="http://schemas.openxmlformats.org/drawingml/2006/main">
            <a:r>
              <a:t>### 8.4.1 선택한 모델 역할과 입력 범위</a:t>
            </a:r>
          </a:p>
          <a:p xmlns:a="http://schemas.openxmlformats.org/drawingml/2006/main">
            <a:r>
              <a:t/>
            </a:r>
          </a:p>
          <a:p xmlns:a="http://schemas.openxmlformats.org/drawingml/2006/main">
            <a: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p>
          <a:p xmlns:a="http://schemas.openxmlformats.org/drawingml/2006/main">
            <a:r>
              <a:t/>
            </a:r>
          </a:p>
          <a:p xmlns:a="http://schemas.openxmlformats.org/drawingml/2006/main">
            <a: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p>
          <a:p xmlns:a="http://schemas.openxmlformats.org/drawingml/2006/main">
            <a:r>
              <a:t/>
            </a:r>
          </a:p>
          <a:p xmlns:a="http://schemas.openxmlformats.org/drawingml/2006/main">
            <a: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p>
          <a:p xmlns:a="http://schemas.openxmlformats.org/drawingml/2006/main">
            <a:r>
              <a:t/>
            </a:r>
          </a:p>
          <a:p xmlns:a="http://schemas.openxmlformats.org/drawingml/2006/main">
            <a:r>
              <a:t>### 8.4.1.1 이전 Gemini 선택 이유와 변경 이력</a:t>
            </a:r>
          </a:p>
          <a:p xmlns:a="http://schemas.openxmlformats.org/drawingml/2006/main">
            <a:r>
              <a:t/>
            </a:r>
          </a:p>
          <a:p xmlns:a="http://schemas.openxmlformats.org/drawingml/2006/main">
            <a: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p>
          <a:p xmlns:a="http://schemas.openxmlformats.org/drawingml/2006/main">
            <a:r>
              <a:t/>
            </a:r>
          </a:p>
          <a:p xmlns:a="http://schemas.openxmlformats.org/drawingml/2006/main">
            <a:r>
              <a:t>### 8.4.1.2 Groq 밖의 속도 근거와 산식</a:t>
            </a:r>
          </a:p>
          <a:p xmlns:a="http://schemas.openxmlformats.org/drawingml/2006/main">
            <a:r>
              <a:t/>
            </a:r>
          </a:p>
          <a:p xmlns:a="http://schemas.openxmlformats.org/drawingml/2006/main">
            <a: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p>
          <a:p xmlns:a="http://schemas.openxmlformats.org/drawingml/2006/main">
            <a:r>
              <a:t/>
            </a:r>
          </a:p>
          <a:p xmlns:a="http://schemas.openxmlformats.org/drawingml/2006/main">
            <a: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p>
          <a:p xmlns:a="http://schemas.openxmlformats.org/drawingml/2006/main">
            <a:r>
              <a:t/>
            </a:r>
          </a:p>
          <a:p xmlns:a="http://schemas.openxmlformats.org/drawingml/2006/main">
            <a: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p>
          <a:p xmlns:a="http://schemas.openxmlformats.org/drawingml/2006/main">
            <a:r>
              <a:t/>
            </a:r>
          </a:p>
          <a:p xmlns:a="http://schemas.openxmlformats.org/drawingml/2006/main">
            <a: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p>
          <a:p xmlns:a="http://schemas.openxmlformats.org/drawingml/2006/main">
            <a:r>
              <a:t/>
            </a:r>
          </a:p>
          <a:p xmlns:a="http://schemas.openxmlformats.org/drawingml/2006/main">
            <a:r>
              <a:t>### 8.4.2 Gemini Live와 GPT Realtime의 기능 비교</a:t>
            </a:r>
          </a:p>
          <a:p xmlns:a="http://schemas.openxmlformats.org/drawingml/2006/main">
            <a:r>
              <a:t/>
            </a:r>
          </a:p>
          <a:p xmlns:a="http://schemas.openxmlformats.org/drawingml/2006/main">
            <a: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p>
          <a:p xmlns:a="http://schemas.openxmlformats.org/drawingml/2006/main">
            <a:r>
              <a:t/>
            </a:r>
          </a:p>
          <a:p xmlns:a="http://schemas.openxmlformats.org/drawingml/2006/main">
            <a:r>
              <a:t>| 비교 항목 | Gemini 3.1 Flash Live Preview | OpenAI gpt-realtime | VIA에 주는 의미 |</a:t>
            </a:r>
          </a:p>
          <a:p xmlns:a="http://schemas.openxmlformats.org/drawingml/2006/main">
            <a:r>
              <a:t>| --- | --- | --- | --- |</a:t>
            </a:r>
          </a:p>
          <a:p xmlns:a="http://schemas.openxmlformats.org/drawingml/2006/main">
            <a:r>
              <a:t>| 실시간 음성 입출력, 입력/출력 전사, 발화 중 끼어들기 | 지원 | 지원 | 양쪽 모두 음성 역할의 reference가 될 수 있다. 실제 한국어 품질·지연·중단 시간 동등성은 입증하지 않음 |</a:t>
            </a:r>
          </a:p>
          <a:p xmlns:a="http://schemas.openxmlformats.org/drawingml/2006/main">
            <a:r>
              <a:t>| 화면/멀티모달 입력 | Text·이미지·audio·video 입력 | Text·이미지·audio 입력, video 미지원 | GPT에서는 화면 snapshot의 이미지 입력과 video stream 지원을 구별 |</a:t>
            </a:r>
          </a:p>
          <a:p xmlns:a="http://schemas.openxmlformats.org/drawingml/2006/main">
            <a:r>
              <a:t>| 함수 호출 | 동기만 지원, tool response 전 응답 대기 | 비동기 tool 흐름 지원 | 긴 Agent 실행을 Gemini Live tool response로 끝날 때까지 기다리게 하지 않음 |</a:t>
            </a:r>
          </a:p>
          <a:p xmlns:a="http://schemas.openxmlformats.org/drawingml/2006/main">
            <a:r>
              <a:t>| 직접 연결 | Live API WebSocket | WebRTC / WebSocket / SIP | provider adapter·세션 재연결·audio queue/취소 이벤트를 별도로 구현/계산 |</a:t>
            </a:r>
          </a:p>
          <a:p xmlns:a="http://schemas.openxmlformats.org/drawingml/2006/main">
            <a:r>
              <a:t>| structured output | 미지원 | 미지원 | 함수 인자 JSON과 schema 제약 출력 보장을 구별, 의미 모델의 frame 검증은 별도 |</a:t>
            </a:r>
          </a:p>
          <a:p xmlns:a="http://schemas.openxmlformats.org/drawingml/2006/main">
            <a:r>
              <a:t/>
            </a:r>
          </a:p>
          <a:p xmlns:a="http://schemas.openxmlformats.org/drawingml/2006/main">
            <a: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p>
          <a:p xmlns:a="http://schemas.openxmlformats.org/drawingml/2006/main">
            <a:r>
              <a:t/>
            </a:r>
          </a:p>
          <a:p xmlns:a="http://schemas.openxmlformats.org/drawingml/2006/main">
            <a: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2b456172734a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5a0265d7a041e6" /><Relationship Type="http://schemas.openxmlformats.org/officeDocument/2006/relationships/slideLayout" Target="/ppt/slideLayouts/slideLayout1.xml" Id="Rce0be6436b114e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be6436b11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d93ba01d01409a" /><Relationship Type="http://schemas.openxmlformats.org/officeDocument/2006/relationships/notesSlide" Target="/ppt/notesSlides/notesSlide1.xml" Id="Rff7e06d4759245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853777c1e04b82" /><Relationship Type="http://schemas.openxmlformats.org/officeDocument/2006/relationships/notesSlide" Target="/ppt/notesSlides/notesSlide2.xml" Id="R46ca691da5944e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bdd2c01e554610" /><Relationship Type="http://schemas.openxmlformats.org/officeDocument/2006/relationships/notesSlide" Target="/ppt/notesSlides/notesSlide3.xml" Id="R82c8ecd989a247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263e1504684615" /><Relationship Type="http://schemas.openxmlformats.org/officeDocument/2006/relationships/notesSlide" Target="/ppt/notesSlides/notesSlide4.xml" Id="Ra4323febceb24e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5b00dd19204a08" /><Relationship Type="http://schemas.openxmlformats.org/officeDocument/2006/relationships/notesSlide" Target="/ppt/notesSlides/notesSlide5.xml" Id="R70bca6db5a1941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b134abe2b54909" /><Relationship Type="http://schemas.openxmlformats.org/officeDocument/2006/relationships/notesSlide" Target="/ppt/notesSlides/notesSlide6.xml" Id="R6d1fc86b163347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2EE25C06-E5CA-476F-A633-2BD1B10D710A}"/>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08BDB15C-A627-4787-88F7-325CA60B121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FD045F8D-FC6C-4437-B489-2E9C0B9D8FE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8250E3C5-71A5-4491-A172-D73A9B188B88}"/>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E4F4FBA4-7775-4007-8FE5-74D06BEB2A4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2101B979-2A7C-4A84-B8D1-3DC0ECB552F7}"/>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C11987B-6FDE-46CB-893D-F9C842254C9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E4A2EFBA-7912-4515-B776-C159B66A17B4}"/>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92DFC6E-BF15-4B84-9457-7232D6A878D8}"/>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21개 명세/6조건/최종 tail은 03-02 §3·8.2.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BA5601A4-4272-48B1-92A9-5CD8B24700B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8BDB9455-1F15-4287-8C18-0F72A9C49BD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전체/S/C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2F6EF77-1DEB-4104-9688-F546DC919A1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6577526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2ED914C-9A92-4FAA-830C-04ECB4D70FC8}"/>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59DE3ACC-D15F-40C4-A07D-E8DDFCA7920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7C2DDAF-5705-4A8E-8556-126DCA9FCE4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7A0E684-A37B-49C0-8580-331DED886D71}"/>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3293F1B-DAA8-4775-A158-F9B38DE4589C}"/>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A230FCCF-A31F-45F7-9ED4-420D94528AE6}"/>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 응답시간 참조: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1D6EB1E0-BE90-4A60-AECE-E0AA9E63226E}"/>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생성률 100/130/160 token/s는 가정, 목표 달성 미입증.</a:t>
            </a:r>
          </a:p>
        </p:txBody>
      </p:sp>
      <p:sp>
        <p:nvSpPr>
          <p:cNvPr id="9" name="calculation-title">
            <a:extLst xmlns:a="http://schemas.openxmlformats.org/drawingml/2006/main">
              <a:ext uri="{FF2B5EF4-FFF2-40B4-BE49-F238E27FC236}">
                <a16:creationId xmlns:a16="http://schemas.microsoft.com/office/drawing/2014/main" id="{6FD247FA-E006-4202-8592-C6F7A7F36139}"/>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일반 ≥100/105회 ≤2초; 집중 30회 전부 ≤5초</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FA67FD97-402E-414C-BD17-9859CC60DBDB}"/>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6026D55C-A68D-43D1-8DA1-F7B7D00960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FB865EAA-81A1-4504-B2C5-0C2E99469C4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일반 ≥100/105 ≤2초; 집중 30/30 ≤5초; stop ≤0.1초</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BF7E74E-74DC-4424-9EC7-FF7B4263E7B8}"/>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Qwen 공식 H20 속도 benchmark / 목표와 등급은 작성자 PoC 규칙, 실측 전</a:t>
            </a:r>
          </a:p>
        </p:txBody>
      </p:sp>
    </p:spTree>
    <p:extLst>
      <p:ext uri="{BB962C8B-B14F-4D97-AF65-F5344CB8AC3E}">
        <p14:creationId xmlns:p14="http://schemas.microsoft.com/office/powerpoint/2010/main" val="1176566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18B7C88-FDCC-4FC6-BB6F-2B7FF86FACD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A61FF89D-28A2-451D-8AB2-8B69CC3DD235}"/>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40325CC-6665-4F18-8ABB-79A2F32923BB}"/>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F4F16A2D-0D85-4FA6-A751-F5F74829C814}"/>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BE4E38CB-A096-4214-B340-D696B4E8A90F}"/>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10D927EF-CB14-4348-A018-F43A76BC0020}"/>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8B9FE781-8F4C-4888-92D9-D81036CF19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54799991-2DB3-47CD-BFD3-C9F9F206514E}"/>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08C13A1D-9D5E-4A01-955C-CB1524CAE9EC}"/>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4F86AF1F-4B5C-43C2-817D-C301CD9812B1}"/>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A207BE52-2DEE-4680-927E-683B870324C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≥91/95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FD712462-2EFC-4536-AF47-1D1E000975D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10037610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DAD576D-C979-4135-99B8-BA7C6B4C557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5B12D1B-78F2-4585-A297-B7D5927D0B9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D0936E6F-5DD9-45F9-96EB-714319273AC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875"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175B4D79-CF6E-477A-8AE9-71CAB47310CA}"/>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14DC0587-8EFF-4799-89CC-883AF85EB3F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256D646-5CF8-41D6-850E-AD0AB4E6B708}"/>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Qwen3-30B-A3B: $0.20 / $0.80 (1M token).</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GPT Realtime: audio $32 / $64, Text $4 / $16.</a:t>
            </a:r>
          </a:p>
        </p:txBody>
      </p:sp>
      <p:sp>
        <p:nvSpPr>
          <p:cNvPr id="8" name="choice">
            <a:extLst xmlns:a="http://schemas.openxmlformats.org/drawingml/2006/main">
              <a:ext uri="{FF2B5EF4-FFF2-40B4-BE49-F238E27FC236}">
                <a16:creationId xmlns:a16="http://schemas.microsoft.com/office/drawing/2014/main" id="{57EF6D6D-87A6-4B0A-9C43-CD561B0E0FF9}"/>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동일 P21 기본 소계 $0.351840에 $0.148160 여유.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추가 audio 이력, 배경 생산·재시도까지 실제 청구.</a:t>
            </a:r>
          </a:p>
        </p:txBody>
      </p:sp>
      <p:sp>
        <p:nvSpPr>
          <p:cNvPr id="9" name="calculation-title">
            <a:extLst xmlns:a="http://schemas.openxmlformats.org/drawingml/2006/main">
              <a:ext uri="{FF2B5EF4-FFF2-40B4-BE49-F238E27FC236}">
                <a16:creationId xmlns:a16="http://schemas.microsoft.com/office/drawing/2014/main" id="{FAD5339A-6B07-4CEE-BD22-775ED40C7902}"/>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62호출 예산: 124k 입력 / 12.4k 출력 = $0.03472</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신규 audio</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50초 / 출력 179초 예산 = $0.245120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총 청구 입력 10k / 출력 2k = $0.072000</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소계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$0.03472 + $0.24512 + $0.072 = $0.351840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$0.50 - $0.35184 = $0.14816; 이력 audio 등</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DE4244E5-D00D-4DCB-98CA-423E3FF39C1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C38D4682-AB11-4284-9A21-9A573D0DA440}"/>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$0.20 &lt; x ≤ $0.26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$0.26 &lt; x ≤ $0.32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$0.32 &lt; x ≤ $0.38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$0.38 &lt; x ≤ $0.44</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$0.44 &lt; x ≤ $0.50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$0.50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513992D8-43BE-43A0-8E3F-E19030D63E61}"/>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59BD4EA7-896C-4649-9435-D10E02355029}"/>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Alibaba Qwen Instruct-2507 공식 단가 / OpenAI GPT Realtime 공식 단가 / OpenAI Realtime 청구 / 목표와 등급은 작성자 PoC 규칙, 실측 전</a:t>
            </a:r>
          </a:p>
        </p:txBody>
      </p:sp>
    </p:spTree>
    <p:extLst>
      <p:ext uri="{BB962C8B-B14F-4D97-AF65-F5344CB8AC3E}">
        <p14:creationId xmlns:p14="http://schemas.microsoft.com/office/powerpoint/2010/main" val="20172344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A9BA548C-5566-4104-B3F0-784E8CBE633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7F1E6375-4049-406E-9F7F-9B4B64FE17C2}"/>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A548301D-A10D-4AA7-9922-C07B356A16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CE3D3AED-F16D-4ED2-A829-EE1D401AB20E}"/>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D8594834-F174-4156-AB7F-4175470E69C5}"/>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56406966-C2EA-4111-8876-B22A8F5B00BC}"/>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9EA3F7CC-04F3-4A4C-9C67-D8E02A4A69C5}"/>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4DABFD60-66EC-40A1-8805-40B7D55D917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BFE60DD9-CCC9-409B-B2E3-A3BCB315BDF5}"/>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892A4081-7C11-4634-8CCC-8D7AE6BC9CB8}"/>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75C49639-2243-4A32-8DBC-46C31209A12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C8F275B0-3C74-4A04-8BAC-BD5F32056DC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2684612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54801D6-BB9D-45B0-9534-3FF9F2D3524E}"/>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97B89034-3A51-44CB-81E7-8F9A811E0E6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EB5A8387-63CD-4A80-B891-0B74AA39161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EB7A545F-2181-4947-9C5D-1147FD867C79}"/>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0C1F4897-F8EF-4C97-93DC-FE848E623E52}"/>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D1C670AD-3199-4828-9F7B-123F410ED049}"/>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9868C741-5CCA-41AF-AB8C-3AD3EF972376}"/>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A1D02E1A-253C-45B5-BA48-06BC432E0527}"/>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6C1D97F-F289-4F9E-A919-38FC2FB9DE31}"/>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C43D5218-D003-479C-8055-80DA96CB556F}"/>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036A6B81-5556-41F8-9371-930E073EE0E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A655E04C-3E14-4B0F-89D3-CCDC5E9EBD85}"/>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48766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2026-10-11T10:38:21.3220000Z</dcterms:created>
  <dcterms:modified xsi:type="dcterms:W3CDTF">2026-10-11T10:38:21.3220000Z</dcterms:modified>
</coreProperties>
</file>