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6c4e46ea4e4f24" /><Relationship Type="http://schemas.openxmlformats.org/officeDocument/2006/relationships/extended-properties" Target="/docProps/app.xml" Id="R4ad11ca673ff48a4" /><Relationship Type="http://schemas.openxmlformats.org/officeDocument/2006/relationships/officeDocument" Target="/ppt/presentation.xml" Id="R1149e31750544ad2" /></Relationships>
</file>

<file path=ppt/presentation.xml><?xml version="1.0" encoding="utf-8"?>
<p:presentation xmlns:p="http://schemas.openxmlformats.org/presentationml/2006/main">
  <p:sldMasterIdLst>
    <p:sldMasterId xmlns:r="http://schemas.openxmlformats.org/officeDocument/2006/relationships" id="2147483648" r:id="R31fa252a0ac04300"/>
  </p:sldMasterIdLst>
  <p:notesMasterIdLst>
    <p:notesMasterId xmlns:r="http://schemas.openxmlformats.org/officeDocument/2006/relationships" r:id="R409daa03339244ee"/>
  </p:notesMasterIdLst>
  <p:sldIdLst>
    <p:sldId xmlns:r="http://schemas.openxmlformats.org/officeDocument/2006/relationships" id="256" r:id="R743bc6cac6e54757"/>
    <p:sldId xmlns:r="http://schemas.openxmlformats.org/officeDocument/2006/relationships" id="257" r:id="R2b0e530f65a847d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57290f356d4da6" /><Relationship Type="http://schemas.openxmlformats.org/officeDocument/2006/relationships/slideMaster" Target="/ppt/slideMasters/slideMaster1.xml" Id="R31fa252a0ac04300" /><Relationship Type="http://schemas.openxmlformats.org/officeDocument/2006/relationships/notesMaster" Target="/ppt/notesMasters/notesMaster1.xml" Id="R409daa03339244ee" /><Relationship Type="http://schemas.openxmlformats.org/officeDocument/2006/relationships/presProps" Target="/ppt/presProps.xml" Id="R867b36635da24aeb" /><Relationship Type="http://schemas.openxmlformats.org/officeDocument/2006/relationships/tableStyles" Target="/ppt/tableStyles.xml" Id="R23fc9c49e5d5414c" /><Relationship Type="http://schemas.openxmlformats.org/officeDocument/2006/relationships/slide" Target="/ppt/slides/slide1.xml" Id="R743bc6cac6e54757" /><Relationship Type="http://schemas.openxmlformats.org/officeDocument/2006/relationships/slide" Target="/ppt/slides/slide2.xml" Id="R2b0e530f65a847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9e0d8358e64d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5b850df1be493d" /><Relationship Type="http://schemas.openxmlformats.org/officeDocument/2006/relationships/notesMaster" Target="/ppt/notesMasters/notesMaster1.xml" Id="Rd93fea9e896a46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14dcf8bf8a4d9a" /><Relationship Type="http://schemas.openxmlformats.org/officeDocument/2006/relationships/notesMaster" Target="/ppt/notesMasters/notesMaster1.xml" Id="Ra1ff953ba2a744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품질 요구사항 목표 제안, 2026-10-06. EVIDENCE_BASED_PROPOSED_TARGETS_NOT_MEASURED.</a:t>
            </a:r>
          </a:p>
          <a:p xmlns:a="http://schemas.openxmlformats.org/drawingml/2006/main">
            <a:r>
              <a:t>공동 순위 내부의 추가 우열은 없다. 기존 V 원문: docs/architecture/12-decisions/decision-packages/03-00-quality-scenarios.md. 삭제: V-11, V-12, V-13.</a:t>
            </a:r>
          </a:p>
          <a:p xmlns:a="http://schemas.openxmlformats.org/drawingml/2006/main">
            <a:r>
              <a:t>V-01 기능 정확성</a:t>
            </a:r>
          </a:p>
          <a:p xmlns:a="http://schemas.openxmlformats.org/drawingml/2006/main">
            <a:r>
              <a:t>원래 V 이름: 기능 정확성</a:t>
            </a:r>
          </a:p>
          <a:p xmlns:a="http://schemas.openxmlformats.org/drawingml/2006/main">
            <a:r>
              <a:t>설명: 사용자 요청을 의도에 맞게 정확히 처리해야 한다.</a:t>
            </a:r>
          </a:p>
          <a:p xmlns:a="http://schemas.openxmlformats.org/drawingml/2006/main">
            <a:r>
              <a:t>목표: 정확 처리율 ≥ 95%</a:t>
            </a:r>
          </a:p>
          <a:p xmlns:a="http://schemas.openxmlformats.org/drawingml/2006/main">
            <a:r>
              <a:t>목표 근거: NexusRaven-13B는 예시 검색을 결합한 보안 도구 사용에서 성공률 95%를 보고했다. 이 구현 수준을 VIA의 통합 시험 목표로 선택한다. 동일 모집단의 성능 예측이나 VIA 실적을 뜻하지 않는다.</a:t>
            </a:r>
          </a:p>
          <a:p xmlns:a="http://schemas.openxmlformats.org/drawingml/2006/main">
            <a:r>
              <a:t>측정: 1880회 전체를 분모로 삼고 모든 사용자 턴의 의미, Task 연결, 상태 변화와 필수 전달을 판정한다. 오답과 미지원 및 timeout은 실패이며 분모에 남는다.</a:t>
            </a:r>
          </a:p>
          <a:p xmlns:a="http://schemas.openxmlformats.org/drawingml/2006/main">
            <a:r>
              <a:t>경계: Downstream Agent 내부의 도메인 추론, 계획, 도구 실행 품질은 제외한다. VIA의 잘못된 대상 연결, 상태 판단과 전달은 포함한다.</a:t>
            </a:r>
          </a:p>
          <a:p xmlns:a="http://schemas.openxmlformats.org/drawingml/2006/main">
            <a:r>
              <a:t>S01: Nexusflow, [NexusRaven-13B 공식 구현 README](https://github.com/nexusflowai/NexusRaven#introducing-nexusraven-13b)</a:t>
            </a:r>
          </a:p>
          <a:p xmlns:a="http://schemas.openxmlformats.org/drawingml/2006/main">
            <a:r>
              <a:t>S02: Yao et al., 2024, [tau-bench](https://arxiv.org/abs/2406.12045)</a:t>
            </a:r>
          </a:p>
          <a:p xmlns:a="http://schemas.openxmlformats.org/drawingml/2006/main">
            <a:r>
              <a:t>S11: Mao et al., [BFCL V3 공식 평가 설명](https://gorilla.cs.berkeley.edu/blogs/13_bfcl_v3_multi_turn.html#evaluation-metrics)</a:t>
            </a:r>
          </a:p>
          <a:p xmlns:a="http://schemas.openxmlformats.org/drawingml/2006/main">
            <a:r>
              <a:t/>
            </a:r>
          </a:p>
          <a:p xmlns:a="http://schemas.openxmlformats.org/drawingml/2006/main">
            <a:r>
              <a:t>V-02 기능 적절성</a:t>
            </a:r>
          </a:p>
          <a:p xmlns:a="http://schemas.openxmlformats.org/drawingml/2006/main">
            <a:r>
              <a:t>원래 V 이름: 기능 적절성</a:t>
            </a:r>
          </a:p>
          <a:p xmlns:a="http://schemas.openxmlformats.org/drawingml/2006/main">
            <a:r>
              <a:t>설명: 추가 사용자 입력을 최소화해 요청을 마쳐야 한다.</a:t>
            </a:r>
          </a:p>
          <a:p xmlns:a="http://schemas.openxmlformats.org/drawingml/2006/main">
            <a:r>
              <a:t>목표: 평균 사용자 개입 ≤ 1회/요청</a:t>
            </a:r>
          </a:p>
          <a:p xmlns:a="http://schemas.openxmlformats.org/drawingml/2006/main">
            <a:r>
              <a:t>목표 근거: CoA는 필요한 경우 한 번의 집중된 질문으로 모호성을 해소한다. 이를 VIA의 추가 개입 예산 1회로 제안하며 권한 확인도 비용에 포함한다.</a:t>
            </a:r>
          </a:p>
          <a:p xmlns:a="http://schemas.openxmlformats.org/drawingml/2006/main">
            <a:r>
              <a:t>측정: 질문 답변, 선택, 승인과 정해진 수동 우회의 사용자 입력 episode를 센다. 실패 뒤 최대 두 번의 재요청과 사례별 수동 마무리도 포함하며 미완료 시험을 제외하지 않는다.</a:t>
            </a:r>
          </a:p>
          <a:p xmlns:a="http://schemas.openxmlformats.org/drawingml/2006/main">
            <a:r>
              <a:t>경계: V-01의 의미 오류율이나 V-03의 기능 지원률로 대체하지 않는다. 사용자 수고는 V-05의 VIA 책임 시간과 구분한다.</a:t>
            </a:r>
          </a:p>
          <a:p xmlns:a="http://schemas.openxmlformats.org/drawingml/2006/main">
            <a:r>
              <a:t>S03: Cao et al., 2026, [Clarify or Answer](https://arxiv.org/abs/2601.16400)</a:t>
            </a:r>
          </a:p>
          <a:p xmlns:a="http://schemas.openxmlformats.org/drawingml/2006/main">
            <a:r>
              <a:t/>
            </a:r>
          </a:p>
          <a:p xmlns:a="http://schemas.openxmlformats.org/drawingml/2006/main">
            <a:r>
              <a:t>V-03 기능 완전성</a:t>
            </a:r>
          </a:p>
          <a:p xmlns:a="http://schemas.openxmlformats.org/drawingml/2006/main">
            <a:r>
              <a:t>원래 V 이름: 기능 완전성</a:t>
            </a:r>
          </a:p>
          <a:p xmlns:a="http://schemas.openxmlformats.org/drawingml/2006/main">
            <a:r>
              <a:t>설명: 고정된 사용 시나리오의 필수 기능을 모두 지원해야 한다.</a:t>
            </a:r>
          </a:p>
          <a:p xmlns:a="http://schemas.openxmlformats.org/drawingml/2006/main">
            <a:r>
              <a:t>목표: 기능 지원 달성률 = 100%</a:t>
            </a:r>
          </a:p>
          <a:p xmlns:a="http://schemas.openxmlformats.org/drawingml/2006/main">
            <a:r>
              <a:t>목표 근거: 대표 UC의 필수 변형 94개가 공통 기능 계약이므로 완전 지원 목표를 94/94로 정한다. 상위 UC 18개를 다시 더하지 않는다.</a:t>
            </a:r>
          </a:p>
          <a:p xmlns:a="http://schemas.openxmlformats.org/drawingml/2006/main">
            <a:r>
              <a:t>측정: 94개 변형마다 구현 경로, 필수 capability 계약 시험과 다섯 상황의 실제 witness를 확인한다. 단 한 번의 성공이나 설계 문서만으로 완전 지원을 인정하지 않는다.</a:t>
            </a:r>
          </a:p>
          <a:p xmlns:a="http://schemas.openxmlformats.org/drawingml/2006/main">
            <a:r>
              <a:t>경계: 대안에 맞춰 공통 요구 목록을 줄이지 않는다. 미지원 안내를 원래 사용자 목표의 완료로 세지 않는다.</a:t>
            </a:r>
          </a:p>
          <a:p xmlns:a="http://schemas.openxmlformats.org/drawingml/2006/main">
            <a:r>
              <a:t>S00: [VIA 대표 UC](../../architecture/05-representative-use-cases.md), [고정 범위](../../architecture/03-fixed-architecture-scope.md), [V 품질 시나리오](../../architecture/12-decisions/decision-packages/03-00-quality-scenarios.md)</a:t>
            </a:r>
          </a:p>
          <a:p xmlns:a="http://schemas.openxmlformats.org/drawingml/2006/main">
            <a:r>
              <a:t/>
            </a:r>
          </a:p>
          <a:p xmlns:a="http://schemas.openxmlformats.org/drawingml/2006/main">
            <a:r>
              <a:t>V-04 응답 신속성</a:t>
            </a:r>
          </a:p>
          <a:p xmlns:a="http://schemas.openxmlformats.org/drawingml/2006/main">
            <a:r>
              <a:t>원래 V 이름: 상호작용 반응성</a:t>
            </a:r>
          </a:p>
          <a:p xmlns:a="http://schemas.openxmlformats.org/drawingml/2006/main">
            <a:r>
              <a:t>설명: 사용자 입력에 빠르게 반응해야 한다.</a:t>
            </a:r>
          </a:p>
          <a:p xmlns:a="http://schemas.openxmlformats.org/drawingml/2006/main">
            <a:r>
              <a:t>목표: 평균 반응시간 ≤ 1초</a:t>
            </a:r>
          </a:p>
          <a:p xmlns:a="http://schemas.openxmlformats.org/drawingml/2006/main">
            <a:r>
              <a:t>목표 근거: Nielsen의 1초 상호작용 기준을 평균 반응시간의 목표로 선택한다. 원문이 평균 집계를 지정하지는 않으며 집계는 사용자의 발표 기준을 따른다.</a:t>
            </a:r>
          </a:p>
          <a:p xmlns:a="http://schemas.openxmlformats.org/drawingml/2006/main">
            <a:r>
              <a:t>측정: 요청, 상태 전달과 제어의 고정 event slot을 계측한다. 오답이나 오류 안내도 실제 전달 시각으로 시간을 기록하고 정답 여부는 V-01에서 별도 판정한다. 출력이 없으면 실제 관측 종료까지의 경과시간과 미전달 상태를 남긴다.</a:t>
            </a:r>
          </a:p>
          <a:p xmlns:a="http://schemas.openxmlformats.org/drawingml/2006/main">
            <a:r>
              <a:t>경계: 접수 인사, spinner, enqueue는 유효한 종료점이 아니다. 음성 출력 중단과 업무 취소는 구분하며 Agent 내부 실행 시간은 제외한다.</a:t>
            </a:r>
          </a:p>
          <a:p xmlns:a="http://schemas.openxmlformats.org/drawingml/2006/main">
            <a:r>
              <a:t>S04: Jakob Nielsen, 2019, [The 3 Response Time Limits in Interaction Design](https://www.nngroup.com/videos/3-response-time-limits-interaction-design/)</a:t>
            </a:r>
          </a:p>
          <a:p xmlns:a="http://schemas.openxmlformats.org/drawingml/2006/main">
            <a:r>
              <a:t/>
            </a:r>
          </a:p>
          <a:p xmlns:a="http://schemas.openxmlformats.org/drawingml/2006/main">
            <a:r>
              <a:t>V-05 요청 완료 신속성</a:t>
            </a:r>
          </a:p>
          <a:p xmlns:a="http://schemas.openxmlformats.org/drawingml/2006/main">
            <a:r>
              <a:t>원래 V 이름: VIA 귀속 요청 완료 시간</a:t>
            </a:r>
          </a:p>
          <a:p xmlns:a="http://schemas.openxmlformats.org/drawingml/2006/main">
            <a:r>
              <a:t>설명: VIA의 처리로 결과 전달이 늦어지지 않아야 한다.</a:t>
            </a:r>
          </a:p>
          <a:p xmlns:a="http://schemas.openxmlformats.org/drawingml/2006/main">
            <a:r>
              <a:t>목표: 평균 VIA 처리시간 ≤ 10초</a:t>
            </a:r>
          </a:p>
          <a:p xmlns:a="http://schemas.openxmlformats.org/drawingml/2006/main">
            <a:r>
              <a:t>목표 근거: Nielsen의 10초 기준을 참고해 VIA의 추가 처리 예산을 10초로 선택한다. 외부 대기를 뺀 이 값이 사용자의 전체 대기시간과 같다는 주장은 하지 않는다.</a:t>
            </a:r>
          </a:p>
          <a:p xmlns:a="http://schemas.openxmlformats.org/drawingml/2006/main">
            <a:r>
              <a:t>측정: 실제 입력부터 필수 결과 전달까지 VIA 처리가 필요한 구간의 합집합 길이를 측정한다. 외부 작업이나 사용자 답변만 기다린 구간만 제외하며 병렬 구간과 parent/child span을 중복 합산하지 않는다.</a:t>
            </a:r>
          </a:p>
          <a:p xmlns:a="http://schemas.openxmlformats.org/drawingml/2006/main">
            <a:r>
              <a:t>경계: 직접 응답과 위임에 같은 목표를 적용하고 선행 결과를 쓰는 요청 관계를 별도 표시한다. 실패도 실제 경과시간을 기록하며 정답 실패를 무한대 시간으로 바꾸지 않는다.</a:t>
            </a:r>
          </a:p>
          <a:p xmlns:a="http://schemas.openxmlformats.org/drawingml/2006/main">
            <a:r>
              <a:t>S04: Jakob Nielsen, 2019, [The 3 Response Time Limits in Interaction Design](https://www.nngroup.com/videos/3-response-time-limits-interaction-design/)</a:t>
            </a:r>
          </a:p>
          <a:p xmlns:a="http://schemas.openxmlformats.org/drawingml/2006/main">
            <a:r>
              <a:t/>
            </a:r>
          </a:p>
          <a:p xmlns:a="http://schemas.openxmlformats.org/drawingml/2006/main">
            <a:r>
              <a:t>상세 측정 설계</a:t>
            </a:r>
          </a:p>
          <a:p xmlns:a="http://schemas.openxmlformats.org/drawingml/2006/main">
            <a:r>
              <a:t># 목표 근거와 측정 설계</a:t>
            </a:r>
          </a:p>
          <a:p xmlns:a="http://schemas.openxmlformats.org/drawingml/2006/main">
            <a:r>
              <a:t/>
            </a:r>
          </a:p>
          <a:p xmlns:a="http://schemas.openxmlformats.org/drawingml/2006/main">
            <a:r>
              <a:t>작성일: 2026-10-06. **발표용 목표와 평가 설계 제안이며 구현 결과, 실측 결과 또는 동결된 측정 계약이 아니다.** 기존 Architecture, QA 및 ADR와 비교안의 미선정 상태를 보존한다.</a:t>
            </a:r>
          </a:p>
          <a:p xmlns:a="http://schemas.openxmlformats.org/drawingml/2006/main">
            <a:r>
              <a:t/>
            </a:r>
          </a:p>
          <a:p xmlns:a="http://schemas.openxmlformats.org/drawingml/2006/main">
            <a:r>
              <a:t>## 1. 발표 기준</a:t>
            </a:r>
          </a:p>
          <a:p xmlns:a="http://schemas.openxmlformats.org/drawingml/2006/main">
            <a:r>
              <a:t/>
            </a:r>
          </a:p>
          <a:p xmlns:a="http://schemas.openxmlformats.org/drawingml/2006/main">
            <a:r>
              <a:t>원본 V의 순위와 ID를 유지하고 V-01~10을 발표한다. V-08은 V-06보다 앞에 배치한다. 공동 순위 안에는 추가 우열이 없다. 각 행에는 하나의 품질명, 짧은 한 문장 설명과 하나의 수치 목표를 둔다. V-11~13은 사용자 검토에 따라 발표에서 제외한다. V-11의 메모리 비용을 V-06에서 확인하되 상호운용성 전체를 메모리로 대체하지 않는다.</a:t>
            </a:r>
          </a:p>
          <a:p xmlns:a="http://schemas.openxmlformats.org/drawingml/2006/main">
            <a:r>
              <a:t/>
            </a:r>
          </a:p>
          <a:p xmlns:a="http://schemas.openxmlformats.org/drawingml/2006/main">
            <a:r>
              <a:t>목표의 근거는 세 종류로 구분한다. **구현 참조값**은 다른 시스템의 공개 결과를 VIA가 지향할 수준으로 선택한 값이다. **계약 목표**는 고정된 필수 기능과 금지 사건에서 정한다. **설계 예산**은 장치 사양이나 사용자 시간 기준을 바탕으로 VIA의 허용 비용을 계산한다. 예산 항목과 계산은 공개하며 문헌이 VIA에 그 숫자를 직접 규정했다고 주장하지 않는다.</a:t>
            </a:r>
          </a:p>
          <a:p xmlns:a="http://schemas.openxmlformats.org/drawingml/2006/main">
            <a:r>
              <a:t/>
            </a:r>
          </a:p>
          <a:p xmlns:a="http://schemas.openxmlformats.org/drawingml/2006/main">
            <a:r>
              <a:t>| ID | 목표 유형 | 선택 근거 |</a:t>
            </a:r>
          </a:p>
          <a:p xmlns:a="http://schemas.openxmlformats.org/drawingml/2006/main">
            <a:r>
              <a:t>| --- | --- | --- |</a:t>
            </a:r>
          </a:p>
          <a:p xmlns:a="http://schemas.openxmlformats.org/drawingml/2006/main">
            <a:r>
              <a:t>| V-01 | 구현 참조값 | NexusRaven의 검색을 결합한 도구 사용 성공률 95% [S01] |</a:t>
            </a:r>
          </a:p>
          <a:p xmlns:a="http://schemas.openxmlformats.org/drawingml/2006/main">
            <a:r>
              <a:t>| V-02 | 상호작용 예산 | 필요한 경우 하나의 집중 질문을 쓰는 CoA 방식 [S03] |</a:t>
            </a:r>
          </a:p>
          <a:p xmlns:a="http://schemas.openxmlformats.org/drawingml/2006/main">
            <a:r>
              <a:t>| V-03 | 기능 계약 | 고정된 필수 UC 변형 94개 전부 [S00] |</a:t>
            </a:r>
          </a:p>
          <a:p xmlns:a="http://schemas.openxmlformats.org/drawingml/2006/main">
            <a:r>
              <a:t>| V-04 | 시간 예산 | Nielsen의 1초 상호작용 기준 [S04] |</a:t>
            </a:r>
          </a:p>
          <a:p xmlns:a="http://schemas.openxmlformats.org/drawingml/2006/main">
            <a:r>
              <a:t>| V-05 | 처리 예산 | Nielsen의 10초 기준을 참고한 VIA 추가 처리 예산 [S04] |</a:t>
            </a:r>
          </a:p>
          <a:p xmlns:a="http://schemas.openxmlformats.org/drawingml/2006/main">
            <a:r>
              <a:t>| V-08 | 변경 예산 | SEI 변경 전파 원칙을 책임, 계약, 소비자 세 요소로 구체화 [S05] |</a:t>
            </a:r>
          </a:p>
          <a:p xmlns:a="http://schemas.openxmlformats.org/drawingml/2006/main">
            <a:r>
              <a:t>| V-06 | 메모리 예산 | 삼성 32GB RAM / 8GB VRAM 사양과 가중치 및 KV 계산 [S06, S07, S12] |</a:t>
            </a:r>
          </a:p>
          <a:p xmlns:a="http://schemas.openxmlformats.org/drawingml/2006/main">
            <a:r>
              <a:t>| V-07 | 복구 예산 | 10초 시간 예산과 작은 실행 단위 복구의 구조적 근거 [S04, S08] |</a:t>
            </a:r>
          </a:p>
          <a:p xmlns:a="http://schemas.openxmlformats.org/drawingml/2006/main">
            <a:r>
              <a:t>| V-09 | 연구 기록 계약 | 모든 시험의 처리 경위를 독립 분석자가 확인 [S09] |</a:t>
            </a:r>
          </a:p>
          <a:p xmlns:a="http://schemas.openxmlformats.org/drawingml/2006/main">
            <a:r>
              <a:t>| V-10 | 정보 사용 계약 | 승인된 접근과 최소 권한에서 금지 사건 예산 0건 [S00, S10] |</a:t>
            </a:r>
          </a:p>
          <a:p xmlns:a="http://schemas.openxmlformats.org/drawingml/2006/main">
            <a:r>
              <a:t/>
            </a:r>
          </a:p>
          <a:p xmlns:a="http://schemas.openxmlformats.org/drawingml/2006/main">
            <a:r>
              <a:t>VIA와 동일한 제품 및 시험에서 산출한 외부 기준은 없다. 그러므로 이 목표들은 달성 사실이나 달성 가능성의 증명이 아니다. 목표를 정한 뒤 실제 시험으로 검증할 값이다. 정확도와 메모리 또는 속도가 충돌하면 실패와 비용을 모두 공개한다. 특정 숫자를 통과시키려고 기능 범위나 출력 내용을 사후 축소하지 않는다.</a:t>
            </a:r>
          </a:p>
          <a:p xmlns:a="http://schemas.openxmlformats.org/drawingml/2006/main">
            <a:r>
              <a:t/>
            </a:r>
          </a:p>
          <a:p xmlns:a="http://schemas.openxmlformats.org/drawingml/2006/main">
            <a:r>
              <a:t>## 2. 전체 평가 조건</a:t>
            </a:r>
          </a:p>
          <a:p xmlns:a="http://schemas.openxmlformats.org/drawingml/2006/main">
            <a:r>
              <a:t/>
            </a:r>
          </a:p>
          <a:p xmlns:a="http://schemas.openxmlformats.org/drawingml/2006/main">
            <a:r>
              <a:t>### 2.1 모집단과 집계</a:t>
            </a:r>
          </a:p>
          <a:p xmlns:a="http://schemas.openxmlformats.org/drawingml/2006/main">
            <a:r>
              <a:t/>
            </a:r>
          </a:p>
          <a:p xmlns:a="http://schemas.openxmlformats.org/drawingml/2006/main">
            <a:r>
              <a:t>[대표 UC](../../architecture/05-representative-use-cases.md)의 UC 18개 아래 **필수 변형 94개**를 기능 모수로 잡는다. 상위 UC를 다시 더하면 같은 기능을 중복 집계한다. 정확한 ID는 [functional-coverage.json](functional-coverage.json)에 보존한다.</a:t>
            </a:r>
          </a:p>
          <a:p xmlns:a="http://schemas.openxmlformats.org/drawingml/2006/main">
            <a:r>
              <a:t/>
            </a:r>
          </a:p>
          <a:p xmlns:a="http://schemas.openxmlformats.org/drawingml/2006/main">
            <a:r>
              <a:t>| UC | 변형 수 | UC | 변형 수 | UC | 변형 수 |</a:t>
            </a:r>
          </a:p>
          <a:p xmlns:a="http://schemas.openxmlformats.org/drawingml/2006/main">
            <a:r>
              <a:t>| --- | ---: | --- | ---: | --- | ---: |</a:t>
            </a:r>
          </a:p>
          <a:p xmlns:a="http://schemas.openxmlformats.org/drawingml/2006/main">
            <a:r>
              <a:t>| UC-01 | 4 | UC-07 | 5 | UC-13 | 6 |</a:t>
            </a:r>
          </a:p>
          <a:p xmlns:a="http://schemas.openxmlformats.org/drawingml/2006/main">
            <a:r>
              <a:t>| UC-02 | 6 | UC-08 | 5 | UC-14 | 5 |</a:t>
            </a:r>
          </a:p>
          <a:p xmlns:a="http://schemas.openxmlformats.org/drawingml/2006/main">
            <a:r>
              <a:t>| UC-03 | 6 | UC-09 | 5 | UC-15 | 5 |</a:t>
            </a:r>
          </a:p>
          <a:p xmlns:a="http://schemas.openxmlformats.org/drawingml/2006/main">
            <a:r>
              <a:t>| UC-04 | 7 | UC-10 | 5 | UC-16 | 5 |</a:t>
            </a:r>
          </a:p>
          <a:p xmlns:a="http://schemas.openxmlformats.org/drawingml/2006/main">
            <a:r>
              <a:t>| UC-05 | 4 | UC-11 | 5 | UC-17 | 5 |</a:t>
            </a:r>
          </a:p>
          <a:p xmlns:a="http://schemas.openxmlformats.org/drawingml/2006/main">
            <a:r>
              <a:t>| UC-06 | 5 | UC-12 | 5 | UC-18 | 6 |</a:t>
            </a:r>
          </a:p>
          <a:p xmlns:a="http://schemas.openxmlformats.org/drawingml/2006/main">
            <a:r>
              <a:t/>
            </a:r>
          </a:p>
          <a:p xmlns:a="http://schemas.openxmlformats.org/drawingml/2006/main">
            <a:r>
              <a:t>기능 회귀 시험은 변형별 구체 사례 5개와 반복 4회로 **94 × 5 × 4 = 1,880회**를 설계한다. 각 변형의 다섯 사례는 표현, 대상의 혼동 가능성, 이력 길이, 허용된 화면 근거와 사건 순서를 바꾼다. 음성 전용 변형에 텍스트를 강제로 배정하지 않는다. 예외 변형의 올바른 거절과 보류는 정답이다. 잘못된 구현 때문에 정상 요청을 거절한 것은 실패다.</a:t>
            </a:r>
          </a:p>
          <a:p xmlns:a="http://schemas.openxmlformats.org/drawingml/2006/main">
            <a:r>
              <a:t/>
            </a:r>
          </a:p>
          <a:p xmlns:a="http://schemas.openxmlformats.org/drawingml/2006/main">
            <a:r>
              <a:t>각 사례는 하나의 사용자 목표를 위한 상호작용 전체다. 필요한 질문 답변과 정정 턴을 포함한다. 모델 호출, tool 호출, 하위 Task 수로 분모를 늘리지 않는다. 모든 반복을 포함하고 94개 변형은 동일한 가중치를 가진다. 다섯 사례와 네 반복은 재현 가능한 시험 규모의 제안이며 논문이 규정한 표본 수가 아니다. 1,880개 독립 사용자를 조사했다고 표현하지 않는다.</a:t>
            </a:r>
          </a:p>
          <a:p xmlns:a="http://schemas.openxmlformats.org/drawingml/2006/main">
            <a:r>
              <a:t/>
            </a:r>
          </a:p>
          <a:p xmlns:a="http://schemas.openxmlformats.org/drawingml/2006/main">
            <a:r>
              <a:t>다음 시험군은 전체 기능 평균에 섞지 않고 각각 보고한다. [evaluation-plan.json](evaluation-plan.json)은 시험군과 환경 및 DP별 구체 상황을 기록한다. 아직 실행 fixture나 runner를 구현하지 않았다.</a:t>
            </a:r>
          </a:p>
          <a:p xmlns:a="http://schemas.openxmlformats.org/drawingml/2006/main">
            <a:r>
              <a:t/>
            </a:r>
          </a:p>
          <a:p xmlns:a="http://schemas.openxmlformats.org/drawingml/2006/main">
            <a:r>
              <a:t>| 시험군 | 제안 규모 | 목적 |</a:t>
            </a:r>
          </a:p>
          <a:p xmlns:a="http://schemas.openxmlformats.org/drawingml/2006/main">
            <a:r>
              <a:t>| --- | ---: | --- |</a:t>
            </a:r>
          </a:p>
          <a:p xmlns:a="http://schemas.openxmlformats.org/drawingml/2006/main">
            <a:r>
              <a:t>| G-FUNC | 1,880회 | V-01~05의 공통 기능 및 상호작용 회귀 |</a:t>
            </a:r>
          </a:p>
          <a:p xmlns:a="http://schemas.openxmlformats.org/drawingml/2006/main">
            <a:r>
              <a:t>| G-DP | 비교별 8개 상황 × 3개 조건 × 4회 = 96회 | 41~45의 실제 구조 차이에 민감한 조건 확인 |</a:t>
            </a:r>
          </a:p>
          <a:p xmlns:a="http://schemas.openxmlformats.org/drawingml/2006/main">
            <a:r>
              <a:t>| G-CHANGE | 공통 변경 과제 6개 | V-08의 변경 영향 분석 |</a:t>
            </a:r>
          </a:p>
          <a:p xmlns:a="http://schemas.openxmlformats.org/drawingml/2006/main">
            <a:r>
              <a:t>| G-MEM | 후보별 8시간 세션 3회 | 상시 동작과 반복 요청 및 최대 메모리 |</a:t>
            </a:r>
          </a:p>
          <a:p xmlns:a="http://schemas.openxmlformats.org/drawingml/2006/main">
            <a:r>
              <a:t>| G-FAULT | 12종 × 3개 지점 × 4회 = 144회 | V-07의 올바른 복구 |</a:t>
            </a:r>
          </a:p>
          <a:p xmlns:a="http://schemas.openxmlformats.org/drawingml/2006/main">
            <a:r>
              <a:t>| G-SEC | 금지 사례 144회와 허용 대조군 144회 | V-10의 무단 사용과 과도한 차단 확인 |</a:t>
            </a:r>
          </a:p>
          <a:p xmlns:a="http://schemas.openxmlformats.org/drawingml/2006/main">
            <a:r>
              <a:t>| G-ANALYSIS | 위 시험의 고유 trial ID 전체 | V-09의 처리 경위 확인 |</a:t>
            </a:r>
          </a:p>
          <a:p xmlns:a="http://schemas.openxmlformats.org/drawingml/2006/main">
            <a:r>
              <a:t/>
            </a:r>
          </a:p>
          <a:p xmlns:a="http://schemas.openxmlformats.org/drawingml/2006/main">
            <a:r>
              <a:t>### 2.2 정답 계약과 입력</a:t>
            </a:r>
          </a:p>
          <a:p xmlns:a="http://schemas.openxmlformats.org/drawingml/2006/main">
            <a:r>
              <a:t/>
            </a:r>
          </a:p>
          <a:p xmlns:a="http://schemas.openxmlformats.org/drawingml/2006/main">
            <a:r>
              <a:t>각 구체 사례에는 실행 전에 다음 manifest를 작성한다. 두 검토자가 사용자 의도와 정답을 독립적으로 검토하고 불일치를 해결한다. 대안의 출력으로 정답을 만들지 않는다.</a:t>
            </a:r>
          </a:p>
          <a:p xmlns:a="http://schemas.openxmlformats.org/drawingml/2006/main">
            <a:r>
              <a:t/>
            </a:r>
          </a:p>
          <a:p xmlns:a="http://schemas.openxmlformats.org/drawingml/2006/main">
            <a:r>
              <a:t>| 항목 | 반드시 고정할 내용 |</a:t>
            </a:r>
          </a:p>
          <a:p xmlns:a="http://schemas.openxmlformats.org/drawingml/2006/main">
            <a:r>
              <a:t>| --- | --- |</a:t>
            </a:r>
          </a:p>
          <a:p xmlns:a="http://schemas.openxmlformats.org/drawingml/2006/main">
            <a:r>
              <a:t>| 식별 | case ID, UC 변형, DP 조건, 반복 seed, 독립 사용자 목표 |</a:t>
            </a:r>
          </a:p>
          <a:p xmlns:a="http://schemas.openxmlformats.org/drawingml/2006/main">
            <a:r>
              <a:t>| 입력 | 실제 텍스트 또는 PCM 파일, 언어, 발화 시작과 종료, 화면과 pointer 사건 |</a:t>
            </a:r>
          </a:p>
          <a:p xmlns:a="http://schemas.openxmlformats.org/drawingml/2006/main">
            <a:r>
              <a:t>| 초기 상태 | Conversation, Request, Task, Execution, 질문의 실제 제시 여부와 revision |</a:t>
            </a:r>
          </a:p>
          <a:p xmlns:a="http://schemas.openxmlformats.org/drawingml/2006/main">
            <a:r>
              <a:t>| 근거 | source ID, 버전, 접근 범위, 삭제 및 권한 epoch, 누락된 범위 |</a:t>
            </a:r>
          </a:p>
          <a:p xmlns:a="http://schemas.openxmlformats.org/drawingml/2006/main">
            <a:r>
              <a:t>| 의미 정답 | F1 의도, F2 대상, F3 대화와 Task 연결, F4 요청 관계, F5 수정 범위, F6 처리 방향 |</a:t>
            </a:r>
          </a:p>
          <a:p xmlns:a="http://schemas.openxmlformats.org/drawingml/2006/main">
            <a:r>
              <a:t>| 상태 정답 | 허용된 상태 변화와 명령 및 외부 사실, 적용하지 않는 필드의 이유 |</a:t>
            </a:r>
          </a:p>
          <a:p xmlns:a="http://schemas.openxmlformats.org/drawingml/2006/main">
            <a:r>
              <a:t>| 사용자 script | 필요한 답변, 승인, 오답 뒤 재요청과 수동 마무리, 실제 행동 단위 |</a:t>
            </a:r>
          </a:p>
          <a:p xmlns:a="http://schemas.openxmlformats.org/drawingml/2006/main">
            <a:r>
              <a:t>| 출력 계약 | 필수 사실, artifact 접근, 실제 텍스트와 음성 전달 범위 및 오류 안내 |</a:t>
            </a:r>
          </a:p>
          <a:p xmlns:a="http://schemas.openxmlformats.org/drawingml/2006/main">
            <a:r>
              <a:t>| 시간 조건 | 사건 기준점, 외부 알림 schedule, 관측 종료 및 fault 주입 지점 |</a:t>
            </a:r>
          </a:p>
          <a:p xmlns:a="http://schemas.openxmlformats.org/drawingml/2006/main">
            <a:r>
              <a:t/>
            </a:r>
          </a:p>
          <a:p xmlns:a="http://schemas.openxmlformats.org/drawingml/2006/main">
            <a:r>
              <a:t>한 턴이라도 필요한 의미, 상태 또는 전달이 틀리면 V-01의 해당 전체 시험은 실패다. 마지막 상태가 우연히 맞아 앞선 잘못된 전송을 가리지 않도록 각 턴을 검사한다. BFCL V3의 상태와 응답 검사 방식을 참고하되 [S11], API 호출 순서를 정답 하나로 강제하지 않는다. A의 ReAct나 B/C의 코드 조정 등 각 설계의 합법적인 경로를 허용한다.</a:t>
            </a:r>
          </a:p>
          <a:p xmlns:a="http://schemas.openxmlformats.org/drawingml/2006/main">
            <a:r>
              <a:t/>
            </a:r>
          </a:p>
          <a:p xmlns:a="http://schemas.openxmlformats.org/drawingml/2006/main">
            <a:r>
              <a:t>한국어를 기본 시험 언어로 한다. 한국어 입력과 영어 문서 또는 앱 이름이 섞인 상황을 포함한다. 음성 PCM은 동일 파일을 같은 입력 경계에 replay한다. 기본 조용한 음성 조건과 배경 소음 15dB SNR 조건을 구분한다. 이는 일반 사용자의 소음 분포를 주장하는 수치가 아니라 반복 가능한 시험 조건이다. 정답 Task ID를 시스템 입력에 미리 붙이지 않는다.</a:t>
            </a:r>
          </a:p>
          <a:p xmlns:a="http://schemas.openxmlformats.org/drawingml/2006/main">
            <a:r>
              <a:t/>
            </a:r>
          </a:p>
          <a:p xmlns:a="http://schemas.openxmlformats.org/drawingml/2006/main">
            <a:r>
              <a:t>Context 조건은 짧은 근거 1k 토큰 상당, 긴 근거 8k 토큰 상당과 관련 없는 후보 20개를 명시한다. 모델에 실제 주입한 토큰 수와 retrieval로 읽은 원본량은 각각 기록한다. 메모리 시험의 전체 KV 예산은 §9에서 따로 계산한다. 필수 정보를 잘라낸 구성은 정확성 및 완전성에서 실패한다.</a:t>
            </a:r>
          </a:p>
          <a:p xmlns:a="http://schemas.openxmlformats.org/drawingml/2006/main">
            <a:r>
              <a:t/>
            </a:r>
          </a:p>
          <a:p xmlns:a="http://schemas.openxmlformats.org/drawingml/2006/main">
            <a:r>
              <a:t>### 2.3 장치와 모델 및 출력</a:t>
            </a:r>
          </a:p>
          <a:p xmlns:a="http://schemas.openxmlformats.org/drawingml/2006/main">
            <a:r>
              <a:t/>
            </a:r>
          </a:p>
          <a:p xmlns:a="http://schemas.openxmlformats.org/drawingml/2006/main">
            <a:r>
              <a:t>| 항목 | 공통 제안 조건 |</a:t>
            </a:r>
          </a:p>
          <a:p xmlns:a="http://schemas.openxmlformats.org/drawingml/2006/main">
            <a:r>
              <a:t>| --- | --- |</a:t>
            </a:r>
          </a:p>
          <a:p xmlns:a="http://schemas.openxmlformats.org/drawingml/2006/main">
            <a:r>
              <a:t>| 장치 기준 | Samsung Galaxy Book6 Ultra NP960UJH-XG3IN, RAM 32GB, RTX 5070 Laptop 전용 VRAM 8GB, NVMe 1TB [S06] |</a:t>
            </a:r>
          </a:p>
          <a:p xmlns:a="http://schemas.openxmlformats.org/drawingml/2006/main">
            <a:r>
              <a:t>| 화면 | 공식 사양의 2880 × 1800, OS 배율과 capture 해상도 고정 |</a:t>
            </a:r>
          </a:p>
          <a:p xmlns:a="http://schemas.openxmlformats.org/drawingml/2006/main">
            <a:r>
              <a:t>| OS와 실행 | Windows 11, AC 연결, 같은 전력 모드, 동일 driver와 build, 24시간 절전 중지 |</a:t>
            </a:r>
          </a:p>
          <a:p xmlns:a="http://schemas.openxmlformats.org/drawingml/2006/main">
            <a:r>
              <a:t>| 기록할 환경 | 실제 CPU/GPU, BIOS, available RAM, driver, 온도, 전력 상태 및 page fault |</a:t>
            </a:r>
          </a:p>
          <a:p xmlns:a="http://schemas.openxmlformats.org/drawingml/2006/main">
            <a:r>
              <a:t>| 모델 | 동일한 공유 on-device Omni 한 벌, 독립 Streaming ASR, 동일 helper inventory |</a:t>
            </a:r>
          </a:p>
          <a:p xmlns:a="http://schemas.openxmlformats.org/drawingml/2006/main">
            <a:r>
              <a:t>| 모델 계약 | 모델 hash, tokenizer, quantization, runtime, context 한도, decoding과 seed를 실제 평가 전에 고정 |</a:t>
            </a:r>
          </a:p>
          <a:p xmlns:a="http://schemas.openxmlformats.org/drawingml/2006/main">
            <a:r>
              <a:t>| 자원 조건 | 동일 총 weight와 KV 예산, scheduler 정책, thread와 GPU 설정. 호출 수와 producer state는 대안의 비용으로 남김 |</a:t>
            </a:r>
          </a:p>
          <a:p xmlns:a="http://schemas.openxmlformats.org/drawingml/2006/main">
            <a:r>
              <a:t>| 기본 부하 | 활성 Conversation 1개, 미완료 Task 4개, 외부 실행 2개 |</a:t>
            </a:r>
          </a:p>
          <a:p xmlns:a="http://schemas.openxmlformats.org/drawingml/2006/main">
            <a:r>
              <a:t>| 입력과 사건 | 사용자 입력 중 Agent 질문 또는 결과 도착, 음성 출력 중 정정, source와 권한 변경 |</a:t>
            </a:r>
          </a:p>
          <a:p xmlns:a="http://schemas.openxmlformats.org/drawingml/2006/main">
            <a:r>
              <a:t>| 출력 길이 | 짧은 요약은 필수 사실을 담은 텍스트와 최대 4초 기준 음성, 상세 내용은 동일 artifact |</a:t>
            </a:r>
          </a:p>
          <a:p xmlns:a="http://schemas.openxmlformats.org/drawingml/2006/main">
            <a:r>
              <a:t>| 긴 출력 | 20초 기준 설명 음성을 별도 조건으로 보고하고 V-05의 10초 적용 범위와 구별 |</a:t>
            </a:r>
          </a:p>
          <a:p xmlns:a="http://schemas.openxmlformats.org/drawingml/2006/main">
            <a:r>
              <a:t>| 반복 | seed 11, 23, 37, 53. 후보 실행 순서는 교차 배치하고 상태는 동일 snapshot으로 복원 |</a:t>
            </a:r>
          </a:p>
          <a:p xmlns:a="http://schemas.openxmlformats.org/drawingml/2006/main">
            <a:r>
              <a:t/>
            </a:r>
          </a:p>
          <a:p xmlns:a="http://schemas.openxmlformats.org/drawingml/2006/main">
            <a:r>
              <a:t>한국어 4초와 20초는 동일 renderer의 기준 음성 fixture 길이다. 모델 생성 음성은 실제 길이를 다시 계측한다. 목표 통과를 위해 중요한 내용을 생략할 수 없다. 20초 설명은 실제 재생만으로 10초를 넘으므로 짧은 응답 계약용 V-05 점수에 합치지 않는다. 기능 정확성과 지원률 및 긴 출력의 실제 시간은 계속 보고한다. 이 적용 범위를 평가 전에 공개한다.</a:t>
            </a:r>
          </a:p>
          <a:p xmlns:a="http://schemas.openxmlformats.org/drawingml/2006/main">
            <a:r>
              <a:t/>
            </a:r>
          </a:p>
          <a:p xmlns:a="http://schemas.openxmlformats.org/drawingml/2006/main">
            <a:r>
              <a:t>모델의 구체 버전은 아직 선정하지 않았다. 따라서 현재 문서가 완성된 환경 freeze나 실행 가능 benchmark라는 주장은 하지 않는다. 같은 10B라도 서로 다른 모델이면 별도 조건이다. 실제 시험 전 버전, hash, 장치 및 입력 파일을 채워 계약을 동결해야 한다.</a:t>
            </a:r>
          </a:p>
          <a:p xmlns:a="http://schemas.openxmlformats.org/drawingml/2006/main">
            <a:r>
              <a:t/>
            </a:r>
          </a:p>
          <a:p xmlns:a="http://schemas.openxmlformats.org/drawingml/2006/main">
            <a:r>
              <a:t>Cold는 프로세스와 가중치 및 해당 시험 cache가 없는 상태, warm은 가중치가 상주한 상태다. OS 파일 cache의 상태도 기록한다. 기능 회귀는 warm으로 수행하고 cold 첫 요청을 별도 시간 및 메모리 시험으로 수행한다. 발표의 반응시간 목표는 VIA가 이미 실행 중인 warm 상호작용에 적용한다. 시작 시간이나 모델 loading을 숨기지 않고 별도 공개한다.</a:t>
            </a:r>
          </a:p>
          <a:p xmlns:a="http://schemas.openxmlformats.org/drawingml/2006/main">
            <a:r>
              <a:t/>
            </a:r>
          </a:p>
          <a:p xmlns:a="http://schemas.openxmlformats.org/drawingml/2006/main">
            <a:r>
              <a:t>VIA 외 프로세스의 RAM을 임의로 몇 GB 예약하지 않는다. 기본 시험에서는 관련 없는 부하를 끄고 OS 상태를 기록한다. 같은 foreground 앱으로 근거를 제공하는 데 필요한 비용은 VIA 비용과 구별한다. 전체 PC 공존성을 증명했다고 주장하지 않는다.</a:t>
            </a:r>
          </a:p>
          <a:p xmlns:a="http://schemas.openxmlformats.org/drawingml/2006/main">
            <a:r>
              <a:t/>
            </a:r>
          </a:p>
          <a:p xmlns:a="http://schemas.openxmlformats.org/drawingml/2006/main">
            <a:r>
              <a:t>### 2.4 Downstream Agent와 관측</a:t>
            </a:r>
          </a:p>
          <a:p xmlns:a="http://schemas.openxmlformats.org/drawingml/2006/main">
            <a:r>
              <a:t/>
            </a:r>
          </a:p>
          <a:p xmlns:a="http://schemas.openxmlformats.org/drawingml/2006/main">
            <a:r>
              <a:t>같은 결정적 simulator가 동일 capability와 외부 결과를 제공한다. 기본 script는 접수 확인 0.2초 후, 첫 상태 1초 후, 결과 5초 후다. 지연 조건은 결과 30초 후, 중복과 역순은 동일 event ID 및 revision의 정해진 schedule로 발생한다. 이 값들은 외부 모델의 실측 성능이 아닌 통제 입력이다. 실제 Agent와의 검증은 별도 integration 시험으로 기록한다.</a:t>
            </a:r>
          </a:p>
          <a:p xmlns:a="http://schemas.openxmlformats.org/drawingml/2006/main">
            <a:r>
              <a:t/>
            </a:r>
          </a:p>
          <a:p xmlns:a="http://schemas.openxmlformats.org/drawingml/2006/main">
            <a:r>
              <a:t>VIA의 잘못된 대상, Task 연결, 명령, 상태 판단 및 전달은 V-01에 포함한다. 외부 Agent의 도메인 추론과 실제 업무 품질은 제외한다. 외부가 실패를 알려온 예외 사례에서 VIA가 사실을 정확히 전달하고 계약대로 처리하면 성공이다.</a:t>
            </a:r>
          </a:p>
          <a:p xmlns:a="http://schemas.openxmlformats.org/drawingml/2006/main">
            <a:r>
              <a:t/>
            </a:r>
          </a:p>
          <a:p xmlns:a="http://schemas.openxmlformats.org/drawingml/2006/main">
            <a:r>
              <a:t>모든 endpoint는 동일 monotonic clock에 맞춘다. OS audio loopback과 UI capture로 실제 전달을 확인한다. 내부 생성 완료, enqueue, 첫 packet과 실제 사용자 전달을 구별한다. recorder clock 동기 오차와 표본 주기를 결과에 기재한다. logger만으로 logger의 유실을 판정하지 않고 독립 harness registry를 사용한다.</a:t>
            </a:r>
          </a:p>
          <a:p xmlns:a="http://schemas.openxmlformats.org/drawingml/2006/main">
            <a:r>
              <a:t/>
            </a:r>
          </a:p>
          <a:p xmlns:a="http://schemas.openxmlformats.org/drawingml/2006/main">
            <a:r>
              <a:t>관측 종료는 VIA 책임 구간 60초, 사용자나 외부 응답만 기다리는 전체 wall time 120초로 제안한다. 예고한 Agent 결과와 사용자 답변은 종료 전에 공급한다. 종료 조건은 후보마다 같고 결과를 보고 연장하지 않는다. crash와 timeout을 삭제하거나 무한대 숫자로 바꾸지 않는다.</a:t>
            </a:r>
          </a:p>
          <a:p xmlns:a="http://schemas.openxmlformats.org/drawingml/2006/main">
            <a:r>
              <a:t/>
            </a:r>
          </a:p>
          <a:p xmlns:a="http://schemas.openxmlformats.org/drawingml/2006/main">
            <a:r>
              <a:t>### 2.5 시간과 실패의 공통 처리</a:t>
            </a:r>
          </a:p>
          <a:p xmlns:a="http://schemas.openxmlformats.org/drawingml/2006/main">
            <a:r>
              <a:t/>
            </a:r>
          </a:p>
          <a:p xmlns:a="http://schemas.openxmlformats.org/drawingml/2006/main">
            <a:r>
              <a:t>정확성 판정과 시간 측정은 분리한다. 틀린 매칭이라도 반응, 오류 안내 또는 실제 처리가 끝난 시각이 있으면 그 경과시간을 사용하고 V-01에서 실패로 남긴다. 빠른 오답의 시간이 길었다고 만들어내지 않는다.</a:t>
            </a:r>
          </a:p>
          <a:p xmlns:a="http://schemas.openxmlformats.org/drawingml/2006/main">
            <a:r>
              <a:t/>
            </a:r>
          </a:p>
          <a:p xmlns:a="http://schemas.openxmlformats.org/drawingml/2006/main">
            <a:r>
              <a:t>| 관측 상태 | 시간 기록 | 판정 |</a:t>
            </a:r>
          </a:p>
          <a:p xmlns:a="http://schemas.openxmlformats.org/drawingml/2006/main">
            <a:r>
              <a:t>| --- | --- | --- |</a:t>
            </a:r>
          </a:p>
          <a:p xmlns:a="http://schemas.openxmlformats.org/drawingml/2006/main">
            <a:r>
              <a:t>| 정답과 실제 전달 | 실제 종료 사건까지의 경과시간 | 정확성과 시간 각각 판정 |</a:t>
            </a:r>
          </a:p>
          <a:p xmlns:a="http://schemas.openxmlformats.org/drawingml/2006/main">
            <a:r>
              <a:t>| 오답 또는 실패 안내 전달 | 실제 반응과 종료 시각까지의 경과시간 | 정확성은 정답 manifest로 별도 판정. 오답은 실패, 올바른 예외 안내는 성공 |</a:t>
            </a:r>
          </a:p>
          <a:p xmlns:a="http://schemas.openxmlformats.org/drawingml/2006/main">
            <a:r>
              <a:t>| 출력 없이 crash 또는 timeout | harness가 실제 관측을 종료할 때까지의 경과시간 | 미전달 표식. 실제 전달시간이라고 표기하지 않음 |</a:t>
            </a:r>
          </a:p>
          <a:p xmlns:a="http://schemas.openxmlformats.org/drawingml/2006/main">
            <a:r>
              <a:t>| 복구를 못 한 장애 | 관측 종료까지 실제 기다린 시간 | 미복구 표식. 정상 복구시간으로 표기하지 않음 |</a:t>
            </a:r>
          </a:p>
          <a:p xmlns:a="http://schemas.openxmlformats.org/drawingml/2006/main">
            <a:r>
              <a:t/>
            </a:r>
          </a:p>
          <a:p xmlns:a="http://schemas.openxmlformats.org/drawingml/2006/main">
            <a:r>
              <a:t>모든 trial의 **관측 경과시간 산술평균**을 먼저 보고하고 미전달 및 미복구 ID를 함께 제시한다. endpoint를 관측하지 못한 표본이 있으면 이 평균은 관측 기간까지만 포함한 값임을 표시하고, 해당 시간 목표의 충족 판정은 보류한다. 누락된 endpoint를 60초에 전달 또는 복구했다고 꾸미지 않는다. 유효한 오답 전달은 endpoint 누락이 아니므로 이 보류 규칙을 적용하지 않는다. 정답률을 암묵적으로 더 높이는 집계도 쓰지 않는다.</a:t>
            </a:r>
          </a:p>
          <a:p xmlns:a="http://schemas.openxmlformats.org/drawingml/2006/main">
            <a:r>
              <a:t/>
            </a:r>
          </a:p>
          <a:p xmlns:a="http://schemas.openxmlformats.org/drawingml/2006/main">
            <a:r>
              <a:t>종류별 평균, 경로별 평균, cold와 warm, 최솟값과 최댓값 및 실패 목록은 진단으로 보고한다. 대표 목표는 산술평균 하나다. 평균이 동일하더라도 어려운 조건에서 발생한 회귀를 숨기지 않는다. 대안 간 차이는 동일 사례와 seed의 paired 결과로 제시한다. 정확도 신뢰구간은 반복 네 회를 독립으로 취급하지 않고 470개 구체 사례를 cluster로 묶어 산출한다. 측정 전 평균과 분모 및 적용 범위를 고정한다.</a:t>
            </a:r>
          </a:p>
          <a:p xmlns:a="http://schemas.openxmlformats.org/drawingml/2006/main">
            <a:r>
              <a:t/>
            </a:r>
          </a:p>
          <a:p xmlns:a="http://schemas.openxmlformats.org/drawingml/2006/main">
            <a:r>
              <a:t>## 3. V-01 기능 정확성</a:t>
            </a:r>
          </a:p>
          <a:p xmlns:a="http://schemas.openxmlformats.org/drawingml/2006/main">
            <a:r>
              <a:t/>
            </a:r>
          </a:p>
          <a:p xmlns:a="http://schemas.openxmlformats.org/drawingml/2006/main">
            <a:r>
              <a:t>**설명:** 사용자 요청을 의도에 맞게 정확히 처리해야 한다.</a:t>
            </a:r>
          </a:p>
          <a:p xmlns:a="http://schemas.openxmlformats.org/drawingml/2006/main">
            <a:r>
              <a:t/>
            </a:r>
          </a:p>
          <a:p xmlns:a="http://schemas.openxmlformats.org/drawingml/2006/main">
            <a:r>
              <a:t>**단일 목표:** 정확 처리율 95% 이상.</a:t>
            </a:r>
          </a:p>
          <a:p xmlns:a="http://schemas.openxmlformats.org/drawingml/2006/main">
            <a:r>
              <a:t/>
            </a:r>
          </a:p>
          <a:p xmlns:a="http://schemas.openxmlformats.org/drawingml/2006/main">
            <a:r>
              <a:t>**근거 사실:** Nexusflow의 NexusRaven-13B 구현은 demonstration retrieval을 결합한 CVE/CPE Search와 VirusTotal 도구 사용에서 성공률 95%를 보고한다 [S01]. 문장 intent 분류나 slot별 F1보다 함수 선택과 인자 구성을 평가한다는 점에서 VIA의 요청 처리와 더 가깝다. 개발팀이 공개한 결과이며 독립적으로 재현한 VIA 실적은 아니다.</a:t>
            </a:r>
          </a:p>
          <a:p xmlns:a="http://schemas.openxmlformats.org/drawingml/2006/main">
            <a:r>
              <a:t/>
            </a:r>
          </a:p>
          <a:p xmlns:a="http://schemas.openxmlformats.org/drawingml/2006/main">
            <a:r>
              <a:t>**목표 선택:** 이미 공개된 검색 보조 도구 사용 구현의 95%를 VIA 통합 평가가 지향할 참조 수준으로 선택한다. 90%로 임의 반올림하거나 화면과 업무 이력을 이유로 5%를 할인하지 않는다. 고정 corpus에서 최대 5%의 전체 요청 실패를 허용하는 연구 평가 목표이며 정식 제품 출시의 안전 인증 기준은 아니다. VIA가 더 복잡한 기능을 갖는 만큼 달성 가능성은 직접 시험해야 한다.</a:t>
            </a:r>
          </a:p>
          <a:p xmlns:a="http://schemas.openxmlformats.org/drawingml/2006/main">
            <a:r>
              <a:t/>
            </a:r>
          </a:p>
          <a:p xmlns:a="http://schemas.openxmlformats.org/drawingml/2006/main">
            <a:r>
              <a:t>**전이 한계:** NexusRaven은 VIA와 모델 크기, quantization, 장치, 언어, 업무 상태와 화면 근거가 다르다. 보안 도구 시험의 95%가 VIA의 한국어 다중 턴 성공률을 예측한다고 주장하지 않는다. 이 출처만으로 VIA가 95%를 달성한다고 말할 수 없다. 전체 VIA 성능에 동일 corpus의 외부 수치가 없다는 한계를 발표 답변에서도 명시한다. 목표를 선택하는 근거와 목표를 달성하는 증거를 구분한다.</a:t>
            </a:r>
          </a:p>
          <a:p xmlns:a="http://schemas.openxmlformats.org/drawingml/2006/main">
            <a:r>
              <a:t/>
            </a:r>
          </a:p>
          <a:p xmlns:a="http://schemas.openxmlformats.org/drawingml/2006/main">
            <a:r>
              <a:t>```text</a:t>
            </a:r>
          </a:p>
          <a:p xmlns:a="http://schemas.openxmlformats.org/drawingml/2006/main">
            <a:r>
              <a:t>N = 94개 필수 변형 × 5개 구체 사례 × 4회 = 1,880회</a:t>
            </a:r>
          </a:p>
          <a:p xmlns:a="http://schemas.openxmlformats.org/drawingml/2006/main">
            <a:r>
              <a:t>success(i) = 모든 턴의 적용 가능한 필수 oracle 판정을 만족하면 1, 아니면 0</a:t>
            </a:r>
          </a:p>
          <a:p xmlns:a="http://schemas.openxmlformats.org/drawingml/2006/main">
            <a:r>
              <a:t>정확 처리율 = 100 × Σ success(i) / 1,880</a:t>
            </a:r>
          </a:p>
          <a:p xmlns:a="http://schemas.openxmlformats.org/drawingml/2006/main">
            <a:r>
              <a:t>목표 성공 수 = 1,786회 이상</a:t>
            </a:r>
          </a:p>
          <a:p xmlns:a="http://schemas.openxmlformats.org/drawingml/2006/main">
            <a:r>
              <a:t>```</a:t>
            </a:r>
          </a:p>
          <a:p xmlns:a="http://schemas.openxmlformats.org/drawingml/2006/main">
            <a:r>
              <a:t/>
            </a:r>
          </a:p>
          <a:p xmlns:a="http://schemas.openxmlformats.org/drawingml/2006/main">
            <a:r>
              <a:t>tau-bench의 실제 상태 대조 [S02]와 BFCL V3의 턴별 상태 및 응답 검사 [S11]를 판정 방법에 참고한다. 의도와 slot을 각각 맞힌 비율을 전체 처리율로 합치지 않는다. 모델이 선택한 tool이 정답이라는 이유만으로 올바른 Task 및 전달까지 맞았다고 간주하지 않는다.</a:t>
            </a:r>
          </a:p>
          <a:p xmlns:a="http://schemas.openxmlformats.org/drawingml/2006/main">
            <a:r>
              <a:t/>
            </a:r>
          </a:p>
          <a:p xmlns:a="http://schemas.openxmlformats.org/drawingml/2006/main">
            <a:r>
              <a:t>필수 oracle은 F1~F6의 적용 필드, 필요한 상태 변화, 명령과 외부 사실, 사용자 전달이다. 응답 표현은 달라도 필수 사실이 같으면 인정한다. 불명확한 표현은 후보를 가린 검토자가 고정 rubric으로 판정한다. 정답 상태를 확인할 수 없는 시험과 미지원 및 미전달도 분모에 남고 실패다. 오실행과 중복 실행은 해당 전체 시험의 오류 유형으로 기록한다. 이 행에 별도의 수치 목표를 추가하지 않는다.</a:t>
            </a:r>
          </a:p>
          <a:p xmlns:a="http://schemas.openxmlformats.org/drawingml/2006/main">
            <a:r>
              <a:t/>
            </a:r>
          </a:p>
          <a:p xmlns:a="http://schemas.openxmlformats.org/drawingml/2006/main">
            <a:r>
              <a:t>DP별 96회에는 같은 정의를 적용하고 성공 수 92회 이상이 95% 하한이다. 작은 시험군의 통계적 불확실성을 공개하고 전체 기능 평균으로 DP의 취약 조건을 가리지 않는다. 동일 목표의 적용 여부는 시험군별로 명시하며 새로운 오류가 중요한 안전 계약을 깨면 별도 기존 qualification에도 남긴다.</a:t>
            </a:r>
          </a:p>
          <a:p xmlns:a="http://schemas.openxmlformats.org/drawingml/2006/main">
            <a:r>
              <a:t/>
            </a:r>
          </a:p>
          <a:p xmlns:a="http://schemas.openxmlformats.org/drawingml/2006/main">
            <a:r>
              <a:t>## 4. V-02 기능 적절성</a:t>
            </a:r>
          </a:p>
          <a:p xmlns:a="http://schemas.openxmlformats.org/drawingml/2006/main">
            <a:r>
              <a:t/>
            </a:r>
          </a:p>
          <a:p xmlns:a="http://schemas.openxmlformats.org/drawingml/2006/main">
            <a:r>
              <a:t>**설명:** 추가 사용자 입력을 최소화해 요청을 마쳐야 한다.</a:t>
            </a:r>
          </a:p>
          <a:p xmlns:a="http://schemas.openxmlformats.org/drawingml/2006/main">
            <a:r>
              <a:t/>
            </a:r>
          </a:p>
          <a:p xmlns:a="http://schemas.openxmlformats.org/drawingml/2006/main">
            <a:r>
              <a:t>**단일 목표:** 평균 사용자 개입 1회/요청 이하.</a:t>
            </a:r>
          </a:p>
          <a:p xmlns:a="http://schemas.openxmlformats.org/drawingml/2006/main">
            <a:r>
              <a:t/>
            </a:r>
          </a:p>
          <a:p xmlns:a="http://schemas.openxmlformats.org/drawingml/2006/main">
            <a:r>
              <a:t>CoA는 필요한 때 하나의 집중 질문으로 부족한 시각 질의 정보를 보완하는 접근을 사용한다 [S03]. VIA에서도 근거를 먼저 활용하고 필요한 정보를 한 번에 묻는 상호작용 예산을 선택한다. 논문이 VIA의 모든 요청이나 권한 승인을 평균 한 번으로 처리했다고 주장하지 않는다. 승인에 필요한 입력도 예산에 포함하며 필수 승인을 생략할 수 없다.</a:t>
            </a:r>
          </a:p>
          <a:p xmlns:a="http://schemas.openxmlformats.org/drawingml/2006/main">
            <a:r>
              <a:t/>
            </a:r>
          </a:p>
          <a:p xmlns:a="http://schemas.openxmlformats.org/drawingml/2006/main">
            <a:r>
              <a:t>```text</a:t>
            </a:r>
          </a:p>
          <a:p xmlns:a="http://schemas.openxmlformats.org/drawingml/2006/main">
            <a:r>
              <a:t>u(i) = 최초 요청 뒤 VIA가 요구한 사용자 입력 episode 수</a:t>
            </a:r>
          </a:p>
          <a:p xmlns:a="http://schemas.openxmlformats.org/drawingml/2006/main">
            <a:r>
              <a:t>평균 사용자 개입 = Σ u(i) / 1,880</a:t>
            </a:r>
          </a:p>
          <a:p xmlns:a="http://schemas.openxmlformats.org/drawingml/2006/main">
            <a:r>
              <a:t>```</a:t>
            </a:r>
          </a:p>
          <a:p xmlns:a="http://schemas.openxmlformats.org/drawingml/2006/main">
            <a:r>
              <a:t/>
            </a:r>
          </a:p>
          <a:p xmlns:a="http://schemas.openxmlformats.org/drawingml/2006/main">
            <a:r>
              <a:t>질문 답변, 대상 선택과 승인을 각각 새로운 답변 episode로 센다. 같은 질문에 음성과 UI를 함께 써 하나의 답을 제출하면 한 번이다. 앱을 수동으로 마무리하는 경우 클릭 묶음을 임의로 하나로 만들지 않고 manifest의 의미 있는 실행 단계별로 센다. 예를 들어 파일 선택, 내용 입력, 실행 확인은 각각 한 단계다. 내부 자동 재시도는 사용자 개입이 아니다.</a:t>
            </a:r>
          </a:p>
          <a:p xmlns:a="http://schemas.openxmlformats.org/drawingml/2006/main">
            <a:r>
              <a:t/>
            </a:r>
          </a:p>
          <a:p xmlns:a="http://schemas.openxmlformats.org/drawingml/2006/main">
            <a:r>
              <a:t>실패가 보이면 동일 사용자 script가 최대 두 번의 재요청을 하고 이후 사례별 수동 마무리를 시도한다. 실제 관측한 단계만 세며 미완료도 분모에 포함한다. 구현을 보고 우회 횟수를 줄이지 않는다. 자발적인 독립 새 목표는 새 시험이며 기능 부족 때문에 같은 목표를 다시 설명하는 것은 추가 개입이다.</a:t>
            </a:r>
          </a:p>
          <a:p xmlns:a="http://schemas.openxmlformats.org/drawingml/2006/main">
            <a:r>
              <a:t/>
            </a:r>
          </a:p>
          <a:p xmlns:a="http://schemas.openxmlformats.org/drawingml/2006/main">
            <a:r>
              <a:t>모든 시험 평균과 성공 및 실패 시험의 분포를 함께 기록한다. 아무것도 수행하지 않아 나온 0회는 낮은 부담의 개선 증거로 인정하지 않는다. DP 비교에서는 목표 완료 여부가 다른 pair를 따로 표시하고, 실패로 생략한 질문을 장점으로 주장하지 않는다. V-01과 V-03을 함께 평가하되 성공 시험만 골라 평균을 낮추지 않는다.</a:t>
            </a:r>
          </a:p>
          <a:p xmlns:a="http://schemas.openxmlformats.org/drawingml/2006/main">
            <a:r>
              <a:t/>
            </a:r>
          </a:p>
          <a:p xmlns:a="http://schemas.openxmlformats.org/drawingml/2006/main">
            <a:r>
              <a:t>## 5. V-03 기능 완전성</a:t>
            </a:r>
          </a:p>
          <a:p xmlns:a="http://schemas.openxmlformats.org/drawingml/2006/main">
            <a:r>
              <a:t/>
            </a:r>
          </a:p>
          <a:p xmlns:a="http://schemas.openxmlformats.org/drawingml/2006/main">
            <a:r>
              <a:t>**설명:** 고정된 사용 시나리오의 필수 기능을 모두 지원해야 한다.</a:t>
            </a:r>
          </a:p>
          <a:p xmlns:a="http://schemas.openxmlformats.org/drawingml/2006/main">
            <a:r>
              <a:t/>
            </a:r>
          </a:p>
          <a:p xmlns:a="http://schemas.openxmlformats.org/drawingml/2006/main">
            <a:r>
              <a:t>**단일 목표:** 기능 지원 달성률 100%.</a:t>
            </a:r>
          </a:p>
          <a:p xmlns:a="http://schemas.openxmlformats.org/drawingml/2006/main">
            <a:r>
              <a:t/>
            </a:r>
          </a:p>
          <a:p xmlns:a="http://schemas.openxmlformats.org/drawingml/2006/main">
            <a:r>
              <a:t>필수 UC 변형 94개는 시스템의 기능 계약이므로 94개 모두를 지원하는 목표를 선택한다 [S00]. 문헌의 확률적 정확도를 가져오는 항목이 아니다.</a:t>
            </a:r>
          </a:p>
          <a:p xmlns:a="http://schemas.openxmlformats.org/drawingml/2006/main">
            <a:r>
              <a:t/>
            </a:r>
          </a:p>
          <a:p xmlns:a="http://schemas.openxmlformats.org/drawingml/2006/main">
            <a:r>
              <a:t>```text</a:t>
            </a:r>
          </a:p>
          <a:p xmlns:a="http://schemas.openxmlformats.org/drawingml/2006/main">
            <a:r>
              <a:t>support(v) = 필수 capability 전부를 입증한 변형이면 1, 아니면 0</a:t>
            </a:r>
          </a:p>
          <a:p xmlns:a="http://schemas.openxmlformats.org/drawingml/2006/main">
            <a:r>
              <a:t>기능 지원 달성률 = 100 × Σ support(v) / 94</a:t>
            </a:r>
          </a:p>
          <a:p xmlns:a="http://schemas.openxmlformats.org/drawingml/2006/main">
            <a:r>
              <a:t>```</a:t>
            </a:r>
          </a:p>
          <a:p xmlns:a="http://schemas.openxmlformats.org/drawingml/2006/main">
            <a:r>
              <a:t/>
            </a:r>
          </a:p>
          <a:p xmlns:a="http://schemas.openxmlformats.org/drawingml/2006/main">
            <a:r>
              <a:t>완전 지원에는 세 증거가 모두 필요하다. 첫째, 필수 입력과 의미 관계를 표현하고 처리하는 구현 경로가 있어야 한다. 둘째, 각 필수 상태 전이와 오류 처리의 capability 계약 시험을 통과해야 한다. 이 시험에서는 유효한 모델 제안과 source 응답을 공급하여 코드 경로의 구현 여부를 확인한다. 셋째, 다섯 구체 상황 각각에서 실제 입력을 사용한 통합 witness가 있어야 한다. 모델을 대체한 계약 시험만으로 전체 지원을 선언하지 않는다.</a:t>
            </a:r>
          </a:p>
          <a:p xmlns:a="http://schemas.openxmlformats.org/drawingml/2006/main">
            <a:r>
              <a:t/>
            </a:r>
          </a:p>
          <a:p xmlns:a="http://schemas.openxmlformats.org/drawingml/2006/main">
            <a:r>
              <a:t>계약 시험은 41의 코드 표현 범위, 43의 F1~F6 생산 결과, 질문과 승인 및 정정, 상태와 전달을 개별 확인한다. 필수 관계를 유한 표현에 담을 수 없거나 원본 근거 없이 사용자에게 우회시키면 부분 지원이다. 통합 witness의 확률적 오류는 V-01에 모두 기록한다. 다섯 상황 중 하나의 우연한 성공만으로 변형 전체를 지원으로 세지 않는다.</a:t>
            </a:r>
          </a:p>
          <a:p xmlns:a="http://schemas.openxmlformats.org/drawingml/2006/main">
            <a:r>
              <a:t/>
            </a:r>
          </a:p>
          <a:p xmlns:a="http://schemas.openxmlformats.org/drawingml/2006/main">
            <a:r>
              <a:t>지원 ledger에는 완전 지원, 부분 지원, 미지원과 미확인을 남긴다. 뒤의 세 상태는 분모에 남고 분자에 들어가지 않는다. 설계 문서 단계는 '설계상 지원 검토'이며 구현 지원률 실적으로 표시하지 않는다.</a:t>
            </a:r>
          </a:p>
          <a:p xmlns:a="http://schemas.openxmlformats.org/drawingml/2006/main">
            <a:r>
              <a:t/>
            </a:r>
          </a:p>
          <a:p xmlns:a="http://schemas.openxmlformats.org/drawingml/2006/main">
            <a:r>
              <a:t>## 6. V-04 응답 신속성</a:t>
            </a:r>
          </a:p>
          <a:p xmlns:a="http://schemas.openxmlformats.org/drawingml/2006/main">
            <a:r>
              <a:t/>
            </a:r>
          </a:p>
          <a:p xmlns:a="http://schemas.openxmlformats.org/drawingml/2006/main">
            <a:r>
              <a:t>**설명:** 사용자 입력에 빠르게 반응해야 한다.</a:t>
            </a:r>
          </a:p>
          <a:p xmlns:a="http://schemas.openxmlformats.org/drawingml/2006/main">
            <a:r>
              <a:t/>
            </a:r>
          </a:p>
          <a:p xmlns:a="http://schemas.openxmlformats.org/drawingml/2006/main">
            <a:r>
              <a:t>**단일 목표:** 평균 반응시간 1초 이하.</a:t>
            </a:r>
          </a:p>
          <a:p xmlns:a="http://schemas.openxmlformats.org/drawingml/2006/main">
            <a:r>
              <a:t/>
            </a:r>
          </a:p>
          <a:p xmlns:a="http://schemas.openxmlformats.org/drawingml/2006/main">
            <a:r>
              <a:t>Nielsen의 1초 상호작용 기준을 선택한다 [S04]. 평균 집계는 사용자의 발표 요구에 따른 선택이다. 한 번의 즉시 응답이 뒤의 긴 전체 처리시간을 가리지 않도록 V-05도 따로 측정한다.</a:t>
            </a:r>
          </a:p>
          <a:p xmlns:a="http://schemas.openxmlformats.org/drawingml/2006/main">
            <a:r>
              <a:t/>
            </a:r>
          </a:p>
          <a:p xmlns:a="http://schemas.openxmlformats.org/drawingml/2006/main">
            <a:r>
              <a:t>| 사건 종류 | 시작 | 실제 종료 |</a:t>
            </a:r>
          </a:p>
          <a:p xmlns:a="http://schemas.openxmlformats.org/drawingml/2006/main">
            <a:r>
              <a:t>| --- | --- | --- |</a:t>
            </a:r>
          </a:p>
          <a:p xmlns:a="http://schemas.openxmlformats.org/drawingml/2006/main">
            <a:r>
              <a:t>| 요청 반응 | 실제 발화 종료 또는 텍스트 제출 | 해당 요청의 유효한 텍스트 표시 또는 첫 유효 음성 재생 |</a:t>
            </a:r>
          </a:p>
          <a:p xmlns:a="http://schemas.openxmlformats.org/drawingml/2006/main">
            <a:r>
              <a:t>| 상태 전달 | 확인된 외부 상태가 source에서 VIA에 이용 가능해진 시각 | 그 상태 또는 처리 오류를 사용자에게 실제 전달 |</a:t>
            </a:r>
          </a:p>
          <a:p xmlns:a="http://schemas.openxmlformats.org/drawingml/2006/main">
            <a:r>
              <a:t>| 업무 제어 | 제어 요청의 실제 입력 | VIA 로컬 제어 적용을 확인할 수 있는 반응 |</a:t>
            </a:r>
          </a:p>
          <a:p xmlns:a="http://schemas.openxmlformats.org/drawingml/2006/main">
            <a:r>
              <a:t/>
            </a:r>
          </a:p>
          <a:p xmlns:a="http://schemas.openxmlformats.org/drawingml/2006/main">
            <a:r>
              <a:t>'처리 중' 같은 고정 filler와 spinner는 유효 반응이 아니다. 올바른 결과, 구체적 확인 질문, 해당 요청을 식별한 접수 사실 또는 구체적인 실패 안내는 유효 반응이다. 외부 실행 접수는 실제 Agent 확인 이후에만 접수 사실로 말할 수 있다. 대상을 틀리게 말한 반응도 실제 시각은 기록하고 정확성 실패로 남긴다.</a:t>
            </a:r>
          </a:p>
          <a:p xmlns:a="http://schemas.openxmlformats.org/drawingml/2006/main">
            <a:r>
              <a:t/>
            </a:r>
          </a:p>
          <a:p xmlns:a="http://schemas.openxmlformats.org/drawingml/2006/main">
            <a:r>
              <a:t>주점수의 event ledger를 사례 manifest에서 사전에 고정한다. 각 trial의 최초 사용자 목표 입력에 대한 반응을 기본 slot 하나로 삼는다. 시나리오가 고정 시각의 상태 전달이나 제어를 요구하면 해당 slot을 사전에 추가하고 모든 후보에 같은 외부 입력을 공급한다. 후보가 추가로 만든 질문과 재시도 턴은 진단 기록에 남기며 주점수의 slot 수를 늘리지 않는다. 빠른 확인 질문 여러 개로 느린 최초 반응을 희석할 수 없다.</a:t>
            </a:r>
          </a:p>
          <a:p xmlns:a="http://schemas.openxmlformats.org/drawingml/2006/main">
            <a:r>
              <a:t/>
            </a:r>
          </a:p>
          <a:p xmlns:a="http://schemas.openxmlformats.org/drawingml/2006/main">
            <a:r>
              <a:t>고정 slot마다 경과시간을 기록하고 시험 내 slot 산술평균을 먼저 계산한 뒤 적용 시험 전체의 산술평균을 낸다. 각 trial이 같은 가중치를 갖는다. 반응이 필요 없는 변형은 적용 불가 이유를 미리 기록하고 실제 분모를 공개한다. 후보 출력 여부에 따라 적용 여부를 바꾸지 않으며 미전달 slot도 삭제하지 않는다.</a:t>
            </a:r>
          </a:p>
          <a:p xmlns:a="http://schemas.openxmlformats.org/drawingml/2006/main">
            <a:r>
              <a:t/>
            </a:r>
          </a:p>
          <a:p xmlns:a="http://schemas.openxmlformats.org/drawingml/2006/main">
            <a:r>
              <a:t>음성 중단은 새 발화 시작부터 이전 출력의 마지막 sample까지 따로 검사한다. 업무 취소 완료와 동일시하지 않는다. 이 제어 회귀를 응답 평균에 섞어 첫 답변시간을 줄이지 않는다. 기본 시간점수는 warm 상태이며 cold 첫 반응은 별도 보고한다. 미전달은 §2.5대로 실제 관측시간과 상태를 남긴다.</a:t>
            </a:r>
          </a:p>
          <a:p xmlns:a="http://schemas.openxmlformats.org/drawingml/2006/main">
            <a:r>
              <a:t/>
            </a:r>
          </a:p>
          <a:p xmlns:a="http://schemas.openxmlformats.org/drawingml/2006/main">
            <a:r>
              <a:t>## 7. V-05 요청 완료 신속성</a:t>
            </a:r>
          </a:p>
          <a:p xmlns:a="http://schemas.openxmlformats.org/drawingml/2006/main">
            <a:r>
              <a:t/>
            </a:r>
          </a:p>
          <a:p xmlns:a="http://schemas.openxmlformats.org/drawingml/2006/main">
            <a:r>
              <a:t>**설명:** VIA의 처리로 결과 전달이 늦어지지 않아야 한다.</a:t>
            </a:r>
          </a:p>
          <a:p xmlns:a="http://schemas.openxmlformats.org/drawingml/2006/main">
            <a:r>
              <a:t/>
            </a:r>
          </a:p>
          <a:p xmlns:a="http://schemas.openxmlformats.org/drawingml/2006/main">
            <a:r>
              <a:t>**단일 목표:** 평균 VIA 처리시간 10초 이하.</a:t>
            </a:r>
          </a:p>
          <a:p xmlns:a="http://schemas.openxmlformats.org/drawingml/2006/main">
            <a:r>
              <a:t/>
            </a:r>
          </a:p>
          <a:p xmlns:a="http://schemas.openxmlformats.org/drawingml/2006/main">
            <a:r>
              <a:t>Nielsen의 10초 주의 유지 기준을 참고해 VIA의 추가 처리 예산을 선택한다 [S04]. 외부가 30초 일한 뒤 VIA가 4초 처리하면 사용자의 전체 대기는 34초일 수 있다. 이 경우 4초의 VIA 목표를 만족했다고 해서 전체 경험이 10초 이내라고 설명하지 않는다. 직접 응답처럼 외부 대기가 없는 짧은 요청에서는 전체 경과시간과 일치한다.</a:t>
            </a:r>
          </a:p>
          <a:p xmlns:a="http://schemas.openxmlformats.org/drawingml/2006/main">
            <a:r>
              <a:t/>
            </a:r>
          </a:p>
          <a:p xmlns:a="http://schemas.openxmlformats.org/drawingml/2006/main">
            <a:r>
              <a:t>짧은 출력 계약에 예산을 배분한 예시는 입력 해석과 근거 확인 3초, 채택과 위임 준비 1초, 결과 연결과 응답 구성 2초, 실제 최종 음성 4초로 총 10초다. 이것은 설계 배분이며 각 단계의 실측값이나 별도의 합격 목표가 아니다. 실제 병렬 실행의 중복을 제거해 측정한다.</a:t>
            </a:r>
          </a:p>
          <a:p xmlns:a="http://schemas.openxmlformats.org/drawingml/2006/main">
            <a:r>
              <a:t/>
            </a:r>
          </a:p>
          <a:p xmlns:a="http://schemas.openxmlformats.org/drawingml/2006/main">
            <a:r>
              <a:t>직접 응답은 VIA가 결과를 만드는 경로, 위임은 외부 Agent가 업무를 수행하는 경로다. 요청 관계는 선행 결과를 다음 입력으로 쓰는 연결이며 제3의 상호 배타적 경로가 아니다. 직접 및 위임 각각에 관계 있음과 없음 표식을 붙여 네 조건의 평균을 진단으로 공개한다. 주목표는 적용 시험의 전체 산술평균 하나다.</a:t>
            </a:r>
          </a:p>
          <a:p xmlns:a="http://schemas.openxmlformats.org/drawingml/2006/main">
            <a:r>
              <a:t/>
            </a:r>
          </a:p>
          <a:p xmlns:a="http://schemas.openxmlformats.org/drawingml/2006/main">
            <a:r>
              <a:t>```text</a:t>
            </a:r>
          </a:p>
          <a:p xmlns:a="http://schemas.openxmlformats.org/drawingml/2006/main">
            <a:r>
              <a:t>W(i) = 실제 입력 종료부터 해당 요청의 필수 최종 전달까지의 구간</a:t>
            </a:r>
          </a:p>
          <a:p xmlns:a="http://schemas.openxmlformats.org/drawingml/2006/main">
            <a:r>
              <a:t>E(i) = 외부 작업 또는 사용자 답변만 기다리며 VIA가 할 필수 처리가 없는 구간</a:t>
            </a:r>
          </a:p>
          <a:p xmlns:a="http://schemas.openxmlformats.org/drawingml/2006/main">
            <a:r>
              <a:t>T_via(i) = 길이(W(i)에서 E(i)의 합집합을 제외한 구간)</a:t>
            </a:r>
          </a:p>
          <a:p xmlns:a="http://schemas.openxmlformats.org/drawingml/2006/main">
            <a:r>
              <a:t>평균 VIA 처리시간 = Σ T_via(i) / 적용 trial 수</a:t>
            </a:r>
          </a:p>
          <a:p xmlns:a="http://schemas.openxmlformats.org/drawingml/2006/main">
            <a:r>
              <a:t>```</a:t>
            </a:r>
          </a:p>
          <a:p xmlns:a="http://schemas.openxmlformats.org/drawingml/2006/main">
            <a:r>
              <a:t/>
            </a:r>
          </a:p>
          <a:p xmlns:a="http://schemas.openxmlformats.org/drawingml/2006/main">
            <a:r>
              <a:t>E는 Agent가 걸린 시간을 단순 합산한 값이 아니다. 그 시간 중 VIA가 의미 해석, 근거 읽기, 결과 준비 또는 필요한 출력을 진행하면 VIA 구간으로 포함한다. 자체 model queue, scheduler 대기, storage와 IPC, Agent 통합 통신, retry와 실제 출력은 포함한다. 후보가 표시한 '외부 대기' 이름을 믿지 않고 독립 event 및 필수 작업의 ready/blocked 상태로 검증한다. 완료에 필요 없는 background 유지 작업은 별도 비용이지만 foreground 처리를 지연시키면 그 대기도 포함한다.</a:t>
            </a:r>
          </a:p>
          <a:p xmlns:a="http://schemas.openxmlformats.org/drawingml/2006/main">
            <a:r>
              <a:t/>
            </a:r>
          </a:p>
          <a:p xmlns:a="http://schemas.openxmlformats.org/drawingml/2006/main">
            <a:r>
              <a:t>**겹치는 구간 예:** 전체 W는 0~34초다. VIA 해석은 0~1초, Agent 작업은 1~31초, 그동안 필요한 VIA 준비는 10~12초, 최종 출력은 31~34초다. 외부 작업만 기다린 E는 1~10초와 12~31초로 28초다. VIA 시간은 **34 - 28 = 6초**다. Agent 30초를 그대로 빼 얻은 4초나, 외부 비용을 0으로 놓은 가상 그래프의 시간을 실제 관측값으로 제시하지 않는다.</a:t>
            </a:r>
          </a:p>
          <a:p xmlns:a="http://schemas.openxmlformats.org/drawingml/2006/main">
            <a:r>
              <a:t/>
            </a:r>
          </a:p>
          <a:p xmlns:a="http://schemas.openxmlformats.org/drawingml/2006/main">
            <a:r>
              <a:t>완료는 필수 결과 text, artifact 접근과 계약상 최종 음성 전달까지 끝난 시각이다. 외부 Agent 접수만 필요한 Request는 접수 확인 전달이 그 Request의 종료점이며 Task 실행 종료를 섞지 않는다. 결과 전달을 목표로 하는 시험은 결과까지 관측한다. 같은 목표의 질문과 답변은 같은 trial에 남는다. 실패 안내까지 끝난 실제 시간도 기록하며 정확성은 따로 판정한다.</a:t>
            </a:r>
          </a:p>
          <a:p xmlns:a="http://schemas.openxmlformats.org/drawingml/2006/main">
            <a:r>
              <a:t/>
            </a:r>
          </a:p>
          <a:p xmlns:a="http://schemas.openxmlformats.org/drawingml/2006/main">
            <a:r>
              <a:t>주목표의 적용 모집단은 warm 짧은 출력 계약이다. 긴 20초 설명, cold loading과 전체 wall time은 같은 보고서에서 별도로 공개한다. 입력 manifest에서 정한 분류를 실행 결과를 보고 옮기지 않는다. 실제 재생이 길어졌다면 원래 짧은 계약 시험의 시간 미달로 남긴다. 미전달은 §2.5에 따라 목표 충족을 보류한다.</a:t>
            </a:r>
          </a:p>
          <a:p xmlns:a="http://schemas.openxmlformats.org/drawingml/2006/main">
            <a:r>
              <a:t/>
            </a:r>
          </a:p>
          <a:p xmlns:a="http://schemas.openxmlformats.org/drawingml/2006/main">
            <a:r>
              <a:t>## 8. V-08 변경 용이성</a:t>
            </a:r>
          </a:p>
          <a:p xmlns:a="http://schemas.openxmlformats.org/drawingml/2006/main">
            <a:r>
              <a:t/>
            </a:r>
          </a:p>
          <a:p xmlns:a="http://schemas.openxmlformats.org/drawingml/2006/main">
            <a:r>
              <a:t>**설명:** 기능 변경이 적은 설계 요소에만 영향을 주어야 한다.</a:t>
            </a:r>
          </a:p>
          <a:p xmlns:a="http://schemas.openxmlformats.org/drawingml/2006/main">
            <a:r>
              <a:t/>
            </a:r>
          </a:p>
          <a:p xmlns:a="http://schemas.openxmlformats.org/drawingml/2006/main">
            <a:r>
              <a:t>**단일 목표:** 평균 변경 요소 수 3개/변경 이하.</a:t>
            </a:r>
          </a:p>
          <a:p xmlns:a="http://schemas.openxmlformats.org/drawingml/2006/main">
            <a:r>
              <a:t/>
            </a:r>
          </a:p>
          <a:p xmlns:a="http://schemas.openxmlformats.org/drawingml/2006/main">
            <a:r>
              <a:t>SEI는 수정할 책임과 변경 전파가 변경 및 시험 비용을 만든다고 설명한다 [S05]. 이를 하나의 책임, 독립 계약, 소비 책임까지의 국소 변경 예산 3개로 구체화한다. 원문이 3개를 규정했다는 뜻은 아니다. 예를 들어 결과 protocol 필드 추가가 adapter 책임 C, 공개 계약 I, 소비 책임 C에 머무르면 3개다. 추가 공유 상태나 배포 변경까지 요구하면 실제 count를 늘린다.</a:t>
            </a:r>
          </a:p>
          <a:p xmlns:a="http://schemas.openxmlformats.org/drawingml/2006/main">
            <a:r>
              <a:t/>
            </a:r>
          </a:p>
          <a:p xmlns:a="http://schemas.openxmlformats.org/drawingml/2006/main">
            <a:r>
              <a:t>[Architecture Element 정의](../../architecture/10-element-definition.md)의 **C 책임, I interface 계약, S 상태 책임, D 배포 단위**를 그대로 적용한다. Component나 Module 사각형 및 파일 수를 세지 않는다. 큰 통합 Module도 독립 책임 여러 개를 바꾸면 여러 C로 센다. 분리된 helper 여러 파일이 동일 책임이면 한 C다. private payload와 공개 I/S의 중복 집계를 피한다.</a:t>
            </a:r>
          </a:p>
          <a:p xmlns:a="http://schemas.openxmlformats.org/drawingml/2006/main">
            <a:r>
              <a:t/>
            </a:r>
          </a:p>
          <a:p xmlns:a="http://schemas.openxmlformats.org/drawingml/2006/main">
            <a:r>
              <a:t>측정 전 같은 기능 책임의 후보별 대응표를 작성하고 독립 검토자가 분해 수준을 확인한다. 요소마다 identity, 책임 경계, 독립성, 변경 판정 조건과 증거를 등록한다. 측정 후 유리하게 묶거나 나누지 않는다. 실제 수정 전의 영향 분석과 수정 후 diff를 대조한다.</a:t>
            </a:r>
          </a:p>
          <a:p xmlns:a="http://schemas.openxmlformats.org/drawingml/2006/main">
            <a:r>
              <a:t/>
            </a:r>
          </a:p>
          <a:p xmlns:a="http://schemas.openxmlformats.org/drawingml/2006/main">
            <a:r>
              <a:t>| 과제 | 공통 변경 목표 |</a:t>
            </a:r>
          </a:p>
          <a:p xmlns:a="http://schemas.openxmlformats.org/drawingml/2006/main">
            <a:r>
              <a:t>| --- | --- |</a:t>
            </a:r>
          </a:p>
          <a:p xmlns:a="http://schemas.openxmlformats.org/drawingml/2006/main">
            <a:r>
              <a:t>| CH01 | 화면 참조 대상에 표의 선택 범위를 추가 |</a:t>
            </a:r>
          </a:p>
          <a:p xmlns:a="http://schemas.openxmlformats.org/drawingml/2006/main">
            <a:r>
              <a:t>| CH02 | 기존 Task를 이어 쓰는 요청 관계 규칙 추가 |</a:t>
            </a:r>
          </a:p>
          <a:p xmlns:a="http://schemas.openxmlformats.org/drawingml/2006/main">
            <a:r>
              <a:t>| CH03 | Agent 진행 및 결과 protocol의 revision 필드 변경 |</a:t>
            </a:r>
          </a:p>
          <a:p xmlns:a="http://schemas.openxmlformats.org/drawingml/2006/main">
            <a:r>
              <a:t>| CH04 | 음성 중단 정책 변경, 기존 Task 실행은 유지 |</a:t>
            </a:r>
          </a:p>
          <a:p xmlns:a="http://schemas.openxmlformats.org/drawingml/2006/main">
            <a:r>
              <a:t>| CH05 | Context 보존기간과 삭제 전파 정책 변경 |</a:t>
            </a:r>
          </a:p>
          <a:p xmlns:a="http://schemas.openxmlformats.org/drawingml/2006/main">
            <a:r>
              <a:t>| CH06 | 중복 결과와 재접속 확인의 결합 규칙 변경 |</a:t>
            </a:r>
          </a:p>
          <a:p xmlns:a="http://schemas.openxmlformats.org/drawingml/2006/main">
            <a:r>
              <a:t/>
            </a:r>
          </a:p>
          <a:p xmlns:a="http://schemas.openxmlformats.org/drawingml/2006/main">
            <a:r>
              <a:t>```text</a:t>
            </a:r>
          </a:p>
          <a:p xmlns:a="http://schemas.openxmlformats.org/drawingml/2006/main">
            <a:r>
              <a:t>N(s) = 실제 추가, 수정, 삭제가 필요한 등록 요소 ID의 합집합 크기</a:t>
            </a:r>
          </a:p>
          <a:p xmlns:a="http://schemas.openxmlformats.org/drawingml/2006/main">
            <a:r>
              <a:t>평균 변경 요소 수 = Σ N(s) / 6</a:t>
            </a:r>
          </a:p>
          <a:p xmlns:a="http://schemas.openxmlformats.org/drawingml/2006/main">
            <a:r>
              <a:t>MH 추정(s) = a(변경 종류) + b(변경 종류) × N(s)</a:t>
            </a:r>
          </a:p>
          <a:p xmlns:a="http://schemas.openxmlformats.org/drawingml/2006/main">
            <a:r>
              <a:t>MM 추정(s) = MH 추정(s) / H_month</a:t>
            </a:r>
          </a:p>
          <a:p xmlns:a="http://schemas.openxmlformats.org/drawingml/2006/main">
            <a:r>
              <a:t>```</a:t>
            </a:r>
          </a:p>
          <a:p xmlns:a="http://schemas.openxmlformats.org/drawingml/2006/main">
            <a:r>
              <a:t/>
            </a:r>
          </a:p>
          <a:p xmlns:a="http://schemas.openxmlformats.org/drawingml/2006/main">
            <a:r>
              <a:t>동일 요소의 여러 파일과 commit은 한 번만 센다. 과제를 해결하지 못하면 count 0으로 통과시키지 않고 미완료로 보고하며 변경 목표 충족 판정을 보류한다. 설계만 있으면 예상 영향 수이며 실제 변경 실적이 아니다. 여섯 과제와 DP에 관련된 하위집합을 함께 공개하되 후보별로 과제를 삭제하지 않는다.</a:t>
            </a:r>
          </a:p>
          <a:p xmlns:a="http://schemas.openxmlformats.org/drawingml/2006/main">
            <a:r>
              <a:t/>
            </a:r>
          </a:p>
          <a:p xmlns:a="http://schemas.openxmlformats.org/drawingml/2006/main">
            <a:r>
              <a:t>MH는 person-hour, MM는 person-month다. a는 공통 분석 및 검증 비용, b는 요소당 실제 작업 비용이다. 같은 종류의 완료된 과제에서 시간을 기록하고 회귀 및 교차 검증으로 보정한다. 자료가 없으면 임의 계수를 채우지 않는다. H_month는 조직의 월 표준시간이며 160시간을 쓰면 8시간 × 20일이라는 환산 규약을 명시한다. count가 같은 두 구조라도 실제 MH는 다를 수 있다. 모델과 오차를 함께 공개한다.</a:t>
            </a:r>
          </a:p>
          <a:p xmlns:a="http://schemas.openxmlformats.org/drawingml/2006/main">
            <a:r>
              <a:t/>
            </a:r>
          </a:p>
          <a:p xmlns:a="http://schemas.openxmlformats.org/drawingml/2006/main">
            <a:r>
              <a:t>## 9. V-06 메모리 효율성</a:t>
            </a:r>
          </a:p>
          <a:p xmlns:a="http://schemas.openxmlformats.org/drawingml/2006/main">
            <a:r>
              <a:t/>
            </a:r>
          </a:p>
          <a:p xmlns:a="http://schemas.openxmlformats.org/drawingml/2006/main">
            <a:r>
              <a:t>**설명:** 상시 실행에 필요한 메모리를 제한해야 한다.</a:t>
            </a:r>
          </a:p>
          <a:p xmlns:a="http://schemas.openxmlformats.org/drawingml/2006/main">
            <a:r>
              <a:t/>
            </a:r>
          </a:p>
          <a:p xmlns:a="http://schemas.openxmlformats.org/drawingml/2006/main">
            <a:r>
              <a:t>**단일 목표:** 최대 전체 메모리 16GB 이하. GB는 10^9 bytes다.</a:t>
            </a:r>
          </a:p>
          <a:p xmlns:a="http://schemas.openxmlformats.org/drawingml/2006/main">
            <a:r>
              <a:t/>
            </a:r>
          </a:p>
          <a:p xmlns:a="http://schemas.openxmlformats.org/drawingml/2006/main">
            <a:r>
              <a:t>### 9.1 장치와 VIA 자체 예산</a:t>
            </a:r>
          </a:p>
          <a:p xmlns:a="http://schemas.openxmlformats.org/drawingml/2006/main">
            <a:r>
              <a:t/>
            </a:r>
          </a:p>
          <a:p xmlns:a="http://schemas.openxmlformats.org/drawingml/2006/main">
            <a:r>
              <a:t>삼성 공식 NP960UJH-XG3IN 사양의 32GB RAM과 전용 8GB VRAM을 기준으로 한다 [S06]. 다른 사용자 앱에 임의의 6GB를 할당해 목표를 계산하지 않는다. 아래 합계는 **VIA가 직접 부담하는 전체 물리 메모리**의 예산이다.</a:t>
            </a:r>
          </a:p>
          <a:p xmlns:a="http://schemas.openxmlformats.org/drawingml/2006/main">
            <a:r>
              <a:t/>
            </a:r>
          </a:p>
          <a:p xmlns:a="http://schemas.openxmlformats.org/drawingml/2006/main">
            <a:r>
              <a:t>| 항목 | 예산 | 계산 또는 제한 근거 |</a:t>
            </a:r>
          </a:p>
          <a:p xmlns:a="http://schemas.openxmlformats.org/drawingml/2006/main">
            <a:r>
              <a:t>| --- | ---: | --- |</a:t>
            </a:r>
          </a:p>
          <a:p xmlns:a="http://schemas.openxmlformats.org/drawingml/2006/main">
            <a:r>
              <a:t>| 공유 가중치 전체 | 8GB | 10B backbone의 4bit 원시 5GB, 다른 learned weights 2GB, quantization 부대 정보 1GB |</a:t>
            </a:r>
          </a:p>
          <a:p xmlns:a="http://schemas.openxmlformats.org/drawingml/2006/main">
            <a:r>
              <a:t>| 역할 및 producer KV 전체 | 3GB | 공개 Qwen KV 구조로 계산한 두 8k Context의 약 2.684GB를 상향 배정 |</a:t>
            </a:r>
          </a:p>
          <a:p xmlns:a="http://schemas.openxmlformats.org/drawingml/2006/main">
            <a:r>
              <a:t>| 추론 실행 공간 | 3GB | activation, compute workspace, encoder와 Talker 임시 tensor의 합계 제한 |</a:t>
            </a:r>
          </a:p>
          <a:p xmlns:a="http://schemas.openxmlformats.org/drawingml/2006/main">
            <a:r>
              <a:t>| 입력 근거와 UI 및 상태 buffer | 1GB | 아래 해상도와 보존량을 사용한 약 0.939GB 계산 |</a:t>
            </a:r>
          </a:p>
          <a:p xmlns:a="http://schemas.openxmlformats.org/drawingml/2006/main">
            <a:r>
              <a:t>| loading 중 복제와 staging | 1GB | 동시에 존재하는 추가 물리 복제의 제한 |</a:t>
            </a:r>
          </a:p>
          <a:p xmlns:a="http://schemas.openxmlformats.org/drawingml/2006/main">
            <a:r>
              <a:t>| **합계** | **16GB** | **8 + 3 + 3 + 1 + 1** |</a:t>
            </a:r>
          </a:p>
          <a:p xmlns:a="http://schemas.openxmlformats.org/drawingml/2006/main">
            <a:r>
              <a:t/>
            </a:r>
          </a:p>
          <a:p xmlns:a="http://schemas.openxmlformats.org/drawingml/2006/main">
            <a:r>
              <a:t>약 10B는 Thinker/backbone 목표이며 전체 Omni와 helper 합계가 아니다. 모든 encoders, Talker, Streaming ASR와 helper를 inventory에 포함한다. 원시 가중치는 N × bit / 8이다. 10B backbone은 4bit 약 5GB, 8bit 약 10GB, FP16 약 20GB다. AWQ는 4bit LLM 배포의 기술적 근거 [S07]이며 모든 VIA helper를 같은 정밀도로 양자화할 수 있거나 정확도가 보존된다는 보증은 아니다.</a:t>
            </a:r>
          </a:p>
          <a:p xmlns:a="http://schemas.openxmlformats.org/drawingml/2006/main">
            <a:r>
              <a:t/>
            </a:r>
          </a:p>
          <a:p xmlns:a="http://schemas.openxmlformats.org/drawingml/2006/main">
            <a:r>
              <a:t>추가 learned weights 2GB는 실제 선정 모델의 크기라는 주장이 아니라 자원 계약이다. 예를 들어 전체가 4bit면 원시 약 4B, FP16이면 약 1B에 해당한다. 실제 혼합 정밀도와 양자화 metadata 및 scale bytes로 검사한다. 전체 inventory가 8GB를 넘으면 weight 예산 미달이다. 모델을 바꿔 수치를 맞추면 같은 V-01과 V-03 시험도 다시 필요하다.</a:t>
            </a:r>
          </a:p>
          <a:p xmlns:a="http://schemas.openxmlformats.org/drawingml/2006/main">
            <a:r>
              <a:t/>
            </a:r>
          </a:p>
          <a:p xmlns:a="http://schemas.openxmlformats.org/drawingml/2006/main">
            <a:r>
              <a:t>### 9.2 KV와 buffer 계산</a:t>
            </a:r>
          </a:p>
          <a:p xmlns:a="http://schemas.openxmlformats.org/drawingml/2006/main">
            <a:r>
              <a:t/>
            </a:r>
          </a:p>
          <a:p xmlns:a="http://schemas.openxmlformats.org/drawingml/2006/main">
            <a:r>
              <a:t>공개 Qwen3-14B의 config는 layer 40개, KV head 8개, head dimension 128과 bfloat16을 명시한다 [S12]. 이는 계산 예시이며 VIA가 Qwen3-14B를 선택했거나 10B Omni의 내부 config가 같다는 뜻은 아니다. 실제 선택 모델의 값으로 다시 계산해야 한다.</a:t>
            </a:r>
          </a:p>
          <a:p xmlns:a="http://schemas.openxmlformats.org/drawingml/2006/main">
            <a:r>
              <a:t/>
            </a:r>
          </a:p>
          <a:p xmlns:a="http://schemas.openxmlformats.org/drawingml/2006/main">
            <a:r>
              <a:t>```text</a:t>
            </a:r>
          </a:p>
          <a:p xmlns:a="http://schemas.openxmlformats.org/drawingml/2006/main">
            <a:r>
              <a:t>KV bytes = 2(K와 V) × session 수 × layer 수 × token 수 × KV head 수 × head dimension × bytes/원소</a:t>
            </a:r>
          </a:p>
          <a:p xmlns:a="http://schemas.openxmlformats.org/drawingml/2006/main">
            <a:r>
              <a:t>예시 = 2 × 2 × 40 × 8192 × 8 × 128 × 2</a:t>
            </a:r>
          </a:p>
          <a:p xmlns:a="http://schemas.openxmlformats.org/drawingml/2006/main">
            <a:r>
              <a:t>     = 2,684,354,560 bytes = 약 2.684GB</a:t>
            </a:r>
          </a:p>
          <a:p xmlns:a="http://schemas.openxmlformats.org/drawingml/2006/main">
            <a:r>
              <a:t>전체 KV 예산 = 3GB</a:t>
            </a:r>
          </a:p>
          <a:p xmlns:a="http://schemas.openxmlformats.org/drawingml/2006/main">
            <a:r>
              <a:t>```</a:t>
            </a:r>
          </a:p>
          <a:p xmlns:a="http://schemas.openxmlformats.org/drawingml/2006/main">
            <a:r>
              <a:t/>
            </a:r>
          </a:p>
          <a:p xmlns:a="http://schemas.openxmlformats.org/drawingml/2006/main">
            <a:r>
              <a:t>8k는 입력과 생성 및 multimodal token을 합친 session별 cache 양이다. 두 session은 S2S와 semantic 역할의 계산 예시다. 기능별 producer의 별도 KV, 보류된 session, 재사용 Context와 보조 모델 KV가 있으면 모두 같은 3GB에 포함한다. C의 producer 여섯 개를 무료로 두지 않는다. 가중치를 역할마다 복제하지 않으며, 공통 총 KV 예산 안에서 실제 session 운영과 교환 비용을 대안의 차이로 남긴다.</a:t>
            </a:r>
          </a:p>
          <a:p xmlns:a="http://schemas.openxmlformats.org/drawingml/2006/main">
            <a:r>
              <a:t/>
            </a:r>
          </a:p>
          <a:p xmlns:a="http://schemas.openxmlformats.org/drawingml/2006/main">
            <a:r>
              <a:t>2880 × 1800 BGRA 화면 32개의 원시 buffer는 약 0.664GB다. 16kHz mono 16bit 음성 10분은 0.0192GB다. source 읽기 buffer 0.128GB, UI 및 structured 상태 0.064GB와 index metadata 0.064GB를 더하면 약 0.939GB다. 이 retained 입력량을 메모리 시험 조건으로 고정하고 전체 1GB 예산과 대조한다. capture 간격이나 원본 삭제 정책을 이번 문서에서 Architecture 선택으로 확정하지 않는다. 추가 파생 tensor는 workspace, 영속 자료는 storage이며 실제 상주 page는 메모리 합계에 포함한다.</a:t>
            </a:r>
          </a:p>
          <a:p xmlns:a="http://schemas.openxmlformats.org/drawingml/2006/main">
            <a:r>
              <a:t/>
            </a:r>
          </a:p>
          <a:p xmlns:a="http://schemas.openxmlformats.org/drawingml/2006/main">
            <a:r>
              <a:t>실행 공간 3GB와 staging 1GB는 아직 측정되지 않은 할당 상한이다. 런타임의 allocation trace로 검증할 항목이며 공개 논문이 정한 VIA 필요량은 아니다. 정적 산술만으로 모든 10B Omni 구성이 16GB에 들어간다고 단정할 수 없다.</a:t>
            </a:r>
          </a:p>
          <a:p xmlns:a="http://schemas.openxmlformats.org/drawingml/2006/main">
            <a:r>
              <a:t/>
            </a:r>
          </a:p>
          <a:p xmlns:a="http://schemas.openxmlformats.org/drawingml/2006/main">
            <a:r>
              <a:t>### 9.3 RAM과 VRAM의 구별</a:t>
            </a:r>
          </a:p>
          <a:p xmlns:a="http://schemas.openxmlformats.org/drawingml/2006/main">
            <a:r>
              <a:t/>
            </a:r>
          </a:p>
          <a:p xmlns:a="http://schemas.openxmlformats.org/drawingml/2006/main">
            <a:r>
              <a:t>RAM과 VRAM은 서로 바꿔 쓸 수 없는 용량이다. 전체 합계 16GB 통과와 별개로 실제 장치의 RAM 및 전용 VRAM 한도를 충족해야 실행 가능한 구성이다. VRAM 8GB에 전체 모델과 KV가 들어간다고 가정하지 않는다. device capacity는 새로운 QA 목표가 아닌 시험 장치의 물리 조건이다.</a:t>
            </a:r>
          </a:p>
          <a:p xmlns:a="http://schemas.openxmlformats.org/drawingml/2006/main">
            <a:r>
              <a:t/>
            </a:r>
          </a:p>
          <a:p xmlns:a="http://schemas.openxmlformats.org/drawingml/2006/main">
            <a:r>
              <a:t>배치 산술의 한 예는 가중치 RAM 4GB / VRAM 4GB, KV RAM 2GB / VRAM 1GB, workspace RAM 1GB / VRAM 2GB, buffer RAM 1GB, staging RAM 1GB다. 이 경우 RAM 9GB와 VRAM 7GB로 합계 16GB다. 이 표는 실제 offload 구성을 선택한 결과가 아니다. 실제 모델이 이러한 분할을 허용하는지와 CPU 처리 및 전송이 V-04/05를 만족하는지는 반드시 같이 검증해야 한다. 메모리만 통과하고 응답이 느리면 품질 목표 전체를 달성하지 못한다.</a:t>
            </a:r>
          </a:p>
          <a:p xmlns:a="http://schemas.openxmlformats.org/drawingml/2006/main">
            <a:r>
              <a:t/>
            </a:r>
          </a:p>
          <a:p xmlns:a="http://schemas.openxmlformats.org/drawingml/2006/main">
            <a:r>
              <a:t>### 9.4 상시 동작 측정</a:t>
            </a:r>
          </a:p>
          <a:p xmlns:a="http://schemas.openxmlformats.org/drawingml/2006/main">
            <a:r>
              <a:t/>
            </a:r>
          </a:p>
          <a:p xmlns:a="http://schemas.openxmlformats.org/drawingml/2006/main">
            <a:r>
              <a:t>```text</a:t>
            </a:r>
          </a:p>
          <a:p xmlns:a="http://schemas.openxmlformats.org/drawingml/2006/main">
            <a:r>
              <a:t>M(t) = VIA 소유 CPU 고유 상주 물리 bytes</a:t>
            </a:r>
          </a:p>
          <a:p xmlns:a="http://schemas.openxmlformats.org/drawingml/2006/main">
            <a:r>
              <a:t>     + VIA 소유 전용 GPU 물리 bytes</a:t>
            </a:r>
          </a:p>
          <a:p xmlns:a="http://schemas.openxmlformats.org/drawingml/2006/main">
            <a:r>
              <a:t>     + 위 항목에 포함되지 않은 pinned 또는 공유 물리 bytes</a:t>
            </a:r>
          </a:p>
          <a:p xmlns:a="http://schemas.openxmlformats.org/drawingml/2006/main">
            <a:r>
              <a:t>최대 전체 메모리 = 모든 세션에서 관측한 max M(t) / 10^9</a:t>
            </a:r>
          </a:p>
          <a:p xmlns:a="http://schemas.openxmlformats.org/drawingml/2006/main">
            <a:r>
              <a:t>```</a:t>
            </a:r>
          </a:p>
          <a:p xmlns:a="http://schemas.openxmlformats.org/drawingml/2006/main">
            <a:r>
              <a:t/>
            </a:r>
          </a:p>
          <a:p xmlns:a="http://schemas.openxmlformats.org/drawingml/2006/main">
            <a:r>
              <a:t>VIA process tree, shared model runtime과 모든 helper를 포함한다. CPU와 GPU에 실제 복제본이 둘이면 둘 다 센다. 같은 RAM page의 여러 mapping은 한 번만 센다. GPU shared system memory가 이미 RAM에 잡히면 다시 더하지 않는다. 논리 virtual size나 모든 process private working set의 단순 합계로 대체하지 않는다.</a:t>
            </a:r>
          </a:p>
          <a:p xmlns:a="http://schemas.openxmlformats.org/drawingml/2006/main">
            <a:r>
              <a:t/>
            </a:r>
          </a:p>
          <a:p xmlns:a="http://schemas.openxmlformats.org/drawingml/2006/main">
            <a:r>
              <a:t>각 8시간 세션은 30분 cold startup과 안정화, 60분 idle background, 300분 반복 요청 및 정정, 60분 입력과 외부 event가 겹치는 burst, 마지막 30분 회수 관측으로 구성한다. 300분 동안 30초마다 사용자 목표 하나를 제출하고 실제 진행 중인 Task를 유지한다. burst에서는 5초마다 입력 또는 외부 event를 공급한다. 과부하 대기와 누락도 남긴다. startup은 안정화 시간 뒤 최대값에서 빼지 않는다.</a:t>
            </a:r>
          </a:p>
          <a:p xmlns:a="http://schemas.openxmlformats.org/drawingml/2006/main">
            <a:r>
              <a:t/>
            </a:r>
          </a:p>
          <a:p xmlns:a="http://schemas.openxmlformats.org/drawingml/2006/main">
            <a:r>
              <a:t>100ms 주기 OS process 및 GPU 계측과 allocation high-water mark를 함께 사용한다. 짧은 peak를 polling이 놓칠 수 있다는 한계를 명시한다. 3개 세션 전체 최댓값을 목표와 비교한다. idle 평균과 최댓값, 첫 요청 peak, 정상 반복 peak, burst 및 loading peak, 종료 전후 retained bytes를 진단으로 공개한다. idle에 모델을 내리고 요청 때 올리는 안은 loading 시간과 복제 peak를 함께 부담한다. 장시간 leak과 무제한 Context 증가는 마지막 구간과 반복 cycle별 잔류량으로 확인한다. 별도 idle 수치 목표를 추가하지 않는다.</a:t>
            </a:r>
          </a:p>
          <a:p xmlns:a="http://schemas.openxmlformats.org/drawingml/2006/main">
            <a:r>
              <a:t/>
            </a:r>
          </a:p>
          <a:p xmlns:a="http://schemas.openxmlformats.org/drawingml/2006/main">
            <a:r>
              <a:t>## 10. V-07 복구 용이성</a:t>
            </a:r>
          </a:p>
          <a:p xmlns:a="http://schemas.openxmlformats.org/drawingml/2006/main">
            <a:r>
              <a:t/>
            </a:r>
          </a:p>
          <a:p xmlns:a="http://schemas.openxmlformats.org/drawingml/2006/main">
            <a:r>
              <a:t>**설명:** 장애 후 올바른 처리를 빠르게 재개해야 한다.</a:t>
            </a:r>
          </a:p>
          <a:p xmlns:a="http://schemas.openxmlformats.org/drawingml/2006/main">
            <a:r>
              <a:t/>
            </a:r>
          </a:p>
          <a:p xmlns:a="http://schemas.openxmlformats.org/drawingml/2006/main">
            <a:r>
              <a:t>**단일 목표:** 평균 복구시간 10초 이하.</a:t>
            </a:r>
          </a:p>
          <a:p xmlns:a="http://schemas.openxmlformats.org/drawingml/2006/main">
            <a:r>
              <a:t/>
            </a:r>
          </a:p>
          <a:p xmlns:a="http://schemas.openxmlformats.org/drawingml/2006/main">
            <a:r>
              <a:t>Nielsen의 10초 기준을 장애 뒤 대기 예산으로 선택한다 [S04]. Microreboot는 상태와 실행의 분리가 작은 단위 복구를 돕는 구조적 근거다 [S08]. 모델 cold loading을 포함한 VIA의 10초 실측 결과를 제공하는 출처는 아니다. 설계 예산의 예시는 탐지 1초, 재시작과 loading 6초, 상태 및 외부 사실 대조 2초, 정상 probe 1초다. 각 단계값은 제안 배분이며 별도 목표가 아니다.</a:t>
            </a:r>
          </a:p>
          <a:p xmlns:a="http://schemas.openxmlformats.org/drawingml/2006/main">
            <a:r>
              <a:t/>
            </a:r>
          </a:p>
          <a:p xmlns:a="http://schemas.openxmlformats.org/drawingml/2006/main">
            <a:r>
              <a:t>| ID | 주입 장애 | 정상 복구 확인 |</a:t>
            </a:r>
          </a:p>
          <a:p xmlns:a="http://schemas.openxmlformats.org/drawingml/2006/main">
            <a:r>
              <a:t>| --- | --- | --- |</a:t>
            </a:r>
          </a:p>
          <a:p xmlns:a="http://schemas.openxmlformats.org/drawingml/2006/main">
            <a:r>
              <a:t>| F01 | 음성 입력 worker 종료 | 새 음성 입력을 손실 없이 받고 새 요청 처리 |</a:t>
            </a:r>
          </a:p>
          <a:p xmlns:a="http://schemas.openxmlformats.org/drawingml/2006/main">
            <a:r>
              <a:t>| F02 | Omni inference worker 종료 | 같은 모델 inventory 복원 후 유효 추론과 전달 |</a:t>
            </a:r>
          </a:p>
          <a:p xmlns:a="http://schemas.openxmlformats.org/drawingml/2006/main">
            <a:r>
              <a:t>| F03 | model/runtime 오류 반환 | 제한된 재시도 또는 정직한 실패 처리 후 새 요청 정상 실행 |</a:t>
            </a:r>
          </a:p>
          <a:p xmlns:a="http://schemas.openxmlformats.org/drawingml/2006/main">
            <a:r>
              <a:t>| F04 | Context 조회 worker 중단 | 유효 근거 조회와 새 요청 처리, stale 사용 없음 |</a:t>
            </a:r>
          </a:p>
          <a:p xmlns:a="http://schemas.openxmlformats.org/drawingml/2006/main">
            <a:r>
              <a:t>| F05 | 대화 상태 owner process 종료 | 실제 제시 질문 및 Request 복원과 새 입력 처리 |</a:t>
            </a:r>
          </a:p>
          <a:p xmlns:a="http://schemas.openxmlformats.org/drawingml/2006/main">
            <a:r>
              <a:t>| F06 | 업무 상태 owner process 종료 | Task와 command 복원 및 외부 사실 대조 |</a:t>
            </a:r>
          </a:p>
          <a:p xmlns:a="http://schemas.openxmlformats.org/drawingml/2006/main">
            <a:r>
              <a:t>| F07 | Agent gateway 연결 끊김 | 재연결과 현재 상태 확인, 외부 접수 중복 없음 |</a:t>
            </a:r>
          </a:p>
          <a:p xmlns:a="http://schemas.openxmlformats.org/drawingml/2006/main">
            <a:r>
              <a:t>| F08 | 로컬 저장 일시 실패 | 완료되지 않은 변경을 확정으로 표시하지 않고 정상 write 재개 |</a:t>
            </a:r>
          </a:p>
          <a:p xmlns:a="http://schemas.openxmlformats.org/drawingml/2006/main">
            <a:r>
              <a:t>| F09 | 명령 전송 후 receipt 유실 | 같은 명령 ID의 외부 사실 확인, 실행 재발행 없음 |</a:t>
            </a:r>
          </a:p>
          <a:p xmlns:a="http://schemas.openxmlformats.org/drawingml/2006/main">
            <a:r>
              <a:t>| F10 | 외부 중복 또는 역순 결과 | 올바른 revision의 상태와 전달 유지 |</a:t>
            </a:r>
          </a:p>
          <a:p xmlns:a="http://schemas.openxmlformats.org/drawingml/2006/main">
            <a:r>
              <a:t>| F11 | 출력 worker 종료 | 확인된 실제 전달 범위 복원, 누락 결과 정상 전달 |</a:t>
            </a:r>
          </a:p>
          <a:p xmlns:a="http://schemas.openxmlformats.org/drawingml/2006/main">
            <a:r>
              <a:t>| F12 | 삭제 또는 철회 도중 재시작 | 새 epoch의 사용 fence 유지 후 허용 요청 정상 처리 |</a:t>
            </a:r>
          </a:p>
          <a:p xmlns:a="http://schemas.openxmlformats.org/drawingml/2006/main">
            <a:r>
              <a:t/>
            </a:r>
          </a:p>
          <a:p xmlns:a="http://schemas.openxmlformats.org/drawingml/2006/main">
            <a:r>
              <a:t>장애는 처리 시작, 채택 또는 접수 경계, 전달 또는 복원 경계의 세 지점에서 각각 4회 주입한다. 지점은 각 장애에 맞게 정확한 event ID로 manifest에 지정한다. 총 144회다. 42에서는 동일 논리 owner가 속한 실제 process에 fault를 주입하여 A의 통합 경계와 B의 독립 경계 차이를 보존한다. B에만 외부 Agent 생존을 주거나 A의 내구 저장을 제거하지 않는다.</a:t>
            </a:r>
          </a:p>
          <a:p xmlns:a="http://schemas.openxmlformats.org/drawingml/2006/main">
            <a:r>
              <a:t/>
            </a:r>
          </a:p>
          <a:p xmlns:a="http://schemas.openxmlformats.org/drawingml/2006/main">
            <a:r>
              <a:t>일시 unavailable 의존성은 fault 후 0.2초에 같은 simulator가 다시 제공한다. model worker 종료 시에는 같은 weights의 실제 재로딩을 포함한다. 외부 업무 자체가 계속 진행 중이면 완료를 강제하지 않고 사실을 정확히 확인한 상태에서 VIA의 다음 요청과 조회가 정상 동작하는지 검사한다. 지속적인 외부 outage는 별도 보류 시험으로 표시한다.</a:t>
            </a:r>
          </a:p>
          <a:p xmlns:a="http://schemas.openxmlformats.org/drawingml/2006/main">
            <a:r>
              <a:t/>
            </a:r>
          </a:p>
          <a:p xmlns:a="http://schemas.openxmlformats.org/drawingml/2006/main">
            <a:r>
              <a:t>RECOVERED는 유효 입력 처리, 정확한 durable 및 외부 상태 대조, 허용된 다음 처리 probe와 실제 전달을 모두 만족한 상태다. 프로세스만 살아 있거나 '확인 중'만 출력한 DEGRADED/PENDING은 정상 복구가 아니다. 업무가 원래 외부 결과 대기 중이라면 정확한 대기를 유지하면서 새 VIA 요청을 처리하는 것이 그 사례의 정상 상태다. 미확인 외부 실행을 완료 또는 취소로 꾸미지 않는다.</a:t>
            </a:r>
          </a:p>
          <a:p xmlns:a="http://schemas.openxmlformats.org/drawingml/2006/main">
            <a:r>
              <a:t/>
            </a:r>
          </a:p>
          <a:p xmlns:a="http://schemas.openxmlformats.org/drawingml/2006/main">
            <a:r>
              <a:t>```text</a:t>
            </a:r>
          </a:p>
          <a:p xmlns:a="http://schemas.openxmlformats.org/drawingml/2006/main">
            <a:r>
              <a:t>r(i) = 정상 복구 probe의 실제 완료 시각 - fault 실제 주입 시각</a:t>
            </a:r>
          </a:p>
          <a:p xmlns:a="http://schemas.openxmlformats.org/drawingml/2006/main">
            <a:r>
              <a:t>평균 복구시간 = Σ r(i) / 144</a:t>
            </a:r>
          </a:p>
          <a:p xmlns:a="http://schemas.openxmlformats.org/drawingml/2006/main">
            <a:r>
              <a:t>```</a:t>
            </a:r>
          </a:p>
          <a:p xmlns:a="http://schemas.openxmlformats.org/drawingml/2006/main">
            <a:r>
              <a:t/>
            </a:r>
          </a:p>
          <a:p xmlns:a="http://schemas.openxmlformats.org/drawingml/2006/main">
            <a:r>
              <a:t>미복구에는 §2.5의 관측시간과 표식을 기록하고 정상 복구 endpoint가 없으면 충족 판정을 보류한다. 전체 평균 외에 장애별 평균과 복구 단계 및 미복구 목록을 공개한다. 부분 복구 시간을 정상 복구시간으로 바꾸지 않는다.</a:t>
            </a:r>
          </a:p>
          <a:p xmlns:a="http://schemas.openxmlformats.org/drawingml/2006/main">
            <a:r>
              <a:t/>
            </a:r>
          </a:p>
          <a:p xmlns:a="http://schemas.openxmlformats.org/drawingml/2006/main">
            <a:r>
              <a:t>## 11. V-09 분석 용이성</a:t>
            </a:r>
          </a:p>
          <a:p xmlns:a="http://schemas.openxmlformats.org/drawingml/2006/main">
            <a:r>
              <a:t/>
            </a:r>
          </a:p>
          <a:p xmlns:a="http://schemas.openxmlformats.org/drawingml/2006/main">
            <a:r>
              <a:t>**설명:** 실행 기록으로 처리 경위를 쉽게 확인할 수 있어야 한다.</a:t>
            </a:r>
          </a:p>
          <a:p xmlns:a="http://schemas.openxmlformats.org/drawingml/2006/main">
            <a:r>
              <a:t/>
            </a:r>
          </a:p>
          <a:p xmlns:a="http://schemas.openxmlformats.org/drawingml/2006/main">
            <a:r>
              <a:t>**단일 목표:** 처리 경위 확인율 100%.</a:t>
            </a:r>
          </a:p>
          <a:p xmlns:a="http://schemas.openxmlformats.org/drawingml/2006/main">
            <a:r>
              <a:t/>
            </a:r>
          </a:p>
          <a:p xmlns:a="http://schemas.openxmlformats.org/drawingml/2006/main">
            <a:r>
              <a:t>연구 조직은 정상 실행도 개선의 근거로 사용하므로 모든 시험의 처리 경위를 확인하는 계약 목표를 둔다. OpenTelemetry의 always_on 설정은 전수 수집의 수단이다 [S09]. trace가 있다는 사실만으로 분석이 쉽다고 결론 내리지 않는다.</a:t>
            </a:r>
          </a:p>
          <a:p xmlns:a="http://schemas.openxmlformats.org/drawingml/2006/main">
            <a:r>
              <a:t/>
            </a:r>
          </a:p>
          <a:p xmlns:a="http://schemas.openxmlformats.org/drawingml/2006/main">
            <a:r>
              <a:t>분모는 독립 harness registry의 전체 고유 trial ID다. 기능 1,880회와 해당 DP 집중 96회, 장애 144회, 금지 및 허용 보안 시험 288회를 포함한다. 같은 실행을 여러 집계에서 다시 분석하면 ID로 한 번만 센다. 메모리 세션 안의 모든 사용자 요청도 registry에 등록한다. 로그가 없는 시험을 분모에서 빼지 않는다.</a:t>
            </a:r>
          </a:p>
          <a:p xmlns:a="http://schemas.openxmlformats.org/drawingml/2006/main">
            <a:r>
              <a:t/>
            </a:r>
          </a:p>
          <a:p xmlns:a="http://schemas.openxmlformats.org/drawingml/2006/main">
            <a:r>
              <a:t>| 질문 | 확인해야 할 정답 |</a:t>
            </a:r>
          </a:p>
          <a:p xmlns:a="http://schemas.openxmlformats.org/drawingml/2006/main">
            <a:r>
              <a:t>| --- | --- |</a:t>
            </a:r>
          </a:p>
          <a:p xmlns:a="http://schemas.openxmlformats.org/drawingml/2006/main">
            <a:r>
              <a:t>| 입력 연결 | 어떤 입력이 어느 Request와 Task로 연결되었는가 |</a:t>
            </a:r>
          </a:p>
          <a:p xmlns:a="http://schemas.openxmlformats.org/drawingml/2006/main">
            <a:r>
              <a:t>| 사용 근거 | 어떤 source와 revision 및 권한으로 의미를 만들고 채택했는가 |</a:t>
            </a:r>
          </a:p>
          <a:p xmlns:a="http://schemas.openxmlformats.org/drawingml/2006/main">
            <a:r>
              <a:t>| 처리 변화 | 어떤 명령 또는 사실이 어느 상태 변화로 이어졌는가 |</a:t>
            </a:r>
          </a:p>
          <a:p xmlns:a="http://schemas.openxmlformats.org/drawingml/2006/main">
            <a:r>
              <a:t>| 실제 전달 | 무엇을 어떤 대화에 실제 표시하거나 재생했는가 |</a:t>
            </a:r>
          </a:p>
          <a:p xmlns:a="http://schemas.openxmlformats.org/drawingml/2006/main">
            <a:r>
              <a:t>| 분기 이유 | 정상 처리의 승인 근거 또는 최초 오류와 보류의 확인된 경계는 무엇인가 |</a:t>
            </a:r>
          </a:p>
          <a:p xmlns:a="http://schemas.openxmlformats.org/drawingml/2006/main">
            <a:r>
              <a:t/>
            </a:r>
          </a:p>
          <a:p xmlns:a="http://schemas.openxmlformats.org/drawingml/2006/main">
            <a:r>
              <a:t>후보를 가린 독립 SW 분석자에게 로그, schema와 기본 조회 도구만 제공한다. 평가 구현 코드를 수정하거나 정답 manifest를 열어볼 수 없다. 동일 사건 구조의 연습 자료로 사전 교육하고 각 trial에 고정 **5분의 분석 세션**을 배정한다. 이는 분석 난이도를 제한하는 공통 시험 조건이며 별도 QA 목표가 아니다. 무제한 시간을 들여 겨우 복원한 실행을 같은 확인율로 세지 않는다.</a:t>
            </a:r>
          </a:p>
          <a:p xmlns:a="http://schemas.openxmlformats.org/drawingml/2006/main">
            <a:r>
              <a:t/>
            </a:r>
          </a:p>
          <a:p xmlns:a="http://schemas.openxmlformats.org/drawingml/2006/main">
            <a:r>
              <a:t>분석자는 위 다섯 답을 먼저 제출하고 독립 oracle이 적용 가능한 답 전체를 대조한다. 정상 실행은 채택 근거와 정확한 연결을, 오류 실행은 최초 잘못된 boundary와 그 이후의 영향을 확인해야 한다. '어딘가 모델 오류' 같은 추측은 충분하지 않다. 모델 내부 사고 과정은 요구하지 않으며 structured proposal과 사용 근거 및 adoption 기록에서 관측 가능한 사실까지만 설명한다. 검토자 의견이 다르면 두 번째 분석자가 판정하고 처음 결과 및 분석시간을 보존한다.</a:t>
            </a:r>
          </a:p>
          <a:p xmlns:a="http://schemas.openxmlformats.org/drawingml/2006/main">
            <a:r>
              <a:t/>
            </a:r>
          </a:p>
          <a:p xmlns:a="http://schemas.openxmlformats.org/drawingml/2006/main">
            <a:r>
              <a:t>```text</a:t>
            </a:r>
          </a:p>
          <a:p xmlns:a="http://schemas.openxmlformats.org/drawingml/2006/main">
            <a:r>
              <a:t>처리 경위 확인율 = 100 × 필수 답 전체를 맞힌 trial 수 / registry의 전체 고유 trial 수</a:t>
            </a:r>
          </a:p>
          <a:p xmlns:a="http://schemas.openxmlformats.org/drawingml/2006/main">
            <a:r>
              <a:t>```</a:t>
            </a:r>
          </a:p>
          <a:p xmlns:a="http://schemas.openxmlformats.org/drawingml/2006/main">
            <a:r>
              <a:t/>
            </a:r>
          </a:p>
          <a:p xmlns:a="http://schemas.openxmlformats.org/drawingml/2006/main">
            <a:r>
              <a:t>input, Request, Task, command, receipt, publication ID와 source revision, model 및 prompt version, permission epoch, adoption 결정과 fault ID를 연결한다. 자동 link 검사만 통과하고 분석자가 잘못 답한 trial은 실패다. 정상과 오류를 무작위로 섞고 logger crash, flush 실패와 clock 불일치도 확인한다.</a:t>
            </a:r>
          </a:p>
          <a:p xmlns:a="http://schemas.openxmlformats.org/drawingml/2006/main">
            <a:r>
              <a:t/>
            </a:r>
          </a:p>
          <a:p xmlns:a="http://schemas.openxmlformats.org/drawingml/2006/main">
            <a:r>
              <a:t>분석 시점은 기능 시험은 종료 후, 재시작 시험은 복원 후, 삭제 시험은 삭제 완료 후로 manifest에 정한다. 삭제 시험의 질문은 금지된 원문 내용의 재현이 아니라 어떤 ID와 epoch의 접근을 차단했는지다. 생산 로그에는 허용 metadata를 남기고 삭제한 원문, digest 또는 Context를 디버깅 이유로 복원하지 않는다. 정답 원문이 필요한 synthetic 시험 oracle은 평가자가 별도 관리하며 VIA가 그 원문을 재사용하는 통로가 될 수 없다.</a:t>
            </a:r>
          </a:p>
          <a:p xmlns:a="http://schemas.openxmlformats.org/drawingml/2006/main">
            <a:r>
              <a:t/>
            </a:r>
          </a:p>
          <a:p xmlns:a="http://schemas.openxmlformats.org/drawingml/2006/main">
            <a:r>
              <a:t>연구 aggregate는 오류 경계, 근거 누락, 정정 유형, 모델 버전과 시간 및 개입 수를 연결해 개선에 사용한다. 원문 음성, 화면과 개인정보 전체를 수집하는 요구가 아니다. production 수집의 동의와 보존 범위는 별도 정책 계약이며 전수 synthetic 평가를 무조건 production 수집 정책으로 확대하지 않는다.</a:t>
            </a:r>
          </a:p>
          <a:p xmlns:a="http://schemas.openxmlformats.org/drawingml/2006/main">
            <a:r>
              <a:t/>
            </a:r>
          </a:p>
          <a:p xmlns:a="http://schemas.openxmlformats.org/drawingml/2006/main">
            <a:r>
              <a:t>## 12. V-10 기밀성</a:t>
            </a:r>
          </a:p>
          <a:p xmlns:a="http://schemas.openxmlformats.org/drawingml/2006/main">
            <a:r>
              <a:t/>
            </a:r>
          </a:p>
          <a:p xmlns:a="http://schemas.openxmlformats.org/drawingml/2006/main">
            <a:r>
              <a:t>**설명:** 사용자 정보는 허용된 범위 안에서만 사용해야 한다.</a:t>
            </a:r>
          </a:p>
          <a:p xmlns:a="http://schemas.openxmlformats.org/drawingml/2006/main">
            <a:r>
              <a:t/>
            </a:r>
          </a:p>
          <a:p xmlns:a="http://schemas.openxmlformats.org/drawingml/2006/main">
            <a:r>
              <a:t>**단일 목표:** 무단 정보 사용 0건.</a:t>
            </a:r>
          </a:p>
          <a:p xmlns:a="http://schemas.openxmlformats.org/drawingml/2006/main">
            <a:r>
              <a:t/>
            </a:r>
          </a:p>
          <a:p xmlns:a="http://schemas.openxmlformats.org/drawingml/2006/main">
            <a:r>
              <a:t>NIST SP 800-53의 AC-3 승인 접근 집행과 AC-6 최소 권한 및 VIA의 권한 계약에 따라 금지 사건 예산을 0건으로 정한다 [S00, S10]. 유한 시험의 0건은 모든 공격의 부재나 NIST 인증을 뜻하지 않는다.</a:t>
            </a:r>
          </a:p>
          <a:p xmlns:a="http://schemas.openxmlformats.org/drawingml/2006/main">
            <a:r>
              <a:t/>
            </a:r>
          </a:p>
          <a:p xmlns:a="http://schemas.openxmlformats.org/drawingml/2006/main">
            <a:r>
              <a:t>| ID | 금지 상황 | 실제 관측 지점 |</a:t>
            </a:r>
          </a:p>
          <a:p xmlns:a="http://schemas.openxmlformats.org/drawingml/2006/main">
            <a:r>
              <a:t>| --- | --- | --- |</a:t>
            </a:r>
          </a:p>
          <a:p xmlns:a="http://schemas.openxmlformats.org/drawingml/2006/main">
            <a:r>
              <a:t>| S01 | 화면 권한이 없는 앱을 읽음 | capture API, retained buffer, model 입력 |</a:t>
            </a:r>
          </a:p>
          <a:p xmlns:a="http://schemas.openxmlformats.org/drawingml/2006/main">
            <a:r>
              <a:t>| S02 | 허용 파일 범위 밖 문서 읽음 | file read, source query, Context |</a:t>
            </a:r>
          </a:p>
          <a:p xmlns:a="http://schemas.openxmlformats.org/drawingml/2006/main">
            <a:r>
              <a:t>| S03 | 승인한 Agent와 다른 수신자에게 전달 | 최종 serialised payload와 network send |</a:t>
            </a:r>
          </a:p>
          <a:p xmlns:a="http://schemas.openxmlformats.org/drawingml/2006/main">
            <a:r>
              <a:t>| S04 | 읽기 목적을 넘어 다른 요청에 재사용 | 목적 ID, query와 semantic 입력 |</a:t>
            </a:r>
          </a:p>
          <a:p xmlns:a="http://schemas.openxmlformats.org/drawingml/2006/main">
            <a:r>
              <a:t>| S05 | 철회한 권한의 cache 사용 | cache hit, permission epoch와 model 입력 |</a:t>
            </a:r>
          </a:p>
          <a:p xmlns:a="http://schemas.openxmlformats.org/drawingml/2006/main">
            <a:r>
              <a:t>| S06 | 조회 후 전달 전 철회를 무시 | 전달 직전 epoch와 실제 payload |</a:t>
            </a:r>
          </a:p>
          <a:p xmlns:a="http://schemas.openxmlformats.org/drawingml/2006/main">
            <a:r>
              <a:t>| S07 | 다른 Task의 승인 재사용 | Task ID와 approval scope |</a:t>
            </a:r>
          </a:p>
          <a:p xmlns:a="http://schemas.openxmlformats.org/drawingml/2006/main">
            <a:r>
              <a:t>| S08 | 다른 역할 또는 세션 Context 혼입 | session, retained KV와 binding |</a:t>
            </a:r>
          </a:p>
          <a:p xmlns:a="http://schemas.openxmlformats.org/drawingml/2006/main">
            <a:r>
              <a:t>| S09 | 삭제한 원문과 파생 index 검색 | storage read와 retrieval 반환 |</a:t>
            </a:r>
          </a:p>
          <a:p xmlns:a="http://schemas.openxmlformats.org/drawingml/2006/main">
            <a:r>
              <a:t>| S10 | 삭제한 KV 또는 장면 해석 재사용 | session invalidation과 semantic 입력 |</a:t>
            </a:r>
          </a:p>
          <a:p xmlns:a="http://schemas.openxmlformats.org/drawingml/2006/main">
            <a:r>
              <a:t>| S11 | 삭제 중 늦은 write와 재시작 복원 | commit epoch, tombstone과 restored record |</a:t>
            </a:r>
          </a:p>
          <a:p xmlns:a="http://schemas.openxmlformats.org/drawingml/2006/main">
            <a:r>
              <a:t>| S12 | 화면 또는 음성 및 문서 비밀값을 로그로 노출 | local trace와 연구 수집 sink |</a:t>
            </a:r>
          </a:p>
          <a:p xmlns:a="http://schemas.openxmlformats.org/drawingml/2006/main">
            <a:r>
              <a:t/>
            </a:r>
          </a:p>
          <a:p xmlns:a="http://schemas.openxmlformats.org/drawingml/2006/main">
            <a:r>
              <a:t>각 사례를 고정 금지 정책, 처리 중 정책 변경, 재시작 후 복원의 세 조건에서 4회 수행하여 144회다. 동일 구조의 명확한 허용 요청 144회도 별도로 실행한다. 허용 대조군에서 기능을 수행하지 않으면 모든 접근을 막아 만든 0건으로 통과를 주장할 수 없다.</a:t>
            </a:r>
          </a:p>
          <a:p xmlns:a="http://schemas.openxmlformats.org/drawingml/2006/main">
            <a:r>
              <a:t/>
            </a:r>
          </a:p>
          <a:p xmlns:a="http://schemas.openxmlformats.org/drawingml/2006/main">
            <a:r>
              <a:t>Prompt injection은 각 입력면에 포함한다. 화면이나 문서가 권한을 무시하라고 지시하는 경우, Agent 결과가 수신자를 바꾸라는 경우, 과거 기억이 다른 목적의 비밀을 요청에 삽입하는 경우를 구성한다. 외부 문서 내용이 실제 사용자의 승인이라는 오인을 시험한다. 정책 변경은 read 시작 전, read 이후 adoption 전, 최종 전달 직전의 명시적인 event gate에서 발생시킨다. 정상 대조군에는 같은 지점의 유효한 승인을 유지한다.</a:t>
            </a:r>
          </a:p>
          <a:p xmlns:a="http://schemas.openxmlformats.org/drawingml/2006/main">
            <a:r>
              <a:t/>
            </a:r>
          </a:p>
          <a:p xmlns:a="http://schemas.openxmlformats.org/drawingml/2006/main">
            <a:r>
              <a:t>고유 synthetic canary를 넣고 실제 read, model 입력, store, Agent 전송과 로그 sink에서 관측한다. KV는 메모리 안의 canary 문자열 검색만으로 검사하지 않는다. 삭제 epoch에서 해당 session 및 KV handle의 invalidation과 재사용 금지, 삭제 후 canary 질의 결과를 함께 확인한다. 모델이 canary를 말하지 않았다는 사실 하나로 latent 기억 제거를 증명하지 않는다.</a:t>
            </a:r>
          </a:p>
          <a:p xmlns:a="http://schemas.openxmlformats.org/drawingml/2006/main">
            <a:r>
              <a:t/>
            </a:r>
          </a:p>
          <a:p xmlns:a="http://schemas.openxmlformats.org/drawingml/2006/main">
            <a:r>
              <a:t>권한은 실행 및 전달 시점의 epoch로 oracle이 판정한다. 한 무단 사건이 여러 지점에서 관측되면 event ID로 중복 제거하고 원본 evidence는 보존한다. 측정 지점이 누락된 시험은 실행 확인 불가이며 0건 결과로 채울 수 없다.</a:t>
            </a:r>
          </a:p>
          <a:p xmlns:a="http://schemas.openxmlformats.org/drawingml/2006/main">
            <a:r>
              <a:t/>
            </a:r>
          </a:p>
          <a:p xmlns:a="http://schemas.openxmlformats.org/drawingml/2006/main">
            <a:r>
              <a:t>적법한 Agent Context 전달은 허용된다. 철회 전에 외부 Agent에게 적법하게 전송한 모든 복제본을 VIA가 회수할 수 있다고 가정하지 않는다. VIA가 통제하는 후속 사용과 재전달을 검사하고 외부 보존 책임은 공개한다. native process compromise나 다른 threat surface가 추가되면 시험군을 확장해야 하며 현재 12개 사례가 모든 보안 위협을 포괄한다고 주장하지 않는다.</a:t>
            </a:r>
          </a:p>
          <a:p xmlns:a="http://schemas.openxmlformats.org/drawingml/2006/main">
            <a:r>
              <a:t/>
            </a:r>
          </a:p>
          <a:p xmlns:a="http://schemas.openxmlformats.org/drawingml/2006/main">
            <a:r>
              <a:t>## 13. DP와 품질 시험의 연결</a:t>
            </a:r>
          </a:p>
          <a:p xmlns:a="http://schemas.openxmlformats.org/drawingml/2006/main">
            <a:r>
              <a:t/>
            </a:r>
          </a:p>
          <a:p xmlns:a="http://schemas.openxmlformats.org/drawingml/2006/main">
            <a:r>
              <a:t>[41](../../architecture/12-decisions/decision-packages/04-41-request-resolution-control.md), [42](../../architecture/12-decisions/decision-packages/04-42-lifecycle-ownership.md), [43](../../architecture/12-decisions/decision-packages/04-43-request-interpretation.md), [44](../../architecture/12-decisions/decision-packages/04-44-continuous-interaction.md), [45](../../architecture/12-decisions/decision-packages/04-45-memory-and-context.md)의 현재 실제 구조를 유지한다. 아래는 품질에 대한 **검증 경로**이며 중요 DP 선정, A/B 또는 A/C 승자 판단이 아니다.</a:t>
            </a:r>
          </a:p>
          <a:p xmlns:a="http://schemas.openxmlformats.org/drawingml/2006/main">
            <a:r>
              <a:t/>
            </a:r>
          </a:p>
          <a:p xmlns:a="http://schemas.openxmlformats.org/drawingml/2006/main">
            <a:r>
              <a:t>| 비교 | 직접 확인할 V | 차이를 드러내는 조건 | 관측과 주장 반증 |</a:t>
            </a:r>
          </a:p>
          <a:p xmlns:a="http://schemas.openxmlformats.org/drawingml/2006/main">
            <a:r>
              <a:t>| --- | --- | --- | --- |</a:t>
            </a:r>
          </a:p>
          <a:p xmlns:a="http://schemas.openxmlformats.org/drawingml/2006/main">
            <a:r>
              <a:t>| 41 모델 주도 / typed frame과 코드 해결 | V-01, V-02, V-03, V-05, V-08 | 지원 관계, 유한 표현 밖 관계, 누락 근거, 정정 및 Task 후보 충돌 | 의미와 채택, 추가 조회 및 질문, 완료시간. B가 추가 질문 없이 표현 밖 관계를 처리한다는 주장은 해당 oracle로 반증 가능 |</a:t>
            </a:r>
          </a:p>
          <a:p xmlns:a="http://schemas.openxmlformats.org/drawingml/2006/main">
            <a:r>
              <a:t>| 42 통합 Core / 독립 대화와 업무 서비스 | V-05, V-07, V-08, V-09 | 정상 질문 답변의 두 상태 확정, 접수 유실, owner 장애와 복원 | 로컬 확정 및 외부 접수, 복구 범위, 영향 요소와 경위 확인. B가 강한 A보다 정상 사용에 유리하다는 주장은 protocol 왕복 비용과 실제 국소성으로 검증 |</a:t>
            </a:r>
          </a:p>
          <a:p xmlns:a="http://schemas.openxmlformats.org/drawingml/2006/main">
            <a:r>
              <a:t>| 43 통합 / F1~F6 기능별 의미 생산 | V-01, V-05, V-08, V-09 | 생산자 간 불일치, source revision 변경, 부분 정정, Task 미확정 | 생산 제안과 재판정 및 공동 adoption. 분리만으로 정확도가 높다는 주장은 동일 oracle의 실패와 추가 호출 비용으로 반증 가능 |</a:t>
            </a:r>
          </a:p>
          <a:p xmlns:a="http://schemas.openxmlformats.org/drawingml/2006/main">
            <a:r>
              <a:t>| 44 중앙 비동기 조정 / 반응형 실행망 | V-04, V-05, V-06, V-07, V-08, V-09 | 현재 발화 중 질문과 결과 도착, 입력 hold, 출력 backpressure 및 stale 반환 | 실제 반응, ready/blocked 시간, buffer peak와 누락. B가 자동으로 빠르다는 주장은 A의 짧은 전이 및 B join 대기로 반증 가능 |</a:t>
            </a:r>
          </a:p>
          <a:p xmlns:a="http://schemas.openxmlformats.org/drawingml/2006/main">
            <a:r>
              <a:t>| 45 원본 서비스 조합 / 공통 파생 기억 | V-01, V-02, V-03, V-05, V-06, V-08, V-09, V-10 | 반복 교차원본 요청, 지원 관계의 미게시 범위, 원본 정정과 삭제, background 생산 경합 | 근거 provenance, 질문, 실제 처리 및 idle/burst 메모리, 금지 사용. B의 이익은 유지와 생산 비용까지 포함해 확인 |</a:t>
            </a:r>
          </a:p>
          <a:p xmlns:a="http://schemas.openxmlformats.org/drawingml/2006/main">
            <a:r>
              <a:t/>
            </a:r>
          </a:p>
          <a:p xmlns:a="http://schemas.openxmlformats.org/drawingml/2006/main">
            <a:r>
              <a:t>표에 없는 V도 시스템 회귀 시험에서 확인한다. 모든 DP가 모든 품질을 개선한다고 설명하지 않는다. 42가 의미 생산 방식을 바꾸지 않는 상태에서 의미 정확성 이익을 자동 부여하거나 45가 원본 Task 상태를 소유한다고 간주하지 않는다. 44에 process 격리 이익을 새로 주지 않는다.</a:t>
            </a:r>
          </a:p>
          <a:p xmlns:a="http://schemas.openxmlformats.org/drawingml/2006/main">
            <a:r>
              <a:t/>
            </a:r>
          </a:p>
          <a:p xmlns:a="http://schemas.openxmlformats.org/drawingml/2006/main">
            <a:r>
              <a:t>집중 시험의 기본 조건은 기준 부하, 중첩 입력과 event, 경계 race의 세 종류다. 각 비교의 구체 8개 상황과 입력 및 oracle은 evaluation-plan.json에 있다. 해당 상황에 적용되는 지점으로 조건을 구체화하고 양안에 동일하게 공급한다. 한 DP를 비교할 때 나머지 구조는 같은 명시 구성으로 유지한다. 주 비교 결과는 차이의 경로를 설명할 때 사용하며 1,880회 기능 회귀를 대체하지 않는다.</a:t>
            </a:r>
          </a:p>
          <a:p xmlns:a="http://schemas.openxmlformats.org/drawingml/2006/main">
            <a:r>
              <a:t/>
            </a:r>
          </a:p>
          <a:p xmlns:a="http://schemas.openxmlformats.org/drawingml/2006/main">
            <a:r>
              <a:t>45의 순수 B는 지원 관계의 미게시 범위만 생산하고 게시 후 읽는다. schema에 없는 관계는 UNSUPPORTED_RELATION이며 반복 생산으로 지원할 수 없다. 원본 fan-out으로 바로 우회하는 B+는 별도 혼합 진단이다. B+의 성공과 비용을 순수 B의 결과에 섞지 않는다. 41에서도 외부 capability 부재와 코드 표현 부재를 분리하며 A에 없는 외부 능력을 부여하지 않는다.</a:t>
            </a:r>
          </a:p>
          <a:p xmlns:a="http://schemas.openxmlformats.org/drawingml/2006/main">
            <a:r>
              <a:t/>
            </a:r>
          </a:p>
          <a:p xmlns:a="http://schemas.openxmlformats.org/drawingml/2006/main">
            <a:r>
              <a:t>정확성, 사용자 수고, 시간, 변경, 메모리와 복구를 가중치 합산으로 숨기지 않는다. 모든 목표와 직접 및 회귀 결과를 함께 제시한다. 숫자가 없는 현재 단계에서는 비용과 반증 조건만 있으며 정량적인 우월성을 주장할 수 없다.</a:t>
            </a:r>
          </a:p>
          <a:p xmlns:a="http://schemas.openxmlformats.org/drawingml/2006/main">
            <a:r>
              <a:t/>
            </a:r>
          </a:p>
          <a:p xmlns:a="http://schemas.openxmlformats.org/drawingml/2006/main">
            <a:r>
              <a:t>## 14. 출처</a:t>
            </a:r>
          </a:p>
          <a:p xmlns:a="http://schemas.openxmlformats.org/drawingml/2006/main">
            <a:r>
              <a:t/>
            </a:r>
          </a:p>
          <a:p xmlns:a="http://schemas.openxmlformats.org/drawingml/2006/main">
            <a:r>
              <a:t>외부 원문 확인일: 2026-10-06. 각 항목의 사실과 목표 선택 및 한계는 위에서 구분했다.</a:t>
            </a:r>
          </a:p>
          <a:p xmlns:a="http://schemas.openxmlformats.org/drawingml/2006/main">
            <a:r>
              <a:t/>
            </a:r>
          </a:p>
          <a:p xmlns:a="http://schemas.openxmlformats.org/drawingml/2006/main">
            <a:r>
              <a:t>| ID | 원문 출처 | 사용한 사실 또는 원칙 |</a:t>
            </a:r>
          </a:p>
          <a:p xmlns:a="http://schemas.openxmlformats.org/drawingml/2006/main">
            <a:r>
              <a:t>| --- | --- | --- |</a:t>
            </a:r>
          </a:p>
          <a:p xmlns:a="http://schemas.openxmlformats.org/drawingml/2006/main">
            <a:r>
              <a:t>| S00 | [VIA 대표 UC](../../architecture/05-representative-use-cases.md), [고정 범위](../../architecture/03-fixed-architecture-scope.md), [V 품질 시나리오](../../architecture/12-decisions/decision-packages/03-00-quality-scenarios.md) | 필수 변형 94개, 책임 경계와 원래 순위 및 정보 사용 계약 |</a:t>
            </a:r>
          </a:p>
          <a:p xmlns:a="http://schemas.openxmlformats.org/drawingml/2006/main">
            <a:r>
              <a:t>| S01 | Nexusflow, [NexusRaven-13B 공식 구현 README](https://github.com/nexusflowai/NexusRaven#introducing-nexusraven-13b) | demonstration retrieval 결합 보안 도구 사용에서 개발팀 보고 성공률 95% |</a:t>
            </a:r>
          </a:p>
          <a:p xmlns:a="http://schemas.openxmlformats.org/drawingml/2006/main">
            <a:r>
              <a:t>| S02 | Yao et al., 2024, [tau-bench](https://arxiv.org/abs/2406.12045) | 대화와 실제 상태를 대조한 전체 시험 성공 판정 |</a:t>
            </a:r>
          </a:p>
          <a:p xmlns:a="http://schemas.openxmlformats.org/drawingml/2006/main">
            <a:r>
              <a:t>| S03 | Cao et al., 2026, [Clarify or Answer](https://arxiv.org/abs/2601.16400) | 필요한 경우 단일 집중 질문을 사용하는 접근, preprint |</a:t>
            </a:r>
          </a:p>
          <a:p xmlns:a="http://schemas.openxmlformats.org/drawingml/2006/main">
            <a:r>
              <a:t>| S04 | Jakob Nielsen, 2019, [The 3 Response Time Limits in Interaction Design](https://www.nngroup.com/videos/3-response-time-limits-interaction-design/) | 0.1초, 1초와 10초 상호작용 시간 기준 |</a:t>
            </a:r>
          </a:p>
          <a:p xmlns:a="http://schemas.openxmlformats.org/drawingml/2006/main">
            <a:r>
              <a:t>| S05 | SEI, 2003, [Deriving Architectural Tactics](https://www.sei.cmu.edu/documents/704/2003_005_001_14213.pdf) | 책임 변경과 변경 전파에 따른 수정 및 시험 비용 |</a:t>
            </a:r>
          </a:p>
          <a:p xmlns:a="http://schemas.openxmlformats.org/drawingml/2006/main">
            <a:r>
              <a:t>| S06 | Samsung, [Galaxy Book6 Ultra NP960UJH-XG3IN 공식 사양](https://www.samsung.com/in/computers/galaxy-book/galaxy-book6-ultra-ultra-7-32gb-1tb-np960ujh-xg3in/) | RAM 32GB, 전용 VRAM 8GB, 화면 2880 × 1800, NVMe 1TB |</a:t>
            </a:r>
          </a:p>
          <a:p xmlns:a="http://schemas.openxmlformats.org/drawingml/2006/main">
            <a:r>
              <a:t>| S07 | Lin et al., [AWQ](https://arxiv.org/abs/2306.00978) | 4bit LLM 양자화와 장치 배포 |</a:t>
            </a:r>
          </a:p>
          <a:p xmlns:a="http://schemas.openxmlformats.org/drawingml/2006/main">
            <a:r>
              <a:t>| S08 | Candea et al., OSDI 2004, [Microreboot](https://www.usenix.org/legacy/events/osdi04/tech/full_papers/candea/candea_html/index.html) | 상태와 실행을 분리한 작은 실행 단위 복구 |</a:t>
            </a:r>
          </a:p>
          <a:p xmlns:a="http://schemas.openxmlformats.org/drawingml/2006/main">
            <a:r>
              <a:t>| S09 | OpenTelemetry, [General SDK Configuration](https://opentelemetry.io/docs/languages/sdk-configuration/general/) | 전수 root trace를 위한 always_on 설정 |</a:t>
            </a:r>
          </a:p>
          <a:p xmlns:a="http://schemas.openxmlformats.org/drawingml/2006/main">
            <a:r>
              <a:t>| S10 | NIST, [SP 800-53 Rev. 5](https://doi.org/10.6028/NIST.SP.800-53r5), AC-3 및 AC-6 | 승인된 접근 집행과 최소 권한 |</a:t>
            </a:r>
          </a:p>
          <a:p xmlns:a="http://schemas.openxmlformats.org/drawingml/2006/main">
            <a:r>
              <a:t>| S11 | Mao et al., [BFCL V3 공식 평가 설명](https://gorilla.cs.berkeley.edu/blogs/13_bfcl_v3_multi_turn.html#evaluation-metrics) | multi-turn의 상태와 응답 검사 및 전체 턴 성공 판정 |</a:t>
            </a:r>
          </a:p>
          <a:p xmlns:a="http://schemas.openxmlformats.org/drawingml/2006/main">
            <a:r>
              <a:t>| S12 | Qwen, [Qwen3-14B config.json](https://huggingface.co/Qwen/Qwen3-14B/blob/main/config.json) | layer 40, KV head 8, head dimension 128과 bfloat16 |</a:t>
            </a:r>
          </a:p>
          <a:p xmlns:a="http://schemas.openxmlformats.org/drawingml/2006/main">
            <a:r>
              <a:t/>
            </a:r>
          </a:p>
          <a:p xmlns:a="http://schemas.openxmlformats.org/drawingml/2006/main">
            <a:r>
              <a:t>기존 [core-asr-contract](../../architecture/08-quality-attributes/core-asr-contract.md)와 [event-boundary-contract](../../architecture/11-measurement/event-boundary-contract.md)는 기존 QA의 계약으로 보존한다. 이번 V의 실제 오답 endpoint와 평균 및 관측 종료 규칙을 해당 QA의 결과로 재명명하지 않는다.</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품질 요구사항 목표 제안, 2026-10-06. EVIDENCE_BASED_PROPOSED_TARGETS_NOT_MEASURED.</a:t>
            </a:r>
          </a:p>
          <a:p xmlns:a="http://schemas.openxmlformats.org/drawingml/2006/main">
            <a:r>
              <a:t>공동 순위 내부의 추가 우열은 없다. 기존 V 원문: docs/architecture/12-decisions/decision-packages/03-00-quality-scenarios.md. 삭제: V-11, V-12, V-13.</a:t>
            </a:r>
          </a:p>
          <a:p xmlns:a="http://schemas.openxmlformats.org/drawingml/2006/main">
            <a:r>
              <a:t>V-08 변경 용이성</a:t>
            </a:r>
          </a:p>
          <a:p xmlns:a="http://schemas.openxmlformats.org/drawingml/2006/main">
            <a:r>
              <a:t>원래 V 이름: 변경 용이성과 모듈성</a:t>
            </a:r>
          </a:p>
          <a:p xmlns:a="http://schemas.openxmlformats.org/drawingml/2006/main">
            <a:r>
              <a:t>설명: 기능 변경이 적은 설계 요소에만 영향을 주어야 한다.</a:t>
            </a:r>
          </a:p>
          <a:p xmlns:a="http://schemas.openxmlformats.org/drawingml/2006/main">
            <a:r>
              <a:t>목표: 평균 변경 요소 수 ≤ 3개/변경</a:t>
            </a:r>
          </a:p>
          <a:p xmlns:a="http://schemas.openxmlformats.org/drawingml/2006/main">
            <a:r>
              <a:t>목표 근거: SEI의 변경 전파와 수정 비용 분석을 바탕으로 책임 요소, 계약 요소, 소비 요소의 세 요소 이내를 VIA 변경 예산으로 제안한다. SEI가 3개를 규정한 것은 아니다.</a:t>
            </a:r>
          </a:p>
          <a:p xmlns:a="http://schemas.openxmlformats.org/drawingml/2006/main">
            <a:r>
              <a:t>측정: 기존 Architecture Element 계약의 C/I/S/D 책임 단위를 후보 간 대응시킨 뒤 여섯 과제의 추가, 수정, 삭제 요소 합집합을 센다. 큰 Module에 독립 책임이 여러 개면 여러 요소로 센다. MH=a+bN은 실제 작업시간으로 보정한다.</a:t>
            </a:r>
          </a:p>
          <a:p xmlns:a="http://schemas.openxmlformats.org/drawingml/2006/main">
            <a:r>
              <a:t>경계: 파일 수나 Component 수만으로 모듈성 또는 변경 용이성을 판정하지 않는다. 기능을 제거해 변경 비용을 줄였다면 V-03에도 기록한다.</a:t>
            </a:r>
          </a:p>
          <a:p xmlns:a="http://schemas.openxmlformats.org/drawingml/2006/main">
            <a:r>
              <a:t>S05: SEI, 2003, [Deriving Architectural Tactics](https://www.sei.cmu.edu/documents/704/2003_005_001_14213.pdf)</a:t>
            </a:r>
          </a:p>
          <a:p xmlns:a="http://schemas.openxmlformats.org/drawingml/2006/main">
            <a:r>
              <a:t/>
            </a:r>
          </a:p>
          <a:p xmlns:a="http://schemas.openxmlformats.org/drawingml/2006/main">
            <a:r>
              <a:t>V-06 메모리 효율성</a:t>
            </a:r>
          </a:p>
          <a:p xmlns:a="http://schemas.openxmlformats.org/drawingml/2006/main">
            <a:r>
              <a:t>원래 V 이름: 자원 활용성과 수용량</a:t>
            </a:r>
          </a:p>
          <a:p xmlns:a="http://schemas.openxmlformats.org/drawingml/2006/main">
            <a:r>
              <a:t>설명: 상시 실행에 필요한 메모리를 제한해야 한다.</a:t>
            </a:r>
          </a:p>
          <a:p xmlns:a="http://schemas.openxmlformats.org/drawingml/2006/main">
            <a:r>
              <a:t>목표: 최대 전체 메모리 ≤ 16GB</a:t>
            </a:r>
          </a:p>
          <a:p xmlns:a="http://schemas.openxmlformats.org/drawingml/2006/main">
            <a:r>
              <a:t>목표 근거: 삼성 32GB RAM과 전용 VRAM 8GB 구성을 기준으로, VIA의 가중치 8GB와 KV 3GB 및 실행과 버퍼 5GB를 합해 16GB를 제안한다. 가중치 bytes 식과 공개 Qwen KV 구조로 계산하며 임의의 타 앱 예약량을 사용하지 않는다.</a:t>
            </a:r>
          </a:p>
          <a:p xmlns:a="http://schemas.openxmlformats.org/drawingml/2006/main">
            <a:r>
              <a:t>측정: 가중치 8GB, KV 3GB, 실행 workspace 3GB, 관측과 UI 1GB, 로딩 중 복제 1GB의 총예산을 검사한다. CPU와 GPU의 실제 고유 물리 사용량을 합산하며 전체 helper와 background 상태를 포함한다.</a:t>
            </a:r>
          </a:p>
          <a:p xmlns:a="http://schemas.openxmlformats.org/drawingml/2006/main">
            <a:r>
              <a:t>경계: 하나의 공유 Omni 가중치와 역할별 KV, Context를 구분하고 Streaming ASR 및 모든 추가 helper 비용을 포함한다. 자원 감소가 기능 축소 때문이면 함께 공개한다.</a:t>
            </a:r>
          </a:p>
          <a:p xmlns:a="http://schemas.openxmlformats.org/drawingml/2006/main">
            <a:r>
              <a:t>S06: Samsung, [Galaxy Book6 Ultra NP960UJH-XG3IN 공식 사양](https://www.samsung.com/in/computers/galaxy-book/galaxy-book6-ultra-ultra-7-32gb-1tb-np960ujh-xg3in/)</a:t>
            </a:r>
          </a:p>
          <a:p xmlns:a="http://schemas.openxmlformats.org/drawingml/2006/main">
            <a:r>
              <a:t>S07: Lin et al., [AWQ](https://arxiv.org/abs/2306.00978)</a:t>
            </a:r>
          </a:p>
          <a:p xmlns:a="http://schemas.openxmlformats.org/drawingml/2006/main">
            <a:r>
              <a:t>S12: Qwen, [Qwen3-14B config.json](https://huggingface.co/Qwen/Qwen3-14B/blob/main/config.json)</a:t>
            </a:r>
          </a:p>
          <a:p xmlns:a="http://schemas.openxmlformats.org/drawingml/2006/main">
            <a:r>
              <a:t/>
            </a:r>
          </a:p>
          <a:p xmlns:a="http://schemas.openxmlformats.org/drawingml/2006/main">
            <a:r>
              <a:t>V-07 복구 용이성</a:t>
            </a:r>
          </a:p>
          <a:p xmlns:a="http://schemas.openxmlformats.org/drawingml/2006/main">
            <a:r>
              <a:t>원래 V 이름: 결함 허용성과 복구성</a:t>
            </a:r>
          </a:p>
          <a:p xmlns:a="http://schemas.openxmlformats.org/drawingml/2006/main">
            <a:r>
              <a:t>설명: 장애 후 올바른 처리를 빠르게 재개해야 한다.</a:t>
            </a:r>
          </a:p>
          <a:p xmlns:a="http://schemas.openxmlformats.org/drawingml/2006/main">
            <a:r>
              <a:t>목표: 평균 복구시간 ≤ 10초</a:t>
            </a:r>
          </a:p>
          <a:p xmlns:a="http://schemas.openxmlformats.org/drawingml/2006/main">
            <a:r>
              <a:t>목표 근거: Nielsen의 10초 기준을 복구 대기 예산으로 선택한다. Microreboot는 실행과 상태를 분리한 복구의 구조적 근거이며 10초를 VIA의 실측 속도로 주장하지 않는다.</a:t>
            </a:r>
          </a:p>
          <a:p xmlns:a="http://schemas.openxmlformats.org/drawingml/2006/main">
            <a:r>
              <a:t>측정: 장애 12종과 세 주입 지점을 네 번 반복한다. 정상 입력, 정확한 상태 조회와 다음 처리 probe를 모두 통과해야 복구이다. 안전 보류와 부분 복구를 구별하고 미복구는 실제 관측 종료시간과 미복구 상태를 기록한다.</a:t>
            </a:r>
          </a:p>
          <a:p xmlns:a="http://schemas.openxmlformats.org/drawingml/2006/main">
            <a:r>
              <a:t>경계: process 재기동만으로 복구 성공을 판정하지 않는다. 외부 실행이 확인 불가이면 unknown을 유지하며 완료나 취소를 만들어내지 않는다.</a:t>
            </a:r>
          </a:p>
          <a:p xmlns:a="http://schemas.openxmlformats.org/drawingml/2006/main">
            <a:r>
              <a:t>S04: Jakob Nielsen, 2019, [The 3 Response Time Limits in Interaction Design](https://www.nngroup.com/videos/3-response-time-limits-interaction-design/)</a:t>
            </a:r>
          </a:p>
          <a:p xmlns:a="http://schemas.openxmlformats.org/drawingml/2006/main">
            <a:r>
              <a:t>S08: Candea et al., OSDI 2004, [Microreboot](https://www.usenix.org/legacy/events/osdi04/tech/full_papers/candea/candea_html/index.html)</a:t>
            </a:r>
          </a:p>
          <a:p xmlns:a="http://schemas.openxmlformats.org/drawingml/2006/main">
            <a:r>
              <a:t/>
            </a:r>
          </a:p>
          <a:p xmlns:a="http://schemas.openxmlformats.org/drawingml/2006/main">
            <a:r>
              <a:t>V-09 분석 용이성</a:t>
            </a:r>
          </a:p>
          <a:p xmlns:a="http://schemas.openxmlformats.org/drawingml/2006/main">
            <a:r>
              <a:t>원래 V 이름: 분석 및 시험 용이성</a:t>
            </a:r>
          </a:p>
          <a:p xmlns:a="http://schemas.openxmlformats.org/drawingml/2006/main">
            <a:r>
              <a:t>설명: 실행 기록으로 처리 경위를 쉽게 확인할 수 있어야 한다.</a:t>
            </a:r>
          </a:p>
          <a:p xmlns:a="http://schemas.openxmlformats.org/drawingml/2006/main">
            <a:r>
              <a:t>목표: 처리 경위 확인율 = 100%</a:t>
            </a:r>
          </a:p>
          <a:p xmlns:a="http://schemas.openxmlformats.org/drawingml/2006/main">
            <a:r>
              <a:t>목표 근거: 연구 시험의 모든 실행이 분석 대상이므로 확인율 100%를 계약 목표로 정한다. OpenTelemetry 전수 수집은 수단이며 독립 분석자의 정답 판정으로 실제 확인 가능성을 검사한다.</a:t>
            </a:r>
          </a:p>
          <a:p xmlns:a="http://schemas.openxmlformats.org/drawingml/2006/main">
            <a:r>
              <a:t>측정: 로그와 기본 조회 도구만 제공한 독립 분석자가 고정 5분 세션에서 정상 처리 근거 또는 최초 오류 경계를 답한다. 입력, 근거 버전, 상태 변화, 전달과 확인된 분기 이유의 다섯 질문을 oracle과 대조한다.</a:t>
            </a:r>
          </a:p>
          <a:p xmlns:a="http://schemas.openxmlformats.org/drawingml/2006/main">
            <a:r>
              <a:t>경계: trace 완전성이나 반복 재계산 성공만으로 원인 분석이 쉽다고 결론 내리지 않는다. 보호정보 원문을 더 기록해 품질을 높이지 않는다.</a:t>
            </a:r>
          </a:p>
          <a:p xmlns:a="http://schemas.openxmlformats.org/drawingml/2006/main">
            <a:r>
              <a:t>S09: OpenTelemetry, [General SDK Configuration](https://opentelemetry.io/docs/languages/sdk-configuration/general/)</a:t>
            </a:r>
          </a:p>
          <a:p xmlns:a="http://schemas.openxmlformats.org/drawingml/2006/main">
            <a:r>
              <a:t/>
            </a:r>
          </a:p>
          <a:p xmlns:a="http://schemas.openxmlformats.org/drawingml/2006/main">
            <a:r>
              <a:t>V-10 기밀성</a:t>
            </a:r>
          </a:p>
          <a:p xmlns:a="http://schemas.openxmlformats.org/drawingml/2006/main">
            <a:r>
              <a:t>원래 V 이름: 기밀성</a:t>
            </a:r>
          </a:p>
          <a:p xmlns:a="http://schemas.openxmlformats.org/drawingml/2006/main">
            <a:r>
              <a:t>설명: 사용자 정보는 허용된 범위 안에서만 사용해야 한다.</a:t>
            </a:r>
          </a:p>
          <a:p xmlns:a="http://schemas.openxmlformats.org/drawingml/2006/main">
            <a:r>
              <a:t>목표: 무단 정보 사용 = 0건</a:t>
            </a:r>
          </a:p>
          <a:p xmlns:a="http://schemas.openxmlformats.org/drawingml/2006/main">
            <a:r>
              <a:t>목표 근거: NIST AC-3 접근 통제와 AC-6 최소 권한 원칙 및 VIA의 권한 계약을 적용해 금지된 사용의 허용 예산을 0건으로 정한다. 시험 통과가 모든 공격에 대한 보증은 아니다.</a:t>
            </a:r>
          </a:p>
          <a:p xmlns:a="http://schemas.openxmlformats.org/drawingml/2006/main">
            <a:r>
              <a:t>측정: 권한 밖 읽기, 목적 밖 사용, 수신자 변경, 철회, 삭제, 세션 혼입과 로그 노출의 12개 사례를 세 조건에서 네 번 반복한다. Prompt injection과 정책 변경 race를 포함하며 144개 허용 대조군을 별도로 수행한다.</a:t>
            </a:r>
          </a:p>
          <a:p xmlns:a="http://schemas.openxmlformats.org/drawingml/2006/main">
            <a:r>
              <a:t>경계: 허용된 Downstream Agent Context 제공을 모두 위반으로 세지 않는다. 외부 통신 0회나 모든 데이터 외부 반출 금지로 바꾸지 않는다.</a:t>
            </a:r>
          </a:p>
          <a:p xmlns:a="http://schemas.openxmlformats.org/drawingml/2006/main">
            <a:r>
              <a:t>S10: NIST, [SP 800-53 Rev. 5](https://doi.org/10.6028/NIST.SP.800-53r5), AC-3 및 AC-6</a:t>
            </a:r>
          </a:p>
          <a:p xmlns:a="http://schemas.openxmlformats.org/drawingml/2006/main">
            <a:r>
              <a:t>S00: [VIA 대표 UC](../../architecture/05-representative-use-cases.md), [고정 범위](../../architecture/03-fixed-architecture-scope.md), [V 품질 시나리오](../../architecture/12-decisions/decision-packages/03-00-quality-scenarios.md)</a:t>
            </a:r>
          </a:p>
          <a:p xmlns:a="http://schemas.openxmlformats.org/drawingml/2006/main">
            <a:r>
              <a:t/>
            </a:r>
          </a:p>
          <a:p xmlns:a="http://schemas.openxmlformats.org/drawingml/2006/main">
            <a:r>
              <a:t>상세 측정 설계</a:t>
            </a:r>
          </a:p>
          <a:p xmlns:a="http://schemas.openxmlformats.org/drawingml/2006/main">
            <a:r>
              <a:t># 목표 근거와 측정 설계</a:t>
            </a:r>
          </a:p>
          <a:p xmlns:a="http://schemas.openxmlformats.org/drawingml/2006/main">
            <a:r>
              <a:t/>
            </a:r>
          </a:p>
          <a:p xmlns:a="http://schemas.openxmlformats.org/drawingml/2006/main">
            <a:r>
              <a:t>작성일: 2026-10-06. **발표용 목표와 평가 설계 제안이며 구현 결과, 실측 결과 또는 동결된 측정 계약이 아니다.** 기존 Architecture, QA 및 ADR와 비교안의 미선정 상태를 보존한다.</a:t>
            </a:r>
          </a:p>
          <a:p xmlns:a="http://schemas.openxmlformats.org/drawingml/2006/main">
            <a:r>
              <a:t/>
            </a:r>
          </a:p>
          <a:p xmlns:a="http://schemas.openxmlformats.org/drawingml/2006/main">
            <a:r>
              <a:t>## 1. 발표 기준</a:t>
            </a:r>
          </a:p>
          <a:p xmlns:a="http://schemas.openxmlformats.org/drawingml/2006/main">
            <a:r>
              <a:t/>
            </a:r>
          </a:p>
          <a:p xmlns:a="http://schemas.openxmlformats.org/drawingml/2006/main">
            <a:r>
              <a:t>원본 V의 순위와 ID를 유지하고 V-01~10을 발표한다. V-08은 V-06보다 앞에 배치한다. 공동 순위 안에는 추가 우열이 없다. 각 행에는 하나의 품질명, 짧은 한 문장 설명과 하나의 수치 목표를 둔다. V-11~13은 사용자 검토에 따라 발표에서 제외한다. V-11의 메모리 비용을 V-06에서 확인하되 상호운용성 전체를 메모리로 대체하지 않는다.</a:t>
            </a:r>
          </a:p>
          <a:p xmlns:a="http://schemas.openxmlformats.org/drawingml/2006/main">
            <a:r>
              <a:t/>
            </a:r>
          </a:p>
          <a:p xmlns:a="http://schemas.openxmlformats.org/drawingml/2006/main">
            <a:r>
              <a:t>목표의 근거는 세 종류로 구분한다. **구현 참조값**은 다른 시스템의 공개 결과를 VIA가 지향할 수준으로 선택한 값이다. **계약 목표**는 고정된 필수 기능과 금지 사건에서 정한다. **설계 예산**은 장치 사양이나 사용자 시간 기준을 바탕으로 VIA의 허용 비용을 계산한다. 예산 항목과 계산은 공개하며 문헌이 VIA에 그 숫자를 직접 규정했다고 주장하지 않는다.</a:t>
            </a:r>
          </a:p>
          <a:p xmlns:a="http://schemas.openxmlformats.org/drawingml/2006/main">
            <a:r>
              <a:t/>
            </a:r>
          </a:p>
          <a:p xmlns:a="http://schemas.openxmlformats.org/drawingml/2006/main">
            <a:r>
              <a:t>| ID | 목표 유형 | 선택 근거 |</a:t>
            </a:r>
          </a:p>
          <a:p xmlns:a="http://schemas.openxmlformats.org/drawingml/2006/main">
            <a:r>
              <a:t>| --- | --- | --- |</a:t>
            </a:r>
          </a:p>
          <a:p xmlns:a="http://schemas.openxmlformats.org/drawingml/2006/main">
            <a:r>
              <a:t>| V-01 | 구현 참조값 | NexusRaven의 검색을 결합한 도구 사용 성공률 95% [S01] |</a:t>
            </a:r>
          </a:p>
          <a:p xmlns:a="http://schemas.openxmlformats.org/drawingml/2006/main">
            <a:r>
              <a:t>| V-02 | 상호작용 예산 | 필요한 경우 하나의 집중 질문을 쓰는 CoA 방식 [S03] |</a:t>
            </a:r>
          </a:p>
          <a:p xmlns:a="http://schemas.openxmlformats.org/drawingml/2006/main">
            <a:r>
              <a:t>| V-03 | 기능 계약 | 고정된 필수 UC 변형 94개 전부 [S00] |</a:t>
            </a:r>
          </a:p>
          <a:p xmlns:a="http://schemas.openxmlformats.org/drawingml/2006/main">
            <a:r>
              <a:t>| V-04 | 시간 예산 | Nielsen의 1초 상호작용 기준 [S04] |</a:t>
            </a:r>
          </a:p>
          <a:p xmlns:a="http://schemas.openxmlformats.org/drawingml/2006/main">
            <a:r>
              <a:t>| V-05 | 처리 예산 | Nielsen의 10초 기준을 참고한 VIA 추가 처리 예산 [S04] |</a:t>
            </a:r>
          </a:p>
          <a:p xmlns:a="http://schemas.openxmlformats.org/drawingml/2006/main">
            <a:r>
              <a:t>| V-08 | 변경 예산 | SEI 변경 전파 원칙을 책임, 계약, 소비자 세 요소로 구체화 [S05] |</a:t>
            </a:r>
          </a:p>
          <a:p xmlns:a="http://schemas.openxmlformats.org/drawingml/2006/main">
            <a:r>
              <a:t>| V-06 | 메모리 예산 | 삼성 32GB RAM / 8GB VRAM 사양과 가중치 및 KV 계산 [S06, S07, S12] |</a:t>
            </a:r>
          </a:p>
          <a:p xmlns:a="http://schemas.openxmlformats.org/drawingml/2006/main">
            <a:r>
              <a:t>| V-07 | 복구 예산 | 10초 시간 예산과 작은 실행 단위 복구의 구조적 근거 [S04, S08] |</a:t>
            </a:r>
          </a:p>
          <a:p xmlns:a="http://schemas.openxmlformats.org/drawingml/2006/main">
            <a:r>
              <a:t>| V-09 | 연구 기록 계약 | 모든 시험의 처리 경위를 독립 분석자가 확인 [S09] |</a:t>
            </a:r>
          </a:p>
          <a:p xmlns:a="http://schemas.openxmlformats.org/drawingml/2006/main">
            <a:r>
              <a:t>| V-10 | 정보 사용 계약 | 승인된 접근과 최소 권한에서 금지 사건 예산 0건 [S00, S10] |</a:t>
            </a:r>
          </a:p>
          <a:p xmlns:a="http://schemas.openxmlformats.org/drawingml/2006/main">
            <a:r>
              <a:t/>
            </a:r>
          </a:p>
          <a:p xmlns:a="http://schemas.openxmlformats.org/drawingml/2006/main">
            <a:r>
              <a:t>VIA와 동일한 제품 및 시험에서 산출한 외부 기준은 없다. 그러므로 이 목표들은 달성 사실이나 달성 가능성의 증명이 아니다. 목표를 정한 뒤 실제 시험으로 검증할 값이다. 정확도와 메모리 또는 속도가 충돌하면 실패와 비용을 모두 공개한다. 특정 숫자를 통과시키려고 기능 범위나 출력 내용을 사후 축소하지 않는다.</a:t>
            </a:r>
          </a:p>
          <a:p xmlns:a="http://schemas.openxmlformats.org/drawingml/2006/main">
            <a:r>
              <a:t/>
            </a:r>
          </a:p>
          <a:p xmlns:a="http://schemas.openxmlformats.org/drawingml/2006/main">
            <a:r>
              <a:t>## 2. 전체 평가 조건</a:t>
            </a:r>
          </a:p>
          <a:p xmlns:a="http://schemas.openxmlformats.org/drawingml/2006/main">
            <a:r>
              <a:t/>
            </a:r>
          </a:p>
          <a:p xmlns:a="http://schemas.openxmlformats.org/drawingml/2006/main">
            <a:r>
              <a:t>### 2.1 모집단과 집계</a:t>
            </a:r>
          </a:p>
          <a:p xmlns:a="http://schemas.openxmlformats.org/drawingml/2006/main">
            <a:r>
              <a:t/>
            </a:r>
          </a:p>
          <a:p xmlns:a="http://schemas.openxmlformats.org/drawingml/2006/main">
            <a:r>
              <a:t>[대표 UC](../../architecture/05-representative-use-cases.md)의 UC 18개 아래 **필수 변형 94개**를 기능 모수로 잡는다. 상위 UC를 다시 더하면 같은 기능을 중복 집계한다. 정확한 ID는 [functional-coverage.json](functional-coverage.json)에 보존한다.</a:t>
            </a:r>
          </a:p>
          <a:p xmlns:a="http://schemas.openxmlformats.org/drawingml/2006/main">
            <a:r>
              <a:t/>
            </a:r>
          </a:p>
          <a:p xmlns:a="http://schemas.openxmlformats.org/drawingml/2006/main">
            <a:r>
              <a:t>| UC | 변형 수 | UC | 변형 수 | UC | 변형 수 |</a:t>
            </a:r>
          </a:p>
          <a:p xmlns:a="http://schemas.openxmlformats.org/drawingml/2006/main">
            <a:r>
              <a:t>| --- | ---: | --- | ---: | --- | ---: |</a:t>
            </a:r>
          </a:p>
          <a:p xmlns:a="http://schemas.openxmlformats.org/drawingml/2006/main">
            <a:r>
              <a:t>| UC-01 | 4 | UC-07 | 5 | UC-13 | 6 |</a:t>
            </a:r>
          </a:p>
          <a:p xmlns:a="http://schemas.openxmlformats.org/drawingml/2006/main">
            <a:r>
              <a:t>| UC-02 | 6 | UC-08 | 5 | UC-14 | 5 |</a:t>
            </a:r>
          </a:p>
          <a:p xmlns:a="http://schemas.openxmlformats.org/drawingml/2006/main">
            <a:r>
              <a:t>| UC-03 | 6 | UC-09 | 5 | UC-15 | 5 |</a:t>
            </a:r>
          </a:p>
          <a:p xmlns:a="http://schemas.openxmlformats.org/drawingml/2006/main">
            <a:r>
              <a:t>| UC-04 | 7 | UC-10 | 5 | UC-16 | 5 |</a:t>
            </a:r>
          </a:p>
          <a:p xmlns:a="http://schemas.openxmlformats.org/drawingml/2006/main">
            <a:r>
              <a:t>| UC-05 | 4 | UC-11 | 5 | UC-17 | 5 |</a:t>
            </a:r>
          </a:p>
          <a:p xmlns:a="http://schemas.openxmlformats.org/drawingml/2006/main">
            <a:r>
              <a:t>| UC-06 | 5 | UC-12 | 5 | UC-18 | 6 |</a:t>
            </a:r>
          </a:p>
          <a:p xmlns:a="http://schemas.openxmlformats.org/drawingml/2006/main">
            <a:r>
              <a:t/>
            </a:r>
          </a:p>
          <a:p xmlns:a="http://schemas.openxmlformats.org/drawingml/2006/main">
            <a:r>
              <a:t>기능 회귀 시험은 변형별 구체 사례 5개와 반복 4회로 **94 × 5 × 4 = 1,880회**를 설계한다. 각 변형의 다섯 사례는 표현, 대상의 혼동 가능성, 이력 길이, 허용된 화면 근거와 사건 순서를 바꾼다. 음성 전용 변형에 텍스트를 강제로 배정하지 않는다. 예외 변형의 올바른 거절과 보류는 정답이다. 잘못된 구현 때문에 정상 요청을 거절한 것은 실패다.</a:t>
            </a:r>
          </a:p>
          <a:p xmlns:a="http://schemas.openxmlformats.org/drawingml/2006/main">
            <a:r>
              <a:t/>
            </a:r>
          </a:p>
          <a:p xmlns:a="http://schemas.openxmlformats.org/drawingml/2006/main">
            <a:r>
              <a:t>각 사례는 하나의 사용자 목표를 위한 상호작용 전체다. 필요한 질문 답변과 정정 턴을 포함한다. 모델 호출, tool 호출, 하위 Task 수로 분모를 늘리지 않는다. 모든 반복을 포함하고 94개 변형은 동일한 가중치를 가진다. 다섯 사례와 네 반복은 재현 가능한 시험 규모의 제안이며 논문이 규정한 표본 수가 아니다. 1,880개 독립 사용자를 조사했다고 표현하지 않는다.</a:t>
            </a:r>
          </a:p>
          <a:p xmlns:a="http://schemas.openxmlformats.org/drawingml/2006/main">
            <a:r>
              <a:t/>
            </a:r>
          </a:p>
          <a:p xmlns:a="http://schemas.openxmlformats.org/drawingml/2006/main">
            <a:r>
              <a:t>다음 시험군은 전체 기능 평균에 섞지 않고 각각 보고한다. [evaluation-plan.json](evaluation-plan.json)은 시험군과 환경 및 DP별 구체 상황을 기록한다. 아직 실행 fixture나 runner를 구현하지 않았다.</a:t>
            </a:r>
          </a:p>
          <a:p xmlns:a="http://schemas.openxmlformats.org/drawingml/2006/main">
            <a:r>
              <a:t/>
            </a:r>
          </a:p>
          <a:p xmlns:a="http://schemas.openxmlformats.org/drawingml/2006/main">
            <a:r>
              <a:t>| 시험군 | 제안 규모 | 목적 |</a:t>
            </a:r>
          </a:p>
          <a:p xmlns:a="http://schemas.openxmlformats.org/drawingml/2006/main">
            <a:r>
              <a:t>| --- | ---: | --- |</a:t>
            </a:r>
          </a:p>
          <a:p xmlns:a="http://schemas.openxmlformats.org/drawingml/2006/main">
            <a:r>
              <a:t>| G-FUNC | 1,880회 | V-01~05의 공통 기능 및 상호작용 회귀 |</a:t>
            </a:r>
          </a:p>
          <a:p xmlns:a="http://schemas.openxmlformats.org/drawingml/2006/main">
            <a:r>
              <a:t>| G-DP | 비교별 8개 상황 × 3개 조건 × 4회 = 96회 | 41~45의 실제 구조 차이에 민감한 조건 확인 |</a:t>
            </a:r>
          </a:p>
          <a:p xmlns:a="http://schemas.openxmlformats.org/drawingml/2006/main">
            <a:r>
              <a:t>| G-CHANGE | 공통 변경 과제 6개 | V-08의 변경 영향 분석 |</a:t>
            </a:r>
          </a:p>
          <a:p xmlns:a="http://schemas.openxmlformats.org/drawingml/2006/main">
            <a:r>
              <a:t>| G-MEM | 후보별 8시간 세션 3회 | 상시 동작과 반복 요청 및 최대 메모리 |</a:t>
            </a:r>
          </a:p>
          <a:p xmlns:a="http://schemas.openxmlformats.org/drawingml/2006/main">
            <a:r>
              <a:t>| G-FAULT | 12종 × 3개 지점 × 4회 = 144회 | V-07의 올바른 복구 |</a:t>
            </a:r>
          </a:p>
          <a:p xmlns:a="http://schemas.openxmlformats.org/drawingml/2006/main">
            <a:r>
              <a:t>| G-SEC | 금지 사례 144회와 허용 대조군 144회 | V-10의 무단 사용과 과도한 차단 확인 |</a:t>
            </a:r>
          </a:p>
          <a:p xmlns:a="http://schemas.openxmlformats.org/drawingml/2006/main">
            <a:r>
              <a:t>| G-ANALYSIS | 위 시험의 고유 trial ID 전체 | V-09의 처리 경위 확인 |</a:t>
            </a:r>
          </a:p>
          <a:p xmlns:a="http://schemas.openxmlformats.org/drawingml/2006/main">
            <a:r>
              <a:t/>
            </a:r>
          </a:p>
          <a:p xmlns:a="http://schemas.openxmlformats.org/drawingml/2006/main">
            <a:r>
              <a:t>### 2.2 정답 계약과 입력</a:t>
            </a:r>
          </a:p>
          <a:p xmlns:a="http://schemas.openxmlformats.org/drawingml/2006/main">
            <a:r>
              <a:t/>
            </a:r>
          </a:p>
          <a:p xmlns:a="http://schemas.openxmlformats.org/drawingml/2006/main">
            <a:r>
              <a:t>각 구체 사례에는 실행 전에 다음 manifest를 작성한다. 두 검토자가 사용자 의도와 정답을 독립적으로 검토하고 불일치를 해결한다. 대안의 출력으로 정답을 만들지 않는다.</a:t>
            </a:r>
          </a:p>
          <a:p xmlns:a="http://schemas.openxmlformats.org/drawingml/2006/main">
            <a:r>
              <a:t/>
            </a:r>
          </a:p>
          <a:p xmlns:a="http://schemas.openxmlformats.org/drawingml/2006/main">
            <a:r>
              <a:t>| 항목 | 반드시 고정할 내용 |</a:t>
            </a:r>
          </a:p>
          <a:p xmlns:a="http://schemas.openxmlformats.org/drawingml/2006/main">
            <a:r>
              <a:t>| --- | --- |</a:t>
            </a:r>
          </a:p>
          <a:p xmlns:a="http://schemas.openxmlformats.org/drawingml/2006/main">
            <a:r>
              <a:t>| 식별 | case ID, UC 변형, DP 조건, 반복 seed, 독립 사용자 목표 |</a:t>
            </a:r>
          </a:p>
          <a:p xmlns:a="http://schemas.openxmlformats.org/drawingml/2006/main">
            <a:r>
              <a:t>| 입력 | 실제 텍스트 또는 PCM 파일, 언어, 발화 시작과 종료, 화면과 pointer 사건 |</a:t>
            </a:r>
          </a:p>
          <a:p xmlns:a="http://schemas.openxmlformats.org/drawingml/2006/main">
            <a:r>
              <a:t>| 초기 상태 | Conversation, Request, Task, Execution, 질문의 실제 제시 여부와 revision |</a:t>
            </a:r>
          </a:p>
          <a:p xmlns:a="http://schemas.openxmlformats.org/drawingml/2006/main">
            <a:r>
              <a:t>| 근거 | source ID, 버전, 접근 범위, 삭제 및 권한 epoch, 누락된 범위 |</a:t>
            </a:r>
          </a:p>
          <a:p xmlns:a="http://schemas.openxmlformats.org/drawingml/2006/main">
            <a:r>
              <a:t>| 의미 정답 | F1 의도, F2 대상, F3 대화와 Task 연결, F4 요청 관계, F5 수정 범위, F6 처리 방향 |</a:t>
            </a:r>
          </a:p>
          <a:p xmlns:a="http://schemas.openxmlformats.org/drawingml/2006/main">
            <a:r>
              <a:t>| 상태 정답 | 허용된 상태 변화와 명령 및 외부 사실, 적용하지 않는 필드의 이유 |</a:t>
            </a:r>
          </a:p>
          <a:p xmlns:a="http://schemas.openxmlformats.org/drawingml/2006/main">
            <a:r>
              <a:t>| 사용자 script | 필요한 답변, 승인, 오답 뒤 재요청과 수동 마무리, 실제 행동 단위 |</a:t>
            </a:r>
          </a:p>
          <a:p xmlns:a="http://schemas.openxmlformats.org/drawingml/2006/main">
            <a:r>
              <a:t>| 출력 계약 | 필수 사실, artifact 접근, 실제 텍스트와 음성 전달 범위 및 오류 안내 |</a:t>
            </a:r>
          </a:p>
          <a:p xmlns:a="http://schemas.openxmlformats.org/drawingml/2006/main">
            <a:r>
              <a:t>| 시간 조건 | 사건 기준점, 외부 알림 schedule, 관측 종료 및 fault 주입 지점 |</a:t>
            </a:r>
          </a:p>
          <a:p xmlns:a="http://schemas.openxmlformats.org/drawingml/2006/main">
            <a:r>
              <a:t/>
            </a:r>
          </a:p>
          <a:p xmlns:a="http://schemas.openxmlformats.org/drawingml/2006/main">
            <a:r>
              <a:t>한 턴이라도 필요한 의미, 상태 또는 전달이 틀리면 V-01의 해당 전체 시험은 실패다. 마지막 상태가 우연히 맞아 앞선 잘못된 전송을 가리지 않도록 각 턴을 검사한다. BFCL V3의 상태와 응답 검사 방식을 참고하되 [S11], API 호출 순서를 정답 하나로 강제하지 않는다. A의 ReAct나 B/C의 코드 조정 등 각 설계의 합법적인 경로를 허용한다.</a:t>
            </a:r>
          </a:p>
          <a:p xmlns:a="http://schemas.openxmlformats.org/drawingml/2006/main">
            <a:r>
              <a:t/>
            </a:r>
          </a:p>
          <a:p xmlns:a="http://schemas.openxmlformats.org/drawingml/2006/main">
            <a:r>
              <a:t>한국어를 기본 시험 언어로 한다. 한국어 입력과 영어 문서 또는 앱 이름이 섞인 상황을 포함한다. 음성 PCM은 동일 파일을 같은 입력 경계에 replay한다. 기본 조용한 음성 조건과 배경 소음 15dB SNR 조건을 구분한다. 이는 일반 사용자의 소음 분포를 주장하는 수치가 아니라 반복 가능한 시험 조건이다. 정답 Task ID를 시스템 입력에 미리 붙이지 않는다.</a:t>
            </a:r>
          </a:p>
          <a:p xmlns:a="http://schemas.openxmlformats.org/drawingml/2006/main">
            <a:r>
              <a:t/>
            </a:r>
          </a:p>
          <a:p xmlns:a="http://schemas.openxmlformats.org/drawingml/2006/main">
            <a:r>
              <a:t>Context 조건은 짧은 근거 1k 토큰 상당, 긴 근거 8k 토큰 상당과 관련 없는 후보 20개를 명시한다. 모델에 실제 주입한 토큰 수와 retrieval로 읽은 원본량은 각각 기록한다. 메모리 시험의 전체 KV 예산은 §9에서 따로 계산한다. 필수 정보를 잘라낸 구성은 정확성 및 완전성에서 실패한다.</a:t>
            </a:r>
          </a:p>
          <a:p xmlns:a="http://schemas.openxmlformats.org/drawingml/2006/main">
            <a:r>
              <a:t/>
            </a:r>
          </a:p>
          <a:p xmlns:a="http://schemas.openxmlformats.org/drawingml/2006/main">
            <a:r>
              <a:t>### 2.3 장치와 모델 및 출력</a:t>
            </a:r>
          </a:p>
          <a:p xmlns:a="http://schemas.openxmlformats.org/drawingml/2006/main">
            <a:r>
              <a:t/>
            </a:r>
          </a:p>
          <a:p xmlns:a="http://schemas.openxmlformats.org/drawingml/2006/main">
            <a:r>
              <a:t>| 항목 | 공통 제안 조건 |</a:t>
            </a:r>
          </a:p>
          <a:p xmlns:a="http://schemas.openxmlformats.org/drawingml/2006/main">
            <a:r>
              <a:t>| --- | --- |</a:t>
            </a:r>
          </a:p>
          <a:p xmlns:a="http://schemas.openxmlformats.org/drawingml/2006/main">
            <a:r>
              <a:t>| 장치 기준 | Samsung Galaxy Book6 Ultra NP960UJH-XG3IN, RAM 32GB, RTX 5070 Laptop 전용 VRAM 8GB, NVMe 1TB [S06] |</a:t>
            </a:r>
          </a:p>
          <a:p xmlns:a="http://schemas.openxmlformats.org/drawingml/2006/main">
            <a:r>
              <a:t>| 화면 | 공식 사양의 2880 × 1800, OS 배율과 capture 해상도 고정 |</a:t>
            </a:r>
          </a:p>
          <a:p xmlns:a="http://schemas.openxmlformats.org/drawingml/2006/main">
            <a:r>
              <a:t>| OS와 실행 | Windows 11, AC 연결, 같은 전력 모드, 동일 driver와 build, 24시간 절전 중지 |</a:t>
            </a:r>
          </a:p>
          <a:p xmlns:a="http://schemas.openxmlformats.org/drawingml/2006/main">
            <a:r>
              <a:t>| 기록할 환경 | 실제 CPU/GPU, BIOS, available RAM, driver, 온도, 전력 상태 및 page fault |</a:t>
            </a:r>
          </a:p>
          <a:p xmlns:a="http://schemas.openxmlformats.org/drawingml/2006/main">
            <a:r>
              <a:t>| 모델 | 동일한 공유 on-device Omni 한 벌, 독립 Streaming ASR, 동일 helper inventory |</a:t>
            </a:r>
          </a:p>
          <a:p xmlns:a="http://schemas.openxmlformats.org/drawingml/2006/main">
            <a:r>
              <a:t>| 모델 계약 | 모델 hash, tokenizer, quantization, runtime, context 한도, decoding과 seed를 실제 평가 전에 고정 |</a:t>
            </a:r>
          </a:p>
          <a:p xmlns:a="http://schemas.openxmlformats.org/drawingml/2006/main">
            <a:r>
              <a:t>| 자원 조건 | 동일 총 weight와 KV 예산, scheduler 정책, thread와 GPU 설정. 호출 수와 producer state는 대안의 비용으로 남김 |</a:t>
            </a:r>
          </a:p>
          <a:p xmlns:a="http://schemas.openxmlformats.org/drawingml/2006/main">
            <a:r>
              <a:t>| 기본 부하 | 활성 Conversation 1개, 미완료 Task 4개, 외부 실행 2개 |</a:t>
            </a:r>
          </a:p>
          <a:p xmlns:a="http://schemas.openxmlformats.org/drawingml/2006/main">
            <a:r>
              <a:t>| 입력과 사건 | 사용자 입력 중 Agent 질문 또는 결과 도착, 음성 출력 중 정정, source와 권한 변경 |</a:t>
            </a:r>
          </a:p>
          <a:p xmlns:a="http://schemas.openxmlformats.org/drawingml/2006/main">
            <a:r>
              <a:t>| 출력 길이 | 짧은 요약은 필수 사실을 담은 텍스트와 최대 4초 기준 음성, 상세 내용은 동일 artifact |</a:t>
            </a:r>
          </a:p>
          <a:p xmlns:a="http://schemas.openxmlformats.org/drawingml/2006/main">
            <a:r>
              <a:t>| 긴 출력 | 20초 기준 설명 음성을 별도 조건으로 보고하고 V-05의 10초 적용 범위와 구별 |</a:t>
            </a:r>
          </a:p>
          <a:p xmlns:a="http://schemas.openxmlformats.org/drawingml/2006/main">
            <a:r>
              <a:t>| 반복 | seed 11, 23, 37, 53. 후보 실행 순서는 교차 배치하고 상태는 동일 snapshot으로 복원 |</a:t>
            </a:r>
          </a:p>
          <a:p xmlns:a="http://schemas.openxmlformats.org/drawingml/2006/main">
            <a:r>
              <a:t/>
            </a:r>
          </a:p>
          <a:p xmlns:a="http://schemas.openxmlformats.org/drawingml/2006/main">
            <a:r>
              <a:t>한국어 4초와 20초는 동일 renderer의 기준 음성 fixture 길이다. 모델 생성 음성은 실제 길이를 다시 계측한다. 목표 통과를 위해 중요한 내용을 생략할 수 없다. 20초 설명은 실제 재생만으로 10초를 넘으므로 짧은 응답 계약용 V-05 점수에 합치지 않는다. 기능 정확성과 지원률 및 긴 출력의 실제 시간은 계속 보고한다. 이 적용 범위를 평가 전에 공개한다.</a:t>
            </a:r>
          </a:p>
          <a:p xmlns:a="http://schemas.openxmlformats.org/drawingml/2006/main">
            <a:r>
              <a:t/>
            </a:r>
          </a:p>
          <a:p xmlns:a="http://schemas.openxmlformats.org/drawingml/2006/main">
            <a:r>
              <a:t>모델의 구체 버전은 아직 선정하지 않았다. 따라서 현재 문서가 완성된 환경 freeze나 실행 가능 benchmark라는 주장은 하지 않는다. 같은 10B라도 서로 다른 모델이면 별도 조건이다. 실제 시험 전 버전, hash, 장치 및 입력 파일을 채워 계약을 동결해야 한다.</a:t>
            </a:r>
          </a:p>
          <a:p xmlns:a="http://schemas.openxmlformats.org/drawingml/2006/main">
            <a:r>
              <a:t/>
            </a:r>
          </a:p>
          <a:p xmlns:a="http://schemas.openxmlformats.org/drawingml/2006/main">
            <a:r>
              <a:t>Cold는 프로세스와 가중치 및 해당 시험 cache가 없는 상태, warm은 가중치가 상주한 상태다. OS 파일 cache의 상태도 기록한다. 기능 회귀는 warm으로 수행하고 cold 첫 요청을 별도 시간 및 메모리 시험으로 수행한다. 발표의 반응시간 목표는 VIA가 이미 실행 중인 warm 상호작용에 적용한다. 시작 시간이나 모델 loading을 숨기지 않고 별도 공개한다.</a:t>
            </a:r>
          </a:p>
          <a:p xmlns:a="http://schemas.openxmlformats.org/drawingml/2006/main">
            <a:r>
              <a:t/>
            </a:r>
          </a:p>
          <a:p xmlns:a="http://schemas.openxmlformats.org/drawingml/2006/main">
            <a:r>
              <a:t>VIA 외 프로세스의 RAM을 임의로 몇 GB 예약하지 않는다. 기본 시험에서는 관련 없는 부하를 끄고 OS 상태를 기록한다. 같은 foreground 앱으로 근거를 제공하는 데 필요한 비용은 VIA 비용과 구별한다. 전체 PC 공존성을 증명했다고 주장하지 않는다.</a:t>
            </a:r>
          </a:p>
          <a:p xmlns:a="http://schemas.openxmlformats.org/drawingml/2006/main">
            <a:r>
              <a:t/>
            </a:r>
          </a:p>
          <a:p xmlns:a="http://schemas.openxmlformats.org/drawingml/2006/main">
            <a:r>
              <a:t>### 2.4 Downstream Agent와 관측</a:t>
            </a:r>
          </a:p>
          <a:p xmlns:a="http://schemas.openxmlformats.org/drawingml/2006/main">
            <a:r>
              <a:t/>
            </a:r>
          </a:p>
          <a:p xmlns:a="http://schemas.openxmlformats.org/drawingml/2006/main">
            <a:r>
              <a:t>같은 결정적 simulator가 동일 capability와 외부 결과를 제공한다. 기본 script는 접수 확인 0.2초 후, 첫 상태 1초 후, 결과 5초 후다. 지연 조건은 결과 30초 후, 중복과 역순은 동일 event ID 및 revision의 정해진 schedule로 발생한다. 이 값들은 외부 모델의 실측 성능이 아닌 통제 입력이다. 실제 Agent와의 검증은 별도 integration 시험으로 기록한다.</a:t>
            </a:r>
          </a:p>
          <a:p xmlns:a="http://schemas.openxmlformats.org/drawingml/2006/main">
            <a:r>
              <a:t/>
            </a:r>
          </a:p>
          <a:p xmlns:a="http://schemas.openxmlformats.org/drawingml/2006/main">
            <a:r>
              <a:t>VIA의 잘못된 대상, Task 연결, 명령, 상태 판단 및 전달은 V-01에 포함한다. 외부 Agent의 도메인 추론과 실제 업무 품질은 제외한다. 외부가 실패를 알려온 예외 사례에서 VIA가 사실을 정확히 전달하고 계약대로 처리하면 성공이다.</a:t>
            </a:r>
          </a:p>
          <a:p xmlns:a="http://schemas.openxmlformats.org/drawingml/2006/main">
            <a:r>
              <a:t/>
            </a:r>
          </a:p>
          <a:p xmlns:a="http://schemas.openxmlformats.org/drawingml/2006/main">
            <a:r>
              <a:t>모든 endpoint는 동일 monotonic clock에 맞춘다. OS audio loopback과 UI capture로 실제 전달을 확인한다. 내부 생성 완료, enqueue, 첫 packet과 실제 사용자 전달을 구별한다. recorder clock 동기 오차와 표본 주기를 결과에 기재한다. logger만으로 logger의 유실을 판정하지 않고 독립 harness registry를 사용한다.</a:t>
            </a:r>
          </a:p>
          <a:p xmlns:a="http://schemas.openxmlformats.org/drawingml/2006/main">
            <a:r>
              <a:t/>
            </a:r>
          </a:p>
          <a:p xmlns:a="http://schemas.openxmlformats.org/drawingml/2006/main">
            <a:r>
              <a:t>관측 종료는 VIA 책임 구간 60초, 사용자나 외부 응답만 기다리는 전체 wall time 120초로 제안한다. 예고한 Agent 결과와 사용자 답변은 종료 전에 공급한다. 종료 조건은 후보마다 같고 결과를 보고 연장하지 않는다. crash와 timeout을 삭제하거나 무한대 숫자로 바꾸지 않는다.</a:t>
            </a:r>
          </a:p>
          <a:p xmlns:a="http://schemas.openxmlformats.org/drawingml/2006/main">
            <a:r>
              <a:t/>
            </a:r>
          </a:p>
          <a:p xmlns:a="http://schemas.openxmlformats.org/drawingml/2006/main">
            <a:r>
              <a:t>### 2.5 시간과 실패의 공통 처리</a:t>
            </a:r>
          </a:p>
          <a:p xmlns:a="http://schemas.openxmlformats.org/drawingml/2006/main">
            <a:r>
              <a:t/>
            </a:r>
          </a:p>
          <a:p xmlns:a="http://schemas.openxmlformats.org/drawingml/2006/main">
            <a:r>
              <a:t>정확성 판정과 시간 측정은 분리한다. 틀린 매칭이라도 반응, 오류 안내 또는 실제 처리가 끝난 시각이 있으면 그 경과시간을 사용하고 V-01에서 실패로 남긴다. 빠른 오답의 시간이 길었다고 만들어내지 않는다.</a:t>
            </a:r>
          </a:p>
          <a:p xmlns:a="http://schemas.openxmlformats.org/drawingml/2006/main">
            <a:r>
              <a:t/>
            </a:r>
          </a:p>
          <a:p xmlns:a="http://schemas.openxmlformats.org/drawingml/2006/main">
            <a:r>
              <a:t>| 관측 상태 | 시간 기록 | 판정 |</a:t>
            </a:r>
          </a:p>
          <a:p xmlns:a="http://schemas.openxmlformats.org/drawingml/2006/main">
            <a:r>
              <a:t>| --- | --- | --- |</a:t>
            </a:r>
          </a:p>
          <a:p xmlns:a="http://schemas.openxmlformats.org/drawingml/2006/main">
            <a:r>
              <a:t>| 정답과 실제 전달 | 실제 종료 사건까지의 경과시간 | 정확성과 시간 각각 판정 |</a:t>
            </a:r>
          </a:p>
          <a:p xmlns:a="http://schemas.openxmlformats.org/drawingml/2006/main">
            <a:r>
              <a:t>| 오답 또는 실패 안내 전달 | 실제 반응과 종료 시각까지의 경과시간 | 정확성은 정답 manifest로 별도 판정. 오답은 실패, 올바른 예외 안내는 성공 |</a:t>
            </a:r>
          </a:p>
          <a:p xmlns:a="http://schemas.openxmlformats.org/drawingml/2006/main">
            <a:r>
              <a:t>| 출력 없이 crash 또는 timeout | harness가 실제 관측을 종료할 때까지의 경과시간 | 미전달 표식. 실제 전달시간이라고 표기하지 않음 |</a:t>
            </a:r>
          </a:p>
          <a:p xmlns:a="http://schemas.openxmlformats.org/drawingml/2006/main">
            <a:r>
              <a:t>| 복구를 못 한 장애 | 관측 종료까지 실제 기다린 시간 | 미복구 표식. 정상 복구시간으로 표기하지 않음 |</a:t>
            </a:r>
          </a:p>
          <a:p xmlns:a="http://schemas.openxmlformats.org/drawingml/2006/main">
            <a:r>
              <a:t/>
            </a:r>
          </a:p>
          <a:p xmlns:a="http://schemas.openxmlformats.org/drawingml/2006/main">
            <a:r>
              <a:t>모든 trial의 **관측 경과시간 산술평균**을 먼저 보고하고 미전달 및 미복구 ID를 함께 제시한다. endpoint를 관측하지 못한 표본이 있으면 이 평균은 관측 기간까지만 포함한 값임을 표시하고, 해당 시간 목표의 충족 판정은 보류한다. 누락된 endpoint를 60초에 전달 또는 복구했다고 꾸미지 않는다. 유효한 오답 전달은 endpoint 누락이 아니므로 이 보류 규칙을 적용하지 않는다. 정답률을 암묵적으로 더 높이는 집계도 쓰지 않는다.</a:t>
            </a:r>
          </a:p>
          <a:p xmlns:a="http://schemas.openxmlformats.org/drawingml/2006/main">
            <a:r>
              <a:t/>
            </a:r>
          </a:p>
          <a:p xmlns:a="http://schemas.openxmlformats.org/drawingml/2006/main">
            <a:r>
              <a:t>종류별 평균, 경로별 평균, cold와 warm, 최솟값과 최댓값 및 실패 목록은 진단으로 보고한다. 대표 목표는 산술평균 하나다. 평균이 동일하더라도 어려운 조건에서 발생한 회귀를 숨기지 않는다. 대안 간 차이는 동일 사례와 seed의 paired 결과로 제시한다. 정확도 신뢰구간은 반복 네 회를 독립으로 취급하지 않고 470개 구체 사례를 cluster로 묶어 산출한다. 측정 전 평균과 분모 및 적용 범위를 고정한다.</a:t>
            </a:r>
          </a:p>
          <a:p xmlns:a="http://schemas.openxmlformats.org/drawingml/2006/main">
            <a:r>
              <a:t/>
            </a:r>
          </a:p>
          <a:p xmlns:a="http://schemas.openxmlformats.org/drawingml/2006/main">
            <a:r>
              <a:t>## 3. V-01 기능 정확성</a:t>
            </a:r>
          </a:p>
          <a:p xmlns:a="http://schemas.openxmlformats.org/drawingml/2006/main">
            <a:r>
              <a:t/>
            </a:r>
          </a:p>
          <a:p xmlns:a="http://schemas.openxmlformats.org/drawingml/2006/main">
            <a:r>
              <a:t>**설명:** 사용자 요청을 의도에 맞게 정확히 처리해야 한다.</a:t>
            </a:r>
          </a:p>
          <a:p xmlns:a="http://schemas.openxmlformats.org/drawingml/2006/main">
            <a:r>
              <a:t/>
            </a:r>
          </a:p>
          <a:p xmlns:a="http://schemas.openxmlformats.org/drawingml/2006/main">
            <a:r>
              <a:t>**단일 목표:** 정확 처리율 95% 이상.</a:t>
            </a:r>
          </a:p>
          <a:p xmlns:a="http://schemas.openxmlformats.org/drawingml/2006/main">
            <a:r>
              <a:t/>
            </a:r>
          </a:p>
          <a:p xmlns:a="http://schemas.openxmlformats.org/drawingml/2006/main">
            <a:r>
              <a:t>**근거 사실:** Nexusflow의 NexusRaven-13B 구현은 demonstration retrieval을 결합한 CVE/CPE Search와 VirusTotal 도구 사용에서 성공률 95%를 보고한다 [S01]. 문장 intent 분류나 slot별 F1보다 함수 선택과 인자 구성을 평가한다는 점에서 VIA의 요청 처리와 더 가깝다. 개발팀이 공개한 결과이며 독립적으로 재현한 VIA 실적은 아니다.</a:t>
            </a:r>
          </a:p>
          <a:p xmlns:a="http://schemas.openxmlformats.org/drawingml/2006/main">
            <a:r>
              <a:t/>
            </a:r>
          </a:p>
          <a:p xmlns:a="http://schemas.openxmlformats.org/drawingml/2006/main">
            <a:r>
              <a:t>**목표 선택:** 이미 공개된 검색 보조 도구 사용 구현의 95%를 VIA 통합 평가가 지향할 참조 수준으로 선택한다. 90%로 임의 반올림하거나 화면과 업무 이력을 이유로 5%를 할인하지 않는다. 고정 corpus에서 최대 5%의 전체 요청 실패를 허용하는 연구 평가 목표이며 정식 제품 출시의 안전 인증 기준은 아니다. VIA가 더 복잡한 기능을 갖는 만큼 달성 가능성은 직접 시험해야 한다.</a:t>
            </a:r>
          </a:p>
          <a:p xmlns:a="http://schemas.openxmlformats.org/drawingml/2006/main">
            <a:r>
              <a:t/>
            </a:r>
          </a:p>
          <a:p xmlns:a="http://schemas.openxmlformats.org/drawingml/2006/main">
            <a:r>
              <a:t>**전이 한계:** NexusRaven은 VIA와 모델 크기, quantization, 장치, 언어, 업무 상태와 화면 근거가 다르다. 보안 도구 시험의 95%가 VIA의 한국어 다중 턴 성공률을 예측한다고 주장하지 않는다. 이 출처만으로 VIA가 95%를 달성한다고 말할 수 없다. 전체 VIA 성능에 동일 corpus의 외부 수치가 없다는 한계를 발표 답변에서도 명시한다. 목표를 선택하는 근거와 목표를 달성하는 증거를 구분한다.</a:t>
            </a:r>
          </a:p>
          <a:p xmlns:a="http://schemas.openxmlformats.org/drawingml/2006/main">
            <a:r>
              <a:t/>
            </a:r>
          </a:p>
          <a:p xmlns:a="http://schemas.openxmlformats.org/drawingml/2006/main">
            <a:r>
              <a:t>```text</a:t>
            </a:r>
          </a:p>
          <a:p xmlns:a="http://schemas.openxmlformats.org/drawingml/2006/main">
            <a:r>
              <a:t>N = 94개 필수 변형 × 5개 구체 사례 × 4회 = 1,880회</a:t>
            </a:r>
          </a:p>
          <a:p xmlns:a="http://schemas.openxmlformats.org/drawingml/2006/main">
            <a:r>
              <a:t>success(i) = 모든 턴의 적용 가능한 필수 oracle 판정을 만족하면 1, 아니면 0</a:t>
            </a:r>
          </a:p>
          <a:p xmlns:a="http://schemas.openxmlformats.org/drawingml/2006/main">
            <a:r>
              <a:t>정확 처리율 = 100 × Σ success(i) / 1,880</a:t>
            </a:r>
          </a:p>
          <a:p xmlns:a="http://schemas.openxmlformats.org/drawingml/2006/main">
            <a:r>
              <a:t>목표 성공 수 = 1,786회 이상</a:t>
            </a:r>
          </a:p>
          <a:p xmlns:a="http://schemas.openxmlformats.org/drawingml/2006/main">
            <a:r>
              <a:t>```</a:t>
            </a:r>
          </a:p>
          <a:p xmlns:a="http://schemas.openxmlformats.org/drawingml/2006/main">
            <a:r>
              <a:t/>
            </a:r>
          </a:p>
          <a:p xmlns:a="http://schemas.openxmlformats.org/drawingml/2006/main">
            <a:r>
              <a:t>tau-bench의 실제 상태 대조 [S02]와 BFCL V3의 턴별 상태 및 응답 검사 [S11]를 판정 방법에 참고한다. 의도와 slot을 각각 맞힌 비율을 전체 처리율로 합치지 않는다. 모델이 선택한 tool이 정답이라는 이유만으로 올바른 Task 및 전달까지 맞았다고 간주하지 않는다.</a:t>
            </a:r>
          </a:p>
          <a:p xmlns:a="http://schemas.openxmlformats.org/drawingml/2006/main">
            <a:r>
              <a:t/>
            </a:r>
          </a:p>
          <a:p xmlns:a="http://schemas.openxmlformats.org/drawingml/2006/main">
            <a:r>
              <a:t>필수 oracle은 F1~F6의 적용 필드, 필요한 상태 변화, 명령과 외부 사실, 사용자 전달이다. 응답 표현은 달라도 필수 사실이 같으면 인정한다. 불명확한 표현은 후보를 가린 검토자가 고정 rubric으로 판정한다. 정답 상태를 확인할 수 없는 시험과 미지원 및 미전달도 분모에 남고 실패다. 오실행과 중복 실행은 해당 전체 시험의 오류 유형으로 기록한다. 이 행에 별도의 수치 목표를 추가하지 않는다.</a:t>
            </a:r>
          </a:p>
          <a:p xmlns:a="http://schemas.openxmlformats.org/drawingml/2006/main">
            <a:r>
              <a:t/>
            </a:r>
          </a:p>
          <a:p xmlns:a="http://schemas.openxmlformats.org/drawingml/2006/main">
            <a:r>
              <a:t>DP별 96회에는 같은 정의를 적용하고 성공 수 92회 이상이 95% 하한이다. 작은 시험군의 통계적 불확실성을 공개하고 전체 기능 평균으로 DP의 취약 조건을 가리지 않는다. 동일 목표의 적용 여부는 시험군별로 명시하며 새로운 오류가 중요한 안전 계약을 깨면 별도 기존 qualification에도 남긴다.</a:t>
            </a:r>
          </a:p>
          <a:p xmlns:a="http://schemas.openxmlformats.org/drawingml/2006/main">
            <a:r>
              <a:t/>
            </a:r>
          </a:p>
          <a:p xmlns:a="http://schemas.openxmlformats.org/drawingml/2006/main">
            <a:r>
              <a:t>## 4. V-02 기능 적절성</a:t>
            </a:r>
          </a:p>
          <a:p xmlns:a="http://schemas.openxmlformats.org/drawingml/2006/main">
            <a:r>
              <a:t/>
            </a:r>
          </a:p>
          <a:p xmlns:a="http://schemas.openxmlformats.org/drawingml/2006/main">
            <a:r>
              <a:t>**설명:** 추가 사용자 입력을 최소화해 요청을 마쳐야 한다.</a:t>
            </a:r>
          </a:p>
          <a:p xmlns:a="http://schemas.openxmlformats.org/drawingml/2006/main">
            <a:r>
              <a:t/>
            </a:r>
          </a:p>
          <a:p xmlns:a="http://schemas.openxmlformats.org/drawingml/2006/main">
            <a:r>
              <a:t>**단일 목표:** 평균 사용자 개입 1회/요청 이하.</a:t>
            </a:r>
          </a:p>
          <a:p xmlns:a="http://schemas.openxmlformats.org/drawingml/2006/main">
            <a:r>
              <a:t/>
            </a:r>
          </a:p>
          <a:p xmlns:a="http://schemas.openxmlformats.org/drawingml/2006/main">
            <a:r>
              <a:t>CoA는 필요한 때 하나의 집중 질문으로 부족한 시각 질의 정보를 보완하는 접근을 사용한다 [S03]. VIA에서도 근거를 먼저 활용하고 필요한 정보를 한 번에 묻는 상호작용 예산을 선택한다. 논문이 VIA의 모든 요청이나 권한 승인을 평균 한 번으로 처리했다고 주장하지 않는다. 승인에 필요한 입력도 예산에 포함하며 필수 승인을 생략할 수 없다.</a:t>
            </a:r>
          </a:p>
          <a:p xmlns:a="http://schemas.openxmlformats.org/drawingml/2006/main">
            <a:r>
              <a:t/>
            </a:r>
          </a:p>
          <a:p xmlns:a="http://schemas.openxmlformats.org/drawingml/2006/main">
            <a:r>
              <a:t>```text</a:t>
            </a:r>
          </a:p>
          <a:p xmlns:a="http://schemas.openxmlformats.org/drawingml/2006/main">
            <a:r>
              <a:t>u(i) = 최초 요청 뒤 VIA가 요구한 사용자 입력 episode 수</a:t>
            </a:r>
          </a:p>
          <a:p xmlns:a="http://schemas.openxmlformats.org/drawingml/2006/main">
            <a:r>
              <a:t>평균 사용자 개입 = Σ u(i) / 1,880</a:t>
            </a:r>
          </a:p>
          <a:p xmlns:a="http://schemas.openxmlformats.org/drawingml/2006/main">
            <a:r>
              <a:t>```</a:t>
            </a:r>
          </a:p>
          <a:p xmlns:a="http://schemas.openxmlformats.org/drawingml/2006/main">
            <a:r>
              <a:t/>
            </a:r>
          </a:p>
          <a:p xmlns:a="http://schemas.openxmlformats.org/drawingml/2006/main">
            <a:r>
              <a:t>질문 답변, 대상 선택과 승인을 각각 새로운 답변 episode로 센다. 같은 질문에 음성과 UI를 함께 써 하나의 답을 제출하면 한 번이다. 앱을 수동으로 마무리하는 경우 클릭 묶음을 임의로 하나로 만들지 않고 manifest의 의미 있는 실행 단계별로 센다. 예를 들어 파일 선택, 내용 입력, 실행 확인은 각각 한 단계다. 내부 자동 재시도는 사용자 개입이 아니다.</a:t>
            </a:r>
          </a:p>
          <a:p xmlns:a="http://schemas.openxmlformats.org/drawingml/2006/main">
            <a:r>
              <a:t/>
            </a:r>
          </a:p>
          <a:p xmlns:a="http://schemas.openxmlformats.org/drawingml/2006/main">
            <a:r>
              <a:t>실패가 보이면 동일 사용자 script가 최대 두 번의 재요청을 하고 이후 사례별 수동 마무리를 시도한다. 실제 관측한 단계만 세며 미완료도 분모에 포함한다. 구현을 보고 우회 횟수를 줄이지 않는다. 자발적인 독립 새 목표는 새 시험이며 기능 부족 때문에 같은 목표를 다시 설명하는 것은 추가 개입이다.</a:t>
            </a:r>
          </a:p>
          <a:p xmlns:a="http://schemas.openxmlformats.org/drawingml/2006/main">
            <a:r>
              <a:t/>
            </a:r>
          </a:p>
          <a:p xmlns:a="http://schemas.openxmlformats.org/drawingml/2006/main">
            <a:r>
              <a:t>모든 시험 평균과 성공 및 실패 시험의 분포를 함께 기록한다. 아무것도 수행하지 않아 나온 0회는 낮은 부담의 개선 증거로 인정하지 않는다. DP 비교에서는 목표 완료 여부가 다른 pair를 따로 표시하고, 실패로 생략한 질문을 장점으로 주장하지 않는다. V-01과 V-03을 함께 평가하되 성공 시험만 골라 평균을 낮추지 않는다.</a:t>
            </a:r>
          </a:p>
          <a:p xmlns:a="http://schemas.openxmlformats.org/drawingml/2006/main">
            <a:r>
              <a:t/>
            </a:r>
          </a:p>
          <a:p xmlns:a="http://schemas.openxmlformats.org/drawingml/2006/main">
            <a:r>
              <a:t>## 5. V-03 기능 완전성</a:t>
            </a:r>
          </a:p>
          <a:p xmlns:a="http://schemas.openxmlformats.org/drawingml/2006/main">
            <a:r>
              <a:t/>
            </a:r>
          </a:p>
          <a:p xmlns:a="http://schemas.openxmlformats.org/drawingml/2006/main">
            <a:r>
              <a:t>**설명:** 고정된 사용 시나리오의 필수 기능을 모두 지원해야 한다.</a:t>
            </a:r>
          </a:p>
          <a:p xmlns:a="http://schemas.openxmlformats.org/drawingml/2006/main">
            <a:r>
              <a:t/>
            </a:r>
          </a:p>
          <a:p xmlns:a="http://schemas.openxmlformats.org/drawingml/2006/main">
            <a:r>
              <a:t>**단일 목표:** 기능 지원 달성률 100%.</a:t>
            </a:r>
          </a:p>
          <a:p xmlns:a="http://schemas.openxmlformats.org/drawingml/2006/main">
            <a:r>
              <a:t/>
            </a:r>
          </a:p>
          <a:p xmlns:a="http://schemas.openxmlformats.org/drawingml/2006/main">
            <a:r>
              <a:t>필수 UC 변형 94개는 시스템의 기능 계약이므로 94개 모두를 지원하는 목표를 선택한다 [S00]. 문헌의 확률적 정확도를 가져오는 항목이 아니다.</a:t>
            </a:r>
          </a:p>
          <a:p xmlns:a="http://schemas.openxmlformats.org/drawingml/2006/main">
            <a:r>
              <a:t/>
            </a:r>
          </a:p>
          <a:p xmlns:a="http://schemas.openxmlformats.org/drawingml/2006/main">
            <a:r>
              <a:t>```text</a:t>
            </a:r>
          </a:p>
          <a:p xmlns:a="http://schemas.openxmlformats.org/drawingml/2006/main">
            <a:r>
              <a:t>support(v) = 필수 capability 전부를 입증한 변형이면 1, 아니면 0</a:t>
            </a:r>
          </a:p>
          <a:p xmlns:a="http://schemas.openxmlformats.org/drawingml/2006/main">
            <a:r>
              <a:t>기능 지원 달성률 = 100 × Σ support(v) / 94</a:t>
            </a:r>
          </a:p>
          <a:p xmlns:a="http://schemas.openxmlformats.org/drawingml/2006/main">
            <a:r>
              <a:t>```</a:t>
            </a:r>
          </a:p>
          <a:p xmlns:a="http://schemas.openxmlformats.org/drawingml/2006/main">
            <a:r>
              <a:t/>
            </a:r>
          </a:p>
          <a:p xmlns:a="http://schemas.openxmlformats.org/drawingml/2006/main">
            <a:r>
              <a:t>완전 지원에는 세 증거가 모두 필요하다. 첫째, 필수 입력과 의미 관계를 표현하고 처리하는 구현 경로가 있어야 한다. 둘째, 각 필수 상태 전이와 오류 처리의 capability 계약 시험을 통과해야 한다. 이 시험에서는 유효한 모델 제안과 source 응답을 공급하여 코드 경로의 구현 여부를 확인한다. 셋째, 다섯 구체 상황 각각에서 실제 입력을 사용한 통합 witness가 있어야 한다. 모델을 대체한 계약 시험만으로 전체 지원을 선언하지 않는다.</a:t>
            </a:r>
          </a:p>
          <a:p xmlns:a="http://schemas.openxmlformats.org/drawingml/2006/main">
            <a:r>
              <a:t/>
            </a:r>
          </a:p>
          <a:p xmlns:a="http://schemas.openxmlformats.org/drawingml/2006/main">
            <a:r>
              <a:t>계약 시험은 41의 코드 표현 범위, 43의 F1~F6 생산 결과, 질문과 승인 및 정정, 상태와 전달을 개별 확인한다. 필수 관계를 유한 표현에 담을 수 없거나 원본 근거 없이 사용자에게 우회시키면 부분 지원이다. 통합 witness의 확률적 오류는 V-01에 모두 기록한다. 다섯 상황 중 하나의 우연한 성공만으로 변형 전체를 지원으로 세지 않는다.</a:t>
            </a:r>
          </a:p>
          <a:p xmlns:a="http://schemas.openxmlformats.org/drawingml/2006/main">
            <a:r>
              <a:t/>
            </a:r>
          </a:p>
          <a:p xmlns:a="http://schemas.openxmlformats.org/drawingml/2006/main">
            <a:r>
              <a:t>지원 ledger에는 완전 지원, 부분 지원, 미지원과 미확인을 남긴다. 뒤의 세 상태는 분모에 남고 분자에 들어가지 않는다. 설계 문서 단계는 '설계상 지원 검토'이며 구현 지원률 실적으로 표시하지 않는다.</a:t>
            </a:r>
          </a:p>
          <a:p xmlns:a="http://schemas.openxmlformats.org/drawingml/2006/main">
            <a:r>
              <a:t/>
            </a:r>
          </a:p>
          <a:p xmlns:a="http://schemas.openxmlformats.org/drawingml/2006/main">
            <a:r>
              <a:t>## 6. V-04 응답 신속성</a:t>
            </a:r>
          </a:p>
          <a:p xmlns:a="http://schemas.openxmlformats.org/drawingml/2006/main">
            <a:r>
              <a:t/>
            </a:r>
          </a:p>
          <a:p xmlns:a="http://schemas.openxmlformats.org/drawingml/2006/main">
            <a:r>
              <a:t>**설명:** 사용자 입력에 빠르게 반응해야 한다.</a:t>
            </a:r>
          </a:p>
          <a:p xmlns:a="http://schemas.openxmlformats.org/drawingml/2006/main">
            <a:r>
              <a:t/>
            </a:r>
          </a:p>
          <a:p xmlns:a="http://schemas.openxmlformats.org/drawingml/2006/main">
            <a:r>
              <a:t>**단일 목표:** 평균 반응시간 1초 이하.</a:t>
            </a:r>
          </a:p>
          <a:p xmlns:a="http://schemas.openxmlformats.org/drawingml/2006/main">
            <a:r>
              <a:t/>
            </a:r>
          </a:p>
          <a:p xmlns:a="http://schemas.openxmlformats.org/drawingml/2006/main">
            <a:r>
              <a:t>Nielsen의 1초 상호작용 기준을 선택한다 [S04]. 평균 집계는 사용자의 발표 요구에 따른 선택이다. 한 번의 즉시 응답이 뒤의 긴 전체 처리시간을 가리지 않도록 V-05도 따로 측정한다.</a:t>
            </a:r>
          </a:p>
          <a:p xmlns:a="http://schemas.openxmlformats.org/drawingml/2006/main">
            <a:r>
              <a:t/>
            </a:r>
          </a:p>
          <a:p xmlns:a="http://schemas.openxmlformats.org/drawingml/2006/main">
            <a:r>
              <a:t>| 사건 종류 | 시작 | 실제 종료 |</a:t>
            </a:r>
          </a:p>
          <a:p xmlns:a="http://schemas.openxmlformats.org/drawingml/2006/main">
            <a:r>
              <a:t>| --- | --- | --- |</a:t>
            </a:r>
          </a:p>
          <a:p xmlns:a="http://schemas.openxmlformats.org/drawingml/2006/main">
            <a:r>
              <a:t>| 요청 반응 | 실제 발화 종료 또는 텍스트 제출 | 해당 요청의 유효한 텍스트 표시 또는 첫 유효 음성 재생 |</a:t>
            </a:r>
          </a:p>
          <a:p xmlns:a="http://schemas.openxmlformats.org/drawingml/2006/main">
            <a:r>
              <a:t>| 상태 전달 | 확인된 외부 상태가 source에서 VIA에 이용 가능해진 시각 | 그 상태 또는 처리 오류를 사용자에게 실제 전달 |</a:t>
            </a:r>
          </a:p>
          <a:p xmlns:a="http://schemas.openxmlformats.org/drawingml/2006/main">
            <a:r>
              <a:t>| 업무 제어 | 제어 요청의 실제 입력 | VIA 로컬 제어 적용을 확인할 수 있는 반응 |</a:t>
            </a:r>
          </a:p>
          <a:p xmlns:a="http://schemas.openxmlformats.org/drawingml/2006/main">
            <a:r>
              <a:t/>
            </a:r>
          </a:p>
          <a:p xmlns:a="http://schemas.openxmlformats.org/drawingml/2006/main">
            <a:r>
              <a:t>'처리 중' 같은 고정 filler와 spinner는 유효 반응이 아니다. 올바른 결과, 구체적 확인 질문, 해당 요청을 식별한 접수 사실 또는 구체적인 실패 안내는 유효 반응이다. 외부 실행 접수는 실제 Agent 확인 이후에만 접수 사실로 말할 수 있다. 대상을 틀리게 말한 반응도 실제 시각은 기록하고 정확성 실패로 남긴다.</a:t>
            </a:r>
          </a:p>
          <a:p xmlns:a="http://schemas.openxmlformats.org/drawingml/2006/main">
            <a:r>
              <a:t/>
            </a:r>
          </a:p>
          <a:p xmlns:a="http://schemas.openxmlformats.org/drawingml/2006/main">
            <a:r>
              <a:t>주점수의 event ledger를 사례 manifest에서 사전에 고정한다. 각 trial의 최초 사용자 목표 입력에 대한 반응을 기본 slot 하나로 삼는다. 시나리오가 고정 시각의 상태 전달이나 제어를 요구하면 해당 slot을 사전에 추가하고 모든 후보에 같은 외부 입력을 공급한다. 후보가 추가로 만든 질문과 재시도 턴은 진단 기록에 남기며 주점수의 slot 수를 늘리지 않는다. 빠른 확인 질문 여러 개로 느린 최초 반응을 희석할 수 없다.</a:t>
            </a:r>
          </a:p>
          <a:p xmlns:a="http://schemas.openxmlformats.org/drawingml/2006/main">
            <a:r>
              <a:t/>
            </a:r>
          </a:p>
          <a:p xmlns:a="http://schemas.openxmlformats.org/drawingml/2006/main">
            <a:r>
              <a:t>고정 slot마다 경과시간을 기록하고 시험 내 slot 산술평균을 먼저 계산한 뒤 적용 시험 전체의 산술평균을 낸다. 각 trial이 같은 가중치를 갖는다. 반응이 필요 없는 변형은 적용 불가 이유를 미리 기록하고 실제 분모를 공개한다. 후보 출력 여부에 따라 적용 여부를 바꾸지 않으며 미전달 slot도 삭제하지 않는다.</a:t>
            </a:r>
          </a:p>
          <a:p xmlns:a="http://schemas.openxmlformats.org/drawingml/2006/main">
            <a:r>
              <a:t/>
            </a:r>
          </a:p>
          <a:p xmlns:a="http://schemas.openxmlformats.org/drawingml/2006/main">
            <a:r>
              <a:t>음성 중단은 새 발화 시작부터 이전 출력의 마지막 sample까지 따로 검사한다. 업무 취소 완료와 동일시하지 않는다. 이 제어 회귀를 응답 평균에 섞어 첫 답변시간을 줄이지 않는다. 기본 시간점수는 warm 상태이며 cold 첫 반응은 별도 보고한다. 미전달은 §2.5대로 실제 관측시간과 상태를 남긴다.</a:t>
            </a:r>
          </a:p>
          <a:p xmlns:a="http://schemas.openxmlformats.org/drawingml/2006/main">
            <a:r>
              <a:t/>
            </a:r>
          </a:p>
          <a:p xmlns:a="http://schemas.openxmlformats.org/drawingml/2006/main">
            <a:r>
              <a:t>## 7. V-05 요청 완료 신속성</a:t>
            </a:r>
          </a:p>
          <a:p xmlns:a="http://schemas.openxmlformats.org/drawingml/2006/main">
            <a:r>
              <a:t/>
            </a:r>
          </a:p>
          <a:p xmlns:a="http://schemas.openxmlformats.org/drawingml/2006/main">
            <a:r>
              <a:t>**설명:** VIA의 처리로 결과 전달이 늦어지지 않아야 한다.</a:t>
            </a:r>
          </a:p>
          <a:p xmlns:a="http://schemas.openxmlformats.org/drawingml/2006/main">
            <a:r>
              <a:t/>
            </a:r>
          </a:p>
          <a:p xmlns:a="http://schemas.openxmlformats.org/drawingml/2006/main">
            <a:r>
              <a:t>**단일 목표:** 평균 VIA 처리시간 10초 이하.</a:t>
            </a:r>
          </a:p>
          <a:p xmlns:a="http://schemas.openxmlformats.org/drawingml/2006/main">
            <a:r>
              <a:t/>
            </a:r>
          </a:p>
          <a:p xmlns:a="http://schemas.openxmlformats.org/drawingml/2006/main">
            <a:r>
              <a:t>Nielsen의 10초 주의 유지 기준을 참고해 VIA의 추가 처리 예산을 선택한다 [S04]. 외부가 30초 일한 뒤 VIA가 4초 처리하면 사용자의 전체 대기는 34초일 수 있다. 이 경우 4초의 VIA 목표를 만족했다고 해서 전체 경험이 10초 이내라고 설명하지 않는다. 직접 응답처럼 외부 대기가 없는 짧은 요청에서는 전체 경과시간과 일치한다.</a:t>
            </a:r>
          </a:p>
          <a:p xmlns:a="http://schemas.openxmlformats.org/drawingml/2006/main">
            <a:r>
              <a:t/>
            </a:r>
          </a:p>
          <a:p xmlns:a="http://schemas.openxmlformats.org/drawingml/2006/main">
            <a:r>
              <a:t>짧은 출력 계약에 예산을 배분한 예시는 입력 해석과 근거 확인 3초, 채택과 위임 준비 1초, 결과 연결과 응답 구성 2초, 실제 최종 음성 4초로 총 10초다. 이것은 설계 배분이며 각 단계의 실측값이나 별도의 합격 목표가 아니다. 실제 병렬 실행의 중복을 제거해 측정한다.</a:t>
            </a:r>
          </a:p>
          <a:p xmlns:a="http://schemas.openxmlformats.org/drawingml/2006/main">
            <a:r>
              <a:t/>
            </a:r>
          </a:p>
          <a:p xmlns:a="http://schemas.openxmlformats.org/drawingml/2006/main">
            <a:r>
              <a:t>직접 응답은 VIA가 결과를 만드는 경로, 위임은 외부 Agent가 업무를 수행하는 경로다. 요청 관계는 선행 결과를 다음 입력으로 쓰는 연결이며 제3의 상호 배타적 경로가 아니다. 직접 및 위임 각각에 관계 있음과 없음 표식을 붙여 네 조건의 평균을 진단으로 공개한다. 주목표는 적용 시험의 전체 산술평균 하나다.</a:t>
            </a:r>
          </a:p>
          <a:p xmlns:a="http://schemas.openxmlformats.org/drawingml/2006/main">
            <a:r>
              <a:t/>
            </a:r>
          </a:p>
          <a:p xmlns:a="http://schemas.openxmlformats.org/drawingml/2006/main">
            <a:r>
              <a:t>```text</a:t>
            </a:r>
          </a:p>
          <a:p xmlns:a="http://schemas.openxmlformats.org/drawingml/2006/main">
            <a:r>
              <a:t>W(i) = 실제 입력 종료부터 해당 요청의 필수 최종 전달까지의 구간</a:t>
            </a:r>
          </a:p>
          <a:p xmlns:a="http://schemas.openxmlformats.org/drawingml/2006/main">
            <a:r>
              <a:t>E(i) = 외부 작업 또는 사용자 답변만 기다리며 VIA가 할 필수 처리가 없는 구간</a:t>
            </a:r>
          </a:p>
          <a:p xmlns:a="http://schemas.openxmlformats.org/drawingml/2006/main">
            <a:r>
              <a:t>T_via(i) = 길이(W(i)에서 E(i)의 합집합을 제외한 구간)</a:t>
            </a:r>
          </a:p>
          <a:p xmlns:a="http://schemas.openxmlformats.org/drawingml/2006/main">
            <a:r>
              <a:t>평균 VIA 처리시간 = Σ T_via(i) / 적용 trial 수</a:t>
            </a:r>
          </a:p>
          <a:p xmlns:a="http://schemas.openxmlformats.org/drawingml/2006/main">
            <a:r>
              <a:t>```</a:t>
            </a:r>
          </a:p>
          <a:p xmlns:a="http://schemas.openxmlformats.org/drawingml/2006/main">
            <a:r>
              <a:t/>
            </a:r>
          </a:p>
          <a:p xmlns:a="http://schemas.openxmlformats.org/drawingml/2006/main">
            <a:r>
              <a:t>E는 Agent가 걸린 시간을 단순 합산한 값이 아니다. 그 시간 중 VIA가 의미 해석, 근거 읽기, 결과 준비 또는 필요한 출력을 진행하면 VIA 구간으로 포함한다. 자체 model queue, scheduler 대기, storage와 IPC, Agent 통합 통신, retry와 실제 출력은 포함한다. 후보가 표시한 '외부 대기' 이름을 믿지 않고 독립 event 및 필수 작업의 ready/blocked 상태로 검증한다. 완료에 필요 없는 background 유지 작업은 별도 비용이지만 foreground 처리를 지연시키면 그 대기도 포함한다.</a:t>
            </a:r>
          </a:p>
          <a:p xmlns:a="http://schemas.openxmlformats.org/drawingml/2006/main">
            <a:r>
              <a:t/>
            </a:r>
          </a:p>
          <a:p xmlns:a="http://schemas.openxmlformats.org/drawingml/2006/main">
            <a:r>
              <a:t>**겹치는 구간 예:** 전체 W는 0~34초다. VIA 해석은 0~1초, Agent 작업은 1~31초, 그동안 필요한 VIA 준비는 10~12초, 최종 출력은 31~34초다. 외부 작업만 기다린 E는 1~10초와 12~31초로 28초다. VIA 시간은 **34 - 28 = 6초**다. Agent 30초를 그대로 빼 얻은 4초나, 외부 비용을 0으로 놓은 가상 그래프의 시간을 실제 관측값으로 제시하지 않는다.</a:t>
            </a:r>
          </a:p>
          <a:p xmlns:a="http://schemas.openxmlformats.org/drawingml/2006/main">
            <a:r>
              <a:t/>
            </a:r>
          </a:p>
          <a:p xmlns:a="http://schemas.openxmlformats.org/drawingml/2006/main">
            <a:r>
              <a:t>완료는 필수 결과 text, artifact 접근과 계약상 최종 음성 전달까지 끝난 시각이다. 외부 Agent 접수만 필요한 Request는 접수 확인 전달이 그 Request의 종료점이며 Task 실행 종료를 섞지 않는다. 결과 전달을 목표로 하는 시험은 결과까지 관측한다. 같은 목표의 질문과 답변은 같은 trial에 남는다. 실패 안내까지 끝난 실제 시간도 기록하며 정확성은 따로 판정한다.</a:t>
            </a:r>
          </a:p>
          <a:p xmlns:a="http://schemas.openxmlformats.org/drawingml/2006/main">
            <a:r>
              <a:t/>
            </a:r>
          </a:p>
          <a:p xmlns:a="http://schemas.openxmlformats.org/drawingml/2006/main">
            <a:r>
              <a:t>주목표의 적용 모집단은 warm 짧은 출력 계약이다. 긴 20초 설명, cold loading과 전체 wall time은 같은 보고서에서 별도로 공개한다. 입력 manifest에서 정한 분류를 실행 결과를 보고 옮기지 않는다. 실제 재생이 길어졌다면 원래 짧은 계약 시험의 시간 미달로 남긴다. 미전달은 §2.5에 따라 목표 충족을 보류한다.</a:t>
            </a:r>
          </a:p>
          <a:p xmlns:a="http://schemas.openxmlformats.org/drawingml/2006/main">
            <a:r>
              <a:t/>
            </a:r>
          </a:p>
          <a:p xmlns:a="http://schemas.openxmlformats.org/drawingml/2006/main">
            <a:r>
              <a:t>## 8. V-08 변경 용이성</a:t>
            </a:r>
          </a:p>
          <a:p xmlns:a="http://schemas.openxmlformats.org/drawingml/2006/main">
            <a:r>
              <a:t/>
            </a:r>
          </a:p>
          <a:p xmlns:a="http://schemas.openxmlformats.org/drawingml/2006/main">
            <a:r>
              <a:t>**설명:** 기능 변경이 적은 설계 요소에만 영향을 주어야 한다.</a:t>
            </a:r>
          </a:p>
          <a:p xmlns:a="http://schemas.openxmlformats.org/drawingml/2006/main">
            <a:r>
              <a:t/>
            </a:r>
          </a:p>
          <a:p xmlns:a="http://schemas.openxmlformats.org/drawingml/2006/main">
            <a:r>
              <a:t>**단일 목표:** 평균 변경 요소 수 3개/변경 이하.</a:t>
            </a:r>
          </a:p>
          <a:p xmlns:a="http://schemas.openxmlformats.org/drawingml/2006/main">
            <a:r>
              <a:t/>
            </a:r>
          </a:p>
          <a:p xmlns:a="http://schemas.openxmlformats.org/drawingml/2006/main">
            <a:r>
              <a:t>SEI는 수정할 책임과 변경 전파가 변경 및 시험 비용을 만든다고 설명한다 [S05]. 이를 하나의 책임, 독립 계약, 소비 책임까지의 국소 변경 예산 3개로 구체화한다. 원문이 3개를 규정했다는 뜻은 아니다. 예를 들어 결과 protocol 필드 추가가 adapter 책임 C, 공개 계약 I, 소비 책임 C에 머무르면 3개다. 추가 공유 상태나 배포 변경까지 요구하면 실제 count를 늘린다.</a:t>
            </a:r>
          </a:p>
          <a:p xmlns:a="http://schemas.openxmlformats.org/drawingml/2006/main">
            <a:r>
              <a:t/>
            </a:r>
          </a:p>
          <a:p xmlns:a="http://schemas.openxmlformats.org/drawingml/2006/main">
            <a:r>
              <a:t>[Architecture Element 정의](../../architecture/10-element-definition.md)의 **C 책임, I interface 계약, S 상태 책임, D 배포 단위**를 그대로 적용한다. Component나 Module 사각형 및 파일 수를 세지 않는다. 큰 통합 Module도 독립 책임 여러 개를 바꾸면 여러 C로 센다. 분리된 helper 여러 파일이 동일 책임이면 한 C다. private payload와 공개 I/S의 중복 집계를 피한다.</a:t>
            </a:r>
          </a:p>
          <a:p xmlns:a="http://schemas.openxmlformats.org/drawingml/2006/main">
            <a:r>
              <a:t/>
            </a:r>
          </a:p>
          <a:p xmlns:a="http://schemas.openxmlformats.org/drawingml/2006/main">
            <a:r>
              <a:t>측정 전 같은 기능 책임의 후보별 대응표를 작성하고 독립 검토자가 분해 수준을 확인한다. 요소마다 identity, 책임 경계, 독립성, 변경 판정 조건과 증거를 등록한다. 측정 후 유리하게 묶거나 나누지 않는다. 실제 수정 전의 영향 분석과 수정 후 diff를 대조한다.</a:t>
            </a:r>
          </a:p>
          <a:p xmlns:a="http://schemas.openxmlformats.org/drawingml/2006/main">
            <a:r>
              <a:t/>
            </a:r>
          </a:p>
          <a:p xmlns:a="http://schemas.openxmlformats.org/drawingml/2006/main">
            <a:r>
              <a:t>| 과제 | 공통 변경 목표 |</a:t>
            </a:r>
          </a:p>
          <a:p xmlns:a="http://schemas.openxmlformats.org/drawingml/2006/main">
            <a:r>
              <a:t>| --- | --- |</a:t>
            </a:r>
          </a:p>
          <a:p xmlns:a="http://schemas.openxmlformats.org/drawingml/2006/main">
            <a:r>
              <a:t>| CH01 | 화면 참조 대상에 표의 선택 범위를 추가 |</a:t>
            </a:r>
          </a:p>
          <a:p xmlns:a="http://schemas.openxmlformats.org/drawingml/2006/main">
            <a:r>
              <a:t>| CH02 | 기존 Task를 이어 쓰는 요청 관계 규칙 추가 |</a:t>
            </a:r>
          </a:p>
          <a:p xmlns:a="http://schemas.openxmlformats.org/drawingml/2006/main">
            <a:r>
              <a:t>| CH03 | Agent 진행 및 결과 protocol의 revision 필드 변경 |</a:t>
            </a:r>
          </a:p>
          <a:p xmlns:a="http://schemas.openxmlformats.org/drawingml/2006/main">
            <a:r>
              <a:t>| CH04 | 음성 중단 정책 변경, 기존 Task 실행은 유지 |</a:t>
            </a:r>
          </a:p>
          <a:p xmlns:a="http://schemas.openxmlformats.org/drawingml/2006/main">
            <a:r>
              <a:t>| CH05 | Context 보존기간과 삭제 전파 정책 변경 |</a:t>
            </a:r>
          </a:p>
          <a:p xmlns:a="http://schemas.openxmlformats.org/drawingml/2006/main">
            <a:r>
              <a:t>| CH06 | 중복 결과와 재접속 확인의 결합 규칙 변경 |</a:t>
            </a:r>
          </a:p>
          <a:p xmlns:a="http://schemas.openxmlformats.org/drawingml/2006/main">
            <a:r>
              <a:t/>
            </a:r>
          </a:p>
          <a:p xmlns:a="http://schemas.openxmlformats.org/drawingml/2006/main">
            <a:r>
              <a:t>```text</a:t>
            </a:r>
          </a:p>
          <a:p xmlns:a="http://schemas.openxmlformats.org/drawingml/2006/main">
            <a:r>
              <a:t>N(s) = 실제 추가, 수정, 삭제가 필요한 등록 요소 ID의 합집합 크기</a:t>
            </a:r>
          </a:p>
          <a:p xmlns:a="http://schemas.openxmlformats.org/drawingml/2006/main">
            <a:r>
              <a:t>평균 변경 요소 수 = Σ N(s) / 6</a:t>
            </a:r>
          </a:p>
          <a:p xmlns:a="http://schemas.openxmlformats.org/drawingml/2006/main">
            <a:r>
              <a:t>MH 추정(s) = a(변경 종류) + b(변경 종류) × N(s)</a:t>
            </a:r>
          </a:p>
          <a:p xmlns:a="http://schemas.openxmlformats.org/drawingml/2006/main">
            <a:r>
              <a:t>MM 추정(s) = MH 추정(s) / H_month</a:t>
            </a:r>
          </a:p>
          <a:p xmlns:a="http://schemas.openxmlformats.org/drawingml/2006/main">
            <a:r>
              <a:t>```</a:t>
            </a:r>
          </a:p>
          <a:p xmlns:a="http://schemas.openxmlformats.org/drawingml/2006/main">
            <a:r>
              <a:t/>
            </a:r>
          </a:p>
          <a:p xmlns:a="http://schemas.openxmlformats.org/drawingml/2006/main">
            <a:r>
              <a:t>동일 요소의 여러 파일과 commit은 한 번만 센다. 과제를 해결하지 못하면 count 0으로 통과시키지 않고 미완료로 보고하며 변경 목표 충족 판정을 보류한다. 설계만 있으면 예상 영향 수이며 실제 변경 실적이 아니다. 여섯 과제와 DP에 관련된 하위집합을 함께 공개하되 후보별로 과제를 삭제하지 않는다.</a:t>
            </a:r>
          </a:p>
          <a:p xmlns:a="http://schemas.openxmlformats.org/drawingml/2006/main">
            <a:r>
              <a:t/>
            </a:r>
          </a:p>
          <a:p xmlns:a="http://schemas.openxmlformats.org/drawingml/2006/main">
            <a:r>
              <a:t>MH는 person-hour, MM는 person-month다. a는 공통 분석 및 검증 비용, b는 요소당 실제 작업 비용이다. 같은 종류의 완료된 과제에서 시간을 기록하고 회귀 및 교차 검증으로 보정한다. 자료가 없으면 임의 계수를 채우지 않는다. H_month는 조직의 월 표준시간이며 160시간을 쓰면 8시간 × 20일이라는 환산 규약을 명시한다. count가 같은 두 구조라도 실제 MH는 다를 수 있다. 모델과 오차를 함께 공개한다.</a:t>
            </a:r>
          </a:p>
          <a:p xmlns:a="http://schemas.openxmlformats.org/drawingml/2006/main">
            <a:r>
              <a:t/>
            </a:r>
          </a:p>
          <a:p xmlns:a="http://schemas.openxmlformats.org/drawingml/2006/main">
            <a:r>
              <a:t>## 9. V-06 메모리 효율성</a:t>
            </a:r>
          </a:p>
          <a:p xmlns:a="http://schemas.openxmlformats.org/drawingml/2006/main">
            <a:r>
              <a:t/>
            </a:r>
          </a:p>
          <a:p xmlns:a="http://schemas.openxmlformats.org/drawingml/2006/main">
            <a:r>
              <a:t>**설명:** 상시 실행에 필요한 메모리를 제한해야 한다.</a:t>
            </a:r>
          </a:p>
          <a:p xmlns:a="http://schemas.openxmlformats.org/drawingml/2006/main">
            <a:r>
              <a:t/>
            </a:r>
          </a:p>
          <a:p xmlns:a="http://schemas.openxmlformats.org/drawingml/2006/main">
            <a:r>
              <a:t>**단일 목표:** 최대 전체 메모리 16GB 이하. GB는 10^9 bytes다.</a:t>
            </a:r>
          </a:p>
          <a:p xmlns:a="http://schemas.openxmlformats.org/drawingml/2006/main">
            <a:r>
              <a:t/>
            </a:r>
          </a:p>
          <a:p xmlns:a="http://schemas.openxmlformats.org/drawingml/2006/main">
            <a:r>
              <a:t>### 9.1 장치와 VIA 자체 예산</a:t>
            </a:r>
          </a:p>
          <a:p xmlns:a="http://schemas.openxmlformats.org/drawingml/2006/main">
            <a:r>
              <a:t/>
            </a:r>
          </a:p>
          <a:p xmlns:a="http://schemas.openxmlformats.org/drawingml/2006/main">
            <a:r>
              <a:t>삼성 공식 NP960UJH-XG3IN 사양의 32GB RAM과 전용 8GB VRAM을 기준으로 한다 [S06]. 다른 사용자 앱에 임의의 6GB를 할당해 목표를 계산하지 않는다. 아래 합계는 **VIA가 직접 부담하는 전체 물리 메모리**의 예산이다.</a:t>
            </a:r>
          </a:p>
          <a:p xmlns:a="http://schemas.openxmlformats.org/drawingml/2006/main">
            <a:r>
              <a:t/>
            </a:r>
          </a:p>
          <a:p xmlns:a="http://schemas.openxmlformats.org/drawingml/2006/main">
            <a:r>
              <a:t>| 항목 | 예산 | 계산 또는 제한 근거 |</a:t>
            </a:r>
          </a:p>
          <a:p xmlns:a="http://schemas.openxmlformats.org/drawingml/2006/main">
            <a:r>
              <a:t>| --- | ---: | --- |</a:t>
            </a:r>
          </a:p>
          <a:p xmlns:a="http://schemas.openxmlformats.org/drawingml/2006/main">
            <a:r>
              <a:t>| 공유 가중치 전체 | 8GB | 10B backbone의 4bit 원시 5GB, 다른 learned weights 2GB, quantization 부대 정보 1GB |</a:t>
            </a:r>
          </a:p>
          <a:p xmlns:a="http://schemas.openxmlformats.org/drawingml/2006/main">
            <a:r>
              <a:t>| 역할 및 producer KV 전체 | 3GB | 공개 Qwen KV 구조로 계산한 두 8k Context의 약 2.684GB를 상향 배정 |</a:t>
            </a:r>
          </a:p>
          <a:p xmlns:a="http://schemas.openxmlformats.org/drawingml/2006/main">
            <a:r>
              <a:t>| 추론 실행 공간 | 3GB | activation, compute workspace, encoder와 Talker 임시 tensor의 합계 제한 |</a:t>
            </a:r>
          </a:p>
          <a:p xmlns:a="http://schemas.openxmlformats.org/drawingml/2006/main">
            <a:r>
              <a:t>| 입력 근거와 UI 및 상태 buffer | 1GB | 아래 해상도와 보존량을 사용한 약 0.939GB 계산 |</a:t>
            </a:r>
          </a:p>
          <a:p xmlns:a="http://schemas.openxmlformats.org/drawingml/2006/main">
            <a:r>
              <a:t>| loading 중 복제와 staging | 1GB | 동시에 존재하는 추가 물리 복제의 제한 |</a:t>
            </a:r>
          </a:p>
          <a:p xmlns:a="http://schemas.openxmlformats.org/drawingml/2006/main">
            <a:r>
              <a:t>| **합계** | **16GB** | **8 + 3 + 3 + 1 + 1** |</a:t>
            </a:r>
          </a:p>
          <a:p xmlns:a="http://schemas.openxmlformats.org/drawingml/2006/main">
            <a:r>
              <a:t/>
            </a:r>
          </a:p>
          <a:p xmlns:a="http://schemas.openxmlformats.org/drawingml/2006/main">
            <a:r>
              <a:t>약 10B는 Thinker/backbone 목표이며 전체 Omni와 helper 합계가 아니다. 모든 encoders, Talker, Streaming ASR와 helper를 inventory에 포함한다. 원시 가중치는 N × bit / 8이다. 10B backbone은 4bit 약 5GB, 8bit 약 10GB, FP16 약 20GB다. AWQ는 4bit LLM 배포의 기술적 근거 [S07]이며 모든 VIA helper를 같은 정밀도로 양자화할 수 있거나 정확도가 보존된다는 보증은 아니다.</a:t>
            </a:r>
          </a:p>
          <a:p xmlns:a="http://schemas.openxmlformats.org/drawingml/2006/main">
            <a:r>
              <a:t/>
            </a:r>
          </a:p>
          <a:p xmlns:a="http://schemas.openxmlformats.org/drawingml/2006/main">
            <a:r>
              <a:t>추가 learned weights 2GB는 실제 선정 모델의 크기라는 주장이 아니라 자원 계약이다. 예를 들어 전체가 4bit면 원시 약 4B, FP16이면 약 1B에 해당한다. 실제 혼합 정밀도와 양자화 metadata 및 scale bytes로 검사한다. 전체 inventory가 8GB를 넘으면 weight 예산 미달이다. 모델을 바꿔 수치를 맞추면 같은 V-01과 V-03 시험도 다시 필요하다.</a:t>
            </a:r>
          </a:p>
          <a:p xmlns:a="http://schemas.openxmlformats.org/drawingml/2006/main">
            <a:r>
              <a:t/>
            </a:r>
          </a:p>
          <a:p xmlns:a="http://schemas.openxmlformats.org/drawingml/2006/main">
            <a:r>
              <a:t>### 9.2 KV와 buffer 계산</a:t>
            </a:r>
          </a:p>
          <a:p xmlns:a="http://schemas.openxmlformats.org/drawingml/2006/main">
            <a:r>
              <a:t/>
            </a:r>
          </a:p>
          <a:p xmlns:a="http://schemas.openxmlformats.org/drawingml/2006/main">
            <a:r>
              <a:t>공개 Qwen3-14B의 config는 layer 40개, KV head 8개, head dimension 128과 bfloat16을 명시한다 [S12]. 이는 계산 예시이며 VIA가 Qwen3-14B를 선택했거나 10B Omni의 내부 config가 같다는 뜻은 아니다. 실제 선택 모델의 값으로 다시 계산해야 한다.</a:t>
            </a:r>
          </a:p>
          <a:p xmlns:a="http://schemas.openxmlformats.org/drawingml/2006/main">
            <a:r>
              <a:t/>
            </a:r>
          </a:p>
          <a:p xmlns:a="http://schemas.openxmlformats.org/drawingml/2006/main">
            <a:r>
              <a:t>```text</a:t>
            </a:r>
          </a:p>
          <a:p xmlns:a="http://schemas.openxmlformats.org/drawingml/2006/main">
            <a:r>
              <a:t>KV bytes = 2(K와 V) × session 수 × layer 수 × token 수 × KV head 수 × head dimension × bytes/원소</a:t>
            </a:r>
          </a:p>
          <a:p xmlns:a="http://schemas.openxmlformats.org/drawingml/2006/main">
            <a:r>
              <a:t>예시 = 2 × 2 × 40 × 8192 × 8 × 128 × 2</a:t>
            </a:r>
          </a:p>
          <a:p xmlns:a="http://schemas.openxmlformats.org/drawingml/2006/main">
            <a:r>
              <a:t>     = 2,684,354,560 bytes = 약 2.684GB</a:t>
            </a:r>
          </a:p>
          <a:p xmlns:a="http://schemas.openxmlformats.org/drawingml/2006/main">
            <a:r>
              <a:t>전체 KV 예산 = 3GB</a:t>
            </a:r>
          </a:p>
          <a:p xmlns:a="http://schemas.openxmlformats.org/drawingml/2006/main">
            <a:r>
              <a:t>```</a:t>
            </a:r>
          </a:p>
          <a:p xmlns:a="http://schemas.openxmlformats.org/drawingml/2006/main">
            <a:r>
              <a:t/>
            </a:r>
          </a:p>
          <a:p xmlns:a="http://schemas.openxmlformats.org/drawingml/2006/main">
            <a:r>
              <a:t>8k는 입력과 생성 및 multimodal token을 합친 session별 cache 양이다. 두 session은 S2S와 semantic 역할의 계산 예시다. 기능별 producer의 별도 KV, 보류된 session, 재사용 Context와 보조 모델 KV가 있으면 모두 같은 3GB에 포함한다. C의 producer 여섯 개를 무료로 두지 않는다. 가중치를 역할마다 복제하지 않으며, 공통 총 KV 예산 안에서 실제 session 운영과 교환 비용을 대안의 차이로 남긴다.</a:t>
            </a:r>
          </a:p>
          <a:p xmlns:a="http://schemas.openxmlformats.org/drawingml/2006/main">
            <a:r>
              <a:t/>
            </a:r>
          </a:p>
          <a:p xmlns:a="http://schemas.openxmlformats.org/drawingml/2006/main">
            <a:r>
              <a:t>2880 × 1800 BGRA 화면 32개의 원시 buffer는 약 0.664GB다. 16kHz mono 16bit 음성 10분은 0.0192GB다. source 읽기 buffer 0.128GB, UI 및 structured 상태 0.064GB와 index metadata 0.064GB를 더하면 약 0.939GB다. 이 retained 입력량을 메모리 시험 조건으로 고정하고 전체 1GB 예산과 대조한다. capture 간격이나 원본 삭제 정책을 이번 문서에서 Architecture 선택으로 확정하지 않는다. 추가 파생 tensor는 workspace, 영속 자료는 storage이며 실제 상주 page는 메모리 합계에 포함한다.</a:t>
            </a:r>
          </a:p>
          <a:p xmlns:a="http://schemas.openxmlformats.org/drawingml/2006/main">
            <a:r>
              <a:t/>
            </a:r>
          </a:p>
          <a:p xmlns:a="http://schemas.openxmlformats.org/drawingml/2006/main">
            <a:r>
              <a:t>실행 공간 3GB와 staging 1GB는 아직 측정되지 않은 할당 상한이다. 런타임의 allocation trace로 검증할 항목이며 공개 논문이 정한 VIA 필요량은 아니다. 정적 산술만으로 모든 10B Omni 구성이 16GB에 들어간다고 단정할 수 없다.</a:t>
            </a:r>
          </a:p>
          <a:p xmlns:a="http://schemas.openxmlformats.org/drawingml/2006/main">
            <a:r>
              <a:t/>
            </a:r>
          </a:p>
          <a:p xmlns:a="http://schemas.openxmlformats.org/drawingml/2006/main">
            <a:r>
              <a:t>### 9.3 RAM과 VRAM의 구별</a:t>
            </a:r>
          </a:p>
          <a:p xmlns:a="http://schemas.openxmlformats.org/drawingml/2006/main">
            <a:r>
              <a:t/>
            </a:r>
          </a:p>
          <a:p xmlns:a="http://schemas.openxmlformats.org/drawingml/2006/main">
            <a:r>
              <a:t>RAM과 VRAM은 서로 바꿔 쓸 수 없는 용량이다. 전체 합계 16GB 통과와 별개로 실제 장치의 RAM 및 전용 VRAM 한도를 충족해야 실행 가능한 구성이다. VRAM 8GB에 전체 모델과 KV가 들어간다고 가정하지 않는다. device capacity는 새로운 QA 목표가 아닌 시험 장치의 물리 조건이다.</a:t>
            </a:r>
          </a:p>
          <a:p xmlns:a="http://schemas.openxmlformats.org/drawingml/2006/main">
            <a:r>
              <a:t/>
            </a:r>
          </a:p>
          <a:p xmlns:a="http://schemas.openxmlformats.org/drawingml/2006/main">
            <a:r>
              <a:t>배치 산술의 한 예는 가중치 RAM 4GB / VRAM 4GB, KV RAM 2GB / VRAM 1GB, workspace RAM 1GB / VRAM 2GB, buffer RAM 1GB, staging RAM 1GB다. 이 경우 RAM 9GB와 VRAM 7GB로 합계 16GB다. 이 표는 실제 offload 구성을 선택한 결과가 아니다. 실제 모델이 이러한 분할을 허용하는지와 CPU 처리 및 전송이 V-04/05를 만족하는지는 반드시 같이 검증해야 한다. 메모리만 통과하고 응답이 느리면 품질 목표 전체를 달성하지 못한다.</a:t>
            </a:r>
          </a:p>
          <a:p xmlns:a="http://schemas.openxmlformats.org/drawingml/2006/main">
            <a:r>
              <a:t/>
            </a:r>
          </a:p>
          <a:p xmlns:a="http://schemas.openxmlformats.org/drawingml/2006/main">
            <a:r>
              <a:t>### 9.4 상시 동작 측정</a:t>
            </a:r>
          </a:p>
          <a:p xmlns:a="http://schemas.openxmlformats.org/drawingml/2006/main">
            <a:r>
              <a:t/>
            </a:r>
          </a:p>
          <a:p xmlns:a="http://schemas.openxmlformats.org/drawingml/2006/main">
            <a:r>
              <a:t>```text</a:t>
            </a:r>
          </a:p>
          <a:p xmlns:a="http://schemas.openxmlformats.org/drawingml/2006/main">
            <a:r>
              <a:t>M(t) = VIA 소유 CPU 고유 상주 물리 bytes</a:t>
            </a:r>
          </a:p>
          <a:p xmlns:a="http://schemas.openxmlformats.org/drawingml/2006/main">
            <a:r>
              <a:t>     + VIA 소유 전용 GPU 물리 bytes</a:t>
            </a:r>
          </a:p>
          <a:p xmlns:a="http://schemas.openxmlformats.org/drawingml/2006/main">
            <a:r>
              <a:t>     + 위 항목에 포함되지 않은 pinned 또는 공유 물리 bytes</a:t>
            </a:r>
          </a:p>
          <a:p xmlns:a="http://schemas.openxmlformats.org/drawingml/2006/main">
            <a:r>
              <a:t>최대 전체 메모리 = 모든 세션에서 관측한 max M(t) / 10^9</a:t>
            </a:r>
          </a:p>
          <a:p xmlns:a="http://schemas.openxmlformats.org/drawingml/2006/main">
            <a:r>
              <a:t>```</a:t>
            </a:r>
          </a:p>
          <a:p xmlns:a="http://schemas.openxmlformats.org/drawingml/2006/main">
            <a:r>
              <a:t/>
            </a:r>
          </a:p>
          <a:p xmlns:a="http://schemas.openxmlformats.org/drawingml/2006/main">
            <a:r>
              <a:t>VIA process tree, shared model runtime과 모든 helper를 포함한다. CPU와 GPU에 실제 복제본이 둘이면 둘 다 센다. 같은 RAM page의 여러 mapping은 한 번만 센다. GPU shared system memory가 이미 RAM에 잡히면 다시 더하지 않는다. 논리 virtual size나 모든 process private working set의 단순 합계로 대체하지 않는다.</a:t>
            </a:r>
          </a:p>
          <a:p xmlns:a="http://schemas.openxmlformats.org/drawingml/2006/main">
            <a:r>
              <a:t/>
            </a:r>
          </a:p>
          <a:p xmlns:a="http://schemas.openxmlformats.org/drawingml/2006/main">
            <a:r>
              <a:t>각 8시간 세션은 30분 cold startup과 안정화, 60분 idle background, 300분 반복 요청 및 정정, 60분 입력과 외부 event가 겹치는 burst, 마지막 30분 회수 관측으로 구성한다. 300분 동안 30초마다 사용자 목표 하나를 제출하고 실제 진행 중인 Task를 유지한다. burst에서는 5초마다 입력 또는 외부 event를 공급한다. 과부하 대기와 누락도 남긴다. startup은 안정화 시간 뒤 최대값에서 빼지 않는다.</a:t>
            </a:r>
          </a:p>
          <a:p xmlns:a="http://schemas.openxmlformats.org/drawingml/2006/main">
            <a:r>
              <a:t/>
            </a:r>
          </a:p>
          <a:p xmlns:a="http://schemas.openxmlformats.org/drawingml/2006/main">
            <a:r>
              <a:t>100ms 주기 OS process 및 GPU 계측과 allocation high-water mark를 함께 사용한다. 짧은 peak를 polling이 놓칠 수 있다는 한계를 명시한다. 3개 세션 전체 최댓값을 목표와 비교한다. idle 평균과 최댓값, 첫 요청 peak, 정상 반복 peak, burst 및 loading peak, 종료 전후 retained bytes를 진단으로 공개한다. idle에 모델을 내리고 요청 때 올리는 안은 loading 시간과 복제 peak를 함께 부담한다. 장시간 leak과 무제한 Context 증가는 마지막 구간과 반복 cycle별 잔류량으로 확인한다. 별도 idle 수치 목표를 추가하지 않는다.</a:t>
            </a:r>
          </a:p>
          <a:p xmlns:a="http://schemas.openxmlformats.org/drawingml/2006/main">
            <a:r>
              <a:t/>
            </a:r>
          </a:p>
          <a:p xmlns:a="http://schemas.openxmlformats.org/drawingml/2006/main">
            <a:r>
              <a:t>## 10. V-07 복구 용이성</a:t>
            </a:r>
          </a:p>
          <a:p xmlns:a="http://schemas.openxmlformats.org/drawingml/2006/main">
            <a:r>
              <a:t/>
            </a:r>
          </a:p>
          <a:p xmlns:a="http://schemas.openxmlformats.org/drawingml/2006/main">
            <a:r>
              <a:t>**설명:** 장애 후 올바른 처리를 빠르게 재개해야 한다.</a:t>
            </a:r>
          </a:p>
          <a:p xmlns:a="http://schemas.openxmlformats.org/drawingml/2006/main">
            <a:r>
              <a:t/>
            </a:r>
          </a:p>
          <a:p xmlns:a="http://schemas.openxmlformats.org/drawingml/2006/main">
            <a:r>
              <a:t>**단일 목표:** 평균 복구시간 10초 이하.</a:t>
            </a:r>
          </a:p>
          <a:p xmlns:a="http://schemas.openxmlformats.org/drawingml/2006/main">
            <a:r>
              <a:t/>
            </a:r>
          </a:p>
          <a:p xmlns:a="http://schemas.openxmlformats.org/drawingml/2006/main">
            <a:r>
              <a:t>Nielsen의 10초 기준을 장애 뒤 대기 예산으로 선택한다 [S04]. Microreboot는 상태와 실행의 분리가 작은 단위 복구를 돕는 구조적 근거다 [S08]. 모델 cold loading을 포함한 VIA의 10초 실측 결과를 제공하는 출처는 아니다. 설계 예산의 예시는 탐지 1초, 재시작과 loading 6초, 상태 및 외부 사실 대조 2초, 정상 probe 1초다. 각 단계값은 제안 배분이며 별도 목표가 아니다.</a:t>
            </a:r>
          </a:p>
          <a:p xmlns:a="http://schemas.openxmlformats.org/drawingml/2006/main">
            <a:r>
              <a:t/>
            </a:r>
          </a:p>
          <a:p xmlns:a="http://schemas.openxmlformats.org/drawingml/2006/main">
            <a:r>
              <a:t>| ID | 주입 장애 | 정상 복구 확인 |</a:t>
            </a:r>
          </a:p>
          <a:p xmlns:a="http://schemas.openxmlformats.org/drawingml/2006/main">
            <a:r>
              <a:t>| --- | --- | --- |</a:t>
            </a:r>
          </a:p>
          <a:p xmlns:a="http://schemas.openxmlformats.org/drawingml/2006/main">
            <a:r>
              <a:t>| F01 | 음성 입력 worker 종료 | 새 음성 입력을 손실 없이 받고 새 요청 처리 |</a:t>
            </a:r>
          </a:p>
          <a:p xmlns:a="http://schemas.openxmlformats.org/drawingml/2006/main">
            <a:r>
              <a:t>| F02 | Omni inference worker 종료 | 같은 모델 inventory 복원 후 유효 추론과 전달 |</a:t>
            </a:r>
          </a:p>
          <a:p xmlns:a="http://schemas.openxmlformats.org/drawingml/2006/main">
            <a:r>
              <a:t>| F03 | model/runtime 오류 반환 | 제한된 재시도 또는 정직한 실패 처리 후 새 요청 정상 실행 |</a:t>
            </a:r>
          </a:p>
          <a:p xmlns:a="http://schemas.openxmlformats.org/drawingml/2006/main">
            <a:r>
              <a:t>| F04 | Context 조회 worker 중단 | 유효 근거 조회와 새 요청 처리, stale 사용 없음 |</a:t>
            </a:r>
          </a:p>
          <a:p xmlns:a="http://schemas.openxmlformats.org/drawingml/2006/main">
            <a:r>
              <a:t>| F05 | 대화 상태 owner process 종료 | 실제 제시 질문 및 Request 복원과 새 입력 처리 |</a:t>
            </a:r>
          </a:p>
          <a:p xmlns:a="http://schemas.openxmlformats.org/drawingml/2006/main">
            <a:r>
              <a:t>| F06 | 업무 상태 owner process 종료 | Task와 command 복원 및 외부 사실 대조 |</a:t>
            </a:r>
          </a:p>
          <a:p xmlns:a="http://schemas.openxmlformats.org/drawingml/2006/main">
            <a:r>
              <a:t>| F07 | Agent gateway 연결 끊김 | 재연결과 현재 상태 확인, 외부 접수 중복 없음 |</a:t>
            </a:r>
          </a:p>
          <a:p xmlns:a="http://schemas.openxmlformats.org/drawingml/2006/main">
            <a:r>
              <a:t>| F08 | 로컬 저장 일시 실패 | 완료되지 않은 변경을 확정으로 표시하지 않고 정상 write 재개 |</a:t>
            </a:r>
          </a:p>
          <a:p xmlns:a="http://schemas.openxmlformats.org/drawingml/2006/main">
            <a:r>
              <a:t>| F09 | 명령 전송 후 receipt 유실 | 같은 명령 ID의 외부 사실 확인, 실행 재발행 없음 |</a:t>
            </a:r>
          </a:p>
          <a:p xmlns:a="http://schemas.openxmlformats.org/drawingml/2006/main">
            <a:r>
              <a:t>| F10 | 외부 중복 또는 역순 결과 | 올바른 revision의 상태와 전달 유지 |</a:t>
            </a:r>
          </a:p>
          <a:p xmlns:a="http://schemas.openxmlformats.org/drawingml/2006/main">
            <a:r>
              <a:t>| F11 | 출력 worker 종료 | 확인된 실제 전달 범위 복원, 누락 결과 정상 전달 |</a:t>
            </a:r>
          </a:p>
          <a:p xmlns:a="http://schemas.openxmlformats.org/drawingml/2006/main">
            <a:r>
              <a:t>| F12 | 삭제 또는 철회 도중 재시작 | 새 epoch의 사용 fence 유지 후 허용 요청 정상 처리 |</a:t>
            </a:r>
          </a:p>
          <a:p xmlns:a="http://schemas.openxmlformats.org/drawingml/2006/main">
            <a:r>
              <a:t/>
            </a:r>
          </a:p>
          <a:p xmlns:a="http://schemas.openxmlformats.org/drawingml/2006/main">
            <a:r>
              <a:t>장애는 처리 시작, 채택 또는 접수 경계, 전달 또는 복원 경계의 세 지점에서 각각 4회 주입한다. 지점은 각 장애에 맞게 정확한 event ID로 manifest에 지정한다. 총 144회다. 42에서는 동일 논리 owner가 속한 실제 process에 fault를 주입하여 A의 통합 경계와 B의 독립 경계 차이를 보존한다. B에만 외부 Agent 생존을 주거나 A의 내구 저장을 제거하지 않는다.</a:t>
            </a:r>
          </a:p>
          <a:p xmlns:a="http://schemas.openxmlformats.org/drawingml/2006/main">
            <a:r>
              <a:t/>
            </a:r>
          </a:p>
          <a:p xmlns:a="http://schemas.openxmlformats.org/drawingml/2006/main">
            <a:r>
              <a:t>일시 unavailable 의존성은 fault 후 0.2초에 같은 simulator가 다시 제공한다. model worker 종료 시에는 같은 weights의 실제 재로딩을 포함한다. 외부 업무 자체가 계속 진행 중이면 완료를 강제하지 않고 사실을 정확히 확인한 상태에서 VIA의 다음 요청과 조회가 정상 동작하는지 검사한다. 지속적인 외부 outage는 별도 보류 시험으로 표시한다.</a:t>
            </a:r>
          </a:p>
          <a:p xmlns:a="http://schemas.openxmlformats.org/drawingml/2006/main">
            <a:r>
              <a:t/>
            </a:r>
          </a:p>
          <a:p xmlns:a="http://schemas.openxmlformats.org/drawingml/2006/main">
            <a:r>
              <a:t>RECOVERED는 유효 입력 처리, 정확한 durable 및 외부 상태 대조, 허용된 다음 처리 probe와 실제 전달을 모두 만족한 상태다. 프로세스만 살아 있거나 '확인 중'만 출력한 DEGRADED/PENDING은 정상 복구가 아니다. 업무가 원래 외부 결과 대기 중이라면 정확한 대기를 유지하면서 새 VIA 요청을 처리하는 것이 그 사례의 정상 상태다. 미확인 외부 실행을 완료 또는 취소로 꾸미지 않는다.</a:t>
            </a:r>
          </a:p>
          <a:p xmlns:a="http://schemas.openxmlformats.org/drawingml/2006/main">
            <a:r>
              <a:t/>
            </a:r>
          </a:p>
          <a:p xmlns:a="http://schemas.openxmlformats.org/drawingml/2006/main">
            <a:r>
              <a:t>```text</a:t>
            </a:r>
          </a:p>
          <a:p xmlns:a="http://schemas.openxmlformats.org/drawingml/2006/main">
            <a:r>
              <a:t>r(i) = 정상 복구 probe의 실제 완료 시각 - fault 실제 주입 시각</a:t>
            </a:r>
          </a:p>
          <a:p xmlns:a="http://schemas.openxmlformats.org/drawingml/2006/main">
            <a:r>
              <a:t>평균 복구시간 = Σ r(i) / 144</a:t>
            </a:r>
          </a:p>
          <a:p xmlns:a="http://schemas.openxmlformats.org/drawingml/2006/main">
            <a:r>
              <a:t>```</a:t>
            </a:r>
          </a:p>
          <a:p xmlns:a="http://schemas.openxmlformats.org/drawingml/2006/main">
            <a:r>
              <a:t/>
            </a:r>
          </a:p>
          <a:p xmlns:a="http://schemas.openxmlformats.org/drawingml/2006/main">
            <a:r>
              <a:t>미복구에는 §2.5의 관측시간과 표식을 기록하고 정상 복구 endpoint가 없으면 충족 판정을 보류한다. 전체 평균 외에 장애별 평균과 복구 단계 및 미복구 목록을 공개한다. 부분 복구 시간을 정상 복구시간으로 바꾸지 않는다.</a:t>
            </a:r>
          </a:p>
          <a:p xmlns:a="http://schemas.openxmlformats.org/drawingml/2006/main">
            <a:r>
              <a:t/>
            </a:r>
          </a:p>
          <a:p xmlns:a="http://schemas.openxmlformats.org/drawingml/2006/main">
            <a:r>
              <a:t>## 11. V-09 분석 용이성</a:t>
            </a:r>
          </a:p>
          <a:p xmlns:a="http://schemas.openxmlformats.org/drawingml/2006/main">
            <a:r>
              <a:t/>
            </a:r>
          </a:p>
          <a:p xmlns:a="http://schemas.openxmlformats.org/drawingml/2006/main">
            <a:r>
              <a:t>**설명:** 실행 기록으로 처리 경위를 쉽게 확인할 수 있어야 한다.</a:t>
            </a:r>
          </a:p>
          <a:p xmlns:a="http://schemas.openxmlformats.org/drawingml/2006/main">
            <a:r>
              <a:t/>
            </a:r>
          </a:p>
          <a:p xmlns:a="http://schemas.openxmlformats.org/drawingml/2006/main">
            <a:r>
              <a:t>**단일 목표:** 처리 경위 확인율 100%.</a:t>
            </a:r>
          </a:p>
          <a:p xmlns:a="http://schemas.openxmlformats.org/drawingml/2006/main">
            <a:r>
              <a:t/>
            </a:r>
          </a:p>
          <a:p xmlns:a="http://schemas.openxmlformats.org/drawingml/2006/main">
            <a:r>
              <a:t>연구 조직은 정상 실행도 개선의 근거로 사용하므로 모든 시험의 처리 경위를 확인하는 계약 목표를 둔다. OpenTelemetry의 always_on 설정은 전수 수집의 수단이다 [S09]. trace가 있다는 사실만으로 분석이 쉽다고 결론 내리지 않는다.</a:t>
            </a:r>
          </a:p>
          <a:p xmlns:a="http://schemas.openxmlformats.org/drawingml/2006/main">
            <a:r>
              <a:t/>
            </a:r>
          </a:p>
          <a:p xmlns:a="http://schemas.openxmlformats.org/drawingml/2006/main">
            <a:r>
              <a:t>분모는 독립 harness registry의 전체 고유 trial ID다. 기능 1,880회와 해당 DP 집중 96회, 장애 144회, 금지 및 허용 보안 시험 288회를 포함한다. 같은 실행을 여러 집계에서 다시 분석하면 ID로 한 번만 센다. 메모리 세션 안의 모든 사용자 요청도 registry에 등록한다. 로그가 없는 시험을 분모에서 빼지 않는다.</a:t>
            </a:r>
          </a:p>
          <a:p xmlns:a="http://schemas.openxmlformats.org/drawingml/2006/main">
            <a:r>
              <a:t/>
            </a:r>
          </a:p>
          <a:p xmlns:a="http://schemas.openxmlformats.org/drawingml/2006/main">
            <a:r>
              <a:t>| 질문 | 확인해야 할 정답 |</a:t>
            </a:r>
          </a:p>
          <a:p xmlns:a="http://schemas.openxmlformats.org/drawingml/2006/main">
            <a:r>
              <a:t>| --- | --- |</a:t>
            </a:r>
          </a:p>
          <a:p xmlns:a="http://schemas.openxmlformats.org/drawingml/2006/main">
            <a:r>
              <a:t>| 입력 연결 | 어떤 입력이 어느 Request와 Task로 연결되었는가 |</a:t>
            </a:r>
          </a:p>
          <a:p xmlns:a="http://schemas.openxmlformats.org/drawingml/2006/main">
            <a:r>
              <a:t>| 사용 근거 | 어떤 source와 revision 및 권한으로 의미를 만들고 채택했는가 |</a:t>
            </a:r>
          </a:p>
          <a:p xmlns:a="http://schemas.openxmlformats.org/drawingml/2006/main">
            <a:r>
              <a:t>| 처리 변화 | 어떤 명령 또는 사실이 어느 상태 변화로 이어졌는가 |</a:t>
            </a:r>
          </a:p>
          <a:p xmlns:a="http://schemas.openxmlformats.org/drawingml/2006/main">
            <a:r>
              <a:t>| 실제 전달 | 무엇을 어떤 대화에 실제 표시하거나 재생했는가 |</a:t>
            </a:r>
          </a:p>
          <a:p xmlns:a="http://schemas.openxmlformats.org/drawingml/2006/main">
            <a:r>
              <a:t>| 분기 이유 | 정상 처리의 승인 근거 또는 최초 오류와 보류의 확인된 경계는 무엇인가 |</a:t>
            </a:r>
          </a:p>
          <a:p xmlns:a="http://schemas.openxmlformats.org/drawingml/2006/main">
            <a:r>
              <a:t/>
            </a:r>
          </a:p>
          <a:p xmlns:a="http://schemas.openxmlformats.org/drawingml/2006/main">
            <a:r>
              <a:t>후보를 가린 독립 SW 분석자에게 로그, schema와 기본 조회 도구만 제공한다. 평가 구현 코드를 수정하거나 정답 manifest를 열어볼 수 없다. 동일 사건 구조의 연습 자료로 사전 교육하고 각 trial에 고정 **5분의 분석 세션**을 배정한다. 이는 분석 난이도를 제한하는 공통 시험 조건이며 별도 QA 목표가 아니다. 무제한 시간을 들여 겨우 복원한 실행을 같은 확인율로 세지 않는다.</a:t>
            </a:r>
          </a:p>
          <a:p xmlns:a="http://schemas.openxmlformats.org/drawingml/2006/main">
            <a:r>
              <a:t/>
            </a:r>
          </a:p>
          <a:p xmlns:a="http://schemas.openxmlformats.org/drawingml/2006/main">
            <a:r>
              <a:t>분석자는 위 다섯 답을 먼저 제출하고 독립 oracle이 적용 가능한 답 전체를 대조한다. 정상 실행은 채택 근거와 정확한 연결을, 오류 실행은 최초 잘못된 boundary와 그 이후의 영향을 확인해야 한다. '어딘가 모델 오류' 같은 추측은 충분하지 않다. 모델 내부 사고 과정은 요구하지 않으며 structured proposal과 사용 근거 및 adoption 기록에서 관측 가능한 사실까지만 설명한다. 검토자 의견이 다르면 두 번째 분석자가 판정하고 처음 결과 및 분석시간을 보존한다.</a:t>
            </a:r>
          </a:p>
          <a:p xmlns:a="http://schemas.openxmlformats.org/drawingml/2006/main">
            <a:r>
              <a:t/>
            </a:r>
          </a:p>
          <a:p xmlns:a="http://schemas.openxmlformats.org/drawingml/2006/main">
            <a:r>
              <a:t>```text</a:t>
            </a:r>
          </a:p>
          <a:p xmlns:a="http://schemas.openxmlformats.org/drawingml/2006/main">
            <a:r>
              <a:t>처리 경위 확인율 = 100 × 필수 답 전체를 맞힌 trial 수 / registry의 전체 고유 trial 수</a:t>
            </a:r>
          </a:p>
          <a:p xmlns:a="http://schemas.openxmlformats.org/drawingml/2006/main">
            <a:r>
              <a:t>```</a:t>
            </a:r>
          </a:p>
          <a:p xmlns:a="http://schemas.openxmlformats.org/drawingml/2006/main">
            <a:r>
              <a:t/>
            </a:r>
          </a:p>
          <a:p xmlns:a="http://schemas.openxmlformats.org/drawingml/2006/main">
            <a:r>
              <a:t>input, Request, Task, command, receipt, publication ID와 source revision, model 및 prompt version, permission epoch, adoption 결정과 fault ID를 연결한다. 자동 link 검사만 통과하고 분석자가 잘못 답한 trial은 실패다. 정상과 오류를 무작위로 섞고 logger crash, flush 실패와 clock 불일치도 확인한다.</a:t>
            </a:r>
          </a:p>
          <a:p xmlns:a="http://schemas.openxmlformats.org/drawingml/2006/main">
            <a:r>
              <a:t/>
            </a:r>
          </a:p>
          <a:p xmlns:a="http://schemas.openxmlformats.org/drawingml/2006/main">
            <a:r>
              <a:t>분석 시점은 기능 시험은 종료 후, 재시작 시험은 복원 후, 삭제 시험은 삭제 완료 후로 manifest에 정한다. 삭제 시험의 질문은 금지된 원문 내용의 재현이 아니라 어떤 ID와 epoch의 접근을 차단했는지다. 생산 로그에는 허용 metadata를 남기고 삭제한 원문, digest 또는 Context를 디버깅 이유로 복원하지 않는다. 정답 원문이 필요한 synthetic 시험 oracle은 평가자가 별도 관리하며 VIA가 그 원문을 재사용하는 통로가 될 수 없다.</a:t>
            </a:r>
          </a:p>
          <a:p xmlns:a="http://schemas.openxmlformats.org/drawingml/2006/main">
            <a:r>
              <a:t/>
            </a:r>
          </a:p>
          <a:p xmlns:a="http://schemas.openxmlformats.org/drawingml/2006/main">
            <a:r>
              <a:t>연구 aggregate는 오류 경계, 근거 누락, 정정 유형, 모델 버전과 시간 및 개입 수를 연결해 개선에 사용한다. 원문 음성, 화면과 개인정보 전체를 수집하는 요구가 아니다. production 수집의 동의와 보존 범위는 별도 정책 계약이며 전수 synthetic 평가를 무조건 production 수집 정책으로 확대하지 않는다.</a:t>
            </a:r>
          </a:p>
          <a:p xmlns:a="http://schemas.openxmlformats.org/drawingml/2006/main">
            <a:r>
              <a:t/>
            </a:r>
          </a:p>
          <a:p xmlns:a="http://schemas.openxmlformats.org/drawingml/2006/main">
            <a:r>
              <a:t>## 12. V-10 기밀성</a:t>
            </a:r>
          </a:p>
          <a:p xmlns:a="http://schemas.openxmlformats.org/drawingml/2006/main">
            <a:r>
              <a:t/>
            </a:r>
          </a:p>
          <a:p xmlns:a="http://schemas.openxmlformats.org/drawingml/2006/main">
            <a:r>
              <a:t>**설명:** 사용자 정보는 허용된 범위 안에서만 사용해야 한다.</a:t>
            </a:r>
          </a:p>
          <a:p xmlns:a="http://schemas.openxmlformats.org/drawingml/2006/main">
            <a:r>
              <a:t/>
            </a:r>
          </a:p>
          <a:p xmlns:a="http://schemas.openxmlformats.org/drawingml/2006/main">
            <a:r>
              <a:t>**단일 목표:** 무단 정보 사용 0건.</a:t>
            </a:r>
          </a:p>
          <a:p xmlns:a="http://schemas.openxmlformats.org/drawingml/2006/main">
            <a:r>
              <a:t/>
            </a:r>
          </a:p>
          <a:p xmlns:a="http://schemas.openxmlformats.org/drawingml/2006/main">
            <a:r>
              <a:t>NIST SP 800-53의 AC-3 승인 접근 집행과 AC-6 최소 권한 및 VIA의 권한 계약에 따라 금지 사건 예산을 0건으로 정한다 [S00, S10]. 유한 시험의 0건은 모든 공격의 부재나 NIST 인증을 뜻하지 않는다.</a:t>
            </a:r>
          </a:p>
          <a:p xmlns:a="http://schemas.openxmlformats.org/drawingml/2006/main">
            <a:r>
              <a:t/>
            </a:r>
          </a:p>
          <a:p xmlns:a="http://schemas.openxmlformats.org/drawingml/2006/main">
            <a:r>
              <a:t>| ID | 금지 상황 | 실제 관측 지점 |</a:t>
            </a:r>
          </a:p>
          <a:p xmlns:a="http://schemas.openxmlformats.org/drawingml/2006/main">
            <a:r>
              <a:t>| --- | --- | --- |</a:t>
            </a:r>
          </a:p>
          <a:p xmlns:a="http://schemas.openxmlformats.org/drawingml/2006/main">
            <a:r>
              <a:t>| S01 | 화면 권한이 없는 앱을 읽음 | capture API, retained buffer, model 입력 |</a:t>
            </a:r>
          </a:p>
          <a:p xmlns:a="http://schemas.openxmlformats.org/drawingml/2006/main">
            <a:r>
              <a:t>| S02 | 허용 파일 범위 밖 문서 읽음 | file read, source query, Context |</a:t>
            </a:r>
          </a:p>
          <a:p xmlns:a="http://schemas.openxmlformats.org/drawingml/2006/main">
            <a:r>
              <a:t>| S03 | 승인한 Agent와 다른 수신자에게 전달 | 최종 serialised payload와 network send |</a:t>
            </a:r>
          </a:p>
          <a:p xmlns:a="http://schemas.openxmlformats.org/drawingml/2006/main">
            <a:r>
              <a:t>| S04 | 읽기 목적을 넘어 다른 요청에 재사용 | 목적 ID, query와 semantic 입력 |</a:t>
            </a:r>
          </a:p>
          <a:p xmlns:a="http://schemas.openxmlformats.org/drawingml/2006/main">
            <a:r>
              <a:t>| S05 | 철회한 권한의 cache 사용 | cache hit, permission epoch와 model 입력 |</a:t>
            </a:r>
          </a:p>
          <a:p xmlns:a="http://schemas.openxmlformats.org/drawingml/2006/main">
            <a:r>
              <a:t>| S06 | 조회 후 전달 전 철회를 무시 | 전달 직전 epoch와 실제 payload |</a:t>
            </a:r>
          </a:p>
          <a:p xmlns:a="http://schemas.openxmlformats.org/drawingml/2006/main">
            <a:r>
              <a:t>| S07 | 다른 Task의 승인 재사용 | Task ID와 approval scope |</a:t>
            </a:r>
          </a:p>
          <a:p xmlns:a="http://schemas.openxmlformats.org/drawingml/2006/main">
            <a:r>
              <a:t>| S08 | 다른 역할 또는 세션 Context 혼입 | session, retained KV와 binding |</a:t>
            </a:r>
          </a:p>
          <a:p xmlns:a="http://schemas.openxmlformats.org/drawingml/2006/main">
            <a:r>
              <a:t>| S09 | 삭제한 원문과 파생 index 검색 | storage read와 retrieval 반환 |</a:t>
            </a:r>
          </a:p>
          <a:p xmlns:a="http://schemas.openxmlformats.org/drawingml/2006/main">
            <a:r>
              <a:t>| S10 | 삭제한 KV 또는 장면 해석 재사용 | session invalidation과 semantic 입력 |</a:t>
            </a:r>
          </a:p>
          <a:p xmlns:a="http://schemas.openxmlformats.org/drawingml/2006/main">
            <a:r>
              <a:t>| S11 | 삭제 중 늦은 write와 재시작 복원 | commit epoch, tombstone과 restored record |</a:t>
            </a:r>
          </a:p>
          <a:p xmlns:a="http://schemas.openxmlformats.org/drawingml/2006/main">
            <a:r>
              <a:t>| S12 | 화면 또는 음성 및 문서 비밀값을 로그로 노출 | local trace와 연구 수집 sink |</a:t>
            </a:r>
          </a:p>
          <a:p xmlns:a="http://schemas.openxmlformats.org/drawingml/2006/main">
            <a:r>
              <a:t/>
            </a:r>
          </a:p>
          <a:p xmlns:a="http://schemas.openxmlformats.org/drawingml/2006/main">
            <a:r>
              <a:t>각 사례를 고정 금지 정책, 처리 중 정책 변경, 재시작 후 복원의 세 조건에서 4회 수행하여 144회다. 동일 구조의 명확한 허용 요청 144회도 별도로 실행한다. 허용 대조군에서 기능을 수행하지 않으면 모든 접근을 막아 만든 0건으로 통과를 주장할 수 없다.</a:t>
            </a:r>
          </a:p>
          <a:p xmlns:a="http://schemas.openxmlformats.org/drawingml/2006/main">
            <a:r>
              <a:t/>
            </a:r>
          </a:p>
          <a:p xmlns:a="http://schemas.openxmlformats.org/drawingml/2006/main">
            <a:r>
              <a:t>Prompt injection은 각 입력면에 포함한다. 화면이나 문서가 권한을 무시하라고 지시하는 경우, Agent 결과가 수신자를 바꾸라는 경우, 과거 기억이 다른 목적의 비밀을 요청에 삽입하는 경우를 구성한다. 외부 문서 내용이 실제 사용자의 승인이라는 오인을 시험한다. 정책 변경은 read 시작 전, read 이후 adoption 전, 최종 전달 직전의 명시적인 event gate에서 발생시킨다. 정상 대조군에는 같은 지점의 유효한 승인을 유지한다.</a:t>
            </a:r>
          </a:p>
          <a:p xmlns:a="http://schemas.openxmlformats.org/drawingml/2006/main">
            <a:r>
              <a:t/>
            </a:r>
          </a:p>
          <a:p xmlns:a="http://schemas.openxmlformats.org/drawingml/2006/main">
            <a:r>
              <a:t>고유 synthetic canary를 넣고 실제 read, model 입력, store, Agent 전송과 로그 sink에서 관측한다. KV는 메모리 안의 canary 문자열 검색만으로 검사하지 않는다. 삭제 epoch에서 해당 session 및 KV handle의 invalidation과 재사용 금지, 삭제 후 canary 질의 결과를 함께 확인한다. 모델이 canary를 말하지 않았다는 사실 하나로 latent 기억 제거를 증명하지 않는다.</a:t>
            </a:r>
          </a:p>
          <a:p xmlns:a="http://schemas.openxmlformats.org/drawingml/2006/main">
            <a:r>
              <a:t/>
            </a:r>
          </a:p>
          <a:p xmlns:a="http://schemas.openxmlformats.org/drawingml/2006/main">
            <a:r>
              <a:t>권한은 실행 및 전달 시점의 epoch로 oracle이 판정한다. 한 무단 사건이 여러 지점에서 관측되면 event ID로 중복 제거하고 원본 evidence는 보존한다. 측정 지점이 누락된 시험은 실행 확인 불가이며 0건 결과로 채울 수 없다.</a:t>
            </a:r>
          </a:p>
          <a:p xmlns:a="http://schemas.openxmlformats.org/drawingml/2006/main">
            <a:r>
              <a:t/>
            </a:r>
          </a:p>
          <a:p xmlns:a="http://schemas.openxmlformats.org/drawingml/2006/main">
            <a:r>
              <a:t>적법한 Agent Context 전달은 허용된다. 철회 전에 외부 Agent에게 적법하게 전송한 모든 복제본을 VIA가 회수할 수 있다고 가정하지 않는다. VIA가 통제하는 후속 사용과 재전달을 검사하고 외부 보존 책임은 공개한다. native process compromise나 다른 threat surface가 추가되면 시험군을 확장해야 하며 현재 12개 사례가 모든 보안 위협을 포괄한다고 주장하지 않는다.</a:t>
            </a:r>
          </a:p>
          <a:p xmlns:a="http://schemas.openxmlformats.org/drawingml/2006/main">
            <a:r>
              <a:t/>
            </a:r>
          </a:p>
          <a:p xmlns:a="http://schemas.openxmlformats.org/drawingml/2006/main">
            <a:r>
              <a:t>## 13. DP와 품질 시험의 연결</a:t>
            </a:r>
          </a:p>
          <a:p xmlns:a="http://schemas.openxmlformats.org/drawingml/2006/main">
            <a:r>
              <a:t/>
            </a:r>
          </a:p>
          <a:p xmlns:a="http://schemas.openxmlformats.org/drawingml/2006/main">
            <a:r>
              <a:t>[41](../../architecture/12-decisions/decision-packages/04-41-request-resolution-control.md), [42](../../architecture/12-decisions/decision-packages/04-42-lifecycle-ownership.md), [43](../../architecture/12-decisions/decision-packages/04-43-request-interpretation.md), [44](../../architecture/12-decisions/decision-packages/04-44-continuous-interaction.md), [45](../../architecture/12-decisions/decision-packages/04-45-memory-and-context.md)의 현재 실제 구조를 유지한다. 아래는 품질에 대한 **검증 경로**이며 중요 DP 선정, A/B 또는 A/C 승자 판단이 아니다.</a:t>
            </a:r>
          </a:p>
          <a:p xmlns:a="http://schemas.openxmlformats.org/drawingml/2006/main">
            <a:r>
              <a:t/>
            </a:r>
          </a:p>
          <a:p xmlns:a="http://schemas.openxmlformats.org/drawingml/2006/main">
            <a:r>
              <a:t>| 비교 | 직접 확인할 V | 차이를 드러내는 조건 | 관측과 주장 반증 |</a:t>
            </a:r>
          </a:p>
          <a:p xmlns:a="http://schemas.openxmlformats.org/drawingml/2006/main">
            <a:r>
              <a:t>| --- | --- | --- | --- |</a:t>
            </a:r>
          </a:p>
          <a:p xmlns:a="http://schemas.openxmlformats.org/drawingml/2006/main">
            <a:r>
              <a:t>| 41 모델 주도 / typed frame과 코드 해결 | V-01, V-02, V-03, V-05, V-08 | 지원 관계, 유한 표현 밖 관계, 누락 근거, 정정 및 Task 후보 충돌 | 의미와 채택, 추가 조회 및 질문, 완료시간. B가 추가 질문 없이 표현 밖 관계를 처리한다는 주장은 해당 oracle로 반증 가능 |</a:t>
            </a:r>
          </a:p>
          <a:p xmlns:a="http://schemas.openxmlformats.org/drawingml/2006/main">
            <a:r>
              <a:t>| 42 통합 Core / 독립 대화와 업무 서비스 | V-05, V-07, V-08, V-09 | 정상 질문 답변의 두 상태 확정, 접수 유실, owner 장애와 복원 | 로컬 확정 및 외부 접수, 복구 범위, 영향 요소와 경위 확인. B가 강한 A보다 정상 사용에 유리하다는 주장은 protocol 왕복 비용과 실제 국소성으로 검증 |</a:t>
            </a:r>
          </a:p>
          <a:p xmlns:a="http://schemas.openxmlformats.org/drawingml/2006/main">
            <a:r>
              <a:t>| 43 통합 / F1~F6 기능별 의미 생산 | V-01, V-05, V-08, V-09 | 생산자 간 불일치, source revision 변경, 부분 정정, Task 미확정 | 생산 제안과 재판정 및 공동 adoption. 분리만으로 정확도가 높다는 주장은 동일 oracle의 실패와 추가 호출 비용으로 반증 가능 |</a:t>
            </a:r>
          </a:p>
          <a:p xmlns:a="http://schemas.openxmlformats.org/drawingml/2006/main">
            <a:r>
              <a:t>| 44 중앙 비동기 조정 / 반응형 실행망 | V-04, V-05, V-06, V-07, V-08, V-09 | 현재 발화 중 질문과 결과 도착, 입력 hold, 출력 backpressure 및 stale 반환 | 실제 반응, ready/blocked 시간, buffer peak와 누락. B가 자동으로 빠르다는 주장은 A의 짧은 전이 및 B join 대기로 반증 가능 |</a:t>
            </a:r>
          </a:p>
          <a:p xmlns:a="http://schemas.openxmlformats.org/drawingml/2006/main">
            <a:r>
              <a:t>| 45 원본 서비스 조합 / 공통 파생 기억 | V-01, V-02, V-03, V-05, V-06, V-08, V-09, V-10 | 반복 교차원본 요청, 지원 관계의 미게시 범위, 원본 정정과 삭제, background 생산 경합 | 근거 provenance, 질문, 실제 처리 및 idle/burst 메모리, 금지 사용. B의 이익은 유지와 생산 비용까지 포함해 확인 |</a:t>
            </a:r>
          </a:p>
          <a:p xmlns:a="http://schemas.openxmlformats.org/drawingml/2006/main">
            <a:r>
              <a:t/>
            </a:r>
          </a:p>
          <a:p xmlns:a="http://schemas.openxmlformats.org/drawingml/2006/main">
            <a:r>
              <a:t>표에 없는 V도 시스템 회귀 시험에서 확인한다. 모든 DP가 모든 품질을 개선한다고 설명하지 않는다. 42가 의미 생산 방식을 바꾸지 않는 상태에서 의미 정확성 이익을 자동 부여하거나 45가 원본 Task 상태를 소유한다고 간주하지 않는다. 44에 process 격리 이익을 새로 주지 않는다.</a:t>
            </a:r>
          </a:p>
          <a:p xmlns:a="http://schemas.openxmlformats.org/drawingml/2006/main">
            <a:r>
              <a:t/>
            </a:r>
          </a:p>
          <a:p xmlns:a="http://schemas.openxmlformats.org/drawingml/2006/main">
            <a:r>
              <a:t>집중 시험의 기본 조건은 기준 부하, 중첩 입력과 event, 경계 race의 세 종류다. 각 비교의 구체 8개 상황과 입력 및 oracle은 evaluation-plan.json에 있다. 해당 상황에 적용되는 지점으로 조건을 구체화하고 양안에 동일하게 공급한다. 한 DP를 비교할 때 나머지 구조는 같은 명시 구성으로 유지한다. 주 비교 결과는 차이의 경로를 설명할 때 사용하며 1,880회 기능 회귀를 대체하지 않는다.</a:t>
            </a:r>
          </a:p>
          <a:p xmlns:a="http://schemas.openxmlformats.org/drawingml/2006/main">
            <a:r>
              <a:t/>
            </a:r>
          </a:p>
          <a:p xmlns:a="http://schemas.openxmlformats.org/drawingml/2006/main">
            <a:r>
              <a:t>45의 순수 B는 지원 관계의 미게시 범위만 생산하고 게시 후 읽는다. schema에 없는 관계는 UNSUPPORTED_RELATION이며 반복 생산으로 지원할 수 없다. 원본 fan-out으로 바로 우회하는 B+는 별도 혼합 진단이다. B+의 성공과 비용을 순수 B의 결과에 섞지 않는다. 41에서도 외부 capability 부재와 코드 표현 부재를 분리하며 A에 없는 외부 능력을 부여하지 않는다.</a:t>
            </a:r>
          </a:p>
          <a:p xmlns:a="http://schemas.openxmlformats.org/drawingml/2006/main">
            <a:r>
              <a:t/>
            </a:r>
          </a:p>
          <a:p xmlns:a="http://schemas.openxmlformats.org/drawingml/2006/main">
            <a:r>
              <a:t>정확성, 사용자 수고, 시간, 변경, 메모리와 복구를 가중치 합산으로 숨기지 않는다. 모든 목표와 직접 및 회귀 결과를 함께 제시한다. 숫자가 없는 현재 단계에서는 비용과 반증 조건만 있으며 정량적인 우월성을 주장할 수 없다.</a:t>
            </a:r>
          </a:p>
          <a:p xmlns:a="http://schemas.openxmlformats.org/drawingml/2006/main">
            <a:r>
              <a:t/>
            </a:r>
          </a:p>
          <a:p xmlns:a="http://schemas.openxmlformats.org/drawingml/2006/main">
            <a:r>
              <a:t>## 14. 출처</a:t>
            </a:r>
          </a:p>
          <a:p xmlns:a="http://schemas.openxmlformats.org/drawingml/2006/main">
            <a:r>
              <a:t/>
            </a:r>
          </a:p>
          <a:p xmlns:a="http://schemas.openxmlformats.org/drawingml/2006/main">
            <a:r>
              <a:t>외부 원문 확인일: 2026-10-06. 각 항목의 사실과 목표 선택 및 한계는 위에서 구분했다.</a:t>
            </a:r>
          </a:p>
          <a:p xmlns:a="http://schemas.openxmlformats.org/drawingml/2006/main">
            <a:r>
              <a:t/>
            </a:r>
          </a:p>
          <a:p xmlns:a="http://schemas.openxmlformats.org/drawingml/2006/main">
            <a:r>
              <a:t>| ID | 원문 출처 | 사용한 사실 또는 원칙 |</a:t>
            </a:r>
          </a:p>
          <a:p xmlns:a="http://schemas.openxmlformats.org/drawingml/2006/main">
            <a:r>
              <a:t>| --- | --- | --- |</a:t>
            </a:r>
          </a:p>
          <a:p xmlns:a="http://schemas.openxmlformats.org/drawingml/2006/main">
            <a:r>
              <a:t>| S00 | [VIA 대표 UC](../../architecture/05-representative-use-cases.md), [고정 범위](../../architecture/03-fixed-architecture-scope.md), [V 품질 시나리오](../../architecture/12-decisions/decision-packages/03-00-quality-scenarios.md) | 필수 변형 94개, 책임 경계와 원래 순위 및 정보 사용 계약 |</a:t>
            </a:r>
          </a:p>
          <a:p xmlns:a="http://schemas.openxmlformats.org/drawingml/2006/main">
            <a:r>
              <a:t>| S01 | Nexusflow, [NexusRaven-13B 공식 구현 README](https://github.com/nexusflowai/NexusRaven#introducing-nexusraven-13b) | demonstration retrieval 결합 보안 도구 사용에서 개발팀 보고 성공률 95% |</a:t>
            </a:r>
          </a:p>
          <a:p xmlns:a="http://schemas.openxmlformats.org/drawingml/2006/main">
            <a:r>
              <a:t>| S02 | Yao et al., 2024, [tau-bench](https://arxiv.org/abs/2406.12045) | 대화와 실제 상태를 대조한 전체 시험 성공 판정 |</a:t>
            </a:r>
          </a:p>
          <a:p xmlns:a="http://schemas.openxmlformats.org/drawingml/2006/main">
            <a:r>
              <a:t>| S03 | Cao et al., 2026, [Clarify or Answer](https://arxiv.org/abs/2601.16400) | 필요한 경우 단일 집중 질문을 사용하는 접근, preprint |</a:t>
            </a:r>
          </a:p>
          <a:p xmlns:a="http://schemas.openxmlformats.org/drawingml/2006/main">
            <a:r>
              <a:t>| S04 | Jakob Nielsen, 2019, [The 3 Response Time Limits in Interaction Design](https://www.nngroup.com/videos/3-response-time-limits-interaction-design/) | 0.1초, 1초와 10초 상호작용 시간 기준 |</a:t>
            </a:r>
          </a:p>
          <a:p xmlns:a="http://schemas.openxmlformats.org/drawingml/2006/main">
            <a:r>
              <a:t>| S05 | SEI, 2003, [Deriving Architectural Tactics](https://www.sei.cmu.edu/documents/704/2003_005_001_14213.pdf) | 책임 변경과 변경 전파에 따른 수정 및 시험 비용 |</a:t>
            </a:r>
          </a:p>
          <a:p xmlns:a="http://schemas.openxmlformats.org/drawingml/2006/main">
            <a:r>
              <a:t>| S06 | Samsung, [Galaxy Book6 Ultra NP960UJH-XG3IN 공식 사양](https://www.samsung.com/in/computers/galaxy-book/galaxy-book6-ultra-ultra-7-32gb-1tb-np960ujh-xg3in/) | RAM 32GB, 전용 VRAM 8GB, 화면 2880 × 1800, NVMe 1TB |</a:t>
            </a:r>
          </a:p>
          <a:p xmlns:a="http://schemas.openxmlformats.org/drawingml/2006/main">
            <a:r>
              <a:t>| S07 | Lin et al., [AWQ](https://arxiv.org/abs/2306.00978) | 4bit LLM 양자화와 장치 배포 |</a:t>
            </a:r>
          </a:p>
          <a:p xmlns:a="http://schemas.openxmlformats.org/drawingml/2006/main">
            <a:r>
              <a:t>| S08 | Candea et al., OSDI 2004, [Microreboot](https://www.usenix.org/legacy/events/osdi04/tech/full_papers/candea/candea_html/index.html) | 상태와 실행을 분리한 작은 실행 단위 복구 |</a:t>
            </a:r>
          </a:p>
          <a:p xmlns:a="http://schemas.openxmlformats.org/drawingml/2006/main">
            <a:r>
              <a:t>| S09 | OpenTelemetry, [General SDK Configuration](https://opentelemetry.io/docs/languages/sdk-configuration/general/) | 전수 root trace를 위한 always_on 설정 |</a:t>
            </a:r>
          </a:p>
          <a:p xmlns:a="http://schemas.openxmlformats.org/drawingml/2006/main">
            <a:r>
              <a:t>| S10 | NIST, [SP 800-53 Rev. 5](https://doi.org/10.6028/NIST.SP.800-53r5), AC-3 및 AC-6 | 승인된 접근 집행과 최소 권한 |</a:t>
            </a:r>
          </a:p>
          <a:p xmlns:a="http://schemas.openxmlformats.org/drawingml/2006/main">
            <a:r>
              <a:t>| S11 | Mao et al., [BFCL V3 공식 평가 설명](https://gorilla.cs.berkeley.edu/blogs/13_bfcl_v3_multi_turn.html#evaluation-metrics) | multi-turn의 상태와 응답 검사 및 전체 턴 성공 판정 |</a:t>
            </a:r>
          </a:p>
          <a:p xmlns:a="http://schemas.openxmlformats.org/drawingml/2006/main">
            <a:r>
              <a:t>| S12 | Qwen, [Qwen3-14B config.json](https://huggingface.co/Qwen/Qwen3-14B/blob/main/config.json) | layer 40, KV head 8, head dimension 128과 bfloat16 |</a:t>
            </a:r>
          </a:p>
          <a:p xmlns:a="http://schemas.openxmlformats.org/drawingml/2006/main">
            <a:r>
              <a:t/>
            </a:r>
          </a:p>
          <a:p xmlns:a="http://schemas.openxmlformats.org/drawingml/2006/main">
            <a:r>
              <a:t>기존 [core-asr-contract](../../architecture/08-quality-attributes/core-asr-contract.md)와 [event-boundary-contract](../../architecture/11-measurement/event-boundary-contract.md)는 기존 QA의 계약으로 보존한다. 이번 V의 실제 오답 endpoint와 평균 및 관측 종료 규칙을 해당 QA의 결과로 재명명하지 않는다.</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8a2247c4e745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36b014f46a4901" /><Relationship Type="http://schemas.openxmlformats.org/officeDocument/2006/relationships/slideLayout" Target="/ppt/slideLayouts/slideLayout1.xml" Id="Rf970ea341f424f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70ea341f424f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f4228eda0e44b4" /><Relationship Type="http://schemas.openxmlformats.org/officeDocument/2006/relationships/notesSlide" Target="/ppt/notesSlides/notesSlide1.xml" Id="R1fb72661d40b4e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0cdcae26854b0a" /><Relationship Type="http://schemas.openxmlformats.org/officeDocument/2006/relationships/notesSlide" Target="/ppt/notesSlides/notesSlide2.xml" Id="Rd9919f5a45bc46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9256FD3-D0D3-43F2-AD34-07AE5918B50F}"/>
              </a:ext>
            </a:extLst>
          </p:cNvPr>
          <p:cNvSpPr>
            <a:spLocks xmlns:a="http://schemas.openxmlformats.org/drawingml/2006/main" noGrp="1"/>
          </p:cNvSpPr>
          <p:nvPr/>
        </p:nvSpPr>
        <p:spPr>
          <a:xfrm xmlns:a="http://schemas.openxmlformats.org/drawingml/2006/main">
            <a:off x="457200" y="285750"/>
            <a:ext cx="1524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111820"/>
                </a:solidFill>
                <a:latin typeface="Apple SD Gothic Neo"/>
                <a:ea typeface="Apple SD Gothic Neo"/>
                <a:cs typeface="Apple SD Gothic Neo"/>
              </a:defRPr>
            </a:pPr>
            <a:r>
              <a:rPr sz="4800" b="1">
                <a:solidFill>
                  <a:srgbClr val="111820"/>
                </a:solidFill>
                <a:latin typeface="Apple SD Gothic Neo"/>
                <a:ea typeface="Apple SD Gothic Neo"/>
                <a:cs typeface="Apple SD Gothic Neo"/>
              </a:rPr>
              <a:t>품질 요구사항</a:t>
            </a:r>
          </a:p>
        </p:txBody>
      </p:sp>
      <p:sp>
        <p:nvSpPr>
          <p:cNvPr id="2" name="section">
            <a:extLst xmlns:a="http://schemas.openxmlformats.org/drawingml/2006/main">
              <a:ext uri="{FF2B5EF4-FFF2-40B4-BE49-F238E27FC236}">
                <a16:creationId xmlns:a16="http://schemas.microsoft.com/office/drawing/2014/main" id="{1E40524C-2745-4E25-B3BC-DDEC43FBC2EA}"/>
              </a:ext>
            </a:extLst>
          </p:cNvPr>
          <p:cNvSpPr>
            <a:spLocks xmlns:a="http://schemas.openxmlformats.org/drawingml/2006/main" noGrp="1"/>
          </p:cNvSpPr>
          <p:nvPr/>
        </p:nvSpPr>
        <p:spPr>
          <a:xfrm xmlns:a="http://schemas.openxmlformats.org/drawingml/2006/main">
            <a:off x="457200" y="1143000"/>
            <a:ext cx="1666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087E8B"/>
                </a:solidFill>
                <a:latin typeface="Apple SD Gothic Neo"/>
                <a:ea typeface="Apple SD Gothic Neo"/>
                <a:cs typeface="Apple SD Gothic Neo"/>
              </a:defRPr>
            </a:pPr>
            <a:r>
              <a:rPr sz="2400" b="1">
                <a:solidFill>
                  <a:srgbClr val="087E8B"/>
                </a:solidFill>
                <a:latin typeface="Apple SD Gothic Neo"/>
                <a:ea typeface="Apple SD Gothic Neo"/>
                <a:cs typeface="Apple SD Gothic Neo"/>
              </a:rPr>
              <a:t>우선순위 1~2  /  기능과 시간</a:t>
            </a:r>
          </a:p>
        </p:txBody>
      </p:sp>
      <p:sp>
        <p:nvSpPr>
          <p:cNvPr id="3" name="page">
            <a:extLst xmlns:a="http://schemas.openxmlformats.org/drawingml/2006/main">
              <a:ext uri="{FF2B5EF4-FFF2-40B4-BE49-F238E27FC236}">
                <a16:creationId xmlns:a16="http://schemas.microsoft.com/office/drawing/2014/main" id="{E5A7246F-42C3-41AA-A943-B592C23B9F51}"/>
              </a:ext>
            </a:extLst>
          </p:cNvPr>
          <p:cNvSpPr>
            <a:spLocks xmlns:a="http://schemas.openxmlformats.org/drawingml/2006/main" noGrp="1"/>
          </p:cNvSpPr>
          <p:nvPr/>
        </p:nvSpPr>
        <p:spPr>
          <a:xfrm xmlns:a="http://schemas.openxmlformats.org/drawingml/2006/main">
            <a:off x="16859250" y="476250"/>
            <a:ext cx="97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B6673"/>
                </a:solidFill>
                <a:latin typeface="Apple SD Gothic Neo"/>
                <a:ea typeface="Apple SD Gothic Neo"/>
                <a:cs typeface="Apple SD Gothic Neo"/>
              </a:defRPr>
            </a:pPr>
            <a:r>
              <a:rPr sz="1950" b="0">
                <a:solidFill>
                  <a:srgbClr val="5B6673"/>
                </a:solidFill>
                <a:latin typeface="Apple SD Gothic Neo"/>
                <a:ea typeface="Apple SD Gothic Neo"/>
                <a:cs typeface="Apple SD Gothic Neo"/>
              </a:rPr>
              <a:t>1 / 2</a:t>
            </a:r>
          </a:p>
        </p:txBody>
      </p:sp>
      <p:graphicFrame>
        <p:nvGraphicFramePr>
          <p:cNvPr id="9" name=""/>
          <p:cNvGraphicFramePr/>
          <p:nvPr/>
        </p:nvGraphicFramePr>
        <p:xfrm>
          <a:off xmlns:a="http://schemas.openxmlformats.org/drawingml/2006/main" x="457200" y="1733550"/>
          <a:ext xmlns:a="http://schemas.openxmlformats.org/drawingml/2006/main" cx="17373600" cy="7886700"/>
        </p:xfrm>
        <a:graphic xmlns:a="http://schemas.openxmlformats.org/drawingml/2006/main">
          <a:graphicData uri="http://schemas.openxmlformats.org/drawingml/2006/table">
            <a:tbl>
              <a:tblPr firstRow="0" bandRow="0"/>
              <a:tblGrid>
                <a:gridCol w="1143000"/>
                <a:gridCol w="3381375"/>
                <a:gridCol w="11668125"/>
                <a:gridCol w="1181100"/>
              </a:tblGrid>
              <a:tr h="552450">
                <a:tc>
                  <a:txBody>
                    <a:bodyPr/>
                    <a:lstStyle/>
                    <a:p>
                      <a:pPr algn="ctr"/>
                      <a:r>
                        <a:rPr sz="2025" b="1">
                          <a:solidFill>
                            <a:srgbClr val="FFFFFF"/>
                          </a:solidFill>
                          <a:latin typeface="Apple SD Gothic Neo"/>
                          <a:ea typeface="Apple SD Gothic Neo"/>
                          <a:cs typeface="Apple SD Gothic Neo"/>
                        </a:rPr>
                        <a:t>ID</a:t>
                      </a:r>
                    </a:p>
                  </a:txBody>
                  <a:tcPr marL="95250" marR="95250" marT="28575" marB="28575" anchor="ctr">
                    <a:solidFill>
                      <a:srgbClr val="087E8B"/>
                    </a:solidFill>
                  </a:tcPr>
                </a:tc>
                <a:tc>
                  <a:txBody>
                    <a:bodyPr/>
                    <a:lstStyle/>
                    <a:p>
                      <a:pPr algn="ctr"/>
                      <a:r>
                        <a:rPr sz="2025" b="1">
                          <a:solidFill>
                            <a:srgbClr val="FFFFFF"/>
                          </a:solidFill>
                          <a:latin typeface="Apple SD Gothic Neo"/>
                          <a:ea typeface="Apple SD Gothic Neo"/>
                          <a:cs typeface="Apple SD Gothic Neo"/>
                        </a:rPr>
                        <a:t>QA명</a:t>
                      </a:r>
                    </a:p>
                  </a:txBody>
                  <a:tcPr marL="95250" marR="95250" marT="28575" marB="28575" anchor="ctr">
                    <a:solidFill>
                      <a:srgbClr val="087E8B"/>
                    </a:solidFill>
                  </a:tcPr>
                </a:tc>
                <a:tc>
                  <a:txBody>
                    <a:bodyPr/>
                    <a:lstStyle/>
                    <a:p>
                      <a:pPr algn="l"/>
                      <a:r>
                        <a:rPr sz="2025" b="1">
                          <a:solidFill>
                            <a:srgbClr val="FFFFFF"/>
                          </a:solidFill>
                          <a:latin typeface="Apple SD Gothic Neo"/>
                          <a:ea typeface="Apple SD Gothic Neo"/>
                          <a:cs typeface="Apple SD Gothic Neo"/>
                        </a:rPr>
                        <a:t>설명 / 목표 수치 / 측정 방법</a:t>
                      </a:r>
                    </a:p>
                  </a:txBody>
                  <a:tcPr marL="142875" marR="95250" marT="28575" marB="28575" anchor="ctr">
                    <a:solidFill>
                      <a:srgbClr val="087E8B"/>
                    </a:solidFill>
                  </a:tcPr>
                </a:tc>
                <a:tc>
                  <a:txBody>
                    <a:bodyPr/>
                    <a:lstStyle/>
                    <a:p>
                      <a:pPr algn="ctr"/>
                      <a:r>
                        <a:rPr sz="2025" b="1">
                          <a:solidFill>
                            <a:srgbClr val="FFFFFF"/>
                          </a:solidFill>
                          <a:latin typeface="Apple SD Gothic Neo"/>
                          <a:ea typeface="Apple SD Gothic Neo"/>
                          <a:cs typeface="Apple SD Gothic Neo"/>
                        </a:rPr>
                        <a:t>우선순위</a:t>
                      </a:r>
                    </a:p>
                  </a:txBody>
                  <a:tcPr marL="95250" marR="95250" marT="28575" marB="28575" anchor="ctr">
                    <a:solidFill>
                      <a:srgbClr val="087E8B"/>
                    </a:solidFill>
                  </a:tcPr>
                </a:tc>
              </a:tr>
              <a:tr h="1466850">
                <a:tc>
                  <a:txBody>
                    <a:bodyPr/>
                    <a:lstStyle/>
                    <a:p>
                      <a:pPr algn="ctr"/>
                      <a:r>
                        <a:rPr sz="2175" b="1">
                          <a:solidFill>
                            <a:srgbClr val="183E4A"/>
                          </a:solidFill>
                          <a:latin typeface="Apple SD Gothic Neo"/>
                          <a:ea typeface="Apple SD Gothic Neo"/>
                          <a:cs typeface="Apple SD Gothic Neo"/>
                        </a:rPr>
                        <a:t>V-01</a:t>
                      </a:r>
                    </a:p>
                  </a:txBody>
                  <a:tcPr marL="95250" marR="95250" marT="28575" marB="28575" anchor="ctr">
                    <a:solidFill>
                      <a:srgbClr val="EEF4F5"/>
                    </a:solidFill>
                  </a:tcPr>
                </a:tc>
                <a:tc>
                  <a:txBody>
                    <a:bodyPr/>
                    <a:lstStyle/>
                    <a:p>
                      <a:pPr algn="ctr"/>
                      <a:r>
                        <a:rPr sz="2175" b="1">
                          <a:solidFill>
                            <a:srgbClr val="183E4A"/>
                          </a:solidFill>
                          <a:latin typeface="Apple SD Gothic Neo"/>
                          <a:ea typeface="Apple SD Gothic Neo"/>
                          <a:cs typeface="Apple SD Gothic Neo"/>
                        </a:rPr>
                        <a:t>기능 정확성</a:t>
                      </a:r>
                    </a:p>
                  </a:txBody>
                  <a:tcPr marL="95250" marR="95250" marT="28575" marB="28575" anchor="ctr">
                    <a:solidFill>
                      <a:srgbClr val="EEF4F5"/>
                    </a:solidFill>
                  </a:tcPr>
                </a:tc>
                <a:tc>
                  <a:txBody>
                    <a:bodyPr/>
                    <a:lstStyle/>
                    <a:p>
                      <a:pPr algn="l"/>
                      <a:r>
                        <a:rPr sz="2175" b="0">
                          <a:solidFill>
                            <a:srgbClr val="17232E"/>
                          </a:solidFill>
                          <a:latin typeface="Apple SD Gothic Neo"/>
                          <a:ea typeface="Apple SD Gothic Neo"/>
                          <a:cs typeface="Apple SD Gothic Neo"/>
                        </a:rPr>
                        <a:t>사용자 요청을 의도에 맞게 정확히 처리해야 한다.</a:t>
                      </a:r>
                    </a:p>
                    <a:p>
                      <a:pPr algn="l"/>
                      <a:r>
                        <a:rPr sz="2175" b="1">
                          <a:solidFill>
                            <a:srgbClr val="2873B9"/>
                          </a:solidFill>
                          <a:latin typeface="Apple SD Gothic Neo"/>
                          <a:ea typeface="Apple SD Gothic Neo"/>
                          <a:cs typeface="Apple SD Gothic Neo"/>
                        </a:rPr>
                        <a:t>목표  정확 처리율 ≥ 95%</a:t>
                      </a:r>
                    </a:p>
                    <a:p>
                      <a:pPr algn="l"/>
                      <a:r>
                        <a:rPr sz="2100" b="0">
                          <a:solidFill>
                            <a:srgbClr val="3E4853"/>
                          </a:solidFill>
                          <a:latin typeface="Apple SD Gothic Neo"/>
                          <a:ea typeface="Apple SD Gothic Neo"/>
                          <a:cs typeface="Apple SD Gothic Neo"/>
                        </a:rPr>
                        <a:t>측정  전체 1,880회 중 필수 정답 판정을 모두 통과한 비율</a:t>
                      </a:r>
                    </a:p>
                  </a:txBody>
                  <a:tcPr marL="142875" marR="95250" marT="28575" marB="28575" anchor="ctr">
                    <a:solidFill>
                      <a:srgbClr val="EEF4F5"/>
                    </a:solidFill>
                  </a:tcPr>
                </a:tc>
                <a:tc>
                  <a:txBody>
                    <a:bodyPr/>
                    <a:lstStyle/>
                    <a:p>
                      <a:pPr algn="ctr"/>
                      <a:r>
                        <a:rPr sz="1875" b="1">
                          <a:solidFill>
                            <a:srgbClr val="183E4A"/>
                          </a:solidFill>
                          <a:latin typeface="Apple SD Gothic Neo"/>
                          <a:ea typeface="Apple SD Gothic Neo"/>
                          <a:cs typeface="Apple SD Gothic Neo"/>
                        </a:rPr>
                        <a:t>1 (공동)</a:t>
                      </a:r>
                    </a:p>
                  </a:txBody>
                  <a:tcPr marL="95250" marR="95250" marT="28575" marB="28575" anchor="ctr">
                    <a:solidFill>
                      <a:srgbClr val="EEF4F5"/>
                    </a:solidFill>
                  </a:tcPr>
                </a:tc>
              </a:tr>
              <a:tr h="1466850">
                <a:tc>
                  <a:txBody>
                    <a:bodyPr/>
                    <a:lstStyle/>
                    <a:p>
                      <a:pPr algn="ctr"/>
                      <a:r>
                        <a:rPr sz="2175" b="1">
                          <a:solidFill>
                            <a:srgbClr val="183E4A"/>
                          </a:solidFill>
                          <a:latin typeface="Apple SD Gothic Neo"/>
                          <a:ea typeface="Apple SD Gothic Neo"/>
                          <a:cs typeface="Apple SD Gothic Neo"/>
                        </a:rPr>
                        <a:t>V-02</a:t>
                      </a:r>
                    </a:p>
                  </a:txBody>
                  <a:tcPr marL="95250" marR="95250" marT="28575" marB="28575" anchor="ctr">
                    <a:solidFill>
                      <a:srgbClr val="F8FAFB"/>
                    </a:solidFill>
                  </a:tcPr>
                </a:tc>
                <a:tc>
                  <a:txBody>
                    <a:bodyPr/>
                    <a:lstStyle/>
                    <a:p>
                      <a:pPr algn="ctr"/>
                      <a:r>
                        <a:rPr sz="2175" b="1">
                          <a:solidFill>
                            <a:srgbClr val="183E4A"/>
                          </a:solidFill>
                          <a:latin typeface="Apple SD Gothic Neo"/>
                          <a:ea typeface="Apple SD Gothic Neo"/>
                          <a:cs typeface="Apple SD Gothic Neo"/>
                        </a:rPr>
                        <a:t>기능 적절성</a:t>
                      </a:r>
                    </a:p>
                  </a:txBody>
                  <a:tcPr marL="95250" marR="95250" marT="28575" marB="28575" anchor="ctr">
                    <a:solidFill>
                      <a:srgbClr val="F8FAFB"/>
                    </a:solidFill>
                  </a:tcPr>
                </a:tc>
                <a:tc>
                  <a:txBody>
                    <a:bodyPr/>
                    <a:lstStyle/>
                    <a:p>
                      <a:pPr algn="l"/>
                      <a:r>
                        <a:rPr sz="2175" b="0">
                          <a:solidFill>
                            <a:srgbClr val="17232E"/>
                          </a:solidFill>
                          <a:latin typeface="Apple SD Gothic Neo"/>
                          <a:ea typeface="Apple SD Gothic Neo"/>
                          <a:cs typeface="Apple SD Gothic Neo"/>
                        </a:rPr>
                        <a:t>추가 사용자 입력을 최소화해 요청을 마쳐야 한다.</a:t>
                      </a:r>
                    </a:p>
                    <a:p>
                      <a:pPr algn="l"/>
                      <a:r>
                        <a:rPr sz="2175" b="1">
                          <a:solidFill>
                            <a:srgbClr val="2873B9"/>
                          </a:solidFill>
                          <a:latin typeface="Apple SD Gothic Neo"/>
                          <a:ea typeface="Apple SD Gothic Neo"/>
                          <a:cs typeface="Apple SD Gothic Neo"/>
                        </a:rPr>
                        <a:t>목표  평균 사용자 개입 ≤ 1회/요청</a:t>
                      </a:r>
                    </a:p>
                    <a:p>
                      <a:pPr algn="l"/>
                      <a:r>
                        <a:rPr sz="2100" b="0">
                          <a:solidFill>
                            <a:srgbClr val="3E4853"/>
                          </a:solidFill>
                          <a:latin typeface="Apple SD Gothic Neo"/>
                          <a:ea typeface="Apple SD Gothic Neo"/>
                          <a:cs typeface="Apple SD Gothic Neo"/>
                        </a:rPr>
                        <a:t>측정  요청 뒤 필요한 사용자 추가 입력 횟수의 평균</a:t>
                      </a:r>
                    </a:p>
                  </a:txBody>
                  <a:tcPr marL="142875" marR="95250" marT="28575" marB="28575" anchor="ctr">
                    <a:solidFill>
                      <a:srgbClr val="F8FAFB"/>
                    </a:solidFill>
                  </a:tcPr>
                </a:tc>
                <a:tc>
                  <a:txBody>
                    <a:bodyPr/>
                    <a:lstStyle/>
                    <a:p>
                      <a:pPr algn="ctr"/>
                      <a:r>
                        <a:rPr sz="1875" b="1">
                          <a:solidFill>
                            <a:srgbClr val="183E4A"/>
                          </a:solidFill>
                          <a:latin typeface="Apple SD Gothic Neo"/>
                          <a:ea typeface="Apple SD Gothic Neo"/>
                          <a:cs typeface="Apple SD Gothic Neo"/>
                        </a:rPr>
                        <a:t>1 (공동)</a:t>
                      </a:r>
                    </a:p>
                  </a:txBody>
                  <a:tcPr marL="95250" marR="95250" marT="28575" marB="28575" anchor="ctr">
                    <a:solidFill>
                      <a:srgbClr val="F8FAFB"/>
                    </a:solidFill>
                  </a:tcPr>
                </a:tc>
              </a:tr>
              <a:tr h="1466850">
                <a:tc>
                  <a:txBody>
                    <a:bodyPr/>
                    <a:lstStyle/>
                    <a:p>
                      <a:pPr algn="ctr"/>
                      <a:r>
                        <a:rPr sz="2175" b="1">
                          <a:solidFill>
                            <a:srgbClr val="183E4A"/>
                          </a:solidFill>
                          <a:latin typeface="Apple SD Gothic Neo"/>
                          <a:ea typeface="Apple SD Gothic Neo"/>
                          <a:cs typeface="Apple SD Gothic Neo"/>
                        </a:rPr>
                        <a:t>V-03</a:t>
                      </a:r>
                    </a:p>
                  </a:txBody>
                  <a:tcPr marL="95250" marR="95250" marT="28575" marB="28575" anchor="ctr">
                    <a:solidFill>
                      <a:srgbClr val="EEF4F5"/>
                    </a:solidFill>
                  </a:tcPr>
                </a:tc>
                <a:tc>
                  <a:txBody>
                    <a:bodyPr/>
                    <a:lstStyle/>
                    <a:p>
                      <a:pPr algn="ctr"/>
                      <a:r>
                        <a:rPr sz="2175" b="1">
                          <a:solidFill>
                            <a:srgbClr val="183E4A"/>
                          </a:solidFill>
                          <a:latin typeface="Apple SD Gothic Neo"/>
                          <a:ea typeface="Apple SD Gothic Neo"/>
                          <a:cs typeface="Apple SD Gothic Neo"/>
                        </a:rPr>
                        <a:t>기능 완전성</a:t>
                      </a:r>
                    </a:p>
                  </a:txBody>
                  <a:tcPr marL="95250" marR="95250" marT="28575" marB="28575" anchor="ctr">
                    <a:solidFill>
                      <a:srgbClr val="EEF4F5"/>
                    </a:solidFill>
                  </a:tcPr>
                </a:tc>
                <a:tc>
                  <a:txBody>
                    <a:bodyPr/>
                    <a:lstStyle/>
                    <a:p>
                      <a:pPr algn="l"/>
                      <a:r>
                        <a:rPr sz="2175" b="0">
                          <a:solidFill>
                            <a:srgbClr val="17232E"/>
                          </a:solidFill>
                          <a:latin typeface="Apple SD Gothic Neo"/>
                          <a:ea typeface="Apple SD Gothic Neo"/>
                          <a:cs typeface="Apple SD Gothic Neo"/>
                        </a:rPr>
                        <a:t>고정된 사용 시나리오의 필수 기능을 모두 지원해야 한다.</a:t>
                      </a:r>
                    </a:p>
                    <a:p>
                      <a:pPr algn="l"/>
                      <a:r>
                        <a:rPr sz="2175" b="1">
                          <a:solidFill>
                            <a:srgbClr val="2873B9"/>
                          </a:solidFill>
                          <a:latin typeface="Apple SD Gothic Neo"/>
                          <a:ea typeface="Apple SD Gothic Neo"/>
                          <a:cs typeface="Apple SD Gothic Neo"/>
                        </a:rPr>
                        <a:t>목표  기능 지원 달성률 = 100%</a:t>
                      </a:r>
                    </a:p>
                    <a:p>
                      <a:pPr algn="l"/>
                      <a:r>
                        <a:rPr sz="2100" b="0">
                          <a:solidFill>
                            <a:srgbClr val="3E4853"/>
                          </a:solidFill>
                          <a:latin typeface="Apple SD Gothic Neo"/>
                          <a:ea typeface="Apple SD Gothic Neo"/>
                          <a:cs typeface="Apple SD Gothic Neo"/>
                        </a:rPr>
                        <a:t>측정  필수 UC 변형 94개 중 완전 지원 비율</a:t>
                      </a:r>
                    </a:p>
                  </a:txBody>
                  <a:tcPr marL="142875" marR="95250" marT="28575" marB="28575" anchor="ctr">
                    <a:solidFill>
                      <a:srgbClr val="EEF4F5"/>
                    </a:solidFill>
                  </a:tcPr>
                </a:tc>
                <a:tc>
                  <a:txBody>
                    <a:bodyPr/>
                    <a:lstStyle/>
                    <a:p>
                      <a:pPr algn="ctr"/>
                      <a:r>
                        <a:rPr sz="1875" b="1">
                          <a:solidFill>
                            <a:srgbClr val="183E4A"/>
                          </a:solidFill>
                          <a:latin typeface="Apple SD Gothic Neo"/>
                          <a:ea typeface="Apple SD Gothic Neo"/>
                          <a:cs typeface="Apple SD Gothic Neo"/>
                        </a:rPr>
                        <a:t>1 (공동)</a:t>
                      </a:r>
                    </a:p>
                  </a:txBody>
                  <a:tcPr marL="95250" marR="95250" marT="28575" marB="28575" anchor="ctr">
                    <a:solidFill>
                      <a:srgbClr val="EEF4F5"/>
                    </a:solidFill>
                  </a:tcPr>
                </a:tc>
              </a:tr>
              <a:tr h="1466850">
                <a:tc>
                  <a:txBody>
                    <a:bodyPr/>
                    <a:lstStyle/>
                    <a:p>
                      <a:pPr algn="ctr"/>
                      <a:r>
                        <a:rPr sz="2175" b="1">
                          <a:solidFill>
                            <a:srgbClr val="183E4A"/>
                          </a:solidFill>
                          <a:latin typeface="Apple SD Gothic Neo"/>
                          <a:ea typeface="Apple SD Gothic Neo"/>
                          <a:cs typeface="Apple SD Gothic Neo"/>
                        </a:rPr>
                        <a:t>V-04</a:t>
                      </a:r>
                    </a:p>
                  </a:txBody>
                  <a:tcPr marL="95250" marR="95250" marT="28575" marB="28575" anchor="ctr">
                    <a:solidFill>
                      <a:srgbClr val="F8FAFB"/>
                    </a:solidFill>
                  </a:tcPr>
                </a:tc>
                <a:tc>
                  <a:txBody>
                    <a:bodyPr/>
                    <a:lstStyle/>
                    <a:p>
                      <a:pPr algn="ctr"/>
                      <a:r>
                        <a:rPr sz="2175" b="1">
                          <a:solidFill>
                            <a:srgbClr val="183E4A"/>
                          </a:solidFill>
                          <a:latin typeface="Apple SD Gothic Neo"/>
                          <a:ea typeface="Apple SD Gothic Neo"/>
                          <a:cs typeface="Apple SD Gothic Neo"/>
                        </a:rPr>
                        <a:t>응답 신속성</a:t>
                      </a:r>
                    </a:p>
                  </a:txBody>
                  <a:tcPr marL="95250" marR="95250" marT="28575" marB="28575" anchor="ctr">
                    <a:solidFill>
                      <a:srgbClr val="F8FAFB"/>
                    </a:solidFill>
                  </a:tcPr>
                </a:tc>
                <a:tc>
                  <a:txBody>
                    <a:bodyPr/>
                    <a:lstStyle/>
                    <a:p>
                      <a:pPr algn="l"/>
                      <a:r>
                        <a:rPr sz="2175" b="0">
                          <a:solidFill>
                            <a:srgbClr val="17232E"/>
                          </a:solidFill>
                          <a:latin typeface="Apple SD Gothic Neo"/>
                          <a:ea typeface="Apple SD Gothic Neo"/>
                          <a:cs typeface="Apple SD Gothic Neo"/>
                        </a:rPr>
                        <a:t>사용자 입력에 빠르게 반응해야 한다.</a:t>
                      </a:r>
                    </a:p>
                    <a:p>
                      <a:pPr algn="l"/>
                      <a:r>
                        <a:rPr sz="2175" b="1">
                          <a:solidFill>
                            <a:srgbClr val="2873B9"/>
                          </a:solidFill>
                          <a:latin typeface="Apple SD Gothic Neo"/>
                          <a:ea typeface="Apple SD Gothic Neo"/>
                          <a:cs typeface="Apple SD Gothic Neo"/>
                        </a:rPr>
                        <a:t>목표  평균 반응시간 ≤ 1초</a:t>
                      </a:r>
                    </a:p>
                    <a:p>
                      <a:pPr algn="l"/>
                      <a:r>
                        <a:rPr sz="2100" b="0">
                          <a:solidFill>
                            <a:srgbClr val="3E4853"/>
                          </a:solidFill>
                          <a:latin typeface="Apple SD Gothic Neo"/>
                          <a:ea typeface="Apple SD Gothic Neo"/>
                          <a:cs typeface="Apple SD Gothic Neo"/>
                        </a:rPr>
                        <a:t>측정  실제 입력부터 첫 유효 반응까지의 시간 평균</a:t>
                      </a:r>
                    </a:p>
                  </a:txBody>
                  <a:tcPr marL="142875" marR="95250" marT="28575" marB="28575" anchor="ctr">
                    <a:solidFill>
                      <a:srgbClr val="F8FAFB"/>
                    </a:solidFill>
                  </a:tcPr>
                </a:tc>
                <a:tc>
                  <a:txBody>
                    <a:bodyPr/>
                    <a:lstStyle/>
                    <a:p>
                      <a:pPr algn="ctr"/>
                      <a:r>
                        <a:rPr sz="1875" b="1">
                          <a:solidFill>
                            <a:srgbClr val="183E4A"/>
                          </a:solidFill>
                          <a:latin typeface="Apple SD Gothic Neo"/>
                          <a:ea typeface="Apple SD Gothic Neo"/>
                          <a:cs typeface="Apple SD Gothic Neo"/>
                        </a:rPr>
                        <a:t>2 (공동)</a:t>
                      </a:r>
                    </a:p>
                  </a:txBody>
                  <a:tcPr marL="95250" marR="95250" marT="28575" marB="28575" anchor="ctr">
                    <a:solidFill>
                      <a:srgbClr val="F8FAFB"/>
                    </a:solidFill>
                  </a:tcPr>
                </a:tc>
              </a:tr>
              <a:tr h="1466850">
                <a:tc>
                  <a:txBody>
                    <a:bodyPr/>
                    <a:lstStyle/>
                    <a:p>
                      <a:pPr algn="ctr"/>
                      <a:r>
                        <a:rPr sz="2175" b="1">
                          <a:solidFill>
                            <a:srgbClr val="183E4A"/>
                          </a:solidFill>
                          <a:latin typeface="Apple SD Gothic Neo"/>
                          <a:ea typeface="Apple SD Gothic Neo"/>
                          <a:cs typeface="Apple SD Gothic Neo"/>
                        </a:rPr>
                        <a:t>V-05</a:t>
                      </a:r>
                    </a:p>
                  </a:txBody>
                  <a:tcPr marL="95250" marR="95250" marT="28575" marB="28575" anchor="ctr">
                    <a:solidFill>
                      <a:srgbClr val="EEF4F5"/>
                    </a:solidFill>
                  </a:tcPr>
                </a:tc>
                <a:tc>
                  <a:txBody>
                    <a:bodyPr/>
                    <a:lstStyle/>
                    <a:p>
                      <a:pPr algn="ctr"/>
                      <a:r>
                        <a:rPr sz="2175" b="1">
                          <a:solidFill>
                            <a:srgbClr val="183E4A"/>
                          </a:solidFill>
                          <a:latin typeface="Apple SD Gothic Neo"/>
                          <a:ea typeface="Apple SD Gothic Neo"/>
                          <a:cs typeface="Apple SD Gothic Neo"/>
                        </a:rPr>
                        <a:t>요청 완료 신속성</a:t>
                      </a:r>
                    </a:p>
                  </a:txBody>
                  <a:tcPr marL="95250" marR="95250" marT="28575" marB="28575" anchor="ctr">
                    <a:solidFill>
                      <a:srgbClr val="EEF4F5"/>
                    </a:solidFill>
                  </a:tcPr>
                </a:tc>
                <a:tc>
                  <a:txBody>
                    <a:bodyPr/>
                    <a:lstStyle/>
                    <a:p>
                      <a:pPr algn="l"/>
                      <a:r>
                        <a:rPr sz="2175" b="0">
                          <a:solidFill>
                            <a:srgbClr val="17232E"/>
                          </a:solidFill>
                          <a:latin typeface="Apple SD Gothic Neo"/>
                          <a:ea typeface="Apple SD Gothic Neo"/>
                          <a:cs typeface="Apple SD Gothic Neo"/>
                        </a:rPr>
                        <a:t>VIA의 처리로 결과 전달이 늦어지지 않아야 한다.</a:t>
                      </a:r>
                    </a:p>
                    <a:p>
                      <a:pPr algn="l"/>
                      <a:r>
                        <a:rPr sz="2175" b="1">
                          <a:solidFill>
                            <a:srgbClr val="2873B9"/>
                          </a:solidFill>
                          <a:latin typeface="Apple SD Gothic Neo"/>
                          <a:ea typeface="Apple SD Gothic Neo"/>
                          <a:cs typeface="Apple SD Gothic Neo"/>
                        </a:rPr>
                        <a:t>목표  평균 VIA 처리시간 ≤ 10초</a:t>
                      </a:r>
                    </a:p>
                    <a:p>
                      <a:pPr algn="l"/>
                      <a:r>
                        <a:rPr sz="2100" b="0">
                          <a:solidFill>
                            <a:srgbClr val="3E4853"/>
                          </a:solidFill>
                          <a:latin typeface="Apple SD Gothic Neo"/>
                          <a:ea typeface="Apple SD Gothic Neo"/>
                          <a:cs typeface="Apple SD Gothic Neo"/>
                        </a:rPr>
                        <a:t>측정  외부 작업만 기다린 구간을 제외한 처리시간 평균</a:t>
                      </a:r>
                    </a:p>
                  </a:txBody>
                  <a:tcPr marL="142875" marR="95250" marT="28575" marB="28575" anchor="ctr">
                    <a:solidFill>
                      <a:srgbClr val="EEF4F5"/>
                    </a:solidFill>
                  </a:tcPr>
                </a:tc>
                <a:tc>
                  <a:txBody>
                    <a:bodyPr/>
                    <a:lstStyle/>
                    <a:p>
                      <a:pPr algn="ctr"/>
                      <a:r>
                        <a:rPr sz="1875" b="1">
                          <a:solidFill>
                            <a:srgbClr val="183E4A"/>
                          </a:solidFill>
                          <a:latin typeface="Apple SD Gothic Neo"/>
                          <a:ea typeface="Apple SD Gothic Neo"/>
                          <a:cs typeface="Apple SD Gothic Neo"/>
                        </a:rPr>
                        <a:t>2 (공동)</a:t>
                      </a:r>
                    </a:p>
                  </a:txBody>
                  <a:tcPr marL="95250" marR="95250" marT="28575" marB="28575" anchor="ctr">
                    <a:solidFill>
                      <a:srgbClr val="EEF4F5"/>
                    </a:solidFill>
                  </a:tcPr>
                </a:tc>
              </a:tr>
            </a:tbl>
          </a:graphicData>
        </a:graphic>
      </p:graphicFrame>
      <p:sp>
        <p:nvSpPr>
          <p:cNvPr id="5" name="footnote">
            <a:extLst xmlns:a="http://schemas.openxmlformats.org/drawingml/2006/main">
              <a:ext uri="{FF2B5EF4-FFF2-40B4-BE49-F238E27FC236}">
                <a16:creationId xmlns:a16="http://schemas.microsoft.com/office/drawing/2014/main" id="{57D453CA-2795-414D-8CE6-AA34DFA15CC0}"/>
              </a:ext>
            </a:extLst>
          </p:cNvPr>
          <p:cNvSpPr>
            <a:spLocks xmlns:a="http://schemas.openxmlformats.org/drawingml/2006/main" noGrp="1"/>
          </p:cNvSpPr>
          <p:nvPr/>
        </p:nvSpPr>
        <p:spPr>
          <a:xfrm xmlns:a="http://schemas.openxmlformats.org/drawingml/2006/main">
            <a:off x="457200" y="9829800"/>
            <a:ext cx="17373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3606C"/>
                </a:solidFill>
                <a:latin typeface="Apple SD Gothic Neo"/>
                <a:ea typeface="Apple SD Gothic Neo"/>
                <a:cs typeface="Apple SD Gothic Neo"/>
              </a:defRPr>
            </a:pPr>
            <a:r>
              <a:rPr sz="1800" b="0">
                <a:solidFill>
                  <a:srgbClr val="53606C"/>
                </a:solidFill>
                <a:latin typeface="Apple SD Gothic Neo"/>
                <a:ea typeface="Apple SD Gothic Neo"/>
                <a:cs typeface="Apple SD Gothic Neo"/>
              </a:rPr>
              <a:t>근거 기반 목표 제안. 출처와 상세 측정 절차는 발표자 노트 및 Markdown에 수록. 구현 및 측정 결과 없음.</a:t>
            </a:r>
          </a:p>
        </p:txBody>
      </p:sp>
    </p:spTree>
    <p:extLst>
      <p:ext uri="{BB962C8B-B14F-4D97-AF65-F5344CB8AC3E}">
        <p14:creationId xmlns:p14="http://schemas.microsoft.com/office/powerpoint/2010/main" val="3625009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E51347C-3300-4A83-B73A-B149B8DE2DF5}"/>
              </a:ext>
            </a:extLst>
          </p:cNvPr>
          <p:cNvSpPr>
            <a:spLocks xmlns:a="http://schemas.openxmlformats.org/drawingml/2006/main" noGrp="1"/>
          </p:cNvSpPr>
          <p:nvPr/>
        </p:nvSpPr>
        <p:spPr>
          <a:xfrm xmlns:a="http://schemas.openxmlformats.org/drawingml/2006/main">
            <a:off x="457200" y="285750"/>
            <a:ext cx="1524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111820"/>
                </a:solidFill>
                <a:latin typeface="Apple SD Gothic Neo"/>
                <a:ea typeface="Apple SD Gothic Neo"/>
                <a:cs typeface="Apple SD Gothic Neo"/>
              </a:defRPr>
            </a:pPr>
            <a:r>
              <a:rPr sz="4800" b="1">
                <a:solidFill>
                  <a:srgbClr val="111820"/>
                </a:solidFill>
                <a:latin typeface="Apple SD Gothic Neo"/>
                <a:ea typeface="Apple SD Gothic Neo"/>
                <a:cs typeface="Apple SD Gothic Neo"/>
              </a:rPr>
              <a:t>품질 요구사항</a:t>
            </a:r>
          </a:p>
        </p:txBody>
      </p:sp>
      <p:sp>
        <p:nvSpPr>
          <p:cNvPr id="2" name="section">
            <a:extLst xmlns:a="http://schemas.openxmlformats.org/drawingml/2006/main">
              <a:ext uri="{FF2B5EF4-FFF2-40B4-BE49-F238E27FC236}">
                <a16:creationId xmlns:a16="http://schemas.microsoft.com/office/drawing/2014/main" id="{3A66E0CE-B9E1-40CE-965F-F6FFFDD4AAA9}"/>
              </a:ext>
            </a:extLst>
          </p:cNvPr>
          <p:cNvSpPr>
            <a:spLocks xmlns:a="http://schemas.openxmlformats.org/drawingml/2006/main" noGrp="1"/>
          </p:cNvSpPr>
          <p:nvPr/>
        </p:nvSpPr>
        <p:spPr>
          <a:xfrm xmlns:a="http://schemas.openxmlformats.org/drawingml/2006/main">
            <a:off x="457200" y="1143000"/>
            <a:ext cx="1666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087E8B"/>
                </a:solidFill>
                <a:latin typeface="Apple SD Gothic Neo"/>
                <a:ea typeface="Apple SD Gothic Neo"/>
                <a:cs typeface="Apple SD Gothic Neo"/>
              </a:defRPr>
            </a:pPr>
            <a:r>
              <a:rPr sz="2400" b="1">
                <a:solidFill>
                  <a:srgbClr val="087E8B"/>
                </a:solidFill>
                <a:latin typeface="Apple SD Gothic Neo"/>
                <a:ea typeface="Apple SD Gothic Neo"/>
                <a:cs typeface="Apple SD Gothic Neo"/>
              </a:rPr>
              <a:t>우선순위 3~6  /  변경, 메모리, 복구와 분석</a:t>
            </a:r>
          </a:p>
        </p:txBody>
      </p:sp>
      <p:sp>
        <p:nvSpPr>
          <p:cNvPr id="3" name="page">
            <a:extLst xmlns:a="http://schemas.openxmlformats.org/drawingml/2006/main">
              <a:ext uri="{FF2B5EF4-FFF2-40B4-BE49-F238E27FC236}">
                <a16:creationId xmlns:a16="http://schemas.microsoft.com/office/drawing/2014/main" id="{1A7AEDF3-098E-4D4D-8BD3-2C157D22027D}"/>
              </a:ext>
            </a:extLst>
          </p:cNvPr>
          <p:cNvSpPr>
            <a:spLocks xmlns:a="http://schemas.openxmlformats.org/drawingml/2006/main" noGrp="1"/>
          </p:cNvSpPr>
          <p:nvPr/>
        </p:nvSpPr>
        <p:spPr>
          <a:xfrm xmlns:a="http://schemas.openxmlformats.org/drawingml/2006/main">
            <a:off x="16859250" y="476250"/>
            <a:ext cx="97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B6673"/>
                </a:solidFill>
                <a:latin typeface="Apple SD Gothic Neo"/>
                <a:ea typeface="Apple SD Gothic Neo"/>
                <a:cs typeface="Apple SD Gothic Neo"/>
              </a:defRPr>
            </a:pPr>
            <a:r>
              <a:rPr sz="1950" b="0">
                <a:solidFill>
                  <a:srgbClr val="5B6673"/>
                </a:solidFill>
                <a:latin typeface="Apple SD Gothic Neo"/>
                <a:ea typeface="Apple SD Gothic Neo"/>
                <a:cs typeface="Apple SD Gothic Neo"/>
              </a:rPr>
              <a:t>2 / 2</a:t>
            </a:r>
          </a:p>
        </p:txBody>
      </p:sp>
      <p:graphicFrame>
        <p:nvGraphicFramePr>
          <p:cNvPr id="9" name=""/>
          <p:cNvGraphicFramePr/>
          <p:nvPr/>
        </p:nvGraphicFramePr>
        <p:xfrm>
          <a:off xmlns:a="http://schemas.openxmlformats.org/drawingml/2006/main" x="457200" y="1733550"/>
          <a:ext xmlns:a="http://schemas.openxmlformats.org/drawingml/2006/main" cx="17373600" cy="7886700"/>
        </p:xfrm>
        <a:graphic xmlns:a="http://schemas.openxmlformats.org/drawingml/2006/main">
          <a:graphicData uri="http://schemas.openxmlformats.org/drawingml/2006/table">
            <a:tbl>
              <a:tblPr firstRow="0" bandRow="0"/>
              <a:tblGrid>
                <a:gridCol w="1143000"/>
                <a:gridCol w="3381375"/>
                <a:gridCol w="11668125"/>
                <a:gridCol w="1181100"/>
              </a:tblGrid>
              <a:tr h="552450">
                <a:tc>
                  <a:txBody>
                    <a:bodyPr/>
                    <a:lstStyle/>
                    <a:p>
                      <a:pPr algn="ctr"/>
                      <a:r>
                        <a:rPr sz="2025" b="1">
                          <a:solidFill>
                            <a:srgbClr val="FFFFFF"/>
                          </a:solidFill>
                          <a:latin typeface="Apple SD Gothic Neo"/>
                          <a:ea typeface="Apple SD Gothic Neo"/>
                          <a:cs typeface="Apple SD Gothic Neo"/>
                        </a:rPr>
                        <a:t>ID</a:t>
                      </a:r>
                    </a:p>
                  </a:txBody>
                  <a:tcPr marL="95250" marR="95250" marT="28575" marB="28575" anchor="ctr">
                    <a:solidFill>
                      <a:srgbClr val="087E8B"/>
                    </a:solidFill>
                  </a:tcPr>
                </a:tc>
                <a:tc>
                  <a:txBody>
                    <a:bodyPr/>
                    <a:lstStyle/>
                    <a:p>
                      <a:pPr algn="ctr"/>
                      <a:r>
                        <a:rPr sz="2025" b="1">
                          <a:solidFill>
                            <a:srgbClr val="FFFFFF"/>
                          </a:solidFill>
                          <a:latin typeface="Apple SD Gothic Neo"/>
                          <a:ea typeface="Apple SD Gothic Neo"/>
                          <a:cs typeface="Apple SD Gothic Neo"/>
                        </a:rPr>
                        <a:t>QA명</a:t>
                      </a:r>
                    </a:p>
                  </a:txBody>
                  <a:tcPr marL="95250" marR="95250" marT="28575" marB="28575" anchor="ctr">
                    <a:solidFill>
                      <a:srgbClr val="087E8B"/>
                    </a:solidFill>
                  </a:tcPr>
                </a:tc>
                <a:tc>
                  <a:txBody>
                    <a:bodyPr/>
                    <a:lstStyle/>
                    <a:p>
                      <a:pPr algn="l"/>
                      <a:r>
                        <a:rPr sz="2025" b="1">
                          <a:solidFill>
                            <a:srgbClr val="FFFFFF"/>
                          </a:solidFill>
                          <a:latin typeface="Apple SD Gothic Neo"/>
                          <a:ea typeface="Apple SD Gothic Neo"/>
                          <a:cs typeface="Apple SD Gothic Neo"/>
                        </a:rPr>
                        <a:t>설명 / 목표 수치 / 측정 방법</a:t>
                      </a:r>
                    </a:p>
                  </a:txBody>
                  <a:tcPr marL="142875" marR="95250" marT="28575" marB="28575" anchor="ctr">
                    <a:solidFill>
                      <a:srgbClr val="087E8B"/>
                    </a:solidFill>
                  </a:tcPr>
                </a:tc>
                <a:tc>
                  <a:txBody>
                    <a:bodyPr/>
                    <a:lstStyle/>
                    <a:p>
                      <a:pPr algn="ctr"/>
                      <a:r>
                        <a:rPr sz="2025" b="1">
                          <a:solidFill>
                            <a:srgbClr val="FFFFFF"/>
                          </a:solidFill>
                          <a:latin typeface="Apple SD Gothic Neo"/>
                          <a:ea typeface="Apple SD Gothic Neo"/>
                          <a:cs typeface="Apple SD Gothic Neo"/>
                        </a:rPr>
                        <a:t>우선순위</a:t>
                      </a:r>
                    </a:p>
                  </a:txBody>
                  <a:tcPr marL="95250" marR="95250" marT="28575" marB="28575" anchor="ctr">
                    <a:solidFill>
                      <a:srgbClr val="087E8B"/>
                    </a:solidFill>
                  </a:tcPr>
                </a:tc>
              </a:tr>
              <a:tr h="1466850">
                <a:tc>
                  <a:txBody>
                    <a:bodyPr/>
                    <a:lstStyle/>
                    <a:p>
                      <a:pPr algn="ctr"/>
                      <a:r>
                        <a:rPr sz="2175" b="1">
                          <a:solidFill>
                            <a:srgbClr val="183E4A"/>
                          </a:solidFill>
                          <a:latin typeface="Apple SD Gothic Neo"/>
                          <a:ea typeface="Apple SD Gothic Neo"/>
                          <a:cs typeface="Apple SD Gothic Neo"/>
                        </a:rPr>
                        <a:t>V-08</a:t>
                      </a:r>
                    </a:p>
                  </a:txBody>
                  <a:tcPr marL="95250" marR="95250" marT="28575" marB="28575" anchor="ctr">
                    <a:solidFill>
                      <a:srgbClr val="EEF4F5"/>
                    </a:solidFill>
                  </a:tcPr>
                </a:tc>
                <a:tc>
                  <a:txBody>
                    <a:bodyPr/>
                    <a:lstStyle/>
                    <a:p>
                      <a:pPr algn="ctr"/>
                      <a:r>
                        <a:rPr sz="2175" b="1">
                          <a:solidFill>
                            <a:srgbClr val="183E4A"/>
                          </a:solidFill>
                          <a:latin typeface="Apple SD Gothic Neo"/>
                          <a:ea typeface="Apple SD Gothic Neo"/>
                          <a:cs typeface="Apple SD Gothic Neo"/>
                        </a:rPr>
                        <a:t>변경 용이성</a:t>
                      </a:r>
                    </a:p>
                  </a:txBody>
                  <a:tcPr marL="95250" marR="95250" marT="28575" marB="28575" anchor="ctr">
                    <a:solidFill>
                      <a:srgbClr val="EEF4F5"/>
                    </a:solidFill>
                  </a:tcPr>
                </a:tc>
                <a:tc>
                  <a:txBody>
                    <a:bodyPr/>
                    <a:lstStyle/>
                    <a:p>
                      <a:pPr algn="l"/>
                      <a:r>
                        <a:rPr sz="2175" b="0">
                          <a:solidFill>
                            <a:srgbClr val="17232E"/>
                          </a:solidFill>
                          <a:latin typeface="Apple SD Gothic Neo"/>
                          <a:ea typeface="Apple SD Gothic Neo"/>
                          <a:cs typeface="Apple SD Gothic Neo"/>
                        </a:rPr>
                        <a:t>기능 변경이 적은 설계 요소에만 영향을 주어야 한다.</a:t>
                      </a:r>
                    </a:p>
                    <a:p>
                      <a:pPr algn="l"/>
                      <a:r>
                        <a:rPr sz="2175" b="1">
                          <a:solidFill>
                            <a:srgbClr val="2873B9"/>
                          </a:solidFill>
                          <a:latin typeface="Apple SD Gothic Neo"/>
                          <a:ea typeface="Apple SD Gothic Neo"/>
                          <a:cs typeface="Apple SD Gothic Neo"/>
                        </a:rPr>
                        <a:t>목표  평균 변경 요소 수 ≤ 3개/변경</a:t>
                      </a:r>
                    </a:p>
                    <a:p>
                      <a:pPr algn="l"/>
                      <a:r>
                        <a:rPr sz="2100" b="0">
                          <a:solidFill>
                            <a:srgbClr val="3E4853"/>
                          </a:solidFill>
                          <a:latin typeface="Apple SD Gothic Neo"/>
                          <a:ea typeface="Apple SD Gothic Neo"/>
                          <a:cs typeface="Apple SD Gothic Neo"/>
                        </a:rPr>
                        <a:t>측정  공통 변경 과제별 수정 요소 수의 평균</a:t>
                      </a:r>
                    </a:p>
                  </a:txBody>
                  <a:tcPr marL="142875" marR="95250" marT="28575" marB="28575" anchor="ctr">
                    <a:solidFill>
                      <a:srgbClr val="EEF4F5"/>
                    </a:solidFill>
                  </a:tcPr>
                </a:tc>
                <a:tc>
                  <a:txBody>
                    <a:bodyPr/>
                    <a:lstStyle/>
                    <a:p>
                      <a:pPr algn="ctr"/>
                      <a:r>
                        <a:rPr sz="1875" b="1">
                          <a:solidFill>
                            <a:srgbClr val="183E4A"/>
                          </a:solidFill>
                          <a:latin typeface="Apple SD Gothic Neo"/>
                          <a:ea typeface="Apple SD Gothic Neo"/>
                          <a:cs typeface="Apple SD Gothic Neo"/>
                        </a:rPr>
                        <a:t>3</a:t>
                      </a:r>
                    </a:p>
                  </a:txBody>
                  <a:tcPr marL="95250" marR="95250" marT="28575" marB="28575" anchor="ctr">
                    <a:solidFill>
                      <a:srgbClr val="EEF4F5"/>
                    </a:solidFill>
                  </a:tcPr>
                </a:tc>
              </a:tr>
              <a:tr h="1466850">
                <a:tc>
                  <a:txBody>
                    <a:bodyPr/>
                    <a:lstStyle/>
                    <a:p>
                      <a:pPr algn="ctr"/>
                      <a:r>
                        <a:rPr sz="2175" b="1">
                          <a:solidFill>
                            <a:srgbClr val="183E4A"/>
                          </a:solidFill>
                          <a:latin typeface="Apple SD Gothic Neo"/>
                          <a:ea typeface="Apple SD Gothic Neo"/>
                          <a:cs typeface="Apple SD Gothic Neo"/>
                        </a:rPr>
                        <a:t>V-06</a:t>
                      </a:r>
                    </a:p>
                  </a:txBody>
                  <a:tcPr marL="95250" marR="95250" marT="28575" marB="28575" anchor="ctr">
                    <a:solidFill>
                      <a:srgbClr val="F8FAFB"/>
                    </a:solidFill>
                  </a:tcPr>
                </a:tc>
                <a:tc>
                  <a:txBody>
                    <a:bodyPr/>
                    <a:lstStyle/>
                    <a:p>
                      <a:pPr algn="ctr"/>
                      <a:r>
                        <a:rPr sz="2175" b="1">
                          <a:solidFill>
                            <a:srgbClr val="183E4A"/>
                          </a:solidFill>
                          <a:latin typeface="Apple SD Gothic Neo"/>
                          <a:ea typeface="Apple SD Gothic Neo"/>
                          <a:cs typeface="Apple SD Gothic Neo"/>
                        </a:rPr>
                        <a:t>메모리 효율성</a:t>
                      </a:r>
                    </a:p>
                  </a:txBody>
                  <a:tcPr marL="95250" marR="95250" marT="28575" marB="28575" anchor="ctr">
                    <a:solidFill>
                      <a:srgbClr val="F8FAFB"/>
                    </a:solidFill>
                  </a:tcPr>
                </a:tc>
                <a:tc>
                  <a:txBody>
                    <a:bodyPr/>
                    <a:lstStyle/>
                    <a:p>
                      <a:pPr algn="l"/>
                      <a:r>
                        <a:rPr sz="2175" b="0">
                          <a:solidFill>
                            <a:srgbClr val="17232E"/>
                          </a:solidFill>
                          <a:latin typeface="Apple SD Gothic Neo"/>
                          <a:ea typeface="Apple SD Gothic Neo"/>
                          <a:cs typeface="Apple SD Gothic Neo"/>
                        </a:rPr>
                        <a:t>상시 실행에 필요한 메모리를 제한해야 한다.</a:t>
                      </a:r>
                    </a:p>
                    <a:p>
                      <a:pPr algn="l"/>
                      <a:r>
                        <a:rPr sz="2175" b="1">
                          <a:solidFill>
                            <a:srgbClr val="2873B9"/>
                          </a:solidFill>
                          <a:latin typeface="Apple SD Gothic Neo"/>
                          <a:ea typeface="Apple SD Gothic Neo"/>
                          <a:cs typeface="Apple SD Gothic Neo"/>
                        </a:rPr>
                        <a:t>목표  최대 전체 메모리 ≤ 16GB</a:t>
                      </a:r>
                    </a:p>
                    <a:p>
                      <a:pPr algn="l"/>
                      <a:r>
                        <a:rPr sz="2100" b="0">
                          <a:solidFill>
                            <a:srgbClr val="3E4853"/>
                          </a:solidFill>
                          <a:latin typeface="Apple SD Gothic Neo"/>
                          <a:ea typeface="Apple SD Gothic Neo"/>
                          <a:cs typeface="Apple SD Gothic Neo"/>
                        </a:rPr>
                        <a:t>측정  8시간 시험에서 VIA 전체 물리 메모리의 최댓값</a:t>
                      </a:r>
                    </a:p>
                  </a:txBody>
                  <a:tcPr marL="142875" marR="95250" marT="28575" marB="28575" anchor="ctr">
                    <a:solidFill>
                      <a:srgbClr val="F8FAFB"/>
                    </a:solidFill>
                  </a:tcPr>
                </a:tc>
                <a:tc>
                  <a:txBody>
                    <a:bodyPr/>
                    <a:lstStyle/>
                    <a:p>
                      <a:pPr algn="ctr"/>
                      <a:r>
                        <a:rPr sz="1875" b="1">
                          <a:solidFill>
                            <a:srgbClr val="183E4A"/>
                          </a:solidFill>
                          <a:latin typeface="Apple SD Gothic Neo"/>
                          <a:ea typeface="Apple SD Gothic Neo"/>
                          <a:cs typeface="Apple SD Gothic Neo"/>
                        </a:rPr>
                        <a:t>4</a:t>
                      </a:r>
                    </a:p>
                  </a:txBody>
                  <a:tcPr marL="95250" marR="95250" marT="28575" marB="28575" anchor="ctr">
                    <a:solidFill>
                      <a:srgbClr val="F8FAFB"/>
                    </a:solidFill>
                  </a:tcPr>
                </a:tc>
              </a:tr>
              <a:tr h="1466850">
                <a:tc>
                  <a:txBody>
                    <a:bodyPr/>
                    <a:lstStyle/>
                    <a:p>
                      <a:pPr algn="ctr"/>
                      <a:r>
                        <a:rPr sz="2175" b="1">
                          <a:solidFill>
                            <a:srgbClr val="183E4A"/>
                          </a:solidFill>
                          <a:latin typeface="Apple SD Gothic Neo"/>
                          <a:ea typeface="Apple SD Gothic Neo"/>
                          <a:cs typeface="Apple SD Gothic Neo"/>
                        </a:rPr>
                        <a:t>V-07</a:t>
                      </a:r>
                    </a:p>
                  </a:txBody>
                  <a:tcPr marL="95250" marR="95250" marT="28575" marB="28575" anchor="ctr">
                    <a:solidFill>
                      <a:srgbClr val="EEF4F5"/>
                    </a:solidFill>
                  </a:tcPr>
                </a:tc>
                <a:tc>
                  <a:txBody>
                    <a:bodyPr/>
                    <a:lstStyle/>
                    <a:p>
                      <a:pPr algn="ctr"/>
                      <a:r>
                        <a:rPr sz="2175" b="1">
                          <a:solidFill>
                            <a:srgbClr val="183E4A"/>
                          </a:solidFill>
                          <a:latin typeface="Apple SD Gothic Neo"/>
                          <a:ea typeface="Apple SD Gothic Neo"/>
                          <a:cs typeface="Apple SD Gothic Neo"/>
                        </a:rPr>
                        <a:t>복구 용이성</a:t>
                      </a:r>
                    </a:p>
                  </a:txBody>
                  <a:tcPr marL="95250" marR="95250" marT="28575" marB="28575" anchor="ctr">
                    <a:solidFill>
                      <a:srgbClr val="EEF4F5"/>
                    </a:solidFill>
                  </a:tcPr>
                </a:tc>
                <a:tc>
                  <a:txBody>
                    <a:bodyPr/>
                    <a:lstStyle/>
                    <a:p>
                      <a:pPr algn="l"/>
                      <a:r>
                        <a:rPr sz="2175" b="0">
                          <a:solidFill>
                            <a:srgbClr val="17232E"/>
                          </a:solidFill>
                          <a:latin typeface="Apple SD Gothic Neo"/>
                          <a:ea typeface="Apple SD Gothic Neo"/>
                          <a:cs typeface="Apple SD Gothic Neo"/>
                        </a:rPr>
                        <a:t>장애 후 올바른 처리를 빠르게 재개해야 한다.</a:t>
                      </a:r>
                    </a:p>
                    <a:p>
                      <a:pPr algn="l"/>
                      <a:r>
                        <a:rPr sz="2175" b="1">
                          <a:solidFill>
                            <a:srgbClr val="2873B9"/>
                          </a:solidFill>
                          <a:latin typeface="Apple SD Gothic Neo"/>
                          <a:ea typeface="Apple SD Gothic Neo"/>
                          <a:cs typeface="Apple SD Gothic Neo"/>
                        </a:rPr>
                        <a:t>목표  평균 복구시간 ≤ 10초</a:t>
                      </a:r>
                    </a:p>
                    <a:p>
                      <a:pPr algn="l"/>
                      <a:r>
                        <a:rPr sz="2100" b="0">
                          <a:solidFill>
                            <a:srgbClr val="3E4853"/>
                          </a:solidFill>
                          <a:latin typeface="Apple SD Gothic Neo"/>
                          <a:ea typeface="Apple SD Gothic Neo"/>
                          <a:cs typeface="Apple SD Gothic Neo"/>
                        </a:rPr>
                        <a:t>측정  장애 주입부터 정상 처리 재개까지의 시간 평균</a:t>
                      </a:r>
                    </a:p>
                  </a:txBody>
                  <a:tcPr marL="142875" marR="95250" marT="28575" marB="28575" anchor="ctr">
                    <a:solidFill>
                      <a:srgbClr val="EEF4F5"/>
                    </a:solidFill>
                  </a:tcPr>
                </a:tc>
                <a:tc>
                  <a:txBody>
                    <a:bodyPr/>
                    <a:lstStyle/>
                    <a:p>
                      <a:pPr algn="ctr"/>
                      <a:r>
                        <a:rPr sz="1875" b="1">
                          <a:solidFill>
                            <a:srgbClr val="183E4A"/>
                          </a:solidFill>
                          <a:latin typeface="Apple SD Gothic Neo"/>
                          <a:ea typeface="Apple SD Gothic Neo"/>
                          <a:cs typeface="Apple SD Gothic Neo"/>
                        </a:rPr>
                        <a:t>5</a:t>
                      </a:r>
                    </a:p>
                  </a:txBody>
                  <a:tcPr marL="95250" marR="95250" marT="28575" marB="28575" anchor="ctr">
                    <a:solidFill>
                      <a:srgbClr val="EEF4F5"/>
                    </a:solidFill>
                  </a:tcPr>
                </a:tc>
              </a:tr>
              <a:tr h="1466850">
                <a:tc>
                  <a:txBody>
                    <a:bodyPr/>
                    <a:lstStyle/>
                    <a:p>
                      <a:pPr algn="ctr"/>
                      <a:r>
                        <a:rPr sz="2175" b="1">
                          <a:solidFill>
                            <a:srgbClr val="183E4A"/>
                          </a:solidFill>
                          <a:latin typeface="Apple SD Gothic Neo"/>
                          <a:ea typeface="Apple SD Gothic Neo"/>
                          <a:cs typeface="Apple SD Gothic Neo"/>
                        </a:rPr>
                        <a:t>V-09</a:t>
                      </a:r>
                    </a:p>
                  </a:txBody>
                  <a:tcPr marL="95250" marR="95250" marT="28575" marB="28575" anchor="ctr">
                    <a:solidFill>
                      <a:srgbClr val="F8FAFB"/>
                    </a:solidFill>
                  </a:tcPr>
                </a:tc>
                <a:tc>
                  <a:txBody>
                    <a:bodyPr/>
                    <a:lstStyle/>
                    <a:p>
                      <a:pPr algn="ctr"/>
                      <a:r>
                        <a:rPr sz="2175" b="1">
                          <a:solidFill>
                            <a:srgbClr val="183E4A"/>
                          </a:solidFill>
                          <a:latin typeface="Apple SD Gothic Neo"/>
                          <a:ea typeface="Apple SD Gothic Neo"/>
                          <a:cs typeface="Apple SD Gothic Neo"/>
                        </a:rPr>
                        <a:t>분석 용이성</a:t>
                      </a:r>
                    </a:p>
                  </a:txBody>
                  <a:tcPr marL="95250" marR="95250" marT="28575" marB="28575" anchor="ctr">
                    <a:solidFill>
                      <a:srgbClr val="F8FAFB"/>
                    </a:solidFill>
                  </a:tcPr>
                </a:tc>
                <a:tc>
                  <a:txBody>
                    <a:bodyPr/>
                    <a:lstStyle/>
                    <a:p>
                      <a:pPr algn="l"/>
                      <a:r>
                        <a:rPr sz="2175" b="0">
                          <a:solidFill>
                            <a:srgbClr val="17232E"/>
                          </a:solidFill>
                          <a:latin typeface="Apple SD Gothic Neo"/>
                          <a:ea typeface="Apple SD Gothic Neo"/>
                          <a:cs typeface="Apple SD Gothic Neo"/>
                        </a:rPr>
                        <a:t>실행 기록으로 처리 경위를 쉽게 확인할 수 있어야 한다.</a:t>
                      </a:r>
                    </a:p>
                    <a:p>
                      <a:pPr algn="l"/>
                      <a:r>
                        <a:rPr sz="2175" b="1">
                          <a:solidFill>
                            <a:srgbClr val="2873B9"/>
                          </a:solidFill>
                          <a:latin typeface="Apple SD Gothic Neo"/>
                          <a:ea typeface="Apple SD Gothic Neo"/>
                          <a:cs typeface="Apple SD Gothic Neo"/>
                        </a:rPr>
                        <a:t>목표  처리 경위 확인율 = 100%</a:t>
                      </a:r>
                    </a:p>
                    <a:p>
                      <a:pPr algn="l"/>
                      <a:r>
                        <a:rPr sz="2100" b="0">
                          <a:solidFill>
                            <a:srgbClr val="3E4853"/>
                          </a:solidFill>
                          <a:latin typeface="Apple SD Gothic Neo"/>
                          <a:ea typeface="Apple SD Gothic Neo"/>
                          <a:cs typeface="Apple SD Gothic Neo"/>
                        </a:rPr>
                        <a:t>측정  독립 분석자가 기록만으로 처리 경위를 맞힌 비율</a:t>
                      </a:r>
                    </a:p>
                  </a:txBody>
                  <a:tcPr marL="142875" marR="95250" marT="28575" marB="28575" anchor="ctr">
                    <a:solidFill>
                      <a:srgbClr val="F8FAFB"/>
                    </a:solidFill>
                  </a:tcPr>
                </a:tc>
                <a:tc>
                  <a:txBody>
                    <a:bodyPr/>
                    <a:lstStyle/>
                    <a:p>
                      <a:pPr algn="ctr"/>
                      <a:r>
                        <a:rPr sz="1875" b="1">
                          <a:solidFill>
                            <a:srgbClr val="183E4A"/>
                          </a:solidFill>
                          <a:latin typeface="Apple SD Gothic Neo"/>
                          <a:ea typeface="Apple SD Gothic Neo"/>
                          <a:cs typeface="Apple SD Gothic Neo"/>
                        </a:rPr>
                        <a:t>6 (공동)</a:t>
                      </a:r>
                    </a:p>
                  </a:txBody>
                  <a:tcPr marL="95250" marR="95250" marT="28575" marB="28575" anchor="ctr">
                    <a:solidFill>
                      <a:srgbClr val="F8FAFB"/>
                    </a:solidFill>
                  </a:tcPr>
                </a:tc>
              </a:tr>
              <a:tr h="1466850">
                <a:tc>
                  <a:txBody>
                    <a:bodyPr/>
                    <a:lstStyle/>
                    <a:p>
                      <a:pPr algn="ctr"/>
                      <a:r>
                        <a:rPr sz="2175" b="1">
                          <a:solidFill>
                            <a:srgbClr val="183E4A"/>
                          </a:solidFill>
                          <a:latin typeface="Apple SD Gothic Neo"/>
                          <a:ea typeface="Apple SD Gothic Neo"/>
                          <a:cs typeface="Apple SD Gothic Neo"/>
                        </a:rPr>
                        <a:t>V-10</a:t>
                      </a:r>
                    </a:p>
                  </a:txBody>
                  <a:tcPr marL="95250" marR="95250" marT="28575" marB="28575" anchor="ctr">
                    <a:solidFill>
                      <a:srgbClr val="EEF4F5"/>
                    </a:solidFill>
                  </a:tcPr>
                </a:tc>
                <a:tc>
                  <a:txBody>
                    <a:bodyPr/>
                    <a:lstStyle/>
                    <a:p>
                      <a:pPr algn="ctr"/>
                      <a:r>
                        <a:rPr sz="2175" b="1">
                          <a:solidFill>
                            <a:srgbClr val="183E4A"/>
                          </a:solidFill>
                          <a:latin typeface="Apple SD Gothic Neo"/>
                          <a:ea typeface="Apple SD Gothic Neo"/>
                          <a:cs typeface="Apple SD Gothic Neo"/>
                        </a:rPr>
                        <a:t>기밀성</a:t>
                      </a:r>
                    </a:p>
                  </a:txBody>
                  <a:tcPr marL="95250" marR="95250" marT="28575" marB="28575" anchor="ctr">
                    <a:solidFill>
                      <a:srgbClr val="EEF4F5"/>
                    </a:solidFill>
                  </a:tcPr>
                </a:tc>
                <a:tc>
                  <a:txBody>
                    <a:bodyPr/>
                    <a:lstStyle/>
                    <a:p>
                      <a:pPr algn="l"/>
                      <a:r>
                        <a:rPr sz="2175" b="0">
                          <a:solidFill>
                            <a:srgbClr val="17232E"/>
                          </a:solidFill>
                          <a:latin typeface="Apple SD Gothic Neo"/>
                          <a:ea typeface="Apple SD Gothic Neo"/>
                          <a:cs typeface="Apple SD Gothic Neo"/>
                        </a:rPr>
                        <a:t>사용자 정보는 허용된 범위 안에서만 사용해야 한다.</a:t>
                      </a:r>
                    </a:p>
                    <a:p>
                      <a:pPr algn="l"/>
                      <a:r>
                        <a:rPr sz="2175" b="1">
                          <a:solidFill>
                            <a:srgbClr val="2873B9"/>
                          </a:solidFill>
                          <a:latin typeface="Apple SD Gothic Neo"/>
                          <a:ea typeface="Apple SD Gothic Neo"/>
                          <a:cs typeface="Apple SD Gothic Neo"/>
                        </a:rPr>
                        <a:t>목표  무단 정보 사용 = 0건</a:t>
                      </a:r>
                    </a:p>
                    <a:p>
                      <a:pPr algn="l"/>
                      <a:r>
                        <a:rPr sz="2100" b="0">
                          <a:solidFill>
                            <a:srgbClr val="3E4853"/>
                          </a:solidFill>
                          <a:latin typeface="Apple SD Gothic Neo"/>
                          <a:ea typeface="Apple SD Gothic Neo"/>
                          <a:cs typeface="Apple SD Gothic Neo"/>
                        </a:rPr>
                        <a:t>측정  권한과 철회 및 삭제 시험 144회의 위반 사건 수</a:t>
                      </a:r>
                    </a:p>
                  </a:txBody>
                  <a:tcPr marL="142875" marR="95250" marT="28575" marB="28575" anchor="ctr">
                    <a:solidFill>
                      <a:srgbClr val="EEF4F5"/>
                    </a:solidFill>
                  </a:tcPr>
                </a:tc>
                <a:tc>
                  <a:txBody>
                    <a:bodyPr/>
                    <a:lstStyle/>
                    <a:p>
                      <a:pPr algn="ctr"/>
                      <a:r>
                        <a:rPr sz="1875" b="1">
                          <a:solidFill>
                            <a:srgbClr val="183E4A"/>
                          </a:solidFill>
                          <a:latin typeface="Apple SD Gothic Neo"/>
                          <a:ea typeface="Apple SD Gothic Neo"/>
                          <a:cs typeface="Apple SD Gothic Neo"/>
                        </a:rPr>
                        <a:t>6 (공동)</a:t>
                      </a:r>
                    </a:p>
                  </a:txBody>
                  <a:tcPr marL="95250" marR="95250" marT="28575" marB="28575" anchor="ctr">
                    <a:solidFill>
                      <a:srgbClr val="EEF4F5"/>
                    </a:solidFill>
                  </a:tcPr>
                </a:tc>
              </a:tr>
            </a:tbl>
          </a:graphicData>
        </a:graphic>
      </p:graphicFrame>
      <p:sp>
        <p:nvSpPr>
          <p:cNvPr id="5" name="footnote">
            <a:extLst xmlns:a="http://schemas.openxmlformats.org/drawingml/2006/main">
              <a:ext uri="{FF2B5EF4-FFF2-40B4-BE49-F238E27FC236}">
                <a16:creationId xmlns:a16="http://schemas.microsoft.com/office/drawing/2014/main" id="{74A20B46-575D-45AE-9E9E-5A65D5F24392}"/>
              </a:ext>
            </a:extLst>
          </p:cNvPr>
          <p:cNvSpPr>
            <a:spLocks xmlns:a="http://schemas.openxmlformats.org/drawingml/2006/main" noGrp="1"/>
          </p:cNvSpPr>
          <p:nvPr/>
        </p:nvSpPr>
        <p:spPr>
          <a:xfrm xmlns:a="http://schemas.openxmlformats.org/drawingml/2006/main">
            <a:off x="457200" y="9829800"/>
            <a:ext cx="17373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3606C"/>
                </a:solidFill>
                <a:latin typeface="Apple SD Gothic Neo"/>
                <a:ea typeface="Apple SD Gothic Neo"/>
                <a:cs typeface="Apple SD Gothic Neo"/>
              </a:defRPr>
            </a:pPr>
            <a:r>
              <a:rPr sz="1800" b="0">
                <a:solidFill>
                  <a:srgbClr val="53606C"/>
                </a:solidFill>
                <a:latin typeface="Apple SD Gothic Neo"/>
                <a:ea typeface="Apple SD Gothic Neo"/>
                <a:cs typeface="Apple SD Gothic Neo"/>
              </a:rPr>
              <a:t>근거 기반 목표 제안. 출처와 상세 측정 절차는 발표자 노트 및 Markdown에 수록. 구현 및 측정 결과 없음.</a:t>
            </a:r>
          </a:p>
        </p:txBody>
      </p:sp>
    </p:spTree>
    <p:extLst>
      <p:ext uri="{BB962C8B-B14F-4D97-AF65-F5344CB8AC3E}">
        <p14:creationId xmlns:p14="http://schemas.microsoft.com/office/powerpoint/2010/main" val="18960235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2026-10-06T14:15:28.4810000Z</dcterms:created>
  <dcterms:modified xsi:type="dcterms:W3CDTF">2026-10-06T14:15:28.4810000Z</dcterms:modified>
</coreProperties>
</file>