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f3fe00183894d35" /><Relationship Type="http://schemas.openxmlformats.org/officeDocument/2006/relationships/extended-properties" Target="/docProps/app.xml" Id="Ra1cdbe1b898241d7" /><Relationship Type="http://schemas.openxmlformats.org/officeDocument/2006/relationships/officeDocument" Target="/ppt/presentation.xml" Id="Ree5b7af24fdd4dd1" /></Relationships>
</file>

<file path=ppt/presentation.xml><?xml version="1.0" encoding="utf-8"?>
<p:presentation xmlns:p="http://schemas.openxmlformats.org/presentationml/2006/main">
  <p:sldMasterIdLst>
    <p:sldMasterId xmlns:r="http://schemas.openxmlformats.org/officeDocument/2006/relationships" id="2147483648" r:id="R40b691c3290d414d"/>
  </p:sldMasterIdLst>
  <p:notesMasterIdLst>
    <p:notesMasterId xmlns:r="http://schemas.openxmlformats.org/officeDocument/2006/relationships" r:id="Rce6df07bcca64d31"/>
  </p:notesMasterIdLst>
  <p:sldIdLst>
    <p:sldId xmlns:r="http://schemas.openxmlformats.org/officeDocument/2006/relationships" id="256" r:id="Rd0b66399a5e64423"/>
    <p:sldId xmlns:r="http://schemas.openxmlformats.org/officeDocument/2006/relationships" id="257" r:id="R4ac64b368de749d0"/>
    <p:sldId xmlns:r="http://schemas.openxmlformats.org/officeDocument/2006/relationships" id="258" r:id="Rac4e241f08994165"/>
    <p:sldId xmlns:r="http://schemas.openxmlformats.org/officeDocument/2006/relationships" id="259" r:id="R623dcf4cf1e84850"/>
    <p:sldId xmlns:r="http://schemas.openxmlformats.org/officeDocument/2006/relationships" id="260" r:id="R84285bde8e3246ae"/>
    <p:sldId xmlns:r="http://schemas.openxmlformats.org/officeDocument/2006/relationships" id="261" r:id="R59481be9e3e34722"/>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8ced88278c6462f" /><Relationship Type="http://schemas.openxmlformats.org/officeDocument/2006/relationships/slideMaster" Target="/ppt/slideMasters/slideMaster1.xml" Id="R40b691c3290d414d" /><Relationship Type="http://schemas.openxmlformats.org/officeDocument/2006/relationships/notesMaster" Target="/ppt/notesMasters/notesMaster1.xml" Id="Rce6df07bcca64d31" /><Relationship Type="http://schemas.openxmlformats.org/officeDocument/2006/relationships/presProps" Target="/ppt/presProps.xml" Id="R01ee5a0e56a24600" /><Relationship Type="http://schemas.openxmlformats.org/officeDocument/2006/relationships/tableStyles" Target="/ppt/tableStyles.xml" Id="Rceed989a31754645" /><Relationship Type="http://schemas.openxmlformats.org/officeDocument/2006/relationships/slide" Target="/ppt/slides/slide1.xml" Id="Rd0b66399a5e64423" /><Relationship Type="http://schemas.openxmlformats.org/officeDocument/2006/relationships/slide" Target="/ppt/slides/slide2.xml" Id="R4ac64b368de749d0" /><Relationship Type="http://schemas.openxmlformats.org/officeDocument/2006/relationships/slide" Target="/ppt/slides/slide3.xml" Id="Rac4e241f08994165" /><Relationship Type="http://schemas.openxmlformats.org/officeDocument/2006/relationships/slide" Target="/ppt/slides/slide4.xml" Id="R623dcf4cf1e84850" /><Relationship Type="http://schemas.openxmlformats.org/officeDocument/2006/relationships/slide" Target="/ppt/slides/slide5.xml" Id="R84285bde8e3246ae" /><Relationship Type="http://schemas.openxmlformats.org/officeDocument/2006/relationships/slide" Target="/ppt/slides/slide6.xml" Id="R59481be9e3e3472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68b7d512cc84ff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c07d0c059064fa0" /><Relationship Type="http://schemas.openxmlformats.org/officeDocument/2006/relationships/notesMaster" Target="/ppt/notesMasters/notesMaster1.xml" Id="Rc001e3358eae47a4" /></Relationships>
</file>

<file path=ppt/notesSlides/_rels/notesSlide2.xml.rels>&#65279;<?xml version="1.0" encoding="utf-8"?><Relationships xmlns="http://schemas.openxmlformats.org/package/2006/relationships"><Relationship Type="http://schemas.openxmlformats.org/officeDocument/2006/relationships/slide" Target="/ppt/slides/slide2.xml" Id="Re9fb71b5bc0a476c" /><Relationship Type="http://schemas.openxmlformats.org/officeDocument/2006/relationships/notesMaster" Target="/ppt/notesMasters/notesMaster1.xml" Id="R5aeaa1e1d1224f21" /></Relationships>
</file>

<file path=ppt/notesSlides/_rels/notesSlide3.xml.rels>&#65279;<?xml version="1.0" encoding="utf-8"?><Relationships xmlns="http://schemas.openxmlformats.org/package/2006/relationships"><Relationship Type="http://schemas.openxmlformats.org/officeDocument/2006/relationships/slide" Target="/ppt/slides/slide3.xml" Id="R34d0303417f34be1" /><Relationship Type="http://schemas.openxmlformats.org/officeDocument/2006/relationships/notesMaster" Target="/ppt/notesMasters/notesMaster1.xml" Id="R48841cc7567c4d90" /></Relationships>
</file>

<file path=ppt/notesSlides/_rels/notesSlide4.xml.rels>&#65279;<?xml version="1.0" encoding="utf-8"?><Relationships xmlns="http://schemas.openxmlformats.org/package/2006/relationships"><Relationship Type="http://schemas.openxmlformats.org/officeDocument/2006/relationships/slide" Target="/ppt/slides/slide4.xml" Id="Rfeefd9120d4b45e4" /><Relationship Type="http://schemas.openxmlformats.org/officeDocument/2006/relationships/notesMaster" Target="/ppt/notesMasters/notesMaster1.xml" Id="Rfd3d12ef44a14722" /></Relationships>
</file>

<file path=ppt/notesSlides/_rels/notesSlide5.xml.rels>&#65279;<?xml version="1.0" encoding="utf-8"?><Relationships xmlns="http://schemas.openxmlformats.org/package/2006/relationships"><Relationship Type="http://schemas.openxmlformats.org/officeDocument/2006/relationships/slide" Target="/ppt/slides/slide5.xml" Id="Rcd7a9108d22646bd" /><Relationship Type="http://schemas.openxmlformats.org/officeDocument/2006/relationships/notesMaster" Target="/ppt/notesMasters/notesMaster1.xml" Id="Ra4d9927aed164a0d" /></Relationships>
</file>

<file path=ppt/notesSlides/_rels/notesSlide6.xml.rels>&#65279;<?xml version="1.0" encoding="utf-8"?><Relationships xmlns="http://schemas.openxmlformats.org/package/2006/relationships"><Relationship Type="http://schemas.openxmlformats.org/officeDocument/2006/relationships/slide" Target="/ppt/slides/slide6.xml" Id="R2eded5795f7d4d32" /><Relationship Type="http://schemas.openxmlformats.org/officeDocument/2006/relationships/notesMaster" Target="/ppt/notesMasters/notesMaster1.xml" Id="Rd7484affe184459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00fedd21cfe33a3c35990f84af0610bef6fb2f7e9473404d2f935222c3ad084c</a:t>
            </a:r>
          </a:p>
          <a:p xmlns:a="http://schemas.openxmlformats.org/drawingml/2006/main">
            <a:r>
              <a:t>작성일: 2026-10-11</a:t>
            </a:r>
          </a:p>
          <a:p xmlns:a="http://schemas.openxmlformats.org/drawingml/2006/main">
            <a:r>
              <a:t>원본 SHA-256: d25a503005403e71d5811d61f20d9c227479bfeb04808ba868ce06adc463e4f8</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ASR-QA-01 요청 처리 정확성</a:t>
            </a:r>
          </a:p>
          <a:p xmlns:a="http://schemas.openxmlformats.org/drawingml/2006/main">
            <a:r>
              <a:t>정의: 사용자의 의도와 확인된 사실에 맞게 요청을 처리하는 능력</a:t>
            </a:r>
          </a:p>
          <a:p xmlns:a="http://schemas.openxmlformats.org/drawingml/2006/main">
            <a:r>
              <a:t>측정 지표: 필수 정답 조건 충족률(%) = P21의 21개 × 5회 × C1~C6, 630조건</a:t>
            </a:r>
          </a:p>
          <a:p xmlns:a="http://schemas.openxmlformats.org/drawingml/2006/main">
            <a:r>
              <a:t>목표: 98% 이상, 정답 618/630 이상</a:t>
            </a:r>
          </a:p>
          <a:p xmlns:a="http://schemas.openxmlformats.org/drawingml/2006/main">
            <a:r>
              <a:t>목표 근거: 조건 오류 50개당 1개 이내. 전체 시나리오/상황군/조건 유형 ≥95%, 필수 위반 0건. 재사용·동시 부하·최종 tail도 채점 (§3)</a:t>
            </a:r>
          </a:p>
          <a:p xmlns:a="http://schemas.openxmlformats.org/drawingml/2006/main">
            <a:r>
              <a:t>보호 조건: 전체/S/C ≥95%, 필수 위반 0건</a:t>
            </a:r>
          </a:p>
          <a:p xmlns:a="http://schemas.openxmlformats.org/drawingml/2006/main">
            <a:r>
              <a:t>출처:</a:t>
            </a:r>
          </a:p>
          <a:p xmlns:a="http://schemas.openxmlformats.org/drawingml/2006/main">
            <a:r>
              <a:t>VIA 고정 기능/UC: ../../architecture/05-representative-use-cases.md</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§3</a:t>
            </a:r>
          </a:p>
          <a:p xmlns:a="http://schemas.openxmlformats.org/drawingml/2006/main">
            <a:r>
              <a:t>정확성</a:t>
            </a:r>
          </a:p>
          <a:p xmlns:a="http://schemas.openxmlformats.org/drawingml/2006/main">
            <a:r>
              <a:t/>
            </a:r>
          </a:p>
          <a:p xmlns:a="http://schemas.openxmlformats.org/drawingml/2006/main">
            <a:r>
              <a:t>### 3.1 정의와 평가 범위</a:t>
            </a:r>
          </a:p>
          <a:p xmlns:a="http://schemas.openxmlformats.org/drawingml/2006/main">
            <a:r>
              <a:t/>
            </a:r>
          </a:p>
          <a:p xmlns:a="http://schemas.openxmlformats.org/drawingml/2006/main">
            <a:r>
              <a:t>요청의 의미와 처리 방향부터 근거, Task 연결, 조건/범위, 실제 상태/최종 결과와 전달까지 검사한다. Agent의 도메인 작성 능력은 고정 외부 조건이고 VIA가 전달한 요청/결과의 사실을 채점한다. 준비 단계가 끝나지 않았거나 처리/최종 tail이 실패해도 실행을 분모에서 삭제하지 않는다. 채점은 시나리오당 C1~C6 각0/1이며 조건 안 필수 사실 모두 통과해야1이다.</a:t>
            </a:r>
          </a:p>
          <a:p xmlns:a="http://schemas.openxmlformats.org/drawingml/2006/main">
            <a:r>
              <a:t/>
            </a:r>
          </a:p>
          <a:p xmlns:a="http://schemas.openxmlformats.org/drawingml/2006/main">
            <a:r>
              <a:t>### 3.2 사례 선정과 QA 대응표</a:t>
            </a:r>
          </a:p>
          <a:p xmlns:a="http://schemas.openxmlformats.org/drawingml/2006/main">
            <a:r>
              <a:t/>
            </a:r>
          </a:p>
          <a:p xmlns:a="http://schemas.openxmlformats.org/drawingml/2006/main">
            <a:r>
              <a:t>#### 3.2.1 선정 근거, 중복과 누락 검토</a:t>
            </a:r>
          </a:p>
          <a:p xmlns:a="http://schemas.openxmlformats.org/drawingml/2006/main">
            <a:r>
              <a:t/>
            </a:r>
          </a:p>
          <a:p xmlns:a="http://schemas.openxmlformats.org/drawingml/2006/main">
            <a:r>
              <a:t>[고정 UC](../../05-representative-use-cases.md)를 기능 근거로 두고 [41](./04-41-request-resolution-control.md), [42](./04-42-lifecycle-ownership.md), [44](./04-44-continuous-interaction.md), [45](./04-45-memory-and-context.md)의 실제 기제를 검토했다. 단순 경로의 CONTROL은 강한 두 안이 같은 값을 낼 수 있음을 확인하고, SENSITIVE는 실제 구조 비용/오류 경로를 활성화한다. 둘 다 공통 모집단에 넣으며 쉬운 사례 반복으로 어려운 사례를 희석하지 않는다.</a:t>
            </a:r>
          </a:p>
          <a:p xmlns:a="http://schemas.openxmlformats.org/drawingml/2006/main">
            <a:r>
              <a:t/>
            </a:r>
          </a:p>
          <a:p xmlns:a="http://schemas.openxmlformats.org/drawingml/2006/main">
            <a:r>
              <a:t>| 상황군 | 사례 수 | 해당 수의 근거 / 기존 검토 |</a:t>
            </a:r>
          </a:p>
          <a:p xmlns:a="http://schemas.openxmlformats.org/drawingml/2006/main">
            <a:r>
              <a:t>| --- | --- | --- |</a:t>
            </a:r>
          </a:p>
          <a:p xmlns:a="http://schemas.openxmlformats.org/drawingml/2006/main">
            <a:r>
              <a:t>| S1 명시적 기본 요청 | 2 | 직접/위임 기준 경로. 신규 선호 등록 S1-03은 네 DP의 중요한 인과를 추가하지 않아 대표 묶음에서 제외하고 M06 기능 회귀에 보존 |</a:t>
            </a:r>
          </a:p>
          <a:p xmlns:a="http://schemas.openxmlformats.org/drawingml/2006/main">
            <a:r>
              <a:t>| S2 지칭/근거 연결 | 5 | 현재 복수 지칭, 교차원본/예외, 과거version, 유효 재사용, 새 원본 첫 사용은 서로 다른 조회/생산/검증 비용. 41/45 민감 |</a:t>
            </a:r>
          </a:p>
          <a:p xmlns:a="http://schemas.openxmlformats.org/drawingml/2006/main">
            <a:r>
              <a:t>| S3 복합 관계 | 3 | 독립/결과 의존/조건 변경은 실행 의존성이 서로 달라 병합하지 않음 |</a:t>
            </a:r>
          </a:p>
          <a:p xmlns:a="http://schemas.openxmlformats.org/drawingml/2006/main">
            <a:r>
              <a:t>| S4 정정/제어 | 3 | 부분 정정, local stop, 특정 취소의 효과/종료가 서로 달라 유지 |</a:t>
            </a:r>
          </a:p>
          <a:p xmlns:a="http://schemas.openxmlformats.org/drawingml/2006/main">
            <a:r>
              <a:t>| S5 Agent 사건 | 4 | 질문 철회, 결과 역전/중복, Voice 재연결, 입력과4사건 집중 도착은 서로 다른 상태/queue/window 조건 |</a:t>
            </a:r>
          </a:p>
          <a:p xmlns:a="http://schemas.openxmlformats.org/drawingml/2006/main">
            <a:r>
              <a:t>| S6 확인/판단 유보 | 4 | 모호한 요청, 철회/미제시 답변, 접근 거부, 정상 유효 답변을 분리. 특히42의 정상 접수 비용 대 경합을 구별 |</a:t>
            </a:r>
          </a:p>
          <a:p xmlns:a="http://schemas.openxmlformats.org/drawingml/2006/main">
            <a:r>
              <a:t>| 합계 | **21** | 균등 배치나 제품 빈도 가중이 아니라 메커니즘/오류 경로의 포괄로 선택 |</a:t>
            </a:r>
          </a:p>
          <a:p xmlns:a="http://schemas.openxmlformats.org/drawingml/2006/main">
            <a:r>
              <a:t/>
            </a:r>
          </a:p>
          <a:p xmlns:a="http://schemas.openxmlformats.org/drawingml/2006/main">
            <a:r>
              <a:t>**기존17개 유지/1개 회귀 이동/4개 추가:** S2-04 재사용/S2-05 새 근거 첫 사용/S5-04 집중 도착/S6-04 정상 답변을 추가했다. 재사용/집중 도착을 별도 비채점 자원 장면으로 두지 않는다. S2-02와04는 같은 원본이지만 준비 상태/새 업무 여부가 달라 중복이 아니다. S4-01과S5-04는 같은 정정이지만 외부 네 사건 동시 부하가 다르다. S6-02와04는 무효/유효 질문의 정상·경합 대비다.</a:t>
            </a:r>
          </a:p>
          <a:p xmlns:a="http://schemas.openxmlformats.org/drawingml/2006/main">
            <a:r>
              <a:t/>
            </a:r>
          </a:p>
          <a:p xmlns:a="http://schemas.openxmlformats.org/drawingml/2006/main">
            <a:r>
              <a:t>아래 표가 **모든21개 사례의 공통 QA 대응표**다. 전부 정확성 C1~C6와 비용/메모리 전체 원장에 포함된다. QA-02는 각 명시 사건의 첫 유효 반응, QA-03는 사용자 목표의 완료다. 직접 답변에서 두 구간이 같아도 허용한다. 질문/결과만 도착하는 S5-01/02에는 새 사용자 목표의 시작이 없어 QA-03만 적용하지 않는다. 나머지19개는 모두 QA-03에 포함한다. 여러 반응이 있는 S5-03/04도 관측을 생략하지 않으며 사건 수에 따른 비중을 공개한다.</a:t>
            </a:r>
          </a:p>
          <a:p xmlns:a="http://schemas.openxmlformats.org/drawingml/2006/main">
            <a:r>
              <a:t/>
            </a:r>
          </a:p>
          <a:p xmlns:a="http://schemas.openxmlformats.org/drawingml/2006/main">
            <a:r>
              <a:t>| 사례 | 주제 | 선정 근거 / DP 경로 | QA-02 시작 → 유효 반응 | QA-03 완료 / 제외 이유 |</a:t>
            </a:r>
          </a:p>
          <a:p xmlns:a="http://schemas.openxmlformats.org/drawingml/2006/main">
            <a:r>
              <a:t>| --- | --- | --- | --- | --- |</a:t>
            </a:r>
          </a:p>
          <a:p xmlns:a="http://schemas.openxmlformats.org/drawingml/2006/main">
            <a:r>
              <a:t>| S1-01 | 제한된 정보 조회 | 단순 직접/위임의 공통 기준 경로; DP-41/42/44; CONTROL | 발화 종료 → D1의 정확한 날짜 답변 전달 | D1 마감일 최종 전달 |</a:t>
            </a:r>
          </a:p>
          <a:p xmlns:a="http://schemas.openxmlformats.org/drawingml/2006/main">
            <a:r>
              <a:t>| S1-02 | 새 보고서 업무 위임 | 신규 업무 인계와 정상 접수의 기준 경로; DP-41/42/44; CONTROL | 발화 종료 → 해당 보고서의 실제 접수/진행 안내 | ReportQ3@v1 최종 결과 전달 |</a:t>
            </a:r>
          </a:p>
          <a:p xmlns:a="http://schemas.openxmlformats.org/drawingml/2006/main">
            <a:r>
              <a:t>| S2-01 | 발화 중 두 표 지칭 | 동일 발화의 복수 지칭을 실제 근거에 결합; DP-41; SENSITIVE | 발화 종료 → 발화 당시 두 표의 올바른 비교/위임 안내 | 지정 두 표 비교 결과 전달 |</a:t>
            </a:r>
          </a:p>
          <a:p xmlns:a="http://schemas.openxmlformats.org/drawingml/2006/main">
            <a:r>
              <a:t>| S2-02 | 과거 설명과 두 업무 결과 재사용 | 예외를 포함하는 세 과거 원본의 실제 연결; DP-41/45; SENSITIVE | 발화 종료 → 과거 근거/조건이 맞는 제안서 실제 접수 안내 | Proposal@v1 최종 전달 |</a:t>
            </a:r>
          </a:p>
          <a:p xmlns:a="http://schemas.openxmlformats.org/drawingml/2006/main">
            <a:r>
              <a:t>| S2-03 | 갱신된 원본의 과거 값 지정 | 원본 갱신 뒤 과거 revision의 보존/검증; DP-41/45; SENSITIVE | 발화 종료 → 과거 v1 값 지정이 맞는 실제 작성 접수 안내 | TablePast@v1 최종 전달 |</a:t>
            </a:r>
          </a:p>
          <a:p xmlns:a="http://schemas.openxmlformats.org/drawingml/2006/main">
            <a:r>
              <a:t>| S2-04 | 같은 과거 근거의 두 번째 사용 | 같은 원본 재사용의 cache/관계 hit와 전체 생산 비용; DP-45; SENSITIVE | 발화 종료 → 두 번째 새 제안서의 실제 접수 안내 | ProposalRepeat@v1 최종 전달 |</a:t>
            </a:r>
          </a:p>
          <a:p xmlns:a="http://schemas.openxmlformats.org/drawingml/2006/main">
            <a:r>
              <a:t>| S2-05 | 새로 도착한 과거 근거의 첫 사용 | 새 원본 첫 사용의 조합/미게시 backfill 대기; DP-41/45; SENSITIVE | 발화 종료 → 새 근거를 확보한 실제 제안서 접수 안내 | ProposalFresh@v1 최종 전달 |</a:t>
            </a:r>
          </a:p>
          <a:p xmlns:a="http://schemas.openxmlformats.org/drawingml/2006/main">
            <a:r>
              <a:t>| S3-01 | 독립된 두 조회 요청 | 독립 read의 병렬 진행을 양안에 허용하는 기준; DP-41/44; CONTROL | 발화 종료 → 독립 두 목표의 구분된 유효 답변/실제 접수 안내 | 독립 두 조회 결과 모두 전달 |</a:t>
            </a:r>
          </a:p>
          <a:p xmlns:a="http://schemas.openxmlformats.org/drawingml/2006/main">
            <a:r>
              <a:t>| S3-02 | 요약 산출물에 의존하는 메일 | 결과 의존/중복 반환의 전체 continuation; DP-41/44; SENSITIVE | 발화 종료 → 현재 요약/의존 메일의 유효 처리 사실 안내 | 현재 요약의 민수 메일 발송 확인 전달 |</a:t>
            </a:r>
          </a:p>
          <a:p xmlns:a="http://schemas.openxmlformats.org/drawingml/2006/main">
            <a:r>
              <a:t>| S3-03 | 일정 조건의 변경 재확인 | 해석 뒤 조건 변경의 재조회/재확정; DP-41/42/44; SENSITIVE | 발화 종료 → 최신 BUSY와 일정 생성 안 함의 안내 | 최신 BUSY/미생성 확인 전달 |</a:t>
            </a:r>
          </a:p>
          <a:p xmlns:a="http://schemas.openxmlformats.org/drawingml/2006/main">
            <a:r>
              <a:t>| S4-01 | 부분 정정과 늦은 후보 | 부분 정정과 옛 후보의 늦은 반환; DP-41/42/44; SENSITIVE | 발화 종료 → 보고서 변경 접수와 메일 보존 안내 | ReportRevised@v2 최종 전달 |</a:t>
            </a:r>
          </a:p>
          <a:p xmlns:a="http://schemas.openxmlformats.org/drawingml/2006/main">
            <a:r>
              <a:t>| S4-02 | 음성 중단 뒤 지정 수치 설명 | local stop와 새 설명의 분리, input 지속; DP-44; CONTROL | 새 발화 acoustic onset → 옛 음성의 마지막 재생 sample | 지정 수치의 새 설명 전달 |</a:t>
            </a:r>
          </a:p>
          <a:p xmlns:a="http://schemas.openxmlformats.org/drawingml/2006/main">
            <a:r>
              <a:t>| S4-03 | 특정 업무 취소와 접수 미확인 | hold/취소 접수/외부 미확인의 실제 순서; DP-42/44; SENSITIVE | 발화 종료 → 메일 취소 전달/미확인 상태의 정직한 안내 | 명세된 취소 접수/미확인 disposition 전달 |</a:t>
            </a:r>
          </a:p>
          <a:p xmlns:a="http://schemas.openxmlformats.org/drawingml/2006/main">
            <a:r>
              <a:t>| S5-01 | 교차 질문과 철회 | 질문 교차/철회와 실제 제시의 연결; DP-42/44; SENSITIVE | 유효 메일 질문 source availability → 올바른 수신자 질문 실제 제시 | Agent 발신 질문/결과 처리이며 새 사용자 목표 시작이 아님; 전달 지연은 QA-02로 관측 |</a:t>
            </a:r>
          </a:p>
          <a:p xmlns:a="http://schemas.openxmlformats.org/drawingml/2006/main">
            <a:r>
              <a:t>| S5-02 | 결과 역전과 중복 | 결과 역전/중복의 현재성 및 publication; DP-42/44; SENSITIVE | 최신 유효 결과 source availability → 올바른 현재 결과 실제 전달 | Agent 발신 질문/결과 처리이며 새 사용자 목표 시작이 아님; 전달 지연은 QA-02로 관측 |</a:t>
            </a:r>
          </a:p>
          <a:p xmlns:a="http://schemas.openxmlformats.org/drawingml/2006/main">
            <a:r>
              <a:t>| S5-03 | 음성 종료 중 결과와 재연결 | Voice Connection과 Task/결과의 독립 수명; DP-42/44; SENSITIVE | Voice OFF 결과 source availability → 실제 Text 결과 표시&lt;br&gt;재연결 요청 발화 종료 → 같은 보고서 결과의 실제 Voice 안내 | 재연결 요청에 기존 결과 안내 |</a:t>
            </a:r>
          </a:p>
          <a:p xmlns:a="http://schemas.openxmlformats.org/drawingml/2006/main">
            <a:r>
              <a:t>| S5-04 | 발화 중 네 Agent 사건과 보고서 정정 | 입력+네 Agent 사건의 queue/join/폐기/동시 할당; DP-42/44; SENSITIVE | 새 발화 acoustic onset → 옛 음성의 마지막 재생 sample&lt;br&gt;정정 발화 종료 → 올바른 보고서 변경 접수와 메일 보존 안내&lt;br&gt;질문A source availability → 질문A 실제 제시&lt;br&gt;결과A source availability → 결과A 실제 전달&lt;br&gt;질문B source availability → 질문B 실제 제시&lt;br&gt;결과B source availability → 결과B 실제 전달 | ReportBurst@v2 전달 및 지정 독립 반응 유지 |</a:t>
            </a:r>
          </a:p>
          <a:p xmlns:a="http://schemas.openxmlformats.org/drawingml/2006/main">
            <a:r>
              <a:t>| S6-01 | 모호한 과거 보고서 확인 | 모호한 대상의 확인과 후속 변경 전체 cycle; DP-41/45; SENSITIVE | 최초 발화 종료 → 보고서 대상/수정 내용 확인 질문 실제 제시 | ConfirmedRevision@v2 최종 전달 |</a:t>
            </a:r>
          </a:p>
          <a:p xmlns:a="http://schemas.openxmlformats.org/drawingml/2006/main">
            <a:r>
              <a:t>| S6-02 | 철회된 질문 답변과 승인 범위 | 미제시/철회 질문의 답변과 승인 scope 분리; DP-41/42/44; SENSITIVE | 최초 발화 종료 → 현재 정보 동의의 재확인 질문 실제 제시 | 허용된 연락처 제공/발송 미승인 확인 전달 |</a:t>
            </a:r>
          </a:p>
          <a:p xmlns:a="http://schemas.openxmlformats.org/drawingml/2006/main">
            <a:r>
              <a:t>| S6-03 | 필요한 자료의 접근 거부 | 허용 부족에서 조기 차단되는 공통 기준; DP-41/42/45; CONTROL | 발화 종료 → 접근 권한 부족/금액 확인 불가 안내 | 접근 거부와 확인 불가의 정당한 처리 전달 |</a:t>
            </a:r>
          </a:p>
          <a:p xmlns:a="http://schemas.openxmlformats.org/drawingml/2006/main">
            <a:r>
              <a:t>| S6-04 | 실제 제시된 유효 질문에 답변 | 유효 질문 답변의 정상 조회/확정/receipt 비용; DP-42; SENSITIVE | 발화 종료 → 상반기 답변의 실제 접수와 기간 안내 | 유효 기간 답변의 접수/확정 안내 |</a:t>
            </a:r>
          </a:p>
          <a:p xmlns:a="http://schemas.openxmlformats.org/drawingml/2006/main">
            <a:r>
              <a:t/>
            </a:r>
          </a:p>
          <a:p xmlns:a="http://schemas.openxmlformats.org/drawingml/2006/main">
            <a:r>
              <a:t/>
            </a:r>
          </a:p>
          <a:p xmlns:a="http://schemas.openxmlformats.org/drawingml/2006/main">
            <a:r>
              <a:t>#### 3.2.2 초기 상황, 입력, 사건과 정답</a:t>
            </a:r>
          </a:p>
          <a:p xmlns:a="http://schemas.openxmlformats.org/drawingml/2006/main">
            <a:r>
              <a:t/>
            </a:r>
          </a:p>
          <a:p xmlns:a="http://schemas.openxmlformats.org/drawingml/2006/main">
            <a:r>
              <a:t>합성 날짜는 2026-10-12 09:00 Asia/Seoul이다. 사용자 입력/후속 답변은 Voice, Text 출력은 정답 근거로 유지한다. 상대시각은 공통 monotonic 원천 사건이며 내부 Module 완료를 기준으로 한쪽만 더 좋은 자료를 주지 않는다. owner별 source/revision/현재 권한/실제 전달 기록을 제공하고, 현재 Task 정답/완성 의미는 선주입하지 않는다. 각 namespace의 논리적 before-state와 T보호를 유지한다. 잘못된 후보를 sink/stub이 정답으로 바꾸지 않는다.</a:t>
            </a:r>
          </a:p>
          <a:p xmlns:a="http://schemas.openxmlformats.org/drawingml/2006/main">
            <a:r>
              <a:t/>
            </a:r>
          </a:p>
          <a:p xmlns:a="http://schemas.openxmlformats.org/drawingml/2006/main">
            <a:r>
              <a:t>기존17개 아래 명세의 원본 checkpoint 정답은 보존한다. §8.2 공통 최종 tail을 추가하며 **C5/C6는 checkpoint와 최종 tail 양쪽 모두 맞아야1**이다. 접수 전에 완료를 말하는 것은 계속 실패이고 실제 최종 결과 뒤의 완료 안내는 허용한다. 후기 잘못된 효과/옛 후보 재활성화는 최종값이 맞아도 실패다. 신규4개는 아래 명세에서 final까지 정의했다.</a:t>
            </a:r>
          </a:p>
          <a:p xmlns:a="http://schemas.openxmlformats.org/drawingml/2006/main">
            <a:r>
              <a:t/>
            </a:r>
          </a:p>
          <a:p xmlns:a="http://schemas.openxmlformats.org/drawingml/2006/main">
            <a:r>
              <a:t>S2-04의 유효 재사용은 S2-02의 실제 선행 처리에 의존한다. 다른 namespace를 복원해 준비된 정답으로 후보 오류를 덮지 않는다. S2-05의 새 원본은 지정시각 전 어느 안에도 제공되지 않는다. 나머지 독립 사례는 원천 초기 상황을 복원하되 활동 원장/이력은 지우지 않는다. 초기/복원/준비 비용과 일시 이중 할당도 비용/메모리에 포함한다.</a:t>
            </a:r>
          </a:p>
          <a:p xmlns:a="http://schemas.openxmlformats.org/drawingml/2006/main">
            <a:r>
              <a:t/>
            </a:r>
          </a:p>
          <a:p xmlns:a="http://schemas.openxmlformats.org/drawingml/2006/main">
            <a:r>
              <a:t>기존 계획 답변은 S6-01/02의 실제 질문 receipt+1초 후3초 Voice 답변뿐이다. 후보가 불필요하게 추가 질문하면 최대2회 실제 질문+1초에 “새로운 조건이나 권한은 추가하지 않았어. 처음 요청대로 처리해줘.”라고 답한다. 새 힌트/권한을 주지 않고 추가 수고/시간/청구를 기록한다. S5-01/02/04의 외부 질문에는 답변하지 않는다. S5-03의 재연결 발화는 현재 사용자 목표에 포함한다.</a:t>
            </a:r>
          </a:p>
          <a:p xmlns:a="http://schemas.openxmlformats.org/drawingml/2006/main">
            <a:r>
              <a:t/>
            </a:r>
          </a:p>
          <a:p xmlns:a="http://schemas.openxmlformats.org/drawingml/2006/main">
            <a:r>
              <a:t>&lt;a id="s1-01"&gt;&lt;/a&gt;</a:t>
            </a:r>
          </a:p>
          <a:p xmlns:a="http://schemas.openxmlformats.org/drawingml/2006/main">
            <a:r>
              <a:t>##### S1-01 제한된 정보 조회</a:t>
            </a:r>
          </a:p>
          <a:p xmlns:a="http://schemas.openxmlformats.org/drawingml/2006/main">
            <a:r>
              <a:t/>
            </a:r>
          </a:p>
          <a:p xmlns:a="http://schemas.openxmlformats.org/drawingml/2006/main">
            <a:r>
              <a:t>**초기 상황:** D1@v1의 제목은 “하늘 프로젝트 안내”, 본문은 “제출 마감일은 2026년 10월 15일입니다. 담당자는 민수입니다.”다. 관련 기존 Task는 없다. D1의 read 및 모델/Agent 제공은 허용된다. D1@v2는 이 사례에 존재하지 않는다.</a:t>
            </a:r>
          </a:p>
          <a:p xmlns:a="http://schemas.openxmlformats.org/drawingml/2006/main">
            <a:r>
              <a:t/>
            </a:r>
          </a:p>
          <a:p xmlns:a="http://schemas.openxmlformats.org/drawingml/2006/main">
            <a:r>
              <a:t>**입력:** “D1에 적힌 마감일 알려줘.”</a:t>
            </a:r>
          </a:p>
          <a:p xmlns:a="http://schemas.openxmlformats.org/drawingml/2006/main">
            <a:r>
              <a:t/>
            </a:r>
          </a:p>
          <a:p xmlns:a="http://schemas.openxmlformats.org/drawingml/2006/main">
            <a:r>
              <a:t>**사건 순서:** E0: 발화 시작 t=0, 종료/확정 전사 t=2초. E1: 직접 조회는 D1@v1을 반환한다. 위임이면 Agent가 실제 전달받은 D1/조회 범위를 받아 외부 접수를 확인하고 그 뒤 0.2초에 같은 마감일 결과를 반환한다. 추가 변경/경쟁 사건과 계획된 후속 답변은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목표=지정 문서의 마감일 조회. VIA Core 직접 응답 또는 Agent의 한정 조회 위임 중 하나를 허용한다. |</a:t>
            </a:r>
          </a:p>
          <a:p xmlns:a="http://schemas.openxmlformats.org/drawingml/2006/main">
            <a:r>
              <a:t>| C2 대상/근거 | D1@v1을 사용하며 마감일=2026-10-15. 담당자나 다른 날짜를 마감일로 선택하지 않는다. |</a:t>
            </a:r>
          </a:p>
          <a:p xmlns:a="http://schemas.openxmlformats.org/drawingml/2006/main">
            <a:r>
              <a:t>| C3 대화/업무 연결 | 직접 응답은 No Tracked Task, 위임은 이 조회의 New Task에 연결한다. T보호 연결/수정 없음. |</a:t>
            </a:r>
          </a:p>
          <a:p xmlns:a="http://schemas.openxmlformats.org/drawingml/2006/main">
            <a:r>
              <a:t>| C4 조건/변경 범위 | 조회 범위=D1의 마감일. 문서 수정/새 조사/일정 생성으로 확장하지 않는다. |</a:t>
            </a:r>
          </a:p>
          <a:p xmlns:a="http://schemas.openxmlformats.org/drawingml/2006/main">
            <a:r>
              <a:t>| C5 실제 효과/상태 | 직접 경로는 조회/응답만, 위임 경로는 동일 목표의 외부 접수/결과 반영만 발생한다. 외부 변경 효과=0. |</a:t>
            </a:r>
          </a:p>
          <a:p xmlns:a="http://schemas.openxmlformats.org/drawingml/2006/main">
            <a:r>
              <a:t>| C6 응답/실제 전달 | 필수 사실=“D1의 마감일은 10월 15일”. Text와 실제 재생에서 날짜가 일치한다. 조회 실패나 다른 날짜를 성공처럼 말하면 실패. |</a:t>
            </a:r>
          </a:p>
          <a:p xmlns:a="http://schemas.openxmlformats.org/drawingml/2006/main">
            <a:r>
              <a:t/>
            </a:r>
          </a:p>
          <a:p xmlns:a="http://schemas.openxmlformats.org/drawingml/2006/main">
            <a:r>
              <a:t>&lt;a id="s1-02"&gt;&lt;/a&gt;</a:t>
            </a:r>
          </a:p>
          <a:p xmlns:a="http://schemas.openxmlformats.org/drawingml/2006/main">
            <a:r>
              <a:t>##### S1-02 새 보고서 업무 위임</a:t>
            </a:r>
          </a:p>
          <a:p xmlns:a="http://schemas.openxmlformats.org/drawingml/2006/main">
            <a:r>
              <a:t/>
            </a:r>
          </a:p>
          <a:p xmlns:a="http://schemas.openxmlformats.org/drawingml/2006/main">
            <a:r>
              <a:t>**초기 상황:** 관련 기존 Task는 없다. 자료 Sales2026Q3@v1은 2026년 7월 100억원, 8월 120억원, 9월 80억원의 매출이다. 자료 제목은 “2026년 3분기 매출”. 문서 작성 Agent의 capability=보고서 작성이고 제공/작성이 허용된다.</a:t>
            </a:r>
          </a:p>
          <a:p xmlns:a="http://schemas.openxmlformats.org/drawingml/2006/main">
            <a:r>
              <a:t/>
            </a:r>
          </a:p>
          <a:p xmlns:a="http://schemas.openxmlformats.org/drawingml/2006/main">
            <a:r>
              <a:t>**입력:** “올해 3분기 매출 보고서를 표 형식으로 작성해줘.”</a:t>
            </a:r>
          </a:p>
          <a:p xmlns:a="http://schemas.openxmlformats.org/drawingml/2006/main">
            <a:r>
              <a:t/>
            </a:r>
          </a:p>
          <a:p xmlns:a="http://schemas.openxmlformats.org/drawingml/2006/main">
            <a:r>
              <a:t>**사건 순서:** E0: 발화 0~3초. E1: Agent가 실제 보고서 작성 요청을 접수하면 0.2초 뒤 접수 receipt만 반환한다. 이 episode에서는 완료 결과를 반환하지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목표=2026년 3분기 매출 보고서 작성, 처리=Agent 위임. 단순 매출 조회 답변으로 완료를 대신하지 않는다. |</a:t>
            </a:r>
          </a:p>
          <a:p xmlns:a="http://schemas.openxmlformats.org/drawingml/2006/main">
            <a:r>
              <a:t>| C2 대상/근거 | 자료=Sales2026Q3@v1, 월 범위=7~9월. 다른 연도/분기 자료 추가나 교체 없음. |</a:t>
            </a:r>
          </a:p>
          <a:p xmlns:a="http://schemas.openxmlformats.org/drawingml/2006/main">
            <a:r>
              <a:t>| C3 대화/업무 연결 | New Task에 이 보고서 요청/외부 실행을 연결한다. T보호와 별개이며 중복 보고서 실행 없음. |</a:t>
            </a:r>
          </a:p>
          <a:p xmlns:a="http://schemas.openxmlformats.org/drawingml/2006/main">
            <a:r>
              <a:t>| C4 조건/변경 범위 | 연도=2026, 분기=3, 형식=표가 실제 인계에 모두 남는다. Agent의 표 디자인/분석 품질은 채점하지 않는다. |</a:t>
            </a:r>
          </a:p>
          <a:p xmlns:a="http://schemas.openxmlformats.org/drawingml/2006/main">
            <a:r>
              <a:t>| C5 실제 효과/상태 | 보고서 작성의 고유 외부 효과=1회 접수. 상태=외부 접수됨/진행 예정 또는 진행 중이며 완료 아님. |</a:t>
            </a:r>
          </a:p>
          <a:p xmlns:a="http://schemas.openxmlformats.org/drawingml/2006/main">
            <a:r>
              <a:t>| C6 응답/실제 전달 | 필수 사실=“올해 3분기 매출 보고서를 표로 작성하도록 맡겼고 접수됐다”. 완료/보고서 생성 완료 주장 금지. |</a:t>
            </a:r>
          </a:p>
          <a:p xmlns:a="http://schemas.openxmlformats.org/drawingml/2006/main">
            <a:r>
              <a:t/>
            </a:r>
          </a:p>
          <a:p xmlns:a="http://schemas.openxmlformats.org/drawingml/2006/main">
            <a:r>
              <a:t>&lt;a id="s2-01"&gt;&lt;/a&gt;</a:t>
            </a:r>
          </a:p>
          <a:p xmlns:a="http://schemas.openxmlformats.org/drawingml/2006/main">
            <a:r>
              <a:t>##### S2-01 발화 중 두 표 지칭</a:t>
            </a:r>
          </a:p>
          <a:p xmlns:a="http://schemas.openxmlformats.org/drawingml/2006/main">
            <a:r>
              <a:t/>
            </a:r>
          </a:p>
          <a:p xmlns:a="http://schemas.openxmlformats.org/drawingml/2006/main">
            <a:r>
              <a:t>**초기 상황:** 화면 표 A@v1: 2026년 3분기 매출 300억원. 표 B@v1: 같은 기간 매출 240억원. 표 C@v1: 2026년 4분기 매출 900억원. 이 요청과 연결된 기존 Task는 없다. 세 표의 관측/조회는 허용된다.</a:t>
            </a:r>
          </a:p>
          <a:p xmlns:a="http://schemas.openxmlformats.org/drawingml/2006/main">
            <a:r>
              <a:t/>
            </a:r>
          </a:p>
          <a:p xmlns:a="http://schemas.openxmlformats.org/drawingml/2006/main">
            <a:r>
              <a:t>**입력:** “이 표와 저 표를 비교해줘.” 첫 “이 표” span=0.4~0.8초, “저 표” span=1.1~1.5초.</a:t>
            </a:r>
          </a:p>
          <a:p xmlns:a="http://schemas.openxmlformats.org/drawingml/2006/main">
            <a:r>
              <a:t/>
            </a:r>
          </a:p>
          <a:p xmlns:a="http://schemas.openxmlformats.org/drawingml/2006/main">
            <a:r>
              <a:t>**사건 순서:** E0: 발화 0~2초. E1: 0~0.9초 화면/포인터는 A, 0.9~1.7초는 B, 1.7초부터는 C다. 이 시각과 표의 내용/version을 원천 observation으로 제공한다. E2: 직접 비교는 같은 근거를 사용한다. 위임은 실제 전달된 두 표의 비교 결과를 접수 후 0.2초에 반환한다. 추가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목표=발화에서 지정한 두 표 비교. 현재 화면 C 설명으로 바꾸지 않는다. |</a:t>
            </a:r>
          </a:p>
          <a:p xmlns:a="http://schemas.openxmlformats.org/drawingml/2006/main">
            <a:r>
              <a:t>| C2 대상/근거 | 첫 지칭=A@v1/300억원, 둘째=B@v1/240억원. C나 대상 순서 교체 없음. |</a:t>
            </a:r>
          </a:p>
          <a:p xmlns:a="http://schemas.openxmlformats.org/drawingml/2006/main">
            <a:r>
              <a:t>| C3 대화/업무 연결 | 직접 응답은 No Tracked Task, 위임은 이 비교의 New Task. 기존 T보호 변경 없음. |</a:t>
            </a:r>
          </a:p>
          <a:p xmlns:a="http://schemas.openxmlformats.org/drawingml/2006/main">
            <a:r>
              <a:t>| C4 조건/변경 범위 | 비교의 기간=2026년 3분기, 대상 집합={A,B}, 역할=첫 A/둘째 B. 화면 이동을 대상 정정으로 해석하지 않는다. |</a:t>
            </a:r>
          </a:p>
          <a:p xmlns:a="http://schemas.openxmlformats.org/drawingml/2006/main">
            <a:r>
              <a:t>| C5 실제 효과/상태 | 올바른 A/B 비교 답변 또는 같은 근거를 보존한 위임/결과 반영. 화면 표/외부 자료 변경 효과=0. |</a:t>
            </a:r>
          </a:p>
          <a:p xmlns:a="http://schemas.openxmlformats.org/drawingml/2006/main">
            <a:r>
              <a:t>| C6 응답/실제 전달 | 필수 사실=A 300억원, B 240억원, A가 더 큼. 선택적으로 차이 60억원/25%를 말하면 정확해야 한다. C의 900을 비교값으로 말하면 실패. |</a:t>
            </a:r>
          </a:p>
          <a:p xmlns:a="http://schemas.openxmlformats.org/drawingml/2006/main">
            <a:r>
              <a:t/>
            </a:r>
          </a:p>
          <a:p xmlns:a="http://schemas.openxmlformats.org/drawingml/2006/main">
            <a:r>
              <a:t>&lt;a id="s2-02"&gt;&lt;/a&gt;</a:t>
            </a:r>
          </a:p>
          <a:p xmlns:a="http://schemas.openxmlformats.org/drawingml/2006/main">
            <a:r>
              <a:t>##### S2-02 과거 설명과 두 업무 결과 재사용</a:t>
            </a:r>
          </a:p>
          <a:p xmlns:a="http://schemas.openxmlformats.org/drawingml/2006/main">
            <a:r>
              <a:t/>
            </a:r>
          </a:p>
          <a:p xmlns:a="http://schemas.openxmlformats.org/drawingml/2006/main">
            <a:r>
              <a:t>**초기 상황:** E1은 지난 VIA 설명의 원본이다. Text 전체는 “평가 기준은 연간 유지비와 설치 기간입니다. 가격은 평가에서 제외합니다. 보안 등급도 최우선 기준으로 추가할 수 있습니다.”이며 실제 Voice는 첫 두 문장까지만 전달됐다. 마지막 문장은 미재생이다. 완료한 제품 비교 Task T비교의 D2@v2는 “A: 설치 2일, B: 설치 4일”, 완료한 견적 Task T견적의 D3@v1은 “A: 가격 100백만원/연간 유지비 3백만원, B: 가격 120백만원/연간 유지비 5백만원”이다. 이전 D2@v1은 A 설치 3일이며 현재 결과가 아니다. 새 제안서 Task는 없다. 이 원본/결과/전달 이력의 조회 및 제공은 허용된다.</a:t>
            </a:r>
          </a:p>
          <a:p xmlns:a="http://schemas.openxmlformats.org/drawingml/2006/main">
            <a:r>
              <a:t/>
            </a:r>
          </a:p>
          <a:p xmlns:a="http://schemas.openxmlformats.org/drawingml/2006/main">
            <a:r>
              <a:t>**입력:** “아까 들은 기준과 두 업무 결과로 새 제안서를 만들어줘.”</a:t>
            </a:r>
          </a:p>
          <a:p xmlns:a="http://schemas.openxmlformats.org/drawingml/2006/main">
            <a:r>
              <a:t/>
            </a:r>
          </a:p>
          <a:p xmlns:a="http://schemas.openxmlformats.org/drawingml/2006/main">
            <a:r>
              <a:t>**사건 순서:** W 준비 사건: P0=E1 Text 전체 표시, P1=첫 두 문장 실제 재생/중단, P2=T비교 D2@v1 완료, P3=현재 결과 D2@v2 갱신/완료, P4=T견적 D3@v1 완료를 0/0.01/0.02/0.03/0.04초 offset으로 원천 이력 port에 제공한다. 마지막 P4 수신 뒤 동일한 5초 준비 기간을 양안에 주고 현재 발화를 시작한다. 이는 §3.2.3의 최대 120초 안에서 고정한 PoC 준비 창이다. 현재까지 끝나지 않은 파생 생산은 실행 중 계속할 수 있으며 그 비용/지연을 기록한다. 파생 기억은 평가자가 넣지 않는다. E0: 현재 발화 0~3초. E1: 실제 새 제안서 요청의 외부 접수 후 0.2초에 접수 receipt만 반환한다. 완료 결과와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목표=새 제안서 작성의 Agent 위임. 과거 비교/견적 업무의 추가 수정으로 바꾸지 않는다. |</a:t>
            </a:r>
          </a:p>
          <a:p xmlns:a="http://schemas.openxmlformats.org/drawingml/2006/main">
            <a:r>
              <a:t>| C2 대상/근거 | 근거=실제로 들은 E1의 첫 두 문장, 현재 D2@v2와 D3@v1. D2@v1/미재생 문장을 들은 기준으로 사용하지 않는다. |</a:t>
            </a:r>
          </a:p>
          <a:p xmlns:a="http://schemas.openxmlformats.org/drawingml/2006/main">
            <a:r>
              <a:t>| C3 대화/업무 연결 | 새 제안서의 New Task/실행을 만들고 T비교/T견적은 완료 상태를 유지한다. 이전 실행에 제안서 수정 지시를 보내지 않는다. |</a:t>
            </a:r>
          </a:p>
          <a:p xmlns:a="http://schemas.openxmlformats.org/drawingml/2006/main">
            <a:r>
              <a:t>| C4 조건/변경 범위 | 평가 기준=유지비/설치 기간, 가격은 평가에서 제외. D2는 비교, D3는 견적 근거 역할로 보존한다. 가격의 단순 견적 인용은 허용하지만 우열/추천 기준으로 쓰면 실패. 미재생 보안 조건을 사용자 요구로 추가하지 않는다. |</a:t>
            </a:r>
          </a:p>
          <a:p xmlns:a="http://schemas.openxmlformats.org/drawingml/2006/main">
            <a:r>
              <a:t>| C5 실제 효과/상태 | 위 참조/조건을 보존한 제안서 작성의 고유 접수=1회. 기존 두 업무의 새 실행/변경=0. 미완료 제안서를 완료로 전이하지 않는다. |</a:t>
            </a:r>
          </a:p>
          <a:p xmlns:a="http://schemas.openxmlformats.org/drawingml/2006/main">
            <a:r>
              <a:t>| C6 응답/실제 전달 | 필수 사실=“들은 기준과 제품 비교/견적 결과로 새 제안서를 맡겼고 가격은 평가에서 제외한다”. 현재는 접수 단계이며 보안을 들었다거나 이미 작성됐다는 주장 금지. |</a:t>
            </a:r>
          </a:p>
          <a:p xmlns:a="http://schemas.openxmlformats.org/drawingml/2006/main">
            <a:r>
              <a:t/>
            </a:r>
          </a:p>
          <a:p xmlns:a="http://schemas.openxmlformats.org/drawingml/2006/main">
            <a:r>
              <a:t>&lt;a id="s2-03"&gt;&lt;/a&gt;</a:t>
            </a:r>
          </a:p>
          <a:p xmlns:a="http://schemas.openxmlformats.org/drawingml/2006/main">
            <a:r>
              <a:t>##### S2-03 갱신된 원본의 과거 값 지정</a:t>
            </a:r>
          </a:p>
          <a:p xmlns:a="http://schemas.openxmlformats.org/drawingml/2006/main">
            <a:r>
              <a:t/>
            </a:r>
          </a:p>
          <a:p xmlns:a="http://schemas.openxmlformats.org/drawingml/2006/main">
            <a:r>
              <a:t>**초기 상황:** D1의 과거 표시 기록 P1은 “계약 기준값=100”인 D1@v1을 가리킨다. 초기 현재 문서는 D1@v1이며 발화 중 게시될 D1@v2의 기준값은 120이다. 두 version 모두 보존/조회 허용. 이전 Task T원본은 완료했으며 새 표 작성 Task는 없다.</a:t>
            </a:r>
          </a:p>
          <a:p xmlns:a="http://schemas.openxmlformats.org/drawingml/2006/main">
            <a:r>
              <a:t/>
            </a:r>
          </a:p>
          <a:p xmlns:a="http://schemas.openxmlformats.org/drawingml/2006/main">
            <a:r>
              <a:t>**입력:** “그때 보여준 값으로 표를 만들어줘.”</a:t>
            </a:r>
          </a:p>
          <a:p xmlns:a="http://schemas.openxmlformats.org/drawingml/2006/main">
            <a:r>
              <a:t/>
            </a:r>
          </a:p>
          <a:p xmlns:a="http://schemas.openxmlformats.org/drawingml/2006/main">
            <a:r>
              <a:t>**사건 순서:** E0: t=-1초에 v1 표시 원본 P1이 존재한다. t=0 발화 시작, t=0.5초 원본 owner가 v2/120을 게시한다. t=2초 발화 종료/확정 전사. E1: 새 표 작성 요청의 접수 뒤 0.2초에 접수 receipt만 반환한다. v1 접근 거부나 추가 답변은 이번 사례에 넣지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목표=과거 표시 값에 기반한 새 표 작성 위임. |</a:t>
            </a:r>
          </a:p>
          <a:p xmlns:a="http://schemas.openxmlformats.org/drawingml/2006/main">
            <a:r>
              <a:t>| C2 대상/근거 | P1→D1@v1→기준값 100의 연결이 실제 처리에 사용된다. 현재 v2/120으로 치환하면 실패. |</a:t>
            </a:r>
          </a:p>
          <a:p xmlns:a="http://schemas.openxmlformats.org/drawingml/2006/main">
            <a:r>
              <a:t>| C3 대화/업무 연결 | 새 표 작성은 New Task. T원본 완료 상태/결과는 변경하지 않는다. |</a:t>
            </a:r>
          </a:p>
          <a:p xmlns:a="http://schemas.openxmlformats.org/drawingml/2006/main">
            <a:r>
              <a:t>| C4 조건/변경 범위 | 입력 데이터/시점=과거 표시된 v1의 100, 산출물=표. 최신 값으로 갱신하라는 조건을 추가하지 않는다. |</a:t>
            </a:r>
          </a:p>
          <a:p xmlns:a="http://schemas.openxmlformats.org/drawingml/2006/main">
            <a:r>
              <a:t>| C5 실제 효과/상태 | 100과 과거 참조를 사용한 표 작성의 고유 접수=1회. v2를 쓰는 인계/이전 업무 수정=0. |</a:t>
            </a:r>
          </a:p>
          <a:p xmlns:a="http://schemas.openxmlformats.org/drawingml/2006/main">
            <a:r>
              <a:t>| C6 응답/실제 전달 | 필수 사실=“당시 보여준 100으로 표 작성을 맡겼다”. 120/최신 값 사용 또는 작성 완료 주장은 실패. |</a:t>
            </a:r>
          </a:p>
          <a:p xmlns:a="http://schemas.openxmlformats.org/drawingml/2006/main">
            <a:r>
              <a:t/>
            </a:r>
          </a:p>
          <a:p xmlns:a="http://schemas.openxmlformats.org/drawingml/2006/main">
            <a:r>
              <a:t>&lt;a id="s2-04"&gt;&lt;/a&gt;</a:t>
            </a:r>
          </a:p>
          <a:p xmlns:a="http://schemas.openxmlformats.org/drawingml/2006/main">
            <a:r>
              <a:t>##### S2-04 같은 과거 근거의 두 번째 사용</a:t>
            </a:r>
          </a:p>
          <a:p xmlns:a="http://schemas.openxmlformats.org/drawingml/2006/main">
            <a:r>
              <a:t/>
            </a:r>
          </a:p>
          <a:p xmlns:a="http://schemas.openxmlformats.org/drawingml/2006/main">
            <a:r>
              <a:t>**초기 상황:** S2-02를 같은 후보 경로로 처리한 뒤다. E1의 실제 설명, D2@v2 제품 비교, D3@v1 견적과 가격 제외 조건/제공 권한은 동일하다. 첫 제안서 Task/결과는 그대로 남는다. 해당 원본의 유효 cache/게시 관계를 양안 모두 유지한다. 준비 실패를 정답 관계로 덮어쓰지 않는다.</a:t>
            </a:r>
          </a:p>
          <a:p xmlns:a="http://schemas.openxmlformats.org/drawingml/2006/main">
            <a:r>
              <a:t/>
            </a:r>
          </a:p>
          <a:p xmlns:a="http://schemas.openxmlformats.org/drawingml/2006/main">
            <a:r>
              <a:t>**입력:** “같은 평가 기준, 제품 비교와 견적으로 새 제안서 하나 더 만들어줘. 메일은 보내지 마.”</a:t>
            </a:r>
          </a:p>
          <a:p xmlns:a="http://schemas.openxmlformats.org/drawingml/2006/main">
            <a:r>
              <a:t/>
            </a:r>
          </a:p>
          <a:p xmlns:a="http://schemas.openxmlformats.org/drawingml/2006/main">
            <a:r>
              <a:t>**사건 순서:** E0: 발화 0~3초. E1: S2-02에서 사용한 원본 hash/revision/허용은 바뀌지 않는다. 새 제안서 실제 접수+0.2초에 receipt, +8초에 두 번째 결과 ProposalRepeat@v1을 반환한다. 선행 준비와 첫 제안서 비용도 P21에 이미 포함되며 다시 중복 합산하지 않는다. 첫 사례가 실패해도 현재 실행을 삭제하지 않고 확보한 사실만 사용한다.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목표=동일 근거로 별도의 새 제안서 작성, Agent 위임. 이전 제안서 수정이나 메일 발송으로 바꾸지 않는다. |</a:t>
            </a:r>
          </a:p>
          <a:p xmlns:a="http://schemas.openxmlformats.org/drawingml/2006/main">
            <a:r>
              <a:t>| C2 대상/근거 | E1의 실제 전달 범위와 D2@v2/D3@v1, 가격 제외를 사용. cache/관계 hit도 원본/권한 검사 필요. |</a:t>
            </a:r>
          </a:p>
          <a:p xmlns:a="http://schemas.openxmlformats.org/drawingml/2006/main">
            <a:r>
              <a:t>| C3 대화/업무 연결 | 두 번째 새 Task/Execution에 연결. 첫 제안서 Task와 무관 T보호 유지. 재사용을 중복 전송 재시도로 오인하지 않는다. |</a:t>
            </a:r>
          </a:p>
          <a:p xmlns:a="http://schemas.openxmlformats.org/drawingml/2006/main">
            <a:r>
              <a:t>| C4 조건/변경 범위 | 기준/비교/견적 역할과 가격 제외 보존. 메일 발송 금지. |</a:t>
            </a:r>
          </a:p>
          <a:p xmlns:a="http://schemas.openxmlformats.org/drawingml/2006/main">
            <a:r>
              <a:t>| C5 실제 효과/상태 | 별도 새 작성 접수 한 번, 결과=ProposalRepeat@v1. 첫 제안서 변경/메일 SEND=0. |</a:t>
            </a:r>
          </a:p>
          <a:p xmlns:a="http://schemas.openxmlformats.org/drawingml/2006/main">
            <a:r>
              <a:t>| C6 응답/실제 전달 | 처음에는 실제 새 작성 접수, 결과 뒤에는 두 번째 제안서의 올바른 참조를 Text/Voice로 전달. 최초 결과를 두 번째 결과로 재사용하지 않는다. |</a:t>
            </a:r>
          </a:p>
          <a:p xmlns:a="http://schemas.openxmlformats.org/drawingml/2006/main">
            <a:r>
              <a:t/>
            </a:r>
          </a:p>
          <a:p xmlns:a="http://schemas.openxmlformats.org/drawingml/2006/main">
            <a:r>
              <a:t>&lt;a id="s2-05"&gt;&lt;/a&gt;</a:t>
            </a:r>
          </a:p>
          <a:p xmlns:a="http://schemas.openxmlformats.org/drawingml/2006/main">
            <a:r>
              <a:t>##### S2-05 새로 도착한 과거 근거의 첫 사용</a:t>
            </a:r>
          </a:p>
          <a:p xmlns:a="http://schemas.openxmlformats.org/drawingml/2006/main">
            <a:r>
              <a:t/>
            </a:r>
          </a:p>
          <a:p xmlns:a="http://schemas.openxmlformats.org/drawingml/2006/main">
            <a:r>
              <a:t>**초기 상황:** 별도 namespace의 과거 설명 E새와 제품 비교 D새비교@v1, 견적 D새견적@v1은 요청 전 이번 VIA 활동에 제공된 적 없다. 원본의 과거 실제 전달 기록은 존재한다. E새 내용은 “납기 2주 이내가 우선이고 가격은 평가에서 제외”; 비교 원문은 “제품 A의 납기는 10일, 제품 B의 납기는 20일”; 견적 원문은 “제품 A는 30백만원, 제품 B는 40백만원”이다. 이들 원문의 read/모델·Agent 제공 권한은 ALLOWED이며 현재 요청과 연결된 Task는 없다. 최종 관계나 Task 정답은 제공하지 않는다.</a:t>
            </a:r>
          </a:p>
          <a:p xmlns:a="http://schemas.openxmlformats.org/drawingml/2006/main">
            <a:r>
              <a:t/>
            </a:r>
          </a:p>
          <a:p xmlns:a="http://schemas.openxmlformats.org/drawingml/2006/main">
            <a:r>
              <a:t>**입력:** “전에 들은 기준과 방금 도착한 제품 비교, 견적으로 제안서 만들어줘. 가격은 평가하지 마.”</a:t>
            </a:r>
          </a:p>
          <a:p xmlns:a="http://schemas.openxmlformats.org/drawingml/2006/main">
            <a:r>
              <a:t/>
            </a:r>
          </a:p>
          <a:p xmlns:a="http://schemas.openxmlformats.org/drawingml/2006/main">
            <a:r>
              <a:t>**사건 순서:** E0: 발화 0~3초. E1: t=2.97/2.98/2.99초에 E새의 원문/실제 전달 기록, D새비교, D새견적의 허용 원천 사건을 제공한다. 양안 모두 capture/prefetch/생산 가능하며 준비 완료를 강제하지 않는다. E2: 실제 접수+0.2초 receipt, +8초 ProposalFresh@v1 결과. 순수 45B의 NOT_COVERED/backfill과 A의 실제 최초 조합을 관측하며 source→생산→query 대기를 기록한다.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목표=새 근거 기반 제안서 작성 위임. 아직 준비되지 않은 자료를 이미 준비됐다고 취급하지 않는다. |</a:t>
            </a:r>
          </a:p>
          <a:p xmlns:a="http://schemas.openxmlformats.org/drawingml/2006/main">
            <a:r>
              <a:t>| C2 대상/근거 | E새의 납기 2주/가격 제외와 두 새 원본 v1. 기존 S2-02 관계로 치환하지 않는다. |</a:t>
            </a:r>
          </a:p>
          <a:p xmlns:a="http://schemas.openxmlformats.org/drawingml/2006/main">
            <a:r>
              <a:t>| C3 대화/업무 연결 | 이번 새 제안서 Task/Execution, 이전 제안서와 T보호에 변경 없음. |</a:t>
            </a:r>
          </a:p>
          <a:p xmlns:a="http://schemas.openxmlformats.org/drawingml/2006/main">
            <a:r>
              <a:t>| C4 조건/변경 범위 | 납기 기준/가격 제외와 비교·견적의 역할 보존. 견적 금액의 존재와 가격 평가 제외를 구별. |</a:t>
            </a:r>
          </a:p>
          <a:p xmlns:a="http://schemas.openxmlformats.org/drawingml/2006/main">
            <a:r>
              <a:t>| C5 실제 효과/상태 | 유효 근거 확보 후 한 번 접수/올바른 ProposalFresh@v1 결과 반영. 실제 확보·허용되지 않은 근거를 확인된 사실로 취급하지 않는다. 원본 직접 조회/게시 조회의 선택은 정답 조건이 아니라 별도 구조·call-plan 증거다. |</a:t>
            </a:r>
          </a:p>
          <a:p xmlns:a="http://schemas.openxmlformats.org/drawingml/2006/main">
            <a:r>
              <a:t>| C6 응답/실제 전달 | 실제 근거/접수와 최종 결과를 전달. backfill/지원 한계로 완료 못하면 해당 조건 실패와 시간 누락을 남긴다. |</a:t>
            </a:r>
          </a:p>
          <a:p xmlns:a="http://schemas.openxmlformats.org/drawingml/2006/main">
            <a:r>
              <a:t/>
            </a:r>
          </a:p>
          <a:p xmlns:a="http://schemas.openxmlformats.org/drawingml/2006/main">
            <a:r>
              <a:t>&lt;a id="s3-01"&gt;&lt;/a&gt;</a:t>
            </a:r>
          </a:p>
          <a:p xmlns:a="http://schemas.openxmlformats.org/drawingml/2006/main">
            <a:r>
              <a:t>##### S3-01 독립된 두 조회 요청</a:t>
            </a:r>
          </a:p>
          <a:p xmlns:a="http://schemas.openxmlformats.org/drawingml/2006/main">
            <a:r>
              <a:t/>
            </a:r>
          </a:p>
          <a:p xmlns:a="http://schemas.openxmlformats.org/drawingml/2006/main">
            <a:r>
              <a:t>**초기 상황:** D1@v1은 “하늘 프로젝트의 마감일은 2026년 10월 15일이고 담당자는 민수입니다.”다. 2026-10-13 일정 Cal13@v1에는 09:00~09:30 팀 회의만 있다. 문서/일정 조회와 제공은 허용되며 두 목표와 연결된 Task는 없다.</a:t>
            </a:r>
          </a:p>
          <a:p xmlns:a="http://schemas.openxmlformats.org/drawingml/2006/main">
            <a:r>
              <a:t/>
            </a:r>
          </a:p>
          <a:p xmlns:a="http://schemas.openxmlformats.org/drawingml/2006/main">
            <a:r>
              <a:t>**입력:** “D1 요약해주고, 내일 일정도 알려줘.”</a:t>
            </a:r>
          </a:p>
          <a:p xmlns:a="http://schemas.openxmlformats.org/drawingml/2006/main">
            <a:r>
              <a:t/>
            </a:r>
          </a:p>
          <a:p xmlns:a="http://schemas.openxmlformats.org/drawingml/2006/main">
            <a:r>
              <a:t>**사건 순서:** E0: 발화 0~3초. E1: 직접 조회는 해당 원본을 반환한다. 위임된 조회/요약은 각 고유 접수 뒤 0.2초에 해당 원본의 결과를 반환한다. 어떤 목표의 완료도 다른 목표 결과의 필수 입력이 아니다. 변경/실패/후속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 두 개=D1의 한정 요약과 10월 13일 일정 조회. 각각 Core 직접 처리/Agent 위임을 허용하며 둘 중 하나를 누락하면 실패. |</a:t>
            </a:r>
          </a:p>
          <a:p xmlns:a="http://schemas.openxmlformats.org/drawingml/2006/main">
            <a:r>
              <a:t>| C2 대상/근거 | D1@v1의 마감일/담당자와 Cal13@v1의 팀 회의. 다른 날짜/문서/일정 추가 없음. |</a:t>
            </a:r>
          </a:p>
          <a:p xmlns:a="http://schemas.openxmlformats.org/drawingml/2006/main">
            <a:r>
              <a:t>| C3 대화/업무 연결 | 각 직접 목표는 No Tracked Task, 각 위임 목표는 해당 New Task에 연결. 두 독립 목표를 한 업무의 동일 목표로 혼동하거나 T보호에 연결하지 않는다. |</a:t>
            </a:r>
          </a:p>
          <a:p xmlns:a="http://schemas.openxmlformats.org/drawingml/2006/main">
            <a:r>
              <a:t>| C4 조건/변경 범위 | 두 목표 관계=독립. 요약 결과를 일정 조회 입력으로 쓰거나 한 목표의 완료를 다른 목표의 필수 실행 조건으로 추가하지 않는다. |</a:t>
            </a:r>
          </a:p>
          <a:p xmlns:a="http://schemas.openxmlformats.org/drawingml/2006/main">
            <a:r>
              <a:t>| C5 실제 효과/상태 | 두 목표의 실제 결과가 모두 처리된다. Core/Agent 조합과 단순 실행 순서는 허용하되 실제 adopted 관계에 잘못된 의존성을 넣지 않는다. 외부 변경 효과=0. |</a:t>
            </a:r>
          </a:p>
          <a:p xmlns:a="http://schemas.openxmlformats.org/drawingml/2006/main">
            <a:r>
              <a:t>| C6 응답/실제 전달 | 필수 사실=D1 요약의 10월 15일/민수와 내일 09:00 팀 회의. 두 결과의 대상을 구별하며 두 목표 모두 실제 전달한다. |</a:t>
            </a:r>
          </a:p>
          <a:p xmlns:a="http://schemas.openxmlformats.org/drawingml/2006/main">
            <a:r>
              <a:t/>
            </a:r>
          </a:p>
          <a:p xmlns:a="http://schemas.openxmlformats.org/drawingml/2006/main">
            <a:r>
              <a:t>&lt;a id="s3-02"&gt;&lt;/a&gt;</a:t>
            </a:r>
          </a:p>
          <a:p xmlns:a="http://schemas.openxmlformats.org/drawingml/2006/main">
            <a:r>
              <a:t>##### S3-02 요약 산출물에 의존하는 메일</a:t>
            </a:r>
          </a:p>
          <a:p xmlns:a="http://schemas.openxmlformats.org/drawingml/2006/main">
            <a:r>
              <a:t/>
            </a:r>
          </a:p>
          <a:p xmlns:a="http://schemas.openxmlformats.org/drawingml/2006/main">
            <a:r>
              <a:t>**초기 상황:** D1@v1의 본문은 “하늘 프로젝트는 10월 15일까지 제출하며 담당자는 민수입니다.”, 연락처 민수= minsu@example.invalid. 문서 조회/요약, 해당 요약을 민수에게 보내는 이번 요청의 실행/제공이 허용된다. 과거 완료 업무 T옛/X옛의 요청 R옛은 D1@v0을 요약했고 K옛@v0은 “마감 10월 1일”이다. 이 과거 결과는 이번 요청 결과가 아니다. 현재 요약/메일 목표의 Task는 아직 없다.</a:t>
            </a:r>
          </a:p>
          <a:p xmlns:a="http://schemas.openxmlformats.org/drawingml/2006/main">
            <a:r>
              <a:t/>
            </a:r>
          </a:p>
          <a:p xmlns:a="http://schemas.openxmlformats.org/drawingml/2006/main">
            <a:r>
              <a:t>**입력:** “D1을 요약한 다음, 그 요약을 민수에게 메일로 보내줘.”</a:t>
            </a:r>
          </a:p>
          <a:p xmlns:a="http://schemas.openxmlformats.org/drawingml/2006/main">
            <a:r>
              <a:t/>
            </a:r>
          </a:p>
          <a:p xmlns:a="http://schemas.openxmlformats.org/drawingml/2006/main">
            <a:r>
              <a:t>**사건 순서:** E0: 발화 0~3초. E1: t=3.1초에 R옛의 K옛@v0 event가 도착한다. E2: 현재 요약 목표는 실제 접수/처리 뒤 K현재@v1(“제출 마감 10월 15일, 담당 민수”)을 생산하고 같은 event ID를 한 번 더 전달한다. 요약 위임이면 stub 생산 시각은 접수+0.5초, Core 요약이면 후보의 실제 산출물 준비가 source다. E3: 실제 메일 접수 후 0.2초에 접수 receipt만 반환한다.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목표=현재 D1 요약과 그 요약의 민수 메일 전송. 요약만 답하거나 원문 메일로 바꾸면 실패. |</a:t>
            </a:r>
          </a:p>
          <a:p xmlns:a="http://schemas.openxmlformats.org/drawingml/2006/main">
            <a:r>
              <a:t>| C2 대상/근거 | D1@v1, 민수 주소, 현재 요청의 실제 요약 산출물 K현재@v1. R옛/K옛@v0 또는 다른 요약 사용 금지. |</a:t>
            </a:r>
          </a:p>
          <a:p xmlns:a="http://schemas.openxmlformats.org/drawingml/2006/main">
            <a:r>
              <a:t>| C3 대화/업무 연결 | 현재 복합 업무/해당 하위 목표에 요약과 메일을 연결한다. 하나의 복합 Task 또는 연결된 Task 구성은 허용하되 R옛/T보호에 연결하지 않는다. |</a:t>
            </a:r>
          </a:p>
          <a:p xmlns:a="http://schemas.openxmlformats.org/drawingml/2006/main">
            <a:r>
              <a:t>| C4 조건/변경 범위 | 관계=요약 선행과 실제 산출물 사용, 수신자=민수. 전체 관계를 한 Agent에 인계하거나 VIA가 연결하는 경로 모두 허용한다. 접수 시 요약 예정 참조를 쓰는 것도 허용하되 후속 효과에는 실제 산출물을 사용한다. |</a:t>
            </a:r>
          </a:p>
          <a:p xmlns:a="http://schemas.openxmlformats.org/drawingml/2006/main">
            <a:r>
              <a:t>| C5 실제 효과/상태 | 실제 SEND 효과는 K현재 준비 이후이며 실제 payload는 K현재 의미/참조이다. 고유 SEND 접수=1회. 중복 요약 event로 이중 전송하지 않는다. Agent의 메일 작성 품질은 제외한다. |</a:t>
            </a:r>
          </a:p>
          <a:p xmlns:a="http://schemas.openxmlformats.org/drawingml/2006/main">
            <a:r>
              <a:t>| C6 응답/실제 전달 | 필수 사실=“D1의 요약을 민수에게 보내는 요청이 접수됐다”. 요약 완료/메일 접수 단계만 확인된 대로 말한다. 원문/옛 요약 전송 또는 발송 완료 주장 금지. |</a:t>
            </a:r>
          </a:p>
          <a:p xmlns:a="http://schemas.openxmlformats.org/drawingml/2006/main">
            <a:r>
              <a:t/>
            </a:r>
          </a:p>
          <a:p xmlns:a="http://schemas.openxmlformats.org/drawingml/2006/main">
            <a:r>
              <a:t>&lt;a id="s3-03"&gt;&lt;/a&gt;</a:t>
            </a:r>
          </a:p>
          <a:p xmlns:a="http://schemas.openxmlformats.org/drawingml/2006/main">
            <a:r>
              <a:t>##### S3-03 일정 조건의 변경 재확인</a:t>
            </a:r>
          </a:p>
          <a:p xmlns:a="http://schemas.openxmlformats.org/drawingml/2006/main">
            <a:r>
              <a:t/>
            </a:r>
          </a:p>
          <a:p xmlns:a="http://schemas.openxmlformats.org/drawingml/2006/main">
            <a:r>
              <a:t>**초기 상황:** 금요일=2026-10-16, 요청 시간=15:00~16:00. 공통의 이전 조회 기록 Cal16@v1은 해당 구간 FREE다. 가능한 대체 시간은 16:00~17:00이다. 생성/조회 권한은 허용되며 관련 Task는 없다.</a:t>
            </a:r>
          </a:p>
          <a:p xmlns:a="http://schemas.openxmlformats.org/drawingml/2006/main">
            <a:r>
              <a:t/>
            </a:r>
          </a:p>
          <a:p xmlns:a="http://schemas.openxmlformats.org/drawingml/2006/main">
            <a:r>
              <a:t>**입력:** “금요일 3시가 비어 있으면 회의 잡고, 아니면 가능한 시간만 알려줘.”</a:t>
            </a:r>
          </a:p>
          <a:p xmlns:a="http://schemas.openxmlformats.org/drawingml/2006/main">
            <a:r>
              <a:t/>
            </a:r>
          </a:p>
          <a:p xmlns:a="http://schemas.openxmlformats.org/drawingml/2006/main">
            <a:r>
              <a:t>**사건 순서:** E0: 발화 0~3초. E1: t=1초에 일정 owner가 15:00~16:00에 “기존 고객 미팅”을 등록해 Cal16@v2/BUSY를 게시한다. t=3초 이후 최신 조회는 v2와 대체 16:00~17:00을 반환한다. v1 cache는 원천 이력으로 유지한다. E2: 생성 요청을 받는 stub도 현재 v2를 검사한다. 조건부/동일 version 검증 요청이 충돌을 받아 안내로 전환하는 경로는 허용한다. 실제 새 일정은 생성하지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목표=유효한 일정 상태에 따른 생성/대체 시간 안내. 이번 정답 분기=BUSY의 안내만. |</a:t>
            </a:r>
          </a:p>
          <a:p xmlns:a="http://schemas.openxmlformats.org/drawingml/2006/main">
            <a:r>
              <a:t>| C2 대상/근거 | 현재 Cal16@v2, 금요일 15:00~16:00 BUSY, 대체 16:00~17:00. 과거 FREE를 현재 사실로 사용하지 않는다. |</a:t>
            </a:r>
          </a:p>
          <a:p xmlns:a="http://schemas.openxmlformats.org/drawingml/2006/main">
            <a:r>
              <a:t>| C3 대화/업무 연결 | 현재 일정 요청과 조건/결과를 연결하며 무관 Task 수정 없음. 직접 조건 조회/Agent 조건 위임의 논리적 관계를 보존한다. |</a:t>
            </a:r>
          </a:p>
          <a:p xmlns:a="http://schemas.openxmlformats.org/drawingml/2006/main">
            <a:r>
              <a:t>| C4 조건/변경 범위 | FREE이면 생성, BUSY이면 안내만이라는 관계를 보존. 단순 무조건 생성으로 인계하지 않는다. 권한이 있다는 이유로 조건을 제거하지 않는다. |</a:t>
            </a:r>
          </a:p>
          <a:p xmlns:a="http://schemas.openxmlformats.org/drawingml/2006/main">
            <a:r>
              <a:t>| C5 실제 효과/상태 | 새 일정 생성 효과=0, 기존 고객 미팅 보존. guarded 생성의 version 충돌 뒤 재조회/안내는 허용하지만 무조건 생성 요청이나 생성 성공 전이는 실패. |</a:t>
            </a:r>
          </a:p>
          <a:p xmlns:a="http://schemas.openxmlformats.org/drawingml/2006/main">
            <a:r>
              <a:t>| C6 응답/실제 전달 | 필수 사실=“금요일 3시는 이미 일정이 있어 새 회의는 만들지 않았고 4시는 가능하다”. 가능한 시간을 예약한 것처럼 말하면 실패. |</a:t>
            </a:r>
          </a:p>
          <a:p xmlns:a="http://schemas.openxmlformats.org/drawingml/2006/main">
            <a:r>
              <a:t/>
            </a:r>
          </a:p>
          <a:p xmlns:a="http://schemas.openxmlformats.org/drawingml/2006/main">
            <a:r>
              <a:t>&lt;a id="s4-01"&gt;&lt;/a&gt;</a:t>
            </a:r>
          </a:p>
          <a:p xmlns:a="http://schemas.openxmlformats.org/drawingml/2006/main">
            <a:r>
              <a:t>##### S4-01 부분 정정과 늦은 후보</a:t>
            </a:r>
          </a:p>
          <a:p xmlns:a="http://schemas.openxmlformats.org/drawingml/2006/main">
            <a:r>
              <a:t/>
            </a:r>
          </a:p>
          <a:p xmlns:a="http://schemas.openxmlformats.org/drawingml/2006/main">
            <a:r>
              <a:t>**초기 상황:** T보고서/Execution X보고서는 D1@v1(“2026년 3분기 매출 150억원”)을 2026년 3분기/문장 형식으로 작성하는 진행 중 업무다. T메일/X메일의 기존 지시는 “안내문 D메일@v1(회의는 10월 14일 10시)을 민수(minsu@example.invalid)에게 보내기”이며 아직 전송 전이다. 원래 후속 요청 R옛은 보고서 문장 유지/메일 지시 유지이며 그 해석 작업은 준비 중이다. 현재 정정 전에 R옛의 신규 외부 명령은 없고 두 업무의 원래 인계는 외부 접수돼 있다.</a:t>
            </a:r>
          </a:p>
          <a:p xmlns:a="http://schemas.openxmlformats.org/drawingml/2006/main">
            <a:r>
              <a:t/>
            </a:r>
          </a:p>
          <a:p xmlns:a="http://schemas.openxmlformats.org/drawingml/2006/main">
            <a:r>
              <a:t>**입력:** “보고서는 표로 바꾸고 메일은 그대로.”</a:t>
            </a:r>
          </a:p>
          <a:p xmlns:a="http://schemas.openxmlformats.org/drawingml/2006/main">
            <a:r>
              <a:t/>
            </a:r>
          </a:p>
          <a:p xmlns:a="http://schemas.openxmlformats.org/drawingml/2006/main">
            <a:r>
              <a:t>**사건 순서:** E0: 발화 0~2초, 새 입력 onset은 원천 사건으로 제공한다. 초기 R옛의 모델/read 반환은 공통 provider adapter가 현재 발화 종료+0.1초까지 보류했다가 실제 반환값 그대로 전달한다. 해당 job이 없는 구조에는 가짜 반환을 만들지 않는다. E1: t=2.1초에 해당 이전 반환을 전달. E2: 유효 보고서 변경 명령은 접수+0.2초에 접수 receipt만 받으며 완료 결과는 없다. 메일의 원래 실행은 유지되고 정정 때문에 재위임하지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목표=기존 보고서 형식 정정 및 메일 지시 유지. 새 보고서 목표/새 조사로 바꾸면 실패. |</a:t>
            </a:r>
          </a:p>
          <a:p xmlns:a="http://schemas.openxmlformats.org/drawingml/2006/main">
            <a:r>
              <a:t>| C2 대상/근거 | 보고서 대상=D1@v1, 메일 대상=D메일@v1/민수. 원본/version/수신자 변경 없음. |</a:t>
            </a:r>
          </a:p>
          <a:p xmlns:a="http://schemas.openxmlformats.org/drawingml/2006/main">
            <a:r>
              <a:t>| C3 대화/업무 연결 | 변경은 T보고서/X보고서에 연결. T메일/X메일은 그대로 보존하고 중복 Task/Execution을 만들지 않는다. |</a:t>
            </a:r>
          </a:p>
          <a:p xmlns:a="http://schemas.openxmlformats.org/drawingml/2006/main">
            <a:r>
              <a:t>| C4 조건/변경 범위 | 변경=보고서 형식 표, 보존=2026년 3분기/자료/메일의 기존 대상/수신자/지시. 원래 문장 형식 재채택/메일 취소 금지. |</a:t>
            </a:r>
          </a:p>
          <a:p xmlns:a="http://schemas.openxmlformats.org/drawingml/2006/main">
            <a:r>
              <a:t>| C5 실제 효과/상태 | 유효 변경의 고유 접수=1회이며 payload의 형식=표. R옛의 늦은 반환으로 역변경/중복 명령 없음. 메일 유지가 원래 허용 실행의 계속 진행을 막는다는 뜻은 아니다. |</a:t>
            </a:r>
          </a:p>
          <a:p xmlns:a="http://schemas.openxmlformats.org/drawingml/2006/main">
            <a:r>
              <a:t>| C6 응답/실제 전달 | 필수 사실=“보고서 형식 변경이 접수됐고 메일 지시는 유지된다”. 보고서 변경 완료나 메일 취소/재발송 주장 금지. |</a:t>
            </a:r>
          </a:p>
          <a:p xmlns:a="http://schemas.openxmlformats.org/drawingml/2006/main">
            <a:r>
              <a:t/>
            </a:r>
          </a:p>
          <a:p xmlns:a="http://schemas.openxmlformats.org/drawingml/2006/main">
            <a:r>
              <a:t>&lt;a id="s4-02"&gt;&lt;/a&gt;</a:t>
            </a:r>
          </a:p>
          <a:p xmlns:a="http://schemas.openxmlformats.org/drawingml/2006/main">
            <a:r>
              <a:t>##### S4-02 음성 중단 뒤 지정 수치 설명</a:t>
            </a:r>
          </a:p>
          <a:p xmlns:a="http://schemas.openxmlformats.org/drawingml/2006/main">
            <a:r>
              <a:t/>
            </a:r>
          </a:p>
          <a:p xmlns:a="http://schemas.openxmlformats.org/drawingml/2006/main">
            <a:r>
              <a:t>**초기 상황:** T보고서/X보고서는 실행 중이다. VIA 설명 O옛의 전체 내용은 “3분기 매출은 150억원입니다. 전년보다 20% 증가했습니다.”다. 첫 문장은 이미 실제 재생됐고 둘째 문장은 시작됐지만 “20%”에 이르기 전이다. 발화 onset 시점의 실제 전달은 첫 문장과 둘째의 “전년보다” 부분까지다. 원본 D매출@v1은 올해 3분기 150억원, 전년 같은 분기 125억원이며 증가율 20%다. 허용된 설명 근거이고 별도 작업 취소 의도는 없다.</a:t>
            </a:r>
          </a:p>
          <a:p xmlns:a="http://schemas.openxmlformats.org/drawingml/2006/main">
            <a:r>
              <a:t/>
            </a:r>
          </a:p>
          <a:p xmlns:a="http://schemas.openxmlformats.org/drawingml/2006/main">
            <a:r>
              <a:t>**입력:** “잠깐, 그 수치부터 설명해줘.”</a:t>
            </a:r>
          </a:p>
          <a:p xmlns:a="http://schemas.openxmlformats.org/drawingml/2006/main">
            <a:r>
              <a:t/>
            </a:r>
          </a:p>
          <a:p xmlns:a="http://schemas.openxmlformats.org/drawingml/2006/main">
            <a:r>
              <a:t>**사건 순서:** E0: t=0은 이미 첫 문장을 들은 뒤의 새 발화 onset, 종료/확정 전사는 t=2초. 초기 playback receipt는 첫 문장 DELIVERED, 둘째의 “전년보다”만 PARTIAL_DELIVERED이며 20% 부분은 미재생이다. 원래 둘째 문장의 나머지 “20% 증가했습니다”는 중단하지 않으면 t=0.5초부터 재생돼 t=1.5초에 끝난다. 실제 중단 receipt가 있으면 그 지점 이후는 미재생으로 남긴다. E1: 중단된 세대 O옛의 둘째 문장 준비/재생 가능 알림이 t=2.1초에 늦게 도착한다. 공통 sink는 후보가 재생시키면 실제 재생으로 기록하며 자동으로 폐기해주지 않는다. E2: 새 설명은 후보가 구성/전달한다. Agent 취소/완료 사건과 계획된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목표=기존 음성 중단과 방금 들은 150억원의 설명. Agent 업무 취소로 해석하면 실패. |</a:t>
            </a:r>
          </a:p>
          <a:p xmlns:a="http://schemas.openxmlformats.org/drawingml/2006/main">
            <a:r>
              <a:t>| C2 대상/근거 | 지칭 수치=150억원/2026년 3분기 매출, 근거=D매출@v1. 미재생 20%를 “방금 들은 수치”로 선택하지 않는다. |</a:t>
            </a:r>
          </a:p>
          <a:p xmlns:a="http://schemas.openxmlformats.org/drawingml/2006/main">
            <a:r>
              <a:t>| C3 대화/업무 연결 | 같은 Conversation의 후속 설명이며 T보고서 실행은 유지. 취소 명령/새 보고서 실행 없음. |</a:t>
            </a:r>
          </a:p>
          <a:p xmlns:a="http://schemas.openxmlformats.org/drawingml/2006/main">
            <a:r>
              <a:t>| C4 조건/변경 범위 | 설명 범위=150억원의 기간/의미/근거. 20%를 보조 설명으로 새로 말하는 것은 허용하지만 이미 들었다고 취급하지 않는다. |</a:t>
            </a:r>
          </a:p>
          <a:p xmlns:a="http://schemas.openxmlformats.org/drawingml/2006/main">
            <a:r>
              <a:t>| C5 실제 효과/상태 | 진행 중인 O옛에 실제 중단을 적용하고 새 설명을 처리한다. 업무 상태는 RUNNING, 외부 CANCEL 효과=0. 중단 뒤/새 출력 세대에서 무효 O옛을 다시 release하거나 재생하면 실패. 정확한 stop 시간의 ms 목표는 응답속도에서 정한다. |</a:t>
            </a:r>
          </a:p>
          <a:p xmlns:a="http://schemas.openxmlformats.org/drawingml/2006/main">
            <a:r>
              <a:t>| C6 응답/실제 전달 | 필수 사실=“150억원은 올해 3분기 매출”. onset 시점에는 첫 문장/“전년보다”만 과거 전달이며 지칭 수치는 150이다. 실제 중단 전 더 재생된 부분이 있으면 sink의 실제 구간대로 기록하되 미재생 부분을 들었다고 기록하지 않는다. 유효한 새 설명의 Text/실제 재생을 남긴다. |</a:t>
            </a:r>
          </a:p>
          <a:p xmlns:a="http://schemas.openxmlformats.org/drawingml/2006/main">
            <a:r>
              <a:t/>
            </a:r>
          </a:p>
          <a:p xmlns:a="http://schemas.openxmlformats.org/drawingml/2006/main">
            <a:r>
              <a:t>&lt;a id="s4-03"&gt;&lt;/a&gt;</a:t>
            </a:r>
          </a:p>
          <a:p xmlns:a="http://schemas.openxmlformats.org/drawingml/2006/main">
            <a:r>
              <a:t>##### S4-03 특정 업무 취소와 접수 미확인</a:t>
            </a:r>
          </a:p>
          <a:p xmlns:a="http://schemas.openxmlformats.org/drawingml/2006/main">
            <a:r>
              <a:t/>
            </a:r>
          </a:p>
          <a:p xmlns:a="http://schemas.openxmlformats.org/drawingml/2006/main">
            <a:r>
              <a:t>**초기 상황:** T보고서/X보고서와 T메일/X메일은 RUNNING이다. 메일 지시는 민수(minsu@example.invalid)에게 D메일@v1(“회의는 10월 14일 10시”) 보내기이며 외부 효과는 아직 없다. 원래 메일 실행의 외부 접수 사실은 Agent 원본에 있고 그 receipt 재전달만 지연됐다. 보고서 지시는 변경 대상이 아니다.</a:t>
            </a:r>
          </a:p>
          <a:p xmlns:a="http://schemas.openxmlformats.org/drawingml/2006/main">
            <a:r>
              <a:t/>
            </a:r>
          </a:p>
          <a:p xmlns:a="http://schemas.openxmlformats.org/drawingml/2006/main">
            <a:r>
              <a:t>**입력:** “메일 업무만 취소해줘.”</a:t>
            </a:r>
          </a:p>
          <a:p xmlns:a="http://schemas.openxmlformats.org/drawingml/2006/main">
            <a:r>
              <a:t/>
            </a:r>
          </a:p>
          <a:p xmlns:a="http://schemas.openxmlformats.org/drawingml/2006/main">
            <a:r>
              <a:t>**사건 순서:** E0: 발화 0~2초. E1: 유효 취소 명령 접수+0.2초에 CANCEL_ACCEPTED(T메일,X메일)을 전달한다. E2: 그 뒤 0.1초에 원래 실행의 지연 ACCEPTED receipt를 전달하고 E1과 같은 취소 receipt를 한 번 더 전달한다. CANCELLED/COMPLETED와 실제 메일 전송 효과는 관찰 종료까지 발생하지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목표=메일 업무만 취소. 음성 중단/두 업무 전체 취소로 바꾸지 않는다. |</a:t>
            </a:r>
          </a:p>
          <a:p xmlns:a="http://schemas.openxmlformats.org/drawingml/2006/main">
            <a:r>
              <a:t>| C2 대상/근거 | 취소 대상=T메일/X메일 및 현재 취소/원래 접수 사실. 보고서 실행이나 다른 메일을 선택하면 실패. |</a:t>
            </a:r>
          </a:p>
          <a:p xmlns:a="http://schemas.openxmlformats.org/drawingml/2006/main">
            <a:r>
              <a:t>| C3 대화/업무 연결 | 취소를 T메일/X메일에만 연결하고 T보고서/X보고서 유지. 새 메일 Task/실행 없음. |</a:t>
            </a:r>
          </a:p>
          <a:p xmlns:a="http://schemas.openxmlformats.org/drawingml/2006/main">
            <a:r>
              <a:t>| C4 조건/변경 범위 | 취소 범위=메일 업무. 접수는 종료와 다르고 기존 보고서/원래 메일 자료와 수신자는 변경하지 않는다. |</a:t>
            </a:r>
          </a:p>
          <a:p xmlns:a="http://schemas.openxmlformats.org/drawingml/2006/main">
            <a:r>
              <a:t>| C5 실제 효과/상태 | 고유 CANCEL 접수=1회, 보고서 CANCEL=0. 최종 의미 상태=취소 접수/종료 미확인. 지연 ACCEPTED로 취소 의도를 지우거나 중복 취소 효과를 만들지 않는다. |</a:t>
            </a:r>
          </a:p>
          <a:p xmlns:a="http://schemas.openxmlformats.org/drawingml/2006/main">
            <a:r>
              <a:t>| C6 응답/실제 전달 | 필수 사실=“메일 취소 요청은 접수됐지만 종료는 아직 확인되지 않았고 보고서는 계속된다”. 취소 완료/외부 효과 복구 주장 금지. |</a:t>
            </a:r>
          </a:p>
          <a:p xmlns:a="http://schemas.openxmlformats.org/drawingml/2006/main">
            <a:r>
              <a:t/>
            </a:r>
          </a:p>
          <a:p xmlns:a="http://schemas.openxmlformats.org/drawingml/2006/main">
            <a:r>
              <a:t>&lt;a id="s5-01"&gt;&lt;/a&gt;</a:t>
            </a:r>
          </a:p>
          <a:p xmlns:a="http://schemas.openxmlformats.org/drawingml/2006/main">
            <a:r>
              <a:t>##### S5-01 교차 질문과 철회</a:t>
            </a:r>
          </a:p>
          <a:p xmlns:a="http://schemas.openxmlformats.org/drawingml/2006/main">
            <a:r>
              <a:t/>
            </a:r>
          </a:p>
          <a:p xmlns:a="http://schemas.openxmlformats.org/drawingml/2006/main">
            <a:r>
              <a:t>**초기 상황:** T보고서/X보고서와 T메일/X메일이 RUNNING이다. 기존 답변/승인은 없다. Voice 연결은 ON이고 User Turn은 열려 있지 않다. 현재 실제 제시된 질문 focus는 없다.</a:t>
            </a:r>
          </a:p>
          <a:p xmlns:a="http://schemas.openxmlformats.org/drawingml/2006/main">
            <a:r>
              <a:t/>
            </a:r>
          </a:p>
          <a:p xmlns:a="http://schemas.openxmlformats.org/drawingml/2006/main">
            <a:r>
              <a:t>**입력:** 최초 사용자 발화 없음. Agent 질문은 아래 원문으로 제공한다. 이 사례에서는 사용자가 답변하지 않는다.</a:t>
            </a:r>
          </a:p>
          <a:p xmlns:a="http://schemas.openxmlformats.org/drawingml/2006/main">
            <a:r>
              <a:t/>
            </a:r>
          </a:p>
          <a:p xmlns:a="http://schemas.openxmlformats.org/drawingml/2006/main">
            <a:r>
              <a:t>**사건 순서:** E0: t=0 보고서의 Q보고서@v1 “보고서 기간을 상반기로 할까요, 하반기로 할까요?” 도착. E1: t=0.02초 메일의 Q메일@v1 “받는 사람은 민수인가요, 지수인가요?” 도착. E2: t=0.04초 보고서 Agent가 Q보고서@v1을 WITHDRAWN으로 철회한다. Q메일은 VALID로 유지한다. 질문 결과를 채점하며 후속 답변/새 질문은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목표=각 Agent 질문을 VIA interaction에 연결하고 철회된 질문을 현재 답변 대상으로 사용하지 않음. |</a:t>
            </a:r>
          </a:p>
          <a:p xmlns:a="http://schemas.openxmlformats.org/drawingml/2006/main">
            <a:r>
              <a:t>| C2 대상/근거 | 원천=Q보고서@v1/기간/철회 사실, Q메일@v1/수신자/유효 사실. 원천 질문 내용을 서로 교체하지 않는다. |</a:t>
            </a:r>
          </a:p>
          <a:p xmlns:a="http://schemas.openxmlformats.org/drawingml/2006/main">
            <a:r>
              <a:t>| C3 대화/업무 연결 | 기간 질문→T보고서/X보고서, 수신자 질문→T메일/X메일. 최종 유효 질문 focus는 Q메일을 가리키며 Task 연결이 섞이지 않는다. |</a:t>
            </a:r>
          </a:p>
          <a:p xmlns:a="http://schemas.openxmlformats.org/drawingml/2006/main">
            <a:r>
              <a:t>| C4 조건/변경 범위 | 두 질문의 답변 범위를 합쳐 하나의 승인으로 만들지 않는다. 철회된 기간 질문에는 답변 요구/업무 변경을 적용하지 않는다. |</a:t>
            </a:r>
          </a:p>
          <a:p xmlns:a="http://schemas.openxmlformats.org/drawingml/2006/main">
            <a:r>
              <a:t>| C5 실제 효과/상태 | 최종 Q보고서=WITHDRAWN, Q메일=VALID/실제 제시됨. 새로운 외부 실행/임의 답변=0. 철회 전 제시는 허용하되 철회 후 무효 음성을 새로 release하거나 현재 유효 질문으로 유지하면 실패. |</a:t>
            </a:r>
          </a:p>
          <a:p xmlns:a="http://schemas.openxmlformats.org/drawingml/2006/main">
            <a:r>
              <a:t>| C6 응답/실제 전달 | 필수 사실=현재 메일 수신자 질문과 어느 업무의 질문인지. 보고서 질문을 이미 Text에 표시했다면 철회/비활성으로 갱신해야 한다. 제시 전 철회돼 처음부터 표시하지 않은 경우는 새 철회 알림을 강제하지 않는다. Voice는 “메일의 받는 사람은 민수인가요, 지수인가요?”와 같은 유효 Q메일의 수신자 선택 질문을 제시한다. 두 질문의 실제 제시 범위/철회 시점이 기록과 일치해야 한다. |</a:t>
            </a:r>
          </a:p>
          <a:p xmlns:a="http://schemas.openxmlformats.org/drawingml/2006/main">
            <a:r>
              <a:t/>
            </a:r>
          </a:p>
          <a:p xmlns:a="http://schemas.openxmlformats.org/drawingml/2006/main">
            <a:r>
              <a:t>&lt;a id="s5-02"&gt;&lt;/a&gt;</a:t>
            </a:r>
          </a:p>
          <a:p xmlns:a="http://schemas.openxmlformats.org/drawingml/2006/main">
            <a:r>
              <a:t>##### S5-02 결과 역전과 중복</a:t>
            </a:r>
          </a:p>
          <a:p xmlns:a="http://schemas.openxmlformats.org/drawingml/2006/main">
            <a:r>
              <a:t/>
            </a:r>
          </a:p>
          <a:p xmlns:a="http://schemas.openxmlformats.org/drawingml/2006/main">
            <a:r>
              <a:t>**초기 상황:** T보고서/X보고서는 먼저 시작된 업무이며 현행 요청 revision=2다. T메일/X메일은 나중에 시작됐고 현행 revision=1이다. 두 업무 모두 RUNNING이고 완료/결과 제시 기록은 없다. 결과의 제공은 허용된다.</a:t>
            </a:r>
          </a:p>
          <a:p xmlns:a="http://schemas.openxmlformats.org/drawingml/2006/main">
            <a:r>
              <a:t/>
            </a:r>
          </a:p>
          <a:p xmlns:a="http://schemas.openxmlformats.org/drawingml/2006/main">
            <a:r>
              <a:t>**입력:** 사용자 발화 없음. 결과 사건은 아래 순서로 제공한다.</a:t>
            </a:r>
          </a:p>
          <a:p xmlns:a="http://schemas.openxmlformats.org/drawingml/2006/main">
            <a:r>
              <a:t/>
            </a:r>
          </a:p>
          <a:p xmlns:a="http://schemas.openxmlformats.org/drawingml/2006/main">
            <a:r>
              <a:t>**사건 순서:** E0: t=0 메일 RESULT event Email1: T메일/X메일/request@v1, 결과 D메일결과@v1 “민수에게 전달된 안내문, 외부 상태 완료”. E1: t=0.02초 보고서 RESULT event Ereport2: T보고서/X보고서/request@v2, D보고서결과@v2 “3분기 표 보고서, 완료”. E2: t=0.04초 Email1과 동일한 event ID/payload의 중복 전달. E3: t=0.06초 이전 보고서 request@v1의 늦은 결과 D보고서결과@v1 “문장 보고서” 전달.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목표=두 현재 업무 결과의 수신/안내. 다시 보고서 작성/메일 전송을 시작하지 않는다. |</a:t>
            </a:r>
          </a:p>
          <a:p xmlns:a="http://schemas.openxmlformats.org/drawingml/2006/main">
            <a:r>
              <a:t>| C2 대상/근거 | 메일=D메일결과@v1, 보고서=D보고서결과@v2. 오래된 문장 보고서를 현재 결과로 선택하지 않는다. |</a:t>
            </a:r>
          </a:p>
          <a:p xmlns:a="http://schemas.openxmlformats.org/drawingml/2006/main">
            <a:r>
              <a:t>| C3 대화/업무 연결 | 각 결과를 원래 Task/Execution/Conversation에 연결하며 도착 순서로 업무를 바꾸지 않는다. |</a:t>
            </a:r>
          </a:p>
          <a:p xmlns:a="http://schemas.openxmlformats.org/drawingml/2006/main">
            <a:r>
              <a:t>| C4 조건/변경 범위 | 결과 역할/요청 revision 유지. 중복 Email1과 request@v1의 stale 보고서는 새 완료/현행 결과로 취급하지 않는다. |</a:t>
            </a:r>
          </a:p>
          <a:p xmlns:a="http://schemas.openxmlformats.org/drawingml/2006/main">
            <a:r>
              <a:t>| C5 실제 효과/상태 | 최종 두 Task=COMPLETED이고 현재 결과는 각 v1/v2다. 각 고유 완료 전이=1, 새 실행/중복 외부 Action=0. 보고서 상태/결과를 v1로 되돌리지 않는다. |</a:t>
            </a:r>
          </a:p>
          <a:p xmlns:a="http://schemas.openxmlformats.org/drawingml/2006/main">
            <a:r>
              <a:t>| C6 응답/실제 전달 | 필수 사실=메일 완료와 3분기 표 보고서 완료를 각각 올바른 업무/결과 참조로 안내. 같은 중복 event를 두 번째 새 결과로 표시/재생하지 않는다. 미제시 사실을 제시 완료로 기록하지 않는다. |</a:t>
            </a:r>
          </a:p>
          <a:p xmlns:a="http://schemas.openxmlformats.org/drawingml/2006/main">
            <a:r>
              <a:t/>
            </a:r>
          </a:p>
          <a:p xmlns:a="http://schemas.openxmlformats.org/drawingml/2006/main">
            <a:r>
              <a:t>&lt;a id="s5-03"&gt;&lt;/a&gt;</a:t>
            </a:r>
          </a:p>
          <a:p xmlns:a="http://schemas.openxmlformats.org/drawingml/2006/main">
            <a:r>
              <a:t>##### S5-03 음성 종료 중 결과와 재연결</a:t>
            </a:r>
          </a:p>
          <a:p xmlns:a="http://schemas.openxmlformats.org/drawingml/2006/main">
            <a:r>
              <a:t/>
            </a:r>
          </a:p>
          <a:p xmlns:a="http://schemas.openxmlformats.org/drawingml/2006/main">
            <a:r>
              <a:t>**초기 상황:** T보고서/X보고서는 RUNNING이다. Conversation C현재와 Voice Connection V이전이 존재한다. 결과/완료/전달 기록은 없다. 음성 해제는 업무 취소가 아니며 결과 제공은 허용된다.</a:t>
            </a:r>
          </a:p>
          <a:p xmlns:a="http://schemas.openxmlformats.org/drawingml/2006/main">
            <a:r>
              <a:t/>
            </a:r>
          </a:p>
          <a:p xmlns:a="http://schemas.openxmlformats.org/drawingml/2006/main">
            <a:r>
              <a:t>**입력:** 최초 발화 없음. 결과 Text의 실제 표시 receipt 뒤 1초에 새 Voice로 연결해 “방금 도착한 보고서 결과 알려줘.”라고 2초 동안 말한다.</a:t>
            </a:r>
          </a:p>
          <a:p xmlns:a="http://schemas.openxmlformats.org/drawingml/2006/main">
            <a:r>
              <a:t/>
            </a:r>
          </a:p>
          <a:p xmlns:a="http://schemas.openxmlformats.org/drawingml/2006/main">
            <a:r>
              <a:t>**사건 순서:** E0: t=0 V이전 해제, Voice OFF. E1: t=1초 보고서 COMPLETED(D보고서결과@v1 “2026년 3분기 표 보고서”) 사건 도착. E2: 이 결과의 Text 실제 표시/Conversation 기록을 확인한다. E3: E2의 실제 Text 표시 receipt 뒤 1초에 V새로 동일 C현재에 연결하고 위 발화를 준다. Text를 표시하지 못하면 §3.5의 관찰 상한에서 실패하며 표시하지 않은 결과를 다음 발화의 힌트로 주지 않는다. 새 결과 event/업무 실행은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목표=음성 OFF 중 결과 유지/표시와 재연결 후 기존 결과 안내. 새 작성 업무로 바꾸지 않는다. |</a:t>
            </a:r>
          </a:p>
          <a:p xmlns:a="http://schemas.openxmlformats.org/drawingml/2006/main">
            <a:r>
              <a:t>| C2 대상/근거 | 확인된 D보고서결과@v1/2026년 3분기 표 보고서. 다른 결과/옛 version 사용 없음. |</a:t>
            </a:r>
          </a:p>
          <a:p xmlns:a="http://schemas.openxmlformats.org/drawingml/2006/main">
            <a:r>
              <a:t>| C3 대화/업무 연결 | C현재와 T보고서/X보고서를 유지하며 V이전/V새를 새 Task/Conversation identity로 취급하지 않는다. |</a:t>
            </a:r>
          </a:p>
          <a:p xmlns:a="http://schemas.openxmlformats.org/drawingml/2006/main">
            <a:r>
              <a:t>| C4 조건/변경 범위 | Voice OFF이면 Text 전달, 다시 요청하면 같은 결과 안내. 음성 해제로 업무를 취소하거나 자동 재실행하지 않는다. |</a:t>
            </a:r>
          </a:p>
          <a:p xmlns:a="http://schemas.openxmlformats.org/drawingml/2006/main">
            <a:r>
              <a:t>| C5 실제 효과/상태 | 완료/결과는 보존, 고유 완료 전이=1, 새 Agent 실행=0. OFF 구간에는 실제 음성 재생이 없고 결과 Text는 실제 재연결 전에 관측돼야 한다. 재연결 시점을 Text 표시 뒤에 연결하므로 별도의 2초 응답속도 목표를 만들지 않는다. |</a:t>
            </a:r>
          </a:p>
          <a:p xmlns:a="http://schemas.openxmlformats.org/drawingml/2006/main">
            <a:r>
              <a:t>| C6 응답/실제 전달 | 필수 사실=기존 보고서 결과의 도착/완료와 올바른 결과 참조. OFF 구간 Text만 전달된 사실과 재연결 후 실제 Voice 전달을 구분한다. 이전에 음성으로 들었다고 기록/주장하면 실패. |</a:t>
            </a:r>
          </a:p>
          <a:p xmlns:a="http://schemas.openxmlformats.org/drawingml/2006/main">
            <a:r>
              <a:t/>
            </a:r>
          </a:p>
          <a:p xmlns:a="http://schemas.openxmlformats.org/drawingml/2006/main">
            <a:r>
              <a:t>&lt;a id="s5-04"&gt;&lt;/a&gt;</a:t>
            </a:r>
          </a:p>
          <a:p xmlns:a="http://schemas.openxmlformats.org/drawingml/2006/main">
            <a:r>
              <a:t>##### S5-04 발화 중 네 Agent 사건과 보고서 정정</a:t>
            </a:r>
          </a:p>
          <a:p xmlns:a="http://schemas.openxmlformats.org/drawingml/2006/main">
            <a:r>
              <a:t/>
            </a:r>
          </a:p>
          <a:p xmlns:a="http://schemas.openxmlformats.org/drawingml/2006/main">
            <a:r>
              <a:t>**초기 상황:** S4-01과 같은 T보고서/T메일 및 보호 Task가 있고 P옛설명의 음성을 재생 중이다. 별도 T질문A/T질문B는 답변 대기, T결과A/T결과B는 RUNNING이다. 최대 관련/보호 Task=7, 공통 상한10 안이다. 각 Task의 Execution은 X질문A/X질문B/X결과A/X결과B, 현행 request revision은 모두 1이다. Q수신자A@v1의 원문은 “초안 수신자를 민수로 할까요, 지수로 할까요?”, Q범위B@v1은 “자료 범위를 2026년 3분기로 한정할까요?”다. ResultA@v1의 본문은 “납기 조회 완료: 14일”, ResultB@v1은 “수량 조회 완료: 20개”다. RESULT는 해당 request@v1의 완료 사건이고 질문은 현재 VALID/PRESENTATION_PENDING이며 선행 제시 receipt는 없다. 네 원문의 read/모델·사용자 제공은 ALLOWED다. P옛설명은 t=0 전에 재생 중이고 공통 잔여 재생 길이는 4초다.</a:t>
            </a:r>
          </a:p>
          <a:p xmlns:a="http://schemas.openxmlformats.org/drawingml/2006/main">
            <a:r>
              <a:t/>
            </a:r>
          </a:p>
          <a:p xmlns:a="http://schemas.openxmlformats.org/drawingml/2006/main">
            <a:r>
              <a:t>**입력:** “잠깐, 보고서는 표로 바꾸고 메일은 그대로 둬.”</a:t>
            </a:r>
          </a:p>
          <a:p xmlns:a="http://schemas.openxmlformats.org/drawingml/2006/main">
            <a:r>
              <a:t/>
            </a:r>
          </a:p>
          <a:p xmlns:a="http://schemas.openxmlformats.org/drawingml/2006/main">
            <a:r>
              <a:t>**사건 순서:** E0: t=0 새 음성 onset, t=2초 종료. E1: t=0.10/0.12/0.14/0.16초에 질문A/결과A/질문B/결과B의 실제 source availability를 제공한다. source 순서와 payload는 양안 동일. E2: 관련성 해소와 발화 종료 전 새 음성 안내 금지. 각 질문/결과를 구분해 실제 제시하며 사용자 답은 제공하지 않는다. E3: 보고서 유효 정정 접수+0.2초 receipt, +8초 ReportBurst@v2 결과. 옛 설명은 부활하지 않고 메일은 유지한다. 이 네 사건은 별도 4개 채점 사례로 중복하지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보고서 표 형식 정정과 기존 음성 중단, 네 외부 사건 처리. 무관 업무 취소/임의 질문 답변 금지. |</a:t>
            </a:r>
          </a:p>
          <a:p xmlns:a="http://schemas.openxmlformats.org/drawingml/2006/main">
            <a:r>
              <a:t>| C2 대상/근거 | 현재 보고서 근거, Q수신자A@v1의 민수/지수 선택, Q범위B@v1의 2026년 3분기 범위, ResultA@v1의 14일, ResultB@v1의 20개를 각각 보존. 기존 출력 후보/다른 업무 값과 치환 없음. |</a:t>
            </a:r>
          </a:p>
          <a:p xmlns:a="http://schemas.openxmlformats.org/drawingml/2006/main">
            <a:r>
              <a:t>| C3 대화/업무 연결 | 정정은 T보고서, 메일 유지. 네 사건은 각 Task/Execution/질문에 연결. T보호 유지. |</a:t>
            </a:r>
          </a:p>
          <a:p xmlns:a="http://schemas.openxmlformats.org/drawingml/2006/main">
            <a:r>
              <a:t>| C4 조건/변경 범위 | 보고서 기간/자료 및 메일 지시 보존. 입력 중 음성 stop와 업무 취소를 구별하고 사건 간 선후를 불필요하게 의존시키지 않는다. |</a:t>
            </a:r>
          </a:p>
          <a:p xmlns:a="http://schemas.openxmlformats.org/drawingml/2006/main">
            <a:r>
              <a:t>| C5 실제 효과/상태 | UPDATE 한 번, 네 사건의 중복 없는 상태 반영, 결과 ReportBurst@v2. 두 결과 Task는 각각 완료 전이 한 번이고 두 질문은 실제 제시 후 답변 대기 유지. 임의 ANSWER/SEND 효과=0. 실제 권한/현재성 확인 후 진행. |</a:t>
            </a:r>
          </a:p>
          <a:p xmlns:a="http://schemas.openxmlformats.org/drawingml/2006/main">
            <a:r>
              <a:t>| C6 응답/실제 전달 | 기존 음성 stop, 올바른 정정 접수와 결과, 두 질문의 업무와 선택/범위, 두 결과의 업무와 14일/20개를 각각 실제 Text/Voice 제시. 표현/제시 순서는 달라도 허용하며 질문을 합쳐 하나의 승인으로 바꾸지 않는다. 사용자가 말하는 중 새 음성 없음. 각각의 실제 전달 receipt를 기록. |</a:t>
            </a:r>
          </a:p>
          <a:p xmlns:a="http://schemas.openxmlformats.org/drawingml/2006/main">
            <a:r>
              <a:t/>
            </a:r>
          </a:p>
          <a:p xmlns:a="http://schemas.openxmlformats.org/drawingml/2006/main">
            <a:r>
              <a:t>&lt;a id="s6-01"&gt;&lt;/a&gt;</a:t>
            </a:r>
          </a:p>
          <a:p xmlns:a="http://schemas.openxmlformats.org/drawingml/2006/main">
            <a:r>
              <a:t>##### S6-01 모호한 과거 보고서 확인</a:t>
            </a:r>
          </a:p>
          <a:p xmlns:a="http://schemas.openxmlformats.org/drawingml/2006/main">
            <a:r>
              <a:t/>
            </a:r>
          </a:p>
          <a:p xmlns:a="http://schemas.openxmlformats.org/drawingml/2006/main">
            <a:r>
              <a:t>**초기 상황:** 현재 대화에는 동일하게 유효한 두 업무가 있다. T3분기/X3분기의 “2026년 3분기 매출 보고서”와 T4분기/X4분기의 “2026년 4분기 매출 보고서”는 모두 문장 형식/진행 중이다. 각각 자료 SalesQ3@v1(“2026년 3분기 매출 150억원”)과 SalesQ4@v1(“2026년 4분기 매출 180억원”)을 사용하고 언급 시각은 동률이다. 새 수정 내용과 대상은 아직 주어지지 않았다.</a:t>
            </a:r>
          </a:p>
          <a:p xmlns:a="http://schemas.openxmlformats.org/drawingml/2006/main">
            <a:r>
              <a:t/>
            </a:r>
          </a:p>
          <a:p xmlns:a="http://schemas.openxmlformats.org/drawingml/2006/main">
            <a:r>
              <a:t>**입력:** 최초: “아까 보고서 수정해줘.”(0~2초). 첫 관련 확인 질문이 실제 제시되면 1초 뒤 “3분기 매출 보고서만 표로 바꿔줘. 기간은 그대로 두고 4분기 보고서는 건드리지 마.”라고 답한다(3초 길이).</a:t>
            </a:r>
          </a:p>
          <a:p xmlns:a="http://schemas.openxmlformats.org/drawingml/2006/main">
            <a:r>
              <a:t/>
            </a:r>
          </a:p>
          <a:p xmlns:a="http://schemas.openxmlformats.org/drawingml/2006/main">
            <a:r>
              <a:t>**사건 순서:** E0: 최초 발화. E1: 대상/수정 내용의 확인 질문 실제 제시 receipt를 기다린다. 질문은 한 번에 두 항목을 묻거나 하나씩 물어도 허용하며 위 답변은 첫 관련 질문에 동일하게 제공한다. E2: 답변 확정 후 유효 변경 접수+0.2초에 접수 receipt만 반환한다. 질문 없이 임의 변경하면 그 효과를 남기고 답변을 정답 힌트로 선주입하지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최초 목표=대상/내용 확인, 답변 뒤 목표=기존 3분기 보고서 형식 변경. 확인 없이 가장 최근/임의 업무를 확정하면 실패. |</a:t>
            </a:r>
          </a:p>
          <a:p xmlns:a="http://schemas.openxmlformats.org/drawingml/2006/main">
            <a:r>
              <a:t>| C2 대상/근거 | 답변이 지정한 T3분기의 SalesQ3@v1과 기존 자료/결과. 4분기 자료 교체 없음. |</a:t>
            </a:r>
          </a:p>
          <a:p xmlns:a="http://schemas.openxmlformats.org/drawingml/2006/main">
            <a:r>
              <a:t>| C3 대화/업무 연결 | 답변은 원래 수정 요청/실제 제시 질문과 T3분기/X3분기에 연결. T4분기/X4분기 유지. 새 보고서 Task 생성 없음. |</a:t>
            </a:r>
          </a:p>
          <a:p xmlns:a="http://schemas.openxmlformats.org/drawingml/2006/main">
            <a:r>
              <a:t>| C4 조건/변경 범위 | 변경=3분기 보고서 형식 표, 보존=2026년 3분기/자료/4분기 지시. 질문 문장 자체는 일치 불필요. |</a:t>
            </a:r>
          </a:p>
          <a:p xmlns:a="http://schemas.openxmlformats.org/drawingml/2006/main">
            <a:r>
              <a:t>| C5 실제 효과/상태 | 답변 전 외부 변경=0. 답변 뒤 고유 UPDATE 접수=1회이며 대상=T3분기. 4분기 변경=0. 접수만 있고 완료 아님. |</a:t>
            </a:r>
          </a:p>
          <a:p xmlns:a="http://schemas.openxmlformats.org/drawingml/2006/main">
            <a:r>
              <a:t>| C6 응답/실제 전달 | 필수 사실=어떤 보고서/무엇을 수정할지의 실제 확인(예: “3분기와 4분기 중 어떤 보고서를 어떻게 바꿀까요?”), 이후 “3분기 보고서 형식 변경 접수, 4분기는 유지”. 임의 확정/변경 완료 주장 금지. |</a:t>
            </a:r>
          </a:p>
          <a:p xmlns:a="http://schemas.openxmlformats.org/drawingml/2006/main">
            <a:r>
              <a:t/>
            </a:r>
          </a:p>
          <a:p xmlns:a="http://schemas.openxmlformats.org/drawingml/2006/main">
            <a:r>
              <a:t>&lt;a id="s6-02"&gt;&lt;/a&gt;</a:t>
            </a:r>
          </a:p>
          <a:p xmlns:a="http://schemas.openxmlformats.org/drawingml/2006/main">
            <a:r>
              <a:t>##### S6-02 철회된 질문 답변과 승인 범위</a:t>
            </a:r>
          </a:p>
          <a:p xmlns:a="http://schemas.openxmlformats.org/drawingml/2006/main">
            <a:r>
              <a:t/>
            </a:r>
          </a:p>
          <a:p xmlns:a="http://schemas.openxmlformats.org/drawingml/2006/main">
            <a:r>
              <a:t>**초기 상황:** T메일/X메일의 수신자 민수 주소는 미해결이다. Q1@v1은 “민수의 연락처를 조회해 메일 업무에 제공할까요?”라는 정보 동의 질문이며 실제 Text/Voice 제시 receipt가 있다. Q2@v1은 “이 메일을 발송할까요?”라는 전송 승인 대기 질문으로 아직 제시되지 않았다. 연락처 read/제공은 동의 전 DENIED, SEND 승인도 DENIED다.</a:t>
            </a:r>
          </a:p>
          <a:p xmlns:a="http://schemas.openxmlformats.org/drawingml/2006/main">
            <a:r>
              <a:t/>
            </a:r>
          </a:p>
          <a:p xmlns:a="http://schemas.openxmlformats.org/drawingml/2006/main">
            <a:r>
              <a:t>**입력:** 최초: “응.”(0~1초). 재확인 질문이 실제 제시되면 1초 뒤 “민수 연락처 조회와 이 메일 업무에 주소 제공만 동의해. 메일 발송은 승인하지 않아.”라고 답한다(3초 길이).</a:t>
            </a:r>
          </a:p>
          <a:p xmlns:a="http://schemas.openxmlformats.org/drawingml/2006/main">
            <a:r>
              <a:t/>
            </a:r>
          </a:p>
          <a:p xmlns:a="http://schemas.openxmlformats.org/drawingml/2006/main">
            <a:r>
              <a:t>**사건 순서:** E0: t=-0.1초 원천이 Q1@v1을 철회하고 동일 정보 목적의 Q1@v2를 VALID/PRESENTATION_PENDING으로 게시한다. v2에는 아직 실제 제시 receipt가 없다. E1: 최초 “응”을 제공한다. E2: v2 정보 동의/실제 질문 대상을 재확인하는 제시 receipt 뒤에만 지정 후속 답변을 준다. E3: 새 동의 뒤 연락처 조회는 민수=minsu@example.invalid를 반환하며 이 주소의 메일 업무 제공은 허용된다. Q2의 SEND 승인/메일 전송/추가 답변은 끝까지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최초 처리=철회된/미제시 질문에 “응”을 적용하지 않고 현재 정보 동의를 재확인. 후속 답변 뒤 연락처 조회/주소 제공만 허용한다. |</a:t>
            </a:r>
          </a:p>
          <a:p xmlns:a="http://schemas.openxmlformats.org/drawingml/2006/main">
            <a:r>
              <a:t>| C2 대상/근거 | Q1@v1의 철회, Q1@v2의 목적/실제 제시 receipt, 현재 권한과 민수 주소. Q2를 “응”의 대상으로 선택하지 않는다. |</a:t>
            </a:r>
          </a:p>
          <a:p xmlns:a="http://schemas.openxmlformats.org/drawingml/2006/main">
            <a:r>
              <a:t>| C3 대화/업무 연결 | 재확인/후속 답변→현재 Q1@v2와 T메일/X메일. Q2/다른 Task에 답변이나 승인 연결 없음. |</a:t>
            </a:r>
          </a:p>
          <a:p xmlns:a="http://schemas.openxmlformats.org/drawingml/2006/main">
            <a:r>
              <a:t>| C4 조건/변경 범위 | 동의 범위=민수 연락처 조회 및 이 메일 업무에 주소 제공. SEND/다른 연락처/다른 목적의 제공으로 확대하지 않는다. |</a:t>
            </a:r>
          </a:p>
          <a:p xmlns:a="http://schemas.openxmlformats.org/drawingml/2006/main">
            <a:r>
              <a:t>| C5 실제 효과/상태 | 새 동의/실제 질문 제시 전 연락처 read/제공=0. 후속 답변 뒤 허용 범위의 조회/제공, SEND 효과=0. Q2 승인 상태는 DENIED/대기이고 중복 승인/잘못된 명령 없음. |</a:t>
            </a:r>
          </a:p>
          <a:p xmlns:a="http://schemas.openxmlformats.org/drawingml/2006/main">
            <a:r>
              <a:t>| C6 응답/실제 전달 | 필수 사실=현재 연락처 조회 동의를 다시 묻는 질문(예: “이전 동의 질문은 철회됐어요. 민수 연락처 조회와 이 메일 업무에 주소 제공에 동의하나요? 발송 승인은 별개예요.”), 이후 “연락처 조회/주소 제공만 허용됐고 메일 발송 승인은 없다”. 과거 “응”을 새 동의나 발송 승인으로 기록하면 실패. |</a:t>
            </a:r>
          </a:p>
          <a:p xmlns:a="http://schemas.openxmlformats.org/drawingml/2006/main">
            <a:r>
              <a:t/>
            </a:r>
          </a:p>
          <a:p xmlns:a="http://schemas.openxmlformats.org/drawingml/2006/main">
            <a:r>
              <a:t>&lt;a id="s6-03"&gt;&lt;/a&gt;</a:t>
            </a:r>
          </a:p>
          <a:p xmlns:a="http://schemas.openxmlformats.org/drawingml/2006/main">
            <a:r>
              <a:t>##### S6-03 필요한 자료의 접근 거부</a:t>
            </a:r>
          </a:p>
          <a:p xmlns:a="http://schemas.openxmlformats.org/drawingml/2006/main">
            <a:r>
              <a:t/>
            </a:r>
          </a:p>
          <a:p xmlns:a="http://schemas.openxmlformats.org/drawingml/2006/main">
            <a:r>
              <a:t>**초기 상황:** D1의 제목은 “계약서”, version=v1, 존재/metadata만 확인 가능하다. content read와 모델/Agent 제공 권한은 DENIED다. 실제 금액은 평가용 비공개 원본에 500백만원으로 두되 후보 입력/조회 결과/모델에는 제공하지 않는다. 대체 자료/관련 기존 Task는 없다.</a:t>
            </a:r>
          </a:p>
          <a:p xmlns:a="http://schemas.openxmlformats.org/drawingml/2006/main">
            <a:r>
              <a:t/>
            </a:r>
          </a:p>
          <a:p xmlns:a="http://schemas.openxmlformats.org/drawingml/2006/main">
            <a:r>
              <a:t>**입력:** “D1의 계약 금액을 알려줘.”</a:t>
            </a:r>
          </a:p>
          <a:p xmlns:a="http://schemas.openxmlformats.org/drawingml/2006/main">
            <a:r>
              <a:t/>
            </a:r>
          </a:p>
          <a:p xmlns:a="http://schemas.openxmlformats.org/drawingml/2006/main">
            <a:r>
              <a:t>**사건 순서:** E0: 발화 0~2초. E1: 모든 허용 content 조회 경로는 ACCESS_DENIED(reason=현재 접근 권한 없음)를 반환한다. 후보가 다른 port/Agent로 같은 금액 조회를 우회하면 호출/효과를 기록하고 실패로 판정한다. 사용자 재동의/권한 변경/후속 답변은 제공하지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목표=접근 불가 안내/유보. 확인되지 않은 금액 답변/조사 성공으로 바꾸지 않는다. |</a:t>
            </a:r>
          </a:p>
          <a:p xmlns:a="http://schemas.openxmlformats.org/drawingml/2006/main">
            <a:r>
              <a:t>| C2 대상/근거 | D1@v1의 존재/접근 거부 사실만 사용. 비공개 500이나 다른 문서 금액을 답의 근거로 사용하면 실패. |</a:t>
            </a:r>
          </a:p>
          <a:p xmlns:a="http://schemas.openxmlformats.org/drawingml/2006/main">
            <a:r>
              <a:t>| C3 대화/업무 연결 | 원래 D1 문의에 연결. 금액 조회 우회용 새 Agent 업무나 T보호 변경 없음. |</a:t>
            </a:r>
          </a:p>
          <a:p xmlns:a="http://schemas.openxmlformats.org/drawingml/2006/main">
            <a:r>
              <a:t>| C4 조건/변경 범위 | DENIED와 자료 없음/금액 없음/판단 불가를 구별한다. 접근 허용을 이미 받은 것으로 확대하거나 다른 자료로 치환하지 않는다. |</a:t>
            </a:r>
          </a:p>
          <a:p xmlns:a="http://schemas.openxmlformats.org/drawingml/2006/main">
            <a:r>
              <a:t>| C5 실제 효과/상태 | 금지 content read/외부 제공/업무 Action 효과=0. 조회 요청의 ACCESS_DENIED 자체는 정상이며 정확한 유보로 처리한다. |</a:t>
            </a:r>
          </a:p>
          <a:p xmlns:a="http://schemas.openxmlformats.org/drawingml/2006/main">
            <a:r>
              <a:t>| C6 응답/실제 전달 | 필수 사실=“D1은 현재 접근 권한이 없어 계약 금액을 확인할 수 없다”. 추측/금액 제시/조회 성공 주장 금지. 권한을 확인하라는 다음 행동 제안은 허용하되 실제 허용으로 기록하지 않는다. |</a:t>
            </a:r>
          </a:p>
          <a:p xmlns:a="http://schemas.openxmlformats.org/drawingml/2006/main">
            <a:r>
              <a:t/>
            </a:r>
          </a:p>
          <a:p xmlns:a="http://schemas.openxmlformats.org/drawingml/2006/main">
            <a:r>
              <a:t>&lt;a id="s6-04"&gt;&lt;/a&gt;</a:t>
            </a:r>
          </a:p>
          <a:p xmlns:a="http://schemas.openxmlformats.org/drawingml/2006/main">
            <a:r>
              <a:t>##### S6-04 실제 제시된 유효 질문에 답변</a:t>
            </a:r>
          </a:p>
          <a:p xmlns:a="http://schemas.openxmlformats.org/drawingml/2006/main">
            <a:r>
              <a:t/>
            </a:r>
          </a:p>
          <a:p xmlns:a="http://schemas.openxmlformats.org/drawingml/2006/main">
            <a:r>
              <a:t>**초기 상황:** T보고서/X보고서는 진행 중이며 Q기간@v7은 “보고서 기간을 2026년 상반기로 할까요?”라는 유효 질문이다. 현재 대화의 Text/Voice 실제 제시 receipt가 있다. 범위 자료 SalesH1@v1은 2026년1~6월이며 기간 변경/답변 제공은 허용된다. 무관 T메일/T보호는 유지. 질문 철회나 경쟁 변경은 없다.</a:t>
            </a:r>
          </a:p>
          <a:p xmlns:a="http://schemas.openxmlformats.org/drawingml/2006/main">
            <a:r>
              <a:t/>
            </a:r>
          </a:p>
          <a:p xmlns:a="http://schemas.openxmlformats.org/drawingml/2006/main">
            <a:r>
              <a:t>**입력:** “응, 상반기로 해줘.”</a:t>
            </a:r>
          </a:p>
          <a:p xmlns:a="http://schemas.openxmlformats.org/drawingml/2006/main">
            <a:r>
              <a:t/>
            </a:r>
          </a:p>
          <a:p xmlns:a="http://schemas.openxmlformats.org/drawingml/2006/main">
            <a:r>
              <a:t>**사건 순서:** E0: 발화 0~2초. E1: 실제 유효 ANSWER/기간 변경 명령 접수+0.2초에 ACK를 반환한다. 임의 신규 질문은 공통 추가 답변 규칙만 적용한다. 보고서 완료 결과는 반환하지 않는다. 이번 요청의 완료는 답변을 올바른 업무에 전달하고 확인된 기간/접수 상태를 안내하는 것이다.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목표=현재 유효 기간 질문의 답변 처리. 새 보고서 작성/새 승인 요청으로 바꾸지 않는다. |</a:t>
            </a:r>
          </a:p>
          <a:p xmlns:a="http://schemas.openxmlformats.org/drawingml/2006/main">
            <a:r>
              <a:t>| C2 대상/근거 | 실제 제시 Q기간@v7, SalesH1@v1과 2026년1~6월. 과거 철회 질문/다른 분기와 치환 없음. |</a:t>
            </a:r>
          </a:p>
          <a:p xmlns:a="http://schemas.openxmlformats.org/drawingml/2006/main">
            <a:r>
              <a:t>| C3 대화/업무 연결 | 답변을 Q기간/T보고서/X보고서에 연결. T메일/T보호 무변경. |</a:t>
            </a:r>
          </a:p>
          <a:p xmlns:a="http://schemas.openxmlformats.org/drawingml/2006/main">
            <a:r>
              <a:t>| C4 조건/변경 범위 | 보고서 기간만 상반기로 확정하고 나머지 조건 유지. 정보 동의나 메일 SEND 승인으로 확대하지 않는다. |</a:t>
            </a:r>
          </a:p>
          <a:p xmlns:a="http://schemas.openxmlformats.org/drawingml/2006/main">
            <a:r>
              <a:t>| C5 실제 효과/상태 | 유효 답변 접수/전달 한 번, 질문=답변됨/기간=상반기. 외부 미접수를 접수로 말하지 않는다. |</a:t>
            </a:r>
          </a:p>
          <a:p xmlns:a="http://schemas.openxmlformats.org/drawingml/2006/main">
            <a:r>
              <a:t>| C6 응답/실제 전달 | “보고서 기간을 2026년 상반기로 답변했고 접수됐다”를 실제 전달. 보고서 작성 완료라고 하지 않는다. |</a:t>
            </a:r>
          </a:p>
          <a:p xmlns:a="http://schemas.openxmlformats.org/drawingml/2006/main">
            <a:r>
              <a:t/>
            </a:r>
          </a:p>
          <a:p xmlns:a="http://schemas.openxmlformats.org/drawingml/2006/main">
            <a:r>
              <a:t>#### 3.2.3 단일 반복과 분모</a:t>
            </a:r>
          </a:p>
          <a:p xmlns:a="http://schemas.openxmlformats.org/drawingml/2006/main">
            <a:r>
              <a:t/>
            </a:r>
          </a:p>
          <a:p xmlns:a="http://schemas.openxmlformats.org/drawingml/2006/main">
            <a:r>
              <a:t>P21 전체를 5회 독립 초기화한다. 한 묶음 안에서 각 채점 시나리오는 한 번 수행한다. 재사용과 집중 부하는 이미 S2-04/S5-04의 명시 조건이며 내부 5회 × 외부 3회의 반복은 없다. 모든 다섯 묶음의 채점 대상을 사용하고 좋은 묶음만 고르지 않는다.</a:t>
            </a:r>
          </a:p>
          <a:p xmlns:a="http://schemas.openxmlformats.org/drawingml/2006/main">
            <a:r>
              <a:t/>
            </a:r>
          </a:p>
          <a:p xmlns:a="http://schemas.openxmlformats.org/drawingml/2006/main">
            <a:r>
              <a:t>- 시나리오:21×5=105회, 정확성 조건:105×6=630개.</a:t>
            </a:r>
          </a:p>
          <a:p xmlns:a="http://schemas.openxmlformats.org/drawingml/2006/main">
            <a:r>
              <a:t>- 상황군의 조건 분모:S1=60, S2=150, S3=90, S4=90, S5=120, S6=120.</a:t>
            </a:r>
          </a:p>
          <a:p xmlns:a="http://schemas.openxmlformats.org/drawingml/2006/main">
            <a:r>
              <a:t>- 조건 유형 C 각각105개. 후속 답변/Agent4사건을 별도 시나리오로 쪼개 정확성 분모를 늘리지 않음.</a:t>
            </a:r>
          </a:p>
          <a:p xmlns:a="http://schemas.openxmlformats.org/drawingml/2006/main">
            <a:r>
              <a:t>- 재사용/집중 도착과 final tail 모두 같은6조건으로 채점. 원천 준비/유휴 tick은 신규 사용자 시나리오가 아니며 원장/필수 위반 검사에 포함.</a:t>
            </a:r>
          </a:p>
          <a:p xmlns:a="http://schemas.openxmlformats.org/drawingml/2006/main">
            <a:r>
              <a:t/>
            </a:r>
          </a:p>
          <a:p xmlns:a="http://schemas.openxmlformats.org/drawingml/2006/main">
            <a:r>
              <a:t>5회는 작은 PoC의 작성자 반복 예산이며 검정력/제품 정확률의 정밀도를 입증한 횟수가 아니다. 630조건을 독립630실험으로 간주하지 않는다. 각 사례/조건/준비 상태와 반복별 결과를 공개하며 실제 제품 빈도 추정으로 확대하지 않는다.</a:t>
            </a:r>
          </a:p>
          <a:p xmlns:a="http://schemas.openxmlformats.org/drawingml/2006/main">
            <a:r>
              <a:t/>
            </a:r>
          </a:p>
          <a:p xmlns:a="http://schemas.openxmlformats.org/drawingml/2006/main">
            <a:r>
              <a:t>### 3.3 공통 정답 조건과 판별</a:t>
            </a:r>
          </a:p>
          <a:p xmlns:a="http://schemas.openxmlformats.org/drawingml/2006/main">
            <a:r>
              <a:t/>
            </a:r>
          </a:p>
          <a:p xmlns:a="http://schemas.openxmlformats.org/drawingml/2006/main">
            <a:r>
              <a:t>#### 3.3.1 재사용할 정답 조건 유형</a:t>
            </a:r>
          </a:p>
          <a:p xmlns:a="http://schemas.openxmlformats.org/drawingml/2006/main">
            <a:r>
              <a:t/>
            </a:r>
          </a:p>
          <a:p xmlns:a="http://schemas.openxmlformats.org/drawingml/2006/main">
            <a:r>
              <a:t>| 유형 | 정답으로 기술할 사실 | 대표 판정 예시와 관측 경계 |</a:t>
            </a:r>
          </a:p>
          <a:p xmlns:a="http://schemas.openxmlformats.org/drawingml/2006/main">
            <a:r>
              <a:t>| --- | --- | --- |</a:t>
            </a:r>
          </a:p>
          <a:p xmlns:a="http://schemas.openxmlformats.org/drawingml/2006/main">
            <a:r>
              <a:t>| C1 목표와 처리 방향 | 요청한 행위/산출물의 의미, 답변/위임/확인/유보 등 허용 처리 방향 | 보고서 형식 변경을 새 조사로 바꾸지 않음. 업무 실행은 Agent에 인계. 필요한 확인을 임의 완료로 대체하지 않음 |</a:t>
            </a:r>
          </a:p>
          <a:p xmlns:a="http://schemas.openxmlformats.org/drawingml/2006/main">
            <a:r>
              <a:t>| C2 대상과 근거 | 지칭한 자료/객체의 집합과 범위, 원본 시점/version, 실제 전달된 과거 설명이나 결과 참조 | 발화 당시 선택한 표와 당시 v1을 사용. 최신 v2 또는 아직 들려주지 않은 설명으로 바꾸지 않음 |</a:t>
            </a:r>
          </a:p>
          <a:p xmlns:a="http://schemas.openxmlformats.org/drawingml/2006/main">
            <a:r>
              <a:t>| C3 대화와 업무 연결 | 새 업무/기존 업무/업무 없음의 관계, 연결할 대화/Task/Execution/질문 | 보고서 변경은 보고서 업무에 적용. 메일 질문의 답을 보고서 업무로 보내지 않음 |</a:t>
            </a:r>
          </a:p>
          <a:p xmlns:a="http://schemas.openxmlformats.org/drawingml/2006/main">
            <a:r>
              <a:t>| C4 조건, 관계와 변경 범위 | 내용 제약, 금지/보존 조건, 요청 간 독립/순서/조건/결과 의존, 변경할 범위 | 요약 결과를 메일 입력으로 사용하고 먼저 보내지 않음. 표 형식만 바꾸고 기간/수신자/다른 요청을 보존 |</a:t>
            </a:r>
          </a:p>
          <a:p xmlns:a="http://schemas.openxmlformats.org/drawingml/2006/main">
            <a:r>
              <a:t>| C5 처리 효과와 상태 | 실제 요청/명령 적용, 중복 여부, 유효 revision, 접수/완료/실패/미확인 상태와 허용 전이 | 철회한 질문 답변을 적용하지 않음. 같은 command 재수신이 두 번 실행되지 않음. 로컬 접수만으로 외부 완료를 확정하지 않음 |</a:t>
            </a:r>
          </a:p>
          <a:p xmlns:a="http://schemas.openxmlformats.org/drawingml/2006/main">
            <a:r>
              <a:t>| C6 응답 내용과 실제 전달 | 사용자에게 알린 사실/결과 참조, Text/음성의 의미 일치, 실제 표시/재생과 전달 기록 | 미확인 취소를 완료라고 말하지 않음. 텍스트와 음성이 같은 업무 상태를 알림. 음성 중단 이후 미재생 범위를 들었다고 기록하지 않음 |</a:t>
            </a:r>
          </a:p>
          <a:p xmlns:a="http://schemas.openxmlformats.org/drawingml/2006/main">
            <a:r>
              <a:t/>
            </a:r>
          </a:p>
          <a:p xmlns:a="http://schemas.openxmlformats.org/drawingml/2006/main">
            <a:r>
              <a:t>기대값은 사용자 입력과 공통 근거에서 정한다. Task가 아직 없다면 `새 업무에 연결`을 기대값으로 기록하고, 실제 생성 ID는 관측 후 대응시킨다. 특정 Task ID를 미리 확정한 것으로 모델에 주지 않는다. 기존 업무/질문은 fixture의 의미 ID와 실제 runtime ID를 대응시켜 검사한다.</a:t>
            </a:r>
          </a:p>
          <a:p xmlns:a="http://schemas.openxmlformats.org/drawingml/2006/main">
            <a:r>
              <a:t/>
            </a:r>
          </a:p>
          <a:p xmlns:a="http://schemas.openxmlformats.org/drawingml/2006/main">
            <a:r>
              <a:t>정보 조회에서 허용되는 Core 직접 응답과 Agent 위임처럼 같은 요구를 만족하는 복수 결과는 사전에 허용 집합으로 기록한다. Component 배치, 모델 호출 횟수, 내부 frame 형식이나 의미 생산 순서는 이 QA의 정답 조건으로 강제하지 않는다. 실제로 채택된 의미, 외부로 전달한 요청/명령, 적용 상태와 사용자 전달에서 판정한다. 채택 전 틀린 임시 후보를 스스로 고친 것은 최종 오류와 구별하되, 이미 발생한 금지 효과는 마지막 상태가 맞아도 지우지 않는다.</a:t>
            </a:r>
          </a:p>
          <a:p xmlns:a="http://schemas.openxmlformats.org/drawingml/2006/main">
            <a:r>
              <a:t/>
            </a:r>
          </a:p>
          <a:p xmlns:a="http://schemas.openxmlformats.org/drawingml/2006/main">
            <a:r>
              <a:t>##### 조건을 작성하는 공통 규칙</a:t>
            </a:r>
          </a:p>
          <a:p xmlns:a="http://schemas.openxmlformats.org/drawingml/2006/main">
            <a:r>
              <a:t/>
            </a:r>
          </a:p>
          <a:p xmlns:a="http://schemas.openxmlformats.org/drawingml/2006/main">
            <a:r>
              <a:t>- 여섯 유형을 모든 테스트 양식에 둔다. 이번 21개 사례는 모든 유형에 필수 사실이 있으며 N/A를 사용하지 않는다. 업무가 없는 경우의 무관 업무 연결 금지처럼 의미 있는 사실을 검사한다. 후보 출력에 field가 없다는 이유로 적용 없음으로 바꾸지 않는다.</a:t>
            </a:r>
          </a:p>
          <a:p xmlns:a="http://schemas.openxmlformats.org/drawingml/2006/main">
            <a:r>
              <a:t>- 각 조건 안의 세부 사실은 사용자에게 의미 있는 판정 단위로 작성한다. `수신자=민수`, `보고서 형식=표`, `메일 요청 보존`처럼 고정 의미 단위로 작성한다. 내부 JSON 속성 수나 Module 수에 따라 조건을 쪼개지 않는다.</a:t>
            </a:r>
          </a:p>
          <a:p xmlns:a="http://schemas.openxmlformats.org/drawingml/2006/main">
            <a:r>
              <a:t>- 같은 사실은 하나의 주 조건 ID에 귀속시킨다. 예를 들어 목표 업무 선택은 C3, 그 업무에 command가 한 번 적용된 사실은 C5, 그 처리 사실의 올바른 안내는 C6다. 같은 업무 선택 사실을 세 유형에서 세 정답으로 세지 않는다. 한 오선택이 실제 적용과 안내까지 오염시킨 경우 서로 다른 효과와 공통 원인은 함께 기록한다.</a:t>
            </a:r>
          </a:p>
          <a:p xmlns:a="http://schemas.openxmlformats.org/drawingml/2006/main">
            <a:r>
              <a:t>- 대상 집합이나 관계 graph의 판정 단위도 동일하다. 한 사례에서만 원소/간선을 별도 점수로 세지 않는다. 세부 누락/추가 항목은 진단으로 보존하고 집계 단위는 §3.1의 여섯 묶음 이진 판정으로 고정한다.</a:t>
            </a:r>
          </a:p>
          <a:p xmlns:a="http://schemas.openxmlformats.org/drawingml/2006/main">
            <a:r>
              <a:t>- 명확한 사례에는 기대한 요청 처리를 요구한다. 근거가 부족한 사례에는 필요한 질문/유보와 공통 후속 답변 뒤의 처리까지 요구한다. 단순 접수 멘트나 모든 요청의 보류로 정답을 얻지 못한다.</a:t>
            </a:r>
          </a:p>
          <a:p xmlns:a="http://schemas.openxmlformats.org/drawingml/2006/main">
            <a:r>
              <a:t/>
            </a:r>
          </a:p>
          <a:p xmlns:a="http://schemas.openxmlformats.org/drawingml/2006/main">
            <a:r>
              <a:t>##### 모든 항목의 통과/실패 판정 순서</a:t>
            </a:r>
          </a:p>
          <a:p xmlns:a="http://schemas.openxmlformats.org/drawingml/2006/main">
            <a:r>
              <a:t/>
            </a:r>
          </a:p>
          <a:p xmlns:a="http://schemas.openxmlformats.org/drawingml/2006/main">
            <a:r>
              <a:t>1. **사실 정규화:** 실제 채택 의미, 인계 payload, 상태 전이, 표시/재생 record에서 해당 사례의 사실을 추출한다. runtime ID는 의미 ID에 대응시킨다. 자연어는 행위/대상/시점/범위/상태/부정 사실로 기록하고 schema 이름이나 문자 그대로의 문장 일치는 강제하지 않는다.</a:t>
            </a:r>
          </a:p>
          <a:p xmlns:a="http://schemas.openxmlformats.org/drawingml/2006/main">
            <a:r>
              <a:t>2. **C1:** 실제 처리에서 목표/처리 방향이 기대 집합에 포함되고 모든 필수 목표가 남아야 통과한다. 확인이 필요한 사례는 실제 제시와 지정 답변 후의 목표까지 검사한다. 명확한 목표를 영구 보류/접수 인사로 대신하면 실패다.</a:t>
            </a:r>
          </a:p>
          <a:p xmlns:a="http://schemas.openxmlformats.org/drawingml/2006/main">
            <a:r>
              <a:t>3. **C2:** 실제 처리에 쓰인 자료/객체/version/전달 구간이 기대 참조와 같아야 통과한다. 허용하지 않은 source, 누락/추가 대상, 현행/과거 혼동은 실패다. 단순 read를 많이 했다는 이유로 감점하지 않으며 오답 후보를 조회했어도 채택/인계에서 제거하면 그 사실만으로 실패시키지 않는다.</a:t>
            </a:r>
          </a:p>
          <a:p xmlns:a="http://schemas.openxmlformats.org/drawingml/2006/main">
            <a:r>
              <a:t>4. **C3:** 각 요청/답변/결과/명령의 Conversation 및 Task/Execution/질문 관계가 기대 관계와 같아야 통과한다. Core/Agent의 허용 경로에 따라 실제 생성 ID를 대응시키고 구조가 만든 내부 subtask 수는 강제하지 않는다. 무관 업무 연결/변경, 새 실행의 잘못된 연결은 실패다.</a:t>
            </a:r>
          </a:p>
          <a:p xmlns:a="http://schemas.openxmlformats.org/drawingml/2006/main">
            <a:r>
              <a:t>5. **C4:** 각 필수 조건, 독립/선후/결과 사용/분기와 수정/보존 범위가 채택 의미와 실제 인계에 모두 남아야 통과한다. 조건 하나의 누락/모순, 관계를 더 약하거나 다른 관계로 바꾸는 경우는 실패다. 도메인 지시의 자연어 표현 차이는 허용하지만 VIA가 소유하는 관계의 미표현을 Agent의 우연한 정답으로 대체하지 않는다.</a:t>
            </a:r>
          </a:p>
          <a:p xmlns:a="http://schemas.openxmlformats.org/drawingml/2006/main">
            <a:r>
              <a:t>6. **C5:** 관찰 구간 전체에서 요구 효과/상태와 인과 순서가 모두 맞고 금지 효과가 없어야 통과한다. 접수/완료/종료 미확인 등의 표기는 같은 사실 의미로 정규화한다. 동일 command의 재전송/receipt 중복은 허용하지만 고유 업무 효과의 중복은 실패다. 이미 발생한 금지 효과는 끝 상태를 고쳐도 0으로 남긴다.</a:t>
            </a:r>
          </a:p>
          <a:p xmlns:a="http://schemas.openxmlformats.org/drawingml/2006/main">
            <a:r>
              <a:t>7. **C6:** 각 사례의 필수 응답 사실이 Text에 실제 표시되고 Voice ON이면 그 핵심 사실이 유효 출력에서 실제 재생돼야 통과한다. S5-01의 철회 사실은 이미 표시한 질문에 한해 명시한 Text 갱신 조건, S5-03은 OFF/재연결 조건을 따른다. 대상/날짜/값/상태를 바꾸는 추가 주장이나 금지 주장이 하나라도 있으면 실패다. 표현/문장 순서/동의어/단위 변환은 의미가 정확하면 허용한다. 예: “10월 15일까지 제출해야 한다”는 마감일 안내와 동등하지만 “10월 15일에 완료됐다”는 동등하지 않다.</a:t>
            </a:r>
          </a:p>
          <a:p xmlns:a="http://schemas.openxmlformats.org/drawingml/2006/main">
            <a:r>
              <a:t>8. **증거 연결과 이진 판정:** 항목 안의 각 필수 사실에 실제 evidence ref와 맞음/틀림을 붙인다. 모두 맞고 필수 evidence가 있으면 항목=1, 하나라도 틀리거나 미처리/누락이면 0이다. 세부 사실은 진단용이고 점수 분모는 항상 실행당 6이다. 자동 판정이 어려운 자연어는 후보 이름을 가려 같은 사실 목록으로 검토하고 이견은 두 번째 평가자가 원문/evidence로 조정한다. unresolved 판정을 통과로 만들지 않는다.</a:t>
            </a:r>
          </a:p>
          <a:p xmlns:a="http://schemas.openxmlformats.org/drawingml/2006/main">
            <a:r>
              <a:t/>
            </a:r>
          </a:p>
          <a:p xmlns:a="http://schemas.openxmlformats.org/drawingml/2006/main">
            <a:r>
              <a:t>**자연어의 판별 예:** `10월 15일까지`/`10월 15일이 마감`은 같은 마감 사실이다. `민수에게`/`minsu@example.invalid로`는 연락처 대응이 있는 사례에서 같은 수신자다. `표 형식`/`테이블 형태`는 같은 형식이다. 반대로 `전송했다`는 `외부가 접수했다` 또는 `업무가 완료됐다`와 같은 상태가 아니다. 해당 사례가 외부 접수를 요구하면 “에이전트가 요청을 받았다/요청이 접수됐다”라는 사실이 필요하고 “요청을 받았어요”만으로 주체/단계가 모호하면 그 사실을 충족한 것으로 추정하지 않는다. `취소 요청 접수`와 `취소 완료`, `정보 조회 동의`와 `메일 발송 승인`은 서로 다른 사실이다. 요청 처리 상태를 모호하게 생략한 표현은 필요한 명확한 상태 사실의 누락으로 판정한다. 후보에 이 예문을 정답 응답으로 공급하지 않는다.</a:t>
            </a:r>
          </a:p>
          <a:p xmlns:a="http://schemas.openxmlformats.org/drawingml/2006/main">
            <a:r>
              <a:t/>
            </a:r>
          </a:p>
          <a:p xmlns:a="http://schemas.openxmlformats.org/drawingml/2006/main">
            <a:r>
              <a:t/>
            </a:r>
          </a:p>
          <a:p xmlns:a="http://schemas.openxmlformats.org/drawingml/2006/main">
            <a:r>
              <a:t>논리적 요청 연결과 실제 명령 효과, 전달 사실은 서로 다른 판정이다. 같은 오류가 여러 항목을 실제로 오염시켰으면 해당 항목의 실패와 공통 원인을 함께 기록한다. 내부 오류가 채택 전에 바로잡혔고 금지 효과가 없다면 최종 처리를 판정한다. 시험 수집기 결함/공통 provider 장애는 §3.5의 INVALID 절차를 쓰며 후보의 미처리/필수 trace 누락은 오답이다.</a:t>
            </a:r>
          </a:p>
          <a:p xmlns:a="http://schemas.openxmlformats.org/drawingml/2006/main">
            <a:r>
              <a:t/>
            </a:r>
          </a:p>
          <a:p xmlns:a="http://schemas.openxmlformats.org/drawingml/2006/main">
            <a:r>
              <a:t/>
            </a:r>
          </a:p>
          <a:p xmlns:a="http://schemas.openxmlformats.org/drawingml/2006/main">
            <a:r>
              <a:t>### 3.4 측정 지표와 목표 근거</a:t>
            </a:r>
          </a:p>
          <a:p xmlns:a="http://schemas.openxmlformats.org/drawingml/2006/main">
            <a:r>
              <a:t/>
            </a:r>
          </a:p>
          <a:p xmlns:a="http://schemas.openxmlformats.org/drawingml/2006/main">
            <a:r>
              <a:t>ASR-QA-01 = 100 × 통과 조건 수 / 630. 목표가 98% 이상이므로 정답 최소 618개, 실패 최대 12개다. 필수 조건 오류 50개당 1개 이내라는 작성자 예산을 유지하고 변경된 분모에 맞춰 정수 문턱을 계산했다.</a:t>
            </a:r>
          </a:p>
          <a:p xmlns:a="http://schemas.openxmlformats.org/drawingml/2006/main">
            <a:r>
              <a:t/>
            </a:r>
          </a:p>
          <a:p xmlns:a="http://schemas.openxmlformats.org/drawingml/2006/main">
            <a:r>
              <a:t>여섯 조건을 모두 만족한 시나리오는 100/105 이상, 각 조건 유형도 100/105 이상이어야 한다. 각 상황군의 조건 충족률은 95% 이상이다(S1 57/60, S2 143/150, S3/S4 86/90, S5/S6 114/120). 상황군별 전체 시나리오 통과율도 공개한다. 무관 업무 효과, 중복 외부 실행, 무효 승인, 무단 접근·제공, 잘못된 질문·Task 연결은 0건이어야 한다.</a:t>
            </a:r>
          </a:p>
          <a:p xmlns:a="http://schemas.openxmlformats.org/drawingml/2006/main">
            <a:r>
              <a:t/>
            </a:r>
          </a:p>
          <a:p xmlns:a="http://schemas.openxmlformats.org/drawingml/2006/main">
            <a:r>
              <a:t>누락/잘못된 최종 결과/timeout은 증명된 조건만1, 나머지0. 이미 발생한 금지 효과는 후기 수정으로 지우지 않는다. 평가 수집기 자체 결함은 A/B쌍 INVALID로 보존 후 재실행, 후보 예산 소진/미지원/trace 누락은 실패다. 필수 실패는 자원/시간 성공으로 숨기지 않는다.</a:t>
            </a:r>
          </a:p>
          <a:p xmlns:a="http://schemas.openxmlformats.org/drawingml/2006/main">
            <a:r>
              <a:t/>
            </a:r>
          </a:p>
          <a:p xmlns:a="http://schemas.openxmlformats.org/drawingml/2006/main">
            <a:r>
              <a:t>### 3.5 차이 인정과 관찰 절차</a:t>
            </a:r>
          </a:p>
          <a:p xmlns:a="http://schemas.openxmlformats.org/drawingml/2006/main">
            <a:r>
              <a:t/>
            </a:r>
          </a:p>
          <a:p xmlns:a="http://schemas.openxmlformats.org/drawingml/2006/main">
            <a:r>
              <a:t>A/B의 동일 시나리오와 반복을 짝지어 실행하고 A 선행/B 선행은 3/2 또는 2/3으로 교차한다. 준비 상태는 실제 입력과 원천 활동으로 만든다. 후기 5초 관찰, 자동 처리 episode 60초와 전체 episode 10분의 상한을 동일하게 적용한다. 이는 유효 시간 endpoint의 5/30초 cap과 다르다. 조건별 실제값·근거·판정·금지 효과·시각·청구·할당을 함께 남긴다.</a:t>
            </a:r>
          </a:p>
          <a:p xmlns:a="http://schemas.openxmlformats.org/drawingml/2006/main">
            <a:r>
              <a:t/>
            </a:r>
          </a:p>
          <a:p xmlns:a="http://schemas.openxmlformats.org/drawingml/2006/main">
            <a:r>
              <a:t>정확성의 실측 차이는 전체 평균 1pp 이상이고, 활동별 다섯 A/B 쌍의 차이 방향이 모두 같을 때 PoC의 일관된 차이로 인정한다. 다섯 원값과 paired 차이의 평균·최소·최대 및 사례/조건별 결과를 함께 공개한다. 방향이 섞이면 차이는 관측됐지만 선택 근거는 불확실하다고 기록한다. 이는 작성자 일관성 기준이며 95% 통계적 확증이나 제품 모집단 추정을 뜻하지 않는다. 계산으로 정답률이나 신뢰구간을 만들지 않는다. 수집기 자체 결함/공통 서비스 장애는 양안 쌍을 INVALID로 보존하고 같은 조건에서 재실행한다. 후보의 timeout·미지원·필수 trace 누락은 INVALID로 돌리지 않는다.</a:t>
            </a:r>
          </a:p>
          <a:p xmlns:a="http://schemas.openxmlformats.org/drawingml/2006/main">
            <a:r>
              <a:t/>
            </a:r>
          </a:p>
          <a:p xmlns:a="http://schemas.openxmlformats.org/drawingml/2006/main">
            <a:r>
              <a:t>### 3.6 DP별 중요한 경로와 대등한 조건</a:t>
            </a:r>
          </a:p>
          <a:p xmlns:a="http://schemas.openxmlformats.org/drawingml/2006/main">
            <a:r>
              <a:t/>
            </a:r>
          </a:p>
          <a:p xmlns:a="http://schemas.openxmlformats.org/drawingml/2006/main">
            <a:r>
              <a:t>| DP | 활성화 사례 / 수치 관측 | 강한 반대안과 차이가 줄어드는 조건 |</a:t>
            </a:r>
          </a:p>
          <a:p xmlns:a="http://schemas.openxmlformats.org/drawingml/2006/main">
            <a:r>
              <a:t>| --- | --- | --- |</a:t>
            </a:r>
          </a:p>
          <a:p xmlns:a="http://schemas.openxmlformats.org/drawingml/2006/main">
            <a:r>
              <a:t>| 41 모델 조회/전체 결합 대 코드 해결 | S2-01/02/03/05,S3-02/03,S4-01,S6-01/02. C1~C4 오류, 추가 조회/해석 횟수와 latency/token | A도 구조화 출력/cache/부분수정, B도 추가 부분해석. 충분한 typed근거면 같은 의미/호출수 가능 |</a:t>
            </a:r>
          </a:p>
          <a:p xmlns:a="http://schemas.openxmlformats.org/drawingml/2006/main">
            <a:r>
              <a:t>| 42 공동 확정 대 독립 접수/반영 | S6-04 정상 ANSWER, S4-03/S5-01/S6-02 경합, S5-03/04 수명/동시 부하. commit/IPC/receipt/reconcile 시간과 heap/copy | 동일 의미/권한 검사는 모두 수행. B의 별도process만으로 의미정확성/모델비용 이익 부여 금지 |</a:t>
            </a:r>
          </a:p>
          <a:p xmlns:a="http://schemas.openxmlformats.org/drawingml/2006/main">
            <a:r>
              <a:t>| 44 중앙 continuation 대 연결된 Stage/window/join | S3-02,S4-01/02,S5-01/02/04. 회수/후속전이/queue/폐기/동시할당 | A도async/priority/병렬, B도join/credit/현재성 검사. 공통local stop는 대등 경로 |</a:t>
            </a:r>
          </a:p>
          <a:p xmlns:a="http://schemas.openxmlformats.org/drawingml/2006/main">
            <a:r>
              <a:t>| 45 요청별 조합 대 공통 생산/게시/조회 | S2-02/03/04/05,S6-01 및 미사용4source갱신. 초기생산/반복hit/불완전coverage/갱신/철회의 시간·청구·메모리 | A의 유효 관계cache/부분갱신 인정. B도원문검증/동기backfill 부담. B+를순수B로숨기지 않음 |</a:t>
            </a:r>
          </a:p>
          <a:p xmlns:a="http://schemas.openxmlformats.org/drawingml/2006/main">
            <a:r>
              <a:t/>
            </a:r>
          </a:p>
          <a:p xmlns:a="http://schemas.openxmlformats.org/drawingml/2006/main">
            <a:r>
              <a:t>DP마다 최소 한 SENSITIVE경로를 공통 모집단에 포함했다. 실제 수치 차이가 나도록 보장한 것은 아니다. 지역 차이를 전 QA평균으로 재라벨하지 않으며 동일값/불확실/목표 미달도 보고한다.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00fedd21cfe33a3c35990f84af0610bef6fb2f7e9473404d2f935222c3ad084c</a:t>
            </a:r>
          </a:p>
          <a:p xmlns:a="http://schemas.openxmlformats.org/drawingml/2006/main">
            <a:r>
              <a:t>작성일: 2026-10-11</a:t>
            </a:r>
          </a:p>
          <a:p xmlns:a="http://schemas.openxmlformats.org/drawingml/2006/main">
            <a:r>
              <a:t>원본 SHA-256: d25a503005403e71d5811d61f20d9c227479bfeb04808ba868ce06adc463e4f8</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ASR-QA-02 상호작용 응답시간</a:t>
            </a:r>
          </a:p>
          <a:p xmlns:a="http://schemas.openxmlformats.org/drawingml/2006/main">
            <a:r>
              <a:t>정의: 사용자 입력이나 업무 상태 변화에 VIA가 알맞은 답변이나 동작으로 반응하기까지 걸리는 시간 (예: VIA가 말하는 중 사용자 끼어들기 → 음성 재생 중단, Agent의 확인 질문 도착 → 사용자에게 질문 제시)</a:t>
            </a:r>
          </a:p>
          <a:p xmlns:a="http://schemas.openxmlformats.org/drawingml/2006/main">
            <a:r>
              <a:t>측정 지표: 평균 유효 반응시간(초) = 전 21개 사례의 지정 반응 27개 × 5회, 135관측</a:t>
            </a:r>
          </a:p>
          <a:p xmlns:a="http://schemas.openxmlformats.org/drawingml/2006/main">
            <a:r>
              <a:t>목표: 1.0초 이하, 모든 local stop 0.1초 이하</a:t>
            </a:r>
          </a:p>
          <a:p xmlns:a="http://schemas.openxmlformats.org/drawingml/2006/main">
            <a:r>
              <a:t>목표 근거: 대화 흐름 유지의 1초/즉각 제어 0.1초 참조. 일반 반응 2초 이내 ≥95%, 집중 도착 5초 이내, 미전달 0건. 모든 사례의 적용 경계를 대응표로 공개 (§4)</a:t>
            </a:r>
          </a:p>
          <a:p xmlns:a="http://schemas.openxmlformats.org/drawingml/2006/main">
            <a:r>
              <a:t>보호 조건: 일반 ≥110/115 ≤2초; 집중 30/30 ≤5초; stop ≤0.1초</a:t>
            </a:r>
          </a:p>
          <a:p xmlns:a="http://schemas.openxmlformats.org/drawingml/2006/main">
            <a:r>
              <a:t>출처:</a:t>
            </a:r>
          </a:p>
          <a:p xmlns:a="http://schemas.openxmlformats.org/drawingml/2006/main">
            <a:r>
              <a:t>Nielsen Norman Group 응답시간: https://www.nngroup.com/articles/website-response-times/</a:t>
            </a:r>
          </a:p>
          <a:p xmlns:a="http://schemas.openxmlformats.org/drawingml/2006/main">
            <a:r>
              <a:t>Google Gemini 3 Flash 공식 단가: https://ai.google.dev/gemini-api/docs/pricing#gemini-3-flash-preview</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§4</a:t>
            </a:r>
          </a:p>
          <a:p xmlns:a="http://schemas.openxmlformats.org/drawingml/2006/main">
            <a:r>
              <a:t>응답속도</a:t>
            </a:r>
          </a:p>
          <a:p xmlns:a="http://schemas.openxmlformats.org/drawingml/2006/main">
            <a:r>
              <a:t/>
            </a:r>
          </a:p>
          <a:p xmlns:a="http://schemas.openxmlformats.org/drawingml/2006/main">
            <a:r>
              <a:t>### 4.1 공통 경계와 QA 대응</a:t>
            </a:r>
          </a:p>
          <a:p xmlns:a="http://schemas.openxmlformats.org/drawingml/2006/main">
            <a:r>
              <a:t/>
            </a:r>
          </a:p>
          <a:p xmlns:a="http://schemas.openxmlformats.org/drawingml/2006/main">
            <a: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p>
          <a:p xmlns:a="http://schemas.openxmlformats.org/drawingml/2006/main">
            <a:r>
              <a:t/>
            </a:r>
          </a:p>
          <a:p xmlns:a="http://schemas.openxmlformats.org/drawingml/2006/main">
            <a: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p>
          <a:p xmlns:a="http://schemas.openxmlformats.org/drawingml/2006/main">
            <a:r>
              <a:t/>
            </a:r>
          </a:p>
          <a:p xmlns:a="http://schemas.openxmlformats.org/drawingml/2006/main">
            <a:r>
              <a:t>### 4.2 상호작용 응답시간</a:t>
            </a:r>
          </a:p>
          <a:p xmlns:a="http://schemas.openxmlformats.org/drawingml/2006/main">
            <a:r>
              <a:t/>
            </a:r>
          </a:p>
          <a:p xmlns:a="http://schemas.openxmlformats.org/drawingml/2006/main">
            <a: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p>
          <a:p xmlns:a="http://schemas.openxmlformats.org/drawingml/2006/main">
            <a:r>
              <a:t/>
            </a:r>
          </a:p>
          <a:p xmlns:a="http://schemas.openxmlformats.org/drawingml/2006/main">
            <a:r>
              <a:t>목표는 평균 1초 이하, 일반 반응(S5-04 제외) 115개 중 110개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p>
          <a:p xmlns:a="http://schemas.openxmlformats.org/drawingml/2006/main">
            <a:r>
              <a:t/>
            </a:r>
          </a:p>
          <a:p xmlns:a="http://schemas.openxmlformats.org/drawingml/2006/main">
            <a:r>
              <a:t>Nielsen의 0.1/1초는 참고 기준이며 평균과 95% 규칙은 작성자 예산이다. Gemini 생성률 200 token/s를 비롯한 지연은 모두 작성자 가정이다. 전사 0.10 + 첫 출력 0.30 + 의미 출력 100/200 + 코드·읽기·확정 0.08 + 음성 0.25 = 1.23초로, 이 직렬 경로는 1초 예산을 넘는다. 유효한 반응에 필요한 의미 출력이 50 token인 경우에만 같은 가정에서 0.98초다.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p>
          <a:p xmlns:a="http://schemas.openxmlformats.org/drawingml/2006/main">
            <a:r>
              <a:t/>
            </a:r>
          </a:p>
          <a:p xmlns:a="http://schemas.openxmlformats.org/drawingml/2006/main">
            <a:r>
              <a:t>### 4.3 VIA 요청 처리시간</a:t>
            </a:r>
          </a:p>
          <a:p xmlns:a="http://schemas.openxmlformats.org/drawingml/2006/main">
            <a:r>
              <a:t/>
            </a:r>
          </a:p>
          <a:p xmlns:a="http://schemas.openxmlformats.org/drawingml/2006/main">
            <a: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p>
          <a:p xmlns:a="http://schemas.openxmlformats.org/drawingml/2006/main">
            <a:r>
              <a:t/>
            </a:r>
          </a:p>
          <a:p xmlns:a="http://schemas.openxmlformats.org/drawingml/2006/main">
            <a: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p>
          <a:p xmlns:a="http://schemas.openxmlformats.org/drawingml/2006/main">
            <a:r>
              <a:t/>
            </a:r>
          </a:p>
          <a:p xmlns:a="http://schemas.openxmlformats.org/drawingml/2006/main">
            <a:r>
              <a:t>### 4.4 외부 시간, 병렬과 계산</a:t>
            </a:r>
          </a:p>
          <a:p xmlns:a="http://schemas.openxmlformats.org/drawingml/2006/main">
            <a:r>
              <a:t/>
            </a:r>
          </a:p>
          <a:p xmlns:a="http://schemas.openxmlformats.org/drawingml/2006/main">
            <a: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p>
          <a:p xmlns:a="http://schemas.openxmlformats.org/drawingml/2006/main">
            <a:r>
              <a:t/>
            </a:r>
          </a:p>
          <a:p xmlns:a="http://schemas.openxmlformats.org/drawingml/2006/main">
            <a: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00fedd21cfe33a3c35990f84af0610bef6fb2f7e9473404d2f935222c3ad084c</a:t>
            </a:r>
          </a:p>
          <a:p xmlns:a="http://schemas.openxmlformats.org/drawingml/2006/main">
            <a:r>
              <a:t>작성일: 2026-10-11</a:t>
            </a:r>
          </a:p>
          <a:p xmlns:a="http://schemas.openxmlformats.org/drawingml/2006/main">
            <a:r>
              <a:t>원본 SHA-256: d25a503005403e71d5811d61f20d9c227479bfeb04808ba868ce06adc463e4f8</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ASR-QA-03 VIA 요청 처리시간</a:t>
            </a:r>
          </a:p>
          <a:p xmlns:a="http://schemas.openxmlformats.org/drawingml/2006/main">
            <a:r>
              <a:t>정의: 요청 접수부터 최종 결과 전달까지, VIA의 처리와 대기로 걸리는 시간 (예: 보고서 작성 요청 → 요청 해석 → Agent에 작성 업무 인계 → 결과 수신 → 사용자에게 보고서 전달)</a:t>
            </a:r>
          </a:p>
          <a:p xmlns:a="http://schemas.openxmlformats.org/drawingml/2006/main">
            <a:r>
              <a:t>측정 지표: 평균 VIA 귀속 사이클 시간(초) = 사용자 목표가 있는 19개 × 5회, 95관측</a:t>
            </a:r>
          </a:p>
          <a:p xmlns:a="http://schemas.openxmlformats.org/drawingml/2006/main">
            <a:r>
              <a:t>목표: 10초 이하</a:t>
            </a:r>
          </a:p>
          <a:p xmlns:a="http://schemas.openxmlformats.org/drawingml/2006/main">
            <a:r>
              <a:t>목표 근거: 의미6 + 연결1 + 전달1 + 재검증2초의 작성자 예산. 15초 이내 ≥95%, 미전달 0건. Agent 발신 두 사례는 QA-02에 적용 (§4)</a:t>
            </a:r>
          </a:p>
          <a:p xmlns:a="http://schemas.openxmlformats.org/drawingml/2006/main">
            <a:r>
              <a:t>보호 조건: ≥91/95 ≤15초, 미전달 0건</a:t>
            </a:r>
          </a:p>
          <a:p xmlns:a="http://schemas.openxmlformats.org/drawingml/2006/main">
            <a:r>
              <a:t>출처:</a:t>
            </a:r>
          </a:p>
          <a:p xmlns:a="http://schemas.openxmlformats.org/drawingml/2006/main">
            <a:r>
              <a:t>Nielsen Norman Group 응답시간: https://www.nngroup.com/articles/website-response-times/</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§4</a:t>
            </a:r>
          </a:p>
          <a:p xmlns:a="http://schemas.openxmlformats.org/drawingml/2006/main">
            <a:r>
              <a:t>응답속도</a:t>
            </a:r>
          </a:p>
          <a:p xmlns:a="http://schemas.openxmlformats.org/drawingml/2006/main">
            <a:r>
              <a:t/>
            </a:r>
          </a:p>
          <a:p xmlns:a="http://schemas.openxmlformats.org/drawingml/2006/main">
            <a:r>
              <a:t>### 4.1 공통 경계와 QA 대응</a:t>
            </a:r>
          </a:p>
          <a:p xmlns:a="http://schemas.openxmlformats.org/drawingml/2006/main">
            <a:r>
              <a:t/>
            </a:r>
          </a:p>
          <a:p xmlns:a="http://schemas.openxmlformats.org/drawingml/2006/main">
            <a: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p>
          <a:p xmlns:a="http://schemas.openxmlformats.org/drawingml/2006/main">
            <a:r>
              <a:t/>
            </a:r>
          </a:p>
          <a:p xmlns:a="http://schemas.openxmlformats.org/drawingml/2006/main">
            <a: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p>
          <a:p xmlns:a="http://schemas.openxmlformats.org/drawingml/2006/main">
            <a:r>
              <a:t/>
            </a:r>
          </a:p>
          <a:p xmlns:a="http://schemas.openxmlformats.org/drawingml/2006/main">
            <a:r>
              <a:t>### 4.2 상호작용 응답시간</a:t>
            </a:r>
          </a:p>
          <a:p xmlns:a="http://schemas.openxmlformats.org/drawingml/2006/main">
            <a:r>
              <a:t/>
            </a:r>
          </a:p>
          <a:p xmlns:a="http://schemas.openxmlformats.org/drawingml/2006/main">
            <a: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p>
          <a:p xmlns:a="http://schemas.openxmlformats.org/drawingml/2006/main">
            <a:r>
              <a:t/>
            </a:r>
          </a:p>
          <a:p xmlns:a="http://schemas.openxmlformats.org/drawingml/2006/main">
            <a:r>
              <a:t>목표는 평균 1초 이하, 일반 반응(S5-04 제외) 115개 중 110개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p>
          <a:p xmlns:a="http://schemas.openxmlformats.org/drawingml/2006/main">
            <a:r>
              <a:t/>
            </a:r>
          </a:p>
          <a:p xmlns:a="http://schemas.openxmlformats.org/drawingml/2006/main">
            <a:r>
              <a:t>Nielsen의 0.1/1초는 참고 기준이며 평균과 95% 규칙은 작성자 예산이다. Gemini 생성률 200 token/s를 비롯한 지연은 모두 작성자 가정이다. 전사 0.10 + 첫 출력 0.30 + 의미 출력 100/200 + 코드·읽기·확정 0.08 + 음성 0.25 = 1.23초로, 이 직렬 경로는 1초 예산을 넘는다. 유효한 반응에 필요한 의미 출력이 50 token인 경우에만 같은 가정에서 0.98초다.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p>
          <a:p xmlns:a="http://schemas.openxmlformats.org/drawingml/2006/main">
            <a:r>
              <a:t/>
            </a:r>
          </a:p>
          <a:p xmlns:a="http://schemas.openxmlformats.org/drawingml/2006/main">
            <a:r>
              <a:t>### 4.3 VIA 요청 처리시간</a:t>
            </a:r>
          </a:p>
          <a:p xmlns:a="http://schemas.openxmlformats.org/drawingml/2006/main">
            <a:r>
              <a:t/>
            </a:r>
          </a:p>
          <a:p xmlns:a="http://schemas.openxmlformats.org/drawingml/2006/main">
            <a: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p>
          <a:p xmlns:a="http://schemas.openxmlformats.org/drawingml/2006/main">
            <a:r>
              <a:t/>
            </a:r>
          </a:p>
          <a:p xmlns:a="http://schemas.openxmlformats.org/drawingml/2006/main">
            <a: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p>
          <a:p xmlns:a="http://schemas.openxmlformats.org/drawingml/2006/main">
            <a:r>
              <a:t/>
            </a:r>
          </a:p>
          <a:p xmlns:a="http://schemas.openxmlformats.org/drawingml/2006/main">
            <a:r>
              <a:t>### 4.4 외부 시간, 병렬과 계산</a:t>
            </a:r>
          </a:p>
          <a:p xmlns:a="http://schemas.openxmlformats.org/drawingml/2006/main">
            <a:r>
              <a:t/>
            </a:r>
          </a:p>
          <a:p xmlns:a="http://schemas.openxmlformats.org/drawingml/2006/main">
            <a: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p>
          <a:p xmlns:a="http://schemas.openxmlformats.org/drawingml/2006/main">
            <a:r>
              <a:t/>
            </a:r>
          </a:p>
          <a:p xmlns:a="http://schemas.openxmlformats.org/drawingml/2006/main">
            <a: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00fedd21cfe33a3c35990f84af0610bef6fb2f7e9473404d2f935222c3ad084c</a:t>
            </a:r>
          </a:p>
          <a:p xmlns:a="http://schemas.openxmlformats.org/drawingml/2006/main">
            <a:r>
              <a:t>작성일: 2026-10-11</a:t>
            </a:r>
          </a:p>
          <a:p xmlns:a="http://schemas.openxmlformats.org/drawingml/2006/main">
            <a:r>
              <a:t>원본 SHA-256: d25a503005403e71d5811d61f20d9c227479bfeb04808ba868ce06adc463e4f8</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ASR-QA-04 VIA 모델 사용 비용</a:t>
            </a:r>
          </a:p>
          <a:p xmlns:a="http://schemas.openxmlformats.org/drawingml/2006/main">
            <a:r>
              <a:t>정의: 동일한 사용자 활동을 처리하는 동안 VIA의 음성/의미 모델 사용에 드는 금액</a:t>
            </a:r>
          </a:p>
          <a:p xmlns:a="http://schemas.openxmlformats.org/drawingml/2006/main">
            <a:r>
              <a:t>측정 지표: P21 1묶음 평균 총 모델 비용(USD/P21) = 동일 활동 5회 총액의 평균</a:t>
            </a:r>
          </a:p>
          <a:p xmlns:a="http://schemas.openxmlformats.org/drawingml/2006/main">
            <a:r>
              <a:t>목표: $0.50/P21 이하</a:t>
            </a:r>
          </a:p>
          <a:p xmlns:a="http://schemas.openxmlformats.org/drawingml/2006/main">
            <a:r>
              <a:t>목표 근거: 동일 21사례의 의미 62호출/음성 입력 50초/출력 179초 예산에서 신규 audio·Text 포함 기본 $0.416320, 이력 audio/추가생산/재시도 여유 $0.083680. 호출·출력은 작성자 가정이며 실제 사용량으로 대체 (§5)</a:t>
            </a:r>
          </a:p>
          <a:p xmlns:a="http://schemas.openxmlformats.org/drawingml/2006/main">
            <a:r>
              <a:t>보호 조건: 초기/재시도/폐기/배경/context 누락 없음</a:t>
            </a:r>
          </a:p>
          <a:p xmlns:a="http://schemas.openxmlformats.org/drawingml/2006/main">
            <a:r>
              <a:t>출처:</a:t>
            </a:r>
          </a:p>
          <a:p xmlns:a="http://schemas.openxmlformats.org/drawingml/2006/main">
            <a:r>
              <a:t>Google Gemini 3 Flash 공식 단가: https://ai.google.dev/gemini-api/docs/pricing#gemini-3-flash-preview</a:t>
            </a:r>
          </a:p>
          <a:p xmlns:a="http://schemas.openxmlformats.org/drawingml/2006/main">
            <a:r>
              <a:t>OpenAI GPT Realtime 공식 단가: https://developers.openai.com/api/docs/models/gpt-realtime</a:t>
            </a:r>
          </a:p>
          <a:p xmlns:a="http://schemas.openxmlformats.org/drawingml/2006/main">
            <a:r>
              <a:t>OpenAI Realtime 청구: https://developers.openai.com/api/docs/guides/voice-latency-cost</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§5</a:t>
            </a:r>
          </a:p>
          <a:p xmlns:a="http://schemas.openxmlformats.org/drawingml/2006/main">
            <a:r>
              <a:t>모델 사용 비용</a:t>
            </a:r>
          </a:p>
          <a:p xmlns:a="http://schemas.openxmlformats.org/drawingml/2006/main">
            <a:r>
              <a:t/>
            </a:r>
          </a:p>
          <a:p xmlns:a="http://schemas.openxmlformats.org/drawingml/2006/main">
            <a:r>
              <a:t>### 5.1 정의와 대표 지표</a:t>
            </a:r>
          </a:p>
          <a:p xmlns:a="http://schemas.openxmlformats.org/drawingml/2006/main">
            <a:r>
              <a:t/>
            </a:r>
          </a:p>
          <a:p xmlns:a="http://schemas.openxmlformats.org/drawingml/2006/main">
            <a:r>
              <a:t>동일 P21 활동의 모든 VIA 모델 청구 총액을 USD/P21로 계산하고 다섯 독립 활동의 평균을 보고한다. 초기화·근거 준비·현재 처리·답변·Agent 사건·미사용 생산·폐기·철회·drain·idle 청구를 포함한다. 외부 Agent 내부 모델·tool 비용은 별도 원장이다. 단가와 모델명은 §8.4 및 입력 JSON의 날짜가 있는 참조로 고정한다.</a:t>
            </a:r>
          </a:p>
          <a:p xmlns:a="http://schemas.openxmlformats.org/drawingml/2006/main">
            <a:r>
              <a:t/>
            </a:r>
          </a:p>
          <a:p xmlns:a="http://schemas.openxmlformats.org/drawingml/2006/main">
            <a:r>
              <a:t>### 5.2 같은 활동의 사용량과 산식</a:t>
            </a:r>
          </a:p>
          <a:p xmlns:a="http://schemas.openxmlformats.org/drawingml/2006/main">
            <a:r>
              <a:t/>
            </a:r>
          </a:p>
          <a:p xmlns:a="http://schemas.openxmlformats.org/drawingml/2006/main">
            <a:r>
              <a:t>P21은 사용자 목표 장면 19개와 Agent 단독 장면 2개다. S5-04 내부의 Agent 사건 4개는 추가 원천 사건이며 별도 채점 시나리오가 아니다. 계획 Voice 입력은 최초 44초 + 지정 답변 6초 = 50초, 발화 21개(19+2답변)다. 출력 179초는 사례별 필요한 전달의 작성자 길이 예산이며 실제 생성·폐기·청구 길이가 우선한다. 초기 fixture에 이미 실제 전달된 내용은 이번 활동에서 다시 생성한 것으로 청구하지 않는다. S2-02의 준비·설명 재생 등 현재 후보 경로에서 발생한 사용량은 포함한다.</a:t>
            </a:r>
          </a:p>
          <a:p xmlns:a="http://schemas.openxmlformats.org/drawingml/2006/main">
            <a:r>
              <a:t/>
            </a:r>
          </a:p>
          <a:p xmlns:a="http://schemas.openxmlformats.org/drawingml/2006/main">
            <a:r>
              <a:t>의미 호출 62회는 양안의 기준 비용 예산을 위한 참조이고 양안을 62회 호출하도록 강제하지 않는다. 사용자 19×2=38, Agent 단독 2×2=4, 집중 도착 4×2=8, source 변경 4, 초기·과거 준비 8의 합이다. 실제 call·Context·reasoning·청구 cache hit·폐기 token을 사용한다. 코드의 owner read와 IPC에 모델 호출 비용을 임의 부여하지 않는다.</a:t>
            </a:r>
          </a:p>
          <a:p xmlns:a="http://schemas.openxmlformats.org/drawingml/2006/main">
            <a:r>
              <a:t/>
            </a:r>
          </a:p>
          <a:p xmlns:a="http://schemas.openxmlformats.org/drawingml/2006/main">
            <a:r>
              <a:t>### 5.3 목표값과 근거</a:t>
            </a:r>
          </a:p>
          <a:p xmlns:a="http://schemas.openxmlformats.org/drawingml/2006/main">
            <a:r>
              <a:t/>
            </a:r>
          </a:p>
          <a:p xmlns:a="http://schemas.openxmlformats.org/drawingml/2006/main">
            <a:r>
              <a:t>| P21 기준 계산 | USD |</a:t>
            </a:r>
          </a:p>
          <a:p xmlns:a="http://schemas.openxmlformats.org/drawingml/2006/main">
            <a:r>
              <a:t>| --- | --- |</a:t>
            </a:r>
          </a:p>
          <a:p xmlns:a="http://schemas.openxmlformats.org/drawingml/2006/main">
            <a:r>
              <a:t>| 의미62호출, 입력124,000/출력12,400 token | 0.099200 |</a:t>
            </a:r>
          </a:p>
          <a:p xmlns:a="http://schemas.openxmlformats.org/drawingml/2006/main">
            <a:r>
              <a:t>| GPT Realtime 신규 audio 입력50초/출력예산179초 | 0.245120 |</a:t>
            </a:r>
          </a:p>
          <a:p xmlns:a="http://schemas.openxmlformats.org/drawingml/2006/main">
            <a:r>
              <a:t>| GPT Realtime 청구 Text/context 입력10,000/출력2,000 token | 0.072000 |</a:t>
            </a:r>
          </a:p>
          <a:p xmlns:a="http://schemas.openxmlformats.org/drawingml/2006/main">
            <a:r>
              <a:t>| 신규 audio·청구 Text를 포함한 기본 소계 | **0.416320** |</a:t>
            </a:r>
          </a:p>
          <a:p xmlns:a="http://schemas.openxmlformats.org/drawingml/2006/main">
            <a:r>
              <a:t>| 이력 audio 재입력/추가생산/재시도 여유 | **0.083680** |</a:t>
            </a:r>
          </a:p>
          <a:p xmlns:a="http://schemas.openxmlformats.org/drawingml/2006/main">
            <a:r>
              <a:t>| 목표 | **0.50/P21** |</a:t>
            </a:r>
          </a:p>
          <a:p xmlns:a="http://schemas.openxmlformats.org/drawingml/2006/main">
            <a:r>
              <a:t/>
            </a:r>
          </a:p>
          <a:p xmlns:a="http://schemas.openxmlformats.org/drawingml/2006/main">
            <a:r>
              <a:t>음성 기준을 GPT Realtime으로 바꾼 동일 P21에서 다시 계산했다. 기본 소계 대비 약 20.10%의 여유를 둔 $0.50/P21 작성자 평가 예산이며 상품 가격이나 모델 성능 보장이 아니다. 앞의 50/179초는 신규 audio 길이만이므로 이력 audio 재입력의 청구를 포함한 실제 총액이라고 주장하지 않는다. Text 10k/2k는 호출별 누적 청구량의 예산이다. 추가 audio 이력·초기/배경 생산·재시도는 여유에서 부담하며 실제 response usage로 모두 합산한다. 여유 전부를 할인 없는 audio 이력 입력에 쓰면 2,615 token($0.083680)이고 다른 추가 비용이 있으면 그만큼 줄어든다. 캐시 할인/음성 이력의 transcript 대체는 실제 확인된 사용량에만 적용한다. 목표를 맞추기 위해 대화를 매 사례 초기화하거나 VIA의 Task/근거 이력을 없애지 않는다. Source 변경 4건이 모델 생산 4호출을 강제하지 않는다. 실제 backfill·추가 질문·재시도가 많으면 목표 미달을 그대로 보고한다.</a:t>
            </a:r>
          </a:p>
          <a:p xmlns:a="http://schemas.openxmlformats.org/drawingml/2006/main">
            <a:r>
              <a:t/>
            </a:r>
          </a:p>
          <a:p xmlns:a="http://schemas.openxmlformats.org/drawingml/2006/main">
            <a:r>
              <a:t>### 5.4 수치 차이와 민감도</a:t>
            </a:r>
          </a:p>
          <a:p xmlns:a="http://schemas.openxmlformats.org/drawingml/2006/main">
            <a:r>
              <a:t/>
            </a:r>
          </a:p>
          <a:p xmlns:a="http://schemas.openxmlformats.org/drawingml/2006/main">
            <a:r>
              <a:t>$0.03/P21 이상을 기존 실용 차이 기준으로 유지하고(개정 목표의 6%) 다섯 활동의 값·범위·차이 방향과 가정 민감도를 공개한다. S2-04의 cache miss, S2-05의 최초 생산, 미사용 source 4건의 실제 생산, 입출력 길이를 따로 검토한다. A의 cache를 삭제하거나 B에 ready hit를 주입하지 않는다. 기능 미완료·필수 위반을 동반한 낮은 청구는 목표 충족이 아니다.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00fedd21cfe33a3c35990f84af0610bef6fb2f7e9473404d2f935222c3ad084c</a:t>
            </a:r>
          </a:p>
          <a:p xmlns:a="http://schemas.openxmlformats.org/drawingml/2006/main">
            <a:r>
              <a:t>작성일: 2026-10-11</a:t>
            </a:r>
          </a:p>
          <a:p xmlns:a="http://schemas.openxmlformats.org/drawingml/2006/main">
            <a:r>
              <a:t>원본 SHA-256: d25a503005403e71d5811d61f20d9c227479bfeb04808ba868ce06adc463e4f8</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ASR-QA-05 VIA 변경 용이성</a:t>
            </a:r>
          </a:p>
          <a:p xmlns:a="http://schemas.openxmlformats.org/drawingml/2006/main">
            <a:r>
              <a:t>정의: 모델/Agent/정보원/기능 계약의 변화를 다른 사용자 기능을 유지하면서 수용하는 능력</a:t>
            </a:r>
          </a:p>
          <a:p xmlns:a="http://schemas.openxmlformats.org/drawingml/2006/main">
            <a:r>
              <a:t>측정 지표: 평균 변경 기능 책임 단위 수(개/과제) = 6개 변경의 고유 수정 책임 수 합/6</a:t>
            </a:r>
          </a:p>
          <a:p xmlns:a="http://schemas.openxmlformats.org/drawingml/2006/main">
            <a:r>
              <a:t>목표: 평균 3개 이하, 과제별5개 이하</a:t>
            </a:r>
          </a:p>
          <a:p xmlns:a="http://schemas.openxmlformats.org/drawingml/2006/main">
            <a:r>
              <a:t>목표 근거: adapter/생산/소비 약3개 책임에 일상 변경을 국소화. 동일 U01~18 registry와 기존 기능/권한/P21 회귀 유지 (§6)</a:t>
            </a:r>
          </a:p>
          <a:p xmlns:a="http://schemas.openxmlformats.org/drawingml/2006/main">
            <a:r>
              <a:t>보호 조건: 과제별 ≤5개, 6개 완료/필수 회귀 충족</a:t>
            </a:r>
          </a:p>
          <a:p xmlns:a="http://schemas.openxmlformats.org/drawingml/2006/main">
            <a:r>
              <a:t>출처:</a:t>
            </a:r>
          </a:p>
          <a:p xmlns:a="http://schemas.openxmlformats.org/drawingml/2006/main">
            <a:r>
              <a:t>VIA 고정 기능/UC: ../../architecture/05-representative-use-cases.md</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§6</a:t>
            </a:r>
          </a:p>
          <a:p xmlns:a="http://schemas.openxmlformats.org/drawingml/2006/main">
            <a:r>
              <a:t>변경 용이성</a:t>
            </a:r>
          </a:p>
          <a:p xmlns:a="http://schemas.openxmlformats.org/drawingml/2006/main">
            <a:r>
              <a:t/>
            </a:r>
          </a:p>
          <a:p xmlns:a="http://schemas.openxmlformats.org/drawingml/2006/main">
            <a:r>
              <a:t>**관리 ID: ASR-QA-05 — VIA 변경 용이성.**</a:t>
            </a:r>
          </a:p>
          <a:p xmlns:a="http://schemas.openxmlformats.org/drawingml/2006/main">
            <a:r>
              <a:t/>
            </a:r>
          </a:p>
          <a:p xmlns:a="http://schemas.openxmlformats.org/drawingml/2006/main">
            <a:r>
              <a:t>### 6.1 정의와 대표 지표</a:t>
            </a:r>
          </a:p>
          <a:p xmlns:a="http://schemas.openxmlformats.org/drawingml/2006/main">
            <a:r>
              <a:t/>
            </a:r>
          </a:p>
          <a:p xmlns:a="http://schemas.openxmlformats.org/drawingml/2006/main">
            <a:r>
              <a:t>**모델/Agent/정보원/기능 계약의 변화를 다른 사용자 기능을 유지하면서 수용하는 능력.** 대표 지표는 **공통 여섯 변경 과제의 평균 변경 책임 단위 수(개/과제)**다. 기존 QA-29의 변경 전파 범위 관점을 참고하지만 새 공통 registry/여섯 과제로 평가하므로 기존 QA-29 결과와 합치지 않는다.</a:t>
            </a:r>
          </a:p>
          <a:p xmlns:a="http://schemas.openxmlformats.org/drawingml/2006/main">
            <a:r>
              <a:t/>
            </a:r>
          </a:p>
          <a:p xmlns:a="http://schemas.openxmlformats.org/drawingml/2006/main">
            <a:r>
              <a:t>```text</a:t>
            </a:r>
          </a:p>
          <a:p xmlns:a="http://schemas.openxmlformats.org/drawingml/2006/main">
            <a:r>
              <a:t>u_j = 과제 M-j에서 실제로 수정해야 하는 고유 책임 단위 ID의 수</a:t>
            </a:r>
          </a:p>
          <a:p xmlns:a="http://schemas.openxmlformats.org/drawingml/2006/main">
            <a:r>
              <a:t>ASR-QA-05 = (u_1 + ... + u_6) / 6, 낮을수록 좋음</a:t>
            </a:r>
          </a:p>
          <a:p xmlns:a="http://schemas.openxmlformats.org/drawingml/2006/main">
            <a:r>
              <a:t>```</a:t>
            </a:r>
          </a:p>
          <a:p xmlns:a="http://schemas.openxmlformats.org/drawingml/2006/main">
            <a:r>
              <a:t/>
            </a:r>
          </a:p>
          <a:p xmlns:a="http://schemas.openxmlformats.org/drawingml/2006/main">
            <a:r>
              <a:t>파일 수/LOC/개발 시간 추측을 대표값으로 쓰지 않는다. Component 하나에 여러 책임을 넣었다고 변경 수가 1이 되지 않으며, 같은 책임을 여러 파일/프로세스로 구현했다고 별도 점수를 자동 추가하지 않는다. 데이터 계약을 생산/소비하는 두 책임이 실제 변경되면 두 개로 센다. generator의 동일 코드 재출력이나 테스트/문서 갱신만은 추가 단위로 세지 않고 검증 부담으로 별도 기록한다.</a:t>
            </a:r>
          </a:p>
          <a:p xmlns:a="http://schemas.openxmlformats.org/drawingml/2006/main">
            <a:r>
              <a:t/>
            </a:r>
          </a:p>
          <a:p xmlns:a="http://schemas.openxmlformats.org/drawingml/2006/main">
            <a:r>
              <a:t>### 6.2 공통 변경 책임 registry</a:t>
            </a:r>
          </a:p>
          <a:p xmlns:a="http://schemas.openxmlformats.org/drawingml/2006/main">
            <a:r>
              <a:t/>
            </a:r>
          </a:p>
          <a:p xmlns:a="http://schemas.openxmlformats.org/drawingml/2006/main">
            <a:r>
              <a:t>동일한 기능 책임을 A/B에서 같은 ID에 대응한다. 이 단위는 아키텍처 비교의 채점 단위이며 기존 정식 Component 명칭을 대체하는 새 Component/Module 이름이 아니다.</a:t>
            </a:r>
          </a:p>
          <a:p xmlns:a="http://schemas.openxmlformats.org/drawingml/2006/main">
            <a:r>
              <a:t/>
            </a:r>
          </a:p>
          <a:p xmlns:a="http://schemas.openxmlformats.org/drawingml/2006/main">
            <a:r>
              <a:t>| ID | 수정 여부를 검사하는 책임 | 실제 owner/경로 |</a:t>
            </a:r>
          </a:p>
          <a:p xmlns:a="http://schemas.openxmlformats.org/drawingml/2006/main">
            <a:r>
              <a:t>| --- | --- | --- |</a:t>
            </a:r>
          </a:p>
          <a:p xmlns:a="http://schemas.openxmlformats.org/drawingml/2006/main">
            <a:r>
              <a:t>| U01 | 자연어 의미 생산 prompt/해석 규칙 | Request Interpreter의 A 모델 제어 또는 B frame/부분 해석 |</a:t>
            </a:r>
          </a:p>
          <a:p xmlns:a="http://schemas.openxmlformats.org/drawingml/2006/main">
            <a:r>
              <a:t>| U02 | 유한 표현의 dispatch/항목 해결/코드 결합 | 41B Request Resolution Engine. A에 같은 코드 책임이 없으면 변경 0 |</a:t>
            </a:r>
          </a:p>
          <a:p xmlns:a="http://schemas.openxmlformats.org/drawingml/2006/main">
            <a:r>
              <a:t>| U03 | 의미/frame/조건 표현의 공통 검증 계약 | Request Interpreter의 공통 의미 제안 검증기와 해당 schema |</a:t>
            </a:r>
          </a:p>
          <a:p xmlns:a="http://schemas.openxmlformats.org/drawingml/2006/main">
            <a:r>
              <a:t>| U04 | 요청 채택/질문 focus/입력 hold 규칙 | Request Controller |</a:t>
            </a:r>
          </a:p>
          <a:p xmlns:a="http://schemas.openxmlformats.org/drawingml/2006/main">
            <a:r>
              <a:t>| U05 | 입력/전달 시각과 실제 재생 제어 | Interaction Manager |</a:t>
            </a:r>
          </a:p>
          <a:p xmlns:a="http://schemas.openxmlformats.org/drawingml/2006/main">
            <a:r>
              <a:t>| U06 | 응답 내용/게시/실제 전달 원장 | Response Manager |</a:t>
            </a:r>
          </a:p>
          <a:p xmlns:a="http://schemas.openxmlformats.org/drawingml/2006/main">
            <a:r>
              <a:t>| U07 | Task/Execution/업무 명령/질문 현재성 | Task Manager |</a:t>
            </a:r>
          </a:p>
          <a:p xmlns:a="http://schemas.openxmlformats.org/drawingml/2006/main">
            <a:r>
              <a:t>| U08 | 중앙 continuation 또는 Stage/window 흐름 | Request Controller의 44A/B 진행 경로 |</a:t>
            </a:r>
          </a:p>
          <a:p xmlns:a="http://schemas.openxmlformats.org/drawingml/2006/main">
            <a:r>
              <a:t>| U09 | 근거 source adapter와 정규 원본 port | Context Manager |</a:t>
            </a:r>
          </a:p>
          <a:p xmlns:a="http://schemas.openxmlformats.org/drawingml/2006/main">
            <a:r>
              <a:t>| U10 | 요청별 원본 조합/검색/cache 의미 | 45A Context Composer |</a:t>
            </a:r>
          </a:p>
          <a:p xmlns:a="http://schemas.openxmlformats.org/drawingml/2006/main">
            <a:r>
              <a:t>| U11 | 공통 과거 관계 생산/coverage/무효화 | 45B Memory Publisher |</a:t>
            </a:r>
          </a:p>
          <a:p xmlns:a="http://schemas.openxmlformats.org/drawingml/2006/main">
            <a:r>
              <a:t>| U12 | 게시 관계 조회/부분 범위 보완 | 45B Evidence Reader |</a:t>
            </a:r>
          </a:p>
          <a:p xmlns:a="http://schemas.openxmlformats.org/drawingml/2006/main">
            <a:r>
              <a:t>| U13 | 대화↔업무 명령/접수/반영 계약 | 42A 내부 공동 확정 또는 42B 독립 hand-off |</a:t>
            </a:r>
          </a:p>
          <a:p xmlns:a="http://schemas.openxmlformats.org/drawingml/2006/main">
            <a:r>
              <a:t>| U14 | 저장 schema/이행/복원 | State Store와 해당 논리 owner |</a:t>
            </a:r>
          </a:p>
          <a:p xmlns:a="http://schemas.openxmlformats.org/drawingml/2006/main">
            <a:r>
              <a:t>| U15 | cloud provider wire/usage/중단 adapter | Model Access |</a:t>
            </a:r>
          </a:p>
          <a:p xmlns:a="http://schemas.openxmlformats.org/drawingml/2006/main">
            <a:r>
              <a:t>| U16 | 외부 Agent protocol/capability adapter | Agent Gateway |</a:t>
            </a:r>
          </a:p>
          <a:p xmlns:a="http://schemas.openxmlformats.org/drawingml/2006/main">
            <a:r>
              <a:t>| U17 | 허용/동의/삭제 정책의 판정 | Policy Manager |</a:t>
            </a:r>
          </a:p>
          <a:p xmlns:a="http://schemas.openxmlformats.org/drawingml/2006/main">
            <a:r>
              <a:t>| U18 | 삭제/정정의 소비자 파생물 처리 계약 | 해당 cache/게시/Context owner. 동일 U10~12 내부 수정이면 그 단위만 세고 U18 중복 금지 |</a:t>
            </a:r>
          </a:p>
          <a:p xmlns:a="http://schemas.openxmlformats.org/drawingml/2006/main">
            <a:r>
              <a:t/>
            </a:r>
          </a:p>
          <a:p xmlns:a="http://schemas.openxmlformats.org/drawingml/2006/main">
            <a:r>
              <a:t>U18은 여러 owner 사이의 삭제 전달/완료 계약 자체가 바뀔 때만 별도다. U14도 이미 센 producer의 private cache 필드 하나 수정과 중복 세지 않으며, 실제 영속 schema 이행/복원이 별도 바뀔 때 센다. registry의 의미/합치기 규칙은 후보를 보기 전에 고정한다. 필요한 새 책임은 양안 공통 registry에 추가하고 version을 올린다.</a:t>
            </a:r>
          </a:p>
          <a:p xmlns:a="http://schemas.openxmlformats.org/drawingml/2006/main">
            <a:r>
              <a:t/>
            </a:r>
          </a:p>
          <a:p xmlns:a="http://schemas.openxmlformats.org/drawingml/2006/main">
            <a:r>
              <a:t>### 6.3 여섯 변경 과제의 입력과 완료 조건</a:t>
            </a:r>
          </a:p>
          <a:p xmlns:a="http://schemas.openxmlformats.org/drawingml/2006/main">
            <a:r>
              <a:t/>
            </a:r>
          </a:p>
          <a:p xmlns:a="http://schemas.openxmlformats.org/drawingml/2006/main">
            <a:r>
              <a:t>| 과제 | 고정한 변경 요구 | 완료 판별과 필수 회귀 |</a:t>
            </a:r>
          </a:p>
          <a:p xmlns:a="http://schemas.openxmlformats.org/drawingml/2006/main">
            <a:r>
              <a:t>| --- | --- | --- |</a:t>
            </a:r>
          </a:p>
          <a:p xmlns:a="http://schemas.openxmlformats.org/drawingml/2006/main">
            <a:r>
              <a:t>| M-01 의미 provider 교체 | 동등한 tool/JSON/text-image 기능 provider로 wire request/response/usage 형식 변경. 상위 의미/port 계약은 동일 | 같은 의미 입력/출력/취소/usage로 21개 정답 유지. adapter 밖 계약을 바꾸지 않아도 되면 U15만 수정 |</a:t>
            </a:r>
          </a:p>
          <a:p xmlns:a="http://schemas.openxmlformats.org/drawingml/2006/main">
            <a:r>
              <a:t>| M-02 Agent protocol 교체 | 메일 Agent의 submit/cancel wire envelope와 receipt format 변경. 접수/미확인/완료의 상위 의미는 유지 | 같은 command ID/중복/취소/역순 event oracle 유지. Gateway 정규화로 끝나는 변경이면 U16만 수정 |</a:t>
            </a:r>
          </a:p>
          <a:p xmlns:a="http://schemas.openxmlformats.org/drawingml/2006/main">
            <a:r>
              <a:t>| M-03 Context source 교체 | 일정 source의 필드명/타임존 envelope 변경, 정규 시간/version/권한 port는 동일 | S3-03의 최신 BUSY/대체 시간/조건적 생성 금지 동일. U09에서 흡수 가능한 strong A/B 허용 |</a:t>
            </a:r>
          </a:p>
          <a:p xmlns:a="http://schemas.openxmlformats.org/drawingml/2006/main">
            <a:r>
              <a:t>| M-04 복합 관계 추가 | “보고서가 실패해도 메일 초안 작성은 계속”이라는 VIA 소유 실패 후 실행 관계 추가. 실행 domain 계획은 Agent | 선행 실패 때도 초안 한 번, 발송 금지 유지, 성공/실패 두 분기와 기존 AFTER/USE_RESULT 회귀. A prompt/검증/실행과 B schema/Engine/실행의 실제 수정 집합 기록 |</a:t>
            </a:r>
          </a:p>
          <a:p xmlns:a="http://schemas.openxmlformats.org/drawingml/2006/main">
            <a:r>
              <a:t>| M-05 업무 질문 계약 추가 | 기존 질문 ID/revision에 **허용 답변 범위 token** 추가. Task owner가 token을 생성/검사, 대화는 실제 제시한 token을 반환 | 오래된/다른 업무 token 거절, 올바른 실제 질문 답변 접수, 복원 후 같은 질문 대응. 42A 공동 확정과 B 독립 접수/보관의 변경 집합 기록 |</a:t>
            </a:r>
          </a:p>
          <a:p xmlns:a="http://schemas.openxmlformats.org/drawingml/2006/main">
            <a:r>
              <a:t>| M-06 동의 철회 범위 변경 | 특정 문서 제공 동의 철회 시 원문뿐 아니라 관련 요약/관계/모델 Context의 신규 사용 금지와 처리 receipt 반환 | 원본/파생/대기 후보 사용 차단, 다른 허용 자료 유지, 미완료 삭제를 완료로 표시하지 않음. A cache와 B 생산/조회/게시를 모두 검사 |</a:t>
            </a:r>
          </a:p>
          <a:p xmlns:a="http://schemas.openxmlformats.org/drawingml/2006/main">
            <a:r>
              <a:t/>
            </a:r>
          </a:p>
          <a:p xmlns:a="http://schemas.openxmlformats.org/drawingml/2006/main">
            <a:r>
              <a:t>각 과제는 변경 전/후 계약 차이, 수정 단위 ID/이유, 보존하는 계약, 회귀 목록과 산출물을 갖는다. **M-01~03은 형식 변화를 경계 adapter에서 끝내는 강한 A/B를 비교하는 대조군**이다. 모든 과제를 구조 차이가 커지도록 만들지 않는다. M-04~06은 실제 의미/상태/파생물 계약이 바뀌는 과제다. 한 단위라도 필요한데 빠지면 그 계획은 미완료이며 0개 변경 성공으로 세지 않는다.</a:t>
            </a:r>
          </a:p>
          <a:p xmlns:a="http://schemas.openxmlformats.org/drawingml/2006/main">
            <a:r>
              <a:t/>
            </a:r>
          </a:p>
          <a:p xmlns:a="http://schemas.openxmlformats.org/drawingml/2006/main">
            <a:r>
              <a:t>### 6.4 목표와 과제 근거</a:t>
            </a:r>
          </a:p>
          <a:p xmlns:a="http://schemas.openxmlformats.org/drawingml/2006/main">
            <a:r>
              <a:t/>
            </a:r>
          </a:p>
          <a:p xmlns:a="http://schemas.openxmlformats.org/drawingml/2006/main">
            <a:r>
              <a:t>**목표: 평균 3개 이하**, 보조 한도는 모든 과제 **5개 이하**와 여섯 과제의 완료/필수 회귀 충족이다. 18개의 공통 책임 중 평균 최대 3개, 즉 약 1/6 범위로 일상적인 변경을 국소화하려는 설계 예산이다. 한 요구의 변경이 대략 `경계 adapter/생산 책임/소비 책임` 수준에서 끝나고 대화/업무/음성 전체를 연쇄 수정하지 않아야 여러 모델/Agent/정보원을 지속 연동하는 이 과제의 목적을 달성한다. 복합 의미 변경처럼 더 넓은 경우는 5개까지 허용하되 그 과제 하나로 광범위한 변경을 평균에 숨기지 않는다.</a:t>
            </a:r>
          </a:p>
          <a:p xmlns:a="http://schemas.openxmlformats.org/drawingml/2006/main">
            <a:r>
              <a:t/>
            </a:r>
          </a:p>
          <a:p xmlns:a="http://schemas.openxmlformats.org/drawingml/2006/main">
            <a:r>
              <a:t>예를 들어 M-04의 변경 계획이 A=`U01/U03/U07`이면 3개, B=`U01/U02/U03/U07`이면 4개다. A가 모델 prompt만 수정하고 실제 후속 실행을 기존 코드가 지원하지 못하면 1개 성공으로 세지 않는다. 두 안이 기존 범용 관계 계약을 이미 지원한다면 변경 집합은 더 작아질 수 있다. 이 집합은 **실제 diff/구체 설계 패치에서 확인할 예시**이며 현재 구현의 실측 결과가 아니다.</a:t>
            </a:r>
          </a:p>
          <a:p xmlns:a="http://schemas.openxmlformats.org/drawingml/2006/main">
            <a:r>
              <a:t/>
            </a:r>
          </a:p>
          <a:p xmlns:a="http://schemas.openxmlformats.org/drawingml/2006/main">
            <a:r>
              <a:t>**차이 기준: 평균 0.5개 이상**, 여섯 과제 합계에서 고유 수정 발생 수 차이 3개 이상이다. 목표 3개의 1/6 범위 차이로 정했다. 결정적인 수정 계획을 세는 평가에는 bootstrap 신뢰구간을 발명하지 않는다. 두 검토자가 같은 registry/완료 조건으로 변경 집합을 비교하고 의견 차이가 있으면 집합과 근거를 조정한다. implementation이 없어도 구체적인 계약/설계 patch로 `DESIGN_CHANGE_REVIEW`를 수행할 수 있다. 단순 “바뀔 것 같다”는 모호한 개수는 공식 값으로 사용하지 않는다.</a:t>
            </a:r>
          </a:p>
          <a:p xmlns:a="http://schemas.openxmlformats.org/drawingml/2006/main">
            <a:r>
              <a:t/>
            </a:r>
          </a:p>
          <a:p xmlns:a="http://schemas.openxmlformats.org/drawingml/2006/main">
            <a:r>
              <a:t>### 6.5 수행 절차와 DP 영향</a:t>
            </a:r>
          </a:p>
          <a:p xmlns:a="http://schemas.openxmlformats.org/drawingml/2006/main">
            <a:r>
              <a:t/>
            </a:r>
          </a:p>
          <a:p xmlns:a="http://schemas.openxmlformats.org/drawingml/2006/main">
            <a:r>
              <a:t>1. 동일 후보 설명/계약 snapshot과 registry를 고정하고 여섯 과제를 각각 원래 snapshot에서 시작한다. M-01 완료 결과를 M-02의 기본 구조로 누적하지 않는다.</a:t>
            </a:r>
          </a:p>
          <a:p xmlns:a="http://schemas.openxmlformats.org/drawingml/2006/main">
            <a:r>
              <a:t>2. 요구를 충족하는 최소한의 강한 수정안을 작성한다. A의 내부 API/cache/부분 갱신, B의 안정된 schema/독립 owner를 허용한다. 작업량을 늘리는 불필요한 재설계는 세지 않는다.</a:t>
            </a:r>
          </a:p>
          <a:p xmlns:a="http://schemas.openxmlformats.org/drawingml/2006/main">
            <a:r>
              <a:t>3. U01~18 각각에 `CHANGED 또는 UNCHANGED, 이유, 변경 전/후 계약, patch/evidence_ref`를 채운다. 비참여 단위도 공란 대신 동일 계약 유지 이유를 기록한다.</a:t>
            </a:r>
          </a:p>
          <a:p xmlns:a="http://schemas.openxmlformats.org/drawingml/2006/main">
            <a:r>
              <a:t>4. 완료 oracle와 기존 정답/시간/권한/중복 회귀를 검사한다. 설계 patch는 계약과 사건 walkthrough로 검토하고 구현 patch는 해당 실행 검사를 병기한다. 두 증거 수준을 섞지 않는다.</a:t>
            </a:r>
          </a:p>
          <a:p xmlns:a="http://schemas.openxmlformats.org/drawingml/2006/main">
            <a:r>
              <a:t>5. 여섯 변경 집합/개수와 평균, 최대값을 보고한다. 변경량과 별도로 이행/배포/검증 부담을 서술한다.</a:t>
            </a:r>
          </a:p>
          <a:p xmlns:a="http://schemas.openxmlformats.org/drawingml/2006/main">
            <a:r>
              <a:t/>
            </a:r>
          </a:p>
          <a:p xmlns:a="http://schemas.openxmlformats.org/drawingml/2006/main">
            <a:r>
              <a:t>41은 유한 관계 확장, 42는 질문 token의 authority/handoff, 44는 제어/질문 revision이 continuation/window에 전파되는 범위, 45는 철회가 원본 조합/cache 또는 생산/조회/coverage에 전파되는 범위에서 차이가 날 수 있다. 외부 protocol의 단순 변경은 양안 모두 adapter 하나로 끝날 수 있다.</a:t>
            </a:r>
          </a:p>
          <a:p xmlns:a="http://schemas.openxmlformats.org/drawingml/2006/main">
            <a:r>
              <a:t/>
            </a:r>
          </a:p>
          <a:p xmlns:a="http://schemas.openxmlformats.org/drawingml/2006/main">
            <a:r>
              <a:t>#### M-06 추가 기능 회귀: 명시적 선호 등록</a:t>
            </a:r>
          </a:p>
          <a:p xmlns:a="http://schemas.openxmlformats.org/drawingml/2006/main">
            <a:r>
              <a:t/>
            </a:r>
          </a:p>
          <a:p xmlns:a="http://schemas.openxmlformats.org/drawingml/2006/main">
            <a:r>
              <a:t>S1-03은 대표 묶음에서 제외했지만 필수 User Memory 기능을 삭제하지 않는다. M-06 변경 전후에 아래 원본 등록 oracle와 철회·삭제 회귀를 확인한다. P21 정확성 분모에는 중복 가산하지 않는다.</a:t>
            </a:r>
          </a:p>
          <a:p xmlns:a="http://schemas.openxmlformats.org/drawingml/2006/main">
            <a:r>
              <a:t/>
            </a:r>
          </a:p>
          <a:p xmlns:a="http://schemas.openxmlformats.org/drawingml/2006/main">
            <a:r>
              <a:t>**초기 상황:** User Memory에는 비교 형식 선호가 없다. 기존 M언어는 “설명 언어=한국어”이며 변경 대상이 아니다. 사용자의 명시적 장기 선호 등록을 VIA 내부에 저장하는 권한은 허용된다.</a:t>
            </a:r>
          </a:p>
          <a:p xmlns:a="http://schemas.openxmlformats.org/drawingml/2006/main">
            <a:r>
              <a:t/>
            </a:r>
          </a:p>
          <a:p xmlns:a="http://schemas.openxmlformats.org/drawingml/2006/main">
            <a:r>
              <a:t>**입력:** “앞으로 비교 결과는 표로 보여주는 걸 선호한다고 기억해줘.”</a:t>
            </a:r>
          </a:p>
          <a:p xmlns:a="http://schemas.openxmlformats.org/drawingml/2006/main">
            <a:r>
              <a:t/>
            </a:r>
          </a:p>
          <a:p xmlns:a="http://schemas.openxmlformats.org/drawingml/2006/main">
            <a:r>
              <a:t>**사건 순서:** E0: 발화 0~3초. E1: 저장 뒤 공통 User Memory 조회 port로 사용자/적용 범위/값을 확인한다. 외부 Agent 사건이나 계획된 후속 답변은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목표=지속적인 비교 결과 형식 선호 등록. 일회성 표 응답이나 외부 문서 작성으로 바꾸지 않는다. |</a:t>
            </a:r>
          </a:p>
          <a:p xmlns:a="http://schemas.openxmlformats.org/drawingml/2006/main">
            <a:r>
              <a:t>| C2 대상/근거 | 근거=이번 발화. 선호의 대상=비교 결과, 형식=표. 다른 사용자의 Memory를 사용하지 않는다. |</a:t>
            </a:r>
          </a:p>
          <a:p xmlns:a="http://schemas.openxmlformats.org/drawingml/2006/main">
            <a:r>
              <a:t>| C3 대화/업무 연결 | 현재 사용자/설정 관리에 연결. 새 외부 업무나 T보호 연결 없음. |</a:t>
            </a:r>
          </a:p>
          <a:p xmlns:a="http://schemas.openxmlformats.org/drawingml/2006/main">
            <a:r>
              <a:t>| C4 조건/변경 범위 | 지속 범위=이 사용자의 향후 비교 결과. 모든 답변을 표로 제한하거나 M언어를 변경하지 않는다. |</a:t>
            </a:r>
          </a:p>
          <a:p xmlns:a="http://schemas.openxmlformats.org/drawingml/2006/main">
            <a:r>
              <a:t>| C5 실제 효과/상태 | 공통 조회에서 비교 결과 형식 선호=표가 확인된다. 중복/다른 선호 변경과 외부 Action=0. |</a:t>
            </a:r>
          </a:p>
          <a:p xmlns:a="http://schemas.openxmlformats.org/drawingml/2006/main">
            <a:r>
              <a:t>| C6 응답/실제 전달 | 필수 사실=“비교 결과는 표로 보여주는 선호를 기억했다”. 모든 답변/다른 사용자에 적용했다고 말하면 실패. |</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ASR-QA-v6</a:t>
            </a:r>
          </a:p>
          <a:p xmlns:a="http://schemas.openxmlformats.org/drawingml/2006/main">
            <a:r>
              <a:t>공통 활동: P21 사용자 19/Agent 단독 2장면, 내부 Agent 4사건, 5회 독립 반복</a:t>
            </a:r>
          </a:p>
          <a:p xmlns:a="http://schemas.openxmlformats.org/drawingml/2006/main">
            <a:r>
              <a:t>활동 SHA-256: 00fedd21cfe33a3c35990f84af0610bef6fb2f7e9473404d2f935222c3ad084c</a:t>
            </a:r>
          </a:p>
          <a:p xmlns:a="http://schemas.openxmlformats.org/drawingml/2006/main">
            <a:r>
              <a:t>작성일: 2026-10-11</a:t>
            </a:r>
          </a:p>
          <a:p xmlns:a="http://schemas.openxmlformats.org/drawingml/2006/main">
            <a:r>
              <a:t>원본 SHA-256: d25a503005403e71d5811d61f20d9c227479bfeb04808ba868ce06adc463e4f8</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ASR-QA-06 로컬 VIA 메모리 사용량</a:t>
            </a:r>
          </a:p>
          <a:p xmlns:a="http://schemas.openxmlformats.org/drawingml/2006/main">
            <a:r>
              <a:t>정의: 동일한 활동과 동시 부하에서 VIA가 로컬 PC에 할당해 유지하는 메모리의 최대량</a:t>
            </a:r>
          </a:p>
          <a:p xmlns:a="http://schemas.openxmlformats.org/drawingml/2006/main">
            <a:r>
              <a:t>측정 지표: 최대 전체 commit 메모리(MiB) = 동일 P21 5회 중 전체 process/고유 공유 allocation 동시 합 최대</a:t>
            </a:r>
          </a:p>
          <a:p xmlns:a="http://schemas.openxmlformats.org/drawingml/2006/main">
            <a:r>
              <a:t>목표: 4,096MiB(4GiB) 이하</a:t>
            </a:r>
          </a:p>
          <a:p xmlns:a="http://schemas.openxmlformats.org/drawingml/2006/main">
            <a:r>
              <a:t>목표 근거: 32GB급 Windows PC의 OS8/업무앱16/VIA4/여유4GiB 계획. 공통 allocation1792 + 추가여유2304MiB, 실제 RAM residency와 구별 (§7)</a:t>
            </a:r>
          </a:p>
          <a:p xmlns:a="http://schemas.openxmlformats.org/drawingml/2006/main">
            <a:r>
              <a:t>보호 조건: working-set ≤6GiB, 유휴 증가 ≤16MiB</a:t>
            </a:r>
          </a:p>
          <a:p xmlns:a="http://schemas.openxmlformats.org/drawingml/2006/main">
            <a:r>
              <a:t>출처:</a:t>
            </a:r>
          </a:p>
          <a:p xmlns:a="http://schemas.openxmlformats.org/drawingml/2006/main">
            <a:r>
              <a:t>Samsung NP960UJH-XG3IN 공식 사양: https://www.samsung.com/in/computers/galaxy-book/galaxy-book6-ultra-ultra-7-32gb-1tb-np960ujh-xg3in/</a:t>
            </a:r>
          </a:p>
          <a:p xmlns:a="http://schemas.openxmlformats.org/drawingml/2006/main">
            <a:r>
              <a:t>Microsoft PrivateUsage/commit 정의: https://learn.microsoft.com/en-us/windows/win32/api/psapi/ns-psapi-process_memory_counters_ex</a:t>
            </a:r>
          </a:p>
          <a:p xmlns:a="http://schemas.openxmlformats.org/drawingml/2006/main">
            <a:r>
              <a:t>03-02 공통 QA 계약 v6: ../../architecture/12-decisions/decision-packages/03-02-quality-attribute-definitions.md</a:t>
            </a:r>
          </a:p>
          <a:p xmlns:a="http://schemas.openxmlformats.org/drawingml/2006/main">
            <a:r>
              <a:t/>
            </a:r>
          </a:p>
          <a:p xmlns:a="http://schemas.openxmlformats.org/drawingml/2006/main">
            <a:r>
              <a:t>상세 평가 원문 §7</a:t>
            </a:r>
          </a:p>
          <a:p xmlns:a="http://schemas.openxmlformats.org/drawingml/2006/main">
            <a:r>
              <a:t>메모리 사용량</a:t>
            </a:r>
          </a:p>
          <a:p xmlns:a="http://schemas.openxmlformats.org/drawingml/2006/main">
            <a:r>
              <a:t/>
            </a:r>
          </a:p>
          <a:p xmlns:a="http://schemas.openxmlformats.org/drawingml/2006/main">
            <a:r>
              <a:t>### 7.1 정의와 관측</a:t>
            </a:r>
          </a:p>
          <a:p xmlns:a="http://schemas.openxmlformats.org/drawingml/2006/main">
            <a:r>
              <a:t/>
            </a:r>
          </a:p>
          <a:p xmlns:a="http://schemas.openxmlformats.org/drawingml/2006/main">
            <a:r>
              <a:t>동일 P21 활동 5회 중 가장 큰 동시 전체 commit(MiB)을 사용한다. 모든 VIA process의 PrivateUsage와 고유 공유 anonymous commit을 순간별 합산한다. 공유 allocation은 한 번, 실제 copy는 각각 세며 helper·service·queue·cache·생산 buffer를 포함한다. 서로 다른 시각의 process별 peak를 합하지 않고 restart로 peak 원장을 초기화하지 않는다. Working set·가용 RAM·VRAM은 별도 진단이며 cloud weights/KV는 local 메모리가 아니다.</a:t>
            </a:r>
          </a:p>
          <a:p xmlns:a="http://schemas.openxmlformats.org/drawingml/2006/main">
            <a:r>
              <a:t/>
            </a:r>
          </a:p>
          <a:p xmlns:a="http://schemas.openxmlformats.org/drawingml/2006/main">
            <a:r>
              <a:t>### 7.2 공통 사용량과 단일 반복</a:t>
            </a:r>
          </a:p>
          <a:p xmlns:a="http://schemas.openxmlformats.org/drawingml/2006/main">
            <a:r>
              <a:t/>
            </a:r>
          </a:p>
          <a:p xmlns:a="http://schemas.openxmlformats.org/drawingml/2006/main">
            <a:r>
              <a:t>비용과 동일한 P21 초기화·과거 준비·21개 시나리오·source 갱신 4건·maintenance 2회·마지막 철회·drain 30초·idle 10초를 관측한다. 초기 2,000turn·완료 Task 200개·source 30개(payload 20MiB), 활성 Task 상한 10개·cloud call 상한 4개·capture 상한 15frame을 동일하게 준다. 상한만큼 실행을 강제하지 않으며 S5-04는 관련·보호 Task 7개를 사용한다. 생성 이력은 활동 끝까지 보존하고 50ms sampling과 allocation 사건으로 관측 누락·오차를 확인한다.</a:t>
            </a:r>
          </a:p>
          <a:p xmlns:a="http://schemas.openxmlformats.org/drawingml/2006/main">
            <a:r>
              <a:t/>
            </a:r>
          </a:p>
          <a:p xmlns:a="http://schemas.openxmlformats.org/drawingml/2006/main">
            <a:r>
              <a:t>### 7.3 목표값과 장치/과제 근거</a:t>
            </a:r>
          </a:p>
          <a:p xmlns:a="http://schemas.openxmlformats.org/drawingml/2006/main">
            <a:r>
              <a:t/>
            </a:r>
          </a:p>
          <a:p xmlns:a="http://schemas.openxmlformats.org/drawingml/2006/main">
            <a:r>
              <a:t>**목표: 최대 4,096MiB(4GiB) 이하.** 32GB급 장치에 `Windows/기본 상주 8GiB + 사용자 Office/browser/다른 앱 16GiB + VIA 4GiB + 변동 여유 4GiB = 32GiB`의 계획 예산을 둔다. 제조사의 32GB 표기에서 이를 정확한 측정 RAM 값으로 추정하지 않으며 **32GiB 분할은 작성자의 장치 계획 가정**이다. 실제 Windows의 installed/available memory를 기록하더라도 목표를 결과에 맞춰 자동 늘리지 않는다.</a:t>
            </a:r>
          </a:p>
          <a:p xmlns:a="http://schemas.openxmlformats.org/drawingml/2006/main">
            <a:r>
              <a:t/>
            </a:r>
          </a:p>
          <a:p xmlns:a="http://schemas.openxmlformats.org/drawingml/2006/main">
            <a:r>
              <a:t>VIA는 사용자가 PC 업무를 계속하는 동안 실행되므로 전체 기기 메모리를 독점할 수 없다. cloud 모델 조건에서도 입력 근거, 진행 업무와 장기 파생물이 상주할 수 있어 4GiB의 상한을 정했다. 4GiB는 특정 삼성 제품이 보장한 VIA 가용량이나 현재 앱의 측정값이 아니다. 단순 process 수가 적다는 사실만으로 작은 메모리를 주장하지 않는다.</a:t>
            </a:r>
          </a:p>
          <a:p xmlns:a="http://schemas.openxmlformats.org/drawingml/2006/main">
            <a:r>
              <a:t/>
            </a:r>
          </a:p>
          <a:p xmlns:a="http://schemas.openxmlformats.org/drawingml/2006/main">
            <a:r>
              <a:t>| 설명용 동시 할당 예산 | MiB | 포함할 것 |</a:t>
            </a:r>
          </a:p>
          <a:p xmlns:a="http://schemas.openxmlformats.org/drawingml/2006/main">
            <a:r>
              <a:t>| --- | --- | --- |</a:t>
            </a:r>
          </a:p>
          <a:p xmlns:a="http://schemas.openxmlformats.org/drawingml/2006/main">
            <a:r>
              <a:t>| UI/Core/runtime 기본 | 512 | process heap/언어 runtime/화면 UI |</a:t>
            </a:r>
          </a:p>
          <a:p xmlns:a="http://schemas.openxmlformats.org/drawingml/2006/main">
            <a:r>
              <a:t>| capture/전달 buffer | 512 | 같은 원본 보관/복사/전사/audio |</a:t>
            </a:r>
          </a:p>
          <a:p xmlns:a="http://schemas.openxmlformats.org/drawingml/2006/main">
            <a:r>
              <a:t>| 원문 Context/cache | 256 | source 발췌/현재/준비된 과거 |</a:t>
            </a:r>
          </a:p>
          <a:p xmlns:a="http://schemas.openxmlformats.org/drawingml/2006/main">
            <a:r>
              <a:t>| Task/요청/전달 상태 | 128 | 활성 상태와 pending 질문/receipt |</a:t>
            </a:r>
          </a:p>
          <a:p xmlns:a="http://schemas.openxmlformats.org/drawingml/2006/main">
            <a:r>
              <a:t>| DB/cache/영속 읽기 buffer | 128 | 디스크 DB bytes와 구별 |</a:t>
            </a:r>
          </a:p>
          <a:p xmlns:a="http://schemas.openxmlformats.org/drawingml/2006/main">
            <a:r>
              <a:t>| cloud call 임시 상태 | 64 | 최대 4호출 × 16MiB의 가정 |</a:t>
            </a:r>
          </a:p>
          <a:p xmlns:a="http://schemas.openxmlformats.org/drawingml/2006/main">
            <a:r>
              <a:t>| queue/직렬화/동시 burst | 128 | 제한 inbox/outbox/결과 copy |</a:t>
            </a:r>
          </a:p>
          <a:p xmlns:a="http://schemas.openxmlformats.org/drawingml/2006/main">
            <a:r>
              <a:t>| VAD/연동 helper 여유 | 64 | 실제 learned helper weights 있으면 그 안에 계상 |</a:t>
            </a:r>
          </a:p>
          <a:p xmlns:a="http://schemas.openxmlformats.org/drawingml/2006/main">
            <a:r>
              <a:t>| 기본 합계 | **1,792** | 위 항목들의 동시 상한 예시 |</a:t>
            </a:r>
          </a:p>
          <a:p xmlns:a="http://schemas.openxmlformats.org/drawingml/2006/main">
            <a:r>
              <a:t>| DP 추가 상태/큰 Context/변동 여유 | **2,304** | 4,096에서 남는 예산. 실제 측정값 아님 |</a:t>
            </a:r>
          </a:p>
          <a:p xmlns:a="http://schemas.openxmlformats.org/drawingml/2006/main">
            <a:r>
              <a:t/>
            </a:r>
          </a:p>
          <a:p xmlns:a="http://schemas.openxmlformats.org/drawingml/2006/main">
            <a:r>
              <a:t>보조 보호 조건은 앞의 working-set 합 6GiB 이하와 **drain 뒤 10초 유휴 probe의 종료 commit - 시작 commit이 16MiB 이하**다. 필수 근거/작업을 유지한 채 배경 queue를 회수하는지 확인한다. probe 중 최대값도 전체 peak에 남기며 종료-시작이 음수면 증가 0으로 보고한다. 16MiB는 작은 page/cache fluctuation을 허용하는 진단 예산이고 product leak 0의 증명은 아니다. workload가 기능을 포기하고 더 적게 저장한 경우 정확성/지원 범위 손실과 함께 보고한다.</a:t>
            </a:r>
          </a:p>
          <a:p xmlns:a="http://schemas.openxmlformats.org/drawingml/2006/main">
            <a:r>
              <a:t/>
            </a:r>
          </a:p>
          <a:p xmlns:a="http://schemas.openxmlformats.org/drawingml/2006/main">
            <a:r>
              <a:t>### 7.4 차이 기준과 자원 판정</a:t>
            </a:r>
          </a:p>
          <a:p xmlns:a="http://schemas.openxmlformats.org/drawingml/2006/main">
            <a:r>
              <a:t/>
            </a:r>
          </a:p>
          <a:p xmlns:a="http://schemas.openxmlformats.org/drawingml/2006/main">
            <a:r>
              <a:t>동일 활동 5회의 peak·phase·process·공유와 copy 원장 및 전체 최대값을 보고한다. 128MiB 이상을 차이 기준으로 두고 allocation의 크기·수명·공유·동시성을 검증한다. 박스 수로 peak를 계산하지 않는다. 필수 자료나 업무를 삭제하거나 조기 종료한 낮은 peak는 성공이 아니다.</a:t>
            </a:r>
          </a:p>
          <a:p xmlns:a="http://schemas.openxmlformats.org/drawingml/2006/main">
            <a:r>
              <a:t/>
            </a:r>
          </a:p>
          <a:p xmlns:a="http://schemas.openxmlformats.org/drawingml/2006/main">
            <a:r>
              <a:t/>
            </a:r>
          </a:p>
          <a:p xmlns:a="http://schemas.openxmlformats.org/drawingml/2006/main">
            <a:r>
              <a:t>전체 사례의 QA 대응과 선정 근거</a:t>
            </a:r>
          </a:p>
          <a:p xmlns:a="http://schemas.openxmlformats.org/drawingml/2006/main">
            <a:r>
              <a:t>[</a:t>
            </a:r>
          </a:p>
          <a:p xmlns:a="http://schemas.openxmlformats.org/drawingml/2006/main">
            <a:r>
              <a:t>  {</a:t>
            </a:r>
          </a:p>
          <a:p xmlns:a="http://schemas.openxmlformats.org/drawingml/2006/main">
            <a:r>
              <a:t>    "case_id": "S1-01",</a:t>
            </a:r>
          </a:p>
          <a:p xmlns:a="http://schemas.openxmlformats.org/drawingml/2006/main">
            <a:r>
              <a:t>    "name": "제한된 정보 조회",</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3,</a:t>
            </a:r>
          </a:p>
          <a:p xmlns:a="http://schemas.openxmlformats.org/drawingml/2006/main">
            <a:r>
              <a:t>    "reactions": [</a:t>
            </a:r>
          </a:p>
          <a:p xmlns:a="http://schemas.openxmlformats.org/drawingml/2006/main">
            <a:r>
              <a:t>      {</a:t>
            </a:r>
          </a:p>
          <a:p xmlns:a="http://schemas.openxmlformats.org/drawingml/2006/main">
            <a:r>
              <a:t>        "id": "I-S1-01-1",</a:t>
            </a:r>
          </a:p>
          <a:p xmlns:a="http://schemas.openxmlformats.org/drawingml/2006/main">
            <a:r>
              <a:t>        "start": "발화 종료",</a:t>
            </a:r>
          </a:p>
          <a:p xmlns:a="http://schemas.openxmlformats.org/drawingml/2006/main">
            <a:r>
              <a:t>        "end": "D1의 정확한 날짜 답변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"T-S1-01",</a:t>
            </a:r>
          </a:p>
          <a:p xmlns:a="http://schemas.openxmlformats.org/drawingml/2006/main">
            <a:r>
              <a:t>      "start": "최초 사용자 발화 종료",</a:t>
            </a:r>
          </a:p>
          <a:p xmlns:a="http://schemas.openxmlformats.org/drawingml/2006/main">
            <a:r>
              <a:t>      "end": "D1 마감일 최종 전달"</a:t>
            </a:r>
          </a:p>
          <a:p xmlns:a="http://schemas.openxmlformats.org/drawingml/2006/main">
            <a:r>
              <a:t>    },</a:t>
            </a:r>
          </a:p>
          <a:p xmlns:a="http://schemas.openxmlformats.org/drawingml/2006/main">
            <a:r>
              <a:t>    "cycle_exclusion": null,</a:t>
            </a:r>
          </a:p>
          <a:p xmlns:a="http://schemas.openxmlformats.org/drawingml/2006/main">
            <a:r>
              <a:t>    "selection_reason": "단순 직접/위임의 공통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"S1-02",</a:t>
            </a:r>
          </a:p>
          <a:p xmlns:a="http://schemas.openxmlformats.org/drawingml/2006/main">
            <a:r>
              <a:t>    "name": "새 보고서 업무 위임",</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"I-S1-02-1",</a:t>
            </a:r>
          </a:p>
          <a:p xmlns:a="http://schemas.openxmlformats.org/drawingml/2006/main">
            <a:r>
              <a:t>        "start": "발화 종료",</a:t>
            </a:r>
          </a:p>
          <a:p xmlns:a="http://schemas.openxmlformats.org/drawingml/2006/main">
            <a:r>
              <a:t>        "end": "해당 보고서의 실제 접수/진행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"T-S1-02",</a:t>
            </a:r>
          </a:p>
          <a:p xmlns:a="http://schemas.openxmlformats.org/drawingml/2006/main">
            <a:r>
              <a:t>      "start": "최초 사용자 발화 종료",</a:t>
            </a:r>
          </a:p>
          <a:p xmlns:a="http://schemas.openxmlformats.org/drawingml/2006/main">
            <a:r>
              <a:t>      "end": "ReportQ3@v1 최종 결과 전달"</a:t>
            </a:r>
          </a:p>
          <a:p xmlns:a="http://schemas.openxmlformats.org/drawingml/2006/main">
            <a:r>
              <a:t>    },</a:t>
            </a:r>
          </a:p>
          <a:p xmlns:a="http://schemas.openxmlformats.org/drawingml/2006/main">
            <a:r>
              <a:t>    "cycle_exclusion": null,</a:t>
            </a:r>
          </a:p>
          <a:p xmlns:a="http://schemas.openxmlformats.org/drawingml/2006/main">
            <a:r>
              <a:t>    "selection_reason": "신규 업무 인계와 정상 접수의 기준 경로",</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"S2-01",</a:t>
            </a:r>
          </a:p>
          <a:p xmlns:a="http://schemas.openxmlformats.org/drawingml/2006/main">
            <a:r>
              <a:t>    "name": "발화 중 두 표 지칭",</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"I-S2-01-1",</a:t>
            </a:r>
          </a:p>
          <a:p xmlns:a="http://schemas.openxmlformats.org/drawingml/2006/main">
            <a:r>
              <a:t>        "start": "발화 종료",</a:t>
            </a:r>
          </a:p>
          <a:p xmlns:a="http://schemas.openxmlformats.org/drawingml/2006/main">
            <a:r>
              <a:t>        "end": "발화 당시 두 표의 올바른 비교/위임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"T-S2-01",</a:t>
            </a:r>
          </a:p>
          <a:p xmlns:a="http://schemas.openxmlformats.org/drawingml/2006/main">
            <a:r>
              <a:t>      "start": "최초 사용자 발화 종료",</a:t>
            </a:r>
          </a:p>
          <a:p xmlns:a="http://schemas.openxmlformats.org/drawingml/2006/main">
            <a:r>
              <a:t>      "end": "지정 두 표 비교 결과 전달"</a:t>
            </a:r>
          </a:p>
          <a:p xmlns:a="http://schemas.openxmlformats.org/drawingml/2006/main">
            <a:r>
              <a:t>    },</a:t>
            </a:r>
          </a:p>
          <a:p xmlns:a="http://schemas.openxmlformats.org/drawingml/2006/main">
            <a:r>
              <a:t>    "cycle_exclusion": null,</a:t>
            </a:r>
          </a:p>
          <a:p xmlns:a="http://schemas.openxmlformats.org/drawingml/2006/main">
            <a:r>
              <a:t>    "selection_reason": "동일 발화의 복수 지칭을 실제 근거에 결합",</a:t>
            </a:r>
          </a:p>
          <a:p xmlns:a="http://schemas.openxmlformats.org/drawingml/2006/main">
            <a:r>
              <a:t>    "sensitive_dps": [</a:t>
            </a:r>
          </a:p>
          <a:p xmlns:a="http://schemas.openxmlformats.org/drawingml/2006/main">
            <a:r>
              <a:t>      "41"</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"S2-02",</a:t>
            </a:r>
          </a:p>
          <a:p xmlns:a="http://schemas.openxmlformats.org/drawingml/2006/main">
            <a:r>
              <a:t>    "name": "과거 설명과 두 업무 결과 재사용",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18,</a:t>
            </a:r>
          </a:p>
          <a:p xmlns:a="http://schemas.openxmlformats.org/drawingml/2006/main">
            <a:r>
              <a:t>    "reactions": [</a:t>
            </a:r>
          </a:p>
          <a:p xmlns:a="http://schemas.openxmlformats.org/drawingml/2006/main">
            <a:r>
              <a:t>      {</a:t>
            </a:r>
          </a:p>
          <a:p xmlns:a="http://schemas.openxmlformats.org/drawingml/2006/main">
            <a:r>
              <a:t>        "id": "I-S2-02-1",</a:t>
            </a:r>
          </a:p>
          <a:p xmlns:a="http://schemas.openxmlformats.org/drawingml/2006/main">
            <a:r>
              <a:t>        "start": "발화 종료",</a:t>
            </a:r>
          </a:p>
          <a:p xmlns:a="http://schemas.openxmlformats.org/drawingml/2006/main">
            <a:r>
              <a:t>        "end": "과거 근거/조건이 맞는 제안서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"T-S2-02",</a:t>
            </a:r>
          </a:p>
          <a:p xmlns:a="http://schemas.openxmlformats.org/drawingml/2006/main">
            <a:r>
              <a:t>      "start": "최초 사용자 발화 종료",</a:t>
            </a:r>
          </a:p>
          <a:p xmlns:a="http://schemas.openxmlformats.org/drawingml/2006/main">
            <a:r>
              <a:t>      "end": "Proposal@v1 최종 전달"</a:t>
            </a:r>
          </a:p>
          <a:p xmlns:a="http://schemas.openxmlformats.org/drawingml/2006/main">
            <a:r>
              <a:t>    },</a:t>
            </a:r>
          </a:p>
          <a:p xmlns:a="http://schemas.openxmlformats.org/drawingml/2006/main">
            <a:r>
              <a:t>    "cycle_exclusion": null,</a:t>
            </a:r>
          </a:p>
          <a:p xmlns:a="http://schemas.openxmlformats.org/drawingml/2006/main">
            <a:r>
              <a:t>    "selection_reason": "예외를 포함하는 세 과거 원본의 실제 연결",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"S2-03",</a:t>
            </a:r>
          </a:p>
          <a:p xmlns:a="http://schemas.openxmlformats.org/drawingml/2006/main">
            <a:r>
              <a:t>    "name": "갱신된 원본의 과거 값 지정",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"I-S2-03-1",</a:t>
            </a:r>
          </a:p>
          <a:p xmlns:a="http://schemas.openxmlformats.org/drawingml/2006/main">
            <a:r>
              <a:t>        "start": "발화 종료",</a:t>
            </a:r>
          </a:p>
          <a:p xmlns:a="http://schemas.openxmlformats.org/drawingml/2006/main">
            <a:r>
              <a:t>        "end": "과거 v1 값 지정이 맞는 실제 작성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"T-S2-03",</a:t>
            </a:r>
          </a:p>
          <a:p xmlns:a="http://schemas.openxmlformats.org/drawingml/2006/main">
            <a:r>
              <a:t>      "start": "최초 사용자 발화 종료",</a:t>
            </a:r>
          </a:p>
          <a:p xmlns:a="http://schemas.openxmlformats.org/drawingml/2006/main">
            <a:r>
              <a:t>      "end": "TablePast@v1 최종 전달"</a:t>
            </a:r>
          </a:p>
          <a:p xmlns:a="http://schemas.openxmlformats.org/drawingml/2006/main">
            <a:r>
              <a:t>    },</a:t>
            </a:r>
          </a:p>
          <a:p xmlns:a="http://schemas.openxmlformats.org/drawingml/2006/main">
            <a:r>
              <a:t>    "cycle_exclusion": null,</a:t>
            </a:r>
          </a:p>
          <a:p xmlns:a="http://schemas.openxmlformats.org/drawingml/2006/main">
            <a:r>
              <a:t>    "selection_reason": "원본 갱신 뒤 과거 revision의 보존/검증",</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"S2-04",</a:t>
            </a:r>
          </a:p>
          <a:p xmlns:a="http://schemas.openxmlformats.org/drawingml/2006/main">
            <a:r>
              <a:t>    "name": "같은 과거 근거의 두 번째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"I-S2-04-1",</a:t>
            </a:r>
          </a:p>
          <a:p xmlns:a="http://schemas.openxmlformats.org/drawingml/2006/main">
            <a:r>
              <a:t>        "start": "발화 종료",</a:t>
            </a:r>
          </a:p>
          <a:p xmlns:a="http://schemas.openxmlformats.org/drawingml/2006/main">
            <a:r>
              <a:t>        "end": "두 번째 새 제안서의 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"T-S2-04",</a:t>
            </a:r>
          </a:p>
          <a:p xmlns:a="http://schemas.openxmlformats.org/drawingml/2006/main">
            <a:r>
              <a:t>      "start": "최초 사용자 발화 종료",</a:t>
            </a:r>
          </a:p>
          <a:p xmlns:a="http://schemas.openxmlformats.org/drawingml/2006/main">
            <a:r>
              <a:t>      "end": "ProposalRepeat@v1 최종 전달"</a:t>
            </a:r>
          </a:p>
          <a:p xmlns:a="http://schemas.openxmlformats.org/drawingml/2006/main">
            <a:r>
              <a:t>    },</a:t>
            </a:r>
          </a:p>
          <a:p xmlns:a="http://schemas.openxmlformats.org/drawingml/2006/main">
            <a:r>
              <a:t>    "cycle_exclusion": null,</a:t>
            </a:r>
          </a:p>
          <a:p xmlns:a="http://schemas.openxmlformats.org/drawingml/2006/main">
            <a:r>
              <a:t>    "selection_reason": "같은 원본 재사용의 cache/관계 hit와 전체 생산 비용",</a:t>
            </a:r>
          </a:p>
          <a:p xmlns:a="http://schemas.openxmlformats.org/drawingml/2006/main">
            <a:r>
              <a:t>    "sensitive_dps": [</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"S2-05",</a:t>
            </a:r>
          </a:p>
          <a:p xmlns:a="http://schemas.openxmlformats.org/drawingml/2006/main">
            <a:r>
              <a:t>    "name": "새로 도착한 과거 근거의 첫 사용",</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"I-S2-05-1",</a:t>
            </a:r>
          </a:p>
          <a:p xmlns:a="http://schemas.openxmlformats.org/drawingml/2006/main">
            <a:r>
              <a:t>        "start": "발화 종료",</a:t>
            </a:r>
          </a:p>
          <a:p xmlns:a="http://schemas.openxmlformats.org/drawingml/2006/main">
            <a:r>
              <a:t>        "end": "새 근거를 확보한 실제 제안서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"T-S2-05",</a:t>
            </a:r>
          </a:p>
          <a:p xmlns:a="http://schemas.openxmlformats.org/drawingml/2006/main">
            <a:r>
              <a:t>      "start": "최초 사용자 발화 종료",</a:t>
            </a:r>
          </a:p>
          <a:p xmlns:a="http://schemas.openxmlformats.org/drawingml/2006/main">
            <a:r>
              <a:t>      "end": "ProposalFresh@v1 최종 전달"</a:t>
            </a:r>
          </a:p>
          <a:p xmlns:a="http://schemas.openxmlformats.org/drawingml/2006/main">
            <a:r>
              <a:t>    },</a:t>
            </a:r>
          </a:p>
          <a:p xmlns:a="http://schemas.openxmlformats.org/drawingml/2006/main">
            <a:r>
              <a:t>    "cycle_exclusion": null,</a:t>
            </a:r>
          </a:p>
          <a:p xmlns:a="http://schemas.openxmlformats.org/drawingml/2006/main">
            <a:r>
              <a:t>    "selection_reason": "새 원본 첫 사용의 조합/미게시 backfill 대기",</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"S3-01",</a:t>
            </a:r>
          </a:p>
          <a:p xmlns:a="http://schemas.openxmlformats.org/drawingml/2006/main">
            <a:r>
              <a:t>    "name": "독립된 두 조회 요청",</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"I-S3-01-1",</a:t>
            </a:r>
          </a:p>
          <a:p xmlns:a="http://schemas.openxmlformats.org/drawingml/2006/main">
            <a:r>
              <a:t>        "start": "발화 종료",</a:t>
            </a:r>
          </a:p>
          <a:p xmlns:a="http://schemas.openxmlformats.org/drawingml/2006/main">
            <a:r>
              <a:t>        "end": "독립 두 목표의 구분된 유효 답변/실제 접수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"T-S3-01",</a:t>
            </a:r>
          </a:p>
          <a:p xmlns:a="http://schemas.openxmlformats.org/drawingml/2006/main">
            <a:r>
              <a:t>      "start": "최초 사용자 발화 종료",</a:t>
            </a:r>
          </a:p>
          <a:p xmlns:a="http://schemas.openxmlformats.org/drawingml/2006/main">
            <a:r>
              <a:t>      "end": "독립 두 조회 결과 모두 전달"</a:t>
            </a:r>
          </a:p>
          <a:p xmlns:a="http://schemas.openxmlformats.org/drawingml/2006/main">
            <a:r>
              <a:t>    },</a:t>
            </a:r>
          </a:p>
          <a:p xmlns:a="http://schemas.openxmlformats.org/drawingml/2006/main">
            <a:r>
              <a:t>    "cycle_exclusion": null,</a:t>
            </a:r>
          </a:p>
          <a:p xmlns:a="http://schemas.openxmlformats.org/drawingml/2006/main">
            <a:r>
              <a:t>    "selection_reason": "독립 read의 병렬 진행을 양안에 허용하는 기준",</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"S3-02",</a:t>
            </a:r>
          </a:p>
          <a:p xmlns:a="http://schemas.openxmlformats.org/drawingml/2006/main">
            <a:r>
              <a:t>    "name": "요약 산출물에 의존하는 메일",</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10,</a:t>
            </a:r>
          </a:p>
          <a:p xmlns:a="http://schemas.openxmlformats.org/drawingml/2006/main">
            <a:r>
              <a:t>    "reactions": [</a:t>
            </a:r>
          </a:p>
          <a:p xmlns:a="http://schemas.openxmlformats.org/drawingml/2006/main">
            <a:r>
              <a:t>      {</a:t>
            </a:r>
          </a:p>
          <a:p xmlns:a="http://schemas.openxmlformats.org/drawingml/2006/main">
            <a:r>
              <a:t>        "id": "I-S3-02-1",</a:t>
            </a:r>
          </a:p>
          <a:p xmlns:a="http://schemas.openxmlformats.org/drawingml/2006/main">
            <a:r>
              <a:t>        "start": "발화 종료",</a:t>
            </a:r>
          </a:p>
          <a:p xmlns:a="http://schemas.openxmlformats.org/drawingml/2006/main">
            <a:r>
              <a:t>        "end": "현재 요약/의존 메일의 유효 처리 사실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"T-S3-02",</a:t>
            </a:r>
          </a:p>
          <a:p xmlns:a="http://schemas.openxmlformats.org/drawingml/2006/main">
            <a:r>
              <a:t>      "start": "최초 사용자 발화 종료",</a:t>
            </a:r>
          </a:p>
          <a:p xmlns:a="http://schemas.openxmlformats.org/drawingml/2006/main">
            <a:r>
              <a:t>      "end": "현재 요약의 민수 메일 발송 확인 전달"</a:t>
            </a:r>
          </a:p>
          <a:p xmlns:a="http://schemas.openxmlformats.org/drawingml/2006/main">
            <a:r>
              <a:t>    },</a:t>
            </a:r>
          </a:p>
          <a:p xmlns:a="http://schemas.openxmlformats.org/drawingml/2006/main">
            <a:r>
              <a:t>    "cycle_exclusion": null,</a:t>
            </a:r>
          </a:p>
          <a:p xmlns:a="http://schemas.openxmlformats.org/drawingml/2006/main">
            <a:r>
              <a:t>    "selection_reason": "결과 의존/중복 반환의 전체 continuation",</a:t>
            </a:r>
          </a:p>
          <a:p xmlns:a="http://schemas.openxmlformats.org/drawingml/2006/main">
            <a:r>
              <a:t>    "sensitive_dps": [</a:t>
            </a:r>
          </a:p>
          <a:p xmlns:a="http://schemas.openxmlformats.org/drawingml/2006/main">
            <a:r>
              <a:t>      "41",</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"S3-03",</a:t>
            </a:r>
          </a:p>
          <a:p xmlns:a="http://schemas.openxmlformats.org/drawingml/2006/main">
            <a:r>
              <a:t>    "name": "일정 조건의 변경 재확인",</a:t>
            </a:r>
          </a:p>
          <a:p xmlns:a="http://schemas.openxmlformats.org/drawingml/2006/main">
            <a:r>
              <a:t>    "trigger": "USER",</a:t>
            </a:r>
          </a:p>
          <a:p xmlns:a="http://schemas.openxmlformats.org/drawingml/2006/main">
            <a:r>
              <a:t>    "root_voice_seconds": 3,</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"I-S3-03-1",</a:t>
            </a:r>
          </a:p>
          <a:p xmlns:a="http://schemas.openxmlformats.org/drawingml/2006/main">
            <a:r>
              <a:t>        "start": "발화 종료",</a:t>
            </a:r>
          </a:p>
          <a:p xmlns:a="http://schemas.openxmlformats.org/drawingml/2006/main">
            <a:r>
              <a:t>        "end": "최신 BUSY와 일정 생성 안 함의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"T-S3-03",</a:t>
            </a:r>
          </a:p>
          <a:p xmlns:a="http://schemas.openxmlformats.org/drawingml/2006/main">
            <a:r>
              <a:t>      "start": "최초 사용자 발화 종료",</a:t>
            </a:r>
          </a:p>
          <a:p xmlns:a="http://schemas.openxmlformats.org/drawingml/2006/main">
            <a:r>
              <a:t>      "end": "최신 BUSY/미생성 확인 전달"</a:t>
            </a:r>
          </a:p>
          <a:p xmlns:a="http://schemas.openxmlformats.org/drawingml/2006/main">
            <a:r>
              <a:t>    },</a:t>
            </a:r>
          </a:p>
          <a:p xmlns:a="http://schemas.openxmlformats.org/drawingml/2006/main">
            <a:r>
              <a:t>    "cycle_exclusion": null,</a:t>
            </a:r>
          </a:p>
          <a:p xmlns:a="http://schemas.openxmlformats.org/drawingml/2006/main">
            <a:r>
              <a:t>    "selection_reason": "해석 뒤 조건 변경의 재조회/재확정",</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"S4-01",</a:t>
            </a:r>
          </a:p>
          <a:p xmlns:a="http://schemas.openxmlformats.org/drawingml/2006/main">
            <a:r>
              <a:t>    "name": "부분 정정과 늦은 후보",</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9,</a:t>
            </a:r>
          </a:p>
          <a:p xmlns:a="http://schemas.openxmlformats.org/drawingml/2006/main">
            <a:r>
              <a:t>    "reactions": [</a:t>
            </a:r>
          </a:p>
          <a:p xmlns:a="http://schemas.openxmlformats.org/drawingml/2006/main">
            <a:r>
              <a:t>      {</a:t>
            </a:r>
          </a:p>
          <a:p xmlns:a="http://schemas.openxmlformats.org/drawingml/2006/main">
            <a:r>
              <a:t>        "id": "I-S4-01-1",</a:t>
            </a:r>
          </a:p>
          <a:p xmlns:a="http://schemas.openxmlformats.org/drawingml/2006/main">
            <a:r>
              <a:t>        "start": "발화 종료",</a:t>
            </a:r>
          </a:p>
          <a:p xmlns:a="http://schemas.openxmlformats.org/drawingml/2006/main">
            <a:r>
              <a:t>        "end": "보고서 변경 접수와 메일 보존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"T-S4-01",</a:t>
            </a:r>
          </a:p>
          <a:p xmlns:a="http://schemas.openxmlformats.org/drawingml/2006/main">
            <a:r>
              <a:t>      "start": "최초 사용자 발화 종료",</a:t>
            </a:r>
          </a:p>
          <a:p xmlns:a="http://schemas.openxmlformats.org/drawingml/2006/main">
            <a:r>
              <a:t>      "end": "ReportRevised@v2 최종 전달"</a:t>
            </a:r>
          </a:p>
          <a:p xmlns:a="http://schemas.openxmlformats.org/drawingml/2006/main">
            <a:r>
              <a:t>    },</a:t>
            </a:r>
          </a:p>
          <a:p xmlns:a="http://schemas.openxmlformats.org/drawingml/2006/main">
            <a:r>
              <a:t>    "cycle_exclusion": null,</a:t>
            </a:r>
          </a:p>
          <a:p xmlns:a="http://schemas.openxmlformats.org/drawingml/2006/main">
            <a:r>
              <a:t>    "selection_reason": "부분 정정과 옛 후보의 늦은 반환",</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"S4-02",</a:t>
            </a:r>
          </a:p>
          <a:p xmlns:a="http://schemas.openxmlformats.org/drawingml/2006/main">
            <a:r>
              <a:t>    "name": "음성 중단 뒤 지정 수치 설명",</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8,</a:t>
            </a:r>
          </a:p>
          <a:p xmlns:a="http://schemas.openxmlformats.org/drawingml/2006/main">
            <a:r>
              <a:t>    "reactions": [</a:t>
            </a:r>
          </a:p>
          <a:p xmlns:a="http://schemas.openxmlformats.org/drawingml/2006/main">
            <a:r>
              <a:t>      {</a:t>
            </a:r>
          </a:p>
          <a:p xmlns:a="http://schemas.openxmlformats.org/drawingml/2006/main">
            <a:r>
              <a:t>        "id": "I-S4-02-1",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"T-S4-02",</a:t>
            </a:r>
          </a:p>
          <a:p xmlns:a="http://schemas.openxmlformats.org/drawingml/2006/main">
            <a:r>
              <a:t>      "start": "최초 사용자 발화 종료",</a:t>
            </a:r>
          </a:p>
          <a:p xmlns:a="http://schemas.openxmlformats.org/drawingml/2006/main">
            <a:r>
              <a:t>      "end": "지정 수치의 새 설명 전달"</a:t>
            </a:r>
          </a:p>
          <a:p xmlns:a="http://schemas.openxmlformats.org/drawingml/2006/main">
            <a:r>
              <a:t>    },</a:t>
            </a:r>
          </a:p>
          <a:p xmlns:a="http://schemas.openxmlformats.org/drawingml/2006/main">
            <a:r>
              <a:t>    "cycle_exclusion": null,</a:t>
            </a:r>
          </a:p>
          <a:p xmlns:a="http://schemas.openxmlformats.org/drawingml/2006/main">
            <a:r>
              <a:t>    "selection_reason": "local stop와 새 설명의 분리, input 지속",</a:t>
            </a:r>
          </a:p>
          <a:p xmlns:a="http://schemas.openxmlformats.org/drawingml/2006/main">
            <a:r>
              <a:t>    "sensitive_dps": [</a:t>
            </a:r>
          </a:p>
          <a:p xmlns:a="http://schemas.openxmlformats.org/drawingml/2006/main">
            <a:r>
              <a:t>      "44"</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"S4-03",</a:t>
            </a:r>
          </a:p>
          <a:p xmlns:a="http://schemas.openxmlformats.org/drawingml/2006/main">
            <a:r>
              <a:t>    "name": "특정 업무 취소와 접수 미확인",</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"I-S4-03-1",</a:t>
            </a:r>
          </a:p>
          <a:p xmlns:a="http://schemas.openxmlformats.org/drawingml/2006/main">
            <a:r>
              <a:t>        "start": "발화 종료",</a:t>
            </a:r>
          </a:p>
          <a:p xmlns:a="http://schemas.openxmlformats.org/drawingml/2006/main">
            <a:r>
              <a:t>        "end": "메일 취소 전달/미확인 상태의 정직한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"T-S4-03",</a:t>
            </a:r>
          </a:p>
          <a:p xmlns:a="http://schemas.openxmlformats.org/drawingml/2006/main">
            <a:r>
              <a:t>      "start": "최초 사용자 발화 종료",</a:t>
            </a:r>
          </a:p>
          <a:p xmlns:a="http://schemas.openxmlformats.org/drawingml/2006/main">
            <a:r>
              <a:t>      "end": "명세된 취소 접수/미확인 disposition 전달"</a:t>
            </a:r>
          </a:p>
          <a:p xmlns:a="http://schemas.openxmlformats.org/drawingml/2006/main">
            <a:r>
              <a:t>    },</a:t>
            </a:r>
          </a:p>
          <a:p xmlns:a="http://schemas.openxmlformats.org/drawingml/2006/main">
            <a:r>
              <a:t>    "cycle_exclusion": null,</a:t>
            </a:r>
          </a:p>
          <a:p xmlns:a="http://schemas.openxmlformats.org/drawingml/2006/main">
            <a:r>
              <a:t>    "selection_reason": "hold/취소 접수/외부 미확인의 실제 순서",</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"S5-01",</a:t>
            </a:r>
          </a:p>
          <a:p xmlns:a="http://schemas.openxmlformats.org/drawingml/2006/main">
            <a:r>
              <a:t>    "name": "교차 질문과 철회",</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"I-S5-01-1",</a:t>
            </a:r>
          </a:p>
          <a:p xmlns:a="http://schemas.openxmlformats.org/drawingml/2006/main">
            <a:r>
              <a:t>        "start": "유효 메일 질문 source availability",</a:t>
            </a:r>
          </a:p>
          <a:p xmlns:a="http://schemas.openxmlformats.org/drawingml/2006/main">
            <a:r>
              <a:t>        "end": "올바른 수신자 질문 실제 제시"</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"질문 교차/철회와 실제 제시의 연결",</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"S5-02",</a:t>
            </a:r>
          </a:p>
          <a:p xmlns:a="http://schemas.openxmlformats.org/drawingml/2006/main">
            <a:r>
              <a:t>    "name": "결과 역전과 중복",</a:t>
            </a:r>
          </a:p>
          <a:p xmlns:a="http://schemas.openxmlformats.org/drawingml/2006/main">
            <a:r>
              <a:t>    "trigger": "AGENT",</a:t>
            </a:r>
          </a:p>
          <a:p xmlns:a="http://schemas.openxmlformats.org/drawingml/2006/main">
            <a:r>
              <a:t>    "root_voice_seconds": 0,</a:t>
            </a:r>
          </a:p>
          <a:p xmlns:a="http://schemas.openxmlformats.org/drawingml/2006/main">
            <a:r>
              <a:t>    "planned_followup_seconds": 0,</a:t>
            </a:r>
          </a:p>
          <a:p xmlns:a="http://schemas.openxmlformats.org/drawingml/2006/main">
            <a:r>
              <a:t>    "voice_output_reference_seconds": 6,</a:t>
            </a:r>
          </a:p>
          <a:p xmlns:a="http://schemas.openxmlformats.org/drawingml/2006/main">
            <a:r>
              <a:t>    "reactions": [</a:t>
            </a:r>
          </a:p>
          <a:p xmlns:a="http://schemas.openxmlformats.org/drawingml/2006/main">
            <a:r>
              <a:t>      {</a:t>
            </a:r>
          </a:p>
          <a:p xmlns:a="http://schemas.openxmlformats.org/drawingml/2006/main">
            <a:r>
              <a:t>        "id": "I-S5-02-1",</a:t>
            </a:r>
          </a:p>
          <a:p xmlns:a="http://schemas.openxmlformats.org/drawingml/2006/main">
            <a:r>
              <a:t>        "start": "최신 유효 결과 source availability",</a:t>
            </a:r>
          </a:p>
          <a:p xmlns:a="http://schemas.openxmlformats.org/drawingml/2006/main">
            <a:r>
              <a:t>        "end": "올바른 현재 결과 실제 전달"</a:t>
            </a:r>
          </a:p>
          <a:p xmlns:a="http://schemas.openxmlformats.org/drawingml/2006/main">
            <a:r>
              <a:t>      }</a:t>
            </a:r>
          </a:p>
          <a:p xmlns:a="http://schemas.openxmlformats.org/drawingml/2006/main">
            <a:r>
              <a:t>    ],</a:t>
            </a:r>
          </a:p>
          <a:p xmlns:a="http://schemas.openxmlformats.org/drawingml/2006/main">
            <a:r>
              <a:t>    "cycle": null,</a:t>
            </a:r>
          </a:p>
          <a:p xmlns:a="http://schemas.openxmlformats.org/drawingml/2006/main">
            <a:r>
              <a:t>    "cycle_exclusion": "Agent 발신 질문/결과 처리이며 새 사용자 목표 시작이 아님; 전달 지연은 QA-02로 관측",</a:t>
            </a:r>
          </a:p>
          <a:p xmlns:a="http://schemas.openxmlformats.org/drawingml/2006/main">
            <a:r>
              <a:t>    "selection_reason": "결과 역전/중복의 현재성 및 publication",</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"S5-03",</a:t>
            </a:r>
          </a:p>
          <a:p xmlns:a="http://schemas.openxmlformats.org/drawingml/2006/main">
            <a:r>
              <a:t>    "name": "음성 종료 중 결과와 재연결",</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4,</a:t>
            </a:r>
          </a:p>
          <a:p xmlns:a="http://schemas.openxmlformats.org/drawingml/2006/main">
            <a:r>
              <a:t>    "reactions": [</a:t>
            </a:r>
          </a:p>
          <a:p xmlns:a="http://schemas.openxmlformats.org/drawingml/2006/main">
            <a:r>
              <a:t>      {</a:t>
            </a:r>
          </a:p>
          <a:p xmlns:a="http://schemas.openxmlformats.org/drawingml/2006/main">
            <a:r>
              <a:t>        "id": "I-S5-03-1",</a:t>
            </a:r>
          </a:p>
          <a:p xmlns:a="http://schemas.openxmlformats.org/drawingml/2006/main">
            <a:r>
              <a:t>        "start": "Voice OFF 결과 source availability",</a:t>
            </a:r>
          </a:p>
          <a:p xmlns:a="http://schemas.openxmlformats.org/drawingml/2006/main">
            <a:r>
              <a:t>        "end": "실제 Text 결과 표시"</a:t>
            </a:r>
          </a:p>
          <a:p xmlns:a="http://schemas.openxmlformats.org/drawingml/2006/main">
            <a:r>
              <a:t>      },</a:t>
            </a:r>
          </a:p>
          <a:p xmlns:a="http://schemas.openxmlformats.org/drawingml/2006/main">
            <a:r>
              <a:t>      {</a:t>
            </a:r>
          </a:p>
          <a:p xmlns:a="http://schemas.openxmlformats.org/drawingml/2006/main">
            <a:r>
              <a:t>        "id": "I-S5-03-2",</a:t>
            </a:r>
          </a:p>
          <a:p xmlns:a="http://schemas.openxmlformats.org/drawingml/2006/main">
            <a:r>
              <a:t>        "start": "재연결 요청 발화 종료",</a:t>
            </a:r>
          </a:p>
          <a:p xmlns:a="http://schemas.openxmlformats.org/drawingml/2006/main">
            <a:r>
              <a:t>        "end": "같은 보고서 결과의 실제 Voice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"T-S5-03",</a:t>
            </a:r>
          </a:p>
          <a:p xmlns:a="http://schemas.openxmlformats.org/drawingml/2006/main">
            <a:r>
              <a:t>      "start": "재연결 요청 발화 종료",</a:t>
            </a:r>
          </a:p>
          <a:p xmlns:a="http://schemas.openxmlformats.org/drawingml/2006/main">
            <a:r>
              <a:t>      "end": "재연결 요청에 기존 결과 안내"</a:t>
            </a:r>
          </a:p>
          <a:p xmlns:a="http://schemas.openxmlformats.org/drawingml/2006/main">
            <a:r>
              <a:t>    },</a:t>
            </a:r>
          </a:p>
          <a:p xmlns:a="http://schemas.openxmlformats.org/drawingml/2006/main">
            <a:r>
              <a:t>    "cycle_exclusion": null,</a:t>
            </a:r>
          </a:p>
          <a:p xmlns:a="http://schemas.openxmlformats.org/drawingml/2006/main">
            <a:r>
              <a:t>    "selection_reason": "Voice Connection과 Task/결과의 독립 수명",</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"S5-04",</a:t>
            </a:r>
          </a:p>
          <a:p xmlns:a="http://schemas.openxmlformats.org/drawingml/2006/main">
            <a:r>
              <a:t>    "name": "발화 중 네 Agent 사건과 보고서 정정",</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24,</a:t>
            </a:r>
          </a:p>
          <a:p xmlns:a="http://schemas.openxmlformats.org/drawingml/2006/main">
            <a:r>
              <a:t>    "reactions": [</a:t>
            </a:r>
          </a:p>
          <a:p xmlns:a="http://schemas.openxmlformats.org/drawingml/2006/main">
            <a:r>
              <a:t>      {</a:t>
            </a:r>
          </a:p>
          <a:p xmlns:a="http://schemas.openxmlformats.org/drawingml/2006/main">
            <a:r>
              <a:t>        "id": "I-S5-04-1",</a:t>
            </a:r>
          </a:p>
          <a:p xmlns:a="http://schemas.openxmlformats.org/drawingml/2006/main">
            <a:r>
              <a:t>        "start": "새 발화 acoustic onset",</a:t>
            </a:r>
          </a:p>
          <a:p xmlns:a="http://schemas.openxmlformats.org/drawingml/2006/main">
            <a:r>
              <a:t>        "end": "옛 음성의 마지막 재생 sample"</a:t>
            </a:r>
          </a:p>
          <a:p xmlns:a="http://schemas.openxmlformats.org/drawingml/2006/main">
            <a:r>
              <a:t>      },</a:t>
            </a:r>
          </a:p>
          <a:p xmlns:a="http://schemas.openxmlformats.org/drawingml/2006/main">
            <a:r>
              <a:t>      {</a:t>
            </a:r>
          </a:p>
          <a:p xmlns:a="http://schemas.openxmlformats.org/drawingml/2006/main">
            <a:r>
              <a:t>        "id": "I-S5-04-2",</a:t>
            </a:r>
          </a:p>
          <a:p xmlns:a="http://schemas.openxmlformats.org/drawingml/2006/main">
            <a:r>
              <a:t>        "start": "정정 발화 종료",</a:t>
            </a:r>
          </a:p>
          <a:p xmlns:a="http://schemas.openxmlformats.org/drawingml/2006/main">
            <a:r>
              <a:t>        "end": "올바른 보고서 변경 접수와 메일 보존 안내"</a:t>
            </a:r>
          </a:p>
          <a:p xmlns:a="http://schemas.openxmlformats.org/drawingml/2006/main">
            <a:r>
              <a:t>      },</a:t>
            </a:r>
          </a:p>
          <a:p xmlns:a="http://schemas.openxmlformats.org/drawingml/2006/main">
            <a:r>
              <a:t>      {</a:t>
            </a:r>
          </a:p>
          <a:p xmlns:a="http://schemas.openxmlformats.org/drawingml/2006/main">
            <a:r>
              <a:t>        "id": "I-S5-04-3",</a:t>
            </a:r>
          </a:p>
          <a:p xmlns:a="http://schemas.openxmlformats.org/drawingml/2006/main">
            <a:r>
              <a:t>        "start": "질문A source availability",</a:t>
            </a:r>
          </a:p>
          <a:p xmlns:a="http://schemas.openxmlformats.org/drawingml/2006/main">
            <a:r>
              <a:t>        "end": "질문A 실제 제시"</a:t>
            </a:r>
          </a:p>
          <a:p xmlns:a="http://schemas.openxmlformats.org/drawingml/2006/main">
            <a:r>
              <a:t>      },</a:t>
            </a:r>
          </a:p>
          <a:p xmlns:a="http://schemas.openxmlformats.org/drawingml/2006/main">
            <a:r>
              <a:t>      {</a:t>
            </a:r>
          </a:p>
          <a:p xmlns:a="http://schemas.openxmlformats.org/drawingml/2006/main">
            <a:r>
              <a:t>        "id": "I-S5-04-4",</a:t>
            </a:r>
          </a:p>
          <a:p xmlns:a="http://schemas.openxmlformats.org/drawingml/2006/main">
            <a:r>
              <a:t>        "start": "결과A source availability",</a:t>
            </a:r>
          </a:p>
          <a:p xmlns:a="http://schemas.openxmlformats.org/drawingml/2006/main">
            <a:r>
              <a:t>        "end": "결과A 실제 전달"</a:t>
            </a:r>
          </a:p>
          <a:p xmlns:a="http://schemas.openxmlformats.org/drawingml/2006/main">
            <a:r>
              <a:t>      },</a:t>
            </a:r>
          </a:p>
          <a:p xmlns:a="http://schemas.openxmlformats.org/drawingml/2006/main">
            <a:r>
              <a:t>      {</a:t>
            </a:r>
          </a:p>
          <a:p xmlns:a="http://schemas.openxmlformats.org/drawingml/2006/main">
            <a:r>
              <a:t>        "id": "I-S5-04-5",</a:t>
            </a:r>
          </a:p>
          <a:p xmlns:a="http://schemas.openxmlformats.org/drawingml/2006/main">
            <a:r>
              <a:t>        "start": "질문B source availability",</a:t>
            </a:r>
          </a:p>
          <a:p xmlns:a="http://schemas.openxmlformats.org/drawingml/2006/main">
            <a:r>
              <a:t>        "end": "질문B 실제 제시"</a:t>
            </a:r>
          </a:p>
          <a:p xmlns:a="http://schemas.openxmlformats.org/drawingml/2006/main">
            <a:r>
              <a:t>      },</a:t>
            </a:r>
          </a:p>
          <a:p xmlns:a="http://schemas.openxmlformats.org/drawingml/2006/main">
            <a:r>
              <a:t>      {</a:t>
            </a:r>
          </a:p>
          <a:p xmlns:a="http://schemas.openxmlformats.org/drawingml/2006/main">
            <a:r>
              <a:t>        "id": "I-S5-04-6",</a:t>
            </a:r>
          </a:p>
          <a:p xmlns:a="http://schemas.openxmlformats.org/drawingml/2006/main">
            <a:r>
              <a:t>        "start": "결과B source availability",</a:t>
            </a:r>
          </a:p>
          <a:p xmlns:a="http://schemas.openxmlformats.org/drawingml/2006/main">
            <a:r>
              <a:t>        "end": "결과B 실제 전달"</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"T-S5-04",</a:t>
            </a:r>
          </a:p>
          <a:p xmlns:a="http://schemas.openxmlformats.org/drawingml/2006/main">
            <a:r>
              <a:t>      "start": "최초 사용자 발화 종료",</a:t>
            </a:r>
          </a:p>
          <a:p xmlns:a="http://schemas.openxmlformats.org/drawingml/2006/main">
            <a:r>
              <a:t>      "end": "ReportBurst@v2 전달 및 지정 독립 반응 유지"</a:t>
            </a:r>
          </a:p>
          <a:p xmlns:a="http://schemas.openxmlformats.org/drawingml/2006/main">
            <a:r>
              <a:t>    },</a:t>
            </a:r>
          </a:p>
          <a:p xmlns:a="http://schemas.openxmlformats.org/drawingml/2006/main">
            <a:r>
              <a:t>    "cycle_exclusion": null,</a:t>
            </a:r>
          </a:p>
          <a:p xmlns:a="http://schemas.openxmlformats.org/drawingml/2006/main">
            <a:r>
              <a:t>    "selection_reason": "입력+네 Agent 사건의 queue/join/폐기/동시 할당",</a:t>
            </a:r>
          </a:p>
          <a:p xmlns:a="http://schemas.openxmlformats.org/drawingml/2006/main">
            <a:r>
              <a:t>    "sensitive_dps": [</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"S6-01",</a:t>
            </a:r>
          </a:p>
          <a:p xmlns:a="http://schemas.openxmlformats.org/drawingml/2006/main">
            <a:r>
              <a:t>    "name": "모호한 과거 보고서 확인",</a:t>
            </a:r>
          </a:p>
          <a:p xmlns:a="http://schemas.openxmlformats.org/drawingml/2006/main">
            <a:r>
              <a:t>    "trigger": "USER",</a:t>
            </a:r>
          </a:p>
          <a:p xmlns:a="http://schemas.openxmlformats.org/drawingml/2006/main">
            <a:r>
              <a:t>    "root_voice_seconds": 2,</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"I-S6-01-1",</a:t>
            </a:r>
          </a:p>
          <a:p xmlns:a="http://schemas.openxmlformats.org/drawingml/2006/main">
            <a:r>
              <a:t>        "start": "최초 발화 종료",</a:t>
            </a:r>
          </a:p>
          <a:p xmlns:a="http://schemas.openxmlformats.org/drawingml/2006/main">
            <a:r>
              <a:t>        "end": "보고서 대상/수정 내용 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"T-S6-01",</a:t>
            </a:r>
          </a:p>
          <a:p xmlns:a="http://schemas.openxmlformats.org/drawingml/2006/main">
            <a:r>
              <a:t>      "start": "최초 사용자 발화 종료",</a:t>
            </a:r>
          </a:p>
          <a:p xmlns:a="http://schemas.openxmlformats.org/drawingml/2006/main">
            <a:r>
              <a:t>      "end": "ConfirmedRevision@v2 최종 전달"</a:t>
            </a:r>
          </a:p>
          <a:p xmlns:a="http://schemas.openxmlformats.org/drawingml/2006/main">
            <a:r>
              <a:t>    },</a:t>
            </a:r>
          </a:p>
          <a:p xmlns:a="http://schemas.openxmlformats.org/drawingml/2006/main">
            <a:r>
              <a:t>    "cycle_exclusion": null,</a:t>
            </a:r>
          </a:p>
          <a:p xmlns:a="http://schemas.openxmlformats.org/drawingml/2006/main">
            <a:r>
              <a:t>    "selection_reason": "모호한 대상의 확인과 후속 변경 전체 cycle",</a:t>
            </a:r>
          </a:p>
          <a:p xmlns:a="http://schemas.openxmlformats.org/drawingml/2006/main">
            <a:r>
              <a:t>    "sensitive_dps": [</a:t>
            </a:r>
          </a:p>
          <a:p xmlns:a="http://schemas.openxmlformats.org/drawingml/2006/main">
            <a:r>
              <a:t>      "41",</a:t>
            </a:r>
          </a:p>
          <a:p xmlns:a="http://schemas.openxmlformats.org/drawingml/2006/main">
            <a:r>
              <a:t>      "45"</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"S6-02",</a:t>
            </a:r>
          </a:p>
          <a:p xmlns:a="http://schemas.openxmlformats.org/drawingml/2006/main">
            <a:r>
              <a:t>    "name": "철회된 질문 답변과 승인 범위",</a:t>
            </a:r>
          </a:p>
          <a:p xmlns:a="http://schemas.openxmlformats.org/drawingml/2006/main">
            <a:r>
              <a:t>    "trigger": "USER",</a:t>
            </a:r>
          </a:p>
          <a:p xmlns:a="http://schemas.openxmlformats.org/drawingml/2006/main">
            <a:r>
              <a:t>    "root_voice_seconds": 1,</a:t>
            </a:r>
          </a:p>
          <a:p xmlns:a="http://schemas.openxmlformats.org/drawingml/2006/main">
            <a:r>
              <a:t>    "planned_followup_seconds": 3,</a:t>
            </a:r>
          </a:p>
          <a:p xmlns:a="http://schemas.openxmlformats.org/drawingml/2006/main">
            <a:r>
              <a:t>    "voice_output_reference_seconds": 14,</a:t>
            </a:r>
          </a:p>
          <a:p xmlns:a="http://schemas.openxmlformats.org/drawingml/2006/main">
            <a:r>
              <a:t>    "reactions": [</a:t>
            </a:r>
          </a:p>
          <a:p xmlns:a="http://schemas.openxmlformats.org/drawingml/2006/main">
            <a:r>
              <a:t>      {</a:t>
            </a:r>
          </a:p>
          <a:p xmlns:a="http://schemas.openxmlformats.org/drawingml/2006/main">
            <a:r>
              <a:t>        "id": "I-S6-02-1",</a:t>
            </a:r>
          </a:p>
          <a:p xmlns:a="http://schemas.openxmlformats.org/drawingml/2006/main">
            <a:r>
              <a:t>        "start": "최초 발화 종료",</a:t>
            </a:r>
          </a:p>
          <a:p xmlns:a="http://schemas.openxmlformats.org/drawingml/2006/main">
            <a:r>
              <a:t>        "end": "현재 정보 동의의 재확인 질문 실제 제시"</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"T-S6-02",</a:t>
            </a:r>
          </a:p>
          <a:p xmlns:a="http://schemas.openxmlformats.org/drawingml/2006/main">
            <a:r>
              <a:t>      "start": "최초 사용자 발화 종료",</a:t>
            </a:r>
          </a:p>
          <a:p xmlns:a="http://schemas.openxmlformats.org/drawingml/2006/main">
            <a:r>
              <a:t>      "end": "허용된 연락처 제공/발송 미승인 확인 전달"</a:t>
            </a:r>
          </a:p>
          <a:p xmlns:a="http://schemas.openxmlformats.org/drawingml/2006/main">
            <a:r>
              <a:t>    },</a:t>
            </a:r>
          </a:p>
          <a:p xmlns:a="http://schemas.openxmlformats.org/drawingml/2006/main">
            <a:r>
              <a:t>    "cycle_exclusion": null,</a:t>
            </a:r>
          </a:p>
          <a:p xmlns:a="http://schemas.openxmlformats.org/drawingml/2006/main">
            <a:r>
              <a:t>    "selection_reason": "미제시/철회 질문의 답변과 승인 scope 분리",</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"44"</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  {</a:t>
            </a:r>
          </a:p>
          <a:p xmlns:a="http://schemas.openxmlformats.org/drawingml/2006/main">
            <a:r>
              <a:t>    "case_id": "S6-03",</a:t>
            </a:r>
          </a:p>
          <a:p xmlns:a="http://schemas.openxmlformats.org/drawingml/2006/main">
            <a:r>
              <a:t>    "name": "필요한 자료의 접근 거부",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"I-S6-03-1",</a:t>
            </a:r>
          </a:p>
          <a:p xmlns:a="http://schemas.openxmlformats.org/drawingml/2006/main">
            <a:r>
              <a:t>        "start": "발화 종료",</a:t>
            </a:r>
          </a:p>
          <a:p xmlns:a="http://schemas.openxmlformats.org/drawingml/2006/main">
            <a:r>
              <a:t>        "end": "접근 권한 부족/금액 확인 불가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"T-S6-03",</a:t>
            </a:r>
          </a:p>
          <a:p xmlns:a="http://schemas.openxmlformats.org/drawingml/2006/main">
            <a:r>
              <a:t>      "start": "최초 사용자 발화 종료",</a:t>
            </a:r>
          </a:p>
          <a:p xmlns:a="http://schemas.openxmlformats.org/drawingml/2006/main">
            <a:r>
              <a:t>      "end": "접근 거부와 확인 불가의 정당한 처리 전달"</a:t>
            </a:r>
          </a:p>
          <a:p xmlns:a="http://schemas.openxmlformats.org/drawingml/2006/main">
            <a:r>
              <a:t>    },</a:t>
            </a:r>
          </a:p>
          <a:p xmlns:a="http://schemas.openxmlformats.org/drawingml/2006/main">
            <a:r>
              <a:t>    "cycle_exclusion": null,</a:t>
            </a:r>
          </a:p>
          <a:p xmlns:a="http://schemas.openxmlformats.org/drawingml/2006/main">
            <a:r>
              <a:t>    "selection_reason": "허용 부족에서 조기 차단되는 공통 기준",</a:t>
            </a:r>
          </a:p>
          <a:p xmlns:a="http://schemas.openxmlformats.org/drawingml/2006/main">
            <a:r>
              <a:t>    "sensitive_dps": [</a:t>
            </a:r>
          </a:p>
          <a:p xmlns:a="http://schemas.openxmlformats.org/drawingml/2006/main">
            <a:r>
              <a:t>      "41",</a:t>
            </a:r>
          </a:p>
          <a:p xmlns:a="http://schemas.openxmlformats.org/drawingml/2006/main">
            <a:r>
              <a:t>      "42",</a:t>
            </a:r>
          </a:p>
          <a:p xmlns:a="http://schemas.openxmlformats.org/drawingml/2006/main">
            <a:r>
              <a:t>      "45"</a:t>
            </a:r>
          </a:p>
          <a:p xmlns:a="http://schemas.openxmlformats.org/drawingml/2006/main">
            <a:r>
              <a:t>    ],</a:t>
            </a:r>
          </a:p>
          <a:p xmlns:a="http://schemas.openxmlformats.org/drawingml/2006/main">
            <a:r>
              <a:t>    "selection_role": "CONTROL"</a:t>
            </a:r>
          </a:p>
          <a:p xmlns:a="http://schemas.openxmlformats.org/drawingml/2006/main">
            <a:r>
              <a:t>  },</a:t>
            </a:r>
          </a:p>
          <a:p xmlns:a="http://schemas.openxmlformats.org/drawingml/2006/main">
            <a:r>
              <a:t>  {</a:t>
            </a:r>
          </a:p>
          <a:p xmlns:a="http://schemas.openxmlformats.org/drawingml/2006/main">
            <a:r>
              <a:t>    "case_id": "S6-04",</a:t>
            </a:r>
          </a:p>
          <a:p xmlns:a="http://schemas.openxmlformats.org/drawingml/2006/main">
            <a:r>
              <a:t>    "name": "실제 제시된 유효 질문에 답변",</a:t>
            </a:r>
          </a:p>
          <a:p xmlns:a="http://schemas.openxmlformats.org/drawingml/2006/main">
            <a:r>
              <a:t>    "trigger": "USER",</a:t>
            </a:r>
          </a:p>
          <a:p xmlns:a="http://schemas.openxmlformats.org/drawingml/2006/main">
            <a:r>
              <a:t>    "root_voice_seconds": 2,</a:t>
            </a:r>
          </a:p>
          <a:p xmlns:a="http://schemas.openxmlformats.org/drawingml/2006/main">
            <a:r>
              <a:t>    "planned_followup_seconds": 0,</a:t>
            </a:r>
          </a:p>
          <a:p xmlns:a="http://schemas.openxmlformats.org/drawingml/2006/main">
            <a:r>
              <a:t>    "voice_output_reference_seconds": 5,</a:t>
            </a:r>
          </a:p>
          <a:p xmlns:a="http://schemas.openxmlformats.org/drawingml/2006/main">
            <a:r>
              <a:t>    "reactions": [</a:t>
            </a:r>
          </a:p>
          <a:p xmlns:a="http://schemas.openxmlformats.org/drawingml/2006/main">
            <a:r>
              <a:t>      {</a:t>
            </a:r>
          </a:p>
          <a:p xmlns:a="http://schemas.openxmlformats.org/drawingml/2006/main">
            <a:r>
              <a:t>        "id": "I-S6-04-1",</a:t>
            </a:r>
          </a:p>
          <a:p xmlns:a="http://schemas.openxmlformats.org/drawingml/2006/main">
            <a:r>
              <a:t>        "start": "발화 종료",</a:t>
            </a:r>
          </a:p>
          <a:p xmlns:a="http://schemas.openxmlformats.org/drawingml/2006/main">
            <a:r>
              <a:t>        "end": "상반기 답변의 실제 접수와 기간 안내"</a:t>
            </a:r>
          </a:p>
          <a:p xmlns:a="http://schemas.openxmlformats.org/drawingml/2006/main">
            <a:r>
              <a:t>      }</a:t>
            </a:r>
          </a:p>
          <a:p xmlns:a="http://schemas.openxmlformats.org/drawingml/2006/main">
            <a:r>
              <a:t>    ],</a:t>
            </a:r>
          </a:p>
          <a:p xmlns:a="http://schemas.openxmlformats.org/drawingml/2006/main">
            <a:r>
              <a:t>    "cycle": {</a:t>
            </a:r>
          </a:p>
          <a:p xmlns:a="http://schemas.openxmlformats.org/drawingml/2006/main">
            <a:r>
              <a:t>      "id": "T-S6-04",</a:t>
            </a:r>
          </a:p>
          <a:p xmlns:a="http://schemas.openxmlformats.org/drawingml/2006/main">
            <a:r>
              <a:t>      "start": "최초 사용자 발화 종료",</a:t>
            </a:r>
          </a:p>
          <a:p xmlns:a="http://schemas.openxmlformats.org/drawingml/2006/main">
            <a:r>
              <a:t>      "end": "유효 기간 답변의 접수/확정 안내"</a:t>
            </a:r>
          </a:p>
          <a:p xmlns:a="http://schemas.openxmlformats.org/drawingml/2006/main">
            <a:r>
              <a:t>    },</a:t>
            </a:r>
          </a:p>
          <a:p xmlns:a="http://schemas.openxmlformats.org/drawingml/2006/main">
            <a:r>
              <a:t>    "cycle_exclusion": null,</a:t>
            </a:r>
          </a:p>
          <a:p xmlns:a="http://schemas.openxmlformats.org/drawingml/2006/main">
            <a:r>
              <a:t>    "selection_reason": "유효 질문 답변의 정상 조회/확정/receipt 비용",</a:t>
            </a:r>
          </a:p>
          <a:p xmlns:a="http://schemas.openxmlformats.org/drawingml/2006/main">
            <a:r>
              <a:t>    "sensitive_dps": [</a:t>
            </a:r>
          </a:p>
          <a:p xmlns:a="http://schemas.openxmlformats.org/drawingml/2006/main">
            <a:r>
              <a:t>      "42"</a:t>
            </a:r>
          </a:p>
          <a:p xmlns:a="http://schemas.openxmlformats.org/drawingml/2006/main">
            <a:r>
              <a:t>    ],</a:t>
            </a:r>
          </a:p>
          <a:p xmlns:a="http://schemas.openxmlformats.org/drawingml/2006/main">
            <a:r>
              <a:t>    "selection_role": "SENSITIVE"</a:t>
            </a:r>
          </a:p>
          <a:p xmlns:a="http://schemas.openxmlformats.org/drawingml/2006/main">
            <a:r>
              <a:t>  }</a:t>
            </a:r>
          </a:p>
          <a:p xmlns:a="http://schemas.openxmlformats.org/drawingml/2006/main">
            <a:r>
              <a:t>]</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 8.0 P21 공통 활동과 관측 대응</a:t>
            </a:r>
          </a:p>
          <a:p xmlns:a="http://schemas.openxmlformats.org/drawingml/2006/main">
            <a:r>
              <a:t/>
            </a:r>
          </a:p>
          <a:p xmlns:a="http://schemas.openxmlformats.org/drawingml/2006/main">
            <a: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p>
          <a:p xmlns:a="http://schemas.openxmlformats.org/drawingml/2006/main">
            <a:r>
              <a:t/>
            </a:r>
          </a:p>
          <a:p xmlns:a="http://schemas.openxmlformats.org/drawingml/2006/main">
            <a:r>
              <a:t>| 사례 | 분류 | 최초 입력 초 | 후속 답변 초 | 음성 출력 예산 초 | I 수 | T 수 |</a:t>
            </a:r>
          </a:p>
          <a:p xmlns:a="http://schemas.openxmlformats.org/drawingml/2006/main">
            <a:r>
              <a:t>| --- | --- | --- | --- | --- | --- | --- |</a:t>
            </a:r>
          </a:p>
          <a:p xmlns:a="http://schemas.openxmlformats.org/drawingml/2006/main">
            <a:r>
              <a:t>| S1-01 | 사용자 | 2 | 0 | 3 | 1 | 1 |</a:t>
            </a:r>
          </a:p>
          <a:p xmlns:a="http://schemas.openxmlformats.org/drawingml/2006/main">
            <a:r>
              <a:t>| S1-02 | 사용자 | 3 | 0 | 8 | 1 | 1 |</a:t>
            </a:r>
          </a:p>
          <a:p xmlns:a="http://schemas.openxmlformats.org/drawingml/2006/main">
            <a:r>
              <a:t>| S2-01 | 사용자 | 2 | 0 | 5 | 1 | 1 |</a:t>
            </a:r>
          </a:p>
          <a:p xmlns:a="http://schemas.openxmlformats.org/drawingml/2006/main">
            <a:r>
              <a:t>| S2-02 | 사용자 | 3 | 0 | 18 | 1 | 1 |</a:t>
            </a:r>
          </a:p>
          <a:p xmlns:a="http://schemas.openxmlformats.org/drawingml/2006/main">
            <a:r>
              <a:t>| S2-03 | 사용자 | 2 | 0 | 4 | 1 | 1 |</a:t>
            </a:r>
          </a:p>
          <a:p xmlns:a="http://schemas.openxmlformats.org/drawingml/2006/main">
            <a:r>
              <a:t>| S2-04 | 사용자 | 3 | 0 | 10 | 1 | 1 |</a:t>
            </a:r>
          </a:p>
          <a:p xmlns:a="http://schemas.openxmlformats.org/drawingml/2006/main">
            <a:r>
              <a:t>| S2-05 | 사용자 | 3 | 0 | 10 | 1 | 1 |</a:t>
            </a:r>
          </a:p>
          <a:p xmlns:a="http://schemas.openxmlformats.org/drawingml/2006/main">
            <a:r>
              <a:t>| S3-01 | 사용자 | 3 | 0 | 6 | 1 | 1 |</a:t>
            </a:r>
          </a:p>
          <a:p xmlns:a="http://schemas.openxmlformats.org/drawingml/2006/main">
            <a:r>
              <a:t>| S3-02 | 사용자 | 3 | 0 | 10 | 1 | 1 |</a:t>
            </a:r>
          </a:p>
          <a:p xmlns:a="http://schemas.openxmlformats.org/drawingml/2006/main">
            <a:r>
              <a:t>| S3-03 | 사용자 | 3 | 0 | 6 | 1 | 1 |</a:t>
            </a:r>
          </a:p>
          <a:p xmlns:a="http://schemas.openxmlformats.org/drawingml/2006/main">
            <a:r>
              <a:t>| S4-01 | 사용자 | 2 | 0 | 9 | 1 | 1 |</a:t>
            </a:r>
          </a:p>
          <a:p xmlns:a="http://schemas.openxmlformats.org/drawingml/2006/main">
            <a:r>
              <a:t>| S4-02 | 사용자 | 2 | 0 | 8 | 1 | 1 |</a:t>
            </a:r>
          </a:p>
          <a:p xmlns:a="http://schemas.openxmlformats.org/drawingml/2006/main">
            <a:r>
              <a:t>| S4-03 | 사용자 | 2 | 0 | 5 | 1 | 1 |</a:t>
            </a:r>
          </a:p>
          <a:p xmlns:a="http://schemas.openxmlformats.org/drawingml/2006/main">
            <a:r>
              <a:t>| S5-01 | Agent | 0 | 0 | 5 | 1 | 0 |</a:t>
            </a:r>
          </a:p>
          <a:p xmlns:a="http://schemas.openxmlformats.org/drawingml/2006/main">
            <a:r>
              <a:t>| S5-02 | Agent | 0 | 0 | 6 | 1 | 0 |</a:t>
            </a:r>
          </a:p>
          <a:p xmlns:a="http://schemas.openxmlformats.org/drawingml/2006/main">
            <a:r>
              <a:t>| S5-03 | 사용자 | 2 | 0 | 4 | 2 | 1 |</a:t>
            </a:r>
          </a:p>
          <a:p xmlns:a="http://schemas.openxmlformats.org/drawingml/2006/main">
            <a:r>
              <a:t>| S5-04 | 사용자 | 2 | 0 | 24 | 6 | 1 |</a:t>
            </a:r>
          </a:p>
          <a:p xmlns:a="http://schemas.openxmlformats.org/drawingml/2006/main">
            <a:r>
              <a:t>| S6-01 | 사용자 | 2 | 3 | 14 | 1 | 1 |</a:t>
            </a:r>
          </a:p>
          <a:p xmlns:a="http://schemas.openxmlformats.org/drawingml/2006/main">
            <a:r>
              <a:t>| S6-02 | 사용자 | 1 | 3 | 14 | 1 | 1 |</a:t>
            </a:r>
          </a:p>
          <a:p xmlns:a="http://schemas.openxmlformats.org/drawingml/2006/main">
            <a:r>
              <a:t>| S6-03 | 사용자 | 2 | 0 | 5 | 1 | 1 |</a:t>
            </a:r>
          </a:p>
          <a:p xmlns:a="http://schemas.openxmlformats.org/drawingml/2006/main">
            <a:r>
              <a:t>| S6-04 | 사용자 | 2 | 0 | 5 | 1 | 1 |</a:t>
            </a:r>
          </a:p>
          <a:p xmlns:a="http://schemas.openxmlformats.org/drawingml/2006/main">
            <a:r>
              <a:t/>
            </a:r>
          </a:p>
          <a:p xmlns:a="http://schemas.openxmlformats.org/drawingml/2006/main">
            <a: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982d113219244f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50cf9681c2444c1" /><Relationship Type="http://schemas.openxmlformats.org/officeDocument/2006/relationships/slideLayout" Target="/ppt/slideLayouts/slideLayout1.xml" Id="Rde7ea5707da041f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e7ea5707da041f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bd0c829a7a4414f" /><Relationship Type="http://schemas.openxmlformats.org/officeDocument/2006/relationships/notesSlide" Target="/ppt/notesSlides/notesSlide1.xml" Id="R9c4eff4d2c8b47a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97244093f7445f4" /><Relationship Type="http://schemas.openxmlformats.org/officeDocument/2006/relationships/notesSlide" Target="/ppt/notesSlides/notesSlide2.xml" Id="Re95801e55ba9499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f4b8f2ee8864f4d" /><Relationship Type="http://schemas.openxmlformats.org/officeDocument/2006/relationships/notesSlide" Target="/ppt/notesSlides/notesSlide3.xml" Id="R9bb28834bc5a458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1818674f3664f68" /><Relationship Type="http://schemas.openxmlformats.org/officeDocument/2006/relationships/notesSlide" Target="/ppt/notesSlides/notesSlide4.xml" Id="R2715de1903a343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ce1c6923ce542ed" /><Relationship Type="http://schemas.openxmlformats.org/officeDocument/2006/relationships/notesSlide" Target="/ppt/notesSlides/notesSlide5.xml" Id="Ref86cf19c448496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fae7609afef4865" /><Relationship Type="http://schemas.openxmlformats.org/officeDocument/2006/relationships/notesSlide" Target="/ppt/notesSlides/notesSlide6.xml" Id="R1996570e8ef942a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47CE8688-3661-4B8B-A80F-49A162EB72D9}"/>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D4AD2557-8A81-4DEF-9C99-F53DA12F37C7}"/>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84569FCD-A206-4FF9-87AE-E5888629FFF6}"/>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1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Accuracy</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요청 처리</a:t>
                      </a:r>
                    </a:p>
                    <a:p>
                      <a:pPr algn="ctr"/>
                      <a:r>
                        <a:rPr sz="2475" b="0">
                          <a:solidFill>
                            <a:srgbClr val="222A35"/>
                          </a:solidFill>
                          <a:latin typeface="Apple SD Gothic Neo"/>
                          <a:ea typeface="Apple SD Gothic Neo"/>
                          <a:cs typeface="Apple SD Gothic Neo"/>
                        </a:rPr>
                        <a:t>정확성</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사용자의 의도와 확인된 사실에 맞게 요청을 처리하는 능력</a:t>
                      </a:r>
                    </a:p>
                    <a:p>
                      <a:pPr algn="l"/>
                      <a:r>
                        <a:rPr sz="2325" b="1">
                          <a:solidFill>
                            <a:srgbClr val="43AACC"/>
                          </a:solidFill>
                          <a:latin typeface="Apple SD Gothic Neo"/>
                          <a:ea typeface="Apple SD Gothic Neo"/>
                          <a:cs typeface="Apple SD Gothic Neo"/>
                        </a:rPr>
                        <a:t>필수 정답 조건 충족률 ≥ 98%</a:t>
                      </a:r>
                    </a:p>
                    <a:p>
                      <a:pPr algn="l"/>
                      <a:r>
                        <a:rPr sz="1875" b="0">
                          <a:solidFill>
                            <a:srgbClr val="56606B"/>
                          </a:solidFill>
                          <a:latin typeface="Apple SD Gothic Neo"/>
                          <a:ea typeface="Apple SD Gothic Neo"/>
                          <a:cs typeface="Apple SD Gothic Neo"/>
                        </a:rPr>
                        <a:t>측정: 21개 Voice/Agent 사례 × 5회 × 6조건 = 630개</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EEEC64F5-C40D-42CE-86AF-11E3B64A7790}"/>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ASR-QA-01</a:t>
            </a:r>
          </a:p>
        </p:txBody>
      </p:sp>
      <p:sp>
        <p:nvSpPr>
          <p:cNvPr id="6" name="basis-label">
            <a:extLst xmlns:a="http://schemas.openxmlformats.org/drawingml/2006/main">
              <a:ext uri="{FF2B5EF4-FFF2-40B4-BE49-F238E27FC236}">
                <a16:creationId xmlns:a16="http://schemas.microsoft.com/office/drawing/2014/main" id="{62B1E2E7-A03B-4B57-8846-10B37C7A1461}"/>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E9D321D9-413C-47F0-B4A5-DAFDD228F9FF}"/>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VIA는 업무, 근거, 조건과 실제 전달을 연결한다.</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잘못 연결하면 사용자가 업무를 다시 식별하고 수정해야 한다.</a:t>
            </a:r>
          </a:p>
        </p:txBody>
      </p:sp>
      <p:sp>
        <p:nvSpPr>
          <p:cNvPr id="8" name="choice">
            <a:extLst xmlns:a="http://schemas.openxmlformats.org/drawingml/2006/main">
              <a:ext uri="{FF2B5EF4-FFF2-40B4-BE49-F238E27FC236}">
                <a16:creationId xmlns:a16="http://schemas.microsoft.com/office/drawing/2014/main" id="{554BA434-C7F1-411D-B025-1536E3683FC1}"/>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필수 조건 오류 ≤2%, 전체 시나리오 실패 ≤5%를 선택.</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21개 모든 사례와 재사용/집중 도착/최종 tail을 채점.</a:t>
            </a:r>
          </a:p>
        </p:txBody>
      </p:sp>
      <p:sp>
        <p:nvSpPr>
          <p:cNvPr id="9" name="calculation-title">
            <a:extLst xmlns:a="http://schemas.openxmlformats.org/drawingml/2006/main">
              <a:ext uri="{FF2B5EF4-FFF2-40B4-BE49-F238E27FC236}">
                <a16:creationId xmlns:a16="http://schemas.microsoft.com/office/drawing/2014/main" id="{4B3C3E28-A321-460C-88C1-01DAFCC5E8FB}"/>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19050" marB="190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19050" marB="190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대표 분모</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21 × 5 × 6 = 630조건, 모든 필수 사실 통과 시 1</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대표 목표</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정답 618개 이상 / 오답 최대 12개</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시나리오 보호</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6조건 모두 정답인 시나리오 ≥100/105</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S / C 보호</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상황군별 / 조건 유형별 각각 ≥95%</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필수 위반</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무관 업무/중복 효과/잘못된 승인/무허용 사용 0건</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평균 ≥1pp + 5쌍 같은 방향; 원값/최소/최대 공개</a:t>
                      </a:r>
                    </a:p>
                  </a:txBody>
                  <a:tcPr marL="133350" marR="114300" marT="19050" marB="190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6516019A-5B20-49E5-B659-6F6A9F7B8183}"/>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21개 명세/6조건/최종 tail은 03-02 §3·8.2.</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실제 출력으로 채점하며 가정 정답률을 생성하지 않음.</a:t>
            </a:r>
          </a:p>
        </p:txBody>
      </p:sp>
      <p:sp>
        <p:nvSpPr>
          <p:cNvPr id="12" name="score-label">
            <a:extLst xmlns:a="http://schemas.openxmlformats.org/drawingml/2006/main">
              <a:ext uri="{FF2B5EF4-FFF2-40B4-BE49-F238E27FC236}">
                <a16:creationId xmlns:a16="http://schemas.microsoft.com/office/drawing/2014/main" id="{CB8C6C95-485F-4842-AEAC-C362C7A081E5}"/>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정확히 100%</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99.6% ≤ x &lt; 100%</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99.2% ≤ x &lt; 99.6%</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98.8% ≤ x &lt; 99.2%</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98.4% ≤ x &lt; 98.8%</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98% ≤ x &lt; 98.4%</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0% ≤ x &lt; 98%</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9E522A40-FB11-4B30-BE7A-FFAFB9D45CF4}"/>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전체/S/C ≥95%, 필수 위반 0건</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79C1106D-422A-4843-A6F6-AA1273AA5865}"/>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VIA 고정 기능/UC / 목표와 등급은 작성자 PoC 규칙, 실측 전</a:t>
            </a:r>
          </a:p>
        </p:txBody>
      </p:sp>
    </p:spTree>
    <p:extLst>
      <p:ext uri="{BB962C8B-B14F-4D97-AF65-F5344CB8AC3E}">
        <p14:creationId xmlns:p14="http://schemas.microsoft.com/office/powerpoint/2010/main" val="160221768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DD4D46E8-F043-434F-9DB8-E4288BA57BAB}"/>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26B567B7-2FC0-41BC-A3D1-7E3A674A5413}"/>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68BB991C-8FA5-4088-8609-180EFFAEF34E}"/>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2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Performance</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상호작용</a:t>
                      </a:r>
                    </a:p>
                    <a:p>
                      <a:pPr algn="ctr"/>
                      <a:r>
                        <a:rPr sz="2475" b="0">
                          <a:solidFill>
                            <a:srgbClr val="222A35"/>
                          </a:solidFill>
                          <a:latin typeface="Apple SD Gothic Neo"/>
                          <a:ea typeface="Apple SD Gothic Neo"/>
                          <a:cs typeface="Apple SD Gothic Neo"/>
                        </a:rPr>
                        <a:t>응답시간</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사용자 입력이나 업무 상태 변화에 VIA가 알맞은 답변이나 동작으로 반응하기까지 걸리는 시간 (예: VIA가 말하는 중 사용자 끼어들기 → 음성 재생 중단, Agent의 확인 질문 도착 → 사용자에게 질문 제시)</a:t>
                      </a:r>
                    </a:p>
                    <a:p>
                      <a:pPr algn="l"/>
                      <a:r>
                        <a:rPr sz="2325" b="1">
                          <a:solidFill>
                            <a:srgbClr val="43AACC"/>
                          </a:solidFill>
                          <a:latin typeface="Apple SD Gothic Neo"/>
                          <a:ea typeface="Apple SD Gothic Neo"/>
                          <a:cs typeface="Apple SD Gothic Neo"/>
                        </a:rPr>
                        <a:t>평균 상호작용 응답시간 ≤ 1초</a:t>
                      </a:r>
                    </a:p>
                    <a:p>
                      <a:pPr algn="l"/>
                      <a:r>
                        <a:rPr sz="1875" b="0">
                          <a:solidFill>
                            <a:srgbClr val="56606B"/>
                          </a:solidFill>
                          <a:latin typeface="Apple SD Gothic Neo"/>
                          <a:ea typeface="Apple SD Gothic Neo"/>
                          <a:cs typeface="Apple SD Gothic Neo"/>
                        </a:rPr>
                        <a:t>측정: 모든 사례의 지정 반응 27개 × 5회 = 135관측</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18C6A487-5399-4339-9D88-991786F97093}"/>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ASR-QA-02</a:t>
            </a:r>
          </a:p>
        </p:txBody>
      </p:sp>
      <p:sp>
        <p:nvSpPr>
          <p:cNvPr id="6" name="basis-label">
            <a:extLst xmlns:a="http://schemas.openxmlformats.org/drawingml/2006/main">
              <a:ext uri="{FF2B5EF4-FFF2-40B4-BE49-F238E27FC236}">
                <a16:creationId xmlns:a16="http://schemas.microsoft.com/office/drawing/2014/main" id="{FB062A11-C927-426C-826C-F72BC834CF9E}"/>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ED5819EA-ED31-420C-BDD9-66F579E9927F}"/>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Nielsen 응답시간 참조: 즉각 제어 0.1초,</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대화 흐름 1초, 주의 유지 10초.</a:t>
            </a:r>
          </a:p>
        </p:txBody>
      </p:sp>
      <p:sp>
        <p:nvSpPr>
          <p:cNvPr id="8" name="choice">
            <a:extLst xmlns:a="http://schemas.openxmlformats.org/drawingml/2006/main">
              <a:ext uri="{FF2B5EF4-FFF2-40B4-BE49-F238E27FC236}">
                <a16:creationId xmlns:a16="http://schemas.microsoft.com/office/drawing/2014/main" id="{07F1584E-F51A-4E1E-B596-E35CA21744B0}"/>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평균 1초, local stop 0.1초를 과제 예산으로 선택.</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생성률 100/200/400 token/s는 가정, 목표 달성 미입증.</a:t>
            </a:r>
          </a:p>
        </p:txBody>
      </p:sp>
      <p:sp>
        <p:nvSpPr>
          <p:cNvPr id="9" name="calculation-title">
            <a:extLst xmlns:a="http://schemas.openxmlformats.org/drawingml/2006/main">
              <a:ext uri="{FF2B5EF4-FFF2-40B4-BE49-F238E27FC236}">
                <a16:creationId xmlns:a16="http://schemas.microsoft.com/office/drawing/2014/main" id="{2F7E2E3C-486D-4A57-A767-68824EF4C07E}"/>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19050" marB="190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19050" marB="190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시작</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발화 끝 / Agent 원천 도착 / 끼어들기 onset</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종료</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실제 제어 효과 또는 Text + 첫 핵심 음성</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대표 집계</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21개 사례의 27반응 × 5회 = 135관측</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일반 / 집중</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일반 ≥110/115회 ≤2초; 집중 30회 전부 ≤5초</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실패 / stop</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미전달 0건, 실패 5초 cap; stop 10회 모두 ≤0.1초</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평균 ≥0.10초 + 5쌍 같은 방향; 귀속 DAG 공개</a:t>
                      </a:r>
                    </a:p>
                  </a:txBody>
                  <a:tcPr marL="133350" marR="114300" marT="19050" marB="190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23461DD5-C753-466B-BA20-E553E7DF6E1D}"/>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모든 사례 → 반응 mapping은 요약 4~6장과 03-02 §3.2.</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사건 평균의 비중과 사례별 값/voice queue도 공개.</a:t>
            </a:r>
          </a:p>
        </p:txBody>
      </p:sp>
      <p:sp>
        <p:nvSpPr>
          <p:cNvPr id="12" name="score-label">
            <a:extLst xmlns:a="http://schemas.openxmlformats.org/drawingml/2006/main">
              <a:ext uri="{FF2B5EF4-FFF2-40B4-BE49-F238E27FC236}">
                <a16:creationId xmlns:a16="http://schemas.microsoft.com/office/drawing/2014/main" id="{E6011057-213F-4826-A2DE-F979D8DECF08}"/>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 ≤ x ≤ 0.2초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0.2초 &lt; x ≤ 0.36초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0.36초 &lt; x ≤ 0.52초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0.52초 &lt; x ≤ 0.68초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0.68초 &lt; x ≤ 0.84초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0.84초 &lt; x ≤ 1초</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x &gt; 1초</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35935E4A-30C7-477C-958F-DCC14BBF3854}"/>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일반 ≥110/115 ≤2초; 집중 30/30 ≤5초; stop ≤0.1초</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6EFA9E66-C777-4928-AEF9-028DF719448F}"/>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Nielsen Norman Group 응답시간 / Google Gemini 3 Flash 공식 단가 / 목표와 등급은 작성자 PoC 규칙, 실측 전</a:t>
            </a:r>
          </a:p>
        </p:txBody>
      </p:sp>
    </p:spTree>
    <p:extLst>
      <p:ext uri="{BB962C8B-B14F-4D97-AF65-F5344CB8AC3E}">
        <p14:creationId xmlns:p14="http://schemas.microsoft.com/office/powerpoint/2010/main" val="184603129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D7A796C3-85A1-4745-9A3B-F3A898BB3C8F}"/>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D5C6AAF7-6DD1-4935-905A-9B2ED9C1BC3D}"/>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77CA8210-78D1-4449-A3DB-39F7BF7B8C88}"/>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3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Performance</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VIA 요청</a:t>
                      </a:r>
                    </a:p>
                    <a:p>
                      <a:pPr algn="ctr"/>
                      <a:r>
                        <a:rPr sz="2475" b="0">
                          <a:solidFill>
                            <a:srgbClr val="222A35"/>
                          </a:solidFill>
                          <a:latin typeface="Apple SD Gothic Neo"/>
                          <a:ea typeface="Apple SD Gothic Neo"/>
                          <a:cs typeface="Apple SD Gothic Neo"/>
                        </a:rPr>
                        <a:t>처리시간</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요청 접수부터 최종 결과 전달까지, VIA의 처리와 대기로 걸리는 시간 (예: 보고서 작성 요청 → 요청 해석 → Agent에 작성 업무 인계 → 결과 수신 → 사용자에게 보고서 전달)</a:t>
                      </a:r>
                    </a:p>
                    <a:p>
                      <a:pPr algn="l"/>
                      <a:r>
                        <a:rPr sz="2325" b="1">
                          <a:solidFill>
                            <a:srgbClr val="43AACC"/>
                          </a:solidFill>
                          <a:latin typeface="Apple SD Gothic Neo"/>
                          <a:ea typeface="Apple SD Gothic Neo"/>
                          <a:cs typeface="Apple SD Gothic Neo"/>
                        </a:rPr>
                        <a:t>평균 VIA 요청 처리시간 ≤ 10초</a:t>
                      </a:r>
                    </a:p>
                    <a:p>
                      <a:pPr algn="l"/>
                      <a:r>
                        <a:rPr sz="1875" b="0">
                          <a:solidFill>
                            <a:srgbClr val="56606B"/>
                          </a:solidFill>
                          <a:latin typeface="Apple SD Gothic Neo"/>
                          <a:ea typeface="Apple SD Gothic Neo"/>
                          <a:cs typeface="Apple SD Gothic Neo"/>
                        </a:rPr>
                        <a:t>측정: 사용자 목표 19개 × 5회 = 95사이클</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23CE6867-999B-40D7-8CDB-B8E17D46D2F7}"/>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ASR-QA-03</a:t>
            </a:r>
          </a:p>
        </p:txBody>
      </p:sp>
      <p:sp>
        <p:nvSpPr>
          <p:cNvPr id="6" name="basis-label">
            <a:extLst xmlns:a="http://schemas.openxmlformats.org/drawingml/2006/main">
              <a:ext uri="{FF2B5EF4-FFF2-40B4-BE49-F238E27FC236}">
                <a16:creationId xmlns:a16="http://schemas.microsoft.com/office/drawing/2014/main" id="{AC1A6B0E-296E-40FB-B383-A12C1425EA91}"/>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1C828AEE-D966-456A-8EAF-03841CAFCFCD}"/>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외부 Agent 업무와 사람의 입력/답변 대기는 제외한다.</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VIA 해석, 연결, queue와 실제 전달 시간은 남긴다.</a:t>
            </a:r>
          </a:p>
        </p:txBody>
      </p:sp>
      <p:sp>
        <p:nvSpPr>
          <p:cNvPr id="8" name="choice">
            <a:extLst xmlns:a="http://schemas.openxmlformats.org/drawingml/2006/main">
              <a:ext uri="{FF2B5EF4-FFF2-40B4-BE49-F238E27FC236}">
                <a16:creationId xmlns:a16="http://schemas.microsoft.com/office/drawing/2014/main" id="{014C20C6-967E-4BDE-B869-753784FCEF8A}"/>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의미 6 + 연결 1 + 전달 1 + 재검증 2 = 10초.</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첫 접수 안내 이후의 전체 후속 처리까지 포함.</a:t>
            </a:r>
          </a:p>
        </p:txBody>
      </p:sp>
      <p:sp>
        <p:nvSpPr>
          <p:cNvPr id="9" name="calculation-title">
            <a:extLst xmlns:a="http://schemas.openxmlformats.org/drawingml/2006/main">
              <a:ext uri="{FF2B5EF4-FFF2-40B4-BE49-F238E27FC236}">
                <a16:creationId xmlns:a16="http://schemas.microsoft.com/office/drawing/2014/main" id="{6966D00C-AA0A-4B24-A75C-C61E69014C90}"/>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19050" marB="190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19050" marB="190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전체 사이클</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요청 → 해석 → 인계 → 결과 수신 → 실제 전달</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대표 집계</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19개 사용자 목표 × 5회 = 95사이클</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적용 제외</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Agent 단독 S5-01/02: 새 사용자 목표 시작 없음</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귀속 계산</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같은 DAG의 외부 업무/사람 입력·대기만 0</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실패 처리</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30초 cap + 미전달 기록; ≥91/95회 ≤15초</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평균 ≥0.50초 + 5쌍 같은 방향; 최종 결과 관측</a:t>
                      </a:r>
                    </a:p>
                  </a:txBody>
                  <a:tcPr marL="133350" marR="114300" marT="19050" marB="190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736F9E9D-7DAC-4DF0-AC42-C2CEC2FBCB6F}"/>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19개 전체 사이클을 동일 사례에서 관측한다.</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wall-clock / 제외 구간 / 병렬 DAG를 함께 보고.</a:t>
            </a:r>
          </a:p>
        </p:txBody>
      </p:sp>
      <p:sp>
        <p:nvSpPr>
          <p:cNvPr id="12" name="score-label">
            <a:extLst xmlns:a="http://schemas.openxmlformats.org/drawingml/2006/main">
              <a:ext uri="{FF2B5EF4-FFF2-40B4-BE49-F238E27FC236}">
                <a16:creationId xmlns:a16="http://schemas.microsoft.com/office/drawing/2014/main" id="{10D6566B-4E13-41A8-8CC5-4BD4FE157337}"/>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 ≤ x ≤ 2초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2초 &lt; x ≤ 3.6초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3.6초 &lt; x ≤ 5.2초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5.2초 &lt; x ≤ 6.8초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6.8초 &lt; x ≤ 8.4초</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8.4초 &lt; x ≤ 10초</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x &gt; 10초</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0B51A39C-7055-4830-9400-8F8855D4F9D8}"/>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≥91/95 ≤15초, 미전달 0건</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BD6E2A14-79C4-4963-81B6-B62D89BCA4F6}"/>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Nielsen Norman Group 응답시간 / 목표와 등급은 작성자 PoC 규칙, 실측 전</a:t>
            </a:r>
          </a:p>
        </p:txBody>
      </p:sp>
    </p:spTree>
    <p:extLst>
      <p:ext uri="{BB962C8B-B14F-4D97-AF65-F5344CB8AC3E}">
        <p14:creationId xmlns:p14="http://schemas.microsoft.com/office/powerpoint/2010/main" val="36038816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BCBDE707-76F6-4646-99DF-21E58AFDDEF7}"/>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39A16AF5-E45D-41BE-A5B2-8597455126C9}"/>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1781446E-EBE9-4287-BF9E-3F0F48504953}"/>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4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Cost Efficiency</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VIA 모델</a:t>
                      </a:r>
                    </a:p>
                    <a:p>
                      <a:pPr algn="ctr"/>
                      <a:r>
                        <a:rPr sz="2475" b="0">
                          <a:solidFill>
                            <a:srgbClr val="222A35"/>
                          </a:solidFill>
                          <a:latin typeface="Apple SD Gothic Neo"/>
                          <a:ea typeface="Apple SD Gothic Neo"/>
                          <a:cs typeface="Apple SD Gothic Neo"/>
                        </a:rPr>
                        <a:t>사용 비용</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동일한 사용자 활동을 처리하는 동안 VIA의 음성/의미 모델 사용에 드는 금액</a:t>
                      </a:r>
                    </a:p>
                    <a:p>
                      <a:pPr algn="l"/>
                      <a:r>
                        <a:rPr sz="2325" b="1">
                          <a:solidFill>
                            <a:srgbClr val="43AACC"/>
                          </a:solidFill>
                          <a:latin typeface="Apple SD Gothic Neo"/>
                          <a:ea typeface="Apple SD Gothic Neo"/>
                          <a:cs typeface="Apple SD Gothic Neo"/>
                        </a:rPr>
                        <a:t>P21 1묶음 평균 모델 비용 ≤ $0.50</a:t>
                      </a:r>
                    </a:p>
                    <a:p>
                      <a:pPr algn="l"/>
                      <a:r>
                        <a:rPr sz="1875" b="0">
                          <a:solidFill>
                            <a:srgbClr val="56606B"/>
                          </a:solidFill>
                          <a:latin typeface="Apple SD Gothic Neo"/>
                          <a:ea typeface="Apple SD Gothic Neo"/>
                          <a:cs typeface="Apple SD Gothic Neo"/>
                        </a:rPr>
                        <a:t>측정: 동일 P21 전체 5회 총 청구량의 평균 × 단가</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67614321-242B-4B8D-BC4F-A2C4760B6B3D}"/>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ASR-QA-04</a:t>
            </a:r>
          </a:p>
        </p:txBody>
      </p:sp>
      <p:sp>
        <p:nvSpPr>
          <p:cNvPr id="6" name="basis-label">
            <a:extLst xmlns:a="http://schemas.openxmlformats.org/drawingml/2006/main">
              <a:ext uri="{FF2B5EF4-FFF2-40B4-BE49-F238E27FC236}">
                <a16:creationId xmlns:a16="http://schemas.microsoft.com/office/drawing/2014/main" id="{D798E0B7-B616-461B-9D59-F50B77092074}"/>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40009E43-7D64-4DFA-B21A-05C409BD6574}"/>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공식 단가(1M token): 의미 Gemini $0.50 / $3.00.</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음성 GPT Realtime: audio $32 / $64, Text $4 / $16.</a:t>
            </a:r>
          </a:p>
        </p:txBody>
      </p:sp>
      <p:sp>
        <p:nvSpPr>
          <p:cNvPr id="8" name="choice">
            <a:extLst xmlns:a="http://schemas.openxmlformats.org/drawingml/2006/main">
              <a:ext uri="{FF2B5EF4-FFF2-40B4-BE49-F238E27FC236}">
                <a16:creationId xmlns:a16="http://schemas.microsoft.com/office/drawing/2014/main" id="{ECB4A4F5-F6A1-4D64-8E6B-393C16C48A0A}"/>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동일 P21 기본 소계 $0.416320에 $0.083680 여유.</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추가 audio 이력, 배경 생산·재시도까지 실제 청구.</a:t>
            </a:r>
          </a:p>
        </p:txBody>
      </p:sp>
      <p:sp>
        <p:nvSpPr>
          <p:cNvPr id="9" name="calculation-title">
            <a:extLst xmlns:a="http://schemas.openxmlformats.org/drawingml/2006/main">
              <a:ext uri="{FF2B5EF4-FFF2-40B4-BE49-F238E27FC236}">
                <a16:creationId xmlns:a16="http://schemas.microsoft.com/office/drawing/2014/main" id="{593F7846-C0D4-4D57-8C61-50BD5C417766}"/>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19050" marB="190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19050" marB="190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의미 모델</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62호출 예산: 124k 입력 / 12.4k 출력 = $0.0992</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음성 신규 audio</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입력 50초 / 출력 179초 예산 = $0.245120</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음성 Text/context</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총 청구 입력 10k / 출력 2k = $0.072000</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기본 소계</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$0.0992 + $0.24512 + $0.072 = $0.416320</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추가 예산</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$0.50 - $0.41632 = $0.08368; 이력 audio 등</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≥$0.03/P21; 실제 cache/생산/재시도 청구 비교</a:t>
                      </a:r>
                    </a:p>
                  </a:txBody>
                  <a:tcPr marL="133350" marR="114300" marT="19050" marB="190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477775E1-5F60-4C44-ACAD-76299D7935BF}"/>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역할별 call ID로 중복 제거, 청구된 폐기 출력 포함.</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179초와 62호출은 예산; 실제 사용량으로 대체.</a:t>
            </a:r>
          </a:p>
        </p:txBody>
      </p:sp>
      <p:sp>
        <p:nvSpPr>
          <p:cNvPr id="12" name="score-label">
            <a:extLst xmlns:a="http://schemas.openxmlformats.org/drawingml/2006/main">
              <a:ext uri="{FF2B5EF4-FFF2-40B4-BE49-F238E27FC236}">
                <a16:creationId xmlns:a16="http://schemas.microsoft.com/office/drawing/2014/main" id="{467C0173-EAF3-43B3-80A1-5142AC1076B9}"/>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 ≤ x ≤ $0.20</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$0.20 &lt; x ≤ $0.26</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$0.26 &lt; x ≤ $0.32</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$0.32 &lt; x ≤ $0.38</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$0.38 &lt; x ≤ $0.44</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$0.44 &lt; x ≤ $0.50</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x &gt; $0.50</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39946108-04EA-493A-A9F5-D03D76246ADC}"/>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초기/재시도/폐기/배경/context 누락 없음</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287C9553-E34D-4534-8DFD-23238EA049D4}"/>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Google Gemini 3 Flash 공식 단가 / OpenAI GPT Realtime 공식 단가 / OpenAI Realtime 청구 / 목표와 등급은 작성자 PoC 규칙, 실측 전</a:t>
            </a:r>
          </a:p>
        </p:txBody>
      </p:sp>
    </p:spTree>
    <p:extLst>
      <p:ext uri="{BB962C8B-B14F-4D97-AF65-F5344CB8AC3E}">
        <p14:creationId xmlns:p14="http://schemas.microsoft.com/office/powerpoint/2010/main" val="72755779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5BBAD818-566B-4F99-B464-8CCEE95B67AD}"/>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BDE0D69F-A842-423B-961A-4584F74A3BCF}"/>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1E3D7FB5-F4FB-42E3-A80B-79978F08C901}"/>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5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Maintainability</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VIA 변경</a:t>
                      </a:r>
                    </a:p>
                    <a:p>
                      <a:pPr algn="ctr"/>
                      <a:r>
                        <a:rPr sz="2475" b="0">
                          <a:solidFill>
                            <a:srgbClr val="222A35"/>
                          </a:solidFill>
                          <a:latin typeface="Apple SD Gothic Neo"/>
                          <a:ea typeface="Apple SD Gothic Neo"/>
                          <a:cs typeface="Apple SD Gothic Neo"/>
                        </a:rPr>
                        <a:t>용이성</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모델/Agent/정보원/기능 계약의 변화를 다른 사용자 기능을 유지하면서 수용하는 능력</a:t>
                      </a:r>
                    </a:p>
                    <a:p>
                      <a:pPr algn="l"/>
                      <a:r>
                        <a:rPr sz="2325" b="1">
                          <a:solidFill>
                            <a:srgbClr val="43AACC"/>
                          </a:solidFill>
                          <a:latin typeface="Apple SD Gothic Neo"/>
                          <a:ea typeface="Apple SD Gothic Neo"/>
                          <a:cs typeface="Apple SD Gothic Neo"/>
                        </a:rPr>
                        <a:t>평균 변경 책임 단위 수 ≤ 3개</a:t>
                      </a:r>
                    </a:p>
                    <a:p>
                      <a:pPr algn="l"/>
                      <a:r>
                        <a:rPr sz="1875" b="0">
                          <a:solidFill>
                            <a:srgbClr val="56606B"/>
                          </a:solidFill>
                          <a:latin typeface="Apple SD Gothic Neo"/>
                          <a:ea typeface="Apple SD Gothic Neo"/>
                          <a:cs typeface="Apple SD Gothic Neo"/>
                        </a:rPr>
                        <a:t>측정: 6개 변경 과제의 고유 수정 책임 수 평균</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AA3CF959-64BF-40A8-9DB4-EDC7EBDF5E13}"/>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ASR-QA-05</a:t>
            </a:r>
          </a:p>
        </p:txBody>
      </p:sp>
      <p:sp>
        <p:nvSpPr>
          <p:cNvPr id="6" name="basis-label">
            <a:extLst xmlns:a="http://schemas.openxmlformats.org/drawingml/2006/main">
              <a:ext uri="{FF2B5EF4-FFF2-40B4-BE49-F238E27FC236}">
                <a16:creationId xmlns:a16="http://schemas.microsoft.com/office/drawing/2014/main" id="{B16A414A-3A7F-4545-AF13-761E13260297}"/>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078003F1-08FA-45D7-9453-7B73E4D2C184}"/>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모델/Agent/source 교체와 의미/상태 계약 확장을 구별.</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같은 책임 registry로 양안의 실제 수정 범위를 센다.</a:t>
            </a:r>
          </a:p>
        </p:txBody>
      </p:sp>
      <p:sp>
        <p:nvSpPr>
          <p:cNvPr id="8" name="choice">
            <a:extLst xmlns:a="http://schemas.openxmlformats.org/drawingml/2006/main">
              <a:ext uri="{FF2B5EF4-FFF2-40B4-BE49-F238E27FC236}">
                <a16:creationId xmlns:a16="http://schemas.microsoft.com/office/drawing/2014/main" id="{89D09F0B-EC37-40C6-A799-C34CEB516957}"/>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평균 3개, 과제별 최대 5개로 변경 전파를 제한.</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파일/박스 수 대신 수정된 기능 책임으로 판정.</a:t>
            </a:r>
          </a:p>
        </p:txBody>
      </p:sp>
      <p:sp>
        <p:nvSpPr>
          <p:cNvPr id="9" name="calculation-title">
            <a:extLst xmlns:a="http://schemas.openxmlformats.org/drawingml/2006/main">
              <a:ext uri="{FF2B5EF4-FFF2-40B4-BE49-F238E27FC236}">
                <a16:creationId xmlns:a16="http://schemas.microsoft.com/office/drawing/2014/main" id="{5A2DDCAE-2D2D-4756-BC26-AB17039B683F}"/>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19050" marB="190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19050" marB="190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공통 과제</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provider / Agent / source 교체, 관계/질문/철회</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공통 단위</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U01~18 기능 책임 registry, 동일 수정 중복 금지</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대표 집계</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여섯 수정 집합의 크기 합 / 6</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설명 예시</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M-04 A: U01/U03/U07, B: U01/U02/U03/U07</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완료 조건</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새 요구 충족 + P21/선호/권한/중복 회귀 유지</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평균 ≥0.5개, 여섯 과제 합계 차이 ≥3개</a:t>
                      </a:r>
                    </a:p>
                  </a:txBody>
                  <a:tcPr marL="133350" marR="114300" marT="19050" marB="190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47FB5C3C-3359-490C-9087-682F7FD908F4}"/>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구체 patch/diff와 완료 oracle로 수정 책임 검수.</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개발 시간이나 Component 수로 점수를 만들지 않음.</a:t>
            </a:r>
          </a:p>
        </p:txBody>
      </p:sp>
      <p:sp>
        <p:nvSpPr>
          <p:cNvPr id="12" name="score-label">
            <a:extLst xmlns:a="http://schemas.openxmlformats.org/drawingml/2006/main">
              <a:ext uri="{FF2B5EF4-FFF2-40B4-BE49-F238E27FC236}">
                <a16:creationId xmlns:a16="http://schemas.microsoft.com/office/drawing/2014/main" id="{12A03F44-C80C-4F91-A9C3-DF79C4BE3439}"/>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 ≤ x ≤ 1개</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1개 &lt; x ≤ 1.4개</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1.4개 &lt; x ≤ 1.8개</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1.8개 &lt; x ≤ 2.2개</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2.2개 &lt; x ≤ 2.6개</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2.6개 &lt; x ≤ 3개</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x &gt; 3개</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108486F9-5EBA-48E8-BAA5-1CA37B90C960}"/>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과제별 ≤5개, 6개 완료/필수 회귀 충족</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3A6B216E-098E-4DB9-8905-EA19D2517B02}"/>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VIA 고정 기능/UC / 목표와 등급은 작성자 PoC 규칙, 실측 전</a:t>
            </a:r>
          </a:p>
        </p:txBody>
      </p:sp>
    </p:spTree>
    <p:extLst>
      <p:ext uri="{BB962C8B-B14F-4D97-AF65-F5344CB8AC3E}">
        <p14:creationId xmlns:p14="http://schemas.microsoft.com/office/powerpoint/2010/main" val="54726713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6DDD1B90-EC8D-4A64-96A8-BB219007C0C0}"/>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QA Metric (●◐○) 기준</a:t>
            </a:r>
          </a:p>
        </p:txBody>
      </p:sp>
      <p:sp>
        <p:nvSpPr>
          <p:cNvPr id="2" name="header-rule">
            <a:extLst xmlns:a="http://schemas.openxmlformats.org/drawingml/2006/main">
              <a:ext uri="{FF2B5EF4-FFF2-40B4-BE49-F238E27FC236}">
                <a16:creationId xmlns:a16="http://schemas.microsoft.com/office/drawing/2014/main" id="{DA8642A4-72E0-424B-B2E0-38E7DFF9744A}"/>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7CE3FF9C-208B-4FE3-9075-AA889BCFC05F}"/>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6 / 6</a:t>
            </a:r>
          </a:p>
        </p:txBody>
      </p:sp>
      <p:graphicFrame>
        <p:nvGraphicFramePr>
          <p:cNvPr id="19" name=""/>
          <p:cNvGraphicFramePr/>
          <p:nvPr/>
        </p:nvGraphicFramePr>
        <p:xfrm>
          <a:off xmlns:a="http://schemas.openxmlformats.org/drawingml/2006/main" x="457200" y="1257300"/>
          <a:ext xmlns:a="http://schemas.openxmlformats.org/drawingml/2006/main" cx="17373600" cy="2076450"/>
        </p:xfrm>
        <a:graphic xmlns:a="http://schemas.openxmlformats.org/drawingml/2006/main">
          <a:graphicData uri="http://schemas.openxmlformats.org/drawingml/2006/table">
            <a:tbl>
              <a:tblPr firstRow="0" bandRow="0"/>
              <a:tblGrid>
                <a:gridCol w="2286000"/>
                <a:gridCol w="3143250"/>
                <a:gridCol w="11944350"/>
              </a:tblGrid>
              <a:tr h="466725">
                <a:tc>
                  <a:txBody>
                    <a:bodyPr/>
                    <a:lstStyle/>
                    <a:p>
                      <a:pPr algn="ctr"/>
                      <a:r>
                        <a:rPr sz="2175" b="1">
                          <a:solidFill>
                            <a:srgbClr val="FFFFFF"/>
                          </a:solidFill>
                          <a:latin typeface="Apple SD Gothic Neo"/>
                          <a:ea typeface="Apple SD Gothic Neo"/>
                          <a:cs typeface="Apple SD Gothic Neo"/>
                        </a:rPr>
                        <a:t>분류</a:t>
                      </a:r>
                    </a:p>
                  </a:txBody>
                  <a:tcPr marL="133350" marR="114300" marT="57150" marB="57150" anchor="ctr">
                    <a:solidFill>
                      <a:srgbClr val="222A35"/>
                    </a:solidFill>
                  </a:tcPr>
                </a:tc>
                <a:tc>
                  <a:txBody>
                    <a:bodyPr/>
                    <a:lstStyle/>
                    <a:p>
                      <a:pPr algn="ctr"/>
                      <a:r>
                        <a:rPr sz="2175" b="1">
                          <a:solidFill>
                            <a:srgbClr val="FFFFFF"/>
                          </a:solidFill>
                          <a:latin typeface="Apple SD Gothic Neo"/>
                          <a:ea typeface="Apple SD Gothic Neo"/>
                          <a:cs typeface="Apple SD Gothic Neo"/>
                        </a:rPr>
                        <a:t>Title</a:t>
                      </a:r>
                    </a:p>
                  </a:txBody>
                  <a:tcPr marL="133350" marR="114300" marT="57150" marB="57150" anchor="ctr">
                    <a:solidFill>
                      <a:srgbClr val="222A35"/>
                    </a:solidFill>
                  </a:tcPr>
                </a:tc>
                <a:tc>
                  <a:txBody>
                    <a:bodyPr/>
                    <a:lstStyle/>
                    <a:p>
                      <a:pPr algn="l"/>
                      <a:r>
                        <a:rPr sz="2100" b="1">
                          <a:solidFill>
                            <a:srgbClr val="FFFFFF"/>
                          </a:solidFill>
                          <a:latin typeface="Apple SD Gothic Neo"/>
                          <a:ea typeface="Apple SD Gothic Neo"/>
                          <a:cs typeface="Apple SD Gothic Neo"/>
                        </a:rPr>
                        <a:t>Scenario</a:t>
                      </a:r>
                    </a:p>
                  </a:txBody>
                  <a:tcPr marL="133350" marR="114300" marT="57150" marB="57150" anchor="ctr">
                    <a:solidFill>
                      <a:srgbClr val="222A35"/>
                    </a:solidFill>
                  </a:tcPr>
                </a:tc>
              </a:tr>
              <a:tr h="1609725">
                <a:tc>
                  <a:txBody>
                    <a:bodyPr/>
                    <a:lstStyle/>
                    <a:p>
                      <a:pPr algn="ctr"/>
                      <a:r>
                        <a:rPr sz="2100" b="0">
                          <a:solidFill>
                            <a:srgbClr val="222A35"/>
                          </a:solidFill>
                          <a:latin typeface="Apple SD Gothic Neo"/>
                          <a:ea typeface="Apple SD Gothic Neo"/>
                          <a:cs typeface="Apple SD Gothic Neo"/>
                        </a:rPr>
                        <a:t>Resource Efficiency</a:t>
                      </a:r>
                    </a:p>
                  </a:txBody>
                  <a:tcPr marL="133350" marR="114300" marT="57150" marB="57150" anchor="ctr">
                    <a:solidFill>
                      <a:srgbClr val="FFFFFF"/>
                    </a:solidFill>
                  </a:tcPr>
                </a:tc>
                <a:tc>
                  <a:txBody>
                    <a:bodyPr/>
                    <a:lstStyle/>
                    <a:p>
                      <a:pPr algn="ctr"/>
                      <a:r>
                        <a:rPr sz="2475" b="0">
                          <a:solidFill>
                            <a:srgbClr val="222A35"/>
                          </a:solidFill>
                          <a:latin typeface="Apple SD Gothic Neo"/>
                          <a:ea typeface="Apple SD Gothic Neo"/>
                          <a:cs typeface="Apple SD Gothic Neo"/>
                        </a:rPr>
                        <a:t>로컬 VIA</a:t>
                      </a:r>
                    </a:p>
                    <a:p>
                      <a:pPr algn="ctr"/>
                      <a:r>
                        <a:rPr sz="2475" b="0">
                          <a:solidFill>
                            <a:srgbClr val="222A35"/>
                          </a:solidFill>
                          <a:latin typeface="Apple SD Gothic Neo"/>
                          <a:ea typeface="Apple SD Gothic Neo"/>
                          <a:cs typeface="Apple SD Gothic Neo"/>
                        </a:rPr>
                        <a:t>메모리 사용량</a:t>
                      </a:r>
                    </a:p>
                  </a:txBody>
                  <a:tcPr marL="133350" marR="114300" marT="57150" marB="57150" anchor="ctr">
                    <a:solidFill>
                      <a:srgbClr val="FFFFFF"/>
                    </a:solidFill>
                  </a:tcPr>
                </a:tc>
                <a:tc>
                  <a:txBody>
                    <a:bodyPr/>
                    <a:lstStyle/>
                    <a:p>
                      <a:pPr algn="l"/>
                      <a:r>
                        <a:rPr sz="2100" b="0">
                          <a:solidFill>
                            <a:srgbClr val="222A35"/>
                          </a:solidFill>
                          <a:latin typeface="Apple SD Gothic Neo"/>
                          <a:ea typeface="Apple SD Gothic Neo"/>
                          <a:cs typeface="Apple SD Gothic Neo"/>
                        </a:rPr>
                        <a:t>동일한 활동과 동시 부하에서 VIA가 로컬 PC에 할당해 유지하는 메모리의 최대량</a:t>
                      </a:r>
                    </a:p>
                    <a:p>
                      <a:pPr algn="l"/>
                      <a:r>
                        <a:rPr sz="2325" b="1">
                          <a:solidFill>
                            <a:srgbClr val="43AACC"/>
                          </a:solidFill>
                          <a:latin typeface="Apple SD Gothic Neo"/>
                          <a:ea typeface="Apple SD Gothic Neo"/>
                          <a:cs typeface="Apple SD Gothic Neo"/>
                        </a:rPr>
                        <a:t>최대 전체 commit 메모리 ≤ 4GiB</a:t>
                      </a:r>
                    </a:p>
                    <a:p>
                      <a:pPr algn="l"/>
                      <a:r>
                        <a:rPr sz="1875" b="0">
                          <a:solidFill>
                            <a:srgbClr val="56606B"/>
                          </a:solidFill>
                          <a:latin typeface="Apple SD Gothic Neo"/>
                          <a:ea typeface="Apple SD Gothic Neo"/>
                          <a:cs typeface="Apple SD Gothic Neo"/>
                        </a:rPr>
                        <a:t>측정: 동일 P21 전체 5회 중 최대 동시 commit량</a:t>
                      </a:r>
                    </a:p>
                  </a:txBody>
                  <a:tcPr marL="133350" marR="114300" marT="57150" marB="57150" anchor="ctr">
                    <a:solidFill>
                      <a:srgbClr val="FFFFFF"/>
                    </a:solidFill>
                  </a:tcPr>
                </a:tc>
              </a:tr>
            </a:tbl>
          </a:graphicData>
        </a:graphic>
      </p:graphicFrame>
      <p:sp>
        <p:nvSpPr>
          <p:cNvPr id="5" name="qa-id">
            <a:extLst xmlns:a="http://schemas.openxmlformats.org/drawingml/2006/main">
              <a:ext uri="{FF2B5EF4-FFF2-40B4-BE49-F238E27FC236}">
                <a16:creationId xmlns:a16="http://schemas.microsoft.com/office/drawing/2014/main" id="{725D7BD3-3140-468E-95BD-713B71C254AF}"/>
              </a:ext>
            </a:extLst>
          </p:cNvPr>
          <p:cNvSpPr>
            <a:spLocks xmlns:a="http://schemas.openxmlformats.org/drawingml/2006/main" noGrp="1"/>
          </p:cNvSpPr>
          <p:nvPr/>
        </p:nvSpPr>
        <p:spPr>
          <a:xfrm xmlns:a="http://schemas.openxmlformats.org/drawingml/2006/main">
            <a:off x="457200" y="35528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4472C4"/>
                </a:solidFill>
                <a:latin typeface="Apple SD Gothic Neo"/>
                <a:ea typeface="Apple SD Gothic Neo"/>
                <a:cs typeface="Apple SD Gothic Neo"/>
              </a:defRPr>
            </a:pPr>
            <a:r>
              <a:rPr sz="2175" b="1">
                <a:solidFill>
                  <a:srgbClr val="4472C4"/>
                </a:solidFill>
                <a:latin typeface="Apple SD Gothic Neo"/>
                <a:ea typeface="Apple SD Gothic Neo"/>
                <a:cs typeface="Apple SD Gothic Neo"/>
              </a:rPr>
              <a:t>ASR-QA-06</a:t>
            </a:r>
          </a:p>
        </p:txBody>
      </p:sp>
      <p:sp>
        <p:nvSpPr>
          <p:cNvPr id="6" name="basis-label">
            <a:extLst xmlns:a="http://schemas.openxmlformats.org/drawingml/2006/main">
              <a:ext uri="{FF2B5EF4-FFF2-40B4-BE49-F238E27FC236}">
                <a16:creationId xmlns:a16="http://schemas.microsoft.com/office/drawing/2014/main" id="{D55C3F34-90A3-4F48-AE9E-3B15BE4884B5}"/>
              </a:ext>
            </a:extLst>
          </p:cNvPr>
          <p:cNvSpPr>
            <a:spLocks xmlns:a="http://schemas.openxmlformats.org/drawingml/2006/main" noGrp="1"/>
          </p:cNvSpPr>
          <p:nvPr/>
        </p:nvSpPr>
        <p:spPr>
          <a:xfrm xmlns:a="http://schemas.openxmlformats.org/drawingml/2006/main">
            <a:off x="3238500" y="3543300"/>
            <a:ext cx="7886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222A35"/>
                </a:solidFill>
                <a:latin typeface="Apple SD Gothic Neo"/>
                <a:ea typeface="Apple SD Gothic Neo"/>
                <a:cs typeface="Apple SD Gothic Neo"/>
              </a:defRPr>
            </a:pPr>
            <a:r>
              <a:rPr sz="2550" b="1">
                <a:solidFill>
                  <a:srgbClr val="222A35"/>
                </a:solidFill>
                <a:latin typeface="Apple SD Gothic Neo"/>
                <a:ea typeface="Apple SD Gothic Neo"/>
                <a:cs typeface="Apple SD Gothic Neo"/>
              </a:rPr>
              <a:t>목표값의 근거</a:t>
            </a:r>
          </a:p>
        </p:txBody>
      </p:sp>
      <p:sp>
        <p:nvSpPr>
          <p:cNvPr id="7" name="fact">
            <a:extLst xmlns:a="http://schemas.openxmlformats.org/drawingml/2006/main">
              <a:ext uri="{FF2B5EF4-FFF2-40B4-BE49-F238E27FC236}">
                <a16:creationId xmlns:a16="http://schemas.microsoft.com/office/drawing/2014/main" id="{6A0BB82A-4667-4003-BC22-530D399C7628}"/>
              </a:ext>
            </a:extLst>
          </p:cNvPr>
          <p:cNvSpPr>
            <a:spLocks xmlns:a="http://schemas.openxmlformats.org/drawingml/2006/main" noGrp="1"/>
          </p:cNvSpPr>
          <p:nvPr/>
        </p:nvSpPr>
        <p:spPr>
          <a:xfrm xmlns:a="http://schemas.openxmlformats.org/drawingml/2006/main">
            <a:off x="457200" y="41433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삼성 reference PC: Windows 11, RAM 32GB급.</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Windows commit과 실제 resident RAM을 구별한다.</a:t>
            </a:r>
          </a:p>
        </p:txBody>
      </p:sp>
      <p:sp>
        <p:nvSpPr>
          <p:cNvPr id="8" name="choice">
            <a:extLst xmlns:a="http://schemas.openxmlformats.org/drawingml/2006/main">
              <a:ext uri="{FF2B5EF4-FFF2-40B4-BE49-F238E27FC236}">
                <a16:creationId xmlns:a16="http://schemas.microsoft.com/office/drawing/2014/main" id="{A6F6D630-EDB1-46B5-A337-7DFC3CB05C5B}"/>
              </a:ext>
            </a:extLst>
          </p:cNvPr>
          <p:cNvSpPr>
            <a:spLocks xmlns:a="http://schemas.openxmlformats.org/drawingml/2006/main" noGrp="1"/>
          </p:cNvSpPr>
          <p:nvPr/>
        </p:nvSpPr>
        <p:spPr>
          <a:xfrm xmlns:a="http://schemas.openxmlformats.org/drawingml/2006/main">
            <a:off x="457200" y="507682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OS 8 + 사용자 앱 16 + VIA 4 + 여유 4 = 32GiB 가정.</a:t>
            </a:r>
          </a:p>
          <a:p xmlns:a="http://schemas.openxmlformats.org/drawingml/2006/main">
            <a:pPr>
              <a:defRPr sz="2250" b="0">
                <a:solidFill>
                  <a:srgbClr val="222A35"/>
                </a:solidFill>
                <a:latin typeface="Apple SD Gothic Neo"/>
                <a:ea typeface="Apple SD Gothic Neo"/>
                <a:cs typeface="Apple SD Gothic Neo"/>
              </a:defRPr>
            </a:pPr>
            <a:r>
              <a:rPr sz="2250" b="0">
                <a:solidFill>
                  <a:srgbClr val="222A35"/>
                </a:solidFill>
                <a:latin typeface="Apple SD Gothic Neo"/>
                <a:ea typeface="Apple SD Gothic Neo"/>
                <a:cs typeface="Apple SD Gothic Neo"/>
              </a:rPr>
              <a:t>장치의 실측 가용량이나 후보 peak가 아니다.</a:t>
            </a:r>
          </a:p>
        </p:txBody>
      </p:sp>
      <p:sp>
        <p:nvSpPr>
          <p:cNvPr id="9" name="calculation-title">
            <a:extLst xmlns:a="http://schemas.openxmlformats.org/drawingml/2006/main">
              <a:ext uri="{FF2B5EF4-FFF2-40B4-BE49-F238E27FC236}">
                <a16:creationId xmlns:a16="http://schemas.microsoft.com/office/drawing/2014/main" id="{AE9712FA-1932-45DE-9C84-41026F15C15C}"/>
              </a:ext>
            </a:extLst>
          </p:cNvPr>
          <p:cNvSpPr>
            <a:spLocks xmlns:a="http://schemas.openxmlformats.org/drawingml/2006/main" noGrp="1"/>
          </p:cNvSpPr>
          <p:nvPr/>
        </p:nvSpPr>
        <p:spPr>
          <a:xfrm xmlns:a="http://schemas.openxmlformats.org/drawingml/2006/main">
            <a:off x="457200" y="60579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4472C4"/>
                </a:solidFill>
                <a:latin typeface="Apple SD Gothic Neo"/>
                <a:ea typeface="Apple SD Gothic Neo"/>
                <a:cs typeface="Apple SD Gothic Neo"/>
              </a:defRPr>
            </a:pPr>
            <a:r>
              <a:rPr sz="2250" b="1">
                <a:solidFill>
                  <a:srgbClr val="4472C4"/>
                </a:solidFill>
                <a:latin typeface="Apple SD Gothic Neo"/>
                <a:ea typeface="Apple SD Gothic Neo"/>
                <a:cs typeface="Apple SD Gothic Neo"/>
              </a:rPr>
              <a:t>계산과 평가 방법</a:t>
            </a:r>
          </a:p>
        </p:txBody>
      </p:sp>
      <p:graphicFrame>
        <p:nvGraphicFramePr>
          <p:cNvPr id="25" name=""/>
          <p:cNvGraphicFramePr/>
          <p:nvPr/>
        </p:nvGraphicFramePr>
        <p:xfrm>
          <a:off xmlns:a="http://schemas.openxmlformats.org/drawingml/2006/main" x="457200" y="6477000"/>
          <a:ext xmlns:a="http://schemas.openxmlformats.org/drawingml/2006/main" cx="10668000" cy="2857500"/>
        </p:xfrm>
        <a:graphic xmlns:a="http://schemas.openxmlformats.org/drawingml/2006/main">
          <a:graphicData uri="http://schemas.openxmlformats.org/drawingml/2006/table">
            <a:tbl>
              <a:tblPr firstRow="0" bandRow="0"/>
              <a:tblGrid>
                <a:gridCol w="2381250"/>
                <a:gridCol w="8286750"/>
              </a:tblGrid>
              <a:tr h="400050">
                <a:tc>
                  <a:txBody>
                    <a:bodyPr/>
                    <a:lstStyle/>
                    <a:p>
                      <a:pPr algn="l"/>
                      <a:r>
                        <a:rPr sz="1875" b="1">
                          <a:solidFill>
                            <a:srgbClr val="FFFFFF"/>
                          </a:solidFill>
                          <a:latin typeface="Apple SD Gothic Neo"/>
                          <a:ea typeface="Apple SD Gothic Neo"/>
                          <a:cs typeface="Apple SD Gothic Neo"/>
                        </a:rPr>
                        <a:t>항목</a:t>
                      </a:r>
                    </a:p>
                  </a:txBody>
                  <a:tcPr marL="133350" marR="114300" marT="19050" marB="19050" anchor="ctr">
                    <a:solidFill>
                      <a:srgbClr val="4472C4"/>
                    </a:solidFill>
                  </a:tcPr>
                </a:tc>
                <a:tc>
                  <a:txBody>
                    <a:bodyPr/>
                    <a:lstStyle/>
                    <a:p>
                      <a:pPr algn="l"/>
                      <a:r>
                        <a:rPr sz="1875" b="1">
                          <a:solidFill>
                            <a:srgbClr val="FFFFFF"/>
                          </a:solidFill>
                          <a:latin typeface="Apple SD Gothic Neo"/>
                          <a:ea typeface="Apple SD Gothic Neo"/>
                          <a:cs typeface="Apple SD Gothic Neo"/>
                        </a:rPr>
                        <a:t>계산 또는 판정 기준</a:t>
                      </a:r>
                    </a:p>
                  </a:txBody>
                  <a:tcPr marL="133350" marR="114300" marT="19050" marB="19050" anchor="ctr">
                    <a:solidFill>
                      <a:srgbClr val="4472C4"/>
                    </a:solidFill>
                  </a:tcPr>
                </a:tc>
              </a:tr>
              <a:tr h="409575">
                <a:tc>
                  <a:txBody>
                    <a:bodyPr/>
                    <a:lstStyle/>
                    <a:p>
                      <a:pPr algn="l"/>
                      <a:r>
                        <a:rPr sz="1875" b="0">
                          <a:solidFill>
                            <a:srgbClr val="222A35"/>
                          </a:solidFill>
                          <a:latin typeface="Apple SD Gothic Neo"/>
                          <a:ea typeface="Apple SD Gothic Neo"/>
                          <a:cs typeface="Apple SD Gothic Neo"/>
                        </a:rPr>
                        <a:t>대표 관측</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전체 process private + 고유 shared commit</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공통 부하</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동일 P21, Task 최대 10 / cloud 호출 최대 4</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기본 할당 예산</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동시 8개 할당 항목 합 = 1,792MiB (§7.3)</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추가/변동 여유</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4,096 - 1,792 = 2,304MiB</a:t>
                      </a:r>
                    </a:p>
                  </a:txBody>
                  <a:tcPr marL="133350" marR="114300" marT="19050" marB="19050" anchor="ctr">
                    <a:solidFill>
                      <a:srgbClr val="F3F5FA"/>
                    </a:solidFill>
                  </a:tcPr>
                </a:tc>
              </a:tr>
              <a:tr h="409575">
                <a:tc>
                  <a:txBody>
                    <a:bodyPr/>
                    <a:lstStyle/>
                    <a:p>
                      <a:pPr algn="l"/>
                      <a:r>
                        <a:rPr sz="1875" b="0">
                          <a:solidFill>
                            <a:srgbClr val="222A35"/>
                          </a:solidFill>
                          <a:latin typeface="Apple SD Gothic Neo"/>
                          <a:ea typeface="Apple SD Gothic Neo"/>
                          <a:cs typeface="Apple SD Gothic Neo"/>
                        </a:rPr>
                        <a:t>관측/보호</a:t>
                      </a:r>
                    </a:p>
                  </a:txBody>
                  <a:tcPr marL="133350" marR="114300" marT="19050" marB="19050" anchor="ctr">
                    <a:solidFill>
                      <a:srgbClr val="E8ECF5"/>
                    </a:solidFill>
                  </a:tcPr>
                </a:tc>
                <a:tc>
                  <a:txBody>
                    <a:bodyPr/>
                    <a:lstStyle/>
                    <a:p>
                      <a:pPr algn="l"/>
                      <a:r>
                        <a:rPr sz="1875" b="0">
                          <a:solidFill>
                            <a:srgbClr val="222A35"/>
                          </a:solidFill>
                          <a:latin typeface="Apple SD Gothic Neo"/>
                          <a:ea typeface="Apple SD Gothic Neo"/>
                          <a:cs typeface="Apple SD Gothic Neo"/>
                        </a:rPr>
                        <a:t>50ms + allocation event, 5회 최대 / WS ≤6GiB</a:t>
                      </a:r>
                    </a:p>
                  </a:txBody>
                  <a:tcPr marL="133350" marR="114300" marT="19050" marB="19050" anchor="ctr">
                    <a:solidFill>
                      <a:srgbClr val="E8ECF5"/>
                    </a:solidFill>
                  </a:tcPr>
                </a:tc>
              </a:tr>
              <a:tr h="409575">
                <a:tc>
                  <a:txBody>
                    <a:bodyPr/>
                    <a:lstStyle/>
                    <a:p>
                      <a:pPr algn="l"/>
                      <a:r>
                        <a:rPr sz="1875" b="0">
                          <a:solidFill>
                            <a:srgbClr val="222A35"/>
                          </a:solidFill>
                          <a:latin typeface="Apple SD Gothic Neo"/>
                          <a:ea typeface="Apple SD Gothic Neo"/>
                          <a:cs typeface="Apple SD Gothic Neo"/>
                        </a:rPr>
                        <a:t>A/B 차이</a:t>
                      </a:r>
                    </a:p>
                  </a:txBody>
                  <a:tcPr marL="133350" marR="114300" marT="19050" marB="19050" anchor="ctr">
                    <a:solidFill>
                      <a:srgbClr val="F3F5FA"/>
                    </a:solidFill>
                  </a:tcPr>
                </a:tc>
                <a:tc>
                  <a:txBody>
                    <a:bodyPr/>
                    <a:lstStyle/>
                    <a:p>
                      <a:pPr algn="l"/>
                      <a:r>
                        <a:rPr sz="1875" b="0">
                          <a:solidFill>
                            <a:srgbClr val="222A35"/>
                          </a:solidFill>
                          <a:latin typeface="Apple SD Gothic Neo"/>
                          <a:ea typeface="Apple SD Gothic Neo"/>
                          <a:cs typeface="Apple SD Gothic Neo"/>
                        </a:rPr>
                        <a:t>≥128MiB; 동일 기능/보관, 실제 process copy 포함</a:t>
                      </a:r>
                    </a:p>
                  </a:txBody>
                  <a:tcPr marL="133350" marR="114300" marT="19050" marB="19050" anchor="ctr">
                    <a:solidFill>
                      <a:srgbClr val="F3F5FA"/>
                    </a:solidFill>
                  </a:tcPr>
                </a:tc>
              </a:tr>
            </a:tbl>
          </a:graphicData>
        </a:graphic>
      </p:graphicFrame>
      <p:sp>
        <p:nvSpPr>
          <p:cNvPr id="11" name="method">
            <a:extLst xmlns:a="http://schemas.openxmlformats.org/drawingml/2006/main">
              <a:ext uri="{FF2B5EF4-FFF2-40B4-BE49-F238E27FC236}">
                <a16:creationId xmlns:a16="http://schemas.microsoft.com/office/drawing/2014/main" id="{2FD5349B-9745-4BB8-9E8A-D3E84E65686F}"/>
              </a:ext>
            </a:extLst>
          </p:cNvPr>
          <p:cNvSpPr>
            <a:spLocks xmlns:a="http://schemas.openxmlformats.org/drawingml/2006/main" noGrp="1"/>
          </p:cNvSpPr>
          <p:nvPr/>
        </p:nvSpPr>
        <p:spPr>
          <a:xfrm xmlns:a="http://schemas.openxmlformats.org/drawingml/2006/main">
            <a:off x="457200" y="9448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초기 생산/재사용/집중/철회/drain/idle 모두 포함.</a:t>
            </a:r>
          </a:p>
          <a:p xmlns:a="http://schemas.openxmlformats.org/drawingml/2006/main">
            <a:pPr>
              <a:defRPr sz="1725" b="0">
                <a:solidFill>
                  <a:srgbClr val="56606B"/>
                </a:solidFill>
                <a:latin typeface="Apple SD Gothic Neo"/>
                <a:ea typeface="Apple SD Gothic Neo"/>
                <a:cs typeface="Apple SD Gothic Neo"/>
              </a:defRPr>
            </a:pPr>
            <a:r>
              <a:rPr sz="1725" b="0">
                <a:solidFill>
                  <a:srgbClr val="56606B"/>
                </a:solidFill>
                <a:latin typeface="Apple SD Gothic Neo"/>
                <a:ea typeface="Apple SD Gothic Neo"/>
                <a:cs typeface="Apple SD Gothic Neo"/>
              </a:rPr>
              <a:t>미완료 상태를 지워 비용과 peak를 낮추지 않음.</a:t>
            </a:r>
          </a:p>
        </p:txBody>
      </p:sp>
      <p:sp>
        <p:nvSpPr>
          <p:cNvPr id="12" name="score-label">
            <a:extLst xmlns:a="http://schemas.openxmlformats.org/drawingml/2006/main">
              <a:ext uri="{FF2B5EF4-FFF2-40B4-BE49-F238E27FC236}">
                <a16:creationId xmlns:a16="http://schemas.microsoft.com/office/drawing/2014/main" id="{B172AD0E-1852-4177-AE70-29A3B397ECB2}"/>
              </a:ext>
            </a:extLst>
          </p:cNvPr>
          <p:cNvSpPr>
            <a:spLocks xmlns:a="http://schemas.openxmlformats.org/drawingml/2006/main" noGrp="1"/>
          </p:cNvSpPr>
          <p:nvPr/>
        </p:nvSpPr>
        <p:spPr>
          <a:xfrm xmlns:a="http://schemas.openxmlformats.org/drawingml/2006/main">
            <a:off x="11620500" y="3562350"/>
            <a:ext cx="6210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4472C4"/>
                </a:solidFill>
                <a:latin typeface="Apple SD Gothic Neo"/>
                <a:ea typeface="Apple SD Gothic Neo"/>
                <a:cs typeface="Apple SD Gothic Neo"/>
              </a:defRPr>
            </a:pPr>
            <a:r>
              <a:rPr sz="2550" b="1">
                <a:solidFill>
                  <a:srgbClr val="4472C4"/>
                </a:solidFill>
                <a:latin typeface="Apple SD Gothic Neo"/>
                <a:ea typeface="Apple SD Gothic Neo"/>
                <a:cs typeface="Apple SD Gothic Neo"/>
              </a:rPr>
              <a:t>7단계 등급과 목표 충족</a:t>
            </a:r>
          </a:p>
        </p:txBody>
      </p:sp>
      <p:graphicFrame>
        <p:nvGraphicFramePr>
          <p:cNvPr id="28" name=""/>
          <p:cNvGraphicFramePr/>
          <p:nvPr/>
        </p:nvGraphicFramePr>
        <p:xfrm>
          <a:off xmlns:a="http://schemas.openxmlformats.org/drawingml/2006/main" x="11620500" y="4143375"/>
          <a:ext xmlns:a="http://schemas.openxmlformats.org/drawingml/2006/main" cx="6210300" cy="5114925"/>
        </p:xfrm>
        <a:graphic xmlns:a="http://schemas.openxmlformats.org/drawingml/2006/main">
          <a:graphicData uri="http://schemas.openxmlformats.org/drawingml/2006/table">
            <a:tbl>
              <a:tblPr firstRow="0" bandRow="0"/>
              <a:tblGrid>
                <a:gridCol w="1381125"/>
                <a:gridCol w="3514725"/>
                <a:gridCol w="1314450"/>
              </a:tblGrid>
              <a:tr h="514350">
                <a:tc>
                  <a:txBody>
                    <a:bodyPr/>
                    <a:lstStyle/>
                    <a:p>
                      <a:pPr algn="l"/>
                      <a:r>
                        <a:rPr sz="1950" b="1">
                          <a:solidFill>
                            <a:srgbClr val="FFFFFF"/>
                          </a:solidFill>
                          <a:latin typeface="Apple SD Gothic Neo"/>
                          <a:ea typeface="Apple SD Gothic Neo"/>
                          <a:cs typeface="Apple SD Gothic Neo"/>
                        </a:rPr>
                        <a:t>표시</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원지표 범위</a:t>
                      </a:r>
                    </a:p>
                  </a:txBody>
                  <a:tcPr marL="133350" marR="114300" marT="57150" marB="57150" anchor="ctr">
                    <a:solidFill>
                      <a:srgbClr val="4472C4"/>
                    </a:solidFill>
                  </a:tcPr>
                </a:tc>
                <a:tc>
                  <a:txBody>
                    <a:bodyPr/>
                    <a:lstStyle/>
                    <a:p>
                      <a:pPr algn="l"/>
                      <a:r>
                        <a:rPr sz="1950" b="1">
                          <a:solidFill>
                            <a:srgbClr val="FFFFFF"/>
                          </a:solidFill>
                          <a:latin typeface="Apple SD Gothic Neo"/>
                          <a:ea typeface="Apple SD Gothic Neo"/>
                          <a:cs typeface="Apple SD Gothic Neo"/>
                        </a:rPr>
                        <a:t>목표</a:t>
                      </a:r>
                    </a:p>
                  </a:txBody>
                  <a:tcPr marL="133350" marR="114300" marT="57150" marB="57150" anchor="ctr">
                    <a:solidFill>
                      <a:srgbClr val="4472C4"/>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0 ≤ x ≤ 1GiB</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1GiB &lt; x ≤ 1.6GiB</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1.6GiB &lt; x ≤ 2.2GiB</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2.2GiB &lt; x ≤ 2.8GiB</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0">
                          <a:solidFill>
                            <a:srgbClr val="222A35"/>
                          </a:solidFill>
                          <a:latin typeface="Arial Unicode MS"/>
                          <a:ea typeface="Arial Unicode MS"/>
                          <a:cs typeface="Arial Unicode MS"/>
                        </a:rPr>
                        <a:t>●○○</a:t>
                      </a:r>
                    </a:p>
                  </a:txBody>
                  <a:tcPr marL="133350" marR="114300" marT="57150" marB="57150" anchor="ctr">
                    <a:solidFill>
                      <a:srgbClr val="E8ECF5"/>
                    </a:solidFill>
                  </a:tcPr>
                </a:tc>
                <a:tc>
                  <a:txBody>
                    <a:bodyPr/>
                    <a:lstStyle/>
                    <a:p>
                      <a:pPr algn="l"/>
                      <a:r>
                        <a:rPr sz="1950" b="0">
                          <a:solidFill>
                            <a:srgbClr val="222A35"/>
                          </a:solidFill>
                          <a:latin typeface="Apple SD Gothic Neo"/>
                          <a:ea typeface="Apple SD Gothic Neo"/>
                          <a:cs typeface="Apple SD Gothic Neo"/>
                        </a:rPr>
                        <a:t>2.8GiB &lt; x ≤ 3.4GiB</a:t>
                      </a:r>
                    </a:p>
                  </a:txBody>
                  <a:tcPr marL="133350" marR="114300" marT="57150" marB="57150" anchor="ctr">
                    <a:solidFill>
                      <a:srgbClr val="E8ECF5"/>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E8ECF5"/>
                    </a:solidFill>
                  </a:tcPr>
                </a:tc>
              </a:tr>
              <a:tr h="657225">
                <a:tc>
                  <a:txBody>
                    <a:bodyPr/>
                    <a:lstStyle/>
                    <a:p>
                      <a:pPr algn="ctr"/>
                      <a:r>
                        <a:rPr sz="2400" b="1">
                          <a:solidFill>
                            <a:srgbClr val="222A35"/>
                          </a:solidFill>
                          <a:latin typeface="Arial Unicode MS"/>
                          <a:ea typeface="Arial Unicode MS"/>
                          <a:cs typeface="Arial Unicode MS"/>
                        </a:rPr>
                        <a:t>◐○○</a:t>
                      </a:r>
                    </a:p>
                  </a:txBody>
                  <a:tcPr marL="133350" marR="114300" marT="57150" marB="57150" anchor="ctr">
                    <a:solidFill>
                      <a:srgbClr val="D9E9F8"/>
                    </a:solidFill>
                  </a:tcPr>
                </a:tc>
                <a:tc>
                  <a:txBody>
                    <a:bodyPr/>
                    <a:lstStyle/>
                    <a:p>
                      <a:pPr algn="l"/>
                      <a:r>
                        <a:rPr sz="1950" b="1">
                          <a:solidFill>
                            <a:srgbClr val="222A35"/>
                          </a:solidFill>
                          <a:latin typeface="Apple SD Gothic Neo"/>
                          <a:ea typeface="Apple SD Gothic Neo"/>
                          <a:cs typeface="Apple SD Gothic Neo"/>
                        </a:rPr>
                        <a:t>3.4GiB &lt; x ≤ 4GiB</a:t>
                      </a:r>
                    </a:p>
                  </a:txBody>
                  <a:tcPr marL="133350" marR="114300" marT="57150" marB="57150" anchor="ctr">
                    <a:solidFill>
                      <a:srgbClr val="D9E9F8"/>
                    </a:solidFill>
                  </a:tcPr>
                </a:tc>
                <a:tc>
                  <a:txBody>
                    <a:bodyPr/>
                    <a:lstStyle/>
                    <a:p>
                      <a:pPr algn="ctr"/>
                      <a:r>
                        <a:rPr sz="1950" b="1">
                          <a:solidFill>
                            <a:srgbClr val="222A35"/>
                          </a:solidFill>
                          <a:latin typeface="Apple SD Gothic Neo"/>
                          <a:ea typeface="Apple SD Gothic Neo"/>
                          <a:cs typeface="Apple SD Gothic Neo"/>
                        </a:rPr>
                        <a:t>충족</a:t>
                      </a:r>
                    </a:p>
                  </a:txBody>
                  <a:tcPr marL="133350" marR="114300" marT="57150" marB="57150" anchor="ctr">
                    <a:solidFill>
                      <a:srgbClr val="D9E9F8"/>
                    </a:solidFill>
                  </a:tcPr>
                </a:tc>
              </a:tr>
              <a:tr h="657225">
                <a:tc>
                  <a:txBody>
                    <a:bodyPr/>
                    <a:lstStyle/>
                    <a:p>
                      <a:pPr algn="ctr"/>
                      <a:r>
                        <a:rPr sz="2400" b="0">
                          <a:solidFill>
                            <a:srgbClr val="AF2E33"/>
                          </a:solidFill>
                          <a:latin typeface="Arial Unicode MS"/>
                          <a:ea typeface="Arial Unicode MS"/>
                          <a:cs typeface="Arial Unicode MS"/>
                        </a:rPr>
                        <a:t>○○○</a:t>
                      </a:r>
                    </a:p>
                  </a:txBody>
                  <a:tcPr marL="133350" marR="114300" marT="57150" marB="57150" anchor="ctr">
                    <a:solidFill>
                      <a:srgbClr val="FAECEC"/>
                    </a:solidFill>
                  </a:tcPr>
                </a:tc>
                <a:tc>
                  <a:txBody>
                    <a:bodyPr/>
                    <a:lstStyle/>
                    <a:p>
                      <a:pPr algn="l"/>
                      <a:r>
                        <a:rPr sz="1950" b="0">
                          <a:solidFill>
                            <a:srgbClr val="AF2E33"/>
                          </a:solidFill>
                          <a:latin typeface="Apple SD Gothic Neo"/>
                          <a:ea typeface="Apple SD Gothic Neo"/>
                          <a:cs typeface="Apple SD Gothic Neo"/>
                        </a:rPr>
                        <a:t>x &gt; 4GiB</a:t>
                      </a:r>
                    </a:p>
                  </a:txBody>
                  <a:tcPr marL="133350" marR="114300" marT="57150" marB="57150" anchor="ctr">
                    <a:solidFill>
                      <a:srgbClr val="FAECEC"/>
                    </a:solidFill>
                  </a:tcPr>
                </a:tc>
                <a:tc>
                  <a:txBody>
                    <a:bodyPr/>
                    <a:lstStyle/>
                    <a:p>
                      <a:pPr algn="ctr"/>
                      <a:r>
                        <a:rPr sz="1950" b="1">
                          <a:solidFill>
                            <a:srgbClr val="AF2E33"/>
                          </a:solidFill>
                          <a:latin typeface="Apple SD Gothic Neo"/>
                          <a:ea typeface="Apple SD Gothic Neo"/>
                          <a:cs typeface="Apple SD Gothic Neo"/>
                        </a:rPr>
                        <a:t>미달</a:t>
                      </a:r>
                    </a:p>
                  </a:txBody>
                  <a:tcPr marL="133350" marR="114300" marT="57150" marB="57150" anchor="ctr">
                    <a:solidFill>
                      <a:srgbClr val="FAECEC"/>
                    </a:solidFill>
                  </a:tcPr>
                </a:tc>
              </a:tr>
            </a:tbl>
          </a:graphicData>
        </a:graphic>
      </p:graphicFrame>
      <p:sp>
        <p:nvSpPr>
          <p:cNvPr id="14" name="guard-note">
            <a:extLst xmlns:a="http://schemas.openxmlformats.org/drawingml/2006/main">
              <a:ext uri="{FF2B5EF4-FFF2-40B4-BE49-F238E27FC236}">
                <a16:creationId xmlns:a16="http://schemas.microsoft.com/office/drawing/2014/main" id="{4BE6E5D0-E88E-4A24-AB42-550098E2F3AB}"/>
              </a:ext>
            </a:extLst>
          </p:cNvPr>
          <p:cNvSpPr>
            <a:spLocks xmlns:a="http://schemas.openxmlformats.org/drawingml/2006/main" noGrp="1"/>
          </p:cNvSpPr>
          <p:nvPr/>
        </p:nvSpPr>
        <p:spPr>
          <a:xfrm xmlns:a="http://schemas.openxmlformats.org/drawingml/2006/main">
            <a:off x="11620500" y="9439275"/>
            <a:ext cx="621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보호 조건: working-set ≤6GiB, 유휴 증가 ≤16MiB</a:t>
            </a:r>
          </a:p>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대표 등급과 보호 조건을 함께 판정</a:t>
            </a:r>
          </a:p>
        </p:txBody>
      </p:sp>
      <p:sp>
        <p:nvSpPr>
          <p:cNvPr id="15" name="source-footer">
            <a:extLst xmlns:a="http://schemas.openxmlformats.org/drawingml/2006/main">
              <a:ext uri="{FF2B5EF4-FFF2-40B4-BE49-F238E27FC236}">
                <a16:creationId xmlns:a16="http://schemas.microsoft.com/office/drawing/2014/main" id="{2E078D68-12AE-45DF-B2F2-B6CE689997A0}"/>
              </a:ext>
            </a:extLst>
          </p:cNvPr>
          <p:cNvSpPr>
            <a:spLocks xmlns:a="http://schemas.openxmlformats.org/drawingml/2006/main" noGrp="1"/>
          </p:cNvSpPr>
          <p:nvPr/>
        </p:nvSpPr>
        <p:spPr>
          <a:xfrm xmlns:a="http://schemas.openxmlformats.org/drawingml/2006/main">
            <a:off x="457200" y="10039350"/>
            <a:ext cx="17373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6606B"/>
                </a:solidFill>
                <a:latin typeface="Apple SD Gothic Neo"/>
                <a:ea typeface="Apple SD Gothic Neo"/>
                <a:cs typeface="Apple SD Gothic Neo"/>
              </a:defRPr>
            </a:pPr>
            <a:r>
              <a:rPr sz="1500" b="0">
                <a:solidFill>
                  <a:srgbClr val="56606B"/>
                </a:solidFill>
                <a:latin typeface="Apple SD Gothic Neo"/>
                <a:ea typeface="Apple SD Gothic Neo"/>
                <a:cs typeface="Apple SD Gothic Neo"/>
              </a:rPr>
              <a:t>Samsung NP960UJH-XG3IN 공식 사양 / Microsoft PrivateUsage/commit 정의 / 목표와 등급은 작성자 PoC 규칙, 실측 전</a:t>
            </a:r>
          </a:p>
        </p:txBody>
      </p:sp>
    </p:spTree>
    <p:extLst>
      <p:ext uri="{BB962C8B-B14F-4D97-AF65-F5344CB8AC3E}">
        <p14:creationId xmlns:p14="http://schemas.microsoft.com/office/powerpoint/2010/main" val="7762645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2026-10-11T09:29:50.3300000Z</dcterms:created>
  <dcterms:modified xsi:type="dcterms:W3CDTF">2026-10-11T09:29:50.3300000Z</dcterms:modified>
</coreProperties>
</file>