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53dd00a2be44af" /><Relationship Type="http://schemas.openxmlformats.org/officeDocument/2006/relationships/extended-properties" Target="/docProps/app.xml" Id="Rc4734f7404e74bb3" /><Relationship Type="http://schemas.openxmlformats.org/officeDocument/2006/relationships/officeDocument" Target="/ppt/presentation.xml" Id="R415a2afdaeb64964" /></Relationships>
</file>

<file path=ppt/presentation.xml><?xml version="1.0" encoding="utf-8"?>
<p:presentation xmlns:p="http://schemas.openxmlformats.org/presentationml/2006/main">
  <p:sldMasterIdLst>
    <p:sldMasterId xmlns:r="http://schemas.openxmlformats.org/officeDocument/2006/relationships" id="2147483648" r:id="Ra9cd6f0fea754559"/>
  </p:sldMasterIdLst>
  <p:notesMasterIdLst>
    <p:notesMasterId xmlns:r="http://schemas.openxmlformats.org/officeDocument/2006/relationships" r:id="R6fa42f2316834f57"/>
  </p:notesMasterIdLst>
  <p:sldIdLst>
    <p:sldId xmlns:r="http://schemas.openxmlformats.org/officeDocument/2006/relationships" id="256" r:id="Re839c732156946ed"/>
    <p:sldId xmlns:r="http://schemas.openxmlformats.org/officeDocument/2006/relationships" id="257" r:id="R38aed98338724477"/>
    <p:sldId xmlns:r="http://schemas.openxmlformats.org/officeDocument/2006/relationships" id="258" r:id="Rfc24fb18dd594eaf"/>
    <p:sldId xmlns:r="http://schemas.openxmlformats.org/officeDocument/2006/relationships" id="259" r:id="R798a56557cec4056"/>
    <p:sldId xmlns:r="http://schemas.openxmlformats.org/officeDocument/2006/relationships" id="260" r:id="Rcf7b14c0e739472f"/>
    <p:sldId xmlns:r="http://schemas.openxmlformats.org/officeDocument/2006/relationships" id="261" r:id="Ra914104953f3480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d2bd9510184242" /><Relationship Type="http://schemas.openxmlformats.org/officeDocument/2006/relationships/slideMaster" Target="/ppt/slideMasters/slideMaster1.xml" Id="Ra9cd6f0fea754559" /><Relationship Type="http://schemas.openxmlformats.org/officeDocument/2006/relationships/notesMaster" Target="/ppt/notesMasters/notesMaster1.xml" Id="R6fa42f2316834f57" /><Relationship Type="http://schemas.openxmlformats.org/officeDocument/2006/relationships/presProps" Target="/ppt/presProps.xml" Id="Re858f81eb22d4d49" /><Relationship Type="http://schemas.openxmlformats.org/officeDocument/2006/relationships/tableStyles" Target="/ppt/tableStyles.xml" Id="R64e562d313f14e3c" /><Relationship Type="http://schemas.openxmlformats.org/officeDocument/2006/relationships/slide" Target="/ppt/slides/slide1.xml" Id="Re839c732156946ed" /><Relationship Type="http://schemas.openxmlformats.org/officeDocument/2006/relationships/slide" Target="/ppt/slides/slide2.xml" Id="R38aed98338724477" /><Relationship Type="http://schemas.openxmlformats.org/officeDocument/2006/relationships/slide" Target="/ppt/slides/slide3.xml" Id="Rfc24fb18dd594eaf" /><Relationship Type="http://schemas.openxmlformats.org/officeDocument/2006/relationships/slide" Target="/ppt/slides/slide4.xml" Id="R798a56557cec4056" /><Relationship Type="http://schemas.openxmlformats.org/officeDocument/2006/relationships/slide" Target="/ppt/slides/slide5.xml" Id="Rcf7b14c0e739472f" /><Relationship Type="http://schemas.openxmlformats.org/officeDocument/2006/relationships/slide" Target="/ppt/slides/slide6.xml" Id="Ra914104953f348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165e550be4f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07de07e951404e" /><Relationship Type="http://schemas.openxmlformats.org/officeDocument/2006/relationships/notesMaster" Target="/ppt/notesMasters/notesMaster1.xml" Id="Rb382651891e643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4e9ebab9e4cb7" /><Relationship Type="http://schemas.openxmlformats.org/officeDocument/2006/relationships/notesMaster" Target="/ppt/notesMasters/notesMaster1.xml" Id="Refa4eec1a1d34a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1b7348e4974944" /><Relationship Type="http://schemas.openxmlformats.org/officeDocument/2006/relationships/notesMaster" Target="/ppt/notesMasters/notesMaster1.xml" Id="R35e418922b6e45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ffffc365cc4d7c" /><Relationship Type="http://schemas.openxmlformats.org/officeDocument/2006/relationships/notesMaster" Target="/ppt/notesMasters/notesMaster1.xml" Id="R1a729074f53849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fef79657884ac5" /><Relationship Type="http://schemas.openxmlformats.org/officeDocument/2006/relationships/notesMaster" Target="/ppt/notesMasters/notesMaster1.xml" Id="R46984451388d4c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42d039a2334ea5" /><Relationship Type="http://schemas.openxmlformats.org/officeDocument/2006/relationships/notesMaster" Target="/ppt/notesMasters/notesMaster1.xml" Id="R741486334b4246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≥110/115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Google Gemini 3 Flash 공식 단가: https://ai.google.dev/gemini-api/docs/pricing#gemini-3-flash-preview</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$0.416320, 이력 audio/추가생산/재시도 여유 $0.083680.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Google Gemini 3 Flash 공식 단가: https://ai.google.dev/gemini-api/docs/pricing#gemini-3-flash-preview</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0.099200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**0.416320** |</a:t>
            </a:r>
          </a:p>
          <a:p xmlns:a="http://schemas.openxmlformats.org/drawingml/2006/main">
            <a:r>
              <a:t>| 이력 audio 재입력/추가생산/재시도 여유 | **0.083680** |</a:t>
            </a:r>
          </a:p>
          <a:p xmlns:a="http://schemas.openxmlformats.org/drawingml/2006/main">
            <a:r>
              <a:t>| 목표 | **0.50/P21** |</a:t>
            </a:r>
          </a:p>
          <a:p xmlns:a="http://schemas.openxmlformats.org/drawingml/2006/main">
            <a:r>
              <a:t/>
            </a:r>
          </a:p>
          <a:p xmlns:a="http://schemas.openxmlformats.org/drawingml/2006/main">
            <a:r>
              <a:t>음성 기준을 GPT Realtime으로 바꾼 동일 P21에서 다시 계산했다. 기본 소계 대비 약 20.10%의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2,615 token($0.083680)이고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2b57ecf4df4a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9e733e3def4255" /><Relationship Type="http://schemas.openxmlformats.org/officeDocument/2006/relationships/slideLayout" Target="/ppt/slideLayouts/slideLayout1.xml" Id="R41eb6e39a7f1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eb6e39a7f1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a521fb604f47c5" /><Relationship Type="http://schemas.openxmlformats.org/officeDocument/2006/relationships/notesSlide" Target="/ppt/notesSlides/notesSlide1.xml" Id="R7fcac752cfd445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4da2babc6c432d" /><Relationship Type="http://schemas.openxmlformats.org/officeDocument/2006/relationships/notesSlide" Target="/ppt/notesSlides/notesSlide2.xml" Id="Race6ddbfc19846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06f0dd0b3f4a95" /><Relationship Type="http://schemas.openxmlformats.org/officeDocument/2006/relationships/notesSlide" Target="/ppt/notesSlides/notesSlide3.xml" Id="Rbdad223893a54f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99dca1f4494c3a" /><Relationship Type="http://schemas.openxmlformats.org/officeDocument/2006/relationships/notesSlide" Target="/ppt/notesSlides/notesSlide4.xml" Id="Rb6a7842b666840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f29a0fe354fa1" /><Relationship Type="http://schemas.openxmlformats.org/officeDocument/2006/relationships/notesSlide" Target="/ppt/notesSlides/notesSlide5.xml" Id="Rdd2c226678fe4b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8c08258f564f41" /><Relationship Type="http://schemas.openxmlformats.org/officeDocument/2006/relationships/notesSlide" Target="/ppt/notesSlides/notesSlide6.xml" Id="Rfa2b445aa3314e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BED8959-5807-44DB-A739-92299D05645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2E27125D-60F2-4630-83D1-AF12C515B7B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3CC887C4-F6A3-4B42-A16A-8B7F1F05AB44}"/>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E457B687-B381-462F-B87D-E6EC9526A3BB}"/>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456CA4F3-A4AE-45E7-9963-3339E4795226}"/>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F918AF23-6A68-4CC6-B968-B6A7AA533A21}"/>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504648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F0F27ED-1ED9-47F0-9C62-31491C94CDB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CC50DD73-EDB4-4DEC-BD76-7D49ABBADA7B}"/>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3F055C21-5283-40B7-9AB4-23F779DD897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F82A499F-E210-47B5-8D9D-E99DA4C623C5}"/>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16F27A96-B975-4D30-8520-93B0BAE53F69}"/>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$0.416320 + 추가 여유 $0.083680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C4E82951-2C46-445E-BEA3-8E725A3B35E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7762926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624CFB2-432A-4515-B3C8-6B1CB8E500B5}"/>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3FEA3865-F08A-49E9-8CFB-E494A8604EEF}"/>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8E3AE3D-8CFC-4C45-9FD1-05DA56DDDEA7}"/>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BB5A805E-0C8E-42F9-8D63-EC2CFAE05EAD}"/>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8F1C644A-C225-4FD6-8EB9-048C86355532}"/>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25"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25"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S1~S6: 2 / 5 / 3 / 3 / 4 / 4개 = 21개</a:t>
                      </a:r>
                    </a:p>
                    <a:p>
                      <a:pPr algn="l"/>
                      <a:r>
                        <a:rPr sz="2025"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DP-41/42/44/45의 실제 기제 경로</a:t>
                      </a:r>
                    </a:p>
                    <a:p>
                      <a:pPr algn="l"/>
                      <a:r>
                        <a:rPr sz="2025"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각 활동에서 21개를 한 번씩, 전체 5회 독립 초기화</a:t>
                      </a:r>
                    </a:p>
                    <a:p>
                      <a:pPr algn="l"/>
                      <a:r>
                        <a:rPr sz="2025"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사용자 목표 19 + Agent 단독 2장면</a:t>
                      </a:r>
                    </a:p>
                    <a:p>
                      <a:pPr algn="l"/>
                      <a:r>
                        <a:rPr sz="2025"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모든 21사례의 6조건 × 5회</a:t>
                      </a:r>
                    </a:p>
                    <a:p>
                      <a:pPr algn="l"/>
                      <a:r>
                        <a:rPr sz="2025"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105시나리오 / 630조건</a:t>
                      </a:r>
                    </a:p>
                    <a:p>
                      <a:pPr algn="l"/>
                      <a:r>
                        <a:rPr sz="2025"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25"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P21 전체 5회: 비용 평균 / 메모리 최대</a:t>
                      </a:r>
                    </a:p>
                    <a:p>
                      <a:pPr algn="l"/>
                      <a:r>
                        <a:rPr sz="2025"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비용 ≤$0.50/P21 / commit ≤4GiB</a:t>
                      </a:r>
                    </a:p>
                    <a:p>
                      <a:pPr algn="l"/>
                      <a:r>
                        <a:rPr sz="2025"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과거 2,000turn / 완료 Task 200 / 원본 30개</a:t>
                      </a:r>
                    </a:p>
                    <a:p>
                      <a:pPr algn="l"/>
                      <a:r>
                        <a:rPr sz="2025"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초기/미사용 생산, 재사용, 첫 사용, 집중 도착</a:t>
                      </a:r>
                    </a:p>
                    <a:p>
                      <a:pPr algn="l"/>
                      <a:r>
                        <a:rPr sz="2025"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25"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원본 갱신 4건 / maintenance 2회 / B04 철회</a:t>
                      </a:r>
                    </a:p>
                    <a:p>
                      <a:pPr algn="l"/>
                      <a:r>
                        <a:rPr sz="2025"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일반 ≥110/115 ≤2초 / 집중 30/30 ≤5초</a:t>
                      </a:r>
                    </a:p>
                    <a:p>
                      <a:pPr algn="l"/>
                      <a:r>
                        <a:rPr sz="2025"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4C361FAC-7CF2-4A80-ABF2-183B63C782ED}"/>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2048637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B662A00-F331-4EBC-AAC3-45CC9F41C165}"/>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F70889D0-51B4-4E1D-8C7D-AA7442E4FD2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1424BA80-9AE5-449D-B0D0-7E839ED19BBA}"/>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1272F382-65DD-422A-8786-4C5FB00A7754}"/>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3C56BD69-5C1B-4AC5-BEDC-41E366C30CFE}"/>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제한된 정보 조회</a:t>
                      </a:r>
                    </a:p>
                    <a:p>
                      <a:pPr algn="l"/>
                      <a:r>
                        <a:rPr sz="1875"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보고서 업무 위임</a:t>
                      </a:r>
                    </a:p>
                    <a:p>
                      <a:pPr algn="l"/>
                      <a:r>
                        <a:rPr sz="1875"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두 표 지칭</a:t>
                      </a:r>
                    </a:p>
                    <a:p>
                      <a:pPr algn="l"/>
                      <a:r>
                        <a:rPr sz="1875"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과거 설명과 두 업무 결과 재사용</a:t>
                      </a:r>
                    </a:p>
                    <a:p>
                      <a:pPr algn="l"/>
                      <a:r>
                        <a:rPr sz="1875"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갱신된 원본의 과거 값 지정</a:t>
                      </a:r>
                    </a:p>
                    <a:p>
                      <a:pPr algn="l"/>
                      <a:r>
                        <a:rPr sz="1875"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같은 과거 근거의 두 번째 사용</a:t>
                      </a:r>
                    </a:p>
                    <a:p>
                      <a:pPr algn="l"/>
                      <a:r>
                        <a:rPr sz="1875"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새로 도착한 과거 근거의 첫 사용</a:t>
                      </a:r>
                    </a:p>
                    <a:p>
                      <a:pPr algn="l"/>
                      <a:r>
                        <a:rPr sz="1875"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8E924A3F-8653-467A-BE8C-188FF3BBDA0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0350221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45DC734-68E2-4E8C-9341-AB22F83CB480}"/>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99234F12-6E7E-465C-8DAF-F95D70EA65DA}"/>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52EC775C-65B4-491B-A07B-D6D37D0BDEB1}"/>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7C85A454-97F5-450E-9AFF-AB0AB53AB2C0}"/>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8D4051D2-6029-4B21-9738-1A61D4217D2E}"/>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독립된 두 조회 요청</a:t>
                      </a:r>
                    </a:p>
                    <a:p>
                      <a:pPr algn="l"/>
                      <a:r>
                        <a:rPr sz="1875"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요약 산출물에 의존하는 메일</a:t>
                      </a:r>
                    </a:p>
                    <a:p>
                      <a:pPr algn="l"/>
                      <a:r>
                        <a:rPr sz="1875"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일정 조건의 변경 재확인</a:t>
                      </a:r>
                    </a:p>
                    <a:p>
                      <a:pPr algn="l"/>
                      <a:r>
                        <a:rPr sz="1875"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부분 정정과 늦은 후보</a:t>
                      </a:r>
                    </a:p>
                    <a:p>
                      <a:pPr algn="l"/>
                      <a:r>
                        <a:rPr sz="1875"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중단 뒤 지정 수치 설명</a:t>
                      </a:r>
                    </a:p>
                    <a:p>
                      <a:pPr algn="l"/>
                      <a:r>
                        <a:rPr sz="1875"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특정 업무 취소와 접수 미확인</a:t>
                      </a:r>
                    </a:p>
                    <a:p>
                      <a:pPr algn="l"/>
                      <a:r>
                        <a:rPr sz="1875"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교차 질문과 철회</a:t>
                      </a:r>
                    </a:p>
                    <a:p>
                      <a:pPr algn="l"/>
                      <a:r>
                        <a:rPr sz="1875"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8B03BFE4-188A-4E07-AC4B-1D18DC0C1758}"/>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2590281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7DAF67F-1175-4DBE-BB58-EA26F2912536}"/>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9470C8A2-8752-43AF-B6BF-C5C4E7A7C32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D88009A-F035-4E63-876E-5603AB70211D}"/>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4001907E-C726-4D4B-BE37-723239F49EC2}"/>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862A8418-1031-4A5F-9B96-0803056FA4FC}"/>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역전과 중복</a:t>
                      </a:r>
                    </a:p>
                    <a:p>
                      <a:pPr algn="l"/>
                      <a:r>
                        <a:rPr sz="1875"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종료 중 결과와 재연결</a:t>
                      </a:r>
                    </a:p>
                    <a:p>
                      <a:pPr algn="l"/>
                      <a:r>
                        <a:rPr sz="1875"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도착 → Text 전달 (1)</a:t>
                      </a:r>
                    </a:p>
                    <a:p>
                      <a:pPr algn="l"/>
                      <a:r>
                        <a:rPr sz="1875"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네 Agent 사건과 보고서 정정</a:t>
                      </a:r>
                    </a:p>
                    <a:p>
                      <a:pPr algn="l"/>
                      <a:r>
                        <a:rPr sz="1875"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끼어들기 → local stop (1)</a:t>
                      </a:r>
                    </a:p>
                    <a:p>
                      <a:pPr algn="l"/>
                      <a:r>
                        <a:rPr sz="1875"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모호한 과거 보고서 확인</a:t>
                      </a:r>
                    </a:p>
                    <a:p>
                      <a:pPr algn="l"/>
                      <a:r>
                        <a:rPr sz="1875"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철회된 질문 답변과 승인 범위</a:t>
                      </a:r>
                    </a:p>
                    <a:p>
                      <a:pPr algn="l"/>
                      <a:r>
                        <a:rPr sz="1875"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필요한 자료의 접근 거부</a:t>
                      </a:r>
                    </a:p>
                    <a:p>
                      <a:pPr algn="l"/>
                      <a:r>
                        <a:rPr sz="1875"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41/42/45</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실제 제시된 유효 질문에 답변</a:t>
                      </a:r>
                    </a:p>
                    <a:p>
                      <a:pPr algn="l"/>
                      <a:r>
                        <a:rPr sz="1875"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FE29488F-569C-4E6F-B2AC-49EF16C5A5C8}"/>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80019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2026-10-11T09:29:50.3330000Z</dcterms:created>
  <dcterms:modified xsi:type="dcterms:W3CDTF">2026-10-11T09:29:50.3330000Z</dcterms:modified>
</coreProperties>
</file>