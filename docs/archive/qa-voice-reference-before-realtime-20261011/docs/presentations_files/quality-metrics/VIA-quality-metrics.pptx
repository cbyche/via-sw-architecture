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d3b7314a6246bd" /><Relationship Type="http://schemas.openxmlformats.org/officeDocument/2006/relationships/extended-properties" Target="/docProps/app.xml" Id="Rb73b613cb6a242e7" /><Relationship Type="http://schemas.openxmlformats.org/officeDocument/2006/relationships/officeDocument" Target="/ppt/presentation.xml" Id="R6ea92bb1f5da4d33" /></Relationships>
</file>

<file path=ppt/presentation.xml><?xml version="1.0" encoding="utf-8"?>
<p:presentation xmlns:p="http://schemas.openxmlformats.org/presentationml/2006/main">
  <p:sldMasterIdLst>
    <p:sldMasterId xmlns:r="http://schemas.openxmlformats.org/officeDocument/2006/relationships" id="2147483648" r:id="Rf72a6127f7344ad6"/>
  </p:sldMasterIdLst>
  <p:notesMasterIdLst>
    <p:notesMasterId xmlns:r="http://schemas.openxmlformats.org/officeDocument/2006/relationships" r:id="Re4fcb25a3fbe4260"/>
  </p:notesMasterIdLst>
  <p:sldIdLst>
    <p:sldId xmlns:r="http://schemas.openxmlformats.org/officeDocument/2006/relationships" id="256" r:id="Rdaa8f9a47e3647e9"/>
    <p:sldId xmlns:r="http://schemas.openxmlformats.org/officeDocument/2006/relationships" id="257" r:id="R8247ae78175b4709"/>
    <p:sldId xmlns:r="http://schemas.openxmlformats.org/officeDocument/2006/relationships" id="258" r:id="R31d71a2a7c7b4c9c"/>
    <p:sldId xmlns:r="http://schemas.openxmlformats.org/officeDocument/2006/relationships" id="259" r:id="R6c16eda630374837"/>
    <p:sldId xmlns:r="http://schemas.openxmlformats.org/officeDocument/2006/relationships" id="260" r:id="R333ecb9b247c4610"/>
    <p:sldId xmlns:r="http://schemas.openxmlformats.org/officeDocument/2006/relationships" id="261" r:id="Ra4ced2cf08b54d1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c03065d04241ec" /><Relationship Type="http://schemas.openxmlformats.org/officeDocument/2006/relationships/slideMaster" Target="/ppt/slideMasters/slideMaster1.xml" Id="Rf72a6127f7344ad6" /><Relationship Type="http://schemas.openxmlformats.org/officeDocument/2006/relationships/notesMaster" Target="/ppt/notesMasters/notesMaster1.xml" Id="Re4fcb25a3fbe4260" /><Relationship Type="http://schemas.openxmlformats.org/officeDocument/2006/relationships/presProps" Target="/ppt/presProps.xml" Id="Rbebc5e0561584841" /><Relationship Type="http://schemas.openxmlformats.org/officeDocument/2006/relationships/tableStyles" Target="/ppt/tableStyles.xml" Id="R9000f4caa1c44787" /><Relationship Type="http://schemas.openxmlformats.org/officeDocument/2006/relationships/slide" Target="/ppt/slides/slide1.xml" Id="Rdaa8f9a47e3647e9" /><Relationship Type="http://schemas.openxmlformats.org/officeDocument/2006/relationships/slide" Target="/ppt/slides/slide2.xml" Id="R8247ae78175b4709" /><Relationship Type="http://schemas.openxmlformats.org/officeDocument/2006/relationships/slide" Target="/ppt/slides/slide3.xml" Id="R31d71a2a7c7b4c9c" /><Relationship Type="http://schemas.openxmlformats.org/officeDocument/2006/relationships/slide" Target="/ppt/slides/slide4.xml" Id="R6c16eda630374837" /><Relationship Type="http://schemas.openxmlformats.org/officeDocument/2006/relationships/slide" Target="/ppt/slides/slide5.xml" Id="R333ecb9b247c4610" /><Relationship Type="http://schemas.openxmlformats.org/officeDocument/2006/relationships/slide" Target="/ppt/slides/slide6.xml" Id="Ra4ced2cf08b54d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ed2fe1e9644f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b4b20b73d54db5" /><Relationship Type="http://schemas.openxmlformats.org/officeDocument/2006/relationships/notesMaster" Target="/ppt/notesMasters/notesMaster1.xml" Id="R310e1538586948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1771ee8c434281" /><Relationship Type="http://schemas.openxmlformats.org/officeDocument/2006/relationships/notesMaster" Target="/ppt/notesMasters/notesMaster1.xml" Id="R79fd670a7cb840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679d68a561478c" /><Relationship Type="http://schemas.openxmlformats.org/officeDocument/2006/relationships/notesMaster" Target="/ppt/notesMasters/notesMaster1.xml" Id="R82bea7b559fd4e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9da6b1ce094188" /><Relationship Type="http://schemas.openxmlformats.org/officeDocument/2006/relationships/notesMaster" Target="/ppt/notesMasters/notesMaster1.xml" Id="Re6635bc4a24c47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b8226baac647e2" /><Relationship Type="http://schemas.openxmlformats.org/officeDocument/2006/relationships/notesMaster" Target="/ppt/notesMasters/notesMaster1.xml" Id="R5ec6f3d97ad84e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3fecfa9d67434b" /><Relationship Type="http://schemas.openxmlformats.org/officeDocument/2006/relationships/notesMaster" Target="/ppt/notesMasters/notesMaster1.xml" Id="R2018bfdbd60c40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≥110/115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Google Gemini 3 Flash 공식 단가: https://ai.google.dev/gemini-api/docs/pricing#gemini-3-flash-preview</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$0.30/P21 이하</a:t>
            </a:r>
          </a:p>
          <a:p xmlns:a="http://schemas.openxmlformats.org/drawingml/2006/main">
            <a:r>
              <a:t>목표 근거: 동일 21사례의 의미 62호출/음성 입력 50초/출력 179초 예산에서 기본 $0.173567, 여유 $0.126433.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Google Gemini 3 Flash 공식 단가: https://ai.google.dev/gemini-api/docs/pricing#gemini-3-flash-preview</a:t>
            </a:r>
          </a:p>
          <a:p xmlns:a="http://schemas.openxmlformats.org/drawingml/2006/main">
            <a:r>
              <a:t>Google Live 공식 가격표: https://ai.google.dev/gemini-api/docs/pricing</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0.099200 |</a:t>
            </a:r>
          </a:p>
          <a:p xmlns:a="http://schemas.openxmlformats.org/drawingml/2006/main">
            <a:r>
              <a:t>| 음성audio 입력50초/출력예산179초 | 0.057867 |</a:t>
            </a:r>
          </a:p>
          <a:p xmlns:a="http://schemas.openxmlformats.org/drawingml/2006/main">
            <a:r>
              <a:t>| 음성Text/context 입력10,000/출력2,000 token | 0.016500 |</a:t>
            </a:r>
          </a:p>
          <a:p xmlns:a="http://schemas.openxmlformats.org/drawingml/2006/main">
            <a:r>
              <a:t>| 기본 총액 | **0.173567** |</a:t>
            </a:r>
          </a:p>
          <a:p xmlns:a="http://schemas.openxmlformats.org/drawingml/2006/main">
            <a:r>
              <a:t>| 초기/추가생산/재시도 여유 | **0.126433** |</a:t>
            </a:r>
          </a:p>
          <a:p xmlns:a="http://schemas.openxmlformats.org/drawingml/2006/main">
            <a:r>
              <a:t>| 목표 | **0.30/P21** |</a:t>
            </a:r>
          </a:p>
          <a:p xmlns:a="http://schemas.openxmlformats.org/drawingml/2006/main">
            <a:r>
              <a:t/>
            </a:r>
          </a:p>
          <a:p xmlns:a="http://schemas.openxmlformats.org/drawingml/2006/main">
            <a:r>
              <a:t>W100의 $1.50를 새 묶음에 그대로 적용하지 않고 동일 P21 사용량에서 다시 계산했다. 기본 대비 약 72.84%의 추가 여유를 둔 작성자 평가 예산이며 상품 가격이나 모델 성능 보장이 아니다.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차이 기준(목표의 10%)으로 두고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8d46c5196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47b475f3e44495" /><Relationship Type="http://schemas.openxmlformats.org/officeDocument/2006/relationships/slideLayout" Target="/ppt/slideLayouts/slideLayout1.xml" Id="R9dc64429a39a41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c64429a39a41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f80ad63bcc4c08" /><Relationship Type="http://schemas.openxmlformats.org/officeDocument/2006/relationships/notesSlide" Target="/ppt/notesSlides/notesSlide1.xml" Id="R8b332602f2554b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800946e79246c9" /><Relationship Type="http://schemas.openxmlformats.org/officeDocument/2006/relationships/notesSlide" Target="/ppt/notesSlides/notesSlide2.xml" Id="Ra8fbb42a9afd47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2df3d8cec04854" /><Relationship Type="http://schemas.openxmlformats.org/officeDocument/2006/relationships/notesSlide" Target="/ppt/notesSlides/notesSlide3.xml" Id="Rfa7a0ec7f4d843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86651ab8974d14" /><Relationship Type="http://schemas.openxmlformats.org/officeDocument/2006/relationships/notesSlide" Target="/ppt/notesSlides/notesSlide4.xml" Id="Rdeb7a44a9e564d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db043ccc1f4230" /><Relationship Type="http://schemas.openxmlformats.org/officeDocument/2006/relationships/notesSlide" Target="/ppt/notesSlides/notesSlide5.xml" Id="Ra72a6df3d6cc43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601a2697b14872" /><Relationship Type="http://schemas.openxmlformats.org/officeDocument/2006/relationships/notesSlide" Target="/ppt/notesSlides/notesSlide6.xml" Id="Ra873b62f6fc649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F9BA9B6C-C7E4-46CB-83A5-264807E5E7BC}"/>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E200AD-A1CA-402A-9320-E2D513B359A8}"/>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9B56A50-7C0E-4435-BCED-D7A33AB7595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40A5D066-9647-4CF4-96E9-91A493B6CB3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F63341DE-C70F-49B6-8B87-83E4AD025869}"/>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7657E7D9-B99C-44D0-9994-8FE16B8DFEC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8CF1EAEE-513C-40B7-8A26-B379D906C13F}"/>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B33F44BF-3776-444B-85F1-AC1347086DA3}"/>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18F286D-AC09-4CFE-8BC9-4BA459A872FE}"/>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6CCAE1F7-2EDF-4A2A-A72F-A9026631BD37}"/>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48843C8-2CDF-4779-B0CB-5B715DF25175}"/>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7B2DFF26-5DC1-4B78-95F0-ED37C8F6A891}"/>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007318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74E1D627-06F9-4C44-AFA4-99673124E61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4DD14776-0939-40A3-9A0A-F2B9DFEF77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3A293714-D6A5-4EEC-8A1C-CD485CC61B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B2A52F1E-E7F5-40F2-8EE3-29DE76FCB31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670EBEB1-9929-4552-85B6-DC5F4316F3EE}"/>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395222C-A8F5-42DF-A9A1-D037FFF77105}"/>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4B081A4E-4298-41D9-AC52-33AED2726002}"/>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100/200/400 token/s는 가정, 목표 달성 미입증.</a:t>
            </a:r>
          </a:p>
        </p:txBody>
      </p:sp>
      <p:sp>
        <p:nvSpPr>
          <p:cNvPr id="9" name="calculation-title">
            <a:extLst xmlns:a="http://schemas.openxmlformats.org/drawingml/2006/main">
              <a:ext uri="{FF2B5EF4-FFF2-40B4-BE49-F238E27FC236}">
                <a16:creationId xmlns:a16="http://schemas.microsoft.com/office/drawing/2014/main" id="{A852B854-A425-4661-88CC-8EA6FA70F345}"/>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≥110/115회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82E8DF0-B550-44EE-BE91-D4873B0B93F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C3457857-7072-4F4E-ABAE-AAA10E60456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E931CB2-FE4D-43D0-874A-9DB50A2CC6D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≥110/115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544FF40-C5CA-46C6-8E70-272BC54BC8E1}"/>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Google Gemini 3 Flash 공식 단가 / 목표와 등급은 작성자 PoC 규칙, 실측 전</a:t>
            </a:r>
          </a:p>
        </p:txBody>
      </p:sp>
    </p:spTree>
    <p:extLst>
      <p:ext uri="{BB962C8B-B14F-4D97-AF65-F5344CB8AC3E}">
        <p14:creationId xmlns:p14="http://schemas.microsoft.com/office/powerpoint/2010/main" val="952071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E685C4C-8CE6-450B-AA67-69547AAF235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F4D4EBA6-6529-492B-8678-F10D201A453A}"/>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12FBA5A0-A9F1-4973-A434-8DC33224A32D}"/>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6B7A434B-9819-424A-AA88-42B2FD7E94A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DF2591B9-D125-4270-A5FE-88068A5588EA}"/>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4669B9B7-4CD8-4718-BA2B-EC1FB4B450EA}"/>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BFE87A87-CD9E-4ADA-AA63-DCE47BCAFA77}"/>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90D2848E-D584-4A46-94DD-6AE85EC2FA9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E0254387-46EC-4F44-A80F-BE47CD965C40}"/>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53634A0B-CC79-49C1-8441-97174656B1D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FFF8FD8-339B-45FD-A699-A398EB975FA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9F71124B-3300-418A-81C9-17EBE68B406D}"/>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63713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6620C269-265C-4ECE-BDB8-E9E16F2DA4C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2CAFB5EC-793C-485D-90A2-AB1D85B1120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3E27D1EA-5F6F-4AAC-8E6B-98500E2DFD4D}"/>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$0.30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EC9C827-7F28-43DF-855F-E4BF4A10E69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2512F199-032F-48FC-9755-D448A3984A5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C7738897-0D48-4F27-ADF3-68B78D06AC2B}"/>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공식 단가: Gemini 3 Flash: 입력 $0.50 / 출력 $3.00, 1M token.</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입력 $0.005 / 출력 $0.018, 1분 근사.</a:t>
            </a:r>
          </a:p>
        </p:txBody>
      </p:sp>
      <p:sp>
        <p:nvSpPr>
          <p:cNvPr id="8" name="choice">
            <a:extLst xmlns:a="http://schemas.openxmlformats.org/drawingml/2006/main">
              <a:ext uri="{FF2B5EF4-FFF2-40B4-BE49-F238E27FC236}">
                <a16:creationId xmlns:a16="http://schemas.microsoft.com/office/drawing/2014/main" id="{29531019-4047-4CA1-8B1D-AEA723B8E6B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$0.173567에 $0.126433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초기/배경 생산, 재시도와 청구 context 모두 포함.</a:t>
            </a:r>
          </a:p>
        </p:txBody>
      </p:sp>
      <p:sp>
        <p:nvSpPr>
          <p:cNvPr id="9" name="calculation-title">
            <a:extLst xmlns:a="http://schemas.openxmlformats.org/drawingml/2006/main">
              <a:ext uri="{FF2B5EF4-FFF2-40B4-BE49-F238E27FC236}">
                <a16:creationId xmlns:a16="http://schemas.microsoft.com/office/drawing/2014/main" id="{181F778B-0899-409A-93D3-7E156FC57DF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$0.0992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$0.057867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10k 입력 / 2k 출력 = $0.0165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총액</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$0.0992 + $0.057867 + $0.0165 = $0.173567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$0.300000 - $0.173567 = $0.126433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A218A747-0982-4EAD-9F99-2C1C3C9FDD6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13B67DC3-4EE5-43D4-BCC4-BFAEBF90993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$0.10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$0.10 &lt; x ≤ $0.14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$0.14 &lt; x ≤ $0.18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$0.18 &lt; x ≤ $0.22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$0.22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$0.26 &lt; x ≤ $0.30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$0.30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3F67B8A4-23D3-437C-BC95-CB82D9C921B3}"/>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DFDDAEE0-8608-4F0E-BB6A-2771732CEA7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Google Gemini 3 Flash 공식 단가 / Google Live 공식 가격표 / 목표와 등급은 작성자 PoC 규칙, 실측 전</a:t>
            </a:r>
          </a:p>
        </p:txBody>
      </p:sp>
    </p:spTree>
    <p:extLst>
      <p:ext uri="{BB962C8B-B14F-4D97-AF65-F5344CB8AC3E}">
        <p14:creationId xmlns:p14="http://schemas.microsoft.com/office/powerpoint/2010/main" val="6923710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2AEB6BA-5870-4032-9B91-6B78F8077280}"/>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425205BF-167E-47BC-8F0F-ADABBA137DF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5F5D0BF-EAB8-46E2-A069-FB6D6BF84AA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6AE1A1C1-2455-4696-8FC6-0A5FD8161CD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0AD49BEE-EFA5-405A-BE3F-F99DD23D5ACE}"/>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0DA33000-237C-46CE-92E2-FF968F6E9034}"/>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DBDEF3AA-B7B7-4119-9A2E-22B8950ADCD7}"/>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C09D42E4-1BDD-4BD2-A599-D291BA0BB10D}"/>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222CD90-D0F8-4FF5-A2D3-0FAEA9A99917}"/>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DA502C76-3D3E-407B-A616-82934774F51E}"/>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60746C5-7991-4429-8DD0-FE52B88DCCB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101E0437-40CC-49C7-A949-C3AF73DCEC2F}"/>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701680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AD2CA77-9EBC-499C-9316-E3FA9D5D551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9D56CFE-D111-402A-9B91-4F564F97D51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CC42857-77F8-4E96-A0E5-09655EE9A9B0}"/>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CFA1D36-14B1-4C40-A431-76FB3E2D1516}"/>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9FD058ED-912A-4C4A-8C47-635B6AF90521}"/>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E03C405-0FC0-4979-A34A-EE48002149CA}"/>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4E81BBB6-9CC1-4867-AE28-CE2683A054E0}"/>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04237FF3-CE64-491A-AC71-A55DBACDA6EF}"/>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4AF3841-3BBD-4482-9767-825B681A4E53}"/>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507172C0-BC4F-441A-AF8B-8BAADA63E7AA}"/>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70CF6E4-4E02-4C3E-A96D-C3177B29B7A2}"/>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2C6308B5-FFC7-4E25-BC34-69F953B372C7}"/>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104366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2026-10-11T09:00:16.4670000Z</dcterms:created>
  <dcterms:modified xsi:type="dcterms:W3CDTF">2026-10-11T09:00:16.4670000Z</dcterms:modified>
</coreProperties>
</file>