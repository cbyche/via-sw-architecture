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cb865148ab4b38" /><Relationship Type="http://schemas.openxmlformats.org/officeDocument/2006/relationships/extended-properties" Target="/docProps/app.xml" Id="R293f746d45294779" /><Relationship Type="http://schemas.openxmlformats.org/officeDocument/2006/relationships/officeDocument" Target="/ppt/presentation.xml" Id="R073c7978dc3c4a66" /></Relationships>
</file>

<file path=ppt/presentation.xml><?xml version="1.0" encoding="utf-8"?>
<p:presentation xmlns:p="http://schemas.openxmlformats.org/presentationml/2006/main">
  <p:sldMasterIdLst>
    <p:sldMasterId xmlns:r="http://schemas.openxmlformats.org/officeDocument/2006/relationships" id="2147483648" r:id="R9b19b2511c344ab7"/>
  </p:sldMasterIdLst>
  <p:notesMasterIdLst>
    <p:notesMasterId xmlns:r="http://schemas.openxmlformats.org/officeDocument/2006/relationships" r:id="Rdadffbb602d34743"/>
  </p:notesMasterIdLst>
  <p:sldIdLst>
    <p:sldId xmlns:r="http://schemas.openxmlformats.org/officeDocument/2006/relationships" id="256" r:id="Rcc4ae133cd934d31"/>
    <p:sldId xmlns:r="http://schemas.openxmlformats.org/officeDocument/2006/relationships" id="257" r:id="R5c1a50768c4a422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30022e79bc4864" /><Relationship Type="http://schemas.openxmlformats.org/officeDocument/2006/relationships/slideMaster" Target="/ppt/slideMasters/slideMaster1.xml" Id="R9b19b2511c344ab7" /><Relationship Type="http://schemas.openxmlformats.org/officeDocument/2006/relationships/notesMaster" Target="/ppt/notesMasters/notesMaster1.xml" Id="Rdadffbb602d34743" /><Relationship Type="http://schemas.openxmlformats.org/officeDocument/2006/relationships/presProps" Target="/ppt/presProps.xml" Id="R65c602d592fe4510" /><Relationship Type="http://schemas.openxmlformats.org/officeDocument/2006/relationships/tableStyles" Target="/ppt/tableStyles.xml" Id="Rd254a1124b624567" /><Relationship Type="http://schemas.openxmlformats.org/officeDocument/2006/relationships/slide" Target="/ppt/slides/slide1.xml" Id="Rcc4ae133cd934d31" /><Relationship Type="http://schemas.openxmlformats.org/officeDocument/2006/relationships/slide" Target="/ppt/slides/slide2.xml" Id="R5c1a50768c4a42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6a242645744a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91c1d07fff4412" /><Relationship Type="http://schemas.openxmlformats.org/officeDocument/2006/relationships/notesMaster" Target="/ppt/notesMasters/notesMaster1.xml" Id="R7c9cdc6fd6e64d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a2ff307004ee3" /><Relationship Type="http://schemas.openxmlformats.org/officeDocument/2006/relationships/notesMaster" Target="/ppt/notesMasters/notesMaster1.xml" Id="R1a33244fc5664f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정답 항목 수 ÷ 전체 540개 항목 × 100</a:t>
            </a:r>
          </a:p>
          <a:p xmlns:a="http://schemas.openxmlformats.org/drawingml/2006/main">
            <a:r>
              <a:t>목표: 98% 이상, 보조 한도는 §3.5</a:t>
            </a:r>
          </a:p>
          <a:p xmlns:a="http://schemas.openxmlformats.org/drawingml/2006/main">
            <a:r>
              <a:t>목표 근거: 50개 필수 조건당 오류 1개 이하, 요청 전체의 사용자 수정 부담은 20회당 1회 이하로 제한하는 PoC 예산. 530/540개 정답, 완전 정답 86/90회와 각 S/C 95%, 필수 위반 0건을 함께 검사 (§3.5.1)</a:t>
            </a:r>
          </a:p>
          <a:p xmlns:a="http://schemas.openxmlformats.org/drawingml/2006/main">
            <a:r>
              <a:t>보호 조건: 완전 정답/각 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**관리 ID: ASR-QA-01 — 요청 처리 정확성.** 핵심 정의/대표 지표/목표값/목표 근거는 문서 맨 앞 요약표를 따른다.</a:t>
            </a:r>
          </a:p>
          <a:p xmlns:a="http://schemas.openxmlformats.org/drawingml/2006/main">
            <a:r>
              <a:t/>
            </a:r>
          </a:p>
          <a:p xmlns:a="http://schemas.openxmlformats.org/drawingml/2006/main">
            <a:r>
              <a:t>**현재 항목: 요청 처리 정확성 / Voice PoC 평가 설계 v3, 18개 사례 명세 완료.** 정의/대표 지표/분모/목표/평가 방법과 초기 상황/입력/사건/정답을 아래에 모았다. 목표값의 과제 차원 필요성과 수치 선택은 §3.5.1의 명시적 오류 예산을 따른다. 후보나 모델을 실행한 결과는 아직 없다. 공통 시험 환경과 A/B 구성은 §8을 따른다.</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**사용자가 지정한 목적은 설계 방안 A/B의 품질 차이를 확인하는 작은 PoC다.** 모든 UC 변형/채널의 기능 완전성이나 제품 수준 음성 인식/장치 성능을 검증하는 캠페인이 아니다. 같은 대표 Voice 장면을 공통 경계까지 추상화하고 DP가 바꾸는 판단/결합/확정/후속 실행/근거 생산의 차이를 유지한다. Text 입력을 제외하고 모든 사례에 모든 조건을 곱하지 않는다. §3의 분류/채점/목표와 §8의 공통 환경을 실행 기준으로 사용하며 실제 파일/모델/후보 build의 machine freeze와 실행은 별도 작업이다. [이전 v1](../../../archive/qa-request-accuracy-before-voice-poc-20261010/README.md)은 변경 근거로 보존했고 실행 결과는 없었다.</a:t>
            </a:r>
          </a:p>
          <a:p xmlns:a="http://schemas.openxmlformats.org/drawingml/2006/main">
            <a:r>
              <a:t/>
            </a:r>
          </a:p>
          <a:p xmlns:a="http://schemas.openxmlformats.org/drawingml/2006/main">
            <a:r>
              <a:t>- **정의:** VIA가 사용자 입력과 외부 사건을 의도 및 확인 가능한 사실에 맞는 요청 처리 결과로 연결하는 능력. 의미, 근거/대상, 업무 연결, 관계/변경, 적용 상태와 실제 전달을 포함한다.</a:t>
            </a:r>
          </a:p>
          <a:p xmlns:a="http://schemas.openxmlformats.org/drawingml/2006/main">
            <a:r>
              <a:t>- **평가 상황:** §3.2.1의 S1~S6. 기본 사례는 §3.2.2의 상세 명세에 따라 상황군별 3개, 총 18개로 고정한다.</a:t>
            </a:r>
          </a:p>
          <a:p xmlns:a="http://schemas.openxmlformats.org/drawingml/2006/main">
            <a:r>
              <a:t>- **실행당 채점:** C1~C6를 각각 0 또는 1로 판정한다. 항목 안의 필수 사실을 모두 만족하면 1, 하나라도 틀리거나 필요한 결과/근거가 없으면 0이다. 세부 사실별 진단은 보존하지만 별도 점수로 더하지 않는다.</a:t>
            </a:r>
          </a:p>
          <a:p xmlns:a="http://schemas.openxmlformats.org/drawingml/2006/main">
            <a:r>
              <a:t>- **대표 지표:** 채점 항목 전체의 정답률. 여섯 항목은 같은 비중이며 비용/시간 등 다른 QA와 가중 합산하지 않는다.</a:t>
            </a:r>
          </a:p>
          <a:p xmlns:a="http://schemas.openxmlformats.org/drawingml/2006/main">
            <a:r>
              <a:t>- **완전 정답 처리율:** 한 실행의 여섯 항목이 모두 1인 비율. 같은 원시 판정에서 계산해 보조 품질 한도로 사용한다.</a:t>
            </a:r>
          </a:p>
          <a:p xmlns:a="http://schemas.openxmlformats.org/drawingml/2006/main">
            <a:r>
              <a:t/>
            </a:r>
          </a:p>
          <a:p xmlns:a="http://schemas.openxmlformats.org/drawingml/2006/main">
            <a:r>
              <a:t>**대표 사례 18개를 한 번씩 실행하면 18 × 6 = 108개 항목을 채점한다.** 18개 사례에는 여섯 유형 모두에 의미 있는 필수 사실을 §3.3.2처럼 등록하므로 N/A 칸이 없다. 예를 들어 업무가 없는 경우의 C3은 `무관 Task에 연결하지 않음`, 상태 변경이 없는 조회의 C5는 `조회/응답을 처리하고 불필요한 외부 업무 효과를 만들지 않음`으로 검사한다. 빈 항목에 자동 1점을 주는 방식이 아니다.</a:t>
            </a:r>
          </a:p>
          <a:p xmlns:a="http://schemas.openxmlformats.org/drawingml/2006/main">
            <a:r>
              <a:t/>
            </a:r>
          </a:p>
          <a:p xmlns:a="http://schemas.openxmlformats.org/drawingml/2006/main">
            <a:r>
              <a:t>**이번 PoC에서는 여섯 묶음의 이진 판정으로 집계한다.** 판정 후 N/A로 변경하거나 사례별 조건 수로 가중치를 바꾸지 않는다. v3은 v2에서 남았던 초기 자료/입력/사건/정답의 빈칸을 닫은 정의 개정이며 모델/파일 hash를 고정한 machine freeze는 아니다.</a:t>
            </a:r>
          </a:p>
          <a:p xmlns:a="http://schemas.openxmlformats.org/drawingml/2006/main">
            <a:r>
              <a:t/>
            </a:r>
          </a:p>
          <a:p xmlns:a="http://schemas.openxmlformats.org/drawingml/2006/main">
            <a:r>
              <a:t>### 3.2 테스트 상황 분류와 18개 대표 사례</a:t>
            </a:r>
          </a:p>
          <a:p xmlns:a="http://schemas.openxmlformats.org/drawingml/2006/main">
            <a:r>
              <a:t/>
            </a:r>
          </a:p>
          <a:p xmlns:a="http://schemas.openxmlformats.org/drawingml/2006/main">
            <a:r>
              <a:t>**테스트는 상황 6개 유형으로 분류하고, 정답은 조건 6개 유형으로 기술한다.** 상황 유형은 어떤 문제를 시험하는지, 조건 유형은 무엇이 맞아야 하는지를 나타낸다. 테스트마다 입력, 초기 상태, 사건 순서와 기대값을 바꾸되 조건의 의미와 판정 규칙은 재사용한다. 이 유형들은 새로운 QA 12개나 DP별 지표가 아니다.</a:t>
            </a:r>
          </a:p>
          <a:p xmlns:a="http://schemas.openxmlformats.org/drawingml/2006/main">
            <a:r>
              <a:t/>
            </a:r>
          </a:p>
          <a:p xmlns:a="http://schemas.openxmlformats.org/drawingml/2006/main">
            <a:r>
              <a:t>기능 범위의 근거는 [고정 UC](../../05-representative-use-cases.md)이며, 네 DP의 영향 경로는 §3.7에 연결한다. 현재 네 비교에서 제외한 음성 모델의 자율 직접 응답은 [04-40](./04-40-common-execution-contract.md)의 경계를 따른다. UC-01의 기존 기능 요구 자체를 삭제하거나 Downstream Agent의 도메인 결과 품질을 VIA 판정으로 가져오지 않는다.</a:t>
            </a:r>
          </a:p>
          <a:p xmlns:a="http://schemas.openxmlformats.org/drawingml/2006/main">
            <a:r>
              <a:t/>
            </a:r>
          </a:p>
          <a:p xmlns:a="http://schemas.openxmlformats.org/drawingml/2006/main">
            <a:r>
              <a:t>#### 3.2.1 공통 상황 분류</a:t>
            </a:r>
          </a:p>
          <a:p xmlns:a="http://schemas.openxmlformats.org/drawingml/2006/main">
            <a:r>
              <a:t/>
            </a:r>
          </a:p>
          <a:p xmlns:a="http://schemas.openxmlformats.org/drawingml/2006/main">
            <a:r>
              <a:t>| 유형 | 시험할 상황과 경계 | 공통으로 확인할 핵심 결과 | 주 UC 연결 |</a:t>
            </a:r>
          </a:p>
          <a:p xmlns:a="http://schemas.openxmlformats.org/drawingml/2006/main">
            <a:r>
              <a:t>| --- | --- | --- | --- |</a:t>
            </a:r>
          </a:p>
          <a:p xmlns:a="http://schemas.openxmlformats.org/drawingml/2006/main">
            <a:r>
              <a:t>| S1 명시적 기본 요청 | 목표와 대상이 입력에 명시된 새 요청. 특별한 과거 지칭, 복합 관계, 정정이나 확인이 필요하지 않음 | 명시된 목표/제약을 누락하지 않고 적절히 답변하거나 위임 | UC-02, 08, 17 |</a:t>
            </a:r>
          </a:p>
          <a:p xmlns:a="http://schemas.openxmlformats.org/drawingml/2006/main">
            <a:r>
              <a:t>| S2 지칭과 근거 연결 | 화면, 선택, 생략, 과거 설명이나 업무 결과에서 대상을 찾아야 하는 요청 | 해당 시점/범위/version의 올바른 근거와 대상을 사용 | UC-03, 04, 05, 07, 10 |</a:t>
            </a:r>
          </a:p>
          <a:p xmlns:a="http://schemas.openxmlformats.org/drawingml/2006/main">
            <a:r>
              <a:t>| S3 복합 요청과 관계 | 한 입력에 여러 목표가 있고 독립, 순서, 결과 의존 또는 조건 관계가 있음 | 각 목표 및 관계/제약을 보존하고 관계에 맞게 처리 | UC-09 |</a:t>
            </a:r>
          </a:p>
          <a:p xmlns:a="http://schemas.openxmlformats.org/drawingml/2006/main">
            <a:r>
              <a:t>| S4 정정과 제어 | 기존 요청/업무의 변경, 음성 중단, 특정 업무 취소 또는 사용자 설정 변경/삭제 | 지정 범위만 바꾸고 무관한 내용/업무를 보존. 효력과 실제 상태를 구별 | UC-10, 11, 12, 17 |</a:t>
            </a:r>
          </a:p>
          <a:p xmlns:a="http://schemas.openxmlformats.org/drawingml/2006/main">
            <a:r>
              <a:t>| S5 외부 업무 사건 | Agent의 질문, 진행, 접수, 결과, 실패 등 외부 사건을 VIA가 수신 | 올바른 업무/대화로 연결하고 확인된 사실과 필요한 후속 동작을 전달 | UC-13, 14, 15, 18 |</a:t>
            </a:r>
          </a:p>
          <a:p xmlns:a="http://schemas.openxmlformats.org/drawingml/2006/main">
            <a:r>
              <a:t>| S6 확인과 판단 유보 | 처음부터 정보/대상/허용 범위가 불충분한 요청 또는 기존 질문에 대한 사용자 답변 | 필요한 확인/유보를 하고 질문 유효성, 답변의 대상과 승인 범위를 보존. 근거 없는 확정 금지 | UC-06, 14, 16, 18 |</a:t>
            </a:r>
          </a:p>
          <a:p xmlns:a="http://schemas.openxmlformats.org/drawingml/2006/main">
            <a:r>
              <a:t/>
            </a:r>
          </a:p>
          <a:p xmlns:a="http://schemas.openxmlformats.org/drawingml/2006/main">
            <a:r>
              <a:t>**대표 상황은 후보 실행 전에 원천 입력과 초기 상태로 하나만 지정한다.** 중복되는 경우 다음 순서로 정한다.</a:t>
            </a:r>
          </a:p>
          <a:p xmlns:a="http://schemas.openxmlformats.org/drawingml/2006/main">
            <a:r>
              <a:t/>
            </a:r>
          </a:p>
          <a:p xmlns:a="http://schemas.openxmlformats.org/drawingml/2006/main">
            <a:r>
              <a:t>1. 평가할 입력이 Agent 원천 사건이면 S5다. 이후 그 질문에 대한 사용자 답변은 별도 과제로 등록하면 S6다.</a:t>
            </a:r>
          </a:p>
          <a:p xmlns:a="http://schemas.openxmlformats.org/drawingml/2006/main">
            <a:r>
              <a:t>2. 평가할 입력이 기존 질문의 답변이거나, 필요한 정보/허용이 불충분하도록 작성한 사례면 S6다. 철회/만료된 질문에 대한 답변도 이 유형에서 적용 금지를 확인한다.</a:t>
            </a:r>
          </a:p>
          <a:p xmlns:a="http://schemas.openxmlformats.org/drawingml/2006/main">
            <a:r>
              <a:t>3. 기존 내용을 바꾸거나 제어하는 입력이면 S4다.</a:t>
            </a:r>
          </a:p>
          <a:p xmlns:a="http://schemas.openxmlformats.org/drawingml/2006/main">
            <a:r>
              <a:t>4. 여러 목표의 관계를 시험하는 입력이면 S3다.</a:t>
            </a:r>
          </a:p>
          <a:p xmlns:a="http://schemas.openxmlformats.org/drawingml/2006/main">
            <a:r>
              <a:t>5. 지칭 대상과 근거를 찾아야 하는 입력이면 S2다.</a:t>
            </a:r>
          </a:p>
          <a:p xmlns:a="http://schemas.openxmlformats.org/drawingml/2006/main">
            <a:r>
              <a:t>6. 나머지 명시적 기본 요청은 S1이다.</a:t>
            </a:r>
          </a:p>
          <a:p xmlns:a="http://schemas.openxmlformats.org/drawingml/2006/main">
            <a:r>
              <a:t/>
            </a:r>
          </a:p>
          <a:p xmlns:a="http://schemas.openxmlformats.org/drawingml/2006/main">
            <a:r>
              <a:t>예를 들어 “아까 보고서는 표로 바꾸고 메일은 그대로”는 S4이며 `과거 지칭`, `복수 업무`, `보존 조건`을 변형 tag로 붙인다. 후보가 명확한 S1 요청을 이해하지 못해 질문했다고 그 실행을 S6로 재분류하지 않는다. 복합 사례를 여러 상황군에 복제해 분모를 늘리지 않는다.</a:t>
            </a:r>
          </a:p>
          <a:p xmlns:a="http://schemas.openxmlformats.org/drawingml/2006/main">
            <a:r>
              <a:t/>
            </a:r>
          </a:p>
          <a:p xmlns:a="http://schemas.openxmlformats.org/drawingml/2006/main">
            <a:r>
              <a:t>#### 3.2.2 대표 사례의 초기 상황, 입력, 사건과 정답</a:t>
            </a:r>
          </a:p>
          <a:p xmlns:a="http://schemas.openxmlformats.org/drawingml/2006/main">
            <a:r>
              <a:t/>
            </a:r>
          </a:p>
          <a:p xmlns:a="http://schemas.openxmlformats.org/drawingml/2006/main">
            <a:r>
              <a:t>다음은 **초기 상황, 입력, 사건 순서와 C1~C6 통과 조건을 닫은 18개 사례의 원본 명세**다. 자료와 사건은 합성 PoC 값이다. 사용자 위임으로 작성자가 구체 값을 선택했으며 사용자의 실제 자료/발언이나 측정 결과가 아니다. 아래 내용이 §3.3.2의 채점 요약보다 구체적인 판정 기준이다. 사례를 새로 늘리거나 초기 값을 실행자가 임의로 선택하지 않는다.</a:t>
            </a:r>
          </a:p>
          <a:p xmlns:a="http://schemas.openxmlformats.org/drawingml/2006/main">
            <a:r>
              <a:t/>
            </a:r>
          </a:p>
          <a:p xmlns:a="http://schemas.openxmlformats.org/drawingml/2006/main">
            <a:r>
              <a:t>##### 공통 초기 조건과 사건 규칙</a:t>
            </a:r>
          </a:p>
          <a:p xmlns:a="http://schemas.openxmlformats.org/drawingml/2006/main">
            <a:r>
              <a:t/>
            </a:r>
          </a:p>
          <a:p xmlns:a="http://schemas.openxmlformats.org/drawingml/2006/main">
            <a:r>
              <a:t>- 모든 사례의 기준 날짜/시간대는 **2026-10-12 09:00, Asia/Seoul**이다. “올해”는 2026년, “내일”은 10월 13일, “금요일”은 10월 16일이다. `t`는 사례 시작 기준의 공통 monotonic 시간이며 음성 길이는 실제 녹음이 아닌 고정 replay 구간이다.</a:t>
            </a:r>
          </a:p>
          <a:p xmlns:a="http://schemas.openxmlformats.org/drawingml/2006/main">
            <a:r>
              <a:t>- 각 사례는 독립 snapshot이다. `D1`, `T메일` 등의 ID는 사례 namespace 안의 평가용 의미 ID이며 실제 runtime ID는 사전 선언한 대응으로 연결한다. 다른 사례의 자료/Task/cache가 섞이지 않는다. 현재 요청의 Task/지칭 정답을 모델 입력으로 주지 않는다.</a:t>
            </a:r>
          </a:p>
          <a:p xmlns:a="http://schemas.openxmlformats.org/drawingml/2006/main">
            <a:r>
              <a:t>- 공통 Conversation=C현재, 사용자=U현재, Voice=ON이다. S5-03의 OFF/재연결만 예외다. 모든 사례에는 무관한 T보호/X보호(request@v1, 목표=2026년 10월 20일 부산 출장 예약, RUNNING, 원래 지시/외부 접수된 실행 유지)가 있다. 별도 언급이 없으면 관련 Task/질문/선호/추가 자료는 없다. T보호를 수정/취소/완료시키는 효과는 금지다.</a:t>
            </a:r>
          </a:p>
          <a:p xmlns:a="http://schemas.openxmlformats.org/drawingml/2006/main">
            <a:r>
              <a:t>- 자료/version/기존 업무/질문/권한/과거 실제 전달 기록은 해당 owner의 원천 사실로 제공한다. 문서 내용과 연락처는 허용된 read port에서 읽는다. 시점/원본 조회나 현재 관계를 evaluator가 대신 결합하지 않는다. A의 cache와 B의 실제 파생 생산을 허용하며 B에 완성 관계를 선주입하지 않는다.</a:t>
            </a:r>
          </a:p>
          <a:p xmlns:a="http://schemas.openxmlformats.org/drawingml/2006/main">
            <a:r>
              <a:t>- `E0/E1/...`은 원천 사건의 순서다. 숫자 시각은 외부 조건이고 내부 Module의 시작/종료 기준이 아니다. `접수+0.2초` 등의 사건은 해당 실제 Agent 접수 경계에 연결한다. 발생 조건이 충족되지 않으면 결과를 자동 제공하지 않고 해당 미처리 항목을 0으로 남긴다. 시간 상한은 §3.6.3을 따른다.</a:t>
            </a:r>
          </a:p>
          <a:p xmlns:a="http://schemas.openxmlformats.org/drawingml/2006/main">
            <a:r>
              <a:t>- Agent stub은 문서/메일/일정 capability를 제공한다. 요청 payload대로 source/대상/조건/실행을 처리하고 잘못된 요청을 정답으로 고쳐주지 않는다. 전체 복합 관계를 한 Agent에 주는 방식과 VIA가 여러 결과를 잇는 방식 모두 허용한다. 평가하는 것은 VIA의 인계 의미와 효과이며 Agent의 도메인 품질은 아니다.</a:t>
            </a:r>
          </a:p>
          <a:p xmlns:a="http://schemas.openxmlformats.org/drawingml/2006/main">
            <a:r>
              <a:t>- 단순 조회/비교/한정 요약은 Core 직접 처리와 Agent 위임을 모두 허용한다. 직접 처리는 No Tracked Task, 위임은 해당 목표의 New Task/Execution에 연결한다. 기존 업무 제어는 Existing Task다. 같은 행위의 재시도는 허용하지만 고유 외부 효과가 중복되면 실패다. 요청 transport 횟수나 Component 수를 정답으로 강제하지 않는다.</a:t>
            </a:r>
          </a:p>
          <a:p xmlns:a="http://schemas.openxmlformats.org/drawingml/2006/main">
            <a:r>
              <a:t>- 계획된 후속 답변은 S5-03/S6-01/S6-02에만 아래 지정 문자열/시각으로 준다. 후속 발화는 실제 질문/결과의 필요한 핵심이 전달됐다는 receipt 뒤에 시작하며 준비/게시만으로 시작하지 않는다. S5-01/02에는 사용자 답변을 제공하지 않는다. 그 밖의 사용자 요청 사례의 추가 질문에는 최대 2회 “새로운 조건이나 권한은 추가하지 않았어. 처음 요청대로 처리해줘.”라고 실제 제시 뒤 1초에 답한다. 새 대상/금액/허용을 힌트로 공급하지 않으며 해결하지 못하면 timeout/미처리로 채점한다. 불필요한 질문의 수고/시간/비용은 기록한다.</a:t>
            </a:r>
          </a:p>
          <a:p xmlns:a="http://schemas.openxmlformats.org/drawingml/2006/main">
            <a:r>
              <a:t>- 초기 실제 전달과 현재 출력은 구별한다. 공통 sink는 후보가 release한 Text와 Voice의 내용/세대/시작/완료/중단/실제 구간을 기록한다. 잘못된/stale 출력은 sink가 정답으로 수정/자동 폐기하지 않는다. 물리 장치 실측이 아니다.</a:t>
            </a:r>
          </a:p>
          <a:p xmlns:a="http://schemas.openxmlformats.org/drawingml/2006/main">
            <a:r>
              <a:t/>
            </a:r>
          </a:p>
          <a:p xmlns:a="http://schemas.openxmlformats.org/drawingml/2006/main">
            <a:r>
              <a:t>##### 사례 찾아보기</a:t>
            </a:r>
          </a:p>
          <a:p xmlns:a="http://schemas.openxmlformats.org/drawingml/2006/main">
            <a:r>
              <a:t/>
            </a:r>
          </a:p>
          <a:p xmlns:a="http://schemas.openxmlformats.org/drawingml/2006/main">
            <a:r>
              <a:t>| 사례 | 주제 |</a:t>
            </a:r>
          </a:p>
          <a:p xmlns:a="http://schemas.openxmlformats.org/drawingml/2006/main">
            <a:r>
              <a:t>| --- | --- |</a:t>
            </a:r>
          </a:p>
          <a:p xmlns:a="http://schemas.openxmlformats.org/drawingml/2006/main">
            <a:r>
              <a:t>| [S1-01](#s1-01) | 제한된 정보 조회 |</a:t>
            </a:r>
          </a:p>
          <a:p xmlns:a="http://schemas.openxmlformats.org/drawingml/2006/main">
            <a:r>
              <a:t>| [S1-02](#s1-02) | 새 보고서 업무 위임 |</a:t>
            </a:r>
          </a:p>
          <a:p xmlns:a="http://schemas.openxmlformats.org/drawingml/2006/main">
            <a:r>
              <a:t>| [S1-03](#s1-03) | 개인화 신규 등록 |</a:t>
            </a:r>
          </a:p>
          <a:p xmlns:a="http://schemas.openxmlformats.org/drawingml/2006/main">
            <a:r>
              <a:t>| [S2-01](#s2-01) | 발화 중 두 표 지칭 |</a:t>
            </a:r>
          </a:p>
          <a:p xmlns:a="http://schemas.openxmlformats.org/drawingml/2006/main">
            <a:r>
              <a:t>| [S2-02](#s2-02) | 과거 설명과 두 업무 결과 재사용 |</a:t>
            </a:r>
          </a:p>
          <a:p xmlns:a="http://schemas.openxmlformats.org/drawingml/2006/main">
            <a:r>
              <a:t>| [S2-03](#s2-03) | 갱신된 원본의 과거 값 지정 |</a:t>
            </a:r>
          </a:p>
          <a:p xmlns:a="http://schemas.openxmlformats.org/drawingml/2006/main">
            <a:r>
              <a:t>| [S3-01](#s3-01) | 독립된 두 조회 요청 |</a:t>
            </a:r>
          </a:p>
          <a:p xmlns:a="http://schemas.openxmlformats.org/drawingml/2006/main">
            <a:r>
              <a:t>| [S3-02](#s3-02) | 요약 산출물에 의존하는 메일 |</a:t>
            </a:r>
          </a:p>
          <a:p xmlns:a="http://schemas.openxmlformats.org/drawingml/2006/main">
            <a:r>
              <a:t>| [S3-03](#s3-03) | 일정 조건의 변경 재확인 |</a:t>
            </a:r>
          </a:p>
          <a:p xmlns:a="http://schemas.openxmlformats.org/drawingml/2006/main">
            <a:r>
              <a:t>| [S4-01](#s4-01) | 부분 정정과 늦은 후보 |</a:t>
            </a:r>
          </a:p>
          <a:p xmlns:a="http://schemas.openxmlformats.org/drawingml/2006/main">
            <a:r>
              <a:t>| [S4-02](#s4-02) | 음성 중단 뒤 지정 수치 설명 |</a:t>
            </a:r>
          </a:p>
          <a:p xmlns:a="http://schemas.openxmlformats.org/drawingml/2006/main">
            <a:r>
              <a:t>| [S4-03](#s4-03) | 특정 업무 취소와 접수 미확인 |</a:t>
            </a:r>
          </a:p>
          <a:p xmlns:a="http://schemas.openxmlformats.org/drawingml/2006/main">
            <a:r>
              <a:t>| [S5-01](#s5-01) | 교차 질문과 철회 |</a:t>
            </a:r>
          </a:p>
          <a:p xmlns:a="http://schemas.openxmlformats.org/drawingml/2006/main">
            <a:r>
              <a:t>| [S5-02](#s5-02) | 결과 역전과 중복 |</a:t>
            </a:r>
          </a:p>
          <a:p xmlns:a="http://schemas.openxmlformats.org/drawingml/2006/main">
            <a:r>
              <a:t>| [S5-03](#s5-03) | 음성 종료 중 결과와 재연결 |</a:t>
            </a:r>
          </a:p>
          <a:p xmlns:a="http://schemas.openxmlformats.org/drawingml/2006/main">
            <a:r>
              <a:t>| [S6-01](#s6-01) | 모호한 과거 보고서 확인 |</a:t>
            </a:r>
          </a:p>
          <a:p xmlns:a="http://schemas.openxmlformats.org/drawingml/2006/main">
            <a:r>
              <a:t>| [S6-02](#s6-02) | 철회된 질문 답변과 승인 범위 |</a:t>
            </a:r>
          </a:p>
          <a:p xmlns:a="http://schemas.openxmlformats.org/drawingml/2006/main">
            <a:r>
              <a:t>| [S6-03](#s6-03) | 필요한 자료의 접근 거부 |</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id="s1-03"&gt;&lt;/a&gt;</a:t>
            </a:r>
          </a:p>
          <a:p xmlns:a="http://schemas.openxmlformats.org/drawingml/2006/main">
            <a:r>
              <a:t>##### S1-03 개인화 신규 등록</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§3.6.3의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 3.2.3 사례별 조건과 반복 수</a:t>
            </a:r>
          </a:p>
          <a:p xmlns:a="http://schemas.openxmlformats.org/drawingml/2006/main">
            <a:r>
              <a:t/>
            </a:r>
          </a:p>
          <a:p xmlns:a="http://schemas.openxmlformats.org/drawingml/2006/main">
            <a:r>
              <a:t>모든 DP A/B에 같은 **18개 대표 Voice 사례 × 반복 5회**를 적용한다. N/W/X는 사례에 지정하는 조건 유형이며 별도 배수가 아니다. 각 사례는 아래에서 정한 조건 하나로만 실행한다.</a:t>
            </a:r>
          </a:p>
          <a:p xmlns:a="http://schemas.openxmlformats.org/drawingml/2006/main">
            <a:r>
              <a:t/>
            </a:r>
          </a:p>
          <a:p xmlns:a="http://schemas.openxmlformats.org/drawingml/2006/main">
            <a:r>
              <a:t>| 축 | 고정한 구성 |</a:t>
            </a:r>
          </a:p>
          <a:p xmlns:a="http://schemas.openxmlformats.org/drawingml/2006/main">
            <a:r>
              <a:t>| --- | --- |</a:t>
            </a:r>
          </a:p>
          <a:p xmlns:a="http://schemas.openxmlformats.org/drawingml/2006/main">
            <a:r>
              <a:t>| 대표 사례 | S1~S6별 3개씩, §3.2.2의 18개. 후보가 생성한 Request/Task 수로 증가하지 않음 |</a:t>
            </a:r>
          </a:p>
          <a:p xmlns:a="http://schemas.openxmlformats.org/drawingml/2006/main">
            <a:r>
              <a:t>| 입력 | 사용자 요청/후속 답변은 Voice만 사용. S5의 최초 사건은 Agent event이며 사용자 답변이나 재연결이 필요한 경우 Voice로 제공. Text 출력 기록은 유지 |</a:t>
            </a:r>
          </a:p>
          <a:p xmlns:a="http://schemas.openxmlformats.org/drawingml/2006/main">
            <a:r>
              <a:t>| N 정상/첫 사용 | 보존된 원본/기존 상태에서 시작. 관련 신규 조회의 cache/게시 결과를 정답으로 선주입하지 않고 추가 경쟁을 넣지 않음 |</a:t>
            </a:r>
          </a:p>
          <a:p xmlns:a="http://schemas.openxmlformats.org/drawingml/2006/main">
            <a:r>
              <a:t>| W 반복/준비된 과거 | 같은 원본 활동 이력과 허용된 이전 조회를 실제 후보 경로로 처리한 뒤 현재 과제 실행. 양안 cache/생산/갱신 허용. 최대 120초의 동일 준비 창과 그 비용 기록 |</a:t>
            </a:r>
          </a:p>
          <a:p xmlns:a="http://schemas.openxmlformats.org/drawingml/2006/main">
            <a:r>
              <a:t>| X 변경/교차 | 해당 사례에 필요한 변경/철회, 중복/늦은 반환 또는 질문 교차만 사전 event script로 재생. 모든 경쟁 유형을 모든 사례에 넣지 않음 |</a:t>
            </a:r>
          </a:p>
          <a:p xmlns:a="http://schemas.openxmlformats.org/drawingml/2006/main">
            <a:r>
              <a:t>| 반복 | 각 사례의 지정 조건을 5회 실행. 매 반복은 초기 상태를 복원하고 필요한 준비 이력을 다시 처리. 실행 간 cache/Task/질문 누적을 섞지 않음 |</a:t>
            </a:r>
          </a:p>
          <a:p xmlns:a="http://schemas.openxmlformats.org/drawingml/2006/main">
            <a:r>
              <a:t/>
            </a:r>
          </a:p>
          <a:p xmlns:a="http://schemas.openxmlformats.org/drawingml/2006/main">
            <a:r>
              <a:t>| 상황군 | 첫 사례의 조건 | 두 번째 사례의 조건 | 세 번째 사례의 조건 |</a:t>
            </a:r>
          </a:p>
          <a:p xmlns:a="http://schemas.openxmlformats.org/drawingml/2006/main">
            <a:r>
              <a:t>| --- | --- | --- | --- |</a:t>
            </a:r>
          </a:p>
          <a:p xmlns:a="http://schemas.openxmlformats.org/drawingml/2006/main">
            <a:r>
              <a:t>| S1 명시적 기본 요청 | S1-01 N: 자료 조회 | S1-02 N: 보고서 위임 | S1-03 N: 선호 저장 |</a:t>
            </a:r>
          </a:p>
          <a:p xmlns:a="http://schemas.openxmlformats.org/drawingml/2006/main">
            <a:r>
              <a:t>| S2 지칭/근거 연결 | S2-01 N: 발화 당시 두 표 | S2-02 W: 과거 설명/두 결과 재사용 | S2-03 X: 원본 갱신 뒤 과거 snapshot 지정 |</a:t>
            </a:r>
          </a:p>
          <a:p xmlns:a="http://schemas.openxmlformats.org/drawingml/2006/main">
            <a:r>
              <a:t>| S3 복합 관계 | S3-01 N: 독립 두 목표 | S3-02 X: 선행 결과의 늦은/중복 반환 | S3-03 X: 조회 뒤 일정이 차는 조건 변경 |</a:t>
            </a:r>
          </a:p>
          <a:p xmlns:a="http://schemas.openxmlformats.org/drawingml/2006/main">
            <a:r>
              <a:t>| S4 정정/제어 | S4-01 X: 정정 뒤 이전 후보 반환 | S4-02 X: 재생 중 끼어들기 | S4-03 X: 지정 업무 취소와 접수 경합 |</a:t>
            </a:r>
          </a:p>
          <a:p xmlns:a="http://schemas.openxmlformats.org/drawingml/2006/main">
            <a:r>
              <a:t>| S5 외부 Agent 사건 | S5-01 X: 두 질문/철회의 교차 | S5-02 X: 결과 역전/중복 수신 | S5-03 N: 음성 종료 중 결과와 재연결 |</a:t>
            </a:r>
          </a:p>
          <a:p xmlns:a="http://schemas.openxmlformats.org/drawingml/2006/main">
            <a:r>
              <a:t>| S6 확인/미해결/답변 | S6-01 N: 모호한 요청 확인 | S6-02 X: 제시 receipt/권한과 답변 경합 | S6-03 N: 원본 접근 거부 |</a:t>
            </a:r>
          </a:p>
          <a:p xmlns:a="http://schemas.openxmlformats.org/drawingml/2006/main">
            <a:r>
              <a:t/>
            </a:r>
          </a:p>
          <a:p xmlns:a="http://schemas.openxmlformats.org/drawingml/2006/main">
            <a:r>
              <a:t>W는 B만 미리 완성된 기억을 받는 조건이 아니다. 양안이 같은 활동과 원본 사건을 처리한다. 이전 조회는 허용된 read-only 조회로 한정하고 현재 채점할 신규 등록/업무/취소를 미리 실행하지 않는다. A의 cache를 제거하지 않고 B의 관계 생산/게시를 evaluator가 대신하지 않는다. 준비 비용/유실/지연도 남기며 현재 목표나 정답 의미를 준비 이력에 넣지 않는다.</a:t>
            </a:r>
          </a:p>
          <a:p xmlns:a="http://schemas.openxmlformats.org/drawingml/2006/main">
            <a:r>
              <a:t/>
            </a:r>
          </a:p>
          <a:p xmlns:a="http://schemas.openxmlformats.org/drawingml/2006/main">
            <a:r>
              <a:t>X는 공통 외부 원천 사건의 순서와 유효성 규칙으로 정의한다. 특정 안에만 있는 내부 Module의 완료를 다른 안의 시작 기준으로 삼지 않는다. 존재하지 않는 job/질문/source를 경쟁을 위해 발명하지 않고 실제 모델 반환값은 바꾸지 않는다. 늦은 결과를 시험할 때는 반환 전달 순서만 제어한다. 내부 job이 없으면 그 경합은 발생하지 않은 것으로 기록한다.</a:t>
            </a:r>
          </a:p>
          <a:p xmlns:a="http://schemas.openxmlformats.org/drawingml/2006/main">
            <a:r>
              <a:t/>
            </a:r>
          </a:p>
          <a:p xmlns:a="http://schemas.openxmlformats.org/drawingml/2006/main">
            <a:r>
              <a:t>§3.2.2의 대표 발화/초기 상태를 사용한다. S2-02의 과거 설명에는 `평가 기준 중 가격 제외`라는 예외를 포함한다. S3-03은 최초 조회에서는 비어 있고 적용 전에 일정이 차는 조건 하나를 선택한다. 유효한 변경 근거로 생성하지 않고 안내하는지를 보며 두 분기를 전부 검증했다고 주장하지 않는다. 18개 사례의 108개 채점 항목은 그대로 유지한다.</a:t>
            </a:r>
          </a:p>
          <a:p xmlns:a="http://schemas.openxmlformats.org/drawingml/2006/main">
            <a:r>
              <a:t/>
            </a:r>
          </a:p>
          <a:p xmlns:a="http://schemas.openxmlformats.org/drawingml/2006/main">
            <a:r>
              <a:t>```text</a:t>
            </a:r>
          </a:p>
          <a:p xmlns:a="http://schemas.openxmlformats.org/drawingml/2006/main">
            <a:r>
              <a:t>후보 1개: 18 × 5 = 90회 처리 과제 실행</a:t>
            </a:r>
          </a:p>
          <a:p xmlns:a="http://schemas.openxmlformats.org/drawingml/2006/main">
            <a:r>
              <a:t>후보 1개의 채점 분모: 90 × 6 = 540개 이진 항목</a:t>
            </a:r>
          </a:p>
          <a:p xmlns:a="http://schemas.openxmlformats.org/drawingml/2006/main">
            <a:r>
              <a:t>상황군 1개의 채점 분모: 3 × 5 × 6 = 90개</a:t>
            </a:r>
          </a:p>
          <a:p xmlns:a="http://schemas.openxmlformats.org/drawingml/2006/main">
            <a:r>
              <a:t>조건 유형 C 하나의 분모: 90개</a:t>
            </a:r>
          </a:p>
          <a:p xmlns:a="http://schemas.openxmlformats.org/drawingml/2006/main">
            <a:r>
              <a:t>DP 1개의 A/B: 180회 실행 / 1,080개 항목</a:t>
            </a:r>
          </a:p>
          <a:p xmlns:a="http://schemas.openxmlformats.org/drawingml/2006/main">
            <a:r>
              <a:t>네 DP를 모두 비교: 720회 실행 / 4,320개 항목</a:t>
            </a:r>
          </a:p>
          <a:p xmlns:a="http://schemas.openxmlformats.org/drawingml/2006/main">
            <a:r>
              <a:t>```</a:t>
            </a:r>
          </a:p>
          <a:p xmlns:a="http://schemas.openxmlformats.org/drawingml/2006/main">
            <a:r>
              <a:t/>
            </a:r>
          </a:p>
          <a:p xmlns:a="http://schemas.openxmlformats.org/drawingml/2006/main">
            <a:r>
              <a:t>이는 선택한 대표 장면에서의 PoC 정확률이다. 상황군은 각각 3개지만 N/W/X는 8/1/9개이며 제품 빈도로 가중하거나 모든 조건을 균등하게 검증하지 않는다. 90회 또는 540개 항목을 모두 독립 표본으로 주장하지 않는다. 반복과 같은 대화의 후속 관측은 해당 사례에 묶는다. 서로 다른 DP의 분자/분모를 합쳐 하나의 VIA 제품 정확률로 만들지 않는다.</a:t>
            </a:r>
          </a:p>
          <a:p xmlns:a="http://schemas.openxmlformats.org/drawingml/2006/main">
            <a:r>
              <a:t/>
            </a:r>
          </a:p>
          <a:p xmlns:a="http://schemas.openxmlformats.org/drawingml/2006/main">
            <a:r>
              <a:t>### 3.3 정답 조건과 6개 채점 항목</a:t>
            </a:r>
          </a:p>
          <a:p xmlns:a="http://schemas.openxmlformats.org/drawingml/2006/main">
            <a:r>
              <a:t/>
            </a:r>
          </a:p>
          <a:p xmlns:a="http://schemas.openxmlformats.org/drawingml/2006/main">
            <a:r>
              <a:t>각 실행의 C1~C6에 같은 의미와 판정 규칙을 적용한다. 세부 사실은 진단을 위해 보존하되 여섯 이진 항목 이외의 점수를 추가하지 않는다.</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18개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조건 하나는 사용자에게 의미 있는 판정 사실 하나다.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§3.6.3의 INVALID 절차를 쓰며 후보의 미처리/필수 trace 누락은 오답이다.</a:t>
            </a:r>
          </a:p>
          <a:p xmlns:a="http://schemas.openxmlformats.org/drawingml/2006/main">
            <a:r>
              <a:t/>
            </a:r>
          </a:p>
          <a:p xmlns:a="http://schemas.openxmlformats.org/drawingml/2006/main">
            <a:r>
              <a:t>#### 3.3.2 사례별 여섯 필수 채점 항목</a:t>
            </a:r>
          </a:p>
          <a:p xmlns:a="http://schemas.openxmlformats.org/drawingml/2006/main">
            <a:r>
              <a:t/>
            </a:r>
          </a:p>
          <a:p xmlns:a="http://schemas.openxmlformats.org/drawingml/2006/main">
            <a:r>
              <a:t>아래는 빠르게 비교하기 위한 **정답 요약**이다. 구체적인 자료/발화/사건/항목별 기대값은 §3.2.2의 상세 명세를 따르고 판별 규칙은 §3.3.1을 따른다. 각 칸은 하나의 이진 채점 항목이다. 세미콜론으로 구분한 사실도 모두 맞아야 해당 칸이 1이다. 사례에 지정한 조건의 source version/질문 유효성/실제 접수 차이는 사전 fixture 상태와 공통 전이 규칙으로 대입한다. 후보 결과를 보고 기대값을 바꾸지 않는다. §3.2.2의 원문/초기 상태와 아래 표를 함께 사용한다.</a:t>
            </a:r>
          </a:p>
          <a:p xmlns:a="http://schemas.openxmlformats.org/drawingml/2006/main">
            <a:r>
              <a:t/>
            </a:r>
          </a:p>
          <a:p xmlns:a="http://schemas.openxmlformats.org/drawingml/2006/main">
            <a:r>
              <a:t>| 사례 | C1 목표/방향 | C2 대상/근거 | C3 대화/업무 | C4 조건/변경 | C5 효과/상태 | C6 내용/전달 |</a:t>
            </a:r>
          </a:p>
          <a:p xmlns:a="http://schemas.openxmlformats.org/drawingml/2006/main">
            <a:r>
              <a:t>| --- | --- | --- | --- | --- | --- | --- |</a:t>
            </a:r>
          </a:p>
          <a:p xmlns:a="http://schemas.openxmlformats.org/drawingml/2006/main">
            <a:r>
              <a:t>| S1-01 | D1 마감일 조회; 허용 직접 응답/위임 | D1 지정 version의 마감일 | 직접 응답이면 무관 Task 연결 없음; 위임이면 새 조회 업무 연결 | D1 안의 정보로 범위 제한 | 올바른 조회/응답 처리; 불필요한 외부 변경 없음 | fixture 마감일을 사실대로 전달; 실제 채널 전달 기록 |</a:t>
            </a:r>
          </a:p>
          <a:p xmlns:a="http://schemas.openxmlformats.org/drawingml/2006/main">
            <a:r>
              <a:t>| S1-02 | 매출 보고서 작성 위임 | 지정 매출 자료/범위와 허용 근거 | 새 보고서 업무와 실행 연결 | 올해/3분기/표 보존 | 올바른 요청 인계; 접수와 완료 구별 | 확인된 인계 단계 안내; 실제 채널 전달 기록 |</a:t>
            </a:r>
          </a:p>
          <a:p xmlns:a="http://schemas.openxmlformats.org/drawingml/2006/main">
            <a:r>
              <a:t>| S1-03 | 명시 선호 저장 | 이번 사용자 지시의 비교 결과 선호 | 설정/기억 관리에 연결; 무관 Agent 업무 없음 | 비교 결과에 한정; 다른 응답에 영구 적용하지 않음 | 허용 기록의 신규 저장; 무관 기억 변경 없음 | 실제 저장 범위 안내; 실제 채널 전달 기록 |</a:t>
            </a:r>
          </a:p>
          <a:p xmlns:a="http://schemas.openxmlformats.org/drawingml/2006/main">
            <a:r>
              <a:t>| S2-01 | 두 표 비교 | 발화 당시 A/B와 해당 관측 범위 | 현재 요청에 연결; 기존 무관 업무에 적용 없음 | A/B 역할 유지; C 등 추가 대상 없음 | 올바른 근거로 답변/위임; 다른 객체 변경 없음 | A/B 참조 및 확인된 결과 안내; 실제 전달 기록 |</a:t>
            </a:r>
          </a:p>
          <a:p xmlns:a="http://schemas.openxmlformats.org/drawingml/2006/main">
            <a:r>
              <a:t>| S2-02 | 과거 기준/결과로 제안서 작성 위임 | 실제 들려준 E1; D2@v2/D3@v1 및 원문 예외 | 새 제안서 업무; 과거 두 업무에 수정 지시 없음 | 기준/제품 비교/견적 역할 및 가격 제외 보존 | 올바른 참조/조건 인계; 준비 안 된 파생물을 사실로 사용하지 않음 | 인계 사실과 사용한 근거 범위 안내; 미전달 E1을 들었다고 기록하지 않음 |</a:t>
            </a:r>
          </a:p>
          <a:p xmlns:a="http://schemas.openxmlformats.org/drawingml/2006/main">
            <a:r>
              <a:t>| S2-03 | 당시 값으로 표 작성 위임 | 보존/허용된 D1@v1의 100 | 새 작성 업무; 다른 과거 업무 변경 없음 | 당시 기준 유지; v2의 120으로 치환 없음 | 올바른 과거 참조 인계; 접근 불가 시 임의 생성 금지 | 과거 기준과 실제 처리 단계 안내; 실제 전달 기록 |</a:t>
            </a:r>
          </a:p>
          <a:p xmlns:a="http://schemas.openxmlformats.org/drawingml/2006/main">
            <a:r>
              <a:t>| S3-01 | 문서 요약/일정 조회 두 목표 | D1과 지정 날짜의 일정 | 각 목표에 허용된 업무 관계; 무관 Task 연결 없음 | 독립 관계; 누락/잘못된 의존 없음 | 두 목표 처리; 한쪽 실패로 무관 목표 자동 취소 없음 | 두 결과/상태 구분; 실제 전달 기록 |</a:t>
            </a:r>
          </a:p>
          <a:p xmlns:a="http://schemas.openxmlformats.org/drawingml/2006/main">
            <a:r>
              <a:t>| S3-02 | 요약 후 메일 위임 | D1; 생성된 요약 참조; 민수 | 요약/메일의 실제 업무 및 실행 연결 | 결과 의존과 수신자 보존 | 선행 준비/허용 확인 후 후속 처리; 중복/다른 산출물 전달 없음 | 실제 인계/처리 단계 안내; 실제 전달 기록 |</a:t>
            </a:r>
          </a:p>
          <a:p xmlns:a="http://schemas.openxmlformats.org/drawingml/2006/main">
            <a:r>
              <a:t>| S3-03 | 일정 조건에 맞는 생성/안내 | 금요일 3시의 유효 일정 근거 | 해당 일정 요청/업무 연결 | 비어 있으면 생성; 차 있으면 안내만 | 유효 분기만 처리; 근거 변경 시 재확인; 미확인 조건의 임의 생성 없음 | 분기 근거와 실제 상태 안내; 실제 전달 기록 |</a:t>
            </a:r>
          </a:p>
          <a:p xmlns:a="http://schemas.openxmlformats.org/drawingml/2006/main">
            <a:r>
              <a:t>| S4-01 | 보고서 형식 정정 | 기존 보고서 자료/version | T보고서 변경; T메일에 변경 연결 없음 | 표로 변경; 기간/메일/무관 조건 보존 | 유효 정정 적용; 늦은 이전 후보 재적용/중복 없음 | 변경 접수 사실 안내; 미완료를 완료로 주장하지 않음; 실제 전달 기록 |</a:t>
            </a:r>
          </a:p>
          <a:p xmlns:a="http://schemas.openxmlformats.org/drawingml/2006/main">
            <a:r>
              <a:t>| S4-02 | 음성 중단 후 지정 수치 설명 | 실제 재생한 설명 범위와 해당 수치 근거 | 기존 대화의 후속 설명; 실행 중 Task 취소로 연결하지 않음 | 지정 수치 범위; 무관 업무 지시 보존 | 음성 중단/새 설명 처리; 업무 취소 없음 | 들린 범위만 기록; 유효 새 설명 전달; 옛 음성 부활 없음 |</a:t>
            </a:r>
          </a:p>
          <a:p xmlns:a="http://schemas.openxmlformats.org/drawingml/2006/main">
            <a:r>
              <a:t>| S4-03 | 메일 업무만 취소 | 현재 메일 실행/접수 사실 | T메일 제어; T보고서와 실행 유지 | 취소 범위 제한; 이미 생긴 외부 효과를 소급 제거했다고 하지 않음 | 올바른 취소 전달; 접수/종료/미확인 구별; 중복 제어 없음 | 확인된 취소 단계/미확인 안내; 실제 전달 기록 |</a:t>
            </a:r>
          </a:p>
          <a:p xmlns:a="http://schemas.openxmlformats.org/drawingml/2006/main">
            <a:r>
              <a:t>| S5-01 | 두 Agent 질문을 사용자 interaction에 연결 | 각 원천 질문/유효 version | 기간 질문→보고서; 수신자 질문→메일 | 각 질문/답변 범위 보존; 합쳐 임의 승인하지 않음 | 유효 질문 상태와 제시 처리; 철회 질문 적용 없음 | 업무별 질문 구분; 실제 제시/focus 기록 |</a:t>
            </a:r>
          </a:p>
          <a:p xmlns:a="http://schemas.openxmlformats.org/drawingml/2006/main">
            <a:r>
              <a:t>| S5-02 | 유효 결과 수신/안내 | 각각의 현재 결과/version과 원천 event | 원래 Task/Execution/대화 연결 | 결과 참조 역할 보존; 다른 업무 결과로 치환 없음 | 역전/중복/stale 처리; 새 실행/중복 완료 없음 | 유효 결과/상태 안내; 실제 전달 기록 |</a:t>
            </a:r>
          </a:p>
          <a:p xmlns:a="http://schemas.openxmlformats.org/drawingml/2006/main">
            <a:r>
              <a:t>| S5-03 | 음성 종료 중 결과를 유지/전달 | 확인된 Agent 결과/version | 기존 Task/대화 유지; 재연결을 새 업무로 연결하지 않음 | Text-only/재연결 조건 보존; 자동 업무 재실행 없음 | 결과 저장/처리; 기존 실행/완료 상태 유지 | Text 표시와 음성 전달 구별; 재연결 후 옛 음성을 이미 들었다고 기록하지 않음 |</a:t>
            </a:r>
          </a:p>
          <a:p xmlns:a="http://schemas.openxmlformats.org/drawingml/2006/main">
            <a:r>
              <a:t>| S6-01 | 대상/수정 내용 확인 후 변경 | 답변으로 지정한 보고서/수정 근거 | 원래 요청과 지정 업무에 답변 연결 | 답변 범위만 변경; 무관 조건 보존 | 답변 전 임의 변경 없음; 답변 후 올바른 처리 | 필요한 질문/변경 사실 안내; 실제 전달 기록 |</a:t>
            </a:r>
          </a:p>
          <a:p xmlns:a="http://schemas.openxmlformats.org/drawingml/2006/main">
            <a:r>
              <a:t>| S6-02 | 기존 질문 답변 처리; 필요 시 재확인 | 실제 제시된 Q1/receipt; 현재 권한/질문 상태 | 유효 Q1에만 연결; Q2에 임의 연결 없음 | 연락처 조회 동의와 전송 승인 구별 | 허용 조회만 진행; 미확인/철회 질문 및 승인 적용 없음 | 질문 대상/허용 단계 사실대로 안내; 실제 전달 기록 |</a:t>
            </a:r>
          </a:p>
          <a:p xmlns:a="http://schemas.openxmlformats.org/drawingml/2006/main">
            <a:r>
              <a:t>| S6-03 | 접근 불가 안내/유보 | D1의 실제 접근 거부; 허용 대체 근거 없음 | 원래 자료 문의에 연결; 무관 Task 시작 없음 | 접근 거부와 누락/판단 불가 구별; 다른 문서 치환 없음 | 권한 우회/허위 조회/임의 외부 효과 없음 | 금액 추측/조회 성공 주장 없음; 확인된 한계와 허용 다음 행동 전달 |</a:t>
            </a:r>
          </a:p>
          <a:p xmlns:a="http://schemas.openxmlformats.org/drawingml/2006/main">
            <a:r>
              <a:t/>
            </a:r>
          </a:p>
          <a:p xmlns:a="http://schemas.openxmlformats.org/drawingml/2006/main">
            <a:r>
              <a:t>판정은 내부 MeaningProposal 하나가 맞는지만 보지 않는다. 항목의 사실이 실제 처리에 쓰였는지 §3.6.1의 채택/전송/상태/전달 evidence로 확인한다. 잘못된 후보가 채택 전에 수정되면 최종 처리가 맞을 수 있다. 이미 잘못된 인계/게시가 발생했다면 마지막 값만 고쳐도 해당 항목의 0과 위반 기록은 남긴다.</a:t>
            </a:r>
          </a:p>
          <a:p xmlns:a="http://schemas.openxmlformats.org/drawingml/2006/main">
            <a:r>
              <a:t/>
            </a:r>
          </a:p>
          <a:p xmlns:a="http://schemas.openxmlformats.org/drawingml/2006/main">
            <a:r>
              <a:t>#### 3.3.3 정답표 작성 예 — S4-01</a:t>
            </a:r>
          </a:p>
          <a:p xmlns:a="http://schemas.openxmlformats.org/drawingml/2006/main">
            <a:r>
              <a:t/>
            </a:r>
          </a:p>
          <a:p xmlns:a="http://schemas.openxmlformats.org/drawingml/2006/main">
            <a:r>
              <a:t>초기 상태는 보고서 업무 T보고서와 메일 업무 T메일이 각각 존재하고, 보고서 대상은 D1@v1, 기간은 올해 3분기, 형식은 문장이라고 둔다. 메일 대상/수신자와 지시는 이미 정해져 있다. 현재 준비 중인 보고서 후속 변경 요청은 아직 외부에 전송되지 않았다. 기존 두 업무의 외부 접수 사실은 있고 메일의 실제 전송 효과는 아직 없다. 사용자가 “보고서는 표로 바꾸고 메일은 그대로”라고 정정한 뒤 이전 입력을 기준으로 만든 의미 후보가 늦게 돌아온다. 공통 외부 Agent는 올바른 변경 요청의 접수만 확인하고 완료는 알리지 않는다.</a:t>
            </a:r>
          </a:p>
          <a:p xmlns:a="http://schemas.openxmlformats.org/drawingml/2006/main">
            <a:r>
              <a:t/>
            </a:r>
          </a:p>
          <a:p xmlns:a="http://schemas.openxmlformats.org/drawingml/2006/main">
            <a:r>
              <a:t>| 공통 조건 유형 | 사전 기대값 | 확인할 근거 |</a:t>
            </a:r>
          </a:p>
          <a:p xmlns:a="http://schemas.openxmlformats.org/drawingml/2006/main">
            <a:r>
              <a:t>| --- | --- | --- |</a:t>
            </a:r>
          </a:p>
          <a:p xmlns:a="http://schemas.openxmlformats.org/drawingml/2006/main">
            <a:r>
              <a:t>| C1 목표와 처리 방향 | 기존 보고서의 형식 변경. 새 보고서 업무 생성이나 새로운 조사로 바꾸지 않음 | 채택 의미와 Agent에 전달한 요청의 목적 |</a:t>
            </a:r>
          </a:p>
          <a:p xmlns:a="http://schemas.openxmlformats.org/drawingml/2006/main">
            <a:r>
              <a:t>| C2 대상과 근거 | 보고서 대상 D1@v1 유지. 다른 자료나 최신 원본으로 교체하지 않음 | 실제 요청의 자료/version 참조 |</a:t>
            </a:r>
          </a:p>
          <a:p xmlns:a="http://schemas.openxmlformats.org/drawingml/2006/main">
            <a:r>
              <a:t>| C3 대화와 업무 연결 | T보고서에 변경 연결. T메일에 변경 연결하지 않음 | 실제 요청/명령의 업무 및 대화 연결 |</a:t>
            </a:r>
          </a:p>
          <a:p xmlns:a="http://schemas.openxmlformats.org/drawingml/2006/main">
            <a:r>
              <a:t>| C4 조건, 관계와 변경 범위 | 형식=표, 기간=올해 3분기 유지, 메일의 기존 대상/수신자/지시 보존 | 채택한 변경/보존 조건과 실제 인계 내용 |</a:t>
            </a:r>
          </a:p>
          <a:p xmlns:a="http://schemas.openxmlformats.org/drawingml/2006/main">
            <a:r>
              <a:t>| C5 처리 효과와 상태 | 유효 정정만 적용. 늦은 이전 후보의 재적용과 중복 변경 없음. 외부 접수 확인을 완료로 전이하지 않음 | 변경 적용/전송 trace, Agent receipt, 업무 상태 |</a:t>
            </a:r>
          </a:p>
          <a:p xmlns:a="http://schemas.openxmlformats.org/drawingml/2006/main">
            <a:r>
              <a:t>| C6 응답 내용과 실제 전달 | 보고서 변경 접수 사실을 알림. 완료라고 주장하지 않음. 실제 표시/재생 범위대로 기록 | 실제 Text/음성 내용과 전달 evidence |</a:t>
            </a:r>
          </a:p>
          <a:p xmlns:a="http://schemas.openxmlformats.org/drawingml/2006/main">
            <a:r>
              <a:t/>
            </a:r>
          </a:p>
          <a:p xmlns:a="http://schemas.openxmlformats.org/drawingml/2006/main">
            <a:r>
              <a:t>이것은 **6개 조건 유형을 채운 예**다. Voice PoC v3에서는 유형마다 필수 사실을 모두 만족해야 1점이 되는 여섯 이진 항목으로 집계한다. C4의 형식/기간/메일 보존처럼 여러 사실은 진단용 조건 ID로 등록하되 항목 내 부분 점수를 추가하지 않는다.</a:t>
            </a:r>
          </a:p>
          <a:p xmlns:a="http://schemas.openxmlformats.org/drawingml/2006/main">
            <a:r>
              <a:t/>
            </a:r>
          </a:p>
          <a:p xmlns:a="http://schemas.openxmlformats.org/drawingml/2006/main">
            <a:r>
              <a:t>### 3.4 측정 지표와 분모</a:t>
            </a:r>
          </a:p>
          <a:p xmlns:a="http://schemas.openxmlformats.org/drawingml/2006/main">
            <a:r>
              <a:t/>
            </a:r>
          </a:p>
          <a:p xmlns:a="http://schemas.openxmlformats.org/drawingml/2006/main">
            <a:r>
              <a:t>```text</a:t>
            </a:r>
          </a:p>
          <a:p xmlns:a="http://schemas.openxmlformats.org/drawingml/2006/main">
            <a:r>
              <a:t>y(i,c) ∈ {0,1}  # 실행 i의 채점 항목 c, c=1..6</a:t>
            </a:r>
          </a:p>
          <a:p xmlns:a="http://schemas.openxmlformats.org/drawingml/2006/main">
            <a:r>
              <a:t>요청 처리 정확성(%) = 100 × Σ_i Σ_c y(i,c) / 540</a:t>
            </a:r>
          </a:p>
          <a:p xmlns:a="http://schemas.openxmlformats.org/drawingml/2006/main">
            <a:r>
              <a:t>완전 정답 처리율(%) = 100 × count_i[모든 c에서 y(i,c)=1] / 90</a:t>
            </a:r>
          </a:p>
          <a:p xmlns:a="http://schemas.openxmlformats.org/drawingml/2006/main">
            <a:r>
              <a:t>상황군별 정답률(%) = 100 × 해당 상황군의 정답 항목 수 / 90</a:t>
            </a:r>
          </a:p>
          <a:p xmlns:a="http://schemas.openxmlformats.org/drawingml/2006/main">
            <a:r>
              <a:t>C 유형별 정답률(%) = 100 × 해당 C 유형의 정답 항목 수 / 90</a:t>
            </a:r>
          </a:p>
          <a:p xmlns:a="http://schemas.openxmlformats.org/drawingml/2006/main">
            <a:r>
              <a:t>A/B 차이(pp) = B의 요청 처리 정확성 − A의 요청 처리 정확성</a:t>
            </a:r>
          </a:p>
          <a:p xmlns:a="http://schemas.openxmlformats.org/drawingml/2006/main">
            <a:r>
              <a:t>```</a:t>
            </a:r>
          </a:p>
          <a:p xmlns:a="http://schemas.openxmlformats.org/drawingml/2006/main">
            <a:r>
              <a:t/>
            </a:r>
          </a:p>
          <a:p xmlns:a="http://schemas.openxmlformats.org/drawingml/2006/main">
            <a:r>
              <a:t>전체 분자/분모와 함께 6개 상황군, 6개 C 유형, 지정된 N/W/X, 18개 사례 및 5개 반복의 분해 결과를 공개한다. 같은 항목에서 `둘 다 정답`, `A만 정답`, `B만 정답`, `둘 다 오답`을 기록하고 오답 원인 및 모든 위반 trace를 연결한다. 조회/생산/결합/채택/전송/게시/추상 장치 전달 중 오류 발생 경로는 진단이며 점수를 추가하지 않는다.</a:t>
            </a:r>
          </a:p>
          <a:p xmlns:a="http://schemas.openxmlformats.org/drawingml/2006/main">
            <a:r>
              <a:t/>
            </a:r>
          </a:p>
          <a:p xmlns:a="http://schemas.openxmlformats.org/drawingml/2006/main">
            <a:r>
              <a:t>작은 차이를 반복 수만으로 확실한 차이처럼 보이지 않게 한다. 불확실성은 **같은 대표 사례의 5회 반복 전체를 하나의 묶음**으로 A/B 함께 재표집한다. S1~S6 각각에서 기본 사례 3개를 복원 추출해 균형을 유지하는 paired block bootstrap 10,000회, seed `20261010`, 차이의 2.5/97.5 percentile을 보고한다. 18개 사례 묶음만 있으므로 작은 차이의 검정력은 제한적이며 제품 모집단의 정확률 신뢰구간이라고 해석하지 않는다. 이 절의 구체적 묶음/횟수는 작성자 설계다. 의존된 음성 자료를 개별 독립 표본으로 재표집하지 않는 원칙은 [Liu와 Peng의 blockwise bootstrap 연구](https://arxiv.org/abs/1912.09508v2)를 참고했다.</a:t>
            </a:r>
          </a:p>
          <a:p xmlns:a="http://schemas.openxmlformats.org/drawingml/2006/main">
            <a:r>
              <a:t/>
            </a:r>
          </a:p>
          <a:p xmlns:a="http://schemas.openxmlformats.org/drawingml/2006/main">
            <a:r>
              <a:t>### 3.5 목표와 A/B 차이 판단 기준</a:t>
            </a:r>
          </a:p>
          <a:p xmlns:a="http://schemas.openxmlformats.org/drawingml/2006/main">
            <a:r>
              <a:t/>
            </a:r>
          </a:p>
          <a:p xmlns:a="http://schemas.openxmlformats.org/drawingml/2006/main">
            <a:r>
              <a:t>| 기준 | v3 PoC 목표 | 고정 분모에서 필요한 수 | 이유 |</a:t>
            </a:r>
          </a:p>
          <a:p xmlns:a="http://schemas.openxmlformats.org/drawingml/2006/main">
            <a:r>
              <a:t>| --- | --- | --- | --- |</a:t>
            </a:r>
          </a:p>
          <a:p xmlns:a="http://schemas.openxmlformats.org/drawingml/2006/main">
            <a:r>
              <a:t>| 대표 요청 처리 정확성 | **98% 이상** | 540개 중 530개 이상 정답, 오답 최대 10개 | 항목 오류 예산을 2% 이내로 제한 |</a:t>
            </a:r>
          </a:p>
          <a:p xmlns:a="http://schemas.openxmlformats.org/drawingml/2006/main">
            <a:r>
              <a:t>| 완전 정답 처리율 | **95% 이상** | 90회 중 86회 이상 여섯 항목 모두 정답 | 여러 칸의 높은 부분 점수로 요청 단위 실패를 숨기지 않음 |</a:t>
            </a:r>
          </a:p>
          <a:p xmlns:a="http://schemas.openxmlformats.org/drawingml/2006/main">
            <a:r>
              <a:t>| 각 S 상황군 정답률 | **각각 95% 이상** | 각 90개 중 86개 이상 정답 | 쉬운 정상 사례로 특정 중요한 상황의 실패를 희석하지 않음 |</a:t>
            </a:r>
          </a:p>
          <a:p xmlns:a="http://schemas.openxmlformats.org/drawingml/2006/main">
            <a:r>
              <a:t>| 각 C 조건 유형 정답률 | **각각 95% 이상** | 각 90개 중 86개 이상 정답 | 실제 적용/전달의 약점을 의미 항목 점수로 상쇄하지 않음 |</a:t>
            </a:r>
          </a:p>
          <a:p xmlns:a="http://schemas.openxmlformats.org/drawingml/2006/main">
            <a:r>
              <a:t>| 필수 위반 | **0건** | 전체 실행/관찰 trace에서 위반 없음 | 오업무/중복 외부 효과, 잘못된 질문/승인 적용, 무허용 접근/제공을 평균에 희석하지 않음 |</a:t>
            </a:r>
          </a:p>
          <a:p xmlns:a="http://schemas.openxmlformats.org/drawingml/2006/main">
            <a:r>
              <a:t/>
            </a:r>
          </a:p>
          <a:p xmlns:a="http://schemas.openxmlformats.org/drawingml/2006/main">
            <a:r>
              <a:t>이 숫자는 제품 빈도나 실측에서 추정한 값, 산업 표준 또는 모델이 이미 달성한 성능이 아니다. 이번 과제의 **평가 목표**로 정한 설계 수치다. 두 후보 모두 미달하면 미달을 보고하고 원인을 보완한다. 목표를 결과 뒤에 낮추거나 실패 사례를 빼지 않는다. 필수 위반 0건은 이 시험에서의 관찰 결과이며 제품 전체에서 오류 확률이 0이라는 증명이 아니다.</a:t>
            </a:r>
          </a:p>
          <a:p xmlns:a="http://schemas.openxmlformats.org/drawingml/2006/main">
            <a:r>
              <a:t/>
            </a:r>
          </a:p>
          <a:p xmlns:a="http://schemas.openxmlformats.org/drawingml/2006/main">
            <a:r>
              <a:t>필수 위반은 잘못된 Task/Execution의 외부 명령/제어, 같은 명령의 중복 외부 효과, 철회/다른 질문의 승인 사용, 허용하지 않은 정보 접근/제공, 다른 업무로 질문 답변/결과 적용이다. 일반 표현/설명 오류와 구별해 독립 원장을 남긴다. 위반 후보도 모든 적용 QA의 값과 손익을 측정/보고하며 최종 선택 적격성만 제한한다.</a:t>
            </a:r>
          </a:p>
          <a:p xmlns:a="http://schemas.openxmlformats.org/drawingml/2006/main">
            <a:r>
              <a:t/>
            </a:r>
          </a:p>
          <a:p xmlns:a="http://schemas.openxmlformats.org/drawingml/2006/main">
            <a:r>
              <a:t>같은 DP의 A/B 차이가 **1 percentage point 이상이고 §3.4의 paired 95% 구간이 0을 포함하지 않을 때** 정확성의 의미 있는 우위로 인정한다. 1pp는 2% 항목 오류 예산의 절반에 해당하는 선택 차이로 정했으며 이 분모에서 순 정답 차이 최소 6개다. 필수 위반/목표 충족 여부와 함께 해석한다. 미달 후보가 더 높은 정확률을 보였다는 사실도 그대로 남긴다.</a:t>
            </a:r>
          </a:p>
          <a:p xmlns:a="http://schemas.openxmlformats.org/drawingml/2006/main">
            <a:r>
              <a:t/>
            </a:r>
          </a:p>
          <a:p xmlns:a="http://schemas.openxmlformats.org/drawingml/2006/main">
            <a:r>
              <a:t>차이가 1pp 미만이면 선택상 작은 차이로 보고하고, 구간이 0을 포함하면 우열 미입증으로 보고한다. 미입증을 통계적 동등성으로 바꾸지 않는다. 선택은 사용자 지정 ASR-QA-01 → 02 → 03 → 04 → 05 → 06 순서로 유의미한 차이를 확인하며 모든 축의 손익을 보고한다. 상위 QA의 우열이 드러나지 않으면 다음 QA로 넘어가고, 선택한 안의 낮은 순위 약점은 tactic으로 보완한 뒤 상위 QA의 회귀를 검사한다. 이번 정의만으로 A/B를 선정한 것은 아니다. 이 규칙은 각 DP의 쌍 비교용이며 네 비교 전체의 동시 95% 보장을 주장하지 않는다.</a:t>
            </a:r>
          </a:p>
          <a:p xmlns:a="http://schemas.openxmlformats.org/drawingml/2006/main">
            <a:r>
              <a:t/>
            </a:r>
          </a:p>
          <a:p xmlns:a="http://schemas.openxmlformats.org/drawingml/2006/main">
            <a:r>
              <a:t>#### 3.5.1 목표 필요성과 수치 선택 근거</a:t>
            </a:r>
          </a:p>
          <a:p xmlns:a="http://schemas.openxmlformats.org/drawingml/2006/main">
            <a:r>
              <a:t/>
            </a:r>
          </a:p>
          <a:p xmlns:a="http://schemas.openxmlformats.org/drawingml/2006/main">
            <a:r>
              <a:t>VIA는 여러 업무/Agent를 하나의 대화로 연결하고 과거 근거를 다시 사용하며 특정 업무만 정정/취소하는 SW다. 목표/대상/관계/상태가 잘못되면 사용자가 VIA 대신 업무를 식별하고 다시 연결해야 한다. 높은 정확성의 과제 근거는 [시스템 목적](../../01-system-mission-and-boundary.md), [고정 범위](../../03-fixed-architecture-scope.md)와 [UC](../../05-representative-use-cases.md)에 있다.</a:t>
            </a:r>
          </a:p>
          <a:p xmlns:a="http://schemas.openxmlformats.org/drawingml/2006/main">
            <a:r>
              <a:t/>
            </a:r>
          </a:p>
          <a:p xmlns:a="http://schemas.openxmlformats.org/drawingml/2006/main">
            <a:r>
              <a:t>**수치 선택은 작성자가 정한 PoC 허용 오류 예산이다.** 외부 논문이나 사업자 합의에서 VIA의 98%를 발견했다고 주장하지 않는다. 사용자가 2026-10-11 허용 수준을 작성자가 구체화하고 이후 리뷰하도록 위임했으므로 다음 예산을 현재 정의로 채택한다.</a:t>
            </a:r>
          </a:p>
          <a:p xmlns:a="http://schemas.openxmlformats.org/drawingml/2006/main">
            <a:r>
              <a:t/>
            </a:r>
          </a:p>
          <a:p xmlns:a="http://schemas.openxmlformats.org/drawingml/2006/main">
            <a:r>
              <a:t>| 목표 | 과제 차원 선택 판단 | 작은 PoC의 정수 한도 |</a:t>
            </a:r>
          </a:p>
          <a:p xmlns:a="http://schemas.openxmlformats.org/drawingml/2006/main">
            <a:r>
              <a:t>| --- | --- | --- |</a:t>
            </a:r>
          </a:p>
          <a:p xmlns:a="http://schemas.openxmlformats.org/drawingml/2006/main">
            <a:r>
              <a:t>| 항목 정확성 98% | 업무 연결과 적용까지 포함한 필수 조건에서 **50개 중 1개 이하 오류**를 허용하는 높은 신뢰 기준. 단순 해석 점수만 높고 적용/전달이 틀리는 구조를 걸러냄 | 540개에서 오류 최대 10개. 11개 오류는 97.963%로 미달 |</a:t>
            </a:r>
          </a:p>
          <a:p xmlns:a="http://schemas.openxmlformats.org/drawingml/2006/main">
            <a:r>
              <a:t>| 완전 정답 95% | 사용자가 **20번 중 1번을 넘게 전체 처리의 재확인/수정에 개입하지 않아야 한다**는 PoC 수용 판단. 반복 시험이 제품 사용 빈도를 대표한다는 주장은 아님 | 90회에서 실패 최대 4회. 5회 실패는 94.444%로 미달 |</a:t>
            </a:r>
          </a:p>
          <a:p xmlns:a="http://schemas.openxmlformats.org/drawingml/2006/main">
            <a:r>
              <a:t>| 각 S/C 95% | 정정/교차 질문/권한 경계를 평균 뒤에 숨기지 않도록 각 중요 묶음에도 같은 20회당 1회 수준의 보호 예산 | 각 90개에서 오류 최대 4개 |</a:t>
            </a:r>
          </a:p>
          <a:p xmlns:a="http://schemas.openxmlformats.org/drawingml/2006/main">
            <a:r>
              <a:t>| 필수 위반 0건 | 무관 업무 제어/중복 외부 효과/잘못된 승인/무허용 정보 사용은 고정 기능과 권한 계약상 허용할 수 없는 효과 | 관찰 범위에서 1건이면 적격성 미달. 발생 확률 0의 증명은 아님 |</a:t>
            </a:r>
          </a:p>
          <a:p xmlns:a="http://schemas.openxmlformats.org/drawingml/2006/main">
            <a:r>
              <a:t/>
            </a:r>
          </a:p>
          <a:p xmlns:a="http://schemas.openxmlformats.org/drawingml/2006/main">
            <a:r>
              <a:t>98%와 95%는 서로 자동 변환되지 않는다. 오류 10개가 10개 요청에 하나씩 퍼지면 항목 목표는 충족해도 전체 처리 목표는 미달이다. 오류가 4개 요청 안에 집중되면 각 S/C 보호 조건까지 검사한다. 이 두 예산을 함께 두어 부분 점수와 실제 사용자의 수정 부담을 모두 관리한다. 모든 후보가 미달하면 보완해야 하며 결과 뒤에 숫자를 낮추거나 분모를 줄이지 않는다.</a:t>
            </a:r>
          </a:p>
          <a:p xmlns:a="http://schemas.openxmlformats.org/drawingml/2006/main">
            <a:r>
              <a:t/>
            </a:r>
          </a:p>
          <a:p xmlns:a="http://schemas.openxmlformats.org/drawingml/2006/main">
            <a:r>
              <a:t>[이전 발표자료](../../../archive/qa-presentations-before-asr-20261011/README.md)의 V-01은 전체 요청 95%와 1,880회 시험을 제안했다. 현재 98%는 여섯 조건 묶음/90회/540개이며 그 외부 모델 사례를 직접 근거로 옮기지 않는다. 기존 수치의 약한 설명은 [완성 전 정의](../../../archive/qa-definitions-before-completion-20261011/README.md)에 보존한다. 현재 목표/분모/정답은 바꾸지 않고 과제 예산의 선택 이유를 명시했다.</a:t>
            </a:r>
          </a:p>
          <a:p xmlns:a="http://schemas.openxmlformats.org/drawingml/2006/main">
            <a:r>
              <a:t/>
            </a:r>
          </a:p>
          <a:p xmlns:a="http://schemas.openxmlformats.org/drawingml/2006/main">
            <a:r>
              <a:t>### 3.6 측정 절차와 관측 근거</a:t>
            </a:r>
          </a:p>
          <a:p xmlns:a="http://schemas.openxmlformats.org/drawingml/2006/main">
            <a:r>
              <a:t/>
            </a:r>
          </a:p>
          <a:p xmlns:a="http://schemas.openxmlformats.org/drawingml/2006/main">
            <a:r>
              <a:t>공통 환경/후보 구성은 §8을 사용한다. 아래에서는 정확성의 기대값과 실제 처리 evidence를 어떻게 연결하고 채점하는지 정한다.</a:t>
            </a:r>
          </a:p>
          <a:p xmlns:a="http://schemas.openxmlformats.org/drawingml/2006/main">
            <a:r>
              <a:t/>
            </a:r>
          </a:p>
          <a:p xmlns:a="http://schemas.openxmlformats.org/drawingml/2006/main">
            <a:r>
              <a:t>#### 3.6.1 공통 검사 방식과 관측</a:t>
            </a:r>
          </a:p>
          <a:p xmlns:a="http://schemas.openxmlformats.org/drawingml/2006/main">
            <a:r>
              <a:t/>
            </a:r>
          </a:p>
          <a:p xmlns:a="http://schemas.openxmlformats.org/drawingml/2006/main">
            <a:r>
              <a:t>정답 조건은 다음 검사 방식으로 표현한다. **테스트마다 새로운 채점 알고리즘을 만들지 않고 조건 유형, 비교 연산과 기대값을 지정한다.** 아래는 평가 설계이며 실행 harness나 runtime schema를 구현한 것은 아니다.</a:t>
            </a:r>
          </a:p>
          <a:p xmlns:a="http://schemas.openxmlformats.org/drawingml/2006/main">
            <a:r>
              <a:t/>
            </a:r>
          </a:p>
          <a:p xmlns:a="http://schemas.openxmlformats.org/drawingml/2006/main">
            <a:r>
              <a:t>| 공통 검사 방식 | 용도 | 예 |</a:t>
            </a:r>
          </a:p>
          <a:p xmlns:a="http://schemas.openxmlformats.org/drawingml/2006/main">
            <a:r>
              <a:t>| --- | --- | --- |</a:t>
            </a:r>
          </a:p>
          <a:p xmlns:a="http://schemas.openxmlformats.org/drawingml/2006/main">
            <a:r>
              <a:t>| 값/의미 일치 | ID, version, 상태, 의미가 정해진 목표/제약 | 대상 업무=메일, 기간=3분기, 기대 상태=접수됨 |</a:t>
            </a:r>
          </a:p>
          <a:p xmlns:a="http://schemas.openxmlformats.org/drawingml/2006/main">
            <a:r>
              <a:t>| 집합 일치 | 필수 대상/조건의 누락 및 원치 않은 추가 | 참조 대상={A, B}, 다른 C 포함 금지 |</a:t>
            </a:r>
          </a:p>
          <a:p xmlns:a="http://schemas.openxmlformats.org/drawingml/2006/main">
            <a:r>
              <a:t>| 허용 결과 집합 | 요구를 만족하는 복수 경로/표현 | 제한된 조회의 허용 직접 응답/위임, 의미가 같은 질문/안내 |</a:t>
            </a:r>
          </a:p>
          <a:p xmlns:a="http://schemas.openxmlformats.org/drawingml/2006/main">
            <a:r>
              <a:t>| 관계/전이 충족 | 조건/의존 graph, 실제 상태 변화와 인과 순서 | 요약 결과 준비 뒤 해당 참조로 메일 인계, 취소 접수와 종료 구별 |</a:t>
            </a:r>
          </a:p>
          <a:p xmlns:a="http://schemas.openxmlformats.org/drawingml/2006/main">
            <a:r>
              <a:t>| 금지 효과 없음 | 정해진 관찰 구간 전체의 부정 조건 | 답변 전 임의 실행 없음, 다른 Task 취소 없음, 중복 외부 명령 없음 |</a:t>
            </a:r>
          </a:p>
          <a:p xmlns:a="http://schemas.openxmlformats.org/drawingml/2006/main">
            <a:r>
              <a:t/>
            </a:r>
          </a:p>
          <a:p xmlns:a="http://schemas.openxmlformats.org/drawingml/2006/main">
            <a:r>
              <a:t>자연어 결과는 정확한 문자열 일치로 채점하지 않는다. 사전 등록한 의미 사실/허용 표현 기준에 맞춰 목표, 조건과 주장 사실을 판정한다. 문장마다 임의의 “그럴듯함” 점수를 주지 않으며 자동 판정이 어려운 사실은 같은 rubric과 검토 절차로 기록한다. 자동/수동 판정과 평가자 불일치 처리는 §3.6.3으로 고정했다.</a:t>
            </a:r>
          </a:p>
          <a:p xmlns:a="http://schemas.openxmlformats.org/drawingml/2006/main">
            <a:r>
              <a:t/>
            </a:r>
          </a:p>
          <a:p xmlns:a="http://schemas.openxmlformats.org/drawingml/2006/main">
            <a:r>
              <a:t>관측은 각 조건의 경계에 맞춘다. C1~C4는 채택 의미와 실제 처리에 사용한 대상/관계를, C5는 명령 전송/Agent receipt/상태 반영을, C6는 실제 Text 표시/음성 재생과 기록을 연결한다. 공통 의미로 정규화한 관측 record를 쓰되 A/B의 내부 저장 필드나 중간 Module을 같은 형식으로 바꾸도록 요구하지 않는다. 필요한 adapter와 필수 evidence는 측정 계약에서 별도 설계한다.</a:t>
            </a:r>
          </a:p>
          <a:p xmlns:a="http://schemas.openxmlformats.org/drawingml/2006/main">
            <a:r>
              <a:t/>
            </a:r>
          </a:p>
          <a:p xmlns:a="http://schemas.openxmlformats.org/drawingml/2006/main">
            <a:r>
              <a:t>정답 조건별 record에는 `과제 ID, 조건 ID, C 유형, 검사 방식, 기대값, 실제값, evidence 참조, 판정, 오류 원인`을 둔다. 이번 여섯 항목의 결과는 `정답/오답`으로 남기며 N/A는 사용하지 않는다. 필수 결과/관측의 후보 귀속 누락은 오답으로 남기고, 시험 수집기 결함은 §3.6.3의 INVALID 절차를 따른다. 금지 효과가 없다는 판정에는 전체 관찰 구간의 필수 trace가 필요하다. 끝 상태만 보고 중간 오실행이 없었다고 추정하지 않는다.</a:t>
            </a:r>
          </a:p>
          <a:p xmlns:a="http://schemas.openxmlformats.org/drawingml/2006/main">
            <a:r>
              <a:t/>
            </a:r>
          </a:p>
          <a:p xmlns:a="http://schemas.openxmlformats.org/drawingml/2006/main">
            <a:r>
              <a:t>기존 검사 방식으로 표현할 수 없는 중요한 사실을 발견하면 공통 조건/검사 정의를 개정하고 영향받는 사례 전체에 적용한다. 특정 DP나 실패 사례 하나에만 다른 판정법을 추가하지 않는다. 정답 파일은 평가자만 보며 후보에는 정상 사용자가 접근할 수 있는 입력/근거와 동일한 외부 지원만 제공한다.</a:t>
            </a:r>
          </a:p>
          <a:p xmlns:a="http://schemas.openxmlformats.org/drawingml/2006/main">
            <a:r>
              <a:t/>
            </a:r>
          </a:p>
          <a:p xmlns:a="http://schemas.openxmlformats.org/drawingml/2006/main">
            <a:r>
              <a:t>#### 3.6.2 모든 테스트에 사용할 작성 양식</a:t>
            </a:r>
          </a:p>
          <a:p xmlns:a="http://schemas.openxmlformats.org/drawingml/2006/main">
            <a:r>
              <a:t/>
            </a:r>
          </a:p>
          <a:p xmlns:a="http://schemas.openxmlformats.org/drawingml/2006/main">
            <a:r>
              <a:t>```text</a:t>
            </a:r>
          </a:p>
          <a:p xmlns:a="http://schemas.openxmlformats.org/drawingml/2006/main">
            <a:r>
              <a:t>과제 ID / 대표 상황 S1~S6 / 고정 UC / 공통 변형 tag</a:t>
            </a:r>
          </a:p>
          <a:p xmlns:a="http://schemas.openxmlformats.org/drawingml/2006/main">
            <a:r>
              <a:t>초기 상태: 대화, 기존 업무/질문, 허용 정보/권한, 원본 version, 실제 전달 범위</a:t>
            </a:r>
          </a:p>
          <a:p xmlns:a="http://schemas.openxmlformats.org/drawingml/2006/main">
            <a:r>
              <a:t>입력과 사건: Voice 발화의 공통 전사/시각, 화면/행동 근거, Agent 원천 사건, 공통 후속 사용자 답변</a:t>
            </a:r>
          </a:p>
          <a:p xmlns:a="http://schemas.openxmlformats.org/drawingml/2006/main">
            <a:r>
              <a:t>사건 순서: 공통 원천 사건의 순서/경쟁 조건과 외부 지원 응답</a:t>
            </a:r>
          </a:p>
          <a:p xmlns:a="http://schemas.openxmlformats.org/drawingml/2006/main">
            <a:r>
              <a:t>기대 조건:</a:t>
            </a:r>
          </a:p>
          <a:p xmlns:a="http://schemas.openxmlformats.org/drawingml/2006/main">
            <a:r>
              <a:t>  C1 목표와 처리 방향       → 조건 ID, 검사 방식, 기대값 또는 허용 집합</a:t>
            </a:r>
          </a:p>
          <a:p xmlns:a="http://schemas.openxmlformats.org/drawingml/2006/main">
            <a:r>
              <a:t>  C2 대상과 근거            → 동일 양식</a:t>
            </a:r>
          </a:p>
          <a:p xmlns:a="http://schemas.openxmlformats.org/drawingml/2006/main">
            <a:r>
              <a:t>  C3 대화와 업무 연결       → 동일 양식</a:t>
            </a:r>
          </a:p>
          <a:p xmlns:a="http://schemas.openxmlformats.org/drawingml/2006/main">
            <a:r>
              <a:t>  C4 조건, 관계와 변경 범위 → 동일 양식</a:t>
            </a:r>
          </a:p>
          <a:p xmlns:a="http://schemas.openxmlformats.org/drawingml/2006/main">
            <a:r>
              <a:t>  C5 처리 효과와 상태       → 동일 양식</a:t>
            </a:r>
          </a:p>
          <a:p xmlns:a="http://schemas.openxmlformats.org/drawingml/2006/main">
            <a:r>
              <a:t>  C6 응답 내용과 실제 전달  → 동일 양식</a:t>
            </a:r>
          </a:p>
          <a:p xmlns:a="http://schemas.openxmlformats.org/drawingml/2006/main">
            <a:r>
              <a:t>금지 효과: 조건 ID에 연결해 관찰 구간 전체에서 확인</a:t>
            </a:r>
          </a:p>
          <a:p xmlns:a="http://schemas.openxmlformats.org/drawingml/2006/main">
            <a:r>
              <a:t>관찰 종료: 요구 결과의 관측 경계, 지연 사건 포함 구간, 공통 최대 대기 규칙</a:t>
            </a:r>
          </a:p>
          <a:p xmlns:a="http://schemas.openxmlformats.org/drawingml/2006/main">
            <a:r>
              <a:t>관측 및 판정: 조건별 실제값/evidence/정답 여부/오류 원인</a:t>
            </a:r>
          </a:p>
          <a:p xmlns:a="http://schemas.openxmlformats.org/drawingml/2006/main">
            <a:r>
              <a:t>```</a:t>
            </a:r>
          </a:p>
          <a:p xmlns:a="http://schemas.openxmlformats.org/drawingml/2006/main">
            <a:r>
              <a:t/>
            </a:r>
          </a:p>
          <a:p xmlns:a="http://schemas.openxmlformats.org/drawingml/2006/main">
            <a:r>
              <a:t>이번 18개 사례는 필요한 확인 질문과 공통 답변을 같은 과제 안에 포함한다. 후속 질문을 별도 과제로 추가해 분모를 늘리지 않는다. 후보의 질문 문구/순서가 달라도 동일 의미의 답변을 제공한다. 답변 제공 규칙은 같은 질문 대상과 정보량을 유지하며 필요 없는 힌트를 추가하지 않는다.</a:t>
            </a:r>
          </a:p>
          <a:p xmlns:a="http://schemas.openxmlformats.org/drawingml/2006/main">
            <a:r>
              <a:t/>
            </a:r>
          </a:p>
          <a:p xmlns:a="http://schemas.openxmlformats.org/drawingml/2006/main">
            <a:r>
              <a:t>사건 schedule은 공통 원천 사건과 외부 의미 경계에 맞춘다. 특정 안의 내부 Module 시작/완료를 기준으로 다른 안에 더 유리한 근거를 주지 않는다. 후보의 계산/조회/확정 순서는 구조가 만들도록 두고 경쟁 조건의 적용 방법을 계약에 명시한다. v3의 사례별 조건/관찰 종료/최대 대기는 §3.2.3과 §3.6.3을 따른다.</a:t>
            </a:r>
          </a:p>
          <a:p xmlns:a="http://schemas.openxmlformats.org/drawingml/2006/main">
            <a:r>
              <a:t/>
            </a:r>
          </a:p>
          <a:p xmlns:a="http://schemas.openxmlformats.org/drawingml/2006/main">
            <a:r>
              <a:t>원본 fixture 제작과 관측 adapter는 §8.3의 실행 준비 단계다. 상황 분류/분모/목표를 다시 결정하는 작업으로 복원하지 않는다.</a:t>
            </a:r>
          </a:p>
          <a:p xmlns:a="http://schemas.openxmlformats.org/drawingml/2006/main">
            <a:r>
              <a:t/>
            </a:r>
          </a:p>
          <a:p xmlns:a="http://schemas.openxmlformats.org/drawingml/2006/main">
            <a:r>
              <a:t>#### 3.6.3 실행과 관측 절차</a:t>
            </a:r>
          </a:p>
          <a:p xmlns:a="http://schemas.openxmlformats.org/drawingml/2006/main">
            <a:r>
              <a:t/>
            </a:r>
          </a:p>
          <a:p xmlns:a="http://schemas.openxmlformats.org/drawingml/2006/main">
            <a:r>
              <a:t>1. **실행 자산 제작:** §3.2.2의 상세 명세와 §3.3.1의 판별 규칙을 파일/검사기로 옮기고 각 사례의 Voice 발화와 지정 조건 하나를 고정한다. 파일 hash, source event script, fixture 의미 ID와 runtime ID 대응, Voice/screen 시각, rubric을 고정한다. 후보에게 정답표를 제공하지 않는다.</a:t>
            </a:r>
          </a:p>
          <a:p xmlns:a="http://schemas.openxmlformats.org/drawingml/2006/main">
            <a:r>
              <a:t>2. **runner 검수:** 정답/누락/오선택/잘못된 상태/미전달 trace를 이용해 C1~C6와 위반 검출을 확인한다. 이는 검사기 검수이며 후보 정확성 점수에 넣지 않는다. critical Action은 stub 경계에서만 기록한다.</a:t>
            </a:r>
          </a:p>
          <a:p xmlns:a="http://schemas.openxmlformats.org/drawingml/2006/main">
            <a:r>
              <a:t>3. **모델/후보 binding:** 동일 build/설정과 실제 저장/인계/입력/표시/재생 경계의 관측을 확인한다. 구조별 prompt/운영 예산과 cache/생산의 version을 기록하고 준비 상태를 확인한다. 정답표를 보며 한쪽 prompt만 조정하지 않는다.</a:t>
            </a:r>
          </a:p>
          <a:p xmlns:a="http://schemas.openxmlformats.org/drawingml/2006/main">
            <a:r>
              <a:t>4. **동일 준비 상태 복원:** N/W/X의 동일 원본/외부 이력을 각각의 후보가 처리하게 한다. W에는 120초 준비 창, X에는 공통 변경/교차 script를 적용한다. 시험용 의미/파생 자료를 정답으로 선주입하지 않는다.</a:t>
            </a:r>
          </a:p>
          <a:p xmlns:a="http://schemas.openxmlformats.org/drawingml/2006/main">
            <a:r>
              <a:t>5. **쌍 실행:** 같은 사례/지정 조건/반복의 A/B를 가까운 시간에 연속 실행한다. 순서는 seed `20261010`으로 섞고 각 입력 조건의 5쌍에서는 A 선행/B 선행을 3/2 또는 2/3으로 배분한다. 같은 provider seed가 지원되면 대응시키되 동일 모델 응답을 강제하지 않는다.</a:t>
            </a:r>
          </a:p>
          <a:p xmlns:a="http://schemas.openxmlformats.org/drawingml/2006/main">
            <a:r>
              <a:t>6. **후속 사건/답변 제공:** 후보의 유효 질문에 정해진 의미의 Voice 답변을 공통 replay로 준다. 허용하지 않은 임의 추가 정보는 주지 않는다. 계획된 확인은 필요한 정보가 모두 채워질 때까지, 후보가 추가한 불필요한 확인은 최대 2회 답변 기회까지 제공하고 그 수고/시간/비용도 남긴다. 미지원 관계를 다른 목표로 바꾸는 답변은 제공하지 않는다.</a:t>
            </a:r>
          </a:p>
          <a:p xmlns:a="http://schemas.openxmlformats.org/drawingml/2006/main">
            <a:r>
              <a:t>7. **관찰:** 마지막 원천 입력/필수 외부 사실 또는 제공한 사용자 답변부터 각 자동 처리 구간을 최대 60초 관찰한다. 준비/대기 중에도 금지 효과를 기록한다. 필수 후속 사건은 script의 60초 안에서 발생시키고, 마지막 처리 후 5초간 늦은 반환/중복/옛 음성의 재활성화를 확인한다. 처리 episode 총 상한은 10분이며 외부 Agent의 실제 장기 업무가 끝날 때까지 기다리는 테스트가 아니다.</a:t>
            </a:r>
          </a:p>
          <a:p xmlns:a="http://schemas.openxmlformats.org/drawingml/2006/main">
            <a:r>
              <a:t>8. **판정/보고:** C1~C6의 실제값/evidence/0 또는 1, 세부 오류, 위반, 모델 사용량, 실제 완료/전달 시각을 저장한다. 같은 자료에서 §3.4의 전체/분해/완전 정답과 쌍 차이를 계산한다.</a:t>
            </a:r>
          </a:p>
          <a:p xmlns:a="http://schemas.openxmlformats.org/drawingml/2006/main">
            <a:r>
              <a:t/>
            </a:r>
          </a:p>
          <a:p xmlns:a="http://schemas.openxmlformats.org/drawingml/2006/main">
            <a:r>
              <a:t>60초/10분은 미완료를 무한 대기로 숨기지 않기 위한 정확성 시험의 관찰 상한이다. 빠른 응답 목표나 정상적인 제품 응답시간 SLA를 이 숫자로 정의하지 않는다. 시간/비용/메모리 raw trace는 함께 수집할 수 있지만 그 QA의 대표 지표/목표는 이후 별도로 확정한다.</a:t>
            </a:r>
          </a:p>
          <a:p xmlns:a="http://schemas.openxmlformats.org/drawingml/2006/main">
            <a:r>
              <a:t/>
            </a:r>
          </a:p>
          <a:p xmlns:a="http://schemas.openxmlformats.org/drawingml/2006/main">
            <a:r>
              <a:t>입력 onset→hold 수락→전송 시작의 경합에서는 **실제 순서**를 판정한다. 먼저 시작된 외부 효과는 확인/정정/취소의 대상으로 남기고, 이미 발생한 효과를 없었다고 표시하면 실패다. hold/권한 철회가 먼저 수락됐는데 이후 금지된 전송을 한 경우는 위반이다. 원천 사건과 software 인식 경계를 구별하는 원칙은 [event-boundary-contract](../../11-measurement/event-boundary-contract.md)를 따른다.</a:t>
            </a:r>
          </a:p>
          <a:p xmlns:a="http://schemas.openxmlformats.org/drawingml/2006/main">
            <a:r>
              <a:t/>
            </a:r>
          </a:p>
          <a:p xmlns:a="http://schemas.openxmlformats.org/drawingml/2006/main">
            <a:r>
              <a:t>범위가 명확한 필수 사실을 자동 판정하고 자연어 출력/재생 구간은 목표/대상/조건/상태의 같은 사실 rubric으로 후보 이름을 가려 검토한다. 모호한 판정은 두 번째 평가자가 확인한다. 표현 차이는 허용하고 사실 추가/누락/모순은 허용하지 않는다. 불일치는 후보 이름을 가린 evidence와 원본으로 조정해 이유를 남긴다. 오답인 후보 출력을 정답으로 삼는 model judge를 단독 최종 판정자로 사용하지 않는다.</a:t>
            </a:r>
          </a:p>
          <a:p xmlns:a="http://schemas.openxmlformats.org/drawingml/2006/main">
            <a:r>
              <a:t/>
            </a:r>
          </a:p>
          <a:p xmlns:a="http://schemas.openxmlformats.org/drawingml/2006/main">
            <a:r>
              <a:t>후보 누락/timeout이면 증명된 항목만 1로 남기고 나머지는 0이다. 예를 들어 의미는 맞았지만 Agent 인계/실제 전달이 없으면 C5/C6는 0이다. 이미 확인한 C1~C4를 무조건 모두 0으로 덮지는 않는다. 단, 후보 전체가 실패하여 근거가 없으면 여섯 항목 모두 0이다. 시험 수집기 결함이나 계획하지 않은 공통 provider 장애로 판정 자체가 불가능하면 A/B 쌍을 INVALID로 보존하고 복구 후 같은 쌍을 재실행한다. 후보의 잘못된 호출/예산 소진/필수 trace 미생성은 INVALID가 아니다. 원래 90개 유효 실행이 채워질 때까지 실패 사례를 유지하며 INVALID와 재실행도 공개한다.</a:t>
            </a:r>
          </a:p>
          <a:p xmlns:a="http://schemas.openxmlformats.org/drawingml/2006/main">
            <a:r>
              <a:t/>
            </a:r>
          </a:p>
          <a:p xmlns:a="http://schemas.openxmlformats.org/drawingml/2006/main">
            <a:r>
              <a:t>### 3.7 DP-41/42/44/45와의 연결</a:t>
            </a:r>
          </a:p>
          <a:p xmlns:a="http://schemas.openxmlformats.org/drawingml/2006/main">
            <a:r>
              <a:t/>
            </a:r>
          </a:p>
          <a:p xmlns:a="http://schemas.openxmlformats.org/drawingml/2006/main">
            <a:r>
              <a:t>| DP | 같은 QA에서 값이 달라질 수 있는 원인 | 주 관찰 사례/항목 | 강한 반대안과 같아질 조건 | 이번 결론 |</a:t>
            </a:r>
          </a:p>
          <a:p xmlns:a="http://schemas.openxmlformats.org/drawingml/2006/main">
            <a:r>
              <a:t>| --- | --- | --- | --- | --- |</a:t>
            </a:r>
          </a:p>
          <a:p xmlns:a="http://schemas.openxmlformats.org/drawingml/2006/main">
            <a:r>
              <a:t>| 41 | A의 조회 선택/전체 결합 오류 대 B의 frame 추출/유한 표현/코드 결합 오류. 생략, 부정, 예외와 부분 정정에서 다른 최종 의미를 만들 수 있음 | S2-01~03, S3-01~03, S4-01, S6-01/02의 C1~C4 및 실제 인계 | B가 필요한 표현을 포괄하고 A도 보존 검사/patch를 수행하면 동일 정답 가능 | 정확성에 직접 민감. 정형 표현과 자연스러운 교차 관계를 함께 시험 |</a:t>
            </a:r>
          </a:p>
          <a:p xmlns:a="http://schemas.openxmlformats.org/drawingml/2006/main">
            <a:r>
              <a:t>| 42 | A의 공동 로컬 확정 대 B의 별도 접수/대화 반영 사이에 질문 철회, 상태 변경, 접수 응답 유실이 끼면 적용/안내가 달라질 수 있음 | S4-01/03, S5-01~03, S6-02의 C3/C5/C6 | 동일 의미 모델과 올바른 재검사/중복 방지/사실 반영이면 양안 모두 정답. IPC 횟수 자체는 감점하지 않음 | 정확성의 주요 역할은 상태 처리 회귀 검사. 정상 의미 정확도 차이를 예상하지 않음 |</a:t>
            </a:r>
          </a:p>
          <a:p xmlns:a="http://schemas.openxmlformats.org/drawingml/2006/main">
            <a:r>
              <a:t>| 44 | A의 중앙 후속 전이 연결 대 B의 window/join/cancel 연결이 늦은 결과와 실제 제시를 처리할 때 다른 효과/전달을 만들 수 있음 | S4-01/02, S5-01~03, S6-02의 C3/C5/C6 | A의 비동기/priority/revision 검사와 B의 유효 join/최종 검사 모두 맞으면 동일 정답 | 교차 사건에 민감한 회귀 검사. 실행 조직만으로 B의 의미 정확성 이익을 부여하지 않음 |</a:t>
            </a:r>
          </a:p>
          <a:p xmlns:a="http://schemas.openxmlformats.org/drawingml/2006/main">
            <a:r>
              <a:t>| 45 | A의 현재 요청별 원본 결합 누락 대 B의 과거 관계 생산 손실/오류 공유/갱신 지연. 부정/예외와 실제 전달/원본 version에서 차이 가능 | S2-02/03, 과거 근거가 있는 S4-01/S6-01의 C2~C4 및 후속 인계 | A의 유효 cache와 B의 원문 확인/충분한 관계/부분 갱신으로 차이가 줄 수 있음 | 정확성에 직접 민감. 첫 사용/반복/갱신 직후와 원문 조건 보존을 함께 시험 |</a:t>
            </a:r>
          </a:p>
          <a:p xmlns:a="http://schemas.openxmlformats.org/drawingml/2006/main">
            <a:r>
              <a:t/>
            </a:r>
          </a:p>
          <a:p xmlns:a="http://schemas.openxmlformats.org/drawingml/2006/main">
            <a:r>
              <a:t>**이 지표는 네 DP의 중요한 오류 경로를 관찰하지만 네 쌍 모두에 다른 값이 나오도록 보장하지 않는다.** 42/44가 같은 정확률이면 정상적인 결과다. 원래 품질 효과가 재처리 시간, 비용, 변경 범위나 메모리에만 남았다면 해당 QA에서 비교한다. 이를 정확률 차이로 만들기 위해 A의 검사를 제거하거나 B에 오류 확률을 미리 주입하지 않는다.</a:t>
            </a:r>
          </a:p>
          <a:p xmlns:a="http://schemas.openxmlformats.org/drawingml/2006/main">
            <a:r>
              <a:t/>
            </a:r>
          </a:p>
          <a:p xmlns:a="http://schemas.openxmlformats.org/drawingml/2006/main">
            <a:r>
              <a:t>41B의 frame 또는 45B의 관계 종류가 같은 UC 요구를 표현하지 못하면 미지원과 원래 요구 손실을 기록하고 해당 필수 항목을 0으로 판정한다. 사용자 목표를 더 단순한 요청으로 바꾸어 성공으로 세지 않는다. 범용 의미 모델에게 전체 관계를 맡긴 B+는 별도 혼합 후보이며 순수 B의 점수로 보고하지 않는다.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6개 사건 × 5회, 30개 귀속 시간의 산술평균</a:t>
            </a:r>
          </a:p>
          <a:p xmlns:a="http://schemas.openxmlformats.org/drawingml/2006/main">
            <a:r>
              <a:t>목표: 1.0초 이하, 음성 stop 0.1초 이하</a:t>
            </a:r>
          </a:p>
          <a:p xmlns:a="http://schemas.openxmlformats.org/drawingml/2006/main">
            <a:r>
              <a:t>목표 근거: PC 작업 중 대화/제어 흐름 유지. Nielsen의 1초/즉각 제어 0.1초를 참고하고 모델/코드/음성 준비 예산 0.952초로 구체화. 2초 보호 한도와 미전달 0건도 검사 (§4.2)</a:t>
            </a:r>
          </a:p>
          <a:p xmlns:a="http://schemas.openxmlformats.org/drawingml/2006/main">
            <a:r>
              <a:t>보호 조건: stop ≤0.1초, 29/30 ≤2초,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Groq 공식 모델 단가/생성률: https://console.groq.com/docs/models</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기존 정확성 사례의 자료와 사건을 재사용하고, 전체 완료를 보는 시간 장면에만 명시적인 최종 결과 사건을 추가한다.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정확성 원본과 구별하는 **시간 전용 파생 장면**이다. 기존 S 사례의 정확성 종료/정답/분모를 수정하지 않는다. 각 5회, 총 30회이며 확인 답변은 실제 질문 전달 뒤 2초에 Voice로 준다. 문서/메일 Agent가 업무를 실제 접수하면 최종 결과는 8초 뒤 사용 가능해진다. 이 8초는 외부 업무 노드로 제외하며 자료 내용/결과 version은 양안에서 같다. 업무 내용의 전문적 품질을 VIA QA로 채점하지 않는다.</a:t>
            </a:r>
          </a:p>
          <a:p xmlns:a="http://schemas.openxmlformats.org/drawingml/2006/main">
            <a:r>
              <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같은 날짜 결과를 접수+8초에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질문+2초에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6개 전체 사이클 × 5회, 30개 값의 산술평균</a:t>
            </a:r>
          </a:p>
          <a:p xmlns:a="http://schemas.openxmlformats.org/drawingml/2006/main">
            <a:r>
              <a:t>목표: 10초 이하</a:t>
            </a:r>
          </a:p>
          <a:p xmlns:a="http://schemas.openxmlformats.org/drawingml/2006/main">
            <a:r>
              <a:t>목표 근거: 외부 업무가 끝난 뒤에도 VIA 연결/전달 때문에 지연되지 않도록 의미 6초, 연결 1초, 전달 1초, 재검증 2초의 예산. 10초 주의 유지 참조와 연결하며 15초 보호 한도/미전달 0건 검사 (§4.3)</a:t>
            </a:r>
          </a:p>
          <a:p xmlns:a="http://schemas.openxmlformats.org/drawingml/2006/main">
            <a:r>
              <a:t>보호 조건: 29/30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기존 정확성 사례의 자료와 사건을 재사용하고, 전체 완료를 보는 시간 장면에만 명시적인 최종 결과 사건을 추가한다.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정확성 원본과 구별하는 **시간 전용 파생 장면**이다. 기존 S 사례의 정확성 종료/정답/분모를 수정하지 않는다. 각 5회, 총 30회이며 확인 답변은 실제 질문 전달 뒤 2초에 Voice로 준다. 문서/메일 Agent가 업무를 실제 접수하면 최종 결과는 8초 뒤 사용 가능해진다. 이 8초는 외부 업무 노드로 제외하며 자료 내용/결과 version은 양안에서 같다. 업무 내용의 전문적 품질을 VIA QA로 채점하지 않는다.</a:t>
            </a:r>
          </a:p>
          <a:p xmlns:a="http://schemas.openxmlformats.org/drawingml/2006/main">
            <a:r>
              <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같은 날짜 결과를 접수+8초에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질문+2초에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ASR-QA-v4</a:t>
            </a:r>
          </a:p>
          <a:p xmlns:a="http://schemas.openxmlformats.org/drawingml/2006/main">
            <a:r>
              <a:t>작성일: 2026-10-11</a:t>
            </a:r>
          </a:p>
          <a:p xmlns:a="http://schemas.openxmlformats.org/drawingml/2006/main">
            <a:r>
              <a:t>원본 SHA-256: 8235a96137f71406fbede7c2021ad6476f62e7009d2f645a5dbaaa48e9787d0e</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8시간 평균 총 모델 비용(USD). 100개 목표/배경 생산/재시도/음성과 청구 context를 모두 합산</a:t>
            </a:r>
          </a:p>
          <a:p xmlns:a="http://schemas.openxmlformats.org/drawingml/2006/main">
            <a:r>
              <a:t>목표: $1.50/8시간 이하</a:t>
            </a:r>
          </a:p>
          <a:p xmlns:a="http://schemas.openxmlformats.org/drawingml/2006/main">
            <a:r>
              <a:t>목표 근거: 하루 100개 목표와 청구 음성 입력 30분/출력 10분의 공개 단가 계산 $1.1325에 추가 생산/재시도 여유 $0.3675를 둔 작성자 예산 (§5.3)</a:t>
            </a:r>
          </a:p>
          <a:p xmlns:a="http://schemas.openxmlformats.org/drawingml/2006/main">
            <a:r>
              <a:t>보호 조건: 재시도/폐기/배경/청구 context 누락 없음</a:t>
            </a:r>
          </a:p>
          <a:p xmlns:a="http://schemas.openxmlformats.org/drawingml/2006/main">
            <a:r>
              <a:t>출처:</a:t>
            </a:r>
          </a:p>
          <a:p xmlns:a="http://schemas.openxmlformats.org/drawingml/2006/main">
            <a:r>
              <a:t>Groq 공식 모델 단가/생성률: https://console.groq.com/docs/models</a:t>
            </a:r>
          </a:p>
          <a:p xmlns:a="http://schemas.openxmlformats.org/drawingml/2006/main">
            <a:r>
              <a:t>Google Live 공식 가격표: https://ai.google.dev/gemini-api/docs/pricing</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**관리 ID: ASR-QA-04 — VIA 모델 사용 비용.**</a:t>
            </a:r>
          </a:p>
          <a:p xmlns:a="http://schemas.openxmlformats.org/drawingml/2006/main">
            <a:r>
              <a:t/>
            </a:r>
          </a:p>
          <a:p xmlns:a="http://schemas.openxmlformats.org/drawingml/2006/main">
            <a:r>
              <a:t>### 5.1 정의, 대표 지표와 책임 경계</a:t>
            </a:r>
          </a:p>
          <a:p xmlns:a="http://schemas.openxmlformats.org/drawingml/2006/main">
            <a:r>
              <a:t/>
            </a:r>
          </a:p>
          <a:p xmlns:a="http://schemas.openxmlformats.org/drawingml/2006/main">
            <a:r>
              <a:t>**동일한 사용자 활동을 처리하는 동안 VIA의 음성/의미 모델 사용에 드는 금액.** 대표 지표는 **표준 8시간 활동의 총 모델 비용(USD/8시간)**이다. 입력 목표 수를 후보가 만든 Task/호출 수로 나눠 비용을 낮추지 않는다. 100개 요청 목표는 고정 workload의 설명이며 대표 비용 분모는 동일한 8시간이다.</a:t>
            </a:r>
          </a:p>
          <a:p xmlns:a="http://schemas.openxmlformats.org/drawingml/2006/main">
            <a:r>
              <a:t/>
            </a:r>
          </a:p>
          <a:p xmlns:a="http://schemas.openxmlformats.org/drawingml/2006/main">
            <a:r>
              <a:t>음성 입력/전사, 현재 의미, 과거 관계 생산/갱신, 질문/응답 내용과 음성 출력, 재시도, 늦어서 폐기된 청구 출력과 미사용 배경 생산을 포함한다. 외부 Downstream Agent가 자체 업무에 쓴 모델/도구 금액은 제외하고 별도 원장으로 남긴다. CPU/IPC/저장 비용은 모델 비용에 임의 단가로 섞지 않는다. 모델 call ID 하나를 41과 45 비용에 중복 가산하지 않는다.</a:t>
            </a:r>
          </a:p>
          <a:p xmlns:a="http://schemas.openxmlformats.org/drawingml/2006/main">
            <a:r>
              <a:t/>
            </a:r>
          </a:p>
          <a:p xmlns:a="http://schemas.openxmlformats.org/drawingml/2006/main">
            <a:r>
              <a:t>```text</a:t>
            </a:r>
          </a:p>
          <a:p xmlns:a="http://schemas.openxmlformats.org/drawingml/2006/main">
            <a:r>
              <a:t>C8h = Σ 의미 호출(input_tokens × 0.80 + billed_output_tokens × 4.00) / 1,000,000</a:t>
            </a:r>
          </a:p>
          <a:p xmlns:a="http://schemas.openxmlformats.org/drawingml/2006/main">
            <a:r>
              <a:t>    + audio_input_minutes × 0.005 + audio_output_minutes × 0.018</a:t>
            </a:r>
          </a:p>
          <a:p xmlns:a="http://schemas.openxmlformats.org/drawingml/2006/main">
            <a:r>
              <a:t>    + (voice_text_input_tokens × 0.75 + voice_text_output_tokens × 4.50) / 1,000,000</a:t>
            </a:r>
          </a:p>
          <a:p xmlns:a="http://schemas.openxmlformats.org/drawingml/2006/main">
            <a:r>
              <a:t>```</a:t>
            </a:r>
          </a:p>
          <a:p xmlns:a="http://schemas.openxmlformats.org/drawingml/2006/main">
            <a:r>
              <a:t/>
            </a:r>
          </a:p>
          <a:p xmlns:a="http://schemas.openxmlformats.org/drawingml/2006/main">
            <a:r>
              <a:t>단가는 §8.4의 공개 reference다. 분 기반 음성 환산과 audio token 청구를 동시에 적용하지 않는다. 실측에서는 사용량 응답/청구 규칙을 우선하며 reasoning, image token, retained context, tool schema와 재전송도 해당 청구 입력/출력으로 기록한다. caching 할인을 기준값에 넣지 않는다. 할인 profile은 같은 양안에 같은 공개 조건으로만 추가한다.</a:t>
            </a:r>
          </a:p>
          <a:p xmlns:a="http://schemas.openxmlformats.org/drawingml/2006/main">
            <a:r>
              <a:t/>
            </a:r>
          </a:p>
          <a:p xmlns:a="http://schemas.openxmlformats.org/drawingml/2006/main">
            <a:r>
              <a:t>### 5.2 공통 8시간 workload와 호출 원장</a:t>
            </a:r>
          </a:p>
          <a:p xmlns:a="http://schemas.openxmlformats.org/drawingml/2006/main">
            <a:r>
              <a:t/>
            </a:r>
          </a:p>
          <a:p xmlns:a="http://schemas.openxmlformats.org/drawingml/2006/main">
            <a:r>
              <a:t>| 고정 입력 | 값과 사건 규칙 |</a:t>
            </a:r>
          </a:p>
          <a:p xmlns:a="http://schemas.openxmlformats.org/drawingml/2006/main">
            <a:r>
              <a:t>| --- | --- |</a:t>
            </a:r>
          </a:p>
          <a:p xmlns:a="http://schemas.openxmlformats.org/drawingml/2006/main">
            <a:r>
              <a:t>| 사용자 요청 목표 | 100개: 명시적 기본 25, 과거/지칭 25, 복합 관계 20, 정정/제어 15, 확인/권한 15. S1/S2/S3/S4/S6 원본을 순환 재사용하며 S5의 비동기 질문/결과 30개를 같은 기간에 추가. 후속 답변과 알림은 새 요청 수로 세지 않음 |</a:t>
            </a:r>
          </a:p>
          <a:p xmlns:a="http://schemas.openxmlformats.org/drawingml/2006/main">
            <a:r>
              <a:t>| 초기 원본 | 2,000개 과거 대화 turn, 완료 Task 200개, 현재 Task 10개, 문서/일정 source 30개. 전체 합성 payload 20MiB, 현재 scenario locator는 §3 자료에 대응. 양안 같은 owner snapshot에서 시작하며 정답 의미를 미리 생산하지 않음 |</a:t>
            </a:r>
          </a:p>
          <a:p xmlns:a="http://schemas.openxmlformats.org/drawingml/2006/main">
            <a:r>
              <a:t>| 활동 시각 | 100개 목표의 최초 입력은 0~465.6분에 등간격(465.6/99분). 첫 5분의 초기화/관계 생산도 기간에 포함. Task event 10개는 30/60/.../300분에 하나씩, 나머지 20개는 360분/390분에 각각 10개씩 1초 간격으로 제공. 변경 source event는 20/40/.../400분의 총 20개 |</a:t>
            </a:r>
          </a:p>
          <a:p xmlns:a="http://schemas.openxmlformats.org/drawingml/2006/main">
            <a:r>
              <a:t>| 음성 | **청구 대상 입력 30분/출력 10분**을 기준 workload 가정으로 둠. 후속 질문/답변/알림 포함. 단순 마이크 ON 8시간을 30분 청구라고 치환하지 않으며 실제 송신/usage 원장으로 확인 |</a:t>
            </a:r>
          </a:p>
          <a:p xmlns:a="http://schemas.openxmlformats.org/drawingml/2006/main">
            <a:r>
              <a:t>| 음성 Text/context | 입력 50,000 token/출력 10,000 token의 기준 청구 가정. session context 재입력이 있으면 매 청구에 포함. 8시간 한 연결의 context 재사용이 무료라고 가정하지 않음 |</a:t>
            </a:r>
          </a:p>
          <a:p xmlns:a="http://schemas.openxmlformats.org/drawingml/2006/main">
            <a:r>
              <a:t>| 의미 호출 예산 기준 | 100개 목표 × 평균 3호출 × 입력 2,000/출력 200 token = 총 입력 600,000/출력 60,000 token. 추가 background/retry는 별도 행으로 가산하며 이 평균을 후보에 강제하지 않음 |</a:t>
            </a:r>
          </a:p>
          <a:p xmlns:a="http://schemas.openxmlformats.org/drawingml/2006/main">
            <a:r>
              <a:t>| 반복과 비교 | 동일 day script 3회, 각 회 초기화. 총 비용을 3회 산술평균. 계산에서는 동일 usage ledger의 기준/민감도 값을 산출하며 3회 복제로 통계적 표본을 만든다고 하지 않음 |</a:t>
            </a:r>
          </a:p>
          <a:p xmlns:a="http://schemas.openxmlformats.org/drawingml/2006/main">
            <a:r>
              <a:t/>
            </a:r>
          </a:p>
          <a:p xmlns:a="http://schemas.openxmlformats.org/drawingml/2006/main">
            <a:r>
              <a:t>8시간 source script는 18개 내용의 새 변형 전수 검사가 아니다. 반복/갱신/유휴 생산 비용을 놓치지 않도록 과제 수와 사건 수를 확대한 자원 workload다. 변경 source 20개는 version/사실을 바꾸는 사건이며 변경 용이성의 여섯 개발 과제와 구별한다. 45A의 cache/부분 갱신과 45B의 선택적 생산도 허용하되 실제 소비/준비/무효화 비용을 기록한다.</a:t>
            </a:r>
          </a:p>
          <a:p xmlns:a="http://schemas.openxmlformats.org/drawingml/2006/main">
            <a:r>
              <a:t/>
            </a:r>
          </a:p>
          <a:p xmlns:a="http://schemas.openxmlformats.org/drawingml/2006/main">
            <a:r>
              <a:t>원장 열은 `call_id, source_execution_key, dp_option, role, trigger_event, purpose, source_vector, start/end, input/output/reasoning/image/audio_usage, billed, outcome, used_by, USD, evidence_level`이다. timeout/cancel/미사용을 `billed=false`로 추정하지 않는다. provider가 usage를 주지 않으면 요청/출력 기록에서 보수적인 token 상한을 적용해 **상한 계산**이라고 표시한다. 평가 세션 미실행은 결과 상태이고 비용 정의의 빈칸이 아니다.</a:t>
            </a:r>
          </a:p>
          <a:p xmlns:a="http://schemas.openxmlformats.org/drawingml/2006/main">
            <a:r>
              <a:t/>
            </a:r>
          </a:p>
          <a:p xmlns:a="http://schemas.openxmlformats.org/drawingml/2006/main">
            <a:r>
              <a:t>### 5.3 목표값과 과제 근거</a:t>
            </a:r>
          </a:p>
          <a:p xmlns:a="http://schemas.openxmlformats.org/drawingml/2006/main">
            <a:r>
              <a:t/>
            </a:r>
          </a:p>
          <a:p xmlns:a="http://schemas.openxmlformats.org/drawingml/2006/main">
            <a:r>
              <a:t>**목표: 8시간 평균 총 모델 비용 $1.50 이하.** 목표당 보조 환산은 $0.015이며 22일의 동일 활동이면 $33이다. USD 그대로 관리하고 환율/세금/마진/서비스 가격을 섞지 않는다. 이 금액은 사용자 또는 과제 사업자가 이미 확정한 상품 가격이 아니라 작성자가 제안한 모델 예산이다.</a:t>
            </a:r>
          </a:p>
          <a:p xmlns:a="http://schemas.openxmlformats.org/drawingml/2006/main">
            <a:r>
              <a:t/>
            </a:r>
          </a:p>
          <a:p xmlns:a="http://schemas.openxmlformats.org/drawingml/2006/main">
            <a:r>
              <a:t>| 기준 workload의 계산 | 금액 |</a:t>
            </a:r>
          </a:p>
          <a:p xmlns:a="http://schemas.openxmlformats.org/drawingml/2006/main">
            <a:r>
              <a:t>| --- | --- |</a:t>
            </a:r>
          </a:p>
          <a:p xmlns:a="http://schemas.openxmlformats.org/drawingml/2006/main">
            <a:r>
              <a:t>| 의미 입력 600,000 × $0.80/1M | $0.4800 |</a:t>
            </a:r>
          </a:p>
          <a:p xmlns:a="http://schemas.openxmlformats.org/drawingml/2006/main">
            <a:r>
              <a:t>| 의미 출력 60,000 × $4.00/1M | $0.2400 |</a:t>
            </a:r>
          </a:p>
          <a:p xmlns:a="http://schemas.openxmlformats.org/drawingml/2006/main">
            <a:r>
              <a:t>| 음성 입력 30분 × $0.005/분 | $0.1500 |</a:t>
            </a:r>
          </a:p>
          <a:p xmlns:a="http://schemas.openxmlformats.org/drawingml/2006/main">
            <a:r>
              <a:t>| 음성 출력 10분 × $0.018/분 | $0.1800 |</a:t>
            </a:r>
          </a:p>
          <a:p xmlns:a="http://schemas.openxmlformats.org/drawingml/2006/main">
            <a:r>
              <a:t>| 음성 Text 입력 50,000 × $0.75/1M | $0.0375 |</a:t>
            </a:r>
          </a:p>
          <a:p xmlns:a="http://schemas.openxmlformats.org/drawingml/2006/main">
            <a:r>
              <a:t>| 음성 Text 출력 10,000 × $4.50/1M | $0.0450 |</a:t>
            </a:r>
          </a:p>
          <a:p xmlns:a="http://schemas.openxmlformats.org/drawingml/2006/main">
            <a:r>
              <a:t>| 기본 합계 | **$1.1325** |</a:t>
            </a:r>
          </a:p>
          <a:p xmlns:a="http://schemas.openxmlformats.org/drawingml/2006/main">
            <a:r>
              <a:t>| 추가 생산/재시도/길이 증가에 남는 예산 | **$0.3675** |</a:t>
            </a:r>
          </a:p>
          <a:p xmlns:a="http://schemas.openxmlformats.org/drawingml/2006/main">
            <a:r>
              <a:t/>
            </a:r>
          </a:p>
          <a:p xmlns:a="http://schemas.openxmlformats.org/drawingml/2006/main">
            <a:r>
              <a:t>**과제 근거:** VIA는 상시 대화와 여러 업무의 후속 처리를 제공하므로 요청 때만의 싼 단일 호출을 제시해서는 지속 운용 가능성을 설명할 수 없다. 하루 100개 목표/40분 음성의 기본 reference $1.1325에 추가 처리 여유 $0.3675를 두어 $1.50을 선택했다. 기본값 대비 약 32.45% 여유이며 총 예산의 24.5%다. 품질을 위해 필요한 재판단은 허용하되 배경 생산이 이 여유를 지속적으로 소모하는지 비교한다. 비용을 맞추려고 확인/현재성/허용 검사를 제거하면 정확성에서 손실을 남긴다.</a:t>
            </a:r>
          </a:p>
          <a:p xmlns:a="http://schemas.openxmlformats.org/drawingml/2006/main">
            <a:r>
              <a:t/>
            </a:r>
          </a:p>
          <a:p xmlns:a="http://schemas.openxmlformats.org/drawingml/2006/main">
            <a:r>
              <a:t>**차이 기준:** 하루 $0.15 이상, 즉 예산의 10% 차이를 의미 있는 비용 차이로 본다. 실제 반복이면 3회 각각의 비용/usage와 범위를 공개하고 같은 방향을 확인한다. 참조 계산이면 사용 횟수/재사용 빈도/음성 길이를 0.5배/1배/2배로 바꿔 조건부 손익을 보인다. 작은 차이는 그대로 금액으로 보고하고 등급 차이만으로 선택하지 않는다.</a:t>
            </a:r>
          </a:p>
          <a:p xmlns:a="http://schemas.openxmlformats.org/drawingml/2006/main">
            <a:r>
              <a:t/>
            </a:r>
          </a:p>
          <a:p xmlns:a="http://schemas.openxmlformats.org/drawingml/2006/main">
            <a:r>
              <a:t>### 5.4 A/B의 비용 차이를 계산하는 예</a:t>
            </a:r>
          </a:p>
          <a:p xmlns:a="http://schemas.openxmlformats.org/drawingml/2006/main">
            <a:r>
              <a:t/>
            </a:r>
          </a:p>
          <a:p xmlns:a="http://schemas.openxmlformats.org/drawingml/2006/main">
            <a:r>
              <a:t>45의 추가 과거 처리만 떼어 보는 예다. 공통 현재 요청 의미/음성 비용은 양안 같고 비교 원장에서는 한 번씩 포함한다. **A도 관계 cache를 사용하며 동일 source revision에서는 재조회/재해석하지 않는다.**</a:t>
            </a:r>
          </a:p>
          <a:p xmlns:a="http://schemas.openxmlformats.org/drawingml/2006/main">
            <a:r>
              <a:t/>
            </a:r>
          </a:p>
          <a:p xmlns:a="http://schemas.openxmlformats.org/drawingml/2006/main">
            <a:r>
              <a:t>- A: 하루 실제 cache miss 40회, miss당 과거 근거 추가 입력 4,000/출력 200 token이면 `40 × $0.004 = $0.160`.</a:t>
            </a:r>
          </a:p>
          <a:p xmlns:a="http://schemas.openxmlformats.org/drawingml/2006/main">
            <a:r>
              <a:t>- B: 초기/변경으로 관계 생산 20회, 생산당 입력 6,000/출력 400 token이면 `20 × $0.0064 = $0.128`. 요청에서 게시 자료 조회는 코드이고 모델 청구를 만들지 않는 예지만 현재 요청 의미 비용은 공통으로 남는다.</a:t>
            </a:r>
          </a:p>
          <a:p xmlns:a="http://schemas.openxmlformats.org/drawingml/2006/main">
            <a:r>
              <a:t>- A의 miss가 10회면 $0.040으로 B보다 싸다. 생산 20회 기준 손익분기는 A의 **32회 miss**다. 동일 입력이라고 miss/생산 수가 자동으로 같아지는 것은 아니며 실제 cache/coverage 계획에서 도출한다.</a:t>
            </a:r>
          </a:p>
          <a:p xmlns:a="http://schemas.openxmlformats.org/drawingml/2006/main">
            <a:r>
              <a:t>- B의 게시가 부족해 backfill 모델 호출이 10회 추가되면 그 비용도 더한다. 이 예의 $0.032 차이는 $0.15 선택 기준보다 작아 비용 우위만으로 구조를 고를 수준이 아니다.</a:t>
            </a:r>
          </a:p>
          <a:p xmlns:a="http://schemas.openxmlformats.org/drawingml/2006/main">
            <a:r>
              <a:t/>
            </a:r>
          </a:p>
          <a:p xmlns:a="http://schemas.openxmlformats.org/drawingml/2006/main">
            <a:r>
              <a:t>41의 model loop/부분 호출, 42의 접수 충돌 재해석과 44의 stale 준비/재시도도 같은 원장으로 계산한다. 42B의 IPC를 모델 호출 비용으로 세거나 44B Stage마다 무료 모델을 따로 둔다고 가정하지 않는다. 이 예는 가정 검산이며 실제 후보의 비용 측정이나 승자 판정이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책임 단위 수(개/과제) = 여섯 공통 과제의 고유 수정 단위 수 합 ÷ 6</a:t>
            </a:r>
          </a:p>
          <a:p xmlns:a="http://schemas.openxmlformats.org/drawingml/2006/main">
            <a:r>
              <a:t>목표: 3개 이하, 과제별 최대 5개</a:t>
            </a:r>
          </a:p>
          <a:p xmlns:a="http://schemas.openxmlformats.org/drawingml/2006/main">
            <a:r>
              <a:t>목표 근거: 외부/의미 계약 변경을 adapter/생산/소비의 약 3개 책임에 국소화하고 대화/업무/음성 전체 변경을 방지하는 과제 예산. 공통 18개 책임 registry와 완료 oracle로 검수 (§6.4)</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18개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모든 VIA process의 private commit + 고유 공유 anonymous commit의 동시 합 최대</a:t>
            </a:r>
          </a:p>
          <a:p xmlns:a="http://schemas.openxmlformats.org/drawingml/2006/main">
            <a:r>
              <a:t>목표: 4,096MiB(4GiB) 이하</a:t>
            </a:r>
          </a:p>
          <a:p xmlns:a="http://schemas.openxmlformats.org/drawingml/2006/main">
            <a:r>
              <a:t>목표 근거: 32GB급 Windows PC에서 OS 8GiB/사용자 앱 16GiB/VIA 4GiB/여유 4GiB로 계획. 기본 allocation 예산 1,792MiB에 DP 추가 상태/변동 여유 2,304MiB. RAM residency와 commit 구별 (§7.3)</a:t>
            </a:r>
          </a:p>
          <a:p xmlns:a="http://schemas.openxmlformats.org/drawingml/2006/main">
            <a:r>
              <a:t>보호 조건: working-set 합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v4: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**관리 ID: ASR-QA-06 — 로컬 VIA 메모리 사용량.**</a:t>
            </a:r>
          </a:p>
          <a:p xmlns:a="http://schemas.openxmlformats.org/drawingml/2006/main">
            <a:r>
              <a:t/>
            </a:r>
          </a:p>
          <a:p xmlns:a="http://schemas.openxmlformats.org/drawingml/2006/main">
            <a:r>
              <a:t>### 7.1 정의와 대표 지표</a:t>
            </a:r>
          </a:p>
          <a:p xmlns:a="http://schemas.openxmlformats.org/drawingml/2006/main">
            <a:r>
              <a:t/>
            </a:r>
          </a:p>
          <a:p xmlns:a="http://schemas.openxmlformats.org/drawingml/2006/main">
            <a:r>
              <a:t>**동일한 활동과 동시 부하에서 VIA가 로컬 PC에 할당해 유지하는 메모리의 최대량.** 대표값은 **8시간 동안 VIA 전체 프로세스의 최대 동시 commit 메모리(MiB)**다. 순간별 모든 VIA process의 private committed bytes와 공유 anonymous section의 고유 committed bytes를 한 번씩 합한 뒤 최대값을 구한다.</a:t>
            </a:r>
          </a:p>
          <a:p xmlns:a="http://schemas.openxmlformats.org/drawingml/2006/main">
            <a:r>
              <a:t/>
            </a:r>
          </a:p>
          <a:p xmlns:a="http://schemas.openxmlformats.org/drawingml/2006/main">
            <a:r>
              <a:t>```text</a:t>
            </a:r>
          </a:p>
          <a:p xmlns:a="http://schemas.openxmlformats.org/drawingml/2006/main">
            <a:r>
              <a:t>M(t) = Σ VIA 프로세스의 PrivateUsage(t) + 고유 shared-anonymous commit(t)</a:t>
            </a:r>
          </a:p>
          <a:p xmlns:a="http://schemas.openxmlformats.org/drawingml/2006/main">
            <a:r>
              <a:t>ASR-QA-06 = max_t M(t) / 1,048,576, 단위 MiB</a:t>
            </a:r>
          </a:p>
          <a:p xmlns:a="http://schemas.openxmlformats.org/drawingml/2006/main">
            <a:r>
              <a:t>```</a:t>
            </a:r>
          </a:p>
          <a:p xmlns:a="http://schemas.openxmlformats.org/drawingml/2006/main">
            <a:r>
              <a:t/>
            </a:r>
          </a:p>
          <a:p xmlns:a="http://schemas.openxmlformats.org/drawingml/2006/main">
            <a:r>
              <a:t>UI/Core/독립 대화/업무 service, worker/helper, local VAD, 입력 근거/Context/cache/queue/DB cache, cloud adapter/암호화/직렬화 buffer를 포함한다. shared section을 private 항목에 이미 포함한 allocator에서는 section ID로 중복을 제거한다. 서로 다른 process가 같은 JSON을 각자 복사했으면 실제 private 할당이므로 둘 다 센다. 같은 immutable shared buffer 참조는 한 번만 센다.</a:t>
            </a:r>
          </a:p>
          <a:p xmlns:a="http://schemas.openxmlformats.org/drawingml/2006/main">
            <a:r>
              <a:t/>
            </a:r>
          </a:p>
          <a:p xmlns:a="http://schemas.openxmlformats.org/drawingml/2006/main">
            <a:r>
              <a:t>**commit은 현재 물리 RAM에 올라온 working set과 다르다.** [Microsoft PrivateUsage 정의](https://learn.microsoft.com/en-us/windows/win32/api/psapi/ns-psapi-process_memory_counters_ex)에 맞춰 할당 압력을 관리한다. page-out으로 working set을 줄여도 commit을 낮췄다고 하지 않는다. 디스크의 DB/로그 전체 bytes와 cloud 서버 weights/KV는 제외한다. file-backed mapped page/DLL의 resident working set과 VRAM은 별도 진단에 포함하고 commit에 가산하지 않는다. primary가 물리 RAM 전체를 정확히 나타낸다고 주장하지 않는다.</a:t>
            </a:r>
          </a:p>
          <a:p xmlns:a="http://schemas.openxmlformats.org/drawingml/2006/main">
            <a:r>
              <a:t/>
            </a:r>
          </a:p>
          <a:p xmlns:a="http://schemas.openxmlformats.org/drawingml/2006/main">
            <a:r>
              <a:t>file-backed mapping으로 private 할당을 옮겨 primary만 낮추는 경우에는 **보조 전체 process working-set 합계 6GiB 이하**를 함께 검사한다. 이 합은 shared page를 중복 셀 수 있는 보수적 보호값이고 unique physical RAM으로 부르지 않는다. GPU/NPU의 VIA 전용 할당도 원장에 공개한다. 현재 cloud 모델 조건에서 local 모델 weights는 0이며 local VAD나 렌더 자원이 0이라는 뜻은 아니다. 향후 local 모델 비교로 전환하면 weights/runtime/KV를 포함한 새 workload version을 만든다.</a:t>
            </a:r>
          </a:p>
          <a:p xmlns:a="http://schemas.openxmlformats.org/drawingml/2006/main">
            <a:r>
              <a:t/>
            </a:r>
          </a:p>
          <a:p xmlns:a="http://schemas.openxmlformats.org/drawingml/2006/main">
            <a:r>
              <a:t>### 7.2 고정 장치, 부하와 관찰 기간</a:t>
            </a:r>
          </a:p>
          <a:p xmlns:a="http://schemas.openxmlformats.org/drawingml/2006/main">
            <a:r>
              <a:t/>
            </a:r>
          </a:p>
          <a:p xmlns:a="http://schemas.openxmlformats.org/drawingml/2006/main">
            <a:r>
              <a:t>장치는 §8.4의 **Galaxy Book6 Ultra NP960UJH-XG3IN, Windows 11, RAM 32GB급**이다. 가격 reference와 현재 접근 중인 Mac은 Windows 실측 기기가 아니다. AC 전원, 동일 전원 모드, 동일 Office/browser의 외부 부하를 고정한다.</a:t>
            </a:r>
          </a:p>
          <a:p xmlns:a="http://schemas.openxmlformats.org/drawingml/2006/main">
            <a:r>
              <a:t/>
            </a:r>
          </a:p>
          <a:p xmlns:a="http://schemas.openxmlformats.org/drawingml/2006/main">
            <a:r>
              <a:t>| 단계 | 기간 | VIA workload와 확인할 값 |</a:t>
            </a:r>
          </a:p>
          <a:p xmlns:a="http://schemas.openxmlformats.org/drawingml/2006/main">
            <a:r>
              <a:t>| --- | --- | --- |</a:t>
            </a:r>
          </a:p>
          <a:p xmlns:a="http://schemas.openxmlformats.org/drawingml/2006/main">
            <a:r>
              <a:t>| cold/초기화 | 0~5분 | owner snapshot/DB/cache/cloud session 초기화. B 초기 생산의 메모리/비용 포함 |</a:t>
            </a:r>
          </a:p>
          <a:p xmlns:a="http://schemas.openxmlformats.org/drawingml/2006/main">
            <a:r>
              <a:t>| 일반 활동 | 5~360분 | §5.2의 동일 100개 목표/30개 비동기 event/20개 source 변경 중 해당 시각의 사건. Task 10개 활성, cloud call 최대 4개 |</a:t>
            </a:r>
          </a:p>
          <a:p xmlns:a="http://schemas.openxmlformats.org/drawingml/2006/main">
            <a:r>
              <a:t>| 반복/집중 활동 | 360~420분 | 같은 source 재사용과 정정. 360분/390분에 네 개 동시 처리와 10개 event/1초 burst를 배치하되 추가 신규 목표 대신 기존 목표의 후속 사건으로 구성 |</a:t>
            </a:r>
          </a:p>
          <a:p xmlns:a="http://schemas.openxmlformats.org/drawingml/2006/main">
            <a:r>
              <a:t>| 철회/회수/유휴 | 420~480분 | 450분에 source 하나의 제공 동의 철회, 관련 파생물/Context 신규 사용 차단. 470~480분은 신규 목표 없이 drain/idle, 잔류 메모리 확인 |</a:t>
            </a:r>
          </a:p>
          <a:p xmlns:a="http://schemas.openxmlformats.org/drawingml/2006/main">
            <a:r>
              <a:t/>
            </a:r>
          </a:p>
          <a:p xmlns:a="http://schemas.openxmlformats.org/drawingml/2006/main">
            <a:r>
              <a:t>§5.2의 마지막 입력 시각은 465.6분으로 정하고 **470분 이후 신규 요청은 없다**. 100개 최초 입력을 `0~465.6분 등간격`으로 배치한다. 일반 활동과 마지막 집중 구간은 같은 workload의 단계 구분이지 전체 사건을 두 번 실행한다는 뜻이 아니다. 순서를 바꿀 수 없는 정확성 X 사건은 해당 목표 내부 상대 순서를 유지한다. 초기 데이터와 모든 후속 사건의 비용도 §5의 같은 8시간 원장에 들어간다.</a:t>
            </a:r>
          </a:p>
          <a:p xmlns:a="http://schemas.openxmlformats.org/drawingml/2006/main">
            <a:r>
              <a:t/>
            </a:r>
          </a:p>
          <a:p xmlns:a="http://schemas.openxmlformats.org/drawingml/2006/main">
            <a:r>
              <a:t>근거 보관/질문/유효 Task의 사용자 기능은 양안 같다. capture는 2880×1800 RGBA 원본 한 장 약 19.775MiB, 최대 15장으로 약 296.63MiB이며 최대 512MiB budget 안에서 원본/전달 copy를 관리하는 **가정**이다. 후보는 같은 보존 범위에서 압축/참조 공유를 사용할 수 있고 그 처리 시간도 QA-02/03에 남긴다. 45B에만 무제한 모든 과거를 RAM 상주시키거나 A의 정상 cache를 없애지 않는다.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**470~480분 잔류 commit의 증가가 16MiB 이하**다. 필수 근거/작업을 유지한 채 배경 queue를 회수하는지 확인한다.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관측/계산 절차와 차이 기준</a:t>
            </a:r>
          </a:p>
          <a:p xmlns:a="http://schemas.openxmlformats.org/drawingml/2006/main">
            <a:r>
              <a:t/>
            </a:r>
          </a:p>
          <a:p xmlns:a="http://schemas.openxmlformats.org/drawingml/2006/main">
            <a:r>
              <a:t>1. process/job tree와 helper inventory를 고정한다. 42B의 두 서비스, 44B window/pipe, 45B 생산/조회 상태를 빠뜨리지 않는다. source가 같은 원문을 보내도 소비자가 복사하면 실제 bytes로 센다.</a:t>
            </a:r>
          </a:p>
          <a:p xmlns:a="http://schemas.openxmlformats.org/drawingml/2006/main">
            <a:r>
              <a:t>2. Windows에서는 [GetProcessMemoryInfo](https://learn.microsoft.com/en-us/windows/win32/api/psapi/nf-psapi-getprocessmemoryinfo)의 PrivateUsage를 **50ms 간격**으로 전체 process에서 수집한다. 공유 section은 생성/commit/decommit의 section ID/size 원장으로 추적한다. polling peak는 50ms 사이의 짧은 peak를 놓칠 수 있어 주요 allocate/free 직후 event sample과 allocator high-watermark를 병행한다.</a:t>
            </a:r>
          </a:p>
          <a:p xmlns:a="http://schemas.openxmlformats.org/drawingml/2006/main">
            <a:r>
              <a:t>3. 8시간 session을 3회 초기화해 수행하고 **세 session의 최대 중 가장 큰 값**을 대표 보고값으로 쓴다. 각 session의 peak와 시각/phase, idle 변화, sample 누락을 공개한다. process restart에서 peak 원장을 리셋하지 않는다.</a:t>
            </a:r>
          </a:p>
          <a:p xmlns:a="http://schemas.openxmlformats.org/drawingml/2006/main">
            <a:r>
              <a:t>4. 구현 전 PoC 계산은 allocation ID/owner/수명/bytes/동시 구간을 갖는 원장으로 같은 시각의 합과 peak를 산출한다. 역할마다 전체 1,792MiB를 복제하지 않고 공통 항목과 실제 추가 private heap/복사/공유 상태를 구별한다.</a:t>
            </a:r>
          </a:p>
          <a:p xmlns:a="http://schemas.openxmlformats.org/drawingml/2006/main">
            <a:r>
              <a:t>5. 후보 장애/미완료 workload로 조기 종료한 낮은 peak는 목표 달성으로 세지 않는다. cap 4,096MiB로 숫자를 잘라 결과를 맞추지 않는다. 관측 누락은 실제 관측 최대라는 하한과 누락 사실을 보고하며 전체 peak를 관측한 것처럼 등급을 부여하지 않는다.</a:t>
            </a:r>
          </a:p>
          <a:p xmlns:a="http://schemas.openxmlformats.org/drawingml/2006/main">
            <a:r>
              <a:t/>
            </a:r>
          </a:p>
          <a:p xmlns:a="http://schemas.openxmlformats.org/drawingml/2006/main">
            <a:r>
              <a:t>**차이 기준: 128MiB 이상**, 목표 4GiB의 약 3.125%와 기본 상태/queue budget 한 묶음 크기다. polling 오차/allocator reserve 차이보다 구조의 동시 상태 차이를 보려는 작성자 기준이다. 계산에서는 추가 process heap, 중복 message copy, cache 크기를 절반/기준/두 배로 바꿔 확인한다. 41의 해석 Context/frame/부분 상태, 42의 추가 service/접수/outbox, 44의 continuation/window/buffer, 45의 원문 cache/게시 index/coverage/backlog가 참여한다. 어느 안도 무조건 작다고 확정하지 않는다.</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c09343639141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ed1b860b74c02" /><Relationship Type="http://schemas.openxmlformats.org/officeDocument/2006/relationships/slideLayout" Target="/ppt/slideLayouts/slideLayout1.xml" Id="R22216869b79849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16869b79849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182c94d74e4e58" /><Relationship Type="http://schemas.openxmlformats.org/officeDocument/2006/relationships/notesSlide" Target="/ppt/notesSlides/notesSlide1.xml" Id="R288121b95f7d48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fa1fdec5e4402d" /><Relationship Type="http://schemas.openxmlformats.org/officeDocument/2006/relationships/notesSlide" Target="/ppt/notesSlides/notesSlide2.xml" Id="R4da9a60517fb46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1234605-8C15-4B9A-BF86-633CEC2FCA0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560B46CF-1F50-4E02-9FC5-60249679B06E}"/>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2A93DB0B-52D1-4C90-90A9-B871569C505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2</a:t>
            </a:r>
          </a:p>
        </p:txBody>
      </p:sp>
      <p:sp>
        <p:nvSpPr>
          <p:cNvPr id="4" name="headline">
            <a:extLst xmlns:a="http://schemas.openxmlformats.org/drawingml/2006/main">
              <a:ext uri="{FF2B5EF4-FFF2-40B4-BE49-F238E27FC236}">
                <a16:creationId xmlns:a16="http://schemas.microsoft.com/office/drawing/2014/main" id="{37569F14-E14C-4EE4-9A49-F28F44D62D75}"/>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15BBF275-DCD3-4AF2-846E-0D4A6F2A2370}"/>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QA 번호순으로 우선 선택하고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18개 Voice 사례 × 5회 × 6개 조건 = 540개</a:t>
                      </a:r>
                    </a:p>
                    <a:p>
                      <a:pPr algn="l"/>
                      <a:r>
                        <a:rPr sz="1950" b="0">
                          <a:solidFill>
                            <a:srgbClr val="56606B"/>
                          </a:solidFill>
                          <a:latin typeface="Apple SD Gothic Neo"/>
                          <a:ea typeface="Apple SD Gothic Neo"/>
                          <a:cs typeface="Apple SD Gothic Neo"/>
                        </a:rPr>
                        <a:t>근거: 50개 조건당 오류 1개 이하, 전체 요청 실패 20회당 1회 이하</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6개 사건 × 5회 = 30개 유효 반응시간</a:t>
                      </a:r>
                    </a:p>
                    <a:p>
                      <a:pPr algn="l"/>
                      <a:r>
                        <a:rPr sz="1950" b="0">
                          <a:solidFill>
                            <a:srgbClr val="56606B"/>
                          </a:solidFill>
                          <a:latin typeface="Apple SD Gothic Neo"/>
                          <a:ea typeface="Apple SD Gothic Neo"/>
                          <a:cs typeface="Apple SD Gothic Neo"/>
                        </a:rPr>
                        <a:t>근거: 대화 흐름 1초와 끼어들기 local stop 0.1초를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6개 전체 사이클 × 5회 = 30개 귀속 시간</a:t>
                      </a:r>
                    </a:p>
                    <a:p>
                      <a:pPr algn="l"/>
                      <a:r>
                        <a:rPr sz="1950" b="0">
                          <a:solidFill>
                            <a:srgbClr val="56606B"/>
                          </a:solidFill>
                          <a:latin typeface="Apple SD Gothic Neo"/>
                          <a:ea typeface="Apple SD Gothic Neo"/>
                          <a:cs typeface="Apple SD Gothic Neo"/>
                        </a:rPr>
                        <a:t>근거: 의미 6초 + 연결 1초 + 전달 1초 + 재검증 여유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FD7CDADC-841B-4CB8-853F-2C355122DABD}"/>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공통 QA 계약 v4 / 작성자 PoC 평가안. 상세 정답/경계/실패/출처는 03-02와 발표자 노트</a:t>
            </a:r>
          </a:p>
        </p:txBody>
      </p:sp>
    </p:spTree>
    <p:extLst>
      <p:ext uri="{BB962C8B-B14F-4D97-AF65-F5344CB8AC3E}">
        <p14:creationId xmlns:p14="http://schemas.microsoft.com/office/powerpoint/2010/main" val="920534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5947634-12E0-4974-9BE3-38205E8719A5}"/>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D31B8CC4-7429-4B8B-92C2-187D9863D34A}"/>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007AC52-D809-4CA5-816A-B6DB5FCB4CC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2</a:t>
            </a:r>
          </a:p>
        </p:txBody>
      </p:sp>
      <p:sp>
        <p:nvSpPr>
          <p:cNvPr id="4" name="headline">
            <a:extLst xmlns:a="http://schemas.openxmlformats.org/drawingml/2006/main">
              <a:ext uri="{FF2B5EF4-FFF2-40B4-BE49-F238E27FC236}">
                <a16:creationId xmlns:a16="http://schemas.microsoft.com/office/drawing/2014/main" id="{649EEE11-0A0C-4340-90D8-AEB4EE10DBF8}"/>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9EE4D708-74D7-485F-B297-D5CBA2FF2037}"/>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QA 번호순으로 우선 선택하고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8시간 총 모델 비용 ≤ $1.50</a:t>
                      </a:r>
                    </a:p>
                    <a:p>
                      <a:pPr algn="l"/>
                      <a:r>
                        <a:rPr sz="1950" b="0">
                          <a:solidFill>
                            <a:srgbClr val="222A35"/>
                          </a:solidFill>
                          <a:latin typeface="Apple SD Gothic Neo"/>
                          <a:ea typeface="Apple SD Gothic Neo"/>
                          <a:cs typeface="Apple SD Gothic Neo"/>
                        </a:rPr>
                        <a:t>측정: 동일 8시간 활동의 청구 사용량 × 공개 단가</a:t>
                      </a:r>
                    </a:p>
                    <a:p>
                      <a:pPr algn="l"/>
                      <a:r>
                        <a:rPr sz="1950" b="0">
                          <a:solidFill>
                            <a:srgbClr val="56606B"/>
                          </a:solidFill>
                          <a:latin typeface="Apple SD Gothic Neo"/>
                          <a:ea typeface="Apple SD Gothic Neo"/>
                          <a:cs typeface="Apple SD Gothic Neo"/>
                        </a:rPr>
                        <a:t>근거: 기본 $1.1325 + 추가 생산/재시도 여유 $0.3675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8시간/3session 중 가장 큰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5BB8D1EC-5C8D-460C-AB85-4D1E3DB4D30E}"/>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공통 QA 계약 v4 / 작성자 PoC 평가안. 상세 정답/경계/실패/출처는 03-02와 발표자 노트</a:t>
            </a:r>
          </a:p>
        </p:txBody>
      </p:sp>
    </p:spTree>
    <p:extLst>
      <p:ext uri="{BB962C8B-B14F-4D97-AF65-F5344CB8AC3E}">
        <p14:creationId xmlns:p14="http://schemas.microsoft.com/office/powerpoint/2010/main" val="14178931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2026-10-10T16:08:38.2470000Z</dcterms:created>
  <dcterms:modified xsi:type="dcterms:W3CDTF">2026-10-10T16:08:38.2470000Z</dcterms:modified>
</coreProperties>
</file>