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0094c2b1d74e06" /><Relationship Type="http://schemas.openxmlformats.org/officeDocument/2006/relationships/extended-properties" Target="/docProps/app.xml" Id="R6c709cdaa20542c8" /><Relationship Type="http://schemas.openxmlformats.org/officeDocument/2006/relationships/officeDocument" Target="/ppt/presentation.xml" Id="R8ec4709057a54001" /></Relationships>
</file>

<file path=ppt/presentation.xml><?xml version="1.0" encoding="utf-8"?>
<p:presentation xmlns:p="http://schemas.openxmlformats.org/presentationml/2006/main">
  <p:sldMasterIdLst>
    <p:sldMasterId xmlns:r="http://schemas.openxmlformats.org/officeDocument/2006/relationships" id="2147483648" r:id="R8b69c28d660e44a6"/>
  </p:sldMasterIdLst>
  <p:notesMasterIdLst>
    <p:notesMasterId xmlns:r="http://schemas.openxmlformats.org/officeDocument/2006/relationships" r:id="R1ba9329fd0304527"/>
  </p:notesMasterIdLst>
  <p:sldIdLst>
    <p:sldId xmlns:r="http://schemas.openxmlformats.org/officeDocument/2006/relationships" id="256" r:id="Rbe31113c8ae04b7b"/>
    <p:sldId xmlns:r="http://schemas.openxmlformats.org/officeDocument/2006/relationships" id="257" r:id="R62a835cd317b49b9"/>
    <p:sldId xmlns:r="http://schemas.openxmlformats.org/officeDocument/2006/relationships" id="258" r:id="Rc03537b3afc14c0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ac9a4d85de5413d" /><Relationship Type="http://schemas.openxmlformats.org/officeDocument/2006/relationships/slideMaster" Target="/ppt/slideMasters/slideMaster1.xml" Id="R8b69c28d660e44a6" /><Relationship Type="http://schemas.openxmlformats.org/officeDocument/2006/relationships/notesMaster" Target="/ppt/notesMasters/notesMaster1.xml" Id="R1ba9329fd0304527" /><Relationship Type="http://schemas.openxmlformats.org/officeDocument/2006/relationships/presProps" Target="/ppt/presProps.xml" Id="R392dc5600c8d47a4" /><Relationship Type="http://schemas.openxmlformats.org/officeDocument/2006/relationships/tableStyles" Target="/ppt/tableStyles.xml" Id="R2768839b40bc49c8" /><Relationship Type="http://schemas.openxmlformats.org/officeDocument/2006/relationships/slide" Target="/ppt/slides/slide1.xml" Id="Rbe31113c8ae04b7b" /><Relationship Type="http://schemas.openxmlformats.org/officeDocument/2006/relationships/slide" Target="/ppt/slides/slide2.xml" Id="R62a835cd317b49b9" /><Relationship Type="http://schemas.openxmlformats.org/officeDocument/2006/relationships/slide" Target="/ppt/slides/slide3.xml" Id="Rc03537b3afc14c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489c0681be74ca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8e68af4d9f4a6c" /><Relationship Type="http://schemas.openxmlformats.org/officeDocument/2006/relationships/notesMaster" Target="/ppt/notesMasters/notesMaster1.xml" Id="R323ff5c547334a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b3266dad1241c4" /><Relationship Type="http://schemas.openxmlformats.org/officeDocument/2006/relationships/notesMaster" Target="/ppt/notesMasters/notesMaster1.xml" Id="R6e93d0eb3daa42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d570ba3e6b4919" /><Relationship Type="http://schemas.openxmlformats.org/officeDocument/2006/relationships/notesMaster" Target="/ppt/notesMasters/notesMaster1.xml" Id="R2f3aafadd4c044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ASR-QA-v5</a:t>
            </a:r>
          </a:p>
          <a:p xmlns:a="http://schemas.openxmlformats.org/drawingml/2006/main">
            <a:r>
              <a:t>공통 활동: W100 사용자 100/Agent 30장면, 5block, 3 독립 run</a:t>
            </a:r>
          </a:p>
          <a:p xmlns:a="http://schemas.openxmlformats.org/drawingml/2006/main">
            <a:r>
              <a:t>활동 SHA-256: 911ce3ae13588c27b6902a5a0abb17714c4059a9a80bceaa890c1dfb3e26eb7f</a:t>
            </a:r>
          </a:p>
          <a:p xmlns:a="http://schemas.openxmlformats.org/drawingml/2006/main">
            <a:r>
              <a:t>작성일: 2026-10-11</a:t>
            </a:r>
          </a:p>
          <a:p xmlns:a="http://schemas.openxmlformats.org/drawingml/2006/main">
            <a:r>
              <a:t>원본 SHA-256: 0e304faddf43b212900ce12f712a1d5cad5bd3cf601bc77a94f3f267d5fa2933</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ASR-QA-01 요청 처리 정확성</a:t>
            </a:r>
          </a:p>
          <a:p xmlns:a="http://schemas.openxmlformats.org/drawingml/2006/main">
            <a:r>
              <a:t>정의: 사용자의 의도와 확인된 사실에 맞게 요청을 처리하는 능력</a:t>
            </a:r>
          </a:p>
          <a:p xmlns:a="http://schemas.openxmlformats.org/drawingml/2006/main">
            <a:r>
              <a:t>측정 지표: 필수 정답 조건 충족률(%) = 정답 항목 수 ÷ 전체 540개 항목 × 100</a:t>
            </a:r>
          </a:p>
          <a:p xmlns:a="http://schemas.openxmlformats.org/drawingml/2006/main">
            <a:r>
              <a:t>목표: 98% 이상, 보조 한도는 §3.5</a:t>
            </a:r>
          </a:p>
          <a:p xmlns:a="http://schemas.openxmlformats.org/drawingml/2006/main">
            <a:r>
              <a:t>목표 근거: 50개 필수 조건당 오류 1개 이하, 요청 전체의 사용자 수정 부담은 20회당 1회 이하로 제한하는 PoC 예산. 530/540개 정답, 완전 정답 86/90회와 각 S/C 95%, 필수 위반 0건을 함께 검사 (§3.5.1)</a:t>
            </a:r>
          </a:p>
          <a:p xmlns:a="http://schemas.openxmlformats.org/drawingml/2006/main">
            <a:r>
              <a:t>보호 조건: 완전 정답/각 S/C ≥95%, 필수 위반 0건</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v5: ../../architecture/12-decisions/decision-packages/03-02-quality-attribute-definitions.md</a:t>
            </a:r>
          </a:p>
          <a:p xmlns:a="http://schemas.openxmlformats.org/drawingml/2006/main">
            <a:r>
              <a:t/>
            </a:r>
          </a:p>
          <a:p xmlns:a="http://schemas.openxmlformats.org/drawingml/2006/main">
            <a:r>
              <a:t>상세 평가 원문 §3</a:t>
            </a:r>
          </a:p>
          <a:p xmlns:a="http://schemas.openxmlformats.org/drawingml/2006/main">
            <a:r>
              <a:t>정확성</a:t>
            </a:r>
          </a:p>
          <a:p xmlns:a="http://schemas.openxmlformats.org/drawingml/2006/main">
            <a:r>
              <a:t/>
            </a:r>
          </a:p>
          <a:p xmlns:a="http://schemas.openxmlformats.org/drawingml/2006/main">
            <a:r>
              <a:t>**관리 ID: ASR-QA-01 — 요청 처리 정확성.** 핵심 정의/대표 지표/목표값/목표 근거는 문서 맨 앞 요약표를 따른다.</a:t>
            </a:r>
          </a:p>
          <a:p xmlns:a="http://schemas.openxmlformats.org/drawingml/2006/main">
            <a:r>
              <a:t/>
            </a:r>
          </a:p>
          <a:p xmlns:a="http://schemas.openxmlformats.org/drawingml/2006/main">
            <a:r>
              <a:t>**현재 항목: 요청 처리 정확성 / Voice PoC 평가 설계 v3, 18개 사례 명세 완료.** 정의/대표 지표/분모/목표/평가 방법과 초기 상황/입력/사건/정답을 아래에 모았다. 목표값의 과제 차원 필요성과 수치 선택은 §3.5.1의 명시적 오류 예산을 따른다. 후보나 모델을 실행한 결과는 아직 없다. 공통 시험 환경과 A/B 구성은 §8을 따른다.</a:t>
            </a:r>
          </a:p>
          <a:p xmlns:a="http://schemas.openxmlformats.org/drawingml/2006/main">
            <a:r>
              <a:t/>
            </a:r>
          </a:p>
          <a:p xmlns:a="http://schemas.openxmlformats.org/drawingml/2006/main">
            <a:r>
              <a:t>### 3.1 정의와 평가 범위</a:t>
            </a:r>
          </a:p>
          <a:p xmlns:a="http://schemas.openxmlformats.org/drawingml/2006/main">
            <a:r>
              <a:t/>
            </a:r>
          </a:p>
          <a:p xmlns:a="http://schemas.openxmlformats.org/drawingml/2006/main">
            <a:r>
              <a:t>**사용자가 지정한 목적은 설계 방안 A/B의 품질 차이를 확인하는 작은 PoC다.** 모든 UC 변형/채널의 기능 완전성이나 제품 수준 음성 인식/장치 성능을 검증하는 캠페인이 아니다. 같은 대표 Voice 장면을 공통 경계까지 추상화하고 DP가 바꾸는 판단/결합/확정/후속 실행/근거 생산의 차이를 유지한다. Text 입력을 제외하고 모든 사례에 모든 조건을 곱하지 않는다. §3의 분류/채점/목표와 §8의 공통 환경을 실행 기준으로 사용하며 실제 파일/모델/후보 build의 machine freeze와 실행은 별도 작업이다. [이전 v1](../../../archive/qa-request-accuracy-before-voice-poc-20261010/README.md)은 변경 근거로 보존했고 실행 결과는 없었다.</a:t>
            </a:r>
          </a:p>
          <a:p xmlns:a="http://schemas.openxmlformats.org/drawingml/2006/main">
            <a:r>
              <a:t/>
            </a:r>
          </a:p>
          <a:p xmlns:a="http://schemas.openxmlformats.org/drawingml/2006/main">
            <a:r>
              <a:t>- **정의:** VIA가 사용자 입력과 외부 사건을 의도 및 확인 가능한 사실에 맞는 요청 처리 결과로 연결하는 능력. 의미, 근거/대상, 업무 연결, 관계/변경, 적용 상태와 실제 전달을 포함한다.</a:t>
            </a:r>
          </a:p>
          <a:p xmlns:a="http://schemas.openxmlformats.org/drawingml/2006/main">
            <a:r>
              <a:t>- **평가 상황:** §3.2.1의 S1~S6. 기본 사례는 §3.2.2의 상세 명세에 따라 상황군별 3개, 총 18개로 고정한다.</a:t>
            </a:r>
          </a:p>
          <a:p xmlns:a="http://schemas.openxmlformats.org/drawingml/2006/main">
            <a:r>
              <a:t>- **실행당 채점:** C1~C6를 각각 0 또는 1로 판정한다. 항목 안의 필수 사실을 모두 만족하면 1, 하나라도 틀리거나 필요한 결과/근거가 없으면 0이다. 세부 사실별 진단은 보존하지만 별도 점수로 더하지 않는다.</a:t>
            </a:r>
          </a:p>
          <a:p xmlns:a="http://schemas.openxmlformats.org/drawingml/2006/main">
            <a:r>
              <a:t>- **대표 지표:** 채점 항목 전체의 정답률. 여섯 항목은 같은 비중이며 비용/시간 등 다른 QA와 가중 합산하지 않는다.</a:t>
            </a:r>
          </a:p>
          <a:p xmlns:a="http://schemas.openxmlformats.org/drawingml/2006/main">
            <a:r>
              <a:t>- **완전 정답 처리율:** 한 실행의 여섯 항목이 모두 1인 비율. 같은 원시 판정에서 계산해 보조 품질 한도로 사용한다.</a:t>
            </a:r>
          </a:p>
          <a:p xmlns:a="http://schemas.openxmlformats.org/drawingml/2006/main">
            <a:r>
              <a:t/>
            </a:r>
          </a:p>
          <a:p xmlns:a="http://schemas.openxmlformats.org/drawingml/2006/main">
            <a:r>
              <a:t>**대표 사례 18개를 한 번씩 실행하면 18 × 6 = 108개 항목을 채점한다.** 18개 사례에는 여섯 유형 모두에 의미 있는 필수 사실을 §3.3.2처럼 등록하므로 N/A 칸이 없다. 예를 들어 업무가 없는 경우의 C3은 `무관 Task에 연결하지 않음`, 상태 변경이 없는 조회의 C5는 `조회/응답을 처리하고 불필요한 외부 업무 효과를 만들지 않음`으로 검사한다. 빈 항목에 자동 1점을 주는 방식이 아니다.</a:t>
            </a:r>
          </a:p>
          <a:p xmlns:a="http://schemas.openxmlformats.org/drawingml/2006/main">
            <a:r>
              <a:t/>
            </a:r>
          </a:p>
          <a:p xmlns:a="http://schemas.openxmlformats.org/drawingml/2006/main">
            <a:r>
              <a:t>**이번 PoC에서는 여섯 묶음의 이진 판정으로 집계한다.** 판정 후 N/A로 변경하거나 사례별 조건 수로 가중치를 바꾸지 않는다. v3은 v2에서 남았던 초기 자료/입력/사건/정답의 빈칸을 닫은 정의 개정이며 모델/파일 hash를 고정한 machine freeze는 아니다.</a:t>
            </a:r>
          </a:p>
          <a:p xmlns:a="http://schemas.openxmlformats.org/drawingml/2006/main">
            <a:r>
              <a:t/>
            </a:r>
          </a:p>
          <a:p xmlns:a="http://schemas.openxmlformats.org/drawingml/2006/main">
            <a:r>
              <a:t>### 3.2 테스트 상황 분류와 18개 대표 사례</a:t>
            </a:r>
          </a:p>
          <a:p xmlns:a="http://schemas.openxmlformats.org/drawingml/2006/main">
            <a:r>
              <a:t/>
            </a:r>
          </a:p>
          <a:p xmlns:a="http://schemas.openxmlformats.org/drawingml/2006/main">
            <a:r>
              <a:t>**테스트는 상황 6개 유형으로 분류하고, 정답은 조건 6개 유형으로 기술한다.** 상황 유형은 어떤 문제를 시험하는지, 조건 유형은 무엇이 맞아야 하는지를 나타낸다. 테스트마다 입력, 초기 상태, 사건 순서와 기대값을 바꾸되 조건의 의미와 판정 규칙은 재사용한다. 이 유형들은 새로운 QA 12개나 DP별 지표가 아니다.</a:t>
            </a:r>
          </a:p>
          <a:p xmlns:a="http://schemas.openxmlformats.org/drawingml/2006/main">
            <a:r>
              <a:t/>
            </a:r>
          </a:p>
          <a:p xmlns:a="http://schemas.openxmlformats.org/drawingml/2006/main">
            <a:r>
              <a:t>기능 범위의 근거는 [고정 UC](../../05-representative-use-cases.md)이며, 네 DP의 영향 경로는 §3.7에 연결한다. 현재 네 비교에서 제외한 음성 모델의 자율 직접 응답은 [04-40](./04-40-common-execution-contract.md)의 경계를 따른다. UC-01의 기존 기능 요구 자체를 삭제하거나 Downstream Agent의 도메인 결과 품질을 VIA 판정으로 가져오지 않는다.</a:t>
            </a:r>
          </a:p>
          <a:p xmlns:a="http://schemas.openxmlformats.org/drawingml/2006/main">
            <a:r>
              <a:t/>
            </a:r>
          </a:p>
          <a:p xmlns:a="http://schemas.openxmlformats.org/drawingml/2006/main">
            <a:r>
              <a:t>#### 3.2.1 공통 상황 분류</a:t>
            </a:r>
          </a:p>
          <a:p xmlns:a="http://schemas.openxmlformats.org/drawingml/2006/main">
            <a:r>
              <a:t/>
            </a:r>
          </a:p>
          <a:p xmlns:a="http://schemas.openxmlformats.org/drawingml/2006/main">
            <a:r>
              <a:t>| 유형 | 시험할 상황과 경계 | 공통으로 확인할 핵심 결과 | 주 UC 연결 |</a:t>
            </a:r>
          </a:p>
          <a:p xmlns:a="http://schemas.openxmlformats.org/drawingml/2006/main">
            <a:r>
              <a:t>| --- | --- | --- | --- |</a:t>
            </a:r>
          </a:p>
          <a:p xmlns:a="http://schemas.openxmlformats.org/drawingml/2006/main">
            <a:r>
              <a:t>| S1 명시적 기본 요청 | 목표와 대상이 입력에 명시된 새 요청. 특별한 과거 지칭, 복합 관계, 정정이나 확인이 필요하지 않음 | 명시된 목표/제약을 누락하지 않고 적절히 답변하거나 위임 | UC-02, 08, 17 |</a:t>
            </a:r>
          </a:p>
          <a:p xmlns:a="http://schemas.openxmlformats.org/drawingml/2006/main">
            <a:r>
              <a:t>| S2 지칭과 근거 연결 | 화면, 선택, 생략, 과거 설명이나 업무 결과에서 대상을 찾아야 하는 요청 | 해당 시점/범위/version의 올바른 근거와 대상을 사용 | UC-03, 04, 05, 07, 10 |</a:t>
            </a:r>
          </a:p>
          <a:p xmlns:a="http://schemas.openxmlformats.org/drawingml/2006/main">
            <a:r>
              <a:t>| S3 복합 요청과 관계 | 한 입력에 여러 목표가 있고 독립, 순서, 결과 의존 또는 조건 관계가 있음 | 각 목표 및 관계/제약을 보존하고 관계에 맞게 처리 | UC-09 |</a:t>
            </a:r>
          </a:p>
          <a:p xmlns:a="http://schemas.openxmlformats.org/drawingml/2006/main">
            <a:r>
              <a:t>| S4 정정과 제어 | 기존 요청/업무의 변경, 음성 중단, 특정 업무 취소 또는 사용자 설정 변경/삭제 | 지정 범위만 바꾸고 무관한 내용/업무를 보존. 효력과 실제 상태를 구별 | UC-10, 11, 12, 17 |</a:t>
            </a:r>
          </a:p>
          <a:p xmlns:a="http://schemas.openxmlformats.org/drawingml/2006/main">
            <a:r>
              <a:t>| S5 외부 업무 사건 | Agent의 질문, 진행, 접수, 결과, 실패 등 외부 사건을 VIA가 수신 | 올바른 업무/대화로 연결하고 확인된 사실과 필요한 후속 동작을 전달 | UC-13, 14, 15, 18 |</a:t>
            </a:r>
          </a:p>
          <a:p xmlns:a="http://schemas.openxmlformats.org/drawingml/2006/main">
            <a:r>
              <a:t>| S6 확인과 판단 유보 | 처음부터 정보/대상/허용 범위가 불충분한 요청 또는 기존 질문에 대한 사용자 답변 | 필요한 확인/유보를 하고 질문 유효성, 답변의 대상과 승인 범위를 보존. 근거 없는 확정 금지 | UC-06, 14, 16, 18 |</a:t>
            </a:r>
          </a:p>
          <a:p xmlns:a="http://schemas.openxmlformats.org/drawingml/2006/main">
            <a:r>
              <a:t/>
            </a:r>
          </a:p>
          <a:p xmlns:a="http://schemas.openxmlformats.org/drawingml/2006/main">
            <a:r>
              <a:t>**대표 상황은 후보 실행 전에 원천 입력과 초기 상태로 하나만 지정한다.** 중복되는 경우 다음 순서로 정한다.</a:t>
            </a:r>
          </a:p>
          <a:p xmlns:a="http://schemas.openxmlformats.org/drawingml/2006/main">
            <a:r>
              <a:t/>
            </a:r>
          </a:p>
          <a:p xmlns:a="http://schemas.openxmlformats.org/drawingml/2006/main">
            <a:r>
              <a:t>1. 평가할 입력이 Agent 원천 사건이면 S5다. 이후 그 질문에 대한 사용자 답변은 별도 과제로 등록하면 S6다.</a:t>
            </a:r>
          </a:p>
          <a:p xmlns:a="http://schemas.openxmlformats.org/drawingml/2006/main">
            <a:r>
              <a:t>2. 평가할 입력이 기존 질문의 답변이거나, 필요한 정보/허용이 불충분하도록 작성한 사례면 S6다. 철회/만료된 질문에 대한 답변도 이 유형에서 적용 금지를 확인한다.</a:t>
            </a:r>
          </a:p>
          <a:p xmlns:a="http://schemas.openxmlformats.org/drawingml/2006/main">
            <a:r>
              <a:t>3. 기존 내용을 바꾸거나 제어하는 입력이면 S4다.</a:t>
            </a:r>
          </a:p>
          <a:p xmlns:a="http://schemas.openxmlformats.org/drawingml/2006/main">
            <a:r>
              <a:t>4. 여러 목표의 관계를 시험하는 입력이면 S3다.</a:t>
            </a:r>
          </a:p>
          <a:p xmlns:a="http://schemas.openxmlformats.org/drawingml/2006/main">
            <a:r>
              <a:t>5. 지칭 대상과 근거를 찾아야 하는 입력이면 S2다.</a:t>
            </a:r>
          </a:p>
          <a:p xmlns:a="http://schemas.openxmlformats.org/drawingml/2006/main">
            <a:r>
              <a:t>6. 나머지 명시적 기본 요청은 S1이다.</a:t>
            </a:r>
          </a:p>
          <a:p xmlns:a="http://schemas.openxmlformats.org/drawingml/2006/main">
            <a:r>
              <a:t/>
            </a:r>
          </a:p>
          <a:p xmlns:a="http://schemas.openxmlformats.org/drawingml/2006/main">
            <a:r>
              <a:t>예를 들어 “아까 보고서는 표로 바꾸고 메일은 그대로”는 S4이며 `과거 지칭`, `복수 업무`, `보존 조건`을 변형 tag로 붙인다. 후보가 명확한 S1 요청을 이해하지 못해 질문했다고 그 실행을 S6로 재분류하지 않는다. 복합 사례를 여러 상황군에 복제해 분모를 늘리지 않는다.</a:t>
            </a:r>
          </a:p>
          <a:p xmlns:a="http://schemas.openxmlformats.org/drawingml/2006/main">
            <a:r>
              <a:t/>
            </a:r>
          </a:p>
          <a:p xmlns:a="http://schemas.openxmlformats.org/drawingml/2006/main">
            <a:r>
              <a:t>#### 3.2.2 대표 사례의 초기 상황, 입력, 사건과 정답</a:t>
            </a:r>
          </a:p>
          <a:p xmlns:a="http://schemas.openxmlformats.org/drawingml/2006/main">
            <a:r>
              <a:t/>
            </a:r>
          </a:p>
          <a:p xmlns:a="http://schemas.openxmlformats.org/drawingml/2006/main">
            <a:r>
              <a:t>다음은 **초기 상황, 입력, 사건 순서와 C1~C6 통과 조건을 닫은 18개 사례의 원본 명세**다. 자료와 사건은 합성 PoC 값이다. 사용자 위임으로 작성자가 구체 값을 선택했으며 사용자의 실제 자료/발언이나 측정 결과가 아니다. 아래 내용이 §3.3.2의 채점 요약보다 구체적인 판정 기준이다. 사례를 새로 늘리거나 초기 값을 실행자가 임의로 선택하지 않는다.</a:t>
            </a:r>
          </a:p>
          <a:p xmlns:a="http://schemas.openxmlformats.org/drawingml/2006/main">
            <a:r>
              <a:t/>
            </a:r>
          </a:p>
          <a:p xmlns:a="http://schemas.openxmlformats.org/drawingml/2006/main">
            <a:r>
              <a:t>##### 공통 초기 조건과 사건 규칙</a:t>
            </a:r>
          </a:p>
          <a:p xmlns:a="http://schemas.openxmlformats.org/drawingml/2006/main">
            <a:r>
              <a:t/>
            </a:r>
          </a:p>
          <a:p xmlns:a="http://schemas.openxmlformats.org/drawingml/2006/main">
            <a:r>
              <a:t>- 모든 사례의 기준 날짜/시간대는 **2026-10-12 09:00, Asia/Seoul**이다. “올해”는 2026년, “내일”은 10월 13일, “금요일”은 10월 16일이다. `t`는 사례 시작 기준의 공통 monotonic 시간이며 음성 길이는 실제 녹음이 아닌 고정 replay 구간이다.</a:t>
            </a:r>
          </a:p>
          <a:p xmlns:a="http://schemas.openxmlformats.org/drawingml/2006/main">
            <a:r>
              <a:t>- 각 사례의 논리적 초기 상황은 독립 snapshot이다. W100에서는 §8.0의 공통 자원 pool 안에서 해당 사례의 namespace와 초기 owner 사실을 복원한다. 복원/준비의 비용과 할당 peak도 자원 지표에 포함하며 메모리 원장을 초기화하지 않는다. `D1`, `T메일` 등의 ID는 사례 namespace 안의 평가용 의미 ID이며 실제 runtime ID는 사전 선언한 대응으로 연결한다. 다른 사례의 자료/Task는 의미 판단에 섞이지 않는다. 같은 source hash/revision/허용을 만족한 REUSE의 cache는 유지할 수 있다. 완료 이력은 활동 끝까지 보존하되 현재 요청의 조회 scope와 구별한다. 현재 요청의 Task/지칭 정답을 모델 입력으로 주지 않는다.</a:t>
            </a:r>
          </a:p>
          <a:p xmlns:a="http://schemas.openxmlformats.org/drawingml/2006/main">
            <a:r>
              <a:t>- 공통 Conversation=C현재, 사용자=U현재, Voice=ON이다. S5-03의 OFF/재연결만 예외다. 모든 사례에는 무관한 T보호/X보호(request@v1, 목표=2026년 10월 20일 부산 출장 예약, RUNNING, 원래 지시/외부 접수된 실행 유지)가 있다. 별도 언급이 없으면 관련 Task/질문/선호/추가 자료는 없다. T보호를 수정/취소/완료시키는 효과는 금지다.</a:t>
            </a:r>
          </a:p>
          <a:p xmlns:a="http://schemas.openxmlformats.org/drawingml/2006/main">
            <a:r>
              <a:t>- 자료/version/기존 업무/질문/권한/과거 실제 전달 기록은 해당 owner의 원천 사실로 제공한다. 문서 내용과 연락처는 허용된 read port에서 읽는다. 시점/원본 조회나 현재 관계를 evaluator가 대신 결합하지 않는다. A의 cache와 B의 실제 파생 생산을 허용하며 B에 완성 관계를 선주입하지 않는다.</a:t>
            </a:r>
          </a:p>
          <a:p xmlns:a="http://schemas.openxmlformats.org/drawingml/2006/main">
            <a:r>
              <a:t>- `E0/E1/...`은 원천 사건의 순서다. 숫자 시각은 외부 조건이고 내부 Module의 시작/종료 기준이 아니다. `접수+0.2초` 등의 사건은 해당 실제 Agent 접수 경계에 연결한다. 발생 조건이 충족되지 않으면 결과를 자동 제공하지 않고 해당 미처리 항목을 0으로 남긴다. 시간 상한은 §3.6.3을 따른다.</a:t>
            </a:r>
          </a:p>
          <a:p xmlns:a="http://schemas.openxmlformats.org/drawingml/2006/main">
            <a:r>
              <a:t>- Agent stub은 문서/메일/일정 capability를 제공한다. 요청 payload대로 source/대상/조건/실행을 처리하고 잘못된 요청을 정답으로 고쳐주지 않는다. 전체 복합 관계를 한 Agent에 주는 방식과 VIA가 여러 결과를 잇는 방식 모두 허용한다. 평가하는 것은 VIA의 인계 의미와 효과이며 Agent의 도메인 품질은 아니다.</a:t>
            </a:r>
          </a:p>
          <a:p xmlns:a="http://schemas.openxmlformats.org/drawingml/2006/main">
            <a:r>
              <a:t>- 단순 조회/비교/한정 요약은 Core 직접 처리와 Agent 위임을 모두 허용한다. 직접 처리는 No Tracked Task, 위임은 해당 목표의 New Task/Execution에 연결한다. 기존 업무 제어는 Existing Task다. 같은 행위의 재시도는 허용하지만 고유 외부 효과가 중복되면 실패다. 요청 transport 횟수나 Component 수를 정답으로 강제하지 않는다.</a:t>
            </a:r>
          </a:p>
          <a:p xmlns:a="http://schemas.openxmlformats.org/drawingml/2006/main">
            <a:r>
              <a:t>- 계획된 후속 답변은 S5-03/S6-01/S6-02에만 아래 지정 문자열/시각으로 준다. 후속 발화는 실제 질문/결과의 필요한 핵심이 전달됐다는 receipt 뒤에 시작하며 준비/게시만으로 시작하지 않는다. S5-01/02에는 사용자 답변을 제공하지 않는다. 그 밖의 사용자 요청 사례의 추가 질문에는 최대 2회 “새로운 조건이나 권한은 추가하지 않았어. 처음 요청대로 처리해줘.”라고 실제 제시 뒤 1초에 답한다. 새 대상/금액/허용을 힌트로 공급하지 않으며 해결하지 못하면 timeout/미처리로 채점한다. 불필요한 질문의 수고/시간/비용은 기록한다.</a:t>
            </a:r>
          </a:p>
          <a:p xmlns:a="http://schemas.openxmlformats.org/drawingml/2006/main">
            <a:r>
              <a:t>- 초기 실제 전달과 현재 출력은 구별한다. 공통 sink는 후보가 release한 Text와 Voice의 내용/세대/시작/완료/중단/실제 구간을 기록한다. 잘못된/stale 출력은 sink가 정답으로 수정/자동 폐기하지 않는다. 물리 장치 실측이 아니다.</a:t>
            </a:r>
          </a:p>
          <a:p xmlns:a="http://schemas.openxmlformats.org/drawingml/2006/main">
            <a:r>
              <a:t/>
            </a:r>
          </a:p>
          <a:p xmlns:a="http://schemas.openxmlformats.org/drawingml/2006/main">
            <a:r>
              <a:t>##### 사례 찾아보기</a:t>
            </a:r>
          </a:p>
          <a:p xmlns:a="http://schemas.openxmlformats.org/drawingml/2006/main">
            <a:r>
              <a:t/>
            </a:r>
          </a:p>
          <a:p xmlns:a="http://schemas.openxmlformats.org/drawingml/2006/main">
            <a:r>
              <a:t>| 사례 | 주제 |</a:t>
            </a:r>
          </a:p>
          <a:p xmlns:a="http://schemas.openxmlformats.org/drawingml/2006/main">
            <a:r>
              <a:t>| --- | --- |</a:t>
            </a:r>
          </a:p>
          <a:p xmlns:a="http://schemas.openxmlformats.org/drawingml/2006/main">
            <a:r>
              <a:t>| [S1-01](#s1-01) | 제한된 정보 조회 |</a:t>
            </a:r>
          </a:p>
          <a:p xmlns:a="http://schemas.openxmlformats.org/drawingml/2006/main">
            <a:r>
              <a:t>| [S1-02](#s1-02) | 새 보고서 업무 위임 |</a:t>
            </a:r>
          </a:p>
          <a:p xmlns:a="http://schemas.openxmlformats.org/drawingml/2006/main">
            <a:r>
              <a:t>| [S1-03](#s1-03) | 개인화 신규 등록 |</a:t>
            </a:r>
          </a:p>
          <a:p xmlns:a="http://schemas.openxmlformats.org/drawingml/2006/main">
            <a:r>
              <a:t>| [S2-01](#s2-01) | 발화 중 두 표 지칭 |</a:t>
            </a:r>
          </a:p>
          <a:p xmlns:a="http://schemas.openxmlformats.org/drawingml/2006/main">
            <a:r>
              <a:t>| [S2-02](#s2-02) | 과거 설명과 두 업무 결과 재사용 |</a:t>
            </a:r>
          </a:p>
          <a:p xmlns:a="http://schemas.openxmlformats.org/drawingml/2006/main">
            <a:r>
              <a:t>| [S2-03](#s2-03) | 갱신된 원본의 과거 값 지정 |</a:t>
            </a:r>
          </a:p>
          <a:p xmlns:a="http://schemas.openxmlformats.org/drawingml/2006/main">
            <a:r>
              <a:t>| [S3-01](#s3-01) | 독립된 두 조회 요청 |</a:t>
            </a:r>
          </a:p>
          <a:p xmlns:a="http://schemas.openxmlformats.org/drawingml/2006/main">
            <a:r>
              <a:t>| [S3-02](#s3-02) | 요약 산출물에 의존하는 메일 |</a:t>
            </a:r>
          </a:p>
          <a:p xmlns:a="http://schemas.openxmlformats.org/drawingml/2006/main">
            <a:r>
              <a:t>| [S3-03](#s3-03) | 일정 조건의 변경 재확인 |</a:t>
            </a:r>
          </a:p>
          <a:p xmlns:a="http://schemas.openxmlformats.org/drawingml/2006/main">
            <a:r>
              <a:t>| [S4-01](#s4-01) | 부분 정정과 늦은 후보 |</a:t>
            </a:r>
          </a:p>
          <a:p xmlns:a="http://schemas.openxmlformats.org/drawingml/2006/main">
            <a:r>
              <a:t>| [S4-02](#s4-02) | 음성 중단 뒤 지정 수치 설명 |</a:t>
            </a:r>
          </a:p>
          <a:p xmlns:a="http://schemas.openxmlformats.org/drawingml/2006/main">
            <a:r>
              <a:t>| [S4-03](#s4-03) | 특정 업무 취소와 접수 미확인 |</a:t>
            </a:r>
          </a:p>
          <a:p xmlns:a="http://schemas.openxmlformats.org/drawingml/2006/main">
            <a:r>
              <a:t>| [S5-01](#s5-01) | 교차 질문과 철회 |</a:t>
            </a:r>
          </a:p>
          <a:p xmlns:a="http://schemas.openxmlformats.org/drawingml/2006/main">
            <a:r>
              <a:t>| [S5-02](#s5-02) | 결과 역전과 중복 |</a:t>
            </a:r>
          </a:p>
          <a:p xmlns:a="http://schemas.openxmlformats.org/drawingml/2006/main">
            <a:r>
              <a:t>| [S5-03](#s5-03) | 음성 종료 중 결과와 재연결 |</a:t>
            </a:r>
          </a:p>
          <a:p xmlns:a="http://schemas.openxmlformats.org/drawingml/2006/main">
            <a:r>
              <a:t>| [S6-01](#s6-01) | 모호한 과거 보고서 확인 |</a:t>
            </a:r>
          </a:p>
          <a:p xmlns:a="http://schemas.openxmlformats.org/drawingml/2006/main">
            <a:r>
              <a:t>| [S6-02](#s6-02) | 철회된 질문 답변과 승인 범위 |</a:t>
            </a:r>
          </a:p>
          <a:p xmlns:a="http://schemas.openxmlformats.org/drawingml/2006/main">
            <a:r>
              <a:t>| [S6-03](#s6-03) | 필요한 자료의 접근 거부 |</a:t>
            </a:r>
          </a:p>
          <a:p xmlns:a="http://schemas.openxmlformats.org/drawingml/2006/main">
            <a:r>
              <a:t/>
            </a:r>
          </a:p>
          <a:p xmlns:a="http://schemas.openxmlformats.org/drawingml/2006/main">
            <a:r>
              <a:t>&lt;a id="s1-01"&gt;&lt;/a&gt;</a:t>
            </a:r>
          </a:p>
          <a:p xmlns:a="http://schemas.openxmlformats.org/drawingml/2006/main">
            <a:r>
              <a:t>##### S1-01 제한된 정보 조회</a:t>
            </a:r>
          </a:p>
          <a:p xmlns:a="http://schemas.openxmlformats.org/drawingml/2006/main">
            <a:r>
              <a:t/>
            </a:r>
          </a:p>
          <a:p xmlns:a="http://schemas.openxmlformats.org/drawingml/2006/main">
            <a:r>
              <a:t>**초기 상황:** D1@v1의 제목은 “하늘 프로젝트 안내”, 본문은 “제출 마감일은 2026년 10월 15일입니다. 담당자는 민수입니다.”다. 관련 기존 Task는 없다. D1의 read 및 모델/Agent 제공은 허용된다. D1@v2는 이 사례에 존재하지 않는다.</a:t>
            </a:r>
          </a:p>
          <a:p xmlns:a="http://schemas.openxmlformats.org/drawingml/2006/main">
            <a:r>
              <a:t/>
            </a:r>
          </a:p>
          <a:p xmlns:a="http://schemas.openxmlformats.org/drawingml/2006/main">
            <a:r>
              <a:t>**입력:** “D1에 적힌 마감일 알려줘.”</a:t>
            </a:r>
          </a:p>
          <a:p xmlns:a="http://schemas.openxmlformats.org/drawingml/2006/main">
            <a:r>
              <a:t/>
            </a:r>
          </a:p>
          <a:p xmlns:a="http://schemas.openxmlformats.org/drawingml/2006/main">
            <a:r>
              <a:t>**사건 순서:** E0: 발화 시작 t=0, 종료/확정 전사 t=2초. E1: 직접 조회는 D1@v1을 반환한다. 위임이면 Agent가 실제 전달받은 D1/조회 범위를 받아 외부 접수를 확인하고 그 뒤 0.2초에 같은 마감일 결과를 반환한다. 추가 변경/경쟁 사건과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목표=지정 문서의 마감일 조회. VIA Core 직접 응답 또는 Agent의 한정 조회 위임 중 하나를 허용한다. |</a:t>
            </a:r>
          </a:p>
          <a:p xmlns:a="http://schemas.openxmlformats.org/drawingml/2006/main">
            <a:r>
              <a:t>| C2 대상/근거 | D1@v1을 사용하며 마감일=2026-10-15. 담당자나 다른 날짜를 마감일로 선택하지 않는다. |</a:t>
            </a:r>
          </a:p>
          <a:p xmlns:a="http://schemas.openxmlformats.org/drawingml/2006/main">
            <a:r>
              <a:t>| C3 대화/업무 연결 | 직접 응답은 No Tracked Task, 위임은 이 조회의 New Task에 연결한다. T보호 연결/수정 없음. |</a:t>
            </a:r>
          </a:p>
          <a:p xmlns:a="http://schemas.openxmlformats.org/drawingml/2006/main">
            <a:r>
              <a:t>| C4 조건/변경 범위 | 조회 범위=D1의 마감일. 문서 수정/새 조사/일정 생성으로 확장하지 않는다. |</a:t>
            </a:r>
          </a:p>
          <a:p xmlns:a="http://schemas.openxmlformats.org/drawingml/2006/main">
            <a:r>
              <a:t>| C5 실제 효과/상태 | 직접 경로는 조회/응답만, 위임 경로는 동일 목표의 외부 접수/결과 반영만 발생한다. 외부 변경 효과=0. |</a:t>
            </a:r>
          </a:p>
          <a:p xmlns:a="http://schemas.openxmlformats.org/drawingml/2006/main">
            <a:r>
              <a:t>| C6 응답/실제 전달 | 필수 사실=“D1의 마감일은 10월 15일”. Text와 실제 재생에서 날짜가 일치한다. 조회 실패나 다른 날짜를 성공처럼 말하면 실패. |</a:t>
            </a:r>
          </a:p>
          <a:p xmlns:a="http://schemas.openxmlformats.org/drawingml/2006/main">
            <a:r>
              <a:t/>
            </a:r>
          </a:p>
          <a:p xmlns:a="http://schemas.openxmlformats.org/drawingml/2006/main">
            <a:r>
              <a:t>&lt;a id="s1-02"&gt;&lt;/a&gt;</a:t>
            </a:r>
          </a:p>
          <a:p xmlns:a="http://schemas.openxmlformats.org/drawingml/2006/main">
            <a:r>
              <a:t>##### S1-02 새 보고서 업무 위임</a:t>
            </a:r>
          </a:p>
          <a:p xmlns:a="http://schemas.openxmlformats.org/drawingml/2006/main">
            <a:r>
              <a:t/>
            </a:r>
          </a:p>
          <a:p xmlns:a="http://schemas.openxmlformats.org/drawingml/2006/main">
            <a:r>
              <a:t>**초기 상황:** 관련 기존 Task는 없다. 자료 Sales2026Q3@v1은 2026년 7월 100억원, 8월 120억원, 9월 80억원의 매출이다. 자료 제목은 “2026년 3분기 매출”. 문서 작성 Agent의 capability=보고서 작성이고 제공/작성이 허용된다.</a:t>
            </a:r>
          </a:p>
          <a:p xmlns:a="http://schemas.openxmlformats.org/drawingml/2006/main">
            <a:r>
              <a:t/>
            </a:r>
          </a:p>
          <a:p xmlns:a="http://schemas.openxmlformats.org/drawingml/2006/main">
            <a:r>
              <a:t>**입력:** “올해 3분기 매출 보고서를 표 형식으로 작성해줘.”</a:t>
            </a:r>
          </a:p>
          <a:p xmlns:a="http://schemas.openxmlformats.org/drawingml/2006/main">
            <a:r>
              <a:t/>
            </a:r>
          </a:p>
          <a:p xmlns:a="http://schemas.openxmlformats.org/drawingml/2006/main">
            <a:r>
              <a:t>**사건 순서:** E0: 발화 0~3초. E1: Agent가 실제 보고서 작성 요청을 접수하면 0.2초 뒤 접수 receipt만 반환한다. 이 episode에서는 완료 결과를 반환하지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목표=2026년 3분기 매출 보고서 작성, 처리=Agent 위임. 단순 매출 조회 답변으로 완료를 대신하지 않는다. |</a:t>
            </a:r>
          </a:p>
          <a:p xmlns:a="http://schemas.openxmlformats.org/drawingml/2006/main">
            <a:r>
              <a:t>| C2 대상/근거 | 자료=Sales2026Q3@v1, 월 범위=7~9월. 다른 연도/분기 자료 추가나 교체 없음. |</a:t>
            </a:r>
          </a:p>
          <a:p xmlns:a="http://schemas.openxmlformats.org/drawingml/2006/main">
            <a:r>
              <a:t>| C3 대화/업무 연결 | New Task에 이 보고서 요청/외부 실행을 연결한다. T보호와 별개이며 중복 보고서 실행 없음. |</a:t>
            </a:r>
          </a:p>
          <a:p xmlns:a="http://schemas.openxmlformats.org/drawingml/2006/main">
            <a:r>
              <a:t>| C4 조건/변경 범위 | 연도=2026, 분기=3, 형식=표가 실제 인계에 모두 남는다. Agent의 표 디자인/분석 품질은 채점하지 않는다. |</a:t>
            </a:r>
          </a:p>
          <a:p xmlns:a="http://schemas.openxmlformats.org/drawingml/2006/main">
            <a:r>
              <a:t>| C5 실제 효과/상태 | 보고서 작성의 고유 외부 효과=1회 접수. 상태=외부 접수됨/진행 예정 또는 진행 중이며 완료 아님. |</a:t>
            </a:r>
          </a:p>
          <a:p xmlns:a="http://schemas.openxmlformats.org/drawingml/2006/main">
            <a:r>
              <a:t>| C6 응답/실제 전달 | 필수 사실=“올해 3분기 매출 보고서를 표로 작성하도록 맡겼고 접수됐다”. 완료/보고서 생성 완료 주장 금지. |</a:t>
            </a:r>
          </a:p>
          <a:p xmlns:a="http://schemas.openxmlformats.org/drawingml/2006/main">
            <a:r>
              <a:t/>
            </a:r>
          </a:p>
          <a:p xmlns:a="http://schemas.openxmlformats.org/drawingml/2006/main">
            <a:r>
              <a:t>&lt;a id="s1-03"&gt;&lt;/a&gt;</a:t>
            </a:r>
          </a:p>
          <a:p xmlns:a="http://schemas.openxmlformats.org/drawingml/2006/main">
            <a:r>
              <a:t>##### S1-03 개인화 신규 등록</a:t>
            </a:r>
          </a:p>
          <a:p xmlns:a="http://schemas.openxmlformats.org/drawingml/2006/main">
            <a:r>
              <a:t/>
            </a:r>
          </a:p>
          <a:p xmlns:a="http://schemas.openxmlformats.org/drawingml/2006/main">
            <a:r>
              <a:t>**초기 상황:** User Memory에는 비교 형식 선호가 없다. 기존 M언어는 “설명 언어=한국어”이며 변경 대상이 아니다. 사용자의 명시적 장기 선호 등록을 VIA 내부에 저장하는 권한은 허용된다.</a:t>
            </a:r>
          </a:p>
          <a:p xmlns:a="http://schemas.openxmlformats.org/drawingml/2006/main">
            <a:r>
              <a:t/>
            </a:r>
          </a:p>
          <a:p xmlns:a="http://schemas.openxmlformats.org/drawingml/2006/main">
            <a:r>
              <a:t>**입력:** “앞으로 비교 결과는 표로 보여주는 걸 선호한다고 기억해줘.”</a:t>
            </a:r>
          </a:p>
          <a:p xmlns:a="http://schemas.openxmlformats.org/drawingml/2006/main">
            <a:r>
              <a:t/>
            </a:r>
          </a:p>
          <a:p xmlns:a="http://schemas.openxmlformats.org/drawingml/2006/main">
            <a:r>
              <a:t>**사건 순서:** E0: 발화 0~3초. E1: 저장 뒤 공통 User Memory 조회 port로 사용자/적용 범위/값을 확인한다. 외부 Agent 사건이나 계획된 후속 답변은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목표=지속적인 비교 결과 형식 선호 등록. 일회성 표 응답이나 외부 문서 작성으로 바꾸지 않는다. |</a:t>
            </a:r>
          </a:p>
          <a:p xmlns:a="http://schemas.openxmlformats.org/drawingml/2006/main">
            <a:r>
              <a:t>| C2 대상/근거 | 근거=이번 발화. 선호의 대상=비교 결과, 형식=표. 다른 사용자의 Memory를 사용하지 않는다. |</a:t>
            </a:r>
          </a:p>
          <a:p xmlns:a="http://schemas.openxmlformats.org/drawingml/2006/main">
            <a:r>
              <a:t>| C3 대화/업무 연결 | 현재 사용자/설정 관리에 연결. 새 외부 업무나 T보호 연결 없음. |</a:t>
            </a:r>
          </a:p>
          <a:p xmlns:a="http://schemas.openxmlformats.org/drawingml/2006/main">
            <a:r>
              <a:t>| C4 조건/변경 범위 | 지속 범위=이 사용자의 향후 비교 결과. 모든 답변을 표로 제한하거나 M언어를 변경하지 않는다. |</a:t>
            </a:r>
          </a:p>
          <a:p xmlns:a="http://schemas.openxmlformats.org/drawingml/2006/main">
            <a:r>
              <a:t>| C5 실제 효과/상태 | 공통 조회에서 비교 결과 형식 선호=표가 확인된다. 중복/다른 선호 변경과 외부 Action=0. |</a:t>
            </a:r>
          </a:p>
          <a:p xmlns:a="http://schemas.openxmlformats.org/drawingml/2006/main">
            <a:r>
              <a:t>| C6 응답/실제 전달 | 필수 사실=“비교 결과는 표로 보여주는 선호를 기억했다”. 모든 답변/다른 사용자에 적용했다고 말하면 실패. |</a:t>
            </a:r>
          </a:p>
          <a:p xmlns:a="http://schemas.openxmlformats.org/drawingml/2006/main">
            <a:r>
              <a:t/>
            </a:r>
          </a:p>
          <a:p xmlns:a="http://schemas.openxmlformats.org/drawingml/2006/main">
            <a:r>
              <a:t>&lt;a id="s2-01"&gt;&lt;/a&gt;</a:t>
            </a:r>
          </a:p>
          <a:p xmlns:a="http://schemas.openxmlformats.org/drawingml/2006/main">
            <a:r>
              <a:t>##### S2-01 발화 중 두 표 지칭</a:t>
            </a:r>
          </a:p>
          <a:p xmlns:a="http://schemas.openxmlformats.org/drawingml/2006/main">
            <a:r>
              <a:t/>
            </a:r>
          </a:p>
          <a:p xmlns:a="http://schemas.openxmlformats.org/drawingml/2006/main">
            <a:r>
              <a:t>**초기 상황:** 화면 표 A@v1: 2026년 3분기 매출 300억원. 표 B@v1: 같은 기간 매출 240억원. 표 C@v1: 2026년 4분기 매출 900억원. 이 요청과 연결된 기존 Task는 없다. 세 표의 관측/조회는 허용된다.</a:t>
            </a:r>
          </a:p>
          <a:p xmlns:a="http://schemas.openxmlformats.org/drawingml/2006/main">
            <a:r>
              <a:t/>
            </a:r>
          </a:p>
          <a:p xmlns:a="http://schemas.openxmlformats.org/drawingml/2006/main">
            <a:r>
              <a:t>**입력:** “이 표와 저 표를 비교해줘.” 첫 “이 표” span=0.4~0.8초, “저 표” span=1.1~1.5초.</a:t>
            </a:r>
          </a:p>
          <a:p xmlns:a="http://schemas.openxmlformats.org/drawingml/2006/main">
            <a:r>
              <a:t/>
            </a:r>
          </a:p>
          <a:p xmlns:a="http://schemas.openxmlformats.org/drawingml/2006/main">
            <a:r>
              <a:t>**사건 순서:** E0: 발화 0~2초. E1: 0~0.9초 화면/포인터는 A, 0.9~1.7초는 B, 1.7초부터는 C다. 이 시각과 표의 내용/version을 원천 observation으로 제공한다. E2: 직접 비교는 같은 근거를 사용한다. 위임은 실제 전달된 두 표의 비교 결과를 접수 후 0.2초에 반환한다. 추가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목표=발화에서 지정한 두 표 비교. 현재 화면 C 설명으로 바꾸지 않는다. |</a:t>
            </a:r>
          </a:p>
          <a:p xmlns:a="http://schemas.openxmlformats.org/drawingml/2006/main">
            <a:r>
              <a:t>| C2 대상/근거 | 첫 지칭=A@v1/300억원, 둘째=B@v1/240억원. C나 대상 순서 교체 없음. |</a:t>
            </a:r>
          </a:p>
          <a:p xmlns:a="http://schemas.openxmlformats.org/drawingml/2006/main">
            <a:r>
              <a:t>| C3 대화/업무 연결 | 직접 응답은 No Tracked Task, 위임은 이 비교의 New Task. 기존 T보호 변경 없음. |</a:t>
            </a:r>
          </a:p>
          <a:p xmlns:a="http://schemas.openxmlformats.org/drawingml/2006/main">
            <a:r>
              <a:t>| C4 조건/변경 범위 | 비교의 기간=2026년 3분기, 대상 집합={A,B}, 역할=첫 A/둘째 B. 화면 이동을 대상 정정으로 해석하지 않는다. |</a:t>
            </a:r>
          </a:p>
          <a:p xmlns:a="http://schemas.openxmlformats.org/drawingml/2006/main">
            <a:r>
              <a:t>| C5 실제 효과/상태 | 올바른 A/B 비교 답변 또는 같은 근거를 보존한 위임/결과 반영. 화면 표/외부 자료 변경 효과=0. |</a:t>
            </a:r>
          </a:p>
          <a:p xmlns:a="http://schemas.openxmlformats.org/drawingml/2006/main">
            <a:r>
              <a:t>| C6 응답/실제 전달 | 필수 사실=A 300억원, B 240억원, A가 더 큼. 선택적으로 차이 60억원/25%를 말하면 정확해야 한다. C의 900을 비교값으로 말하면 실패. |</a:t>
            </a:r>
          </a:p>
          <a:p xmlns:a="http://schemas.openxmlformats.org/drawingml/2006/main">
            <a:r>
              <a:t/>
            </a:r>
          </a:p>
          <a:p xmlns:a="http://schemas.openxmlformats.org/drawingml/2006/main">
            <a:r>
              <a:t>&lt;a id="s2-02"&gt;&lt;/a&gt;</a:t>
            </a:r>
          </a:p>
          <a:p xmlns:a="http://schemas.openxmlformats.org/drawingml/2006/main">
            <a:r>
              <a:t>##### S2-02 과거 설명과 두 업무 결과 재사용</a:t>
            </a:r>
          </a:p>
          <a:p xmlns:a="http://schemas.openxmlformats.org/drawingml/2006/main">
            <a:r>
              <a:t/>
            </a:r>
          </a:p>
          <a:p xmlns:a="http://schemas.openxmlformats.org/drawingml/2006/main">
            <a:r>
              <a:t>**초기 상황:** E1은 지난 VIA 설명의 원본이다. Text 전체는 “평가 기준은 연간 유지비와 설치 기간입니다. 가격은 평가에서 제외합니다. 보안 등급도 최우선 기준으로 추가할 수 있습니다.”이며 실제 Voice는 첫 두 문장까지만 전달됐다. 마지막 문장은 미재생이다. 완료한 제품 비교 Task T비교의 D2@v2는 “A: 설치 2일, B: 설치 4일”, 완료한 견적 Task T견적의 D3@v1은 “A: 가격 100백만원/연간 유지비 3백만원, B: 가격 120백만원/연간 유지비 5백만원”이다. 이전 D2@v1은 A 설치 3일이며 현재 결과가 아니다. 새 제안서 Task는 없다. 이 원본/결과/전달 이력의 조회 및 제공은 허용된다.</a:t>
            </a:r>
          </a:p>
          <a:p xmlns:a="http://schemas.openxmlformats.org/drawingml/2006/main">
            <a:r>
              <a:t/>
            </a:r>
          </a:p>
          <a:p xmlns:a="http://schemas.openxmlformats.org/drawingml/2006/main">
            <a:r>
              <a:t>**입력:** “아까 들은 기준과 두 업무 결과로 새 제안서를 만들어줘.”</a:t>
            </a:r>
          </a:p>
          <a:p xmlns:a="http://schemas.openxmlformats.org/drawingml/2006/main">
            <a:r>
              <a:t/>
            </a:r>
          </a:p>
          <a:p xmlns:a="http://schemas.openxmlformats.org/drawingml/2006/main">
            <a:r>
              <a:t>**사건 순서:** W 준비 사건: P0=E1 Text 전체 표시, P1=첫 두 문장 실제 재생/중단, P2=T비교 D2@v1 완료, P3=현재 결과 D2@v2 갱신/완료, P4=T견적 D3@v1 완료를 0/0.01/0.02/0.03/0.04초 offset으로 원천 이력 port에 제공한다. 마지막 P4 수신 뒤 동일한 5초 준비 기간을 양안에 주고 현재 발화를 시작한다. 이는 §3.2.3의 최대 120초 안에서 고정한 PoC 준비 창이다. 현재까지 끝나지 않은 파생 생산은 실행 중 계속할 수 있으며 그 비용/지연을 기록한다. 파생 기억은 평가자가 넣지 않는다. E0: 현재 발화 0~3초. E1: 실제 새 제안서 요청의 외부 접수 후 0.2초에 접수 receipt만 반환한다. 완료 결과와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목표=새 제안서 작성의 Agent 위임. 과거 비교/견적 업무의 추가 수정으로 바꾸지 않는다. |</a:t>
            </a:r>
          </a:p>
          <a:p xmlns:a="http://schemas.openxmlformats.org/drawingml/2006/main">
            <a:r>
              <a:t>| C2 대상/근거 | 근거=실제로 들은 E1의 첫 두 문장, 현재 D2@v2와 D3@v1. D2@v1/미재생 문장을 들은 기준으로 사용하지 않는다. |</a:t>
            </a:r>
          </a:p>
          <a:p xmlns:a="http://schemas.openxmlformats.org/drawingml/2006/main">
            <a:r>
              <a:t>| C3 대화/업무 연결 | 새 제안서의 New Task/실행을 만들고 T비교/T견적은 완료 상태를 유지한다. 이전 실행에 제안서 수정 지시를 보내지 않는다. |</a:t>
            </a:r>
          </a:p>
          <a:p xmlns:a="http://schemas.openxmlformats.org/drawingml/2006/main">
            <a:r>
              <a:t>| C4 조건/변경 범위 | 평가 기준=유지비/설치 기간, 가격은 평가에서 제외. D2는 비교, D3는 견적 근거 역할로 보존한다. 가격의 단순 견적 인용은 허용하지만 우열/추천 기준으로 쓰면 실패. 미재생 보안 조건을 사용자 요구로 추가하지 않는다. |</a:t>
            </a:r>
          </a:p>
          <a:p xmlns:a="http://schemas.openxmlformats.org/drawingml/2006/main">
            <a:r>
              <a:t>| C5 실제 효과/상태 | 위 참조/조건을 보존한 제안서 작성의 고유 접수=1회. 기존 두 업무의 새 실행/변경=0. 미완료 제안서를 완료로 전이하지 않는다. |</a:t>
            </a:r>
          </a:p>
          <a:p xmlns:a="http://schemas.openxmlformats.org/drawingml/2006/main">
            <a:r>
              <a:t>| C6 응답/실제 전달 | 필수 사실=“들은 기준과 제품 비교/견적 결과로 새 제안서를 맡겼고 가격은 평가에서 제외한다”. 현재는 접수 단계이며 보안을 들었다거나 이미 작성됐다는 주장 금지. |</a:t>
            </a:r>
          </a:p>
          <a:p xmlns:a="http://schemas.openxmlformats.org/drawingml/2006/main">
            <a:r>
              <a:t/>
            </a:r>
          </a:p>
          <a:p xmlns:a="http://schemas.openxmlformats.org/drawingml/2006/main">
            <a:r>
              <a:t>&lt;a id="s2-03"&gt;&lt;/a&gt;</a:t>
            </a:r>
          </a:p>
          <a:p xmlns:a="http://schemas.openxmlformats.org/drawingml/2006/main">
            <a:r>
              <a:t>##### S2-03 갱신된 원본의 과거 값 지정</a:t>
            </a:r>
          </a:p>
          <a:p xmlns:a="http://schemas.openxmlformats.org/drawingml/2006/main">
            <a:r>
              <a:t/>
            </a:r>
          </a:p>
          <a:p xmlns:a="http://schemas.openxmlformats.org/drawingml/2006/main">
            <a:r>
              <a:t>**초기 상황:** D1의 과거 표시 기록 P1은 “계약 기준값=100”인 D1@v1을 가리킨다. 초기 현재 문서는 D1@v1이며 발화 중 게시될 D1@v2의 기준값은 120이다. 두 version 모두 보존/조회 허용. 이전 Task T원본은 완료했으며 새 표 작성 Task는 없다.</a:t>
            </a:r>
          </a:p>
          <a:p xmlns:a="http://schemas.openxmlformats.org/drawingml/2006/main">
            <a:r>
              <a:t/>
            </a:r>
          </a:p>
          <a:p xmlns:a="http://schemas.openxmlformats.org/drawingml/2006/main">
            <a:r>
              <a:t>**입력:** “그때 보여준 값으로 표를 만들어줘.”</a:t>
            </a:r>
          </a:p>
          <a:p xmlns:a="http://schemas.openxmlformats.org/drawingml/2006/main">
            <a:r>
              <a:t/>
            </a:r>
          </a:p>
          <a:p xmlns:a="http://schemas.openxmlformats.org/drawingml/2006/main">
            <a:r>
              <a:t>**사건 순서:** E0: t=-1초에 v1 표시 원본 P1이 존재한다. t=0 발화 시작, t=0.5초 원본 owner가 v2/120을 게시한다. t=2초 발화 종료/확정 전사. E1: 새 표 작성 요청의 접수 뒤 0.2초에 접수 receipt만 반환한다. v1 접근 거부나 추가 답변은 이번 사례에 넣지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목표=과거 표시 값에 기반한 새 표 작성 위임. |</a:t>
            </a:r>
          </a:p>
          <a:p xmlns:a="http://schemas.openxmlformats.org/drawingml/2006/main">
            <a:r>
              <a:t>| C2 대상/근거 | P1→D1@v1→기준값 100의 연결이 실제 처리에 사용된다. 현재 v2/120으로 치환하면 실패. |</a:t>
            </a:r>
          </a:p>
          <a:p xmlns:a="http://schemas.openxmlformats.org/drawingml/2006/main">
            <a:r>
              <a:t>| C3 대화/업무 연결 | 새 표 작성은 New Task. T원본 완료 상태/결과는 변경하지 않는다. |</a:t>
            </a:r>
          </a:p>
          <a:p xmlns:a="http://schemas.openxmlformats.org/drawingml/2006/main">
            <a:r>
              <a:t>| C4 조건/변경 범위 | 입력 데이터/시점=과거 표시된 v1의 100, 산출물=표. 최신 값으로 갱신하라는 조건을 추가하지 않는다. |</a:t>
            </a:r>
          </a:p>
          <a:p xmlns:a="http://schemas.openxmlformats.org/drawingml/2006/main">
            <a:r>
              <a:t>| C5 실제 효과/상태 | 100과 과거 참조를 사용한 표 작성의 고유 접수=1회. v2를 쓰는 인계/이전 업무 수정=0. |</a:t>
            </a:r>
          </a:p>
          <a:p xmlns:a="http://schemas.openxmlformats.org/drawingml/2006/main">
            <a:r>
              <a:t>| C6 응답/실제 전달 | 필수 사실=“당시 보여준 100으로 표 작성을 맡겼다”. 120/최신 값 사용 또는 작성 완료 주장은 실패. |</a:t>
            </a:r>
          </a:p>
          <a:p xmlns:a="http://schemas.openxmlformats.org/drawingml/2006/main">
            <a:r>
              <a:t/>
            </a:r>
          </a:p>
          <a:p xmlns:a="http://schemas.openxmlformats.org/drawingml/2006/main">
            <a:r>
              <a:t>&lt;a id="s3-01"&gt;&lt;/a&gt;</a:t>
            </a:r>
          </a:p>
          <a:p xmlns:a="http://schemas.openxmlformats.org/drawingml/2006/main">
            <a:r>
              <a:t>##### S3-01 독립된 두 조회 요청</a:t>
            </a:r>
          </a:p>
          <a:p xmlns:a="http://schemas.openxmlformats.org/drawingml/2006/main">
            <a:r>
              <a:t/>
            </a:r>
          </a:p>
          <a:p xmlns:a="http://schemas.openxmlformats.org/drawingml/2006/main">
            <a:r>
              <a:t>**초기 상황:** D1@v1은 “하늘 프로젝트의 마감일은 2026년 10월 15일이고 담당자는 민수입니다.”다. 2026-10-13 일정 Cal13@v1에는 09:00~09:30 팀 회의만 있다. 문서/일정 조회와 제공은 허용되며 두 목표와 연결된 Task는 없다.</a:t>
            </a:r>
          </a:p>
          <a:p xmlns:a="http://schemas.openxmlformats.org/drawingml/2006/main">
            <a:r>
              <a:t/>
            </a:r>
          </a:p>
          <a:p xmlns:a="http://schemas.openxmlformats.org/drawingml/2006/main">
            <a:r>
              <a:t>**입력:** “D1 요약해주고, 내일 일정도 알려줘.”</a:t>
            </a:r>
          </a:p>
          <a:p xmlns:a="http://schemas.openxmlformats.org/drawingml/2006/main">
            <a:r>
              <a:t/>
            </a:r>
          </a:p>
          <a:p xmlns:a="http://schemas.openxmlformats.org/drawingml/2006/main">
            <a:r>
              <a:t>**사건 순서:** E0: 발화 0~3초. E1: 직접 조회는 해당 원본을 반환한다. 위임된 조회/요약은 각 고유 접수 뒤 0.2초에 해당 원본의 결과를 반환한다. 어떤 목표의 완료도 다른 목표 결과의 필수 입력이 아니다. 변경/실패/후속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 두 개=D1의 한정 요약과 10월 13일 일정 조회. 각각 Core 직접 처리/Agent 위임을 허용하며 둘 중 하나를 누락하면 실패. |</a:t>
            </a:r>
          </a:p>
          <a:p xmlns:a="http://schemas.openxmlformats.org/drawingml/2006/main">
            <a:r>
              <a:t>| C2 대상/근거 | D1@v1의 마감일/담당자와 Cal13@v1의 팀 회의. 다른 날짜/문서/일정 추가 없음. |</a:t>
            </a:r>
          </a:p>
          <a:p xmlns:a="http://schemas.openxmlformats.org/drawingml/2006/main">
            <a:r>
              <a:t>| C3 대화/업무 연결 | 각 직접 목표는 No Tracked Task, 각 위임 목표는 해당 New Task에 연결. 두 독립 목표를 한 업무의 동일 목표로 혼동하거나 T보호에 연결하지 않는다. |</a:t>
            </a:r>
          </a:p>
          <a:p xmlns:a="http://schemas.openxmlformats.org/drawingml/2006/main">
            <a:r>
              <a:t>| C4 조건/변경 범위 | 두 목표 관계=독립. 요약 결과를 일정 조회 입력으로 쓰거나 한 목표의 완료를 다른 목표의 필수 실행 조건으로 추가하지 않는다. |</a:t>
            </a:r>
          </a:p>
          <a:p xmlns:a="http://schemas.openxmlformats.org/drawingml/2006/main">
            <a:r>
              <a:t>| C5 실제 효과/상태 | 두 목표의 실제 결과가 모두 처리된다. Core/Agent 조합과 단순 실행 순서는 허용하되 실제 adopted 관계에 잘못된 의존성을 넣지 않는다. 외부 변경 효과=0. |</a:t>
            </a:r>
          </a:p>
          <a:p xmlns:a="http://schemas.openxmlformats.org/drawingml/2006/main">
            <a:r>
              <a:t>| C6 응답/실제 전달 | 필수 사실=D1 요약의 10월 15일/민수와 내일 09:00 팀 회의. 두 결과의 대상을 구별하며 두 목표 모두 실제 전달한다. |</a:t>
            </a:r>
          </a:p>
          <a:p xmlns:a="http://schemas.openxmlformats.org/drawingml/2006/main">
            <a:r>
              <a:t/>
            </a:r>
          </a:p>
          <a:p xmlns:a="http://schemas.openxmlformats.org/drawingml/2006/main">
            <a:r>
              <a:t>&lt;a id="s3-02"&gt;&lt;/a&gt;</a:t>
            </a:r>
          </a:p>
          <a:p xmlns:a="http://schemas.openxmlformats.org/drawingml/2006/main">
            <a:r>
              <a:t>##### S3-02 요약 산출물에 의존하는 메일</a:t>
            </a:r>
          </a:p>
          <a:p xmlns:a="http://schemas.openxmlformats.org/drawingml/2006/main">
            <a:r>
              <a:t/>
            </a:r>
          </a:p>
          <a:p xmlns:a="http://schemas.openxmlformats.org/drawingml/2006/main">
            <a:r>
              <a:t>**초기 상황:** D1@v1의 본문은 “하늘 프로젝트는 10월 15일까지 제출하며 담당자는 민수입니다.”, 연락처 민수= minsu@example.invalid. 문서 조회/요약, 해당 요약을 민수에게 보내는 이번 요청의 실행/제공이 허용된다. 과거 완료 업무 T옛/X옛의 요청 R옛은 D1@v0을 요약했고 K옛@v0은 “마감 10월 1일”이다. 이 과거 결과는 이번 요청 결과가 아니다. 현재 요약/메일 목표의 Task는 아직 없다.</a:t>
            </a:r>
          </a:p>
          <a:p xmlns:a="http://schemas.openxmlformats.org/drawingml/2006/main">
            <a:r>
              <a:t/>
            </a:r>
          </a:p>
          <a:p xmlns:a="http://schemas.openxmlformats.org/drawingml/2006/main">
            <a:r>
              <a:t>**입력:** “D1을 요약한 다음, 그 요약을 민수에게 메일로 보내줘.”</a:t>
            </a:r>
          </a:p>
          <a:p xmlns:a="http://schemas.openxmlformats.org/drawingml/2006/main">
            <a:r>
              <a:t/>
            </a:r>
          </a:p>
          <a:p xmlns:a="http://schemas.openxmlformats.org/drawingml/2006/main">
            <a:r>
              <a:t>**사건 순서:** E0: 발화 0~3초. E1: t=3.1초에 R옛의 K옛@v0 event가 도착한다. E2: 현재 요약 목표는 실제 접수/처리 뒤 K현재@v1(“제출 마감 10월 15일, 담당 민수”)을 생산하고 같은 event ID를 한 번 더 전달한다. 요약 위임이면 stub 생산 시각은 접수+0.5초, Core 요약이면 후보의 실제 산출물 준비가 source다. E3: 실제 메일 접수 후 0.2초에 접수 receipt만 반환한다.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목표=현재 D1 요약과 그 요약의 민수 메일 전송. 요약만 답하거나 원문 메일로 바꾸면 실패. |</a:t>
            </a:r>
          </a:p>
          <a:p xmlns:a="http://schemas.openxmlformats.org/drawingml/2006/main">
            <a:r>
              <a:t>| C2 대상/근거 | D1@v1, 민수 주소, 현재 요청의 실제 요약 산출물 K현재@v1. R옛/K옛@v0 또는 다른 요약 사용 금지. |</a:t>
            </a:r>
          </a:p>
          <a:p xmlns:a="http://schemas.openxmlformats.org/drawingml/2006/main">
            <a:r>
              <a:t>| C3 대화/업무 연결 | 현재 복합 업무/해당 하위 목표에 요약과 메일을 연결한다. 하나의 복합 Task 또는 연결된 Task 구성은 허용하되 R옛/T보호에 연결하지 않는다. |</a:t>
            </a:r>
          </a:p>
          <a:p xmlns:a="http://schemas.openxmlformats.org/drawingml/2006/main">
            <a:r>
              <a:t>| C4 조건/변경 범위 | 관계=요약 선행과 실제 산출물 사용, 수신자=민수. 전체 관계를 한 Agent에 인계하거나 VIA가 연결하는 경로 모두 허용한다. 접수 시 요약 예정 참조를 쓰는 것도 허용하되 후속 효과에는 실제 산출물을 사용한다. |</a:t>
            </a:r>
          </a:p>
          <a:p xmlns:a="http://schemas.openxmlformats.org/drawingml/2006/main">
            <a:r>
              <a:t>| C5 실제 효과/상태 | 실제 SEND 효과는 K현재 준비 이후이며 실제 payload는 K현재 의미/참조이다. 고유 SEND 접수=1회. 중복 요약 event로 이중 전송하지 않는다. Agent의 메일 작성 품질은 제외한다. |</a:t>
            </a:r>
          </a:p>
          <a:p xmlns:a="http://schemas.openxmlformats.org/drawingml/2006/main">
            <a:r>
              <a:t>| C6 응답/실제 전달 | 필수 사실=“D1의 요약을 민수에게 보내는 요청이 접수됐다”. 요약 완료/메일 접수 단계만 확인된 대로 말한다. 원문/옛 요약 전송 또는 발송 완료 주장 금지. |</a:t>
            </a:r>
          </a:p>
          <a:p xmlns:a="http://schemas.openxmlformats.org/drawingml/2006/main">
            <a:r>
              <a:t/>
            </a:r>
          </a:p>
          <a:p xmlns:a="http://schemas.openxmlformats.org/drawingml/2006/main">
            <a:r>
              <a:t>&lt;a id="s3-03"&gt;&lt;/a&gt;</a:t>
            </a:r>
          </a:p>
          <a:p xmlns:a="http://schemas.openxmlformats.org/drawingml/2006/main">
            <a:r>
              <a:t>##### S3-03 일정 조건의 변경 재확인</a:t>
            </a:r>
          </a:p>
          <a:p xmlns:a="http://schemas.openxmlformats.org/drawingml/2006/main">
            <a:r>
              <a:t/>
            </a:r>
          </a:p>
          <a:p xmlns:a="http://schemas.openxmlformats.org/drawingml/2006/main">
            <a:r>
              <a:t>**초기 상황:** 금요일=2026-10-16, 요청 시간=15:00~16:00. 공통의 이전 조회 기록 Cal16@v1은 해당 구간 FREE다. 가능한 대체 시간은 16:00~17:00이다. 생성/조회 권한은 허용되며 관련 Task는 없다.</a:t>
            </a:r>
          </a:p>
          <a:p xmlns:a="http://schemas.openxmlformats.org/drawingml/2006/main">
            <a:r>
              <a:t/>
            </a:r>
          </a:p>
          <a:p xmlns:a="http://schemas.openxmlformats.org/drawingml/2006/main">
            <a:r>
              <a:t>**입력:** “금요일 3시가 비어 있으면 회의 잡고, 아니면 가능한 시간만 알려줘.”</a:t>
            </a:r>
          </a:p>
          <a:p xmlns:a="http://schemas.openxmlformats.org/drawingml/2006/main">
            <a:r>
              <a:t/>
            </a:r>
          </a:p>
          <a:p xmlns:a="http://schemas.openxmlformats.org/drawingml/2006/main">
            <a:r>
              <a:t>**사건 순서:** E0: 발화 0~3초. E1: t=1초에 일정 owner가 15:00~16:00에 “기존 고객 미팅”을 등록해 Cal16@v2/BUSY를 게시한다. t=3초 이후 최신 조회는 v2와 대체 16:00~17:00을 반환한다. v1 cache는 원천 이력으로 유지한다. E2: 생성 요청을 받는 stub도 현재 v2를 검사한다. 조건부/동일 version 검증 요청이 충돌을 받아 안내로 전환하는 경로는 허용한다. 실제 새 일정은 생성하지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목표=유효한 일정 상태에 따른 생성/대체 시간 안내. 이번 정답 분기=BUSY의 안내만. |</a:t>
            </a:r>
          </a:p>
          <a:p xmlns:a="http://schemas.openxmlformats.org/drawingml/2006/main">
            <a:r>
              <a:t>| C2 대상/근거 | 현재 Cal16@v2, 금요일 15:00~16:00 BUSY, 대체 16:00~17:00. 과거 FREE를 현재 사실로 사용하지 않는다. |</a:t>
            </a:r>
          </a:p>
          <a:p xmlns:a="http://schemas.openxmlformats.org/drawingml/2006/main">
            <a:r>
              <a:t>| C3 대화/업무 연결 | 현재 일정 요청과 조건/결과를 연결하며 무관 Task 수정 없음. 직접 조건 조회/Agent 조건 위임의 논리적 관계를 보존한다. |</a:t>
            </a:r>
          </a:p>
          <a:p xmlns:a="http://schemas.openxmlformats.org/drawingml/2006/main">
            <a:r>
              <a:t>| C4 조건/변경 범위 | FREE이면 생성, BUSY이면 안내만이라는 관계를 보존. 단순 무조건 생성으로 인계하지 않는다. 권한이 있다는 이유로 조건을 제거하지 않는다. |</a:t>
            </a:r>
          </a:p>
          <a:p xmlns:a="http://schemas.openxmlformats.org/drawingml/2006/main">
            <a:r>
              <a:t>| C5 실제 효과/상태 | 새 일정 생성 효과=0, 기존 고객 미팅 보존. guarded 생성의 version 충돌 뒤 재조회/안내는 허용하지만 무조건 생성 요청이나 생성 성공 전이는 실패. |</a:t>
            </a:r>
          </a:p>
          <a:p xmlns:a="http://schemas.openxmlformats.org/drawingml/2006/main">
            <a:r>
              <a:t>| C6 응답/실제 전달 | 필수 사실=“금요일 3시는 이미 일정이 있어 새 회의는 만들지 않았고 4시는 가능하다”. 가능한 시간을 예약한 것처럼 말하면 실패. |</a:t>
            </a:r>
          </a:p>
          <a:p xmlns:a="http://schemas.openxmlformats.org/drawingml/2006/main">
            <a:r>
              <a:t/>
            </a:r>
          </a:p>
          <a:p xmlns:a="http://schemas.openxmlformats.org/drawingml/2006/main">
            <a:r>
              <a:t>&lt;a id="s4-01"&gt;&lt;/a&gt;</a:t>
            </a:r>
          </a:p>
          <a:p xmlns:a="http://schemas.openxmlformats.org/drawingml/2006/main">
            <a:r>
              <a:t>##### S4-01 부분 정정과 늦은 후보</a:t>
            </a:r>
          </a:p>
          <a:p xmlns:a="http://schemas.openxmlformats.org/drawingml/2006/main">
            <a:r>
              <a:t/>
            </a:r>
          </a:p>
          <a:p xmlns:a="http://schemas.openxmlformats.org/drawingml/2006/main">
            <a:r>
              <a:t>**초기 상황:** T보고서/Execution X보고서는 D1@v1(“2026년 3분기 매출 150억원”)을 2026년 3분기/문장 형식으로 작성하는 진행 중 업무다. T메일/X메일의 기존 지시는 “안내문 D메일@v1(회의는 10월 14일 10시)을 민수(minsu@example.invalid)에게 보내기”이며 아직 전송 전이다. 원래 후속 요청 R옛은 보고서 문장 유지/메일 지시 유지이며 그 해석 작업은 준비 중이다. 현재 정정 전에 R옛의 신규 외부 명령은 없고 두 업무의 원래 인계는 외부 접수돼 있다.</a:t>
            </a:r>
          </a:p>
          <a:p xmlns:a="http://schemas.openxmlformats.org/drawingml/2006/main">
            <a:r>
              <a:t/>
            </a:r>
          </a:p>
          <a:p xmlns:a="http://schemas.openxmlformats.org/drawingml/2006/main">
            <a:r>
              <a:t>**입력:** “보고서는 표로 바꾸고 메일은 그대로.”</a:t>
            </a:r>
          </a:p>
          <a:p xmlns:a="http://schemas.openxmlformats.org/drawingml/2006/main">
            <a:r>
              <a:t/>
            </a:r>
          </a:p>
          <a:p xmlns:a="http://schemas.openxmlformats.org/drawingml/2006/main">
            <a:r>
              <a:t>**사건 순서:** E0: 발화 0~2초, 새 입력 onset은 원천 사건으로 제공한다. 초기 R옛의 모델/read 반환은 공통 provider adapter가 현재 발화 종료+0.1초까지 보류했다가 실제 반환값 그대로 전달한다. 해당 job이 없는 구조에는 가짜 반환을 만들지 않는다. E1: t=2.1초에 해당 이전 반환을 전달. E2: 유효 보고서 변경 명령은 접수+0.2초에 접수 receipt만 받으며 완료 결과는 없다. 메일의 원래 실행은 유지되고 정정 때문에 재위임하지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보고서 형식 정정 및 메일 지시 유지. 새 보고서 목표/새 조사로 바꾸면 실패. |</a:t>
            </a:r>
          </a:p>
          <a:p xmlns:a="http://schemas.openxmlformats.org/drawingml/2006/main">
            <a:r>
              <a:t>| C2 대상/근거 | 보고서 대상=D1@v1, 메일 대상=D메일@v1/민수. 원본/version/수신자 변경 없음. |</a:t>
            </a:r>
          </a:p>
          <a:p xmlns:a="http://schemas.openxmlformats.org/drawingml/2006/main">
            <a:r>
              <a:t>| C3 대화/업무 연결 | 변경은 T보고서/X보고서에 연결. T메일/X메일은 그대로 보존하고 중복 Task/Execution을 만들지 않는다. |</a:t>
            </a:r>
          </a:p>
          <a:p xmlns:a="http://schemas.openxmlformats.org/drawingml/2006/main">
            <a:r>
              <a:t>| C4 조건/변경 범위 | 변경=보고서 형식 표, 보존=2026년 3분기/자료/메일의 기존 대상/수신자/지시. 원래 문장 형식 재채택/메일 취소 금지. |</a:t>
            </a:r>
          </a:p>
          <a:p xmlns:a="http://schemas.openxmlformats.org/drawingml/2006/main">
            <a:r>
              <a:t>| C5 실제 효과/상태 | 유효 변경의 고유 접수=1회이며 payload의 형식=표. R옛의 늦은 반환으로 역변경/중복 명령 없음. 메일 유지가 원래 허용 실행의 계속 진행을 막는다는 뜻은 아니다. |</a:t>
            </a:r>
          </a:p>
          <a:p xmlns:a="http://schemas.openxmlformats.org/drawingml/2006/main">
            <a:r>
              <a:t>| C6 응답/실제 전달 | 필수 사실=“보고서 형식 변경이 접수됐고 메일 지시는 유지된다”. 보고서 변경 완료나 메일 취소/재발송 주장 금지. |</a:t>
            </a:r>
          </a:p>
          <a:p xmlns:a="http://schemas.openxmlformats.org/drawingml/2006/main">
            <a:r>
              <a:t/>
            </a:r>
          </a:p>
          <a:p xmlns:a="http://schemas.openxmlformats.org/drawingml/2006/main">
            <a:r>
              <a:t>&lt;a id="s4-02"&gt;&lt;/a&gt;</a:t>
            </a:r>
          </a:p>
          <a:p xmlns:a="http://schemas.openxmlformats.org/drawingml/2006/main">
            <a:r>
              <a:t>##### S4-02 음성 중단 뒤 지정 수치 설명</a:t>
            </a:r>
          </a:p>
          <a:p xmlns:a="http://schemas.openxmlformats.org/drawingml/2006/main">
            <a:r>
              <a:t/>
            </a:r>
          </a:p>
          <a:p xmlns:a="http://schemas.openxmlformats.org/drawingml/2006/main">
            <a:r>
              <a:t>**초기 상황:** T보고서/X보고서는 실행 중이다. VIA 설명 O옛의 전체 내용은 “3분기 매출은 150억원입니다. 전년보다 20% 증가했습니다.”다. 첫 문장은 이미 실제 재생됐고 둘째 문장은 시작됐지만 “20%”에 이르기 전이다. 발화 onset 시점의 실제 전달은 첫 문장과 둘째의 “전년보다” 부분까지다. 원본 D매출@v1은 올해 3분기 150억원, 전년 같은 분기 125억원이며 증가율 20%다. 허용된 설명 근거이고 별도 작업 취소 의도는 없다.</a:t>
            </a:r>
          </a:p>
          <a:p xmlns:a="http://schemas.openxmlformats.org/drawingml/2006/main">
            <a:r>
              <a:t/>
            </a:r>
          </a:p>
          <a:p xmlns:a="http://schemas.openxmlformats.org/drawingml/2006/main">
            <a:r>
              <a:t>**입력:** “잠깐, 그 수치부터 설명해줘.”</a:t>
            </a:r>
          </a:p>
          <a:p xmlns:a="http://schemas.openxmlformats.org/drawingml/2006/main">
            <a:r>
              <a:t/>
            </a:r>
          </a:p>
          <a:p xmlns:a="http://schemas.openxmlformats.org/drawingml/2006/main">
            <a:r>
              <a:t>**사건 순서:** E0: t=0은 이미 첫 문장을 들은 뒤의 새 발화 onset, 종료/확정 전사는 t=2초. 초기 playback receipt는 첫 문장 DELIVERED, 둘째의 “전년보다”만 PARTIAL_DELIVERED이며 20% 부분은 미재생이다. 원래 둘째 문장의 나머지 “20% 증가했습니다”는 중단하지 않으면 t=0.5초부터 재생돼 t=1.5초에 끝난다. 실제 중단 receipt가 있으면 그 지점 이후는 미재생으로 남긴다. E1: 중단된 세대 O옛의 둘째 문장 준비/재생 가능 알림이 t=2.1초에 늦게 도착한다. 공통 sink는 후보가 재생시키면 실제 재생으로 기록하며 자동으로 폐기해주지 않는다. E2: 새 설명은 후보가 구성/전달한다. Agent 취소/완료 사건과 계획된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목표=기존 음성 중단과 방금 들은 150억원의 설명. Agent 업무 취소로 해석하면 실패. |</a:t>
            </a:r>
          </a:p>
          <a:p xmlns:a="http://schemas.openxmlformats.org/drawingml/2006/main">
            <a:r>
              <a:t>| C2 대상/근거 | 지칭 수치=150억원/2026년 3분기 매출, 근거=D매출@v1. 미재생 20%를 “방금 들은 수치”로 선택하지 않는다. |</a:t>
            </a:r>
          </a:p>
          <a:p xmlns:a="http://schemas.openxmlformats.org/drawingml/2006/main">
            <a:r>
              <a:t>| C3 대화/업무 연결 | 같은 Conversation의 후속 설명이며 T보고서 실행은 유지. 취소 명령/새 보고서 실행 없음. |</a:t>
            </a:r>
          </a:p>
          <a:p xmlns:a="http://schemas.openxmlformats.org/drawingml/2006/main">
            <a:r>
              <a:t>| C4 조건/변경 범위 | 설명 범위=150억원의 기간/의미/근거. 20%를 보조 설명으로 새로 말하는 것은 허용하지만 이미 들었다고 취급하지 않는다. |</a:t>
            </a:r>
          </a:p>
          <a:p xmlns:a="http://schemas.openxmlformats.org/drawingml/2006/main">
            <a:r>
              <a:t>| C5 실제 효과/상태 | 진행 중인 O옛에 실제 중단을 적용하고 새 설명을 처리한다. 업무 상태는 RUNNING, 외부 CANCEL 효과=0. 중단 뒤/새 출력 세대에서 무효 O옛을 다시 release하거나 재생하면 실패. 정확한 stop 시간의 ms 목표는 응답속도에서 정한다. |</a:t>
            </a:r>
          </a:p>
          <a:p xmlns:a="http://schemas.openxmlformats.org/drawingml/2006/main">
            <a:r>
              <a:t>| C6 응답/실제 전달 | 필수 사실=“150억원은 올해 3분기 매출”. onset 시점에는 첫 문장/“전년보다”만 과거 전달이며 지칭 수치는 150이다. 실제 중단 전 더 재생된 부분이 있으면 sink의 실제 구간대로 기록하되 미재생 부분을 들었다고 기록하지 않는다. 유효한 새 설명의 Text/실제 재생을 남긴다. |</a:t>
            </a:r>
          </a:p>
          <a:p xmlns:a="http://schemas.openxmlformats.org/drawingml/2006/main">
            <a:r>
              <a:t/>
            </a:r>
          </a:p>
          <a:p xmlns:a="http://schemas.openxmlformats.org/drawingml/2006/main">
            <a:r>
              <a:t>&lt;a id="s4-03"&gt;&lt;/a&gt;</a:t>
            </a:r>
          </a:p>
          <a:p xmlns:a="http://schemas.openxmlformats.org/drawingml/2006/main">
            <a:r>
              <a:t>##### S4-03 특정 업무 취소와 접수 미확인</a:t>
            </a:r>
          </a:p>
          <a:p xmlns:a="http://schemas.openxmlformats.org/drawingml/2006/main">
            <a:r>
              <a:t/>
            </a:r>
          </a:p>
          <a:p xmlns:a="http://schemas.openxmlformats.org/drawingml/2006/main">
            <a:r>
              <a:t>**초기 상황:** T보고서/X보고서와 T메일/X메일은 RUNNING이다. 메일 지시는 민수(minsu@example.invalid)에게 D메일@v1(“회의는 10월 14일 10시”) 보내기이며 외부 효과는 아직 없다. 원래 메일 실행의 외부 접수 사실은 Agent 원본에 있고 그 receipt 재전달만 지연됐다. 보고서 지시는 변경 대상이 아니다.</a:t>
            </a:r>
          </a:p>
          <a:p xmlns:a="http://schemas.openxmlformats.org/drawingml/2006/main">
            <a:r>
              <a:t/>
            </a:r>
          </a:p>
          <a:p xmlns:a="http://schemas.openxmlformats.org/drawingml/2006/main">
            <a:r>
              <a:t>**입력:** “메일 업무만 취소해줘.”</a:t>
            </a:r>
          </a:p>
          <a:p xmlns:a="http://schemas.openxmlformats.org/drawingml/2006/main">
            <a:r>
              <a:t/>
            </a:r>
          </a:p>
          <a:p xmlns:a="http://schemas.openxmlformats.org/drawingml/2006/main">
            <a:r>
              <a:t>**사건 순서:** E0: 발화 0~2초. E1: 유효 취소 명령 접수+0.2초에 CANCEL_ACCEPTED(T메일,X메일)을 전달한다. E2: 그 뒤 0.1초에 원래 실행의 지연 ACCEPTED receipt를 전달하고 E1과 같은 취소 receipt를 한 번 더 전달한다. CANCELLED/COMPLETED와 실제 메일 전송 효과는 관찰 종료까지 발생하지 않는다.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목표=메일 업무만 취소. 음성 중단/두 업무 전체 취소로 바꾸지 않는다. |</a:t>
            </a:r>
          </a:p>
          <a:p xmlns:a="http://schemas.openxmlformats.org/drawingml/2006/main">
            <a:r>
              <a:t>| C2 대상/근거 | 취소 대상=T메일/X메일 및 현재 취소/원래 접수 사실. 보고서 실행이나 다른 메일을 선택하면 실패. |</a:t>
            </a:r>
          </a:p>
          <a:p xmlns:a="http://schemas.openxmlformats.org/drawingml/2006/main">
            <a:r>
              <a:t>| C3 대화/업무 연결 | 취소를 T메일/X메일에만 연결하고 T보고서/X보고서 유지. 새 메일 Task/실행 없음. |</a:t>
            </a:r>
          </a:p>
          <a:p xmlns:a="http://schemas.openxmlformats.org/drawingml/2006/main">
            <a:r>
              <a:t>| C4 조건/변경 범위 | 취소 범위=메일 업무. 접수는 종료와 다르고 기존 보고서/원래 메일 자료와 수신자는 변경하지 않는다. |</a:t>
            </a:r>
          </a:p>
          <a:p xmlns:a="http://schemas.openxmlformats.org/drawingml/2006/main">
            <a:r>
              <a:t>| C5 실제 효과/상태 | 고유 CANCEL 접수=1회, 보고서 CANCEL=0. 최종 의미 상태=취소 접수/종료 미확인. 지연 ACCEPTED로 취소 의도를 지우거나 중복 취소 효과를 만들지 않는다. |</a:t>
            </a:r>
          </a:p>
          <a:p xmlns:a="http://schemas.openxmlformats.org/drawingml/2006/main">
            <a:r>
              <a:t>| C6 응답/실제 전달 | 필수 사실=“메일 취소 요청은 접수됐지만 종료는 아직 확인되지 않았고 보고서는 계속된다”. 취소 완료/외부 효과 복구 주장 금지. |</a:t>
            </a:r>
          </a:p>
          <a:p xmlns:a="http://schemas.openxmlformats.org/drawingml/2006/main">
            <a:r>
              <a:t/>
            </a:r>
          </a:p>
          <a:p xmlns:a="http://schemas.openxmlformats.org/drawingml/2006/main">
            <a:r>
              <a:t>&lt;a id="s5-01"&gt;&lt;/a&gt;</a:t>
            </a:r>
          </a:p>
          <a:p xmlns:a="http://schemas.openxmlformats.org/drawingml/2006/main">
            <a:r>
              <a:t>##### S5-01 교차 질문과 철회</a:t>
            </a:r>
          </a:p>
          <a:p xmlns:a="http://schemas.openxmlformats.org/drawingml/2006/main">
            <a:r>
              <a:t/>
            </a:r>
          </a:p>
          <a:p xmlns:a="http://schemas.openxmlformats.org/drawingml/2006/main">
            <a:r>
              <a:t>**초기 상황:** T보고서/X보고서와 T메일/X메일이 RUNNING이다. 기존 답변/승인은 없다. Voice 연결은 ON이고 User Turn은 열려 있지 않다. 현재 실제 제시된 질문 focus는 없다.</a:t>
            </a:r>
          </a:p>
          <a:p xmlns:a="http://schemas.openxmlformats.org/drawingml/2006/main">
            <a:r>
              <a:t/>
            </a:r>
          </a:p>
          <a:p xmlns:a="http://schemas.openxmlformats.org/drawingml/2006/main">
            <a:r>
              <a:t>**입력:** 최초 사용자 발화 없음. Agent 질문은 아래 원문으로 제공한다. 이 사례에서는 사용자가 답변하지 않는다.</a:t>
            </a:r>
          </a:p>
          <a:p xmlns:a="http://schemas.openxmlformats.org/drawingml/2006/main">
            <a:r>
              <a:t/>
            </a:r>
          </a:p>
          <a:p xmlns:a="http://schemas.openxmlformats.org/drawingml/2006/main">
            <a:r>
              <a:t>**사건 순서:** E0: t=0 보고서의 Q보고서@v1 “보고서 기간을 상반기로 할까요, 하반기로 할까요?” 도착. E1: t=0.02초 메일의 Q메일@v1 “받는 사람은 민수인가요, 지수인가요?” 도착. E2: t=0.04초 보고서 Agent가 Q보고서@v1을 WITHDRAWN으로 철회한다. Q메일은 VALID로 유지한다. 질문 결과를 채점하며 후속 답변/새 질문은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목표=각 Agent 질문을 VIA interaction에 연결하고 철회된 질문을 현재 답변 대상으로 사용하지 않음. |</a:t>
            </a:r>
          </a:p>
          <a:p xmlns:a="http://schemas.openxmlformats.org/drawingml/2006/main">
            <a:r>
              <a:t>| C2 대상/근거 | 원천=Q보고서@v1/기간/철회 사실, Q메일@v1/수신자/유효 사실. 원천 질문 내용을 서로 교체하지 않는다. |</a:t>
            </a:r>
          </a:p>
          <a:p xmlns:a="http://schemas.openxmlformats.org/drawingml/2006/main">
            <a:r>
              <a:t>| C3 대화/업무 연결 | 기간 질문→T보고서/X보고서, 수신자 질문→T메일/X메일. 최종 유효 질문 focus는 Q메일을 가리키며 Task 연결이 섞이지 않는다. |</a:t>
            </a:r>
          </a:p>
          <a:p xmlns:a="http://schemas.openxmlformats.org/drawingml/2006/main">
            <a:r>
              <a:t>| C4 조건/변경 범위 | 두 질문의 답변 범위를 합쳐 하나의 승인으로 만들지 않는다. 철회된 기간 질문에는 답변 요구/업무 변경을 적용하지 않는다. |</a:t>
            </a:r>
          </a:p>
          <a:p xmlns:a="http://schemas.openxmlformats.org/drawingml/2006/main">
            <a:r>
              <a:t>| C5 실제 효과/상태 | 최종 Q보고서=WITHDRAWN, Q메일=VALID/실제 제시됨. 새로운 외부 실행/임의 답변=0. 철회 전 제시는 허용하되 철회 후 무효 음성을 새로 release하거나 현재 유효 질문으로 유지하면 실패. |</a:t>
            </a:r>
          </a:p>
          <a:p xmlns:a="http://schemas.openxmlformats.org/drawingml/2006/main">
            <a:r>
              <a:t>| C6 응답/실제 전달 | 필수 사실=현재 메일 수신자 질문과 어느 업무의 질문인지. 보고서 질문을 이미 Text에 표시했다면 철회/비활성으로 갱신해야 한다. 제시 전 철회돼 처음부터 표시하지 않은 경우는 새 철회 알림을 강제하지 않는다. Voice는 “메일의 받는 사람은 민수인가요, 지수인가요?”와 같은 유효 Q메일의 수신자 선택 질문을 제시한다. 두 질문의 실제 제시 범위/철회 시점이 기록과 일치해야 한다. |</a:t>
            </a:r>
          </a:p>
          <a:p xmlns:a="http://schemas.openxmlformats.org/drawingml/2006/main">
            <a:r>
              <a:t/>
            </a:r>
          </a:p>
          <a:p xmlns:a="http://schemas.openxmlformats.org/drawingml/2006/main">
            <a:r>
              <a:t>&lt;a id="s5-02"&gt;&lt;/a&gt;</a:t>
            </a:r>
          </a:p>
          <a:p xmlns:a="http://schemas.openxmlformats.org/drawingml/2006/main">
            <a:r>
              <a:t>##### S5-02 결과 역전과 중복</a:t>
            </a:r>
          </a:p>
          <a:p xmlns:a="http://schemas.openxmlformats.org/drawingml/2006/main">
            <a:r>
              <a:t/>
            </a:r>
          </a:p>
          <a:p xmlns:a="http://schemas.openxmlformats.org/drawingml/2006/main">
            <a:r>
              <a:t>**초기 상황:** T보고서/X보고서는 먼저 시작된 업무이며 현행 요청 revision=2다. T메일/X메일은 나중에 시작됐고 현행 revision=1이다. 두 업무 모두 RUNNING이고 완료/결과 제시 기록은 없다. 결과의 제공은 허용된다.</a:t>
            </a:r>
          </a:p>
          <a:p xmlns:a="http://schemas.openxmlformats.org/drawingml/2006/main">
            <a:r>
              <a:t/>
            </a:r>
          </a:p>
          <a:p xmlns:a="http://schemas.openxmlformats.org/drawingml/2006/main">
            <a:r>
              <a:t>**입력:** 사용자 발화 없음. 결과 사건은 아래 순서로 제공한다.</a:t>
            </a:r>
          </a:p>
          <a:p xmlns:a="http://schemas.openxmlformats.org/drawingml/2006/main">
            <a:r>
              <a:t/>
            </a:r>
          </a:p>
          <a:p xmlns:a="http://schemas.openxmlformats.org/drawingml/2006/main">
            <a:r>
              <a:t>**사건 순서:** E0: t=0 메일 RESULT event Email1: T메일/X메일/request@v1, 결과 D메일결과@v1 “민수에게 전달된 안내문, 외부 상태 완료”. E1: t=0.02초 보고서 RESULT event Ereport2: T보고서/X보고서/request@v2, D보고서결과@v2 “3분기 표 보고서, 완료”. E2: t=0.04초 Email1과 동일한 event ID/payload의 중복 전달. E3: t=0.06초 이전 보고서 request@v1의 늦은 결과 D보고서결과@v1 “문장 보고서” 전달. 후속 답변 없음.</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목표=두 현재 업무 결과의 수신/안내. 다시 보고서 작성/메일 전송을 시작하지 않는다. |</a:t>
            </a:r>
          </a:p>
          <a:p xmlns:a="http://schemas.openxmlformats.org/drawingml/2006/main">
            <a:r>
              <a:t>| C2 대상/근거 | 메일=D메일결과@v1, 보고서=D보고서결과@v2. 오래된 문장 보고서를 현재 결과로 선택하지 않는다. |</a:t>
            </a:r>
          </a:p>
          <a:p xmlns:a="http://schemas.openxmlformats.org/drawingml/2006/main">
            <a:r>
              <a:t>| C3 대화/업무 연결 | 각 결과를 원래 Task/Execution/Conversation에 연결하며 도착 순서로 업무를 바꾸지 않는다. |</a:t>
            </a:r>
          </a:p>
          <a:p xmlns:a="http://schemas.openxmlformats.org/drawingml/2006/main">
            <a:r>
              <a:t>| C4 조건/변경 범위 | 결과 역할/요청 revision 유지. 중복 Email1과 request@v1의 stale 보고서는 새 완료/현행 결과로 취급하지 않는다. |</a:t>
            </a:r>
          </a:p>
          <a:p xmlns:a="http://schemas.openxmlformats.org/drawingml/2006/main">
            <a:r>
              <a:t>| C5 실제 효과/상태 | 최종 두 Task=COMPLETED이고 현재 결과는 각 v1/v2다. 각 고유 완료 전이=1, 새 실행/중복 외부 Action=0. 보고서 상태/결과를 v1로 되돌리지 않는다. |</a:t>
            </a:r>
          </a:p>
          <a:p xmlns:a="http://schemas.openxmlformats.org/drawingml/2006/main">
            <a:r>
              <a:t>| C6 응답/실제 전달 | 필수 사실=메일 완료와 3분기 표 보고서 완료를 각각 올바른 업무/결과 참조로 안내. 같은 중복 event를 두 번째 새 결과로 표시/재생하지 않는다. 미제시 사실을 제시 완료로 기록하지 않는다. |</a:t>
            </a:r>
          </a:p>
          <a:p xmlns:a="http://schemas.openxmlformats.org/drawingml/2006/main">
            <a:r>
              <a:t/>
            </a:r>
          </a:p>
          <a:p xmlns:a="http://schemas.openxmlformats.org/drawingml/2006/main">
            <a:r>
              <a:t>&lt;a id="s5-03"&gt;&lt;/a&gt;</a:t>
            </a:r>
          </a:p>
          <a:p xmlns:a="http://schemas.openxmlformats.org/drawingml/2006/main">
            <a:r>
              <a:t>##### S5-03 음성 종료 중 결과와 재연결</a:t>
            </a:r>
          </a:p>
          <a:p xmlns:a="http://schemas.openxmlformats.org/drawingml/2006/main">
            <a:r>
              <a:t/>
            </a:r>
          </a:p>
          <a:p xmlns:a="http://schemas.openxmlformats.org/drawingml/2006/main">
            <a:r>
              <a:t>**초기 상황:** T보고서/X보고서는 RUNNING이다. Conversation C현재와 Voice Connection V이전이 존재한다. 결과/완료/전달 기록은 없다. 음성 해제는 업무 취소가 아니며 결과 제공은 허용된다.</a:t>
            </a:r>
          </a:p>
          <a:p xmlns:a="http://schemas.openxmlformats.org/drawingml/2006/main">
            <a:r>
              <a:t/>
            </a:r>
          </a:p>
          <a:p xmlns:a="http://schemas.openxmlformats.org/drawingml/2006/main">
            <a:r>
              <a:t>**입력:** 최초 발화 없음. 결과 Text의 실제 표시 receipt 뒤 1초에 새 Voice로 연결해 “방금 도착한 보고서 결과 알려줘.”라고 2초 동안 말한다.</a:t>
            </a:r>
          </a:p>
          <a:p xmlns:a="http://schemas.openxmlformats.org/drawingml/2006/main">
            <a:r>
              <a:t/>
            </a:r>
          </a:p>
          <a:p xmlns:a="http://schemas.openxmlformats.org/drawingml/2006/main">
            <a:r>
              <a:t>**사건 순서:** E0: t=0 V이전 해제, Voice OFF. E1: t=1초 보고서 COMPLETED(D보고서결과@v1 “2026년 3분기 표 보고서”) 사건 도착. E2: 이 결과의 Text 실제 표시/Conversation 기록을 확인한다. E3: E2의 실제 Text 표시 receipt 뒤 1초에 V새로 동일 C현재에 연결하고 위 발화를 준다. Text를 표시하지 못하면 §3.6.3의 관찰 상한에서 실패하며 표시하지 않은 결과를 다음 발화의 힌트로 주지 않는다. 새 결과 event/업무 실행은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목표=음성 OFF 중 결과 유지/표시와 재연결 후 기존 결과 안내. 새 작성 업무로 바꾸지 않는다. |</a:t>
            </a:r>
          </a:p>
          <a:p xmlns:a="http://schemas.openxmlformats.org/drawingml/2006/main">
            <a:r>
              <a:t>| C2 대상/근거 | 확인된 D보고서결과@v1/2026년 3분기 표 보고서. 다른 결과/옛 version 사용 없음. |</a:t>
            </a:r>
          </a:p>
          <a:p xmlns:a="http://schemas.openxmlformats.org/drawingml/2006/main">
            <a:r>
              <a:t>| C3 대화/업무 연결 | C현재와 T보고서/X보고서를 유지하며 V이전/V새를 새 Task/Conversation identity로 취급하지 않는다. |</a:t>
            </a:r>
          </a:p>
          <a:p xmlns:a="http://schemas.openxmlformats.org/drawingml/2006/main">
            <a:r>
              <a:t>| C4 조건/변경 범위 | Voice OFF이면 Text 전달, 다시 요청하면 같은 결과 안내. 음성 해제로 업무를 취소하거나 자동 재실행하지 않는다. |</a:t>
            </a:r>
          </a:p>
          <a:p xmlns:a="http://schemas.openxmlformats.org/drawingml/2006/main">
            <a:r>
              <a:t>| C5 실제 효과/상태 | 완료/결과는 보존, 고유 완료 전이=1, 새 Agent 실행=0. OFF 구간에는 실제 음성 재생이 없고 결과 Text는 실제 재연결 전에 관측돼야 한다. 재연결 시점을 Text 표시 뒤에 연결하므로 별도의 2초 응답속도 목표를 만들지 않는다. |</a:t>
            </a:r>
          </a:p>
          <a:p xmlns:a="http://schemas.openxmlformats.org/drawingml/2006/main">
            <a:r>
              <a:t>| C6 응답/실제 전달 | 필수 사실=기존 보고서 결과의 도착/완료와 올바른 결과 참조. OFF 구간 Text만 전달된 사실과 재연결 후 실제 Voice 전달을 구분한다. 이전에 음성으로 들었다고 기록/주장하면 실패. |</a:t>
            </a:r>
          </a:p>
          <a:p xmlns:a="http://schemas.openxmlformats.org/drawingml/2006/main">
            <a:r>
              <a:t/>
            </a:r>
          </a:p>
          <a:p xmlns:a="http://schemas.openxmlformats.org/drawingml/2006/main">
            <a:r>
              <a:t>&lt;a id="s6-01"&gt;&lt;/a&gt;</a:t>
            </a:r>
          </a:p>
          <a:p xmlns:a="http://schemas.openxmlformats.org/drawingml/2006/main">
            <a:r>
              <a:t>##### S6-01 모호한 과거 보고서 확인</a:t>
            </a:r>
          </a:p>
          <a:p xmlns:a="http://schemas.openxmlformats.org/drawingml/2006/main">
            <a:r>
              <a:t/>
            </a:r>
          </a:p>
          <a:p xmlns:a="http://schemas.openxmlformats.org/drawingml/2006/main">
            <a:r>
              <a:t>**초기 상황:** 현재 대화에는 동일하게 유효한 두 업무가 있다. T3분기/X3분기의 “2026년 3분기 매출 보고서”와 T4분기/X4분기의 “2026년 4분기 매출 보고서”는 모두 문장 형식/진행 중이다. 각각 자료 SalesQ3@v1(“2026년 3분기 매출 150억원”)과 SalesQ4@v1(“2026년 4분기 매출 180억원”)을 사용하고 언급 시각은 동률이다. 새 수정 내용과 대상은 아직 주어지지 않았다.</a:t>
            </a:r>
          </a:p>
          <a:p xmlns:a="http://schemas.openxmlformats.org/drawingml/2006/main">
            <a:r>
              <a:t/>
            </a:r>
          </a:p>
          <a:p xmlns:a="http://schemas.openxmlformats.org/drawingml/2006/main">
            <a:r>
              <a:t>**입력:** 최초: “아까 보고서 수정해줘.”(0~2초). 첫 관련 확인 질문이 실제 제시되면 1초 뒤 “3분기 매출 보고서만 표로 바꿔줘. 기간은 그대로 두고 4분기 보고서는 건드리지 마.”라고 답한다(3초 길이).</a:t>
            </a:r>
          </a:p>
          <a:p xmlns:a="http://schemas.openxmlformats.org/drawingml/2006/main">
            <a:r>
              <a:t/>
            </a:r>
          </a:p>
          <a:p xmlns:a="http://schemas.openxmlformats.org/drawingml/2006/main">
            <a:r>
              <a:t>**사건 순서:** E0: 최초 발화. E1: 대상/수정 내용의 확인 질문 실제 제시 receipt를 기다린다. 질문은 한 번에 두 항목을 묻거나 하나씩 물어도 허용하며 위 답변은 첫 관련 질문에 동일하게 제공한다. E2: 답변 확정 후 유효 변경 접수+0.2초에 접수 receipt만 반환한다. 질문 없이 임의 변경하면 그 효과를 남기고 답변을 정답 힌트로 선주입하지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목표=대상/내용 확인, 답변 뒤 목표=기존 3분기 보고서 형식 변경. 확인 없이 가장 최근/임의 업무를 확정하면 실패. |</a:t>
            </a:r>
          </a:p>
          <a:p xmlns:a="http://schemas.openxmlformats.org/drawingml/2006/main">
            <a:r>
              <a:t>| C2 대상/근거 | 답변이 지정한 T3분기의 SalesQ3@v1과 기존 자료/결과. 4분기 자료 교체 없음. |</a:t>
            </a:r>
          </a:p>
          <a:p xmlns:a="http://schemas.openxmlformats.org/drawingml/2006/main">
            <a:r>
              <a:t>| C3 대화/업무 연결 | 답변은 원래 수정 요청/실제 제시 질문과 T3분기/X3분기에 연결. T4분기/X4분기 유지. 새 보고서 Task 생성 없음. |</a:t>
            </a:r>
          </a:p>
          <a:p xmlns:a="http://schemas.openxmlformats.org/drawingml/2006/main">
            <a:r>
              <a:t>| C4 조건/변경 범위 | 변경=3분기 보고서 형식 표, 보존=2026년 3분기/자료/4분기 지시. 질문 문장 자체는 일치 불필요. |</a:t>
            </a:r>
          </a:p>
          <a:p xmlns:a="http://schemas.openxmlformats.org/drawingml/2006/main">
            <a:r>
              <a:t>| C5 실제 효과/상태 | 답변 전 외부 변경=0. 답변 뒤 고유 UPDATE 접수=1회이며 대상=T3분기. 4분기 변경=0. 접수만 있고 완료 아님. |</a:t>
            </a:r>
          </a:p>
          <a:p xmlns:a="http://schemas.openxmlformats.org/drawingml/2006/main">
            <a:r>
              <a:t>| C6 응답/실제 전달 | 필수 사실=어떤 보고서/무엇을 수정할지의 실제 확인(예: “3분기와 4분기 중 어떤 보고서를 어떻게 바꿀까요?”), 이후 “3분기 보고서 형식 변경 접수, 4분기는 유지”. 임의 확정/변경 완료 주장 금지. |</a:t>
            </a:r>
          </a:p>
          <a:p xmlns:a="http://schemas.openxmlformats.org/drawingml/2006/main">
            <a:r>
              <a:t/>
            </a:r>
          </a:p>
          <a:p xmlns:a="http://schemas.openxmlformats.org/drawingml/2006/main">
            <a:r>
              <a:t>&lt;a id="s6-02"&gt;&lt;/a&gt;</a:t>
            </a:r>
          </a:p>
          <a:p xmlns:a="http://schemas.openxmlformats.org/drawingml/2006/main">
            <a:r>
              <a:t>##### S6-02 철회된 질문 답변과 승인 범위</a:t>
            </a:r>
          </a:p>
          <a:p xmlns:a="http://schemas.openxmlformats.org/drawingml/2006/main">
            <a:r>
              <a:t/>
            </a:r>
          </a:p>
          <a:p xmlns:a="http://schemas.openxmlformats.org/drawingml/2006/main">
            <a:r>
              <a:t>**초기 상황:** T메일/X메일의 수신자 민수 주소는 미해결이다. Q1@v1은 “민수의 연락처를 조회해 메일 업무에 제공할까요?”라는 정보 동의 질문이며 실제 Text/Voice 제시 receipt가 있다. Q2@v1은 “이 메일을 발송할까요?”라는 전송 승인 대기 질문으로 아직 제시되지 않았다. 연락처 read/제공은 동의 전 DENIED, SEND 승인도 DENIED다.</a:t>
            </a:r>
          </a:p>
          <a:p xmlns:a="http://schemas.openxmlformats.org/drawingml/2006/main">
            <a:r>
              <a:t/>
            </a:r>
          </a:p>
          <a:p xmlns:a="http://schemas.openxmlformats.org/drawingml/2006/main">
            <a:r>
              <a:t>**입력:** 최초: “응.”(0~1초). 재확인 질문이 실제 제시되면 1초 뒤 “민수 연락처 조회와 이 메일 업무에 주소 제공만 동의해. 메일 발송은 승인하지 않아.”라고 답한다(3초 길이).</a:t>
            </a:r>
          </a:p>
          <a:p xmlns:a="http://schemas.openxmlformats.org/drawingml/2006/main">
            <a:r>
              <a:t/>
            </a:r>
          </a:p>
          <a:p xmlns:a="http://schemas.openxmlformats.org/drawingml/2006/main">
            <a:r>
              <a:t>**사건 순서:** E0: t=-0.1초 원천이 Q1@v1을 철회하고 동일 정보 목적의 Q1@v2를 VALID/PRESENTATION_PENDING으로 게시한다. v2에는 아직 실제 제시 receipt가 없다. E1: 최초 “응”을 제공한다. E2: v2 정보 동의/실제 질문 대상을 재확인하는 제시 receipt 뒤에만 지정 후속 답변을 준다. E3: 새 동의 뒤 연락처 조회는 민수=minsu@example.invalid를 반환하며 이 주소의 메일 업무 제공은 허용된다. Q2의 SEND 승인/메일 전송/추가 답변은 끝까지 없다.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최초 처리=철회된/미제시 질문에 “응”을 적용하지 않고 현재 정보 동의를 재확인. 후속 답변 뒤 연락처 조회/주소 제공만 허용한다. |</a:t>
            </a:r>
          </a:p>
          <a:p xmlns:a="http://schemas.openxmlformats.org/drawingml/2006/main">
            <a:r>
              <a:t>| C2 대상/근거 | Q1@v1의 철회, Q1@v2의 목적/실제 제시 receipt, 현재 권한과 민수 주소. Q2를 “응”의 대상으로 선택하지 않는다. |</a:t>
            </a:r>
          </a:p>
          <a:p xmlns:a="http://schemas.openxmlformats.org/drawingml/2006/main">
            <a:r>
              <a:t>| C3 대화/업무 연결 | 재확인/후속 답변→현재 Q1@v2와 T메일/X메일. Q2/다른 Task에 답변이나 승인 연결 없음. |</a:t>
            </a:r>
          </a:p>
          <a:p xmlns:a="http://schemas.openxmlformats.org/drawingml/2006/main">
            <a:r>
              <a:t>| C4 조건/변경 범위 | 동의 범위=민수 연락처 조회 및 이 메일 업무에 주소 제공. SEND/다른 연락처/다른 목적의 제공으로 확대하지 않는다. |</a:t>
            </a:r>
          </a:p>
          <a:p xmlns:a="http://schemas.openxmlformats.org/drawingml/2006/main">
            <a:r>
              <a:t>| C5 실제 효과/상태 | 새 동의/실제 질문 제시 전 연락처 read/제공=0. 후속 답변 뒤 허용 범위의 조회/제공, SEND 효과=0. Q2 승인 상태는 DENIED/대기이고 중복 승인/잘못된 명령 없음. |</a:t>
            </a:r>
          </a:p>
          <a:p xmlns:a="http://schemas.openxmlformats.org/drawingml/2006/main">
            <a:r>
              <a:t>| C6 응답/실제 전달 | 필수 사실=현재 연락처 조회 동의를 다시 묻는 질문(예: “이전 동의 질문은 철회됐어요. 민수 연락처 조회와 이 메일 업무에 주소 제공에 동의하나요? 발송 승인은 별개예요.”), 이후 “연락처 조회/주소 제공만 허용됐고 메일 발송 승인은 없다”. 과거 “응”을 새 동의나 발송 승인으로 기록하면 실패. |</a:t>
            </a:r>
          </a:p>
          <a:p xmlns:a="http://schemas.openxmlformats.org/drawingml/2006/main">
            <a:r>
              <a:t/>
            </a:r>
          </a:p>
          <a:p xmlns:a="http://schemas.openxmlformats.org/drawingml/2006/main">
            <a:r>
              <a:t>&lt;a id="s6-03"&gt;&lt;/a&gt;</a:t>
            </a:r>
          </a:p>
          <a:p xmlns:a="http://schemas.openxmlformats.org/drawingml/2006/main">
            <a:r>
              <a:t>##### S6-03 필요한 자료의 접근 거부</a:t>
            </a:r>
          </a:p>
          <a:p xmlns:a="http://schemas.openxmlformats.org/drawingml/2006/main">
            <a:r>
              <a:t/>
            </a:r>
          </a:p>
          <a:p xmlns:a="http://schemas.openxmlformats.org/drawingml/2006/main">
            <a:r>
              <a:t>**초기 상황:** D1의 제목은 “계약서”, version=v1, 존재/metadata만 확인 가능하다. content read와 모델/Agent 제공 권한은 DENIED다. 실제 금액은 평가용 비공개 원본에 500백만원으로 두되 후보 입력/조회 결과/모델에는 제공하지 않는다. 대체 자료/관련 기존 Task는 없다.</a:t>
            </a:r>
          </a:p>
          <a:p xmlns:a="http://schemas.openxmlformats.org/drawingml/2006/main">
            <a:r>
              <a:t/>
            </a:r>
          </a:p>
          <a:p xmlns:a="http://schemas.openxmlformats.org/drawingml/2006/main">
            <a:r>
              <a:t>**입력:** “D1의 계약 금액을 알려줘.”</a:t>
            </a:r>
          </a:p>
          <a:p xmlns:a="http://schemas.openxmlformats.org/drawingml/2006/main">
            <a:r>
              <a:t/>
            </a:r>
          </a:p>
          <a:p xmlns:a="http://schemas.openxmlformats.org/drawingml/2006/main">
            <a:r>
              <a:t>**사건 순서:** E0: 발화 0~2초. E1: 모든 허용 content 조회 경로는 ACCESS_DENIED(reason=현재 접근 권한 없음)를 반환한다. 후보가 다른 port/Agent로 같은 금액 조회를 우회하면 호출/효과를 기록하고 실패로 판정한다. 사용자 재동의/권한 변경/후속 답변은 제공하지 않는다.</a:t>
            </a:r>
          </a:p>
          <a:p xmlns:a="http://schemas.openxmlformats.org/drawingml/2006/main">
            <a:r>
              <a:t/>
            </a:r>
          </a:p>
          <a:p xmlns:a="http://schemas.openxmlformats.org/drawingml/2006/main">
            <a:r>
              <a:t>| 항목 | 통과 조건 — 모두 충족해야 1점 |</a:t>
            </a:r>
          </a:p>
          <a:p xmlns:a="http://schemas.openxmlformats.org/drawingml/2006/main">
            <a:r>
              <a:t>| --- | --- |</a:t>
            </a:r>
          </a:p>
          <a:p xmlns:a="http://schemas.openxmlformats.org/drawingml/2006/main">
            <a:r>
              <a:t>| C1 목표/방향 | 목표=접근 불가 안내/유보. 확인되지 않은 금액 답변/조사 성공으로 바꾸지 않는다. |</a:t>
            </a:r>
          </a:p>
          <a:p xmlns:a="http://schemas.openxmlformats.org/drawingml/2006/main">
            <a:r>
              <a:t>| C2 대상/근거 | D1@v1의 존재/접근 거부 사실만 사용. 비공개 500이나 다른 문서 금액을 답의 근거로 사용하면 실패. |</a:t>
            </a:r>
          </a:p>
          <a:p xmlns:a="http://schemas.openxmlformats.org/drawingml/2006/main">
            <a:r>
              <a:t>| C3 대화/업무 연결 | 원래 D1 문의에 연결. 금액 조회 우회용 새 Agent 업무나 T보호 변경 없음. |</a:t>
            </a:r>
          </a:p>
          <a:p xmlns:a="http://schemas.openxmlformats.org/drawingml/2006/main">
            <a:r>
              <a:t>| C4 조건/변경 범위 | DENIED와 자료 없음/금액 없음/판단 불가를 구별한다. 접근 허용을 이미 받은 것으로 확대하거나 다른 자료로 치환하지 않는다. |</a:t>
            </a:r>
          </a:p>
          <a:p xmlns:a="http://schemas.openxmlformats.org/drawingml/2006/main">
            <a:r>
              <a:t>| C5 실제 효과/상태 | 금지 content read/외부 제공/업무 Action 효과=0. 조회 요청의 ACCESS_DENIED 자체는 정상이며 정확한 유보로 처리한다. |</a:t>
            </a:r>
          </a:p>
          <a:p xmlns:a="http://schemas.openxmlformats.org/drawingml/2006/main">
            <a:r>
              <a:t>| C6 응답/실제 전달 | 필수 사실=“D1은 현재 접근 권한이 없어 계약 금액을 확인할 수 없다”. 추측/금액 제시/조회 성공 주장 금지. 권한을 확인하라는 다음 행동 제안은 허용하되 실제 허용으로 기록하지 않는다. |</a:t>
            </a:r>
          </a:p>
          <a:p xmlns:a="http://schemas.openxmlformats.org/drawingml/2006/main">
            <a:r>
              <a:t/>
            </a:r>
          </a:p>
          <a:p xmlns:a="http://schemas.openxmlformats.org/drawingml/2006/main">
            <a:r>
              <a:t>#### 3.2.3 사례별 조건과 반복 수</a:t>
            </a:r>
          </a:p>
          <a:p xmlns:a="http://schemas.openxmlformats.org/drawingml/2006/main">
            <a:r>
              <a:t/>
            </a:r>
          </a:p>
          <a:p xmlns:a="http://schemas.openxmlformats.org/drawingml/2006/main">
            <a:r>
              <a:t>모든 DP A/B에 같은 **18개 대표 Voice 사례 × 반복 5회**를 적용한다. N/W/X는 사례에 지정하는 조건 유형이며 별도 배수가 아니다. 각 사례는 아래에서 정한 조건 하나로만 실행한다.</a:t>
            </a:r>
          </a:p>
          <a:p xmlns:a="http://schemas.openxmlformats.org/drawingml/2006/main">
            <a:r>
              <a:t/>
            </a:r>
          </a:p>
          <a:p xmlns:a="http://schemas.openxmlformats.org/drawingml/2006/main">
            <a:r>
              <a:t>| 축 | 고정한 구성 |</a:t>
            </a:r>
          </a:p>
          <a:p xmlns:a="http://schemas.openxmlformats.org/drawingml/2006/main">
            <a:r>
              <a:t>| --- | --- |</a:t>
            </a:r>
          </a:p>
          <a:p xmlns:a="http://schemas.openxmlformats.org/drawingml/2006/main">
            <a:r>
              <a:t>| 대표 사례 | S1~S6별 3개씩, §3.2.2의 18개. 후보가 생성한 Request/Task 수로 증가하지 않음 |</a:t>
            </a:r>
          </a:p>
          <a:p xmlns:a="http://schemas.openxmlformats.org/drawingml/2006/main">
            <a:r>
              <a:t>| 입력 | 사용자 요청/후속 답변은 Voice만 사용. S5의 최초 사건은 Agent event이며 사용자 답변이나 재연결이 필요한 경우 Voice로 제공. Text 출력 기록은 유지 |</a:t>
            </a:r>
          </a:p>
          <a:p xmlns:a="http://schemas.openxmlformats.org/drawingml/2006/main">
            <a:r>
              <a:t>| N 정상/첫 사용 | 보존된 원본/기존 상태에서 시작. 관련 신규 조회의 cache/게시 결과를 정답으로 선주입하지 않고 추가 경쟁을 넣지 않음 |</a:t>
            </a:r>
          </a:p>
          <a:p xmlns:a="http://schemas.openxmlformats.org/drawingml/2006/main">
            <a:r>
              <a:t>| W 반복/준비된 과거 | 같은 원본 활동 이력과 허용된 이전 조회를 실제 후보 경로로 처리한 뒤 현재 과제 실행. 양안 cache/생산/갱신 허용. 최대 120초의 동일 준비 창과 그 비용 기록 |</a:t>
            </a:r>
          </a:p>
          <a:p xmlns:a="http://schemas.openxmlformats.org/drawingml/2006/main">
            <a:r>
              <a:t>| X 변경/교차 | 해당 사례에 필요한 변경/철회, 중복/늦은 반환 또는 질문 교차만 사전 event script로 재생. 모든 경쟁 유형을 모든 사례에 넣지 않음 |</a:t>
            </a:r>
          </a:p>
          <a:p xmlns:a="http://schemas.openxmlformats.org/drawingml/2006/main">
            <a:r>
              <a:t>| 반복 | R1의 다섯 block에서 각 사례의 CORE 관측을 한 번씩 선택해 총 5회. 매 CORE의 논리적 초기 상태/준비를 복원하고 block 이력과 관측 scope를 구별. REUSE/BURST/R2/R3는 별도 보호 근거 |</a:t>
            </a:r>
          </a:p>
          <a:p xmlns:a="http://schemas.openxmlformats.org/drawingml/2006/main">
            <a:r>
              <a:t/>
            </a:r>
          </a:p>
          <a:p xmlns:a="http://schemas.openxmlformats.org/drawingml/2006/main">
            <a:r>
              <a:t>| 상황군 | 첫 사례의 조건 | 두 번째 사례의 조건 | 세 번째 사례의 조건 |</a:t>
            </a:r>
          </a:p>
          <a:p xmlns:a="http://schemas.openxmlformats.org/drawingml/2006/main">
            <a:r>
              <a:t>| --- | --- | --- | --- |</a:t>
            </a:r>
          </a:p>
          <a:p xmlns:a="http://schemas.openxmlformats.org/drawingml/2006/main">
            <a:r>
              <a:t>| S1 명시적 기본 요청 | S1-01 N: 자료 조회 | S1-02 N: 보고서 위임 | S1-03 N: 선호 저장 |</a:t>
            </a:r>
          </a:p>
          <a:p xmlns:a="http://schemas.openxmlformats.org/drawingml/2006/main">
            <a:r>
              <a:t>| S2 지칭/근거 연결 | S2-01 N: 발화 당시 두 표 | S2-02 W: 과거 설명/두 결과 재사용 | S2-03 X: 원본 갱신 뒤 과거 snapshot 지정 |</a:t>
            </a:r>
          </a:p>
          <a:p xmlns:a="http://schemas.openxmlformats.org/drawingml/2006/main">
            <a:r>
              <a:t>| S3 복합 관계 | S3-01 N: 독립 두 목표 | S3-02 X: 선행 결과의 늦은/중복 반환 | S3-03 X: 조회 뒤 일정이 차는 조건 변경 |</a:t>
            </a:r>
          </a:p>
          <a:p xmlns:a="http://schemas.openxmlformats.org/drawingml/2006/main">
            <a:r>
              <a:t>| S4 정정/제어 | S4-01 X: 정정 뒤 이전 후보 반환 | S4-02 X: 재생 중 끼어들기 | S4-03 X: 지정 업무 취소와 접수 경합 |</a:t>
            </a:r>
          </a:p>
          <a:p xmlns:a="http://schemas.openxmlformats.org/drawingml/2006/main">
            <a:r>
              <a:t>| S5 외부 Agent 사건 | S5-01 X: 두 질문/철회의 교차 | S5-02 X: 결과 역전/중복 수신 | S5-03 N: 음성 종료 중 결과와 재연결 |</a:t>
            </a:r>
          </a:p>
          <a:p xmlns:a="http://schemas.openxmlformats.org/drawingml/2006/main">
            <a:r>
              <a:t>| S6 확인/미해결/답변 | S6-01 N: 모호한 요청 확인 | S6-02 X: 제시 receipt/권한과 답변 경합 | S6-03 N: 원본 접근 거부 |</a:t>
            </a:r>
          </a:p>
          <a:p xmlns:a="http://schemas.openxmlformats.org/drawingml/2006/main">
            <a:r>
              <a:t/>
            </a:r>
          </a:p>
          <a:p xmlns:a="http://schemas.openxmlformats.org/drawingml/2006/main">
            <a:r>
              <a:t>W는 B만 미리 완성된 기억을 받는 조건이 아니다. 양안이 같은 활동과 원본 사건을 처리한다. 이전 조회는 허용된 read-only 조회로 한정하고 현재 채점할 신규 등록/업무/취소를 미리 실행하지 않는다. A의 cache를 제거하지 않고 B의 관계 생산/게시를 evaluator가 대신하지 않는다. 준비 비용/유실/지연도 남기며 현재 목표나 정답 의미를 준비 이력에 넣지 않는다.</a:t>
            </a:r>
          </a:p>
          <a:p xmlns:a="http://schemas.openxmlformats.org/drawingml/2006/main">
            <a:r>
              <a:t/>
            </a:r>
          </a:p>
          <a:p xmlns:a="http://schemas.openxmlformats.org/drawingml/2006/main">
            <a:r>
              <a:t>X는 공통 외부 원천 사건의 순서와 유효성 규칙으로 정의한다. 특정 안에만 있는 내부 Module의 완료를 다른 안의 시작 기준으로 삼지 않는다. 존재하지 않는 job/질문/source를 경쟁을 위해 발명하지 않고 실제 모델 반환값은 바꾸지 않는다. 늦은 결과를 시험할 때는 반환 전달 순서만 제어한다. 내부 job이 없으면 그 경합은 발생하지 않은 것으로 기록한다.</a:t>
            </a:r>
          </a:p>
          <a:p xmlns:a="http://schemas.openxmlformats.org/drawingml/2006/main">
            <a:r>
              <a:t/>
            </a:r>
          </a:p>
          <a:p xmlns:a="http://schemas.openxmlformats.org/drawingml/2006/main">
            <a:r>
              <a:t>§3.2.2의 대표 발화/초기 상태를 사용한다. S2-02의 과거 설명에는 `평가 기준 중 가격 제외`라는 예외를 포함한다. S3-03은 최초 조회에서는 비어 있고 적용 전에 일정이 차는 조건 하나를 선택한다. 유효한 변경 근거로 생성하지 않고 안내하는지를 보며 두 분기를 전부 검증했다고 주장하지 않는다. 18개 사례의 108개 채점 항목은 그대로 유지한다.</a:t>
            </a:r>
          </a:p>
          <a:p xmlns:a="http://schemas.openxmlformats.org/drawingml/2006/main">
            <a:r>
              <a:t/>
            </a:r>
          </a:p>
          <a:p xmlns:a="http://schemas.openxmlformats.org/drawingml/2006/main">
            <a:r>
              <a:t>```text</a:t>
            </a:r>
          </a:p>
          <a:p xmlns:a="http://schemas.openxmlformats.org/drawingml/2006/main">
            <a:r>
              <a:t>후보 1개: 18 × 5 = 90회 처리 과제 실행</a:t>
            </a:r>
          </a:p>
          <a:p xmlns:a="http://schemas.openxmlformats.org/drawingml/2006/main">
            <a:r>
              <a:t>후보 1개의 채점 분모: 90 × 6 = 540개 이진 항목</a:t>
            </a:r>
          </a:p>
          <a:p xmlns:a="http://schemas.openxmlformats.org/drawingml/2006/main">
            <a:r>
              <a:t>상황군 1개의 채점 분모: 3 × 5 × 6 = 90개</a:t>
            </a:r>
          </a:p>
          <a:p xmlns:a="http://schemas.openxmlformats.org/drawingml/2006/main">
            <a:r>
              <a:t>조건 유형 C 하나의 분모: 90개</a:t>
            </a:r>
          </a:p>
          <a:p xmlns:a="http://schemas.openxmlformats.org/drawingml/2006/main">
            <a:r>
              <a:t>DP 1개의 A/B: 정확성 채점 관측 180회 / 1,080개 항목</a:t>
            </a:r>
          </a:p>
          <a:p xmlns:a="http://schemas.openxmlformats.org/drawingml/2006/main">
            <a:r>
              <a:t>네 DP를 모두 비교: 정확성 채점 관측 720회 / 4,320개 항목</a:t>
            </a:r>
          </a:p>
          <a:p xmlns:a="http://schemas.openxmlformats.org/drawingml/2006/main">
            <a:r>
              <a:t>```</a:t>
            </a:r>
          </a:p>
          <a:p xmlns:a="http://schemas.openxmlformats.org/drawingml/2006/main">
            <a:r>
              <a:t/>
            </a:r>
          </a:p>
          <a:p xmlns:a="http://schemas.openxmlformats.org/drawingml/2006/main">
            <a:r>
              <a:t>위 숫자는 §8.0 R1 CORE의 채점 분모다. 전체 자원 campaign은 후보당 130장면 × 3회 = 390장면이며 정확성/시간용 입력을 따로 추가하지 않는다. 이는 선택한 대표 장면에서의 PoC 정확률이다. 상황군은 각각 3개지만 N/W/X는 8/1/9개이며 제품 빈도로 가중하거나 모든 조건을 균등하게 검증하지 않는다. 90회 또는 540개 항목을 모두 독립 표본으로 주장하지 않는다. 반복과 같은 대화의 후속 관측은 해당 사례에 묶는다. 서로 다른 DP의 분자/분모를 합쳐 하나의 VIA 제품 정확률로 만들지 않는다.</a:t>
            </a:r>
          </a:p>
          <a:p xmlns:a="http://schemas.openxmlformats.org/drawingml/2006/main">
            <a:r>
              <a:t/>
            </a:r>
          </a:p>
          <a:p xmlns:a="http://schemas.openxmlformats.org/drawingml/2006/main">
            <a:r>
              <a:t>### 3.3 정답 조건과 6개 채점 항목</a:t>
            </a:r>
          </a:p>
          <a:p xmlns:a="http://schemas.openxmlformats.org/drawingml/2006/main">
            <a:r>
              <a:t/>
            </a:r>
          </a:p>
          <a:p xmlns:a="http://schemas.openxmlformats.org/drawingml/2006/main">
            <a:r>
              <a:t>각 실행의 C1~C6에 같은 의미와 판정 규칙을 적용한다. 세부 사실은 진단을 위해 보존하되 여섯 이진 항목 이외의 점수를 추가하지 않는다.</a:t>
            </a:r>
          </a:p>
          <a:p xmlns:a="http://schemas.openxmlformats.org/drawingml/2006/main">
            <a:r>
              <a:t/>
            </a:r>
          </a:p>
          <a:p xmlns:a="http://schemas.openxmlformats.org/drawingml/2006/main">
            <a:r>
              <a:t>#### 3.3.1 재사용할 정답 조건 유형</a:t>
            </a:r>
          </a:p>
          <a:p xmlns:a="http://schemas.openxmlformats.org/drawingml/2006/main">
            <a:r>
              <a:t/>
            </a:r>
          </a:p>
          <a:p xmlns:a="http://schemas.openxmlformats.org/drawingml/2006/main">
            <a:r>
              <a:t>| 유형 | 정답으로 기술할 사실 | 대표 판정 예시와 관측 경계 |</a:t>
            </a:r>
          </a:p>
          <a:p xmlns:a="http://schemas.openxmlformats.org/drawingml/2006/main">
            <a:r>
              <a:t>| --- | --- | --- |</a:t>
            </a:r>
          </a:p>
          <a:p xmlns:a="http://schemas.openxmlformats.org/drawingml/2006/main">
            <a:r>
              <a:t>| C1 목표와 처리 방향 | 요청한 행위/산출물의 의미, 답변/위임/확인/유보 등 허용 처리 방향 | 보고서 형식 변경을 새 조사로 바꾸지 않음. 업무 실행은 Agent에 인계. 필요한 확인을 임의 완료로 대체하지 않음 |</a:t>
            </a:r>
          </a:p>
          <a:p xmlns:a="http://schemas.openxmlformats.org/drawingml/2006/main">
            <a:r>
              <a:t>| C2 대상과 근거 | 지칭한 자료/객체의 집합과 범위, 원본 시점/version, 실제 전달된 과거 설명이나 결과 참조 | 발화 당시 선택한 표와 당시 v1을 사용. 최신 v2 또는 아직 들려주지 않은 설명으로 바꾸지 않음 |</a:t>
            </a:r>
          </a:p>
          <a:p xmlns:a="http://schemas.openxmlformats.org/drawingml/2006/main">
            <a:r>
              <a:t>| C3 대화와 업무 연결 | 새 업무/기존 업무/업무 없음의 관계, 연결할 대화/Task/Execution/질문 | 보고서 변경은 보고서 업무에 적용. 메일 질문의 답을 보고서 업무로 보내지 않음 |</a:t>
            </a:r>
          </a:p>
          <a:p xmlns:a="http://schemas.openxmlformats.org/drawingml/2006/main">
            <a:r>
              <a:t>| C4 조건, 관계와 변경 범위 | 내용 제약, 금지/보존 조건, 요청 간 독립/순서/조건/결과 의존, 변경할 범위 | 요약 결과를 메일 입력으로 사용하고 먼저 보내지 않음. 표 형식만 바꾸고 기간/수신자/다른 요청을 보존 |</a:t>
            </a:r>
          </a:p>
          <a:p xmlns:a="http://schemas.openxmlformats.org/drawingml/2006/main">
            <a:r>
              <a:t>| C5 처리 효과와 상태 | 실제 요청/명령 적용, 중복 여부, 유효 revision, 접수/완료/실패/미확인 상태와 허용 전이 | 철회한 질문 답변을 적용하지 않음. 같은 command 재수신이 두 번 실행되지 않음. 로컬 접수만으로 외부 완료를 확정하지 않음 |</a:t>
            </a:r>
          </a:p>
          <a:p xmlns:a="http://schemas.openxmlformats.org/drawingml/2006/main">
            <a:r>
              <a:t>| C6 응답 내용과 실제 전달 | 사용자에게 알린 사실/결과 참조, Text/음성의 의미 일치, 실제 표시/재생과 전달 기록 | 미확인 취소를 완료라고 말하지 않음. 텍스트와 음성이 같은 업무 상태를 알림. 음성 중단 이후 미재생 범위를 들었다고 기록하지 않음 |</a:t>
            </a:r>
          </a:p>
          <a:p xmlns:a="http://schemas.openxmlformats.org/drawingml/2006/main">
            <a:r>
              <a:t/>
            </a:r>
          </a:p>
          <a:p xmlns:a="http://schemas.openxmlformats.org/drawingml/2006/main">
            <a:r>
              <a:t>기대값은 사용자 입력과 공통 근거에서 정한다. Task가 아직 없다면 `새 업무에 연결`을 기대값으로 기록하고, 실제 생성 ID는 관측 후 대응시킨다. 특정 Task ID를 미리 확정한 것으로 모델에 주지 않는다. 기존 업무/질문은 fixture의 의미 ID와 실제 runtime ID를 대응시켜 검사한다.</a:t>
            </a:r>
          </a:p>
          <a:p xmlns:a="http://schemas.openxmlformats.org/drawingml/2006/main">
            <a:r>
              <a:t/>
            </a:r>
          </a:p>
          <a:p xmlns:a="http://schemas.openxmlformats.org/drawingml/2006/main">
            <a:r>
              <a:t>정보 조회에서 허용되는 Core 직접 응답과 Agent 위임처럼 같은 요구를 만족하는 복수 결과는 사전에 허용 집합으로 기록한다. Component 배치, 모델 호출 횟수, 내부 frame 형식이나 의미 생산 순서는 이 QA의 정답 조건으로 강제하지 않는다. 실제로 채택된 의미, 외부로 전달한 요청/명령, 적용 상태와 사용자 전달에서 판정한다. 채택 전 틀린 임시 후보를 스스로 고친 것은 최종 오류와 구별하되, 이미 발생한 금지 효과는 마지막 상태가 맞아도 지우지 않는다.</a:t>
            </a:r>
          </a:p>
          <a:p xmlns:a="http://schemas.openxmlformats.org/drawingml/2006/main">
            <a:r>
              <a:t/>
            </a:r>
          </a:p>
          <a:p xmlns:a="http://schemas.openxmlformats.org/drawingml/2006/main">
            <a:r>
              <a:t>##### 조건을 작성하는 공통 규칙</a:t>
            </a:r>
          </a:p>
          <a:p xmlns:a="http://schemas.openxmlformats.org/drawingml/2006/main">
            <a:r>
              <a:t/>
            </a:r>
          </a:p>
          <a:p xmlns:a="http://schemas.openxmlformats.org/drawingml/2006/main">
            <a:r>
              <a:t>- 여섯 유형을 모든 테스트 양식에 둔다. 이번 18개 사례는 모든 유형에 필수 사실이 있으며 N/A를 사용하지 않는다. 업무가 없는 경우의 무관 업무 연결 금지처럼 의미 있는 사실을 검사한다. 후보 출력에 field가 없다는 이유로 적용 없음으로 바꾸지 않는다.</a:t>
            </a:r>
          </a:p>
          <a:p xmlns:a="http://schemas.openxmlformats.org/drawingml/2006/main">
            <a:r>
              <a:t>- 조건 하나는 사용자에게 의미 있는 판정 사실 하나다. `수신자=민수`, `보고서 형식=표`, `메일 요청 보존`처럼 고정 의미 단위로 작성한다. 내부 JSON 속성 수나 Module 수에 따라 조건을 쪼개지 않는다.</a:t>
            </a:r>
          </a:p>
          <a:p xmlns:a="http://schemas.openxmlformats.org/drawingml/2006/main">
            <a:r>
              <a:t>- 같은 사실은 하나의 주 조건 ID에 귀속시킨다. 예를 들어 목표 업무 선택은 C3, 그 업무에 command가 한 번 적용된 사실은 C5, 그 처리 사실의 올바른 안내는 C6다. 같은 업무 선택 사실을 세 유형에서 세 정답으로 세지 않는다. 한 오선택이 실제 적용과 안내까지 오염시킨 경우 서로 다른 효과와 공통 원인은 함께 기록한다.</a:t>
            </a:r>
          </a:p>
          <a:p xmlns:a="http://schemas.openxmlformats.org/drawingml/2006/main">
            <a:r>
              <a:t>- 대상 집합이나 관계 graph의 판정 단위도 동일하다. 한 사례에서만 원소/간선을 별도 점수로 세지 않는다. 세부 누락/추가 항목은 진단으로 보존하고 집계 단위는 §3.1의 여섯 묶음 이진 판정으로 고정한다.</a:t>
            </a:r>
          </a:p>
          <a:p xmlns:a="http://schemas.openxmlformats.org/drawingml/2006/main">
            <a:r>
              <a:t>- 명확한 사례에는 기대한 요청 처리를 요구한다. 근거가 부족한 사례에는 필요한 질문/유보와 공통 후속 답변 뒤의 처리까지 요구한다. 단순 접수 멘트나 모든 요청의 보류로 정답을 얻지 못한다.</a:t>
            </a:r>
          </a:p>
          <a:p xmlns:a="http://schemas.openxmlformats.org/drawingml/2006/main">
            <a:r>
              <a:t/>
            </a:r>
          </a:p>
          <a:p xmlns:a="http://schemas.openxmlformats.org/drawingml/2006/main">
            <a:r>
              <a:t>##### 모든 항목의 통과/실패 판정 순서</a:t>
            </a:r>
          </a:p>
          <a:p xmlns:a="http://schemas.openxmlformats.org/drawingml/2006/main">
            <a:r>
              <a:t/>
            </a:r>
          </a:p>
          <a:p xmlns:a="http://schemas.openxmlformats.org/drawingml/2006/main">
            <a:r>
              <a:t>1. **사실 정규화:** 실제 채택 의미, 인계 payload, 상태 전이, 표시/재생 record에서 해당 사례의 사실을 추출한다. runtime ID는 의미 ID에 대응시킨다. 자연어는 행위/대상/시점/범위/상태/부정 사실로 기록하고 schema 이름이나 문자 그대로의 문장 일치는 강제하지 않는다.</a:t>
            </a:r>
          </a:p>
          <a:p xmlns:a="http://schemas.openxmlformats.org/drawingml/2006/main">
            <a:r>
              <a:t>2. **C1:** 실제 처리에서 목표/처리 방향이 기대 집합에 포함되고 모든 필수 목표가 남아야 통과한다. 확인이 필요한 사례는 실제 제시와 지정 답변 후의 목표까지 검사한다. 명확한 목표를 영구 보류/접수 인사로 대신하면 실패다.</a:t>
            </a:r>
          </a:p>
          <a:p xmlns:a="http://schemas.openxmlformats.org/drawingml/2006/main">
            <a:r>
              <a:t>3. **C2:** 실제 처리에 쓰인 자료/객체/version/전달 구간이 기대 참조와 같아야 통과한다. 허용하지 않은 source, 누락/추가 대상, 현행/과거 혼동은 실패다. 단순 read를 많이 했다는 이유로 감점하지 않으며 오답 후보를 조회했어도 채택/인계에서 제거하면 그 사실만으로 실패시키지 않는다.</a:t>
            </a:r>
          </a:p>
          <a:p xmlns:a="http://schemas.openxmlformats.org/drawingml/2006/main">
            <a:r>
              <a:t>4. **C3:** 각 요청/답변/결과/명령의 Conversation 및 Task/Execution/질문 관계가 기대 관계와 같아야 통과한다. Core/Agent의 허용 경로에 따라 실제 생성 ID를 대응시키고 구조가 만든 내부 subtask 수는 강제하지 않는다. 무관 업무 연결/변경, 새 실행의 잘못된 연결은 실패다.</a:t>
            </a:r>
          </a:p>
          <a:p xmlns:a="http://schemas.openxmlformats.org/drawingml/2006/main">
            <a:r>
              <a:t>5. **C4:** 각 필수 조건, 독립/선후/결과 사용/분기와 수정/보존 범위가 채택 의미와 실제 인계에 모두 남아야 통과한다. 조건 하나의 누락/모순, 관계를 더 약하거나 다른 관계로 바꾸는 경우는 실패다. 도메인 지시의 자연어 표현 차이는 허용하지만 VIA가 소유하는 관계의 미표현을 Agent의 우연한 정답으로 대체하지 않는다.</a:t>
            </a:r>
          </a:p>
          <a:p xmlns:a="http://schemas.openxmlformats.org/drawingml/2006/main">
            <a:r>
              <a:t>6. **C5:** 관찰 구간 전체에서 요구 효과/상태와 인과 순서가 모두 맞고 금지 효과가 없어야 통과한다. 접수/완료/종료 미확인 등의 표기는 같은 사실 의미로 정규화한다. 동일 command의 재전송/receipt 중복은 허용하지만 고유 업무 효과의 중복은 실패다. 이미 발생한 금지 효과는 끝 상태를 고쳐도 0으로 남긴다.</a:t>
            </a:r>
          </a:p>
          <a:p xmlns:a="http://schemas.openxmlformats.org/drawingml/2006/main">
            <a:r>
              <a:t>7. **C6:** 각 사례의 필수 응답 사실이 Text에 실제 표시되고 Voice ON이면 그 핵심 사실이 유효 출력에서 실제 재생돼야 통과한다. S5-01의 철회 사실은 이미 표시한 질문에 한해 명시한 Text 갱신 조건, S5-03은 OFF/재연결 조건을 따른다. 대상/날짜/값/상태를 바꾸는 추가 주장이나 금지 주장이 하나라도 있으면 실패다. 표현/문장 순서/동의어/단위 변환은 의미가 정확하면 허용한다. 예: “10월 15일까지 제출해야 한다”는 마감일 안내와 동등하지만 “10월 15일에 완료됐다”는 동등하지 않다.</a:t>
            </a:r>
          </a:p>
          <a:p xmlns:a="http://schemas.openxmlformats.org/drawingml/2006/main">
            <a:r>
              <a:t>8. **증거 연결과 이진 판정:** 항목 안의 각 필수 사실에 실제 evidence ref와 맞음/틀림을 붙인다. 모두 맞고 필수 evidence가 있으면 항목=1, 하나라도 틀리거나 미처리/누락이면 0이다. 세부 사실은 진단용이고 점수 분모는 항상 실행당 6이다. 자동 판정이 어려운 자연어는 후보 이름을 가려 같은 사실 목록으로 검토하고 이견은 두 번째 평가자가 원문/evidence로 조정한다. unresolved 판정을 통과로 만들지 않는다.</a:t>
            </a:r>
          </a:p>
          <a:p xmlns:a="http://schemas.openxmlformats.org/drawingml/2006/main">
            <a:r>
              <a:t/>
            </a:r>
          </a:p>
          <a:p xmlns:a="http://schemas.openxmlformats.org/drawingml/2006/main">
            <a:r>
              <a:t>**자연어의 판별 예:** `10월 15일까지`/`10월 15일이 마감`은 같은 마감 사실이다. `민수에게`/`minsu@example.invalid로`는 연락처 대응이 있는 사례에서 같은 수신자다. `표 형식`/`테이블 형태`는 같은 형식이다. 반대로 `전송했다`는 `외부가 접수했다` 또는 `업무가 완료됐다`와 같은 상태가 아니다. 해당 사례가 외부 접수를 요구하면 “에이전트가 요청을 받았다/요청이 접수됐다”라는 사실이 필요하고 “요청을 받았어요”만으로 주체/단계가 모호하면 그 사실을 충족한 것으로 추정하지 않는다. `취소 요청 접수`와 `취소 완료`, `정보 조회 동의`와 `메일 발송 승인`은 서로 다른 사실이다. 요청 처리 상태를 모호하게 생략한 표현은 필요한 명확한 상태 사실의 누락으로 판정한다. 후보에 이 예문을 정답 응답으로 공급하지 않는다.</a:t>
            </a:r>
          </a:p>
          <a:p xmlns:a="http://schemas.openxmlformats.org/drawingml/2006/main">
            <a:r>
              <a:t/>
            </a:r>
          </a:p>
          <a:p xmlns:a="http://schemas.openxmlformats.org/drawingml/2006/main">
            <a:r>
              <a:t/>
            </a:r>
          </a:p>
          <a:p xmlns:a="http://schemas.openxmlformats.org/drawingml/2006/main">
            <a:r>
              <a:t>논리적 요청 연결과 실제 명령 효과, 전달 사실은 서로 다른 판정이다. 같은 오류가 여러 항목을 실제로 오염시켰으면 해당 항목의 실패와 공통 원인을 함께 기록한다. 내부 오류가 채택 전에 바로잡혔고 금지 효과가 없다면 최종 처리를 판정한다. 시험 수집기 결함/공통 provider 장애는 §3.6.3의 INVALID 절차를 쓰며 후보의 미처리/필수 trace 누락은 오답이다.</a:t>
            </a:r>
          </a:p>
          <a:p xmlns:a="http://schemas.openxmlformats.org/drawingml/2006/main">
            <a:r>
              <a:t/>
            </a:r>
          </a:p>
          <a:p xmlns:a="http://schemas.openxmlformats.org/drawingml/2006/main">
            <a:r>
              <a:t>#### 3.3.2 사례별 여섯 필수 채점 항목</a:t>
            </a:r>
          </a:p>
          <a:p xmlns:a="http://schemas.openxmlformats.org/drawingml/2006/main">
            <a:r>
              <a:t/>
            </a:r>
          </a:p>
          <a:p xmlns:a="http://schemas.openxmlformats.org/drawingml/2006/main">
            <a:r>
              <a:t>아래는 빠르게 비교하기 위한 **정답 요약**이다. 구체적인 자료/발화/사건/항목별 기대값은 §3.2.2의 상세 명세를 따르고 판별 규칙은 §3.3.1을 따른다. 각 칸은 하나의 이진 채점 항목이다. 세미콜론으로 구분한 사실도 모두 맞아야 해당 칸이 1이다. 사례에 지정한 조건의 source version/질문 유효성/실제 접수 차이는 사전 fixture 상태와 공통 전이 규칙으로 대입한다. 후보 결과를 보고 기대값을 바꾸지 않는다. §3.2.2의 원문/초기 상태와 아래 표를 함께 사용한다.</a:t>
            </a:r>
          </a:p>
          <a:p xmlns:a="http://schemas.openxmlformats.org/drawingml/2006/main">
            <a:r>
              <a:t/>
            </a:r>
          </a:p>
          <a:p xmlns:a="http://schemas.openxmlformats.org/drawingml/2006/main">
            <a:r>
              <a:t>| 사례 | C1 목표/방향 | C2 대상/근거 | C3 대화/업무 | C4 조건/변경 | C5 효과/상태 | C6 내용/전달 |</a:t>
            </a:r>
          </a:p>
          <a:p xmlns:a="http://schemas.openxmlformats.org/drawingml/2006/main">
            <a:r>
              <a:t>| --- | --- | --- | --- | --- | --- | --- |</a:t>
            </a:r>
          </a:p>
          <a:p xmlns:a="http://schemas.openxmlformats.org/drawingml/2006/main">
            <a:r>
              <a:t>| S1-01 | D1 마감일 조회; 허용 직접 응답/위임 | D1 지정 version의 마감일 | 직접 응답이면 무관 Task 연결 없음; 위임이면 새 조회 업무 연결 | D1 안의 정보로 범위 제한 | 올바른 조회/응답 처리; 불필요한 외부 변경 없음 | fixture 마감일을 사실대로 전달; 실제 채널 전달 기록 |</a:t>
            </a:r>
          </a:p>
          <a:p xmlns:a="http://schemas.openxmlformats.org/drawingml/2006/main">
            <a:r>
              <a:t>| S1-02 | 매출 보고서 작성 위임 | 지정 매출 자료/범위와 허용 근거 | 새 보고서 업무와 실행 연결 | 올해/3분기/표 보존 | 올바른 요청 인계; 접수와 완료 구별 | 확인된 인계 단계 안내; 실제 채널 전달 기록 |</a:t>
            </a:r>
          </a:p>
          <a:p xmlns:a="http://schemas.openxmlformats.org/drawingml/2006/main">
            <a:r>
              <a:t>| S1-03 | 명시 선호 저장 | 이번 사용자 지시의 비교 결과 선호 | 설정/기억 관리에 연결; 무관 Agent 업무 없음 | 비교 결과에 한정; 다른 응답에 영구 적용하지 않음 | 허용 기록의 신규 저장; 무관 기억 변경 없음 | 실제 저장 범위 안내; 실제 채널 전달 기록 |</a:t>
            </a:r>
          </a:p>
          <a:p xmlns:a="http://schemas.openxmlformats.org/drawingml/2006/main">
            <a:r>
              <a:t>| S2-01 | 두 표 비교 | 발화 당시 A/B와 해당 관측 범위 | 현재 요청에 연결; 기존 무관 업무에 적용 없음 | A/B 역할 유지; C 등 추가 대상 없음 | 올바른 근거로 답변/위임; 다른 객체 변경 없음 | A/B 참조 및 확인된 결과 안내; 실제 전달 기록 |</a:t>
            </a:r>
          </a:p>
          <a:p xmlns:a="http://schemas.openxmlformats.org/drawingml/2006/main">
            <a:r>
              <a:t>| S2-02 | 과거 기준/결과로 제안서 작성 위임 | 실제 들려준 E1; D2@v2/D3@v1 및 원문 예외 | 새 제안서 업무; 과거 두 업무에 수정 지시 없음 | 기준/제품 비교/견적 역할 및 가격 제외 보존 | 올바른 참조/조건 인계; 준비 안 된 파생물을 사실로 사용하지 않음 | 인계 사실과 사용한 근거 범위 안내; 미전달 E1을 들었다고 기록하지 않음 |</a:t>
            </a:r>
          </a:p>
          <a:p xmlns:a="http://schemas.openxmlformats.org/drawingml/2006/main">
            <a:r>
              <a:t>| S2-03 | 당시 값으로 표 작성 위임 | 보존/허용된 D1@v1의 100 | 새 작성 업무; 다른 과거 업무 변경 없음 | 당시 기준 유지; v2의 120으로 치환 없음 | 올바른 과거 참조 인계; 접근 불가 시 임의 생성 금지 | 과거 기준과 실제 처리 단계 안내; 실제 전달 기록 |</a:t>
            </a:r>
          </a:p>
          <a:p xmlns:a="http://schemas.openxmlformats.org/drawingml/2006/main">
            <a:r>
              <a:t>| S3-01 | 문서 요약/일정 조회 두 목표 | D1과 지정 날짜의 일정 | 각 목표에 허용된 업무 관계; 무관 Task 연결 없음 | 독립 관계; 누락/잘못된 의존 없음 | 두 목표 처리; 한쪽 실패로 무관 목표 자동 취소 없음 | 두 결과/상태 구분; 실제 전달 기록 |</a:t>
            </a:r>
          </a:p>
          <a:p xmlns:a="http://schemas.openxmlformats.org/drawingml/2006/main">
            <a:r>
              <a:t>| S3-02 | 요약 후 메일 위임 | D1; 생성된 요약 참조; 민수 | 요약/메일의 실제 업무 및 실행 연결 | 결과 의존과 수신자 보존 | 선행 준비/허용 확인 후 후속 처리; 중복/다른 산출물 전달 없음 | 실제 인계/처리 단계 안내; 실제 전달 기록 |</a:t>
            </a:r>
          </a:p>
          <a:p xmlns:a="http://schemas.openxmlformats.org/drawingml/2006/main">
            <a:r>
              <a:t>| S3-03 | 일정 조건에 맞는 생성/안내 | 금요일 3시의 유효 일정 근거 | 해당 일정 요청/업무 연결 | 비어 있으면 생성; 차 있으면 안내만 | 유효 분기만 처리; 근거 변경 시 재확인; 미확인 조건의 임의 생성 없음 | 분기 근거와 실제 상태 안내; 실제 전달 기록 |</a:t>
            </a:r>
          </a:p>
          <a:p xmlns:a="http://schemas.openxmlformats.org/drawingml/2006/main">
            <a:r>
              <a:t>| S4-01 | 보고서 형식 정정 | 기존 보고서 자료/version | T보고서 변경; T메일에 변경 연결 없음 | 표로 변경; 기간/메일/무관 조건 보존 | 유효 정정 적용; 늦은 이전 후보 재적용/중복 없음 | 변경 접수 사실 안내; 미완료를 완료로 주장하지 않음; 실제 전달 기록 |</a:t>
            </a:r>
          </a:p>
          <a:p xmlns:a="http://schemas.openxmlformats.org/drawingml/2006/main">
            <a:r>
              <a:t>| S4-02 | 음성 중단 후 지정 수치 설명 | 실제 재생한 설명 범위와 해당 수치 근거 | 기존 대화의 후속 설명; 실행 중 Task 취소로 연결하지 않음 | 지정 수치 범위; 무관 업무 지시 보존 | 음성 중단/새 설명 처리; 업무 취소 없음 | 들린 범위만 기록; 유효 새 설명 전달; 옛 음성 부활 없음 |</a:t>
            </a:r>
          </a:p>
          <a:p xmlns:a="http://schemas.openxmlformats.org/drawingml/2006/main">
            <a:r>
              <a:t>| S4-03 | 메일 업무만 취소 | 현재 메일 실행/접수 사실 | T메일 제어; T보고서와 실행 유지 | 취소 범위 제한; 이미 생긴 외부 효과를 소급 제거했다고 하지 않음 | 올바른 취소 전달; 접수/종료/미확인 구별; 중복 제어 없음 | 확인된 취소 단계/미확인 안내; 실제 전달 기록 |</a:t>
            </a:r>
          </a:p>
          <a:p xmlns:a="http://schemas.openxmlformats.org/drawingml/2006/main">
            <a:r>
              <a:t>| S5-01 | 두 Agent 질문을 사용자 interaction에 연결 | 각 원천 질문/유효 version | 기간 질문→보고서; 수신자 질문→메일 | 각 질문/답변 범위 보존; 합쳐 임의 승인하지 않음 | 유효 질문 상태와 제시 처리; 철회 질문 적용 없음 | 업무별 질문 구분; 실제 제시/focus 기록 |</a:t>
            </a:r>
          </a:p>
          <a:p xmlns:a="http://schemas.openxmlformats.org/drawingml/2006/main">
            <a:r>
              <a:t>| S5-02 | 유효 결과 수신/안내 | 각각의 현재 결과/version과 원천 event | 원래 Task/Execution/대화 연결 | 결과 참조 역할 보존; 다른 업무 결과로 치환 없음 | 역전/중복/stale 처리; 새 실행/중복 완료 없음 | 유효 결과/상태 안내; 실제 전달 기록 |</a:t>
            </a:r>
          </a:p>
          <a:p xmlns:a="http://schemas.openxmlformats.org/drawingml/2006/main">
            <a:r>
              <a:t>| S5-03 | 음성 종료 중 결과를 유지/전달 | 확인된 Agent 결과/version | 기존 Task/대화 유지; 재연결을 새 업무로 연결하지 않음 | Text-only/재연결 조건 보존; 자동 업무 재실행 없음 | 결과 저장/처리; 기존 실행/완료 상태 유지 | Text 표시와 음성 전달 구별; 재연결 후 옛 음성을 이미 들었다고 기록하지 않음 |</a:t>
            </a:r>
          </a:p>
          <a:p xmlns:a="http://schemas.openxmlformats.org/drawingml/2006/main">
            <a:r>
              <a:t>| S6-01 | 대상/수정 내용 확인 후 변경 | 답변으로 지정한 보고서/수정 근거 | 원래 요청과 지정 업무에 답변 연결 | 답변 범위만 변경; 무관 조건 보존 | 답변 전 임의 변경 없음; 답변 후 올바른 처리 | 필요한 질문/변경 사실 안내; 실제 전달 기록 |</a:t>
            </a:r>
          </a:p>
          <a:p xmlns:a="http://schemas.openxmlformats.org/drawingml/2006/main">
            <a:r>
              <a:t>| S6-02 | 기존 질문 답변 처리; 필요 시 재확인 | 실제 제시된 Q1/receipt; 현재 권한/질문 상태 | 유효 Q1에만 연결; Q2에 임의 연결 없음 | 연락처 조회 동의와 전송 승인 구별 | 허용 조회만 진행; 미확인/철회 질문 및 승인 적용 없음 | 질문 대상/허용 단계 사실대로 안내; 실제 전달 기록 |</a:t>
            </a:r>
          </a:p>
          <a:p xmlns:a="http://schemas.openxmlformats.org/drawingml/2006/main">
            <a:r>
              <a:t>| S6-03 | 접근 불가 안내/유보 | D1의 실제 접근 거부; 허용 대체 근거 없음 | 원래 자료 문의에 연결; 무관 Task 시작 없음 | 접근 거부와 누락/판단 불가 구별; 다른 문서 치환 없음 | 권한 우회/허위 조회/임의 외부 효과 없음 | 금액 추측/조회 성공 주장 없음; 확인된 한계와 허용 다음 행동 전달 |</a:t>
            </a:r>
          </a:p>
          <a:p xmlns:a="http://schemas.openxmlformats.org/drawingml/2006/main">
            <a:r>
              <a:t/>
            </a:r>
          </a:p>
          <a:p xmlns:a="http://schemas.openxmlformats.org/drawingml/2006/main">
            <a:r>
              <a:t>판정은 내부 MeaningProposal 하나가 맞는지만 보지 않는다. 항목의 사실이 실제 처리에 쓰였는지 §3.6.1의 채택/전송/상태/전달 evidence로 확인한다. 잘못된 후보가 채택 전에 수정되면 최종 처리가 맞을 수 있다. 이미 잘못된 인계/게시가 발생했다면 마지막 값만 고쳐도 해당 항목의 0과 위반 기록은 남긴다.</a:t>
            </a:r>
          </a:p>
          <a:p xmlns:a="http://schemas.openxmlformats.org/drawingml/2006/main">
            <a:r>
              <a:t/>
            </a:r>
          </a:p>
          <a:p xmlns:a="http://schemas.openxmlformats.org/drawingml/2006/main">
            <a:r>
              <a:t>#### 3.3.3 정답표 작성 예 — S4-01</a:t>
            </a:r>
          </a:p>
          <a:p xmlns:a="http://schemas.openxmlformats.org/drawingml/2006/main">
            <a:r>
              <a:t/>
            </a:r>
          </a:p>
          <a:p xmlns:a="http://schemas.openxmlformats.org/drawingml/2006/main">
            <a:r>
              <a:t>초기 상태는 보고서 업무 T보고서와 메일 업무 T메일이 각각 존재하고, 보고서 대상은 D1@v1, 기간은 올해 3분기, 형식은 문장이라고 둔다. 메일 대상/수신자와 지시는 이미 정해져 있다. 현재 준비 중인 보고서 후속 변경 요청은 아직 외부에 전송되지 않았다. 기존 두 업무의 외부 접수 사실은 있고 메일의 실제 전송 효과는 아직 없다. 사용자가 “보고서는 표로 바꾸고 메일은 그대로”라고 정정한 뒤 이전 입력을 기준으로 만든 의미 후보가 늦게 돌아온다. 이 정확성 checkpoint에서는 공통 외부 Agent의 변경 접수까지만 확인한다. W100은 그 뒤 §8.0의 공통 최종 결과 tail로 이어지며 이 정답표의 접수 상태를 완료 상태로 바꾸지 않는다.</a:t>
            </a:r>
          </a:p>
          <a:p xmlns:a="http://schemas.openxmlformats.org/drawingml/2006/main">
            <a:r>
              <a:t/>
            </a:r>
          </a:p>
          <a:p xmlns:a="http://schemas.openxmlformats.org/drawingml/2006/main">
            <a:r>
              <a:t>| 공통 조건 유형 | 사전 기대값 | 확인할 근거 |</a:t>
            </a:r>
          </a:p>
          <a:p xmlns:a="http://schemas.openxmlformats.org/drawingml/2006/main">
            <a:r>
              <a:t>| --- | --- | --- |</a:t>
            </a:r>
          </a:p>
          <a:p xmlns:a="http://schemas.openxmlformats.org/drawingml/2006/main">
            <a:r>
              <a:t>| C1 목표와 처리 방향 | 기존 보고서의 형식 변경. 새 보고서 업무 생성이나 새로운 조사로 바꾸지 않음 | 채택 의미와 Agent에 전달한 요청의 목적 |</a:t>
            </a:r>
          </a:p>
          <a:p xmlns:a="http://schemas.openxmlformats.org/drawingml/2006/main">
            <a:r>
              <a:t>| C2 대상과 근거 | 보고서 대상 D1@v1 유지. 다른 자료나 최신 원본으로 교체하지 않음 | 실제 요청의 자료/version 참조 |</a:t>
            </a:r>
          </a:p>
          <a:p xmlns:a="http://schemas.openxmlformats.org/drawingml/2006/main">
            <a:r>
              <a:t>| C3 대화와 업무 연결 | T보고서에 변경 연결. T메일에 변경 연결하지 않음 | 실제 요청/명령의 업무 및 대화 연결 |</a:t>
            </a:r>
          </a:p>
          <a:p xmlns:a="http://schemas.openxmlformats.org/drawingml/2006/main">
            <a:r>
              <a:t>| C4 조건, 관계와 변경 범위 | 형식=표, 기간=올해 3분기 유지, 메일의 기존 대상/수신자/지시 보존 | 채택한 변경/보존 조건과 실제 인계 내용 |</a:t>
            </a:r>
          </a:p>
          <a:p xmlns:a="http://schemas.openxmlformats.org/drawingml/2006/main">
            <a:r>
              <a:t>| C5 처리 효과와 상태 | 유효 정정만 적용. 늦은 이전 후보의 재적용과 중복 변경 없음. 외부 접수 확인을 완료로 전이하지 않음 | 변경 적용/전송 trace, Agent receipt, 업무 상태 |</a:t>
            </a:r>
          </a:p>
          <a:p xmlns:a="http://schemas.openxmlformats.org/drawingml/2006/main">
            <a:r>
              <a:t>| C6 응답 내용과 실제 전달 | 보고서 변경 접수 사실을 알림. 완료라고 주장하지 않음. 실제 표시/재생 범위대로 기록 | 실제 Text/음성 내용과 전달 evidence |</a:t>
            </a:r>
          </a:p>
          <a:p xmlns:a="http://schemas.openxmlformats.org/drawingml/2006/main">
            <a:r>
              <a:t/>
            </a:r>
          </a:p>
          <a:p xmlns:a="http://schemas.openxmlformats.org/drawingml/2006/main">
            <a:r>
              <a:t>이것은 **6개 조건 유형을 채운 예**다. Voice PoC v3에서는 유형마다 필수 사실을 모두 만족해야 1점이 되는 여섯 이진 항목으로 집계한다. C4의 형식/기간/메일 보존처럼 여러 사실은 진단용 조건 ID로 등록하되 항목 내 부분 점수를 추가하지 않는다.</a:t>
            </a:r>
          </a:p>
          <a:p xmlns:a="http://schemas.openxmlformats.org/drawingml/2006/main">
            <a:r>
              <a:t/>
            </a:r>
          </a:p>
          <a:p xmlns:a="http://schemas.openxmlformats.org/drawingml/2006/main">
            <a:r>
              <a:t>### 3.4 측정 지표와 분모</a:t>
            </a:r>
          </a:p>
          <a:p xmlns:a="http://schemas.openxmlformats.org/drawingml/2006/main">
            <a:r>
              <a:t/>
            </a:r>
          </a:p>
          <a:p xmlns:a="http://schemas.openxmlformats.org/drawingml/2006/main">
            <a:r>
              <a:t>```text</a:t>
            </a:r>
          </a:p>
          <a:p xmlns:a="http://schemas.openxmlformats.org/drawingml/2006/main">
            <a:r>
              <a:t>y(i,c) ∈ {0,1}  # 실행 i의 채점 항목 c, c=1..6</a:t>
            </a:r>
          </a:p>
          <a:p xmlns:a="http://schemas.openxmlformats.org/drawingml/2006/main">
            <a:r>
              <a:t>요청 처리 정확성(%) = 100 × Σ_i Σ_c y(i,c) / 540</a:t>
            </a:r>
          </a:p>
          <a:p xmlns:a="http://schemas.openxmlformats.org/drawingml/2006/main">
            <a:r>
              <a:t>완전 정답 처리율(%) = 100 × count_i[모든 c에서 y(i,c)=1] / 90</a:t>
            </a:r>
          </a:p>
          <a:p xmlns:a="http://schemas.openxmlformats.org/drawingml/2006/main">
            <a:r>
              <a:t>상황군별 정답률(%) = 100 × 해당 상황군의 정답 항목 수 / 90</a:t>
            </a:r>
          </a:p>
          <a:p xmlns:a="http://schemas.openxmlformats.org/drawingml/2006/main">
            <a:r>
              <a:t>C 유형별 정답률(%) = 100 × 해당 C 유형의 정답 항목 수 / 90</a:t>
            </a:r>
          </a:p>
          <a:p xmlns:a="http://schemas.openxmlformats.org/drawingml/2006/main">
            <a:r>
              <a:t>A/B 차이(pp) = B의 요청 처리 정확성 − A의 요청 처리 정확성</a:t>
            </a:r>
          </a:p>
          <a:p xmlns:a="http://schemas.openxmlformats.org/drawingml/2006/main">
            <a:r>
              <a:t>```</a:t>
            </a:r>
          </a:p>
          <a:p xmlns:a="http://schemas.openxmlformats.org/drawingml/2006/main">
            <a:r>
              <a:t/>
            </a:r>
          </a:p>
          <a:p xmlns:a="http://schemas.openxmlformats.org/drawingml/2006/main">
            <a:r>
              <a:t>전체 분자/분모와 함께 6개 상황군, 6개 C 유형, 지정된 N/W/X, 18개 사례 및 5개 반복의 분해 결과를 공개한다. 같은 항목에서 `둘 다 정답`, `A만 정답`, `B만 정답`, `둘 다 오답`을 기록하고 오답 원인 및 모든 위반 trace를 연결한다. 조회/생산/결합/채택/전송/게시/추상 장치 전달 중 오류 발생 경로는 진단이며 점수를 추가하지 않는다.</a:t>
            </a:r>
          </a:p>
          <a:p xmlns:a="http://schemas.openxmlformats.org/drawingml/2006/main">
            <a:r>
              <a:t/>
            </a:r>
          </a:p>
          <a:p xmlns:a="http://schemas.openxmlformats.org/drawingml/2006/main">
            <a:r>
              <a:t>작은 차이를 반복 수만으로 확실한 차이처럼 보이지 않게 한다. 불확실성은 **같은 대표 사례의 5회 반복 전체를 하나의 묶음**으로 A/B 함께 재표집한다. S1~S6 각각에서 기본 사례 3개를 복원 추출해 균형을 유지하는 paired block bootstrap 10,000회, seed `20261010`, 차이의 2.5/97.5 percentile을 보고한다. 18개 사례 묶음만 있으므로 작은 차이의 검정력은 제한적이며 제품 모집단의 정확률 신뢰구간이라고 해석하지 않는다. 이 절의 구체적 묶음/횟수는 작성자 설계다. 의존된 음성 자료를 개별 독립 표본으로 재표집하지 않는 원칙은 [Liu와 Peng의 blockwise bootstrap 연구](https://arxiv.org/abs/1912.09508v2)를 참고했다.</a:t>
            </a:r>
          </a:p>
          <a:p xmlns:a="http://schemas.openxmlformats.org/drawingml/2006/main">
            <a:r>
              <a:t/>
            </a:r>
          </a:p>
          <a:p xmlns:a="http://schemas.openxmlformats.org/drawingml/2006/main">
            <a:r>
              <a:t>### 3.5 목표와 A/B 차이 판단 기준</a:t>
            </a:r>
          </a:p>
          <a:p xmlns:a="http://schemas.openxmlformats.org/drawingml/2006/main">
            <a:r>
              <a:t/>
            </a:r>
          </a:p>
          <a:p xmlns:a="http://schemas.openxmlformats.org/drawingml/2006/main">
            <a:r>
              <a:t>| 기준 | v3 PoC 목표 | 고정 분모에서 필요한 수 | 이유 |</a:t>
            </a:r>
          </a:p>
          <a:p xmlns:a="http://schemas.openxmlformats.org/drawingml/2006/main">
            <a:r>
              <a:t>| --- | --- | --- | --- |</a:t>
            </a:r>
          </a:p>
          <a:p xmlns:a="http://schemas.openxmlformats.org/drawingml/2006/main">
            <a:r>
              <a:t>| 대표 요청 처리 정확성 | **98% 이상** | 540개 중 530개 이상 정답, 오답 최대 10개 | 항목 오류 예산을 2% 이내로 제한 |</a:t>
            </a:r>
          </a:p>
          <a:p xmlns:a="http://schemas.openxmlformats.org/drawingml/2006/main">
            <a:r>
              <a:t>| 완전 정답 처리율 | **95% 이상** | 90회 중 86회 이상 여섯 항목 모두 정답 | 여러 칸의 높은 부분 점수로 요청 단위 실패를 숨기지 않음 |</a:t>
            </a:r>
          </a:p>
          <a:p xmlns:a="http://schemas.openxmlformats.org/drawingml/2006/main">
            <a:r>
              <a:t>| 각 S 상황군 정답률 | **각각 95% 이상** | 각 90개 중 86개 이상 정답 | 쉬운 정상 사례로 특정 중요한 상황의 실패를 희석하지 않음 |</a:t>
            </a:r>
          </a:p>
          <a:p xmlns:a="http://schemas.openxmlformats.org/drawingml/2006/main">
            <a:r>
              <a:t>| 각 C 조건 유형 정답률 | **각각 95% 이상** | 각 90개 중 86개 이상 정답 | 실제 적용/전달의 약점을 의미 항목 점수로 상쇄하지 않음 |</a:t>
            </a:r>
          </a:p>
          <a:p xmlns:a="http://schemas.openxmlformats.org/drawingml/2006/main">
            <a:r>
              <a:t>| 필수 위반 | **0건** | 전체 실행/관찰 trace에서 위반 없음 | 오업무/중복 외부 효과, 잘못된 질문/승인 적용, 무허용 접근/제공을 평균에 희석하지 않음 |</a:t>
            </a:r>
          </a:p>
          <a:p xmlns:a="http://schemas.openxmlformats.org/drawingml/2006/main">
            <a:r>
              <a:t/>
            </a:r>
          </a:p>
          <a:p xmlns:a="http://schemas.openxmlformats.org/drawingml/2006/main">
            <a:r>
              <a:t>이 숫자는 제품 빈도나 실측에서 추정한 값, 산업 표준 또는 모델이 이미 달성한 성능이 아니다. 이번 과제의 **평가 목표**로 정한 설계 수치다. 두 후보 모두 미달하면 미달을 보고하고 원인을 보완한다. 목표를 결과 뒤에 낮추거나 실패 사례를 빼지 않는다. 필수 위반 0건은 이 시험에서의 관찰 결과이며 제품 전체에서 오류 확률이 0이라는 증명이 아니다.</a:t>
            </a:r>
          </a:p>
          <a:p xmlns:a="http://schemas.openxmlformats.org/drawingml/2006/main">
            <a:r>
              <a:t/>
            </a:r>
          </a:p>
          <a:p xmlns:a="http://schemas.openxmlformats.org/drawingml/2006/main">
            <a:r>
              <a:t>필수 위반은 잘못된 Task/Execution의 외부 명령/제어, 같은 명령의 중복 외부 효과, 철회/다른 질문의 승인 사용, 허용하지 않은 정보 접근/제공, 다른 업무로 질문 답변/결과 적용이다. 일반 표현/설명 오류와 구별해 독립 원장을 남긴다. 위반 후보도 모든 적용 QA의 값과 손익을 측정/보고하며 최종 선택 적격성만 제한한다.</a:t>
            </a:r>
          </a:p>
          <a:p xmlns:a="http://schemas.openxmlformats.org/drawingml/2006/main">
            <a:r>
              <a:t/>
            </a:r>
          </a:p>
          <a:p xmlns:a="http://schemas.openxmlformats.org/drawingml/2006/main">
            <a:r>
              <a:t>같은 DP의 A/B 차이가 **1 percentage point 이상이고 §3.4의 paired 95% 구간이 0을 포함하지 않을 때** 정확성의 의미 있는 우위로 인정한다. 1pp는 2% 항목 오류 예산의 절반에 해당하는 선택 차이로 정했으며 이 분모에서 순 정답 차이 최소 6개다. 필수 위반/목표 충족 여부와 함께 해석한다. 미달 후보가 더 높은 정확률을 보였다는 사실도 그대로 남긴다.</a:t>
            </a:r>
          </a:p>
          <a:p xmlns:a="http://schemas.openxmlformats.org/drawingml/2006/main">
            <a:r>
              <a:t/>
            </a:r>
          </a:p>
          <a:p xmlns:a="http://schemas.openxmlformats.org/drawingml/2006/main">
            <a:r>
              <a:t>차이가 1pp 미만이면 선택상 작은 차이로 보고하고, 구간이 0을 포함하면 우열 미입증으로 보고한다. 미입증을 통계적 동등성으로 바꾸지 않는다. 선택은 사용자 지정 ASR-QA-01 → 02 → 03 → 04 → 05 → 06 순서로 유의미한 차이를 확인하며 모든 축의 손익을 보고한다. 상위 QA의 우열이 드러나지 않으면 다음 QA로 넘어가고, 선택한 안의 낮은 순위 약점은 tactic으로 보완한 뒤 상위 QA의 회귀를 검사한다. 이번 정의만으로 A/B를 선정한 것은 아니다. 이 규칙은 각 DP의 쌍 비교용이며 네 비교 전체의 동시 95% 보장을 주장하지 않는다.</a:t>
            </a:r>
          </a:p>
          <a:p xmlns:a="http://schemas.openxmlformats.org/drawingml/2006/main">
            <a:r>
              <a:t/>
            </a:r>
          </a:p>
          <a:p xmlns:a="http://schemas.openxmlformats.org/drawingml/2006/main">
            <a:r>
              <a:t>#### 3.5.1 목표 필요성과 수치 선택 근거</a:t>
            </a:r>
          </a:p>
          <a:p xmlns:a="http://schemas.openxmlformats.org/drawingml/2006/main">
            <a:r>
              <a:t/>
            </a:r>
          </a:p>
          <a:p xmlns:a="http://schemas.openxmlformats.org/drawingml/2006/main">
            <a:r>
              <a:t>VIA는 여러 업무/Agent를 하나의 대화로 연결하고 과거 근거를 다시 사용하며 특정 업무만 정정/취소하는 SW다. 목표/대상/관계/상태가 잘못되면 사용자가 VIA 대신 업무를 식별하고 다시 연결해야 한다. 높은 정확성의 과제 근거는 [시스템 목적](../../01-system-mission-and-boundary.md), [고정 범위](../../03-fixed-architecture-scope.md)와 [UC](../../05-representative-use-cases.md)에 있다.</a:t>
            </a:r>
          </a:p>
          <a:p xmlns:a="http://schemas.openxmlformats.org/drawingml/2006/main">
            <a:r>
              <a:t/>
            </a:r>
          </a:p>
          <a:p xmlns:a="http://schemas.openxmlformats.org/drawingml/2006/main">
            <a:r>
              <a:t>**수치 선택은 작성자가 정한 PoC 허용 오류 예산이다.** 외부 논문이나 사업자 합의에서 VIA의 98%를 발견했다고 주장하지 않는다. 사용자가 2026-10-11 허용 수준을 작성자가 구체화하고 이후 리뷰하도록 위임했으므로 다음 예산을 현재 정의로 채택한다.</a:t>
            </a:r>
          </a:p>
          <a:p xmlns:a="http://schemas.openxmlformats.org/drawingml/2006/main">
            <a:r>
              <a:t/>
            </a:r>
          </a:p>
          <a:p xmlns:a="http://schemas.openxmlformats.org/drawingml/2006/main">
            <a:r>
              <a:t>| 목표 | 과제 차원 선택 판단 | 작은 PoC의 정수 한도 |</a:t>
            </a:r>
          </a:p>
          <a:p xmlns:a="http://schemas.openxmlformats.org/drawingml/2006/main">
            <a:r>
              <a:t>| --- | --- | --- |</a:t>
            </a:r>
          </a:p>
          <a:p xmlns:a="http://schemas.openxmlformats.org/drawingml/2006/main">
            <a:r>
              <a:t>| 항목 정확성 98% | 업무 연결과 적용까지 포함한 필수 조건에서 **50개 중 1개 이하 오류**를 허용하는 높은 신뢰 기준. 단순 해석 점수만 높고 적용/전달이 틀리는 구조를 걸러냄 | 540개에서 오류 최대 10개. 11개 오류는 97.963%로 미달 |</a:t>
            </a:r>
          </a:p>
          <a:p xmlns:a="http://schemas.openxmlformats.org/drawingml/2006/main">
            <a:r>
              <a:t>| 완전 정답 95% | 사용자가 **20번 중 1번을 넘게 전체 처리의 재확인/수정에 개입하지 않아야 한다**는 PoC 수용 판단. 반복 시험이 제품 사용 빈도를 대표한다는 주장은 아님 | 90회에서 실패 최대 4회. 5회 실패는 94.444%로 미달 |</a:t>
            </a:r>
          </a:p>
          <a:p xmlns:a="http://schemas.openxmlformats.org/drawingml/2006/main">
            <a:r>
              <a:t>| 각 S/C 95% | 정정/교차 질문/권한 경계를 평균 뒤에 숨기지 않도록 각 중요 묶음에도 같은 20회당 1회 수준의 보호 예산 | 각 90개에서 오류 최대 4개 |</a:t>
            </a:r>
          </a:p>
          <a:p xmlns:a="http://schemas.openxmlformats.org/drawingml/2006/main">
            <a:r>
              <a:t>| 필수 위반 0건 | 무관 업무 제어/중복 외부 효과/잘못된 승인/무허용 정보 사용은 고정 기능과 권한 계약상 허용할 수 없는 효과 | 관찰 범위에서 1건이면 적격성 미달. 발생 확률 0의 증명은 아님 |</a:t>
            </a:r>
          </a:p>
          <a:p xmlns:a="http://schemas.openxmlformats.org/drawingml/2006/main">
            <a:r>
              <a:t/>
            </a:r>
          </a:p>
          <a:p xmlns:a="http://schemas.openxmlformats.org/drawingml/2006/main">
            <a:r>
              <a:t>98%와 95%는 서로 자동 변환되지 않는다. 오류 10개가 10개 요청에 하나씩 퍼지면 항목 목표는 충족해도 전체 처리 목표는 미달이다. 오류가 4개 요청 안에 집중되면 각 S/C 보호 조건까지 검사한다. 이 두 예산을 함께 두어 부분 점수와 실제 사용자의 수정 부담을 모두 관리한다. 모든 후보가 미달하면 보완해야 하며 결과 뒤에 숫자를 낮추거나 분모를 줄이지 않는다.</a:t>
            </a:r>
          </a:p>
          <a:p xmlns:a="http://schemas.openxmlformats.org/drawingml/2006/main">
            <a:r>
              <a:t/>
            </a:r>
          </a:p>
          <a:p xmlns:a="http://schemas.openxmlformats.org/drawingml/2006/main">
            <a:r>
              <a:t>[이전 발표자료](../../../archive/qa-presentations-before-asr-20261011/README.md)의 V-01은 전체 요청 95%와 1,880회 시험을 제안했다. 현재 98%는 여섯 조건 묶음/90회/540개이며 그 외부 모델 사례를 직접 근거로 옮기지 않는다. 기존 수치의 약한 설명은 [완성 전 정의](../../../archive/qa-definitions-before-completion-20261011/README.md)에 보존한다. 현재 목표/분모/정답은 바꾸지 않고 과제 예산의 선택 이유를 명시했다.</a:t>
            </a:r>
          </a:p>
          <a:p xmlns:a="http://schemas.openxmlformats.org/drawingml/2006/main">
            <a:r>
              <a:t/>
            </a:r>
          </a:p>
          <a:p xmlns:a="http://schemas.openxmlformats.org/drawingml/2006/main">
            <a:r>
              <a:t>### 3.6 측정 절차와 관측 근거</a:t>
            </a:r>
          </a:p>
          <a:p xmlns:a="http://schemas.openxmlformats.org/drawingml/2006/main">
            <a:r>
              <a:t/>
            </a:r>
          </a:p>
          <a:p xmlns:a="http://schemas.openxmlformats.org/drawingml/2006/main">
            <a:r>
              <a:t>공통 환경/후보 구성은 §8을 사용한다. 아래에서는 정확성의 기대값과 실제 처리 evidence를 어떻게 연결하고 채점하는지 정한다.</a:t>
            </a:r>
          </a:p>
          <a:p xmlns:a="http://schemas.openxmlformats.org/drawingml/2006/main">
            <a:r>
              <a:t/>
            </a:r>
          </a:p>
          <a:p xmlns:a="http://schemas.openxmlformats.org/drawingml/2006/main">
            <a:r>
              <a:t>#### 3.6.1 공통 검사 방식과 관측</a:t>
            </a:r>
          </a:p>
          <a:p xmlns:a="http://schemas.openxmlformats.org/drawingml/2006/main">
            <a:r>
              <a:t/>
            </a:r>
          </a:p>
          <a:p xmlns:a="http://schemas.openxmlformats.org/drawingml/2006/main">
            <a:r>
              <a:t>정답 조건은 다음 검사 방식으로 표현한다. **테스트마다 새로운 채점 알고리즘을 만들지 않고 조건 유형, 비교 연산과 기대값을 지정한다.** 아래는 평가 설계이며 실행 harness나 runtime schema를 구현한 것은 아니다.</a:t>
            </a:r>
          </a:p>
          <a:p xmlns:a="http://schemas.openxmlformats.org/drawingml/2006/main">
            <a:r>
              <a:t/>
            </a:r>
          </a:p>
          <a:p xmlns:a="http://schemas.openxmlformats.org/drawingml/2006/main">
            <a:r>
              <a:t>| 공통 검사 방식 | 용도 | 예 |</a:t>
            </a:r>
          </a:p>
          <a:p xmlns:a="http://schemas.openxmlformats.org/drawingml/2006/main">
            <a:r>
              <a:t>| --- | --- | --- |</a:t>
            </a:r>
          </a:p>
          <a:p xmlns:a="http://schemas.openxmlformats.org/drawingml/2006/main">
            <a:r>
              <a:t>| 값/의미 일치 | ID, version, 상태, 의미가 정해진 목표/제약 | 대상 업무=메일, 기간=3분기, 기대 상태=접수됨 |</a:t>
            </a:r>
          </a:p>
          <a:p xmlns:a="http://schemas.openxmlformats.org/drawingml/2006/main">
            <a:r>
              <a:t>| 집합 일치 | 필수 대상/조건의 누락 및 원치 않은 추가 | 참조 대상={A, B}, 다른 C 포함 금지 |</a:t>
            </a:r>
          </a:p>
          <a:p xmlns:a="http://schemas.openxmlformats.org/drawingml/2006/main">
            <a:r>
              <a:t>| 허용 결과 집합 | 요구를 만족하는 복수 경로/표현 | 제한된 조회의 허용 직접 응답/위임, 의미가 같은 질문/안내 |</a:t>
            </a:r>
          </a:p>
          <a:p xmlns:a="http://schemas.openxmlformats.org/drawingml/2006/main">
            <a:r>
              <a:t>| 관계/전이 충족 | 조건/의존 graph, 실제 상태 변화와 인과 순서 | 요약 결과 준비 뒤 해당 참조로 메일 인계, 취소 접수와 종료 구별 |</a:t>
            </a:r>
          </a:p>
          <a:p xmlns:a="http://schemas.openxmlformats.org/drawingml/2006/main">
            <a:r>
              <a:t>| 금지 효과 없음 | 정해진 관찰 구간 전체의 부정 조건 | 답변 전 임의 실행 없음, 다른 Task 취소 없음, 중복 외부 명령 없음 |</a:t>
            </a:r>
          </a:p>
          <a:p xmlns:a="http://schemas.openxmlformats.org/drawingml/2006/main">
            <a:r>
              <a:t/>
            </a:r>
          </a:p>
          <a:p xmlns:a="http://schemas.openxmlformats.org/drawingml/2006/main">
            <a:r>
              <a:t>자연어 결과는 정확한 문자열 일치로 채점하지 않는다. 사전 등록한 의미 사실/허용 표현 기준에 맞춰 목표, 조건과 주장 사실을 판정한다. 문장마다 임의의 “그럴듯함” 점수를 주지 않으며 자동 판정이 어려운 사실은 같은 rubric과 검토 절차로 기록한다. 자동/수동 판정과 평가자 불일치 처리는 §3.6.3으로 고정했다.</a:t>
            </a:r>
          </a:p>
          <a:p xmlns:a="http://schemas.openxmlformats.org/drawingml/2006/main">
            <a:r>
              <a:t/>
            </a:r>
          </a:p>
          <a:p xmlns:a="http://schemas.openxmlformats.org/drawingml/2006/main">
            <a:r>
              <a:t>관측은 각 조건의 경계에 맞춘다. C1~C4는 채택 의미와 실제 처리에 사용한 대상/관계를, C5는 명령 전송/Agent receipt/상태 반영을, C6는 실제 Text 표시/음성 재생과 기록을 연결한다. 공통 의미로 정규화한 관측 record를 쓰되 A/B의 내부 저장 필드나 중간 Module을 같은 형식으로 바꾸도록 요구하지 않는다. 필요한 adapter와 필수 evidence는 측정 계약에서 별도 설계한다.</a:t>
            </a:r>
          </a:p>
          <a:p xmlns:a="http://schemas.openxmlformats.org/drawingml/2006/main">
            <a:r>
              <a:t/>
            </a:r>
          </a:p>
          <a:p xmlns:a="http://schemas.openxmlformats.org/drawingml/2006/main">
            <a:r>
              <a:t>정답 조건별 record에는 `과제 ID, 조건 ID, C 유형, 검사 방식, 기대값, 실제값, evidence 참조, 판정, 오류 원인`을 둔다. 이번 여섯 항목의 결과는 `정답/오답`으로 남기며 N/A는 사용하지 않는다. 필수 결과/관측의 후보 귀속 누락은 오답으로 남기고, 시험 수집기 결함은 §3.6.3의 INVALID 절차를 따른다. 금지 효과가 없다는 판정에는 전체 관찰 구간의 필수 trace가 필요하다. 끝 상태만 보고 중간 오실행이 없었다고 추정하지 않는다.</a:t>
            </a:r>
          </a:p>
          <a:p xmlns:a="http://schemas.openxmlformats.org/drawingml/2006/main">
            <a:r>
              <a:t/>
            </a:r>
          </a:p>
          <a:p xmlns:a="http://schemas.openxmlformats.org/drawingml/2006/main">
            <a:r>
              <a:t>기존 검사 방식으로 표현할 수 없는 중요한 사실을 발견하면 공통 조건/검사 정의를 개정하고 영향받는 사례 전체에 적용한다. 특정 DP나 실패 사례 하나에만 다른 판정법을 추가하지 않는다. 정답 파일은 평가자만 보며 후보에는 정상 사용자가 접근할 수 있는 입력/근거와 동일한 외부 지원만 제공한다.</a:t>
            </a:r>
          </a:p>
          <a:p xmlns:a="http://schemas.openxmlformats.org/drawingml/2006/main">
            <a:r>
              <a:t/>
            </a:r>
          </a:p>
          <a:p xmlns:a="http://schemas.openxmlformats.org/drawingml/2006/main">
            <a:r>
              <a:t>#### 3.6.2 모든 테스트에 사용할 작성 양식</a:t>
            </a:r>
          </a:p>
          <a:p xmlns:a="http://schemas.openxmlformats.org/drawingml/2006/main">
            <a:r>
              <a:t/>
            </a:r>
          </a:p>
          <a:p xmlns:a="http://schemas.openxmlformats.org/drawingml/2006/main">
            <a:r>
              <a:t>```text</a:t>
            </a:r>
          </a:p>
          <a:p xmlns:a="http://schemas.openxmlformats.org/drawingml/2006/main">
            <a:r>
              <a:t>과제 ID / 대표 상황 S1~S6 / 고정 UC / 공통 변형 tag</a:t>
            </a:r>
          </a:p>
          <a:p xmlns:a="http://schemas.openxmlformats.org/drawingml/2006/main">
            <a:r>
              <a:t>초기 상태: 대화, 기존 업무/질문, 허용 정보/권한, 원본 version, 실제 전달 범위</a:t>
            </a:r>
          </a:p>
          <a:p xmlns:a="http://schemas.openxmlformats.org/drawingml/2006/main">
            <a:r>
              <a:t>입력과 사건: Voice 발화의 공통 전사/시각, 화면/행동 근거, Agent 원천 사건, 공통 후속 사용자 답변</a:t>
            </a:r>
          </a:p>
          <a:p xmlns:a="http://schemas.openxmlformats.org/drawingml/2006/main">
            <a:r>
              <a:t>사건 순서: 공통 원천 사건의 순서/경쟁 조건과 외부 지원 응답</a:t>
            </a:r>
          </a:p>
          <a:p xmlns:a="http://schemas.openxmlformats.org/drawingml/2006/main">
            <a:r>
              <a:t>기대 조건:</a:t>
            </a:r>
          </a:p>
          <a:p xmlns:a="http://schemas.openxmlformats.org/drawingml/2006/main">
            <a:r>
              <a:t>  C1 목표와 처리 방향       → 조건 ID, 검사 방식, 기대값 또는 허용 집합</a:t>
            </a:r>
          </a:p>
          <a:p xmlns:a="http://schemas.openxmlformats.org/drawingml/2006/main">
            <a:r>
              <a:t>  C2 대상과 근거            → 동일 양식</a:t>
            </a:r>
          </a:p>
          <a:p xmlns:a="http://schemas.openxmlformats.org/drawingml/2006/main">
            <a:r>
              <a:t>  C3 대화와 업무 연결       → 동일 양식</a:t>
            </a:r>
          </a:p>
          <a:p xmlns:a="http://schemas.openxmlformats.org/drawingml/2006/main">
            <a:r>
              <a:t>  C4 조건, 관계와 변경 범위 → 동일 양식</a:t>
            </a:r>
          </a:p>
          <a:p xmlns:a="http://schemas.openxmlformats.org/drawingml/2006/main">
            <a:r>
              <a:t>  C5 처리 효과와 상태       → 동일 양식</a:t>
            </a:r>
          </a:p>
          <a:p xmlns:a="http://schemas.openxmlformats.org/drawingml/2006/main">
            <a:r>
              <a:t>  C6 응답 내용과 실제 전달  → 동일 양식</a:t>
            </a:r>
          </a:p>
          <a:p xmlns:a="http://schemas.openxmlformats.org/drawingml/2006/main">
            <a:r>
              <a:t>금지 효과: 조건 ID에 연결해 관찰 구간 전체에서 확인</a:t>
            </a:r>
          </a:p>
          <a:p xmlns:a="http://schemas.openxmlformats.org/drawingml/2006/main">
            <a:r>
              <a:t>관찰 종료: 요구 결과의 관측 경계, 지연 사건 포함 구간, 공통 최대 대기 규칙</a:t>
            </a:r>
          </a:p>
          <a:p xmlns:a="http://schemas.openxmlformats.org/drawingml/2006/main">
            <a:r>
              <a:t>관측 및 판정: 조건별 실제값/evidence/정답 여부/오류 원인</a:t>
            </a:r>
          </a:p>
          <a:p xmlns:a="http://schemas.openxmlformats.org/drawingml/2006/main">
            <a:r>
              <a:t>```</a:t>
            </a:r>
          </a:p>
          <a:p xmlns:a="http://schemas.openxmlformats.org/drawingml/2006/main">
            <a:r>
              <a:t/>
            </a:r>
          </a:p>
          <a:p xmlns:a="http://schemas.openxmlformats.org/drawingml/2006/main">
            <a:r>
              <a:t>이번 18개 사례는 필요한 확인 질문과 공통 답변을 같은 과제 안에 포함한다. 후속 질문을 별도 과제로 추가해 분모를 늘리지 않는다. 후보의 질문 문구/순서가 달라도 동일 의미의 답변을 제공한다. 답변 제공 규칙은 같은 질문 대상과 정보량을 유지하며 필요 없는 힌트를 추가하지 않는다.</a:t>
            </a:r>
          </a:p>
          <a:p xmlns:a="http://schemas.openxmlformats.org/drawingml/2006/main">
            <a:r>
              <a:t/>
            </a:r>
          </a:p>
          <a:p xmlns:a="http://schemas.openxmlformats.org/drawingml/2006/main">
            <a:r>
              <a:t>사건 schedule은 공통 원천 사건과 외부 의미 경계에 맞춘다. 특정 안의 내부 Module 시작/완료를 기준으로 다른 안에 더 유리한 근거를 주지 않는다. 후보의 계산/조회/확정 순서는 구조가 만들도록 두고 경쟁 조건의 적용 방법을 계약에 명시한다. v3의 사례별 조건/관찰 종료/최대 대기는 §3.2.3과 §3.6.3을 따른다.</a:t>
            </a:r>
          </a:p>
          <a:p xmlns:a="http://schemas.openxmlformats.org/drawingml/2006/main">
            <a:r>
              <a:t/>
            </a:r>
          </a:p>
          <a:p xmlns:a="http://schemas.openxmlformats.org/drawingml/2006/main">
            <a:r>
              <a:t>원본 fixture 제작과 관측 adapter는 §8.3의 실행 준비 단계다. 상황 분류/분모/목표를 다시 결정하는 작업으로 복원하지 않는다.</a:t>
            </a:r>
          </a:p>
          <a:p xmlns:a="http://schemas.openxmlformats.org/drawingml/2006/main">
            <a:r>
              <a:t/>
            </a:r>
          </a:p>
          <a:p xmlns:a="http://schemas.openxmlformats.org/drawingml/2006/main">
            <a:r>
              <a:t>#### 3.6.3 실행과 관측 절차</a:t>
            </a:r>
          </a:p>
          <a:p xmlns:a="http://schemas.openxmlformats.org/drawingml/2006/main">
            <a:r>
              <a:t/>
            </a:r>
          </a:p>
          <a:p xmlns:a="http://schemas.openxmlformats.org/drawingml/2006/main">
            <a:r>
              <a:t>1. **실행 자산 제작:** §3.2.2의 상세 명세와 §3.3.1의 판별 규칙을 파일/검사기로 옮기고 각 사례의 Voice 발화와 지정 조건 하나를 고정한다. 파일 hash, source event script, fixture 의미 ID와 runtime ID 대응, Voice/screen 시각, rubric을 고정한다. 후보에게 정답표를 제공하지 않는다.</a:t>
            </a:r>
          </a:p>
          <a:p xmlns:a="http://schemas.openxmlformats.org/drawingml/2006/main">
            <a:r>
              <a:t>2. **runner 검수:** 정답/누락/오선택/잘못된 상태/미전달 trace를 이용해 C1~C6와 위반 검출을 확인한다. 이는 검사기 검수이며 후보 정확성 점수에 넣지 않는다. critical Action은 stub 경계에서만 기록한다.</a:t>
            </a:r>
          </a:p>
          <a:p xmlns:a="http://schemas.openxmlformats.org/drawingml/2006/main">
            <a:r>
              <a:t>3. **모델/후보 binding:** 동일 build/설정과 실제 저장/인계/입력/표시/재생 경계의 관측을 확인한다. 구조별 prompt/운영 예산과 cache/생산의 version을 기록하고 준비 상태를 확인한다. 정답표를 보며 한쪽 prompt만 조정하지 않는다.</a:t>
            </a:r>
          </a:p>
          <a:p xmlns:a="http://schemas.openxmlformats.org/drawingml/2006/main">
            <a:r>
              <a:t>4. **동일 준비 상태 복원:** N/W/X의 동일 원본/외부 이력을 각각의 후보가 처리하게 한다. W는 원본대로 마지막 준비 사건 뒤 5초를 기다리며 120초는 전체 준비 실패를 닫는 상한이다. X에는 공통 변경/교차 script를 적용한다. 시험용 의미/파생 자료를 정답으로 선주입하지 않는다.</a:t>
            </a:r>
          </a:p>
          <a:p xmlns:a="http://schemas.openxmlformats.org/drawingml/2006/main">
            <a:r>
              <a:t>5. **쌍 실행:** 같은 사례/지정 조건/반복의 A/B를 가까운 시간에 연속 실행한다. 순서는 seed `20261010`으로 섞고 각 입력 조건의 5쌍에서는 A 선행/B 선행을 3/2 또는 2/3으로 배분한다. 같은 provider seed가 지원되면 대응시키되 동일 모델 응답을 강제하지 않는다.</a:t>
            </a:r>
          </a:p>
          <a:p xmlns:a="http://schemas.openxmlformats.org/drawingml/2006/main">
            <a:r>
              <a:t>6. **후속 사건/답변 제공:** 후보의 유효 질문에 정해진 의미의 Voice 답변을 공통 replay로 준다. 허용하지 않은 임의 추가 정보는 주지 않는다. 계획된 확인은 필요한 정보가 모두 채워질 때까지, 후보가 추가한 불필요한 확인은 최대 2회 답변 기회까지 제공하고 그 수고/시간/비용도 남긴다. 미지원 관계를 다른 목표로 바꾸는 답변은 제공하지 않는다.</a:t>
            </a:r>
          </a:p>
          <a:p xmlns:a="http://schemas.openxmlformats.org/drawingml/2006/main">
            <a:r>
              <a:t>7. **관찰:** 마지막 원천 입력/필수 외부 사실 또는 제공한 사용자 답변부터 각 자동 처리 구간을 최대 60초 관찰한다. 준비/대기 중에도 금지 효과를 기록한다. 필수 후속 사건은 script의 60초 안에서 발생시키고, 마지막 처리 후 5초간 늦은 반환/중복/옛 음성의 재활성화를 확인한다. 처리 episode 총 상한은 10분이며 외부 Agent의 실제 장기 업무가 끝날 때까지 기다리는 테스트가 아니다.</a:t>
            </a:r>
          </a:p>
          <a:p xmlns:a="http://schemas.openxmlformats.org/drawingml/2006/main">
            <a:r>
              <a:t>8. **판정/보고:** C1~C6의 실제값/evidence/0 또는 1, 세부 오류, 위반, 모델 사용량, 실제 완료/전달 시각을 저장한다. 같은 자료에서 §3.4의 전체/분해/완전 정답과 쌍 차이를 계산한다.</a:t>
            </a:r>
          </a:p>
          <a:p xmlns:a="http://schemas.openxmlformats.org/drawingml/2006/main">
            <a:r>
              <a:t/>
            </a:r>
          </a:p>
          <a:p xmlns:a="http://schemas.openxmlformats.org/drawingml/2006/main">
            <a:r>
              <a:t>60초/10분은 미완료를 무한 대기로 숨기지 않기 위한 정확성 시험의 관찰 상한이다. 빠른 응답 목표나 정상적인 제품 응답시간 SLA를 이 숫자로 정의하지 않는다. 시간/비용/메모리 raw trace는 같은 W100에서 함께 수집하고 §4/5/7의 완성된 대표 지표/목표로 집계한다.</a:t>
            </a:r>
          </a:p>
          <a:p xmlns:a="http://schemas.openxmlformats.org/drawingml/2006/main">
            <a:r>
              <a:t/>
            </a:r>
          </a:p>
          <a:p xmlns:a="http://schemas.openxmlformats.org/drawingml/2006/main">
            <a:r>
              <a:t>입력 onset→hold 수락→전송 시작의 경합에서는 **실제 순서**를 판정한다. 먼저 시작된 외부 효과는 확인/정정/취소의 대상으로 남기고, 이미 발생한 효과를 없었다고 표시하면 실패다. hold/권한 철회가 먼저 수락됐는데 이후 금지된 전송을 한 경우는 위반이다. 원천 사건과 software 인식 경계를 구별하는 원칙은 [event-boundary-contract](../../11-measurement/event-boundary-contract.md)를 따른다.</a:t>
            </a:r>
          </a:p>
          <a:p xmlns:a="http://schemas.openxmlformats.org/drawingml/2006/main">
            <a:r>
              <a:t/>
            </a:r>
          </a:p>
          <a:p xmlns:a="http://schemas.openxmlformats.org/drawingml/2006/main">
            <a:r>
              <a:t>범위가 명확한 필수 사실을 자동 판정하고 자연어 출력/재생 구간은 목표/대상/조건/상태의 같은 사실 rubric으로 후보 이름을 가려 검토한다. 모호한 판정은 두 번째 평가자가 확인한다. 표현 차이는 허용하고 사실 추가/누락/모순은 허용하지 않는다. 불일치는 후보 이름을 가린 evidence와 원본으로 조정해 이유를 남긴다. 오답인 후보 출력을 정답으로 삼는 model judge를 단독 최종 판정자로 사용하지 않는다.</a:t>
            </a:r>
          </a:p>
          <a:p xmlns:a="http://schemas.openxmlformats.org/drawingml/2006/main">
            <a:r>
              <a:t/>
            </a:r>
          </a:p>
          <a:p xmlns:a="http://schemas.openxmlformats.org/drawingml/2006/main">
            <a:r>
              <a:t>후보 누락/timeout이면 증명된 항목만 1로 남기고 나머지는 0이다. 예를 들어 의미는 맞았지만 Agent 인계/실제 전달이 없으면 C5/C6는 0이다. 이미 확인한 C1~C4를 무조건 모두 0으로 덮지는 않는다. 단, 후보 전체가 실패하여 근거가 없으면 여섯 항목 모두 0이다. 시험 수집기 결함이나 계획하지 않은 공통 provider 장애로 판정 자체가 불가능하면 A/B 쌍을 INVALID로 보존하고 복구 후 같은 쌍을 재실행한다. 후보의 잘못된 호출/예산 소진/필수 trace 미생성은 INVALID가 아니다. 원래 90개 유효 실행이 채워질 때까지 실패 사례를 유지하며 INVALID와 재실행도 공개한다.</a:t>
            </a:r>
          </a:p>
          <a:p xmlns:a="http://schemas.openxmlformats.org/drawingml/2006/main">
            <a:r>
              <a:t/>
            </a:r>
          </a:p>
          <a:p xmlns:a="http://schemas.openxmlformats.org/drawingml/2006/main">
            <a:r>
              <a:t>### 3.7 DP-41/42/44/45와의 연결</a:t>
            </a:r>
          </a:p>
          <a:p xmlns:a="http://schemas.openxmlformats.org/drawingml/2006/main">
            <a:r>
              <a:t/>
            </a:r>
          </a:p>
          <a:p xmlns:a="http://schemas.openxmlformats.org/drawingml/2006/main">
            <a:r>
              <a:t>| DP | 같은 QA에서 값이 달라질 수 있는 원인 | 주 관찰 사례/항목 | 강한 반대안과 같아질 조건 | 이번 결론 |</a:t>
            </a:r>
          </a:p>
          <a:p xmlns:a="http://schemas.openxmlformats.org/drawingml/2006/main">
            <a:r>
              <a:t>| --- | --- | --- | --- | --- |</a:t>
            </a:r>
          </a:p>
          <a:p xmlns:a="http://schemas.openxmlformats.org/drawingml/2006/main">
            <a:r>
              <a:t>| 41 | A의 조회 선택/전체 결합 오류 대 B의 frame 추출/유한 표현/코드 결합 오류. 생략, 부정, 예외와 부분 정정에서 다른 최종 의미를 만들 수 있음 | S2-01~03, S3-01~03, S4-01, S6-01/02의 C1~C4 및 실제 인계 | B가 필요한 표현을 포괄하고 A도 보존 검사/patch를 수행하면 동일 정답 가능 | 정확성에 직접 민감. 정형 표현과 자연스러운 교차 관계를 함께 시험 |</a:t>
            </a:r>
          </a:p>
          <a:p xmlns:a="http://schemas.openxmlformats.org/drawingml/2006/main">
            <a:r>
              <a:t>| 42 | A의 공동 로컬 확정 대 B의 별도 접수/대화 반영 사이에 질문 철회, 상태 변경, 접수 응답 유실이 끼면 적용/안내가 달라질 수 있음 | S4-01/03, S5-01~03, S6-02의 C3/C5/C6 | 동일 의미 모델과 올바른 재검사/중복 방지/사실 반영이면 양안 모두 정답. IPC 횟수 자체는 감점하지 않음 | 정확성의 주요 역할은 상태 처리 회귀 검사. 정상 의미 정확도 차이를 예상하지 않음 |</a:t>
            </a:r>
          </a:p>
          <a:p xmlns:a="http://schemas.openxmlformats.org/drawingml/2006/main">
            <a:r>
              <a:t>| 44 | A의 중앙 후속 전이 연결 대 B의 window/join/cancel 연결이 늦은 결과와 실제 제시를 처리할 때 다른 효과/전달을 만들 수 있음 | S4-01/02, S5-01~03, S6-02의 C3/C5/C6 | A의 비동기/priority/revision 검사와 B의 유효 join/최종 검사 모두 맞으면 동일 정답 | 교차 사건에 민감한 회귀 검사. 실행 조직만으로 B의 의미 정확성 이익을 부여하지 않음 |</a:t>
            </a:r>
          </a:p>
          <a:p xmlns:a="http://schemas.openxmlformats.org/drawingml/2006/main">
            <a:r>
              <a:t>| 45 | A의 현재 요청별 원본 결합 누락 대 B의 과거 관계 생산 손실/오류 공유/갱신 지연. 부정/예외와 실제 전달/원본 version에서 차이 가능 | S2-02/03, 과거 근거가 있는 S4-01/S6-01의 C2~C4 및 후속 인계 | A의 유효 cache와 B의 원문 확인/충분한 관계/부분 갱신으로 차이가 줄 수 있음 | 정확성에 직접 민감. 첫 사용/반복/갱신 직후와 원문 조건 보존을 함께 시험 |</a:t>
            </a:r>
          </a:p>
          <a:p xmlns:a="http://schemas.openxmlformats.org/drawingml/2006/main">
            <a:r>
              <a:t/>
            </a:r>
          </a:p>
          <a:p xmlns:a="http://schemas.openxmlformats.org/drawingml/2006/main">
            <a:r>
              <a:t>**이 지표는 네 DP의 중요한 오류 경로를 관찰하지만 네 쌍 모두에 다른 값이 나오도록 보장하지 않는다.** 42/44가 같은 정확률이면 정상적인 결과다. 원래 품질 효과가 재처리 시간, 비용, 변경 범위나 메모리에만 남았다면 해당 QA에서 비교한다. 이를 정확률 차이로 만들기 위해 A의 검사를 제거하거나 B에 오류 확률을 미리 주입하지 않는다.</a:t>
            </a:r>
          </a:p>
          <a:p xmlns:a="http://schemas.openxmlformats.org/drawingml/2006/main">
            <a:r>
              <a:t/>
            </a:r>
          </a:p>
          <a:p xmlns:a="http://schemas.openxmlformats.org/drawingml/2006/main">
            <a:r>
              <a:t>41B의 frame 또는 45B의 관계 종류가 같은 UC 요구를 표현하지 못하면 미지원과 원래 요구 손실을 기록하고 해당 필수 항목을 0으로 판정한다. 사용자 목표를 더 단순한 요청으로 바꾸어 성공으로 세지 않는다. 범용 의미 모델에게 전체 관계를 맡긴 B+는 별도 혼합 후보이며 순수 B의 점수로 보고하지 않는다.</a:t>
            </a:r>
          </a:p>
          <a:p xmlns:a="http://schemas.openxmlformats.org/drawingml/2006/main">
            <a:r>
              <a:t/>
            </a:r>
          </a:p>
          <a:p xmlns:a="http://schemas.openxmlformats.org/drawingml/2006/main">
            <a:r>
              <a:t/>
            </a:r>
          </a:p>
          <a:p xmlns:a="http://schemas.openxmlformats.org/drawingml/2006/main">
            <a:r>
              <a:t>ASR-QA-02 상호작용 응답시간</a:t>
            </a:r>
          </a:p>
          <a:p xmlns:a="http://schemas.openxmlformats.org/drawingml/2006/main">
            <a:r>
              <a:t>정의: 사용자 입력이나 업무 상태 변화에 VIA가 알맞은 답변이나 동작으로 반응하기까지 걸리는 시간 (예: VIA가 말하는 중 사용자 끼어들기 → 음성 재생 중단, Agent의 확인 질문 도착 → 사용자에게 질문 제시)</a:t>
            </a:r>
          </a:p>
          <a:p xmlns:a="http://schemas.openxmlformats.org/drawingml/2006/main">
            <a:r>
              <a:t>측정 지표: 평균 유효 반응시간(초) = 6개 사건 × 5회, 30개 귀속 시간의 산술평균</a:t>
            </a:r>
          </a:p>
          <a:p xmlns:a="http://schemas.openxmlformats.org/drawingml/2006/main">
            <a:r>
              <a:t>목표: 1.0초 이하, 음성 stop 0.1초 이하</a:t>
            </a:r>
          </a:p>
          <a:p xmlns:a="http://schemas.openxmlformats.org/drawingml/2006/main">
            <a:r>
              <a:t>목표 근거: PC 작업 중 대화/제어 흐름 유지. Nielsen의 1초/즉각 제어 0.1초를 참고하고 모델/코드/음성 준비 예산 0.952초로 구체화. 2초 보호 한도와 미전달 0건도 검사 (§4.2)</a:t>
            </a:r>
          </a:p>
          <a:p xmlns:a="http://schemas.openxmlformats.org/drawingml/2006/main">
            <a:r>
              <a:t>보호 조건: stop ≤0.1초, 29/30 ≤2초,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Groq 공식 모델 단가/생성률: https://console.groq.com/docs/models</a:t>
            </a:r>
          </a:p>
          <a:p xmlns:a="http://schemas.openxmlformats.org/drawingml/2006/main">
            <a:r>
              <a:t>03-02 공통 QA 계약 v5: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**관리 ID: ASR-QA-02 — 상호작용 응답시간, ASR-QA-03 — VIA 요청 처리시간.** 둘 다 초 단위의 산술평균을 대표값으로 사용한다. 각 6개 대표 장면을 5회 반복하므로 후보당 30개 값이다. 정확성의 90회/540개 분모를 시간 지표에 복사하지 않는다. §8.0의 같은 S 사례에서 첫 반응과 전체 완료를 읽는다. 명시한 최종 결과 사건은 모든 QA에 공통인 tail이며 시간 시험만의 변형이 아니다.</a:t>
            </a:r>
          </a:p>
          <a:p xmlns:a="http://schemas.openxmlformats.org/drawingml/2006/main">
            <a:r>
              <a:t/>
            </a:r>
          </a:p>
          <a:p xmlns:a="http://schemas.openxmlformats.org/drawingml/2006/main">
            <a:r>
              <a:t>### 4.1 정의와 공통 시간 경계</a:t>
            </a:r>
          </a:p>
          <a:p xmlns:a="http://schemas.openxmlformats.org/drawingml/2006/main">
            <a:r>
              <a:t/>
            </a:r>
          </a:p>
          <a:p xmlns:a="http://schemas.openxmlformats.org/drawingml/2006/main">
            <a:r>
              <a:t>| 항목 | 상호작용 응답시간 — ASR-QA-02 | VIA 요청 처리시간 — ASR-QA-03 |</a:t>
            </a:r>
          </a:p>
          <a:p xmlns:a="http://schemas.openxmlformats.org/drawingml/2006/main">
            <a:r>
              <a:t>| --- | --- | --- |</a:t>
            </a:r>
          </a:p>
          <a:p xmlns:a="http://schemas.openxmlformats.org/drawingml/2006/main">
            <a:r>
              <a:t>| 발표용 정의 | 사용자 입력이나 업무 상태 변화에 VIA가 알맞은 답변이나 동작으로 반응하기까지 걸리는 시간 (예: VIA가 말하는 중 사용자 끼어들기 → 음성 재생 중단, Agent의 확인 질문 도착 → 사용자에게 질문 제시) | 요청 접수부터 최종 결과 전달까지, VIA의 처리와 대기로 걸리는 시간 (예: 보고서 작성 요청 → 요청 해석 → Agent에 작성 업무 인계 → 결과 수신 → 사용자에게 보고서 전달) |</a:t>
            </a:r>
          </a:p>
          <a:p xmlns:a="http://schemas.openxmlformats.org/drawingml/2006/main">
            <a:r>
              <a:t>| 평가 단위 | 지정된 사건 한 개와 그 사건에 필요한 첫 유효 반응 | 사용자의 하나의 목표와 확인/인계/결과 전달 전체 사이클 |</a:t>
            </a:r>
          </a:p>
          <a:p xmlns:a="http://schemas.openxmlformats.org/drawingml/2006/main">
            <a:r>
              <a:t>| 포함 | 전사 확정 대기, 근거 조회, 의미 모델과 음성 모델 왕복, VIA queue/경합, 상태 검증, 저장/IPC, 게시/재생 대기 | 왼쪽 구간에 더해 후속 답변 처리, 의존 요청 해제, 재조회/재해석, Agent 인계와 완료 후 전달 |</a:t>
            </a:r>
          </a:p>
          <a:p xmlns:a="http://schemas.openxmlformats.org/drawingml/2006/main">
            <a:r>
              <a:t>| 제외 | 발화 내용 자체의 길이, 사용자의 생각/답변 대기, 외부 Agent의 내부 queue/업무 실행 | 같은 외부 구간. 클라우드 의미/음성 추론은 VIA가 선택한 처리이므로 포함 |</a:t>
            </a:r>
          </a:p>
          <a:p xmlns:a="http://schemas.openxmlformats.org/drawingml/2006/main">
            <a:r>
              <a:t>| 유효 종료 | 실제 stop 효과 또는 요구 내용을 가진 Text 표시와 Voice ON일 때 첫 핵심 음성 onset | 해당 목표의 최종 결과/확인된 실패/명세된 유보를 담은 Text 표시와 Voice ON일 때 첫 핵심 음성 onset |</a:t>
            </a:r>
          </a:p>
          <a:p xmlns:a="http://schemas.openxmlformats.org/drawingml/2006/main">
            <a:r>
              <a:t/>
            </a:r>
          </a:p>
          <a:p xmlns:a="http://schemas.openxmlformats.org/drawingml/2006/main">
            <a:r>
              <a:t>단순 “접수했어요”, silence/earcon, 관계 없는 빠른 음성과 로컬 outbox enqueue는 종료가 아니다. Text와 음성을 함께 요구할 때는 두 종료점 중 늦은 시각을 쓴다. 완전한 음성 문장을 다 읽는 길이는 내용 길이 진단으로 남기고 첫 핵심 onset 이후의 읽기 시간을 대표 지표에 더하지 않는다. 중단은 예외로 **중단한 기존 출력의 마지막 재생 sample**이 종료다. 추상 sink에서는 동일 의미의 playback receipt를 사용하고 실제 스피커 실측과 구별한다.</a:t>
            </a:r>
          </a:p>
          <a:p xmlns:a="http://schemas.openxmlformats.org/drawingml/2006/main">
            <a:r>
              <a:t/>
            </a:r>
          </a:p>
          <a:p xmlns:a="http://schemas.openxmlformats.org/drawingml/2006/main">
            <a:r>
              <a:t>#### 4.1.1 병렬 실행과 외부 시간 귀속</a:t>
            </a:r>
          </a:p>
          <a:p xmlns:a="http://schemas.openxmlformats.org/drawingml/2006/main">
            <a:r>
              <a:t/>
            </a:r>
          </a:p>
          <a:p xmlns:a="http://schemas.openxmlformats.org/drawingml/2006/main">
            <a:r>
              <a:t>각 장면의 causal DAG에 `node_id, parent_ids, owner, request_ref, kind, duration_ms, evidence_ref`를 기록한다. 연산, queue, 전송, 모델 호출, 실제 전달을 독립 구간으로 둔다. 순차 duration은 합산하고 병렬 branch는 longest path로 계산한다. 같은 구간을 Request Controller와 Task Manager에서 두 번 더하지 않는다.</a:t>
            </a:r>
          </a:p>
          <a:p xmlns:a="http://schemas.openxmlformats.org/drawingml/2006/main">
            <a:r>
              <a:t/>
            </a:r>
          </a:p>
          <a:p xmlns:a="http://schemas.openxmlformats.org/drawingml/2006/main">
            <a:r>
              <a:t>외부 업무 대기는 `EXTERNAL_AGENT_WORK`, 사람의 답변 대기는 `EXTERNAL_USER_WAIT`로 분리한다. **같은 사건/분기/결과를 고정한 그래프에서 이 두 종류의 duration만 0으로 놓고, 선후 관계를 유지해 종료시각을 다시 계산한 값**이 VIA 귀속 시간이다. 독립 실행 중인 VIA 작업을 외부 대기와 함께 제거하지 않는다. `wall_clock - 여러 Agent 실행시간의 합`을 쓰지 않는다. 외부 Agent에 보내는 Gateway/전송/접수 처리와 Agent source 사건을 VIA가 가져오는 polling/통신 지연은 포함한다.</a:t>
            </a:r>
          </a:p>
          <a:p xmlns:a="http://schemas.openxmlformats.org/drawingml/2006/main">
            <a:r>
              <a:t/>
            </a:r>
          </a:p>
          <a:p xmlns:a="http://schemas.openxmlformats.org/drawingml/2006/main">
            <a:r>
              <a:t>이 계산은 원래 replay의 사건 순서와 의미 판정을 바꾸는 재실행이 아니다. 원래 graph의 의존성과 경쟁 outcome을 유지하는 귀속 계산이다. 외부 결과가 독립 작업보다 먼저 준비되도록 바꿔 semantic 성공률을 다시 생성하지 않는다. 전체 사용자 wall-clock, 제외한 구간과 계산 DAG를 함께 남긴다.</a:t>
            </a:r>
          </a:p>
          <a:p xmlns:a="http://schemas.openxmlformats.org/drawingml/2006/main">
            <a:r>
              <a:t/>
            </a:r>
          </a:p>
          <a:p xmlns:a="http://schemas.openxmlformats.org/drawingml/2006/main">
            <a:r>
              <a:t>### 4.2 ASR-QA-02: 대표 장면, 지표와 목표</a:t>
            </a:r>
          </a:p>
          <a:p xmlns:a="http://schemas.openxmlformats.org/drawingml/2006/main">
            <a:r>
              <a:t/>
            </a:r>
          </a:p>
          <a:p xmlns:a="http://schemas.openxmlformats.org/drawingml/2006/main">
            <a:r>
              <a:t>| ID / 재사용 사례 | 시작 | 필요한 첫 유효 반응과 판별 |</a:t>
            </a:r>
          </a:p>
          <a:p xmlns:a="http://schemas.openxmlformats.org/drawingml/2006/main">
            <a:r>
              <a:t>| --- | --- | --- |</a:t>
            </a:r>
          </a:p>
          <a:p xmlns:a="http://schemas.openxmlformats.org/drawingml/2006/main">
            <a:r>
              <a:t>| I-01 / S4-02 | 기존 설명 재생 중 새 사용자 발화의 acoustic onset | 기존 출력의 마지막 sample. local stop와 receipt가 필요하며 Task 취소는 하지 않음 |</a:t>
            </a:r>
          </a:p>
          <a:p xmlns:a="http://schemas.openxmlformats.org/drawingml/2006/main">
            <a:r>
              <a:t>| I-02 / S4-01 | “보고서는 표로 바꾸고 메일은 그대로” 발화 종료 | 올바른 보고서 변경의 접수 단계와 메일 지시 유지의 실제 안내. 이전 후보 폐기만으로 종료하지 않음 |</a:t>
            </a:r>
          </a:p>
          <a:p xmlns:a="http://schemas.openxmlformats.org/drawingml/2006/main">
            <a:r>
              <a:t>| I-03 / S4-03 | 지정 메일 업무 취소 발화 종료 | 올바른 업무의 취소 전달/접수 또는 명세된 미확인 상태 안내. 실제 종료 확인 없이 취소 완료라고 하지 않음 |</a:t>
            </a:r>
          </a:p>
          <a:p xmlns:a="http://schemas.openxmlformats.org/drawingml/2006/main">
            <a:r>
              <a:t>| I-04 / S5-01 | 철회되지 않은 메일 Agent의 수신자 질문 Q메일@v1이 원천에서 사용 가능해진 시각 | 메일 업무와 수신자 선택 질문을 실제 제시. 철회된 보고서 질문은 종료로 세지 않음 |</a:t>
            </a:r>
          </a:p>
          <a:p xmlns:a="http://schemas.openxmlformats.org/drawingml/2006/main">
            <a:r>
              <a:t>| I-05 / S5-02 | 원천에서 현재 유효한 최신 결과 event 사용 가능 | 올바른 업무와 결과 version의 실제 안내. duplicate/stale event로 먼저 끝내지 않음 |</a:t>
            </a:r>
          </a:p>
          <a:p xmlns:a="http://schemas.openxmlformats.org/drawingml/2006/main">
            <a:r>
              <a:t>| I-06 / S6-03 | 계약 금액 문의 발화 종료 | 현재 접근 권한 부족으로 금액 확인 불가라는 실제 안내. 임의 금액이나 접수 인사 제외 |</a:t>
            </a:r>
          </a:p>
          <a:p xmlns:a="http://schemas.openxmlformats.org/drawingml/2006/main">
            <a:r>
              <a:t/>
            </a:r>
          </a:p>
          <a:p xmlns:a="http://schemas.openxmlformats.org/drawingml/2006/main">
            <a:r>
              <a:t>모든 장면은 §3의 동일 초기 자료/입력/권한/질문 규칙을 사용한다. Voice ON이고 사용자가 말하는 동안에는 새 음성 안내를 시작하지 않는다. I-04/05의 시작은 VIA inbox 도착이 아니라 **Agent source의 availability**이며 source→VIA 통신을 시간에 포함한다. 후보의 실제 선택 경로가 읽기/모델을 요구하면 그 시간도 포함한다.</a:t>
            </a:r>
          </a:p>
          <a:p xmlns:a="http://schemas.openxmlformats.org/drawingml/2006/main">
            <a:r>
              <a:t/>
            </a:r>
          </a:p>
          <a:p xmlns:a="http://schemas.openxmlformats.org/drawingml/2006/main">
            <a:r>
              <a:t>```text</a:t>
            </a:r>
          </a:p>
          <a:p xmlns:a="http://schemas.openxmlformats.org/drawingml/2006/main">
            <a:r>
              <a:t>r_i = min(유효 반응의 VIA 귀속 시간, 5초)</a:t>
            </a:r>
          </a:p>
          <a:p xmlns:a="http://schemas.openxmlformats.org/drawingml/2006/main">
            <a:r>
              <a:t>유효 endpoint가 5초 안에 없으면 r_i = 5초, missed_endpoint = 1</a:t>
            </a:r>
          </a:p>
          <a:p xmlns:a="http://schemas.openxmlformats.org/drawingml/2006/main">
            <a:r>
              <a:t>ASR-QA-02 = sum(r_i) / 30, 단위 초, 낮을수록 좋음</a:t>
            </a:r>
          </a:p>
          <a:p xmlns:a="http://schemas.openxmlformats.org/drawingml/2006/main">
            <a:r>
              <a:t>```</a:t>
            </a:r>
          </a:p>
          <a:p xmlns:a="http://schemas.openxmlformats.org/drawingml/2006/main">
            <a:r>
              <a:t/>
            </a:r>
          </a:p>
          <a:p xmlns:a="http://schemas.openxmlformats.org/drawingml/2006/main">
            <a:r>
              <a:t>**목표: 평균 1.0초 이하.** 보조 보호 조건은 `I-01의 5회 모두 stop ≤ 0.1초`, `30회 중 29회 이상 ≤ 2초`, `missed_endpoint = 0`이다. cap은 실패를 삭제하지 않는 집계 규칙이며 실패 시간이 실제 5초라고 관측했다는 뜻이 아니다. cap 값/실제 경과/오답/미전달을 별도 저장한다. 빠른 오답은 유효 반응으로 세지 않고 endpoint 실패로 남기며 정확성도 원래 rubric으로 판정한다.</a:t>
            </a:r>
          </a:p>
          <a:p xmlns:a="http://schemas.openxmlformats.org/drawingml/2006/main">
            <a:r>
              <a:t/>
            </a:r>
          </a:p>
          <a:p xmlns:a="http://schemas.openxmlformats.org/drawingml/2006/main">
            <a:r>
              <a:t>**목표 근거:** VIA는 사람이 PC 작업을 계속하면서 끼어들고 다른 업무의 질문에 답하는 상시 대화 SW다. 반응마다 수초의 정적을 만들면 업무 전환과 제어가 끊긴다. [Nielsen의 0.1/1/10초 참조](https://www.nngroup.com/articles/website-response-times/)에서 즉각 제어 0.1초, 흐름 유지 1초를 참조하고, 평균 1초와 개별 2초 보호 조건을 이 과제의 예산으로 선택했다. 문헌이 평균 1초나 29/30을 규정한 것은 아니다. 2초는 일반 반응의 1초 예산에 일시적인 queue/재검증 1초를 허용하는 한도이고, 마지막 1회의 작은 tail을 별도로 보면서 전체 5초 누락은 허용하지 않는다. 끼어들기는 cloud 해석을 기다리지 않는 공통 local 경로이므로 0.1초를 따로 요구한다.</a:t>
            </a:r>
          </a:p>
          <a:p xmlns:a="http://schemas.openxmlformats.org/drawingml/2006/main">
            <a:r>
              <a:t/>
            </a:r>
          </a:p>
          <a:p xmlns:a="http://schemas.openxmlformats.org/drawingml/2006/main">
            <a:r>
              <a:t>예산 예시는 `전사 확정 0.10 + 의미 호출 0.30 + 100/450 + code/read/commit 0.08 + 음성 준비/첫 재생 0.25 = 0.9522초`다. 450 token/s만 외부 참조이고 다른 값과 100 token은 작성자 가정이다. 이 예산을 넘는 반복 조회나 재해석은 실제 성능 차이로 드러난다. 예산에 맞추기 위해 필요한 내용이나 현재성 검사를 삭제하지 않는다.</a:t>
            </a:r>
          </a:p>
          <a:p xmlns:a="http://schemas.openxmlformats.org/drawingml/2006/main">
            <a:r>
              <a:t/>
            </a:r>
          </a:p>
          <a:p xmlns:a="http://schemas.openxmlformats.org/drawingml/2006/main">
            <a:r>
              <a:t>### 4.3 ASR-QA-03: 여섯 전체 사이클과 완료 oracle</a:t>
            </a:r>
          </a:p>
          <a:p xmlns:a="http://schemas.openxmlformats.org/drawingml/2006/main">
            <a:r>
              <a:t/>
            </a:r>
          </a:p>
          <a:p xmlns:a="http://schemas.openxmlformats.org/drawingml/2006/main">
            <a:r>
              <a:t>아래 T-01~06은 **W100에서 같은 S 사례를 끝까지 처리할 때 읽는 전체 사이클 관측 구간**이다. 별도의 시간 전용 입력을 만들지 않는다. 기존 정확성 C1~C6는 원본에 정한 접수/제어 checkpoint에서 채점하고, 그 뒤의 최종 결과 사건은 공통 lifecycle tail로 이어 비용/메모리와 시간 모두에 적용한다. R1 CORE 다섯 block에서 각 T를 한 번씩 읽어 총 30회다. 확인 답변은 S6-01 원본대로 실제 질문 전달 뒤 **1초**에 시작한다. 장기 문서/메일 작업의 최종 결과는 실제 접수 뒤 8초에 사용 가능하며 이 외부 업무 노드는 시간 귀속에서 제외한다. S1-01 한정 조회의 0.2초는 원본대로 보존한다. 실제 VIA 연결/모델/네트워크/음성 시간은 남긴다.</a:t>
            </a:r>
          </a:p>
          <a:p xmlns:a="http://schemas.openxmlformats.org/drawingml/2006/main">
            <a:r>
              <a:t>| ID / 원본 | 초기 입력과 추가 최종 사건 | 요청 시작과 필요한 종료 |</a:t>
            </a:r>
          </a:p>
          <a:p xmlns:a="http://schemas.openxmlformats.org/drawingml/2006/main">
            <a:r>
              <a:t>| --- | --- | --- |</a:t>
            </a:r>
          </a:p>
          <a:p xmlns:a="http://schemas.openxmlformats.org/drawingml/2006/main">
            <a:r>
              <a:t>| T-01 / S1-01 | D1 마감일 문의, 원본의 직접/한정 위임 허용. 위임이면 원본대로 같은 날짜 결과를 접수+0.2초에 반환 | 발화 종료부터 D1 마감 10월 15일의 최종 전달 |</a:t>
            </a:r>
          </a:p>
          <a:p xmlns:a="http://schemas.openxmlformats.org/drawingml/2006/main">
            <a:r>
              <a:t>| T-02 / S1-02 | 2026년 3분기 표 보고서. 접수 뒤 `ReportQ3@v1`, 7/8/9월 자료와 표 형식의 artifact ref 반환 | 발화 종료부터 해당 보고서의 실제 결과 참조와 완료 사실 전달. 접수 receipt는 중간 반응 |</a:t>
            </a:r>
          </a:p>
          <a:p xmlns:a="http://schemas.openxmlformats.org/drawingml/2006/main">
            <a:r>
              <a:t>| T-03 / S2-02 | 기존 설명/두 업무 결과 재사용 제안서. 원본의 가격 제외 조건과 D2/D3 역할 유지. `Proposal@v1` 결과 ref 반환 | 발화 종료부터 제안서 결과 전달. 과거 자료 준비 창은 cycle 밖이지만 비용/메모리에는 포함 |</a:t>
            </a:r>
          </a:p>
          <a:p xmlns:a="http://schemas.openxmlformats.org/drawingml/2006/main">
            <a:r>
              <a:t>| T-04 / S3-02 | 현재 D1 요약을 민수에게 보내는 복합 목표. 현재 요약 뒤 SEND 한 번을 stub이 적용하고 `MailCurrent@v1: SENT` 확인 반환 | 발화 종료부터 현재 요약의 민수 메일 발송 확인 전달. 옛 요약/중복 전송 금지 |</a:t>
            </a:r>
          </a:p>
          <a:p xmlns:a="http://schemas.openxmlformats.org/drawingml/2006/main">
            <a:r>
              <a:t>| T-05 / S4-01 | 표 형식 정정/메일 유지. 늦은 이전 후보 사건은 유지. `ReportRevised@v2`, 형식 표라는 결과 ref 반환 | 정정 발화 종료부터 보고서 정정 결과 전달. 메일 유지, 옛 후보 재채택 금지 |</a:t>
            </a:r>
          </a:p>
          <a:p xmlns:a="http://schemas.openxmlformats.org/drawingml/2006/main">
            <a:r>
              <a:t>| T-06 / S6-01 | 두 보고서 중 대상/수정 내용 확인. 원본에 정한 후속 답변을 실제 질문+1초에 주고 지정 보고서의 `ConfirmedRevision@v2` 반환 | 최초 발화 종료부터 확인 후 수정 결과 전달. 질문만 제시하고 끝내지 않음 |</a:t>
            </a:r>
          </a:p>
          <a:p xmlns:a="http://schemas.openxmlformats.org/drawingml/2006/main">
            <a:r>
              <a:t/>
            </a:r>
          </a:p>
          <a:p xmlns:a="http://schemas.openxmlformats.org/drawingml/2006/main">
            <a:r>
              <a:t>S2-02/S6-01에 이미 지정한 목표/원문/후속 답변은 그대로다. 위 artifact 이름은 evaluator의 의미 ID이며 후보의 runtime ID는 대응표로 검사한다. Agent stub은 **실제로 접수한 payload를 읽고 그 payload에 대한 결과를 반환**한다. 잘못된 대상을 올바른 artifact로 바꿔주는 정답 stub을 만들지 않는다. 내용 검사는 참조/업무/조건/상태/전달의 VIA 사실만 검사하고 Agent 도메인 작성 능력은 고정 외부 조건이다.</a:t>
            </a:r>
          </a:p>
          <a:p xmlns:a="http://schemas.openxmlformats.org/drawingml/2006/main">
            <a:r>
              <a:t/>
            </a:r>
          </a:p>
          <a:p xmlns:a="http://schemas.openxmlformats.org/drawingml/2006/main">
            <a:r>
              <a:t>```text</a:t>
            </a:r>
          </a:p>
          <a:p xmlns:a="http://schemas.openxmlformats.org/drawingml/2006/main">
            <a:r>
              <a:t>v_i = min(전체 사이클의 VIA 귀속 시간, 30초)</a:t>
            </a:r>
          </a:p>
          <a:p xmlns:a="http://schemas.openxmlformats.org/drawingml/2006/main">
            <a:r>
              <a:t>필수 최종 endpoint가 귀속 30초 안에 없으면 v_i = 30초, missed_endpoint = 1</a:t>
            </a:r>
          </a:p>
          <a:p xmlns:a="http://schemas.openxmlformats.org/drawingml/2006/main">
            <a:r>
              <a:t>ASR-QA-03 = sum(v_i) / 30, 단위 초, 낮을수록 좋음</a:t>
            </a:r>
          </a:p>
          <a:p xmlns:a="http://schemas.openxmlformats.org/drawingml/2006/main">
            <a:r>
              <a:t>```</a:t>
            </a:r>
          </a:p>
          <a:p xmlns:a="http://schemas.openxmlformats.org/drawingml/2006/main">
            <a:r>
              <a:t/>
            </a:r>
          </a:p>
          <a:p xmlns:a="http://schemas.openxmlformats.org/drawingml/2006/main">
            <a:r>
              <a:t>**목표: 평균 10초 이하**, 보조 한도 `30회 중 29회 이상 ≤ 15초`, `missed_endpoint = 0`. 동일 의미/목표/성공 여부는 원시 결과에서 함께 확인한다. 알려진 외부 실패의 정당한 안내는 그 장면이 실패 안내를 요구할 때만 종료로 인정한다. T-02처럼 성공 결과를 반환하는 장면에서 임의 포기/미지원 안내는 빠른 완료가 아니다.</a:t>
            </a:r>
          </a:p>
          <a:p xmlns:a="http://schemas.openxmlformats.org/drawingml/2006/main">
            <a:r>
              <a:t/>
            </a:r>
          </a:p>
          <a:p xmlns:a="http://schemas.openxmlformats.org/drawingml/2006/main">
            <a:r>
              <a:t>**목표 근거:** VIA는 Agent의 업무 실행을 대신하지 않지만 요청 이해, 확인, 인계와 결과를 다시 연결하는 오버헤드를 책임진다. 외부 업무가 끝나도 VIA 때문에 기다리는 시간을 제한해야 이 과제의 연속 interaction 목적을 달성한다. Nielsen의 10초 주의 유지 참조를 VIA 전체 오버헤드 상한 설계의 출발점으로 삼고, `의미 처리 6초 + read/commit/연결 1초 + 음성/게시 1초 + 재검증 여유 2초 = 10초`를 선택했다. 평균 10초는 긴 업무의 제품 SLA가 아니라 작은 PoC의 VIA 예산이다. 개별 15초는 10초 기본에 한 번의 추가 확인/재해석 예산 5초를 허용한 보호 한도다.</a:t>
            </a:r>
          </a:p>
          <a:p xmlns:a="http://schemas.openxmlformats.org/drawingml/2006/main">
            <a:r>
              <a:t/>
            </a:r>
          </a:p>
          <a:p xmlns:a="http://schemas.openxmlformats.org/drawingml/2006/main">
            <a:r>
              <a:t>### 4.4 공개 reference로 계산하는 방법과 검산 예시</a:t>
            </a:r>
          </a:p>
          <a:p xmlns:a="http://schemas.openxmlformats.org/drawingml/2006/main">
            <a:r>
              <a:t/>
            </a:r>
          </a:p>
          <a:p xmlns:a="http://schemas.openxmlformats.org/drawingml/2006/main">
            <a:r>
              <a:t>| 입력 | 기준값 | 빠른/느린 민감도 | 근거 수준 |</a:t>
            </a:r>
          </a:p>
          <a:p xmlns:a="http://schemas.openxmlformats.org/drawingml/2006/main">
            <a:r>
              <a:t>| --- | --- | --- | --- |</a:t>
            </a:r>
          </a:p>
          <a:p xmlns:a="http://schemas.openxmlformats.org/drawingml/2006/main">
            <a:r>
              <a:t>| 의미 출력 생성률 | 450 token/s | 225 / 900 token/s | 기준만 Groq 공개 값. 절반/두 배는 가정 |</a:t>
            </a:r>
          </a:p>
          <a:p xmlns:a="http://schemas.openxmlformats.org/drawingml/2006/main">
            <a:r>
              <a:t>| 의미 호출 첫 출력 지연 | 0.30초/호출 | 0.15 / 0.80초 | 입력 처리와 cloud 왕복을 포함한 작성자 가정. 별도 RTT를 중복 가산하지 않음 |</a:t>
            </a:r>
          </a:p>
          <a:p xmlns:a="http://schemas.openxmlformats.org/drawingml/2006/main">
            <a:r>
              <a:t>| 출력 길이 | 해당 call별 100~400 token 기록 | 실제 reasoning이 있으면 사용량/시간에 추가 | 예시 길이는 가정. provider reasoning-off 지시를 준다고 미출력 reasoning 비용 0을 보증하지 않음 |</a:t>
            </a:r>
          </a:p>
          <a:p xmlns:a="http://schemas.openxmlformats.org/drawingml/2006/main">
            <a:r>
              <a:t>| 로컬 owner read | 0.04초/port | 0.02 / 0.10초 | index/cache를 포함한 가정, 외부 source fetch는 별도 0.20초 기준 |</a:t>
            </a:r>
          </a:p>
          <a:p xmlns:a="http://schemas.openxmlformats.org/drawingml/2006/main">
            <a:r>
              <a:t>| 중앙 완료 회수/후속 지시 | 0.010초/전이 | 0.005 / 0.030초 | 44A 계산 가정. async/priority는 유지 |</a:t>
            </a:r>
          </a:p>
          <a:p xmlns:a="http://schemas.openxmlformats.org/drawingml/2006/main">
            <a:r>
              <a:t>| Stage 활성화/join 검사 | 0.005초/전이 | 0.0025 / 0.015초 | 44B 계산 가정, fan-in 대기는 별도 |</a:t>
            </a:r>
          </a:p>
          <a:p xmlns:a="http://schemas.openxmlformats.org/drawingml/2006/main">
            <a:r>
              <a:t>| 로컬 공동 commit | 0.010초 | 0.005 / 0.030초 | 42A 계산 가정 |</a:t>
            </a:r>
          </a:p>
          <a:p xmlns:a="http://schemas.openxmlformats.org/drawingml/2006/main">
            <a:r>
              <a:t>| 독립 접수/receipt 반영 | 0.025초/hand-off | 0.0125 / 0.075초 | 42B의 IPC/두 로컬 commit 포함 가정 |</a:t>
            </a:r>
          </a:p>
          <a:p xmlns:a="http://schemas.openxmlformats.org/drawingml/2006/main">
            <a:r>
              <a:t>| 음성 준비/첫 device onset | 0.25초 | 0.10 / 0.60초 | Google 가격표는 지연을 보장하지 않음. 이 값은 가정 |</a:t>
            </a:r>
          </a:p>
          <a:p xmlns:a="http://schemas.openxmlformats.org/drawingml/2006/main">
            <a:r>
              <a:t>| 준비된 다른 출력의 차례 대기 | 0.20초 | 0 / 1.00초 | 양안 같은 재생/음성 차례 조건 |</a:t>
            </a:r>
          </a:p>
          <a:p xmlns:a="http://schemas.openxmlformats.org/drawingml/2006/main">
            <a:r>
              <a:t/>
            </a:r>
          </a:p>
          <a:p xmlns:a="http://schemas.openxmlformats.org/drawingml/2006/main">
            <a:r>
              <a:t>예시 요청 그래프의 두 독립 read는 양안 모두 병렬이다. 한 의미 호출의 `0.30 + 200/450 = 0.7444초`, read 두 개의 병렬 `max(0.04,0.04) = 0.04초`, 채택/게시 코드 `0.03초`, 음성/차례 `0.45초`라면 VIA 시간은 `1.2644초`다. 앞선 read가 다음 selector를 정하는 요청이면 read 구간은 0.08초로 바뀐다. **독립 read를 A에서는 강제로 순차로 만들지 않는다.** 여기에 Agent 업무 8초와 사용자 답변 2초가 순차로 필요한 예시의 전체 시간은 11.2644초이고, 귀속 시간은 1.2644초다. 병렬 overlap이 있으면 그래프를 다시 계산한다.</a:t>
            </a:r>
          </a:p>
          <a:p xmlns:a="http://schemas.openxmlformats.org/drawingml/2006/main">
            <a:r>
              <a:t/>
            </a:r>
          </a:p>
          <a:p xmlns:a="http://schemas.openxmlformats.org/drawingml/2006/main">
            <a:r>
              <a:t>두 의미 호출을 41A의 조건부 loop, 한 frame 호출을 41B의 코드 해결로 둔 설명 예시에서는 호출 하나의 0.7444초 차이가 나지만, **B도 부분 해석이 필요하면 두 번 이상 호출하고 A도 한 번으로 끝날 수 있다.** 실제 call 수/길이를 trace나 명시된 call-plan에서 가져와야 한다. 이름만으로 호출 수나 우열을 확정하지 않는다.</a:t>
            </a:r>
          </a:p>
          <a:p xmlns:a="http://schemas.openxmlformats.org/drawingml/2006/main">
            <a:r>
              <a:t/>
            </a:r>
          </a:p>
          <a:p xmlns:a="http://schemas.openxmlformats.org/drawingml/2006/main">
            <a:r>
              <a:t>### 4.5 측정 절차, 차이 기준과 DP 연결</a:t>
            </a:r>
          </a:p>
          <a:p xmlns:a="http://schemas.openxmlformats.org/drawingml/2006/main">
            <a:r>
              <a:t/>
            </a:r>
          </a:p>
          <a:p xmlns:a="http://schemas.openxmlformats.org/drawingml/2006/main">
            <a:r>
              <a:t>1. 지정 6개 장면과 oracle/외부 사건을 A/B 동일하게 고정한다. 5개 반복의 실행 순서는 `A-B, B-A, A-B, B-A, A-B`로 교차한다. 같은 초기 snapshot/준비 이력을 복원한다.</a:t>
            </a:r>
          </a:p>
          <a:p xmlns:a="http://schemas.openxmlformats.org/drawingml/2006/main">
            <a:r>
              <a:t>2. replay 시작/발화 끝/Agent availability, call start/first output/end/usage, read/commit/IPC, 실제 표시/playback receipt를 monotonic clock으로 기록한다. 전체 사건과 causal edges를 보존한다.</a:t>
            </a:r>
          </a:p>
          <a:p xmlns:a="http://schemas.openxmlformats.org/drawingml/2006/main">
            <a:r>
              <a:t>3. 각 endpoint의 의미와 현재성을 확인한다. 없거나 틀린 종료는 cap과 실패로 남긴다. 계산 모드에서는 동일 oracle를 만족하는 명시적 call-plan만 계산하며 성공을 실측했다고 하지 않는다.</a:t>
            </a:r>
          </a:p>
          <a:p xmlns:a="http://schemas.openxmlformats.org/drawingml/2006/main">
            <a:r>
              <a:t>4. 외부 업무/사용자 대기만 제거한 DAG로 귀속값을 계산하고 원래 wall-clock을 병기한다. cap 적용 전 값과 30개 원시값/분자/분모/실패 수를 보고한다.</a:t>
            </a:r>
          </a:p>
          <a:p xmlns:a="http://schemas.openxmlformats.org/drawingml/2006/main">
            <a:r>
              <a:t>5. 실제 반복값의 A/B 차이는 같은 장면 5회 묶음을 paired bootstrap 10,000회, seed 20261011로 재표집해 95% 구간을 보고한다. 6개 장면으로 제품 모집단 전체를 추정하지 않는다. reference 계산에는 가짜 신뢰구간을 붙이지 않고 민감도를 사용한다.</a:t>
            </a:r>
          </a:p>
          <a:p xmlns:a="http://schemas.openxmlformats.org/drawingml/2006/main">
            <a:r>
              <a:t/>
            </a:r>
          </a:p>
          <a:p xmlns:a="http://schemas.openxmlformats.org/drawingml/2006/main">
            <a:r>
              <a:t>**의미 있는 선택 차이:** QA-02는 평균 0.10초 이상, QA-03은 평균 0.50초 이상이며 실제 반복에서는 paired 구간이 0을 포함하지 않아야 한다. 각각 1초 목표의 10%, 10초 예산의 5%를 설계 판단으로 선택했다. 계산만으로 우열을 주장할 때는 기준/빠른/느린 세 profile에서 같은 방향과 그 차이 크기를 충족하는지를 보고하고 가정에 따라 뒤집히면 조건부로 기록한다. 작은 차이와 미입증을 동등성 증명으로 바꾸지 않는다.</a:t>
            </a:r>
          </a:p>
          <a:p xmlns:a="http://schemas.openxmlformats.org/drawingml/2006/main">
            <a:r>
              <a:t/>
            </a:r>
          </a:p>
          <a:p xmlns:a="http://schemas.openxmlformats.org/drawingml/2006/main">
            <a:r>
              <a:t>| DP | QA-02의 물리적 영향 | QA-03의 물리적 영향 |</a:t>
            </a:r>
          </a:p>
          <a:p xmlns:a="http://schemas.openxmlformats.org/drawingml/2006/main">
            <a:r>
              <a:t>| --- | --- | --- |</a:t>
            </a:r>
          </a:p>
          <a:p xmlns:a="http://schemas.openxmlformats.org/drawingml/2006/main">
            <a:r>
              <a:t>| 41 | 정정/취소/거부의 해석 반복과 코드 항목 해결. local stop 자체는 공통 | 조회 선택/부분 해석/재판단의 순차 의존과 호출 길이/횟수 |</a:t>
            </a:r>
          </a:p>
          <a:p xmlns:a="http://schemas.openxmlformats.org/drawingml/2006/main">
            <a:r>
              <a:t>| 42 | 질문/결과의 owner 조회/접수/receipt 반영. 공동 commit 또는 독립 hand-off | 요청/업무 연결과 후속 명령/완료 반영의 commit/IPC/재조정 |</a:t>
            </a:r>
          </a:p>
          <a:p xmlns:a="http://schemas.openxmlformats.org/drawingml/2006/main">
            <a:r>
              <a:t>| 44 | 중앙 완료 회수와 Stage 활성화/join/차례 대기. 공통 local stop | 전체 continuation 전이/유량 대기. A도 async/병렬, B도 join/폐기 비용 |</a:t>
            </a:r>
          </a:p>
          <a:p xmlns:a="http://schemas.openxmlformats.org/drawingml/2006/main">
            <a:r>
              <a:t>| 45 | 과거 질문/결과를 요구하는 반응에서 원본 조합 또는 게시 자료 조회 | 반복 과거 관계의 재해석 또는 생산/검증/미게시 backfill. 현재 입력 의미는 양안 별도 |</a:t>
            </a:r>
          </a:p>
          <a:p xmlns:a="http://schemas.openxmlformats.org/drawingml/2006/main">
            <a:r>
              <a:t/>
            </a:r>
          </a:p>
          <a:p xmlns:a="http://schemas.openxmlformats.org/drawingml/2006/main">
            <a:r>
              <a:t>두 QA 모두 같은 값이 나올 수 있다. 예를 들어 44에서 첫 반응은 같은 local stop지만 전체 후속 준비 전이는 다를 수 있고, 45에서 게시 준비가 없는 첫 요청은 B가 느릴 수 있다. 모든 네 DP에 반드시 반대 부호의 결과를 만들도록 지표나 사례를 바꾸지 않는다.</a:t>
            </a:r>
          </a:p>
          <a:p xmlns:a="http://schemas.openxmlformats.org/drawingml/2006/main">
            <a:r>
              <a:t/>
            </a:r>
          </a:p>
          <a:p xmlns:a="http://schemas.openxmlformats.org/drawingml/2006/main">
            <a:r>
              <a:t/>
            </a:r>
          </a:p>
          <a:p xmlns:a="http://schemas.openxmlformats.org/drawingml/2006/main">
            <a:r>
              <a:t>ASR-QA-03 VIA 요청 처리시간</a:t>
            </a:r>
          </a:p>
          <a:p xmlns:a="http://schemas.openxmlformats.org/drawingml/2006/main">
            <a:r>
              <a:t>정의: 요청 접수부터 최종 결과 전달까지, VIA의 처리와 대기로 걸리는 시간 (예: 보고서 작성 요청 → 요청 해석 → Agent에 작성 업무 인계 → 결과 수신 → 사용자에게 보고서 전달)</a:t>
            </a:r>
          </a:p>
          <a:p xmlns:a="http://schemas.openxmlformats.org/drawingml/2006/main">
            <a:r>
              <a:t>측정 지표: 평균 VIA 귀속 사이클 시간(초) = 6개 전체 사이클 × 5회, 30개 값의 산술평균</a:t>
            </a:r>
          </a:p>
          <a:p xmlns:a="http://schemas.openxmlformats.org/drawingml/2006/main">
            <a:r>
              <a:t>목표: 10초 이하</a:t>
            </a:r>
          </a:p>
          <a:p xmlns:a="http://schemas.openxmlformats.org/drawingml/2006/main">
            <a:r>
              <a:t>목표 근거: 외부 업무가 끝난 뒤에도 VIA 연결/전달 때문에 지연되지 않도록 의미 6초, 연결 1초, 전달 1초, 재검증 2초의 예산. 10초 주의 유지 참조와 연결하며 15초 보호 한도/미전달 0건 검사 (§4.3)</a:t>
            </a:r>
          </a:p>
          <a:p xmlns:a="http://schemas.openxmlformats.org/drawingml/2006/main">
            <a:r>
              <a:t>보호 조건: 29/30 ≤15초, 미전달 0건</a:t>
            </a:r>
          </a:p>
          <a:p xmlns:a="http://schemas.openxmlformats.org/drawingml/2006/main">
            <a:r>
              <a:t>출처:</a:t>
            </a:r>
          </a:p>
          <a:p xmlns:a="http://schemas.openxmlformats.org/drawingml/2006/main">
            <a:r>
              <a:t>Nielsen Norman Group 응답시간: https://www.nngroup.com/articles/website-response-times/</a:t>
            </a:r>
          </a:p>
          <a:p xmlns:a="http://schemas.openxmlformats.org/drawingml/2006/main">
            <a:r>
              <a:t>03-02 공통 QA 계약 v5: ../../architecture/12-decisions/decision-packages/03-02-quality-attribute-definitions.md</a:t>
            </a:r>
          </a:p>
          <a:p xmlns:a="http://schemas.openxmlformats.org/drawingml/2006/main">
            <a:r>
              <a:t/>
            </a:r>
          </a:p>
          <a:p xmlns:a="http://schemas.openxmlformats.org/drawingml/2006/main">
            <a:r>
              <a:t>상세 평가 원문 §4</a:t>
            </a:r>
          </a:p>
          <a:p xmlns:a="http://schemas.openxmlformats.org/drawingml/2006/main">
            <a:r>
              <a:t>응답속도</a:t>
            </a:r>
          </a:p>
          <a:p xmlns:a="http://schemas.openxmlformats.org/drawingml/2006/main">
            <a:r>
              <a:t/>
            </a:r>
          </a:p>
          <a:p xmlns:a="http://schemas.openxmlformats.org/drawingml/2006/main">
            <a:r>
              <a:t>**관리 ID: ASR-QA-02 — 상호작용 응답시간, ASR-QA-03 — VIA 요청 처리시간.** 둘 다 초 단위의 산술평균을 대표값으로 사용한다. 각 6개 대표 장면을 5회 반복하므로 후보당 30개 값이다. 정확성의 90회/540개 분모를 시간 지표에 복사하지 않는다. §8.0의 같은 S 사례에서 첫 반응과 전체 완료를 읽는다. 명시한 최종 결과 사건은 모든 QA에 공통인 tail이며 시간 시험만의 변형이 아니다.</a:t>
            </a:r>
          </a:p>
          <a:p xmlns:a="http://schemas.openxmlformats.org/drawingml/2006/main">
            <a:r>
              <a:t/>
            </a:r>
          </a:p>
          <a:p xmlns:a="http://schemas.openxmlformats.org/drawingml/2006/main">
            <a:r>
              <a:t>### 4.1 정의와 공통 시간 경계</a:t>
            </a:r>
          </a:p>
          <a:p xmlns:a="http://schemas.openxmlformats.org/drawingml/2006/main">
            <a:r>
              <a:t/>
            </a:r>
          </a:p>
          <a:p xmlns:a="http://schemas.openxmlformats.org/drawingml/2006/main">
            <a:r>
              <a:t>| 항목 | 상호작용 응답시간 — ASR-QA-02 | VIA 요청 처리시간 — ASR-QA-03 |</a:t>
            </a:r>
          </a:p>
          <a:p xmlns:a="http://schemas.openxmlformats.org/drawingml/2006/main">
            <a:r>
              <a:t>| --- | --- | --- |</a:t>
            </a:r>
          </a:p>
          <a:p xmlns:a="http://schemas.openxmlformats.org/drawingml/2006/main">
            <a:r>
              <a:t>| 발표용 정의 | 사용자 입력이나 업무 상태 변화에 VIA가 알맞은 답변이나 동작으로 반응하기까지 걸리는 시간 (예: VIA가 말하는 중 사용자 끼어들기 → 음성 재생 중단, Agent의 확인 질문 도착 → 사용자에게 질문 제시) | 요청 접수부터 최종 결과 전달까지, VIA의 처리와 대기로 걸리는 시간 (예: 보고서 작성 요청 → 요청 해석 → Agent에 작성 업무 인계 → 결과 수신 → 사용자에게 보고서 전달) |</a:t>
            </a:r>
          </a:p>
          <a:p xmlns:a="http://schemas.openxmlformats.org/drawingml/2006/main">
            <a:r>
              <a:t>| 평가 단위 | 지정된 사건 한 개와 그 사건에 필요한 첫 유효 반응 | 사용자의 하나의 목표와 확인/인계/결과 전달 전체 사이클 |</a:t>
            </a:r>
          </a:p>
          <a:p xmlns:a="http://schemas.openxmlformats.org/drawingml/2006/main">
            <a:r>
              <a:t>| 포함 | 전사 확정 대기, 근거 조회, 의미 모델과 음성 모델 왕복, VIA queue/경합, 상태 검증, 저장/IPC, 게시/재생 대기 | 왼쪽 구간에 더해 후속 답변 처리, 의존 요청 해제, 재조회/재해석, Agent 인계와 완료 후 전달 |</a:t>
            </a:r>
          </a:p>
          <a:p xmlns:a="http://schemas.openxmlformats.org/drawingml/2006/main">
            <a:r>
              <a:t>| 제외 | 발화 내용 자체의 길이, 사용자의 생각/답변 대기, 외부 Agent의 내부 queue/업무 실행 | 같은 외부 구간. 클라우드 의미/음성 추론은 VIA가 선택한 처리이므로 포함 |</a:t>
            </a:r>
          </a:p>
          <a:p xmlns:a="http://schemas.openxmlformats.org/drawingml/2006/main">
            <a:r>
              <a:t>| 유효 종료 | 실제 stop 효과 또는 요구 내용을 가진 Text 표시와 Voice ON일 때 첫 핵심 음성 onset | 해당 목표의 최종 결과/확인된 실패/명세된 유보를 담은 Text 표시와 Voice ON일 때 첫 핵심 음성 onset |</a:t>
            </a:r>
          </a:p>
          <a:p xmlns:a="http://schemas.openxmlformats.org/drawingml/2006/main">
            <a:r>
              <a:t/>
            </a:r>
          </a:p>
          <a:p xmlns:a="http://schemas.openxmlformats.org/drawingml/2006/main">
            <a:r>
              <a:t>단순 “접수했어요”, silence/earcon, 관계 없는 빠른 음성과 로컬 outbox enqueue는 종료가 아니다. Text와 음성을 함께 요구할 때는 두 종료점 중 늦은 시각을 쓴다. 완전한 음성 문장을 다 읽는 길이는 내용 길이 진단으로 남기고 첫 핵심 onset 이후의 읽기 시간을 대표 지표에 더하지 않는다. 중단은 예외로 **중단한 기존 출력의 마지막 재생 sample**이 종료다. 추상 sink에서는 동일 의미의 playback receipt를 사용하고 실제 스피커 실측과 구별한다.</a:t>
            </a:r>
          </a:p>
          <a:p xmlns:a="http://schemas.openxmlformats.org/drawingml/2006/main">
            <a:r>
              <a:t/>
            </a:r>
          </a:p>
          <a:p xmlns:a="http://schemas.openxmlformats.org/drawingml/2006/main">
            <a:r>
              <a:t>#### 4.1.1 병렬 실행과 외부 시간 귀속</a:t>
            </a:r>
          </a:p>
          <a:p xmlns:a="http://schemas.openxmlformats.org/drawingml/2006/main">
            <a:r>
              <a:t/>
            </a:r>
          </a:p>
          <a:p xmlns:a="http://schemas.openxmlformats.org/drawingml/2006/main">
            <a:r>
              <a:t>각 장면의 causal DAG에 `node_id, parent_ids, owner, request_ref, kind, duration_ms, evidence_ref`를 기록한다. 연산, queue, 전송, 모델 호출, 실제 전달을 독립 구간으로 둔다. 순차 duration은 합산하고 병렬 branch는 longest path로 계산한다. 같은 구간을 Request Controller와 Task Manager에서 두 번 더하지 않는다.</a:t>
            </a:r>
          </a:p>
          <a:p xmlns:a="http://schemas.openxmlformats.org/drawingml/2006/main">
            <a:r>
              <a:t/>
            </a:r>
          </a:p>
          <a:p xmlns:a="http://schemas.openxmlformats.org/drawingml/2006/main">
            <a:r>
              <a:t>외부 업무 대기는 `EXTERNAL_AGENT_WORK`, 사람의 답변 대기는 `EXTERNAL_USER_WAIT`로 분리한다. **같은 사건/분기/결과를 고정한 그래프에서 이 두 종류의 duration만 0으로 놓고, 선후 관계를 유지해 종료시각을 다시 계산한 값**이 VIA 귀속 시간이다. 독립 실행 중인 VIA 작업을 외부 대기와 함께 제거하지 않는다. `wall_clock - 여러 Agent 실행시간의 합`을 쓰지 않는다. 외부 Agent에 보내는 Gateway/전송/접수 처리와 Agent source 사건을 VIA가 가져오는 polling/통신 지연은 포함한다.</a:t>
            </a:r>
          </a:p>
          <a:p xmlns:a="http://schemas.openxmlformats.org/drawingml/2006/main">
            <a:r>
              <a:t/>
            </a:r>
          </a:p>
          <a:p xmlns:a="http://schemas.openxmlformats.org/drawingml/2006/main">
            <a:r>
              <a:t>이 계산은 원래 replay의 사건 순서와 의미 판정을 바꾸는 재실행이 아니다. 원래 graph의 의존성과 경쟁 outcome을 유지하는 귀속 계산이다. 외부 결과가 독립 작업보다 먼저 준비되도록 바꿔 semantic 성공률을 다시 생성하지 않는다. 전체 사용자 wall-clock, 제외한 구간과 계산 DAG를 함께 남긴다.</a:t>
            </a:r>
          </a:p>
          <a:p xmlns:a="http://schemas.openxmlformats.org/drawingml/2006/main">
            <a:r>
              <a:t/>
            </a:r>
          </a:p>
          <a:p xmlns:a="http://schemas.openxmlformats.org/drawingml/2006/main">
            <a:r>
              <a:t>### 4.2 ASR-QA-02: 대표 장면, 지표와 목표</a:t>
            </a:r>
          </a:p>
          <a:p xmlns:a="http://schemas.openxmlformats.org/drawingml/2006/main">
            <a:r>
              <a:t/>
            </a:r>
          </a:p>
          <a:p xmlns:a="http://schemas.openxmlformats.org/drawingml/2006/main">
            <a:r>
              <a:t>| ID / 재사용 사례 | 시작 | 필요한 첫 유효 반응과 판별 |</a:t>
            </a:r>
          </a:p>
          <a:p xmlns:a="http://schemas.openxmlformats.org/drawingml/2006/main">
            <a:r>
              <a:t>| --- | --- | --- |</a:t>
            </a:r>
          </a:p>
          <a:p xmlns:a="http://schemas.openxmlformats.org/drawingml/2006/main">
            <a:r>
              <a:t>| I-01 / S4-02 | 기존 설명 재생 중 새 사용자 발화의 acoustic onset | 기존 출력의 마지막 sample. local stop와 receipt가 필요하며 Task 취소는 하지 않음 |</a:t>
            </a:r>
          </a:p>
          <a:p xmlns:a="http://schemas.openxmlformats.org/drawingml/2006/main">
            <a:r>
              <a:t>| I-02 / S4-01 | “보고서는 표로 바꾸고 메일은 그대로” 발화 종료 | 올바른 보고서 변경의 접수 단계와 메일 지시 유지의 실제 안내. 이전 후보 폐기만으로 종료하지 않음 |</a:t>
            </a:r>
          </a:p>
          <a:p xmlns:a="http://schemas.openxmlformats.org/drawingml/2006/main">
            <a:r>
              <a:t>| I-03 / S4-03 | 지정 메일 업무 취소 발화 종료 | 올바른 업무의 취소 전달/접수 또는 명세된 미확인 상태 안내. 실제 종료 확인 없이 취소 완료라고 하지 않음 |</a:t>
            </a:r>
          </a:p>
          <a:p xmlns:a="http://schemas.openxmlformats.org/drawingml/2006/main">
            <a:r>
              <a:t>| I-04 / S5-01 | 철회되지 않은 메일 Agent의 수신자 질문 Q메일@v1이 원천에서 사용 가능해진 시각 | 메일 업무와 수신자 선택 질문을 실제 제시. 철회된 보고서 질문은 종료로 세지 않음 |</a:t>
            </a:r>
          </a:p>
          <a:p xmlns:a="http://schemas.openxmlformats.org/drawingml/2006/main">
            <a:r>
              <a:t>| I-05 / S5-02 | 원천에서 현재 유효한 최신 결과 event 사용 가능 | 올바른 업무와 결과 version의 실제 안내. duplicate/stale event로 먼저 끝내지 않음 |</a:t>
            </a:r>
          </a:p>
          <a:p xmlns:a="http://schemas.openxmlformats.org/drawingml/2006/main">
            <a:r>
              <a:t>| I-06 / S6-03 | 계약 금액 문의 발화 종료 | 현재 접근 권한 부족으로 금액 확인 불가라는 실제 안내. 임의 금액이나 접수 인사 제외 |</a:t>
            </a:r>
          </a:p>
          <a:p xmlns:a="http://schemas.openxmlformats.org/drawingml/2006/main">
            <a:r>
              <a:t/>
            </a:r>
          </a:p>
          <a:p xmlns:a="http://schemas.openxmlformats.org/drawingml/2006/main">
            <a:r>
              <a:t>모든 장면은 §3의 동일 초기 자료/입력/권한/질문 규칙을 사용한다. Voice ON이고 사용자가 말하는 동안에는 새 음성 안내를 시작하지 않는다. I-04/05의 시작은 VIA inbox 도착이 아니라 **Agent source의 availability**이며 source→VIA 통신을 시간에 포함한다. 후보의 실제 선택 경로가 읽기/모델을 요구하면 그 시간도 포함한다.</a:t>
            </a:r>
          </a:p>
          <a:p xmlns:a="http://schemas.openxmlformats.org/drawingml/2006/main">
            <a:r>
              <a:t/>
            </a:r>
          </a:p>
          <a:p xmlns:a="http://schemas.openxmlformats.org/drawingml/2006/main">
            <a:r>
              <a:t>```text</a:t>
            </a:r>
          </a:p>
          <a:p xmlns:a="http://schemas.openxmlformats.org/drawingml/2006/main">
            <a:r>
              <a:t>r_i = min(유효 반응의 VIA 귀속 시간, 5초)</a:t>
            </a:r>
          </a:p>
          <a:p xmlns:a="http://schemas.openxmlformats.org/drawingml/2006/main">
            <a:r>
              <a:t>유효 endpoint가 5초 안에 없으면 r_i = 5초, missed_endpoint = 1</a:t>
            </a:r>
          </a:p>
          <a:p xmlns:a="http://schemas.openxmlformats.org/drawingml/2006/main">
            <a:r>
              <a:t>ASR-QA-02 = sum(r_i) / 30, 단위 초, 낮을수록 좋음</a:t>
            </a:r>
          </a:p>
          <a:p xmlns:a="http://schemas.openxmlformats.org/drawingml/2006/main">
            <a:r>
              <a:t>```</a:t>
            </a:r>
          </a:p>
          <a:p xmlns:a="http://schemas.openxmlformats.org/drawingml/2006/main">
            <a:r>
              <a:t/>
            </a:r>
          </a:p>
          <a:p xmlns:a="http://schemas.openxmlformats.org/drawingml/2006/main">
            <a:r>
              <a:t>**목표: 평균 1.0초 이하.** 보조 보호 조건은 `I-01의 5회 모두 stop ≤ 0.1초`, `30회 중 29회 이상 ≤ 2초`, `missed_endpoint = 0`이다. cap은 실패를 삭제하지 않는 집계 규칙이며 실패 시간이 실제 5초라고 관측했다는 뜻이 아니다. cap 값/실제 경과/오답/미전달을 별도 저장한다. 빠른 오답은 유효 반응으로 세지 않고 endpoint 실패로 남기며 정확성도 원래 rubric으로 판정한다.</a:t>
            </a:r>
          </a:p>
          <a:p xmlns:a="http://schemas.openxmlformats.org/drawingml/2006/main">
            <a:r>
              <a:t/>
            </a:r>
          </a:p>
          <a:p xmlns:a="http://schemas.openxmlformats.org/drawingml/2006/main">
            <a:r>
              <a:t>**목표 근거:** VIA는 사람이 PC 작업을 계속하면서 끼어들고 다른 업무의 질문에 답하는 상시 대화 SW다. 반응마다 수초의 정적을 만들면 업무 전환과 제어가 끊긴다. [Nielsen의 0.1/1/10초 참조](https://www.nngroup.com/articles/website-response-times/)에서 즉각 제어 0.1초, 흐름 유지 1초를 참조하고, 평균 1초와 개별 2초 보호 조건을 이 과제의 예산으로 선택했다. 문헌이 평균 1초나 29/30을 규정한 것은 아니다. 2초는 일반 반응의 1초 예산에 일시적인 queue/재검증 1초를 허용하는 한도이고, 마지막 1회의 작은 tail을 별도로 보면서 전체 5초 누락은 허용하지 않는다. 끼어들기는 cloud 해석을 기다리지 않는 공통 local 경로이므로 0.1초를 따로 요구한다.</a:t>
            </a:r>
          </a:p>
          <a:p xmlns:a="http://schemas.openxmlformats.org/drawingml/2006/main">
            <a:r>
              <a:t/>
            </a:r>
          </a:p>
          <a:p xmlns:a="http://schemas.openxmlformats.org/drawingml/2006/main">
            <a:r>
              <a:t>예산 예시는 `전사 확정 0.10 + 의미 호출 0.30 + 100/450 + code/read/commit 0.08 + 음성 준비/첫 재생 0.25 = 0.9522초`다. 450 token/s만 외부 참조이고 다른 값과 100 token은 작성자 가정이다. 이 예산을 넘는 반복 조회나 재해석은 실제 성능 차이로 드러난다. 예산에 맞추기 위해 필요한 내용이나 현재성 검사를 삭제하지 않는다.</a:t>
            </a:r>
          </a:p>
          <a:p xmlns:a="http://schemas.openxmlformats.org/drawingml/2006/main">
            <a:r>
              <a:t/>
            </a:r>
          </a:p>
          <a:p xmlns:a="http://schemas.openxmlformats.org/drawingml/2006/main">
            <a:r>
              <a:t>### 4.3 ASR-QA-03: 여섯 전체 사이클과 완료 oracle</a:t>
            </a:r>
          </a:p>
          <a:p xmlns:a="http://schemas.openxmlformats.org/drawingml/2006/main">
            <a:r>
              <a:t/>
            </a:r>
          </a:p>
          <a:p xmlns:a="http://schemas.openxmlformats.org/drawingml/2006/main">
            <a:r>
              <a:t>아래 T-01~06은 **W100에서 같은 S 사례를 끝까지 처리할 때 읽는 전체 사이클 관측 구간**이다. 별도의 시간 전용 입력을 만들지 않는다. 기존 정확성 C1~C6는 원본에 정한 접수/제어 checkpoint에서 채점하고, 그 뒤의 최종 결과 사건은 공통 lifecycle tail로 이어 비용/메모리와 시간 모두에 적용한다. R1 CORE 다섯 block에서 각 T를 한 번씩 읽어 총 30회다. 확인 답변은 S6-01 원본대로 실제 질문 전달 뒤 **1초**에 시작한다. 장기 문서/메일 작업의 최종 결과는 실제 접수 뒤 8초에 사용 가능하며 이 외부 업무 노드는 시간 귀속에서 제외한다. S1-01 한정 조회의 0.2초는 원본대로 보존한다. 실제 VIA 연결/모델/네트워크/음성 시간은 남긴다.</a:t>
            </a:r>
          </a:p>
          <a:p xmlns:a="http://schemas.openxmlformats.org/drawingml/2006/main">
            <a:r>
              <a:t>| ID / 원본 | 초기 입력과 추가 최종 사건 | 요청 시작과 필요한 종료 |</a:t>
            </a:r>
          </a:p>
          <a:p xmlns:a="http://schemas.openxmlformats.org/drawingml/2006/main">
            <a:r>
              <a:t>| --- | --- | --- |</a:t>
            </a:r>
          </a:p>
          <a:p xmlns:a="http://schemas.openxmlformats.org/drawingml/2006/main">
            <a:r>
              <a:t>| T-01 / S1-01 | D1 마감일 문의, 원본의 직접/한정 위임 허용. 위임이면 원본대로 같은 날짜 결과를 접수+0.2초에 반환 | 발화 종료부터 D1 마감 10월 15일의 최종 전달 |</a:t>
            </a:r>
          </a:p>
          <a:p xmlns:a="http://schemas.openxmlformats.org/drawingml/2006/main">
            <a:r>
              <a:t>| T-02 / S1-02 | 2026년 3분기 표 보고서. 접수 뒤 `ReportQ3@v1`, 7/8/9월 자료와 표 형식의 artifact ref 반환 | 발화 종료부터 해당 보고서의 실제 결과 참조와 완료 사실 전달. 접수 receipt는 중간 반응 |</a:t>
            </a:r>
          </a:p>
          <a:p xmlns:a="http://schemas.openxmlformats.org/drawingml/2006/main">
            <a:r>
              <a:t>| T-03 / S2-02 | 기존 설명/두 업무 결과 재사용 제안서. 원본의 가격 제외 조건과 D2/D3 역할 유지. `Proposal@v1` 결과 ref 반환 | 발화 종료부터 제안서 결과 전달. 과거 자료 준비 창은 cycle 밖이지만 비용/메모리에는 포함 |</a:t>
            </a:r>
          </a:p>
          <a:p xmlns:a="http://schemas.openxmlformats.org/drawingml/2006/main">
            <a:r>
              <a:t>| T-04 / S3-02 | 현재 D1 요약을 민수에게 보내는 복합 목표. 현재 요약 뒤 SEND 한 번을 stub이 적용하고 `MailCurrent@v1: SENT` 확인 반환 | 발화 종료부터 현재 요약의 민수 메일 발송 확인 전달. 옛 요약/중복 전송 금지 |</a:t>
            </a:r>
          </a:p>
          <a:p xmlns:a="http://schemas.openxmlformats.org/drawingml/2006/main">
            <a:r>
              <a:t>| T-05 / S4-01 | 표 형식 정정/메일 유지. 늦은 이전 후보 사건은 유지. `ReportRevised@v2`, 형식 표라는 결과 ref 반환 | 정정 발화 종료부터 보고서 정정 결과 전달. 메일 유지, 옛 후보 재채택 금지 |</a:t>
            </a:r>
          </a:p>
          <a:p xmlns:a="http://schemas.openxmlformats.org/drawingml/2006/main">
            <a:r>
              <a:t>| T-06 / S6-01 | 두 보고서 중 대상/수정 내용 확인. 원본에 정한 후속 답변을 실제 질문+1초에 주고 지정 보고서의 `ConfirmedRevision@v2` 반환 | 최초 발화 종료부터 확인 후 수정 결과 전달. 질문만 제시하고 끝내지 않음 |</a:t>
            </a:r>
          </a:p>
          <a:p xmlns:a="http://schemas.openxmlformats.org/drawingml/2006/main">
            <a:r>
              <a:t/>
            </a:r>
          </a:p>
          <a:p xmlns:a="http://schemas.openxmlformats.org/drawingml/2006/main">
            <a:r>
              <a:t>S2-02/S6-01에 이미 지정한 목표/원문/후속 답변은 그대로다. 위 artifact 이름은 evaluator의 의미 ID이며 후보의 runtime ID는 대응표로 검사한다. Agent stub은 **실제로 접수한 payload를 읽고 그 payload에 대한 결과를 반환**한다. 잘못된 대상을 올바른 artifact로 바꿔주는 정답 stub을 만들지 않는다. 내용 검사는 참조/업무/조건/상태/전달의 VIA 사실만 검사하고 Agent 도메인 작성 능력은 고정 외부 조건이다.</a:t>
            </a:r>
          </a:p>
          <a:p xmlns:a="http://schemas.openxmlformats.org/drawingml/2006/main">
            <a:r>
              <a:t/>
            </a:r>
          </a:p>
          <a:p xmlns:a="http://schemas.openxmlformats.org/drawingml/2006/main">
            <a:r>
              <a:t>```text</a:t>
            </a:r>
          </a:p>
          <a:p xmlns:a="http://schemas.openxmlformats.org/drawingml/2006/main">
            <a:r>
              <a:t>v_i = min(전체 사이클의 VIA 귀속 시간, 30초)</a:t>
            </a:r>
          </a:p>
          <a:p xmlns:a="http://schemas.openxmlformats.org/drawingml/2006/main">
            <a:r>
              <a:t>필수 최종 endpoint가 귀속 30초 안에 없으면 v_i = 30초, missed_endpoint = 1</a:t>
            </a:r>
          </a:p>
          <a:p xmlns:a="http://schemas.openxmlformats.org/drawingml/2006/main">
            <a:r>
              <a:t>ASR-QA-03 = sum(v_i) / 30, 단위 초, 낮을수록 좋음</a:t>
            </a:r>
          </a:p>
          <a:p xmlns:a="http://schemas.openxmlformats.org/drawingml/2006/main">
            <a:r>
              <a:t>```</a:t>
            </a:r>
          </a:p>
          <a:p xmlns:a="http://schemas.openxmlformats.org/drawingml/2006/main">
            <a:r>
              <a:t/>
            </a:r>
          </a:p>
          <a:p xmlns:a="http://schemas.openxmlformats.org/drawingml/2006/main">
            <a:r>
              <a:t>**목표: 평균 10초 이하**, 보조 한도 `30회 중 29회 이상 ≤ 15초`, `missed_endpoint = 0`. 동일 의미/목표/성공 여부는 원시 결과에서 함께 확인한다. 알려진 외부 실패의 정당한 안내는 그 장면이 실패 안내를 요구할 때만 종료로 인정한다. T-02처럼 성공 결과를 반환하는 장면에서 임의 포기/미지원 안내는 빠른 완료가 아니다.</a:t>
            </a:r>
          </a:p>
          <a:p xmlns:a="http://schemas.openxmlformats.org/drawingml/2006/main">
            <a:r>
              <a:t/>
            </a:r>
          </a:p>
          <a:p xmlns:a="http://schemas.openxmlformats.org/drawingml/2006/main">
            <a:r>
              <a:t>**목표 근거:** VIA는 Agent의 업무 실행을 대신하지 않지만 요청 이해, 확인, 인계와 결과를 다시 연결하는 오버헤드를 책임진다. 외부 업무가 끝나도 VIA 때문에 기다리는 시간을 제한해야 이 과제의 연속 interaction 목적을 달성한다. Nielsen의 10초 주의 유지 참조를 VIA 전체 오버헤드 상한 설계의 출발점으로 삼고, `의미 처리 6초 + read/commit/연결 1초 + 음성/게시 1초 + 재검증 여유 2초 = 10초`를 선택했다. 평균 10초는 긴 업무의 제품 SLA가 아니라 작은 PoC의 VIA 예산이다. 개별 15초는 10초 기본에 한 번의 추가 확인/재해석 예산 5초를 허용한 보호 한도다.</a:t>
            </a:r>
          </a:p>
          <a:p xmlns:a="http://schemas.openxmlformats.org/drawingml/2006/main">
            <a:r>
              <a:t/>
            </a:r>
          </a:p>
          <a:p xmlns:a="http://schemas.openxmlformats.org/drawingml/2006/main">
            <a:r>
              <a:t>### 4.4 공개 reference로 계산하는 방법과 검산 예시</a:t>
            </a:r>
          </a:p>
          <a:p xmlns:a="http://schemas.openxmlformats.org/drawingml/2006/main">
            <a:r>
              <a:t/>
            </a:r>
          </a:p>
          <a:p xmlns:a="http://schemas.openxmlformats.org/drawingml/2006/main">
            <a:r>
              <a:t>| 입력 | 기준값 | 빠른/느린 민감도 | 근거 수준 |</a:t>
            </a:r>
          </a:p>
          <a:p xmlns:a="http://schemas.openxmlformats.org/drawingml/2006/main">
            <a:r>
              <a:t>| --- | --- | --- | --- |</a:t>
            </a:r>
          </a:p>
          <a:p xmlns:a="http://schemas.openxmlformats.org/drawingml/2006/main">
            <a:r>
              <a:t>| 의미 출력 생성률 | 450 token/s | 225 / 900 token/s | 기준만 Groq 공개 값. 절반/두 배는 가정 |</a:t>
            </a:r>
          </a:p>
          <a:p xmlns:a="http://schemas.openxmlformats.org/drawingml/2006/main">
            <a:r>
              <a:t>| 의미 호출 첫 출력 지연 | 0.30초/호출 | 0.15 / 0.80초 | 입력 처리와 cloud 왕복을 포함한 작성자 가정. 별도 RTT를 중복 가산하지 않음 |</a:t>
            </a:r>
          </a:p>
          <a:p xmlns:a="http://schemas.openxmlformats.org/drawingml/2006/main">
            <a:r>
              <a:t>| 출력 길이 | 해당 call별 100~400 token 기록 | 실제 reasoning이 있으면 사용량/시간에 추가 | 예시 길이는 가정. provider reasoning-off 지시를 준다고 미출력 reasoning 비용 0을 보증하지 않음 |</a:t>
            </a:r>
          </a:p>
          <a:p xmlns:a="http://schemas.openxmlformats.org/drawingml/2006/main">
            <a:r>
              <a:t>| 로컬 owner read | 0.04초/port | 0.02 / 0.10초 | index/cache를 포함한 가정, 외부 source fetch는 별도 0.20초 기준 |</a:t>
            </a:r>
          </a:p>
          <a:p xmlns:a="http://schemas.openxmlformats.org/drawingml/2006/main">
            <a:r>
              <a:t>| 중앙 완료 회수/후속 지시 | 0.010초/전이 | 0.005 / 0.030초 | 44A 계산 가정. async/priority는 유지 |</a:t>
            </a:r>
          </a:p>
          <a:p xmlns:a="http://schemas.openxmlformats.org/drawingml/2006/main">
            <a:r>
              <a:t>| Stage 활성화/join 검사 | 0.005초/전이 | 0.0025 / 0.015초 | 44B 계산 가정, fan-in 대기는 별도 |</a:t>
            </a:r>
          </a:p>
          <a:p xmlns:a="http://schemas.openxmlformats.org/drawingml/2006/main">
            <a:r>
              <a:t>| 로컬 공동 commit | 0.010초 | 0.005 / 0.030초 | 42A 계산 가정 |</a:t>
            </a:r>
          </a:p>
          <a:p xmlns:a="http://schemas.openxmlformats.org/drawingml/2006/main">
            <a:r>
              <a:t>| 독립 접수/receipt 반영 | 0.025초/hand-off | 0.0125 / 0.075초 | 42B의 IPC/두 로컬 commit 포함 가정 |</a:t>
            </a:r>
          </a:p>
          <a:p xmlns:a="http://schemas.openxmlformats.org/drawingml/2006/main">
            <a:r>
              <a:t>| 음성 준비/첫 device onset | 0.25초 | 0.10 / 0.60초 | Google 가격표는 지연을 보장하지 않음. 이 값은 가정 |</a:t>
            </a:r>
          </a:p>
          <a:p xmlns:a="http://schemas.openxmlformats.org/drawingml/2006/main">
            <a:r>
              <a:t>| 준비된 다른 출력의 차례 대기 | 0.20초 | 0 / 1.00초 | 양안 같은 재생/음성 차례 조건 |</a:t>
            </a:r>
          </a:p>
          <a:p xmlns:a="http://schemas.openxmlformats.org/drawingml/2006/main">
            <a:r>
              <a:t/>
            </a:r>
          </a:p>
          <a:p xmlns:a="http://schemas.openxmlformats.org/drawingml/2006/main">
            <a:r>
              <a:t>예시 요청 그래프의 두 독립 read는 양안 모두 병렬이다. 한 의미 호출의 `0.30 + 200/450 = 0.7444초`, read 두 개의 병렬 `max(0.04,0.04) = 0.04초`, 채택/게시 코드 `0.03초`, 음성/차례 `0.45초`라면 VIA 시간은 `1.2644초`다. 앞선 read가 다음 selector를 정하는 요청이면 read 구간은 0.08초로 바뀐다. **독립 read를 A에서는 강제로 순차로 만들지 않는다.** 여기에 Agent 업무 8초와 사용자 답변 2초가 순차로 필요한 예시의 전체 시간은 11.2644초이고, 귀속 시간은 1.2644초다. 병렬 overlap이 있으면 그래프를 다시 계산한다.</a:t>
            </a:r>
          </a:p>
          <a:p xmlns:a="http://schemas.openxmlformats.org/drawingml/2006/main">
            <a:r>
              <a:t/>
            </a:r>
          </a:p>
          <a:p xmlns:a="http://schemas.openxmlformats.org/drawingml/2006/main">
            <a:r>
              <a:t>두 의미 호출을 41A의 조건부 loop, 한 frame 호출을 41B의 코드 해결로 둔 설명 예시에서는 호출 하나의 0.7444초 차이가 나지만, **B도 부분 해석이 필요하면 두 번 이상 호출하고 A도 한 번으로 끝날 수 있다.** 실제 call 수/길이를 trace나 명시된 call-plan에서 가져와야 한다. 이름만으로 호출 수나 우열을 확정하지 않는다.</a:t>
            </a:r>
          </a:p>
          <a:p xmlns:a="http://schemas.openxmlformats.org/drawingml/2006/main">
            <a:r>
              <a:t/>
            </a:r>
          </a:p>
          <a:p xmlns:a="http://schemas.openxmlformats.org/drawingml/2006/main">
            <a:r>
              <a:t>### 4.5 측정 절차, 차이 기준과 DP 연결</a:t>
            </a:r>
          </a:p>
          <a:p xmlns:a="http://schemas.openxmlformats.org/drawingml/2006/main">
            <a:r>
              <a:t/>
            </a:r>
          </a:p>
          <a:p xmlns:a="http://schemas.openxmlformats.org/drawingml/2006/main">
            <a:r>
              <a:t>1. 지정 6개 장면과 oracle/외부 사건을 A/B 동일하게 고정한다. 5개 반복의 실행 순서는 `A-B, B-A, A-B, B-A, A-B`로 교차한다. 같은 초기 snapshot/준비 이력을 복원한다.</a:t>
            </a:r>
          </a:p>
          <a:p xmlns:a="http://schemas.openxmlformats.org/drawingml/2006/main">
            <a:r>
              <a:t>2. replay 시작/발화 끝/Agent availability, call start/first output/end/usage, read/commit/IPC, 실제 표시/playback receipt를 monotonic clock으로 기록한다. 전체 사건과 causal edges를 보존한다.</a:t>
            </a:r>
          </a:p>
          <a:p xmlns:a="http://schemas.openxmlformats.org/drawingml/2006/main">
            <a:r>
              <a:t>3. 각 endpoint의 의미와 현재성을 확인한다. 없거나 틀린 종료는 cap과 실패로 남긴다. 계산 모드에서는 동일 oracle를 만족하는 명시적 call-plan만 계산하며 성공을 실측했다고 하지 않는다.</a:t>
            </a:r>
          </a:p>
          <a:p xmlns:a="http://schemas.openxmlformats.org/drawingml/2006/main">
            <a:r>
              <a:t>4. 외부 업무/사용자 대기만 제거한 DAG로 귀속값을 계산하고 원래 wall-clock을 병기한다. cap 적용 전 값과 30개 원시값/분자/분모/실패 수를 보고한다.</a:t>
            </a:r>
          </a:p>
          <a:p xmlns:a="http://schemas.openxmlformats.org/drawingml/2006/main">
            <a:r>
              <a:t>5. 실제 반복값의 A/B 차이는 같은 장면 5회 묶음을 paired bootstrap 10,000회, seed 20261011로 재표집해 95% 구간을 보고한다. 6개 장면으로 제품 모집단 전체를 추정하지 않는다. reference 계산에는 가짜 신뢰구간을 붙이지 않고 민감도를 사용한다.</a:t>
            </a:r>
          </a:p>
          <a:p xmlns:a="http://schemas.openxmlformats.org/drawingml/2006/main">
            <a:r>
              <a:t/>
            </a:r>
          </a:p>
          <a:p xmlns:a="http://schemas.openxmlformats.org/drawingml/2006/main">
            <a:r>
              <a:t>**의미 있는 선택 차이:** QA-02는 평균 0.10초 이상, QA-03은 평균 0.50초 이상이며 실제 반복에서는 paired 구간이 0을 포함하지 않아야 한다. 각각 1초 목표의 10%, 10초 예산의 5%를 설계 판단으로 선택했다. 계산만으로 우열을 주장할 때는 기준/빠른/느린 세 profile에서 같은 방향과 그 차이 크기를 충족하는지를 보고하고 가정에 따라 뒤집히면 조건부로 기록한다. 작은 차이와 미입증을 동등성 증명으로 바꾸지 않는다.</a:t>
            </a:r>
          </a:p>
          <a:p xmlns:a="http://schemas.openxmlformats.org/drawingml/2006/main">
            <a:r>
              <a:t/>
            </a:r>
          </a:p>
          <a:p xmlns:a="http://schemas.openxmlformats.org/drawingml/2006/main">
            <a:r>
              <a:t>| DP | QA-02의 물리적 영향 | QA-03의 물리적 영향 |</a:t>
            </a:r>
          </a:p>
          <a:p xmlns:a="http://schemas.openxmlformats.org/drawingml/2006/main">
            <a:r>
              <a:t>| --- | --- | --- |</a:t>
            </a:r>
          </a:p>
          <a:p xmlns:a="http://schemas.openxmlformats.org/drawingml/2006/main">
            <a:r>
              <a:t>| 41 | 정정/취소/거부의 해석 반복과 코드 항목 해결. local stop 자체는 공통 | 조회 선택/부분 해석/재판단의 순차 의존과 호출 길이/횟수 |</a:t>
            </a:r>
          </a:p>
          <a:p xmlns:a="http://schemas.openxmlformats.org/drawingml/2006/main">
            <a:r>
              <a:t>| 42 | 질문/결과의 owner 조회/접수/receipt 반영. 공동 commit 또는 독립 hand-off | 요청/업무 연결과 후속 명령/완료 반영의 commit/IPC/재조정 |</a:t>
            </a:r>
          </a:p>
          <a:p xmlns:a="http://schemas.openxmlformats.org/drawingml/2006/main">
            <a:r>
              <a:t>| 44 | 중앙 완료 회수와 Stage 활성화/join/차례 대기. 공통 local stop | 전체 continuation 전이/유량 대기. A도 async/병렬, B도 join/폐기 비용 |</a:t>
            </a:r>
          </a:p>
          <a:p xmlns:a="http://schemas.openxmlformats.org/drawingml/2006/main">
            <a:r>
              <a:t>| 45 | 과거 질문/결과를 요구하는 반응에서 원본 조합 또는 게시 자료 조회 | 반복 과거 관계의 재해석 또는 생산/검증/미게시 backfill. 현재 입력 의미는 양안 별도 |</a:t>
            </a:r>
          </a:p>
          <a:p xmlns:a="http://schemas.openxmlformats.org/drawingml/2006/main">
            <a:r>
              <a:t/>
            </a:r>
          </a:p>
          <a:p xmlns:a="http://schemas.openxmlformats.org/drawingml/2006/main">
            <a:r>
              <a:t>두 QA 모두 같은 값이 나올 수 있다. 예를 들어 44에서 첫 반응은 같은 local stop지만 전체 후속 준비 전이는 다를 수 있고, 45에서 게시 준비가 없는 첫 요청은 B가 느릴 수 있다. 모든 네 DP에 반드시 반대 부호의 결과를 만들도록 지표나 사례를 바꾸지 않는다.</a:t>
            </a:r>
          </a:p>
          <a:p xmlns:a="http://schemas.openxmlformats.org/drawingml/2006/main">
            <a:r>
              <a:t/>
            </a:r>
          </a:p>
          <a:p xmlns:a="http://schemas.openxmlformats.org/drawingml/2006/main">
            <a:r>
              <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공통 입력/원천 사건/후보/모델 조건은 여섯 QA에 공유하고, 각 QA의 분모/시간/금액/변경/메모리 경계는 §3~7의 완료 정의를 따른다. 공통 전사/장치 replay를 실제 ASR 정확도나 물리 장치 응답시간 실측으로 해석하지 않는다.</a:t>
            </a:r>
          </a:p>
          <a:p xmlns:a="http://schemas.openxmlformats.org/drawingml/2006/main">
            <a:r>
              <a:t/>
            </a:r>
          </a:p>
          <a:p xmlns:a="http://schemas.openxmlformats.org/drawingml/2006/main">
            <a:r>
              <a:t>### 8.0 공통 활동 W100: 사용량과 관측 대응</a:t>
            </a:r>
          </a:p>
          <a:p xmlns:a="http://schemas.openxmlformats.org/drawingml/2006/main">
            <a:r>
              <a:t/>
            </a:r>
          </a:p>
          <a:p xmlns:a="http://schemas.openxmlformats.org/drawingml/2006/main">
            <a:r>
              <a:t>#### 8.0.1 사용량을 정의하는 이유와 범위</a:t>
            </a:r>
          </a:p>
          <a:p xmlns:a="http://schemas.openxmlformats.org/drawingml/2006/main">
            <a:r>
              <a:t/>
            </a:r>
          </a:p>
          <a:p xmlns:a="http://schemas.openxmlformats.org/drawingml/2006/main">
            <a:r>
              <a:t>**W100은 기존 18개 사례로 구성한 합성 표준 활동이다.** 사용자의 실제 일일 빈도 자료가 없는 PoC에서 A/B가 같은 기능과 부하를 처리하도록 평가용 사용량을 명시했다. 100은 사용자 입력 장면 수다. 신규 업무/조회뿐 아니라 정정/취소/확인/재연결이 들어간다. Agent가 먼저 질문/결과를 보내는 장면은 별도로 30건이다. S5-03은 Agent 결과로 시작하지만 재연결한 사용자의 명시적 조회 발화가 있으므로 사용량 원장에서는 사용자 장면 1건이다. S6의 계획된 답변은 그 장면 내부 후속 발화이며 장면을 추가하지 않는다.</a:t>
            </a:r>
          </a:p>
          <a:p xmlns:a="http://schemas.openxmlformats.org/drawingml/2006/main">
            <a:r>
              <a:t/>
            </a:r>
          </a:p>
          <a:p xmlns:a="http://schemas.openxmlformats.org/drawingml/2006/main">
            <a:r>
              <a:t>원천은 §3의 18개 초기 상황/입력/경쟁 사건/정답과 아래 공통 lifecycle tail이다. **QA별로 다른 업무나 외부 결과를 만들지 않는다.** 평가 관측 단위가 다르므로 모든 QA의 분모가 같을 필요는 없다. 정확성은 조건, 시간은 사건 경계, 비용은 활동 전체 청구, 메모리는 활동 전체 동시 할당을 읽는다. 변경 용이성은 여섯 구조 변경 과제이며 변경 뒤 같은 기능/활동 계약을 유지한다.</a:t>
            </a:r>
          </a:p>
          <a:p xmlns:a="http://schemas.openxmlformats.org/drawingml/2006/main">
            <a:r>
              <a:t/>
            </a:r>
          </a:p>
          <a:p xmlns:a="http://schemas.openxmlformats.org/drawingml/2006/main">
            <a:r>
              <a:t>[공통 활동 입력](./03-02-common-workload.json)은 이 절의 machine-readable 사용량/음성/호출 예산이고 [사건 목록](./03-02-workload-manifest.json)은 각 장면의 case/hash/CORE 여부/I/T 연결을 130행으로 생성한다. [활동 검산기](../../../../scripts/architecture/qa_common_workload.py)는 입력 목록을 컴파일할 뿐 후보/harness/API를 실행하지 않는다. 참조 계산과 두 발표자료도 같은 원본/manifest hash를 사용한다.</a:t>
            </a:r>
          </a:p>
          <a:p xmlns:a="http://schemas.openxmlformats.org/drawingml/2006/main">
            <a:r>
              <a:t/>
            </a:r>
          </a:p>
          <a:p xmlns:a="http://schemas.openxmlformats.org/drawingml/2006/main">
            <a:r>
              <a:t>#### 8.0.2 사례별 횟수와 음성 길이</a:t>
            </a:r>
          </a:p>
          <a:p xmlns:a="http://schemas.openxmlformats.org/drawingml/2006/main">
            <a:r>
              <a:t/>
            </a:r>
          </a:p>
          <a:p xmlns:a="http://schemas.openxmlformats.org/drawingml/2006/main">
            <a:r>
              <a:t>| 원본 사례 | W100 횟수 | 입력 장면 분류 | 최초 발화 초/회 | 지정 답변 초/회 | 출력 음성 예산 초/회 | 반응 관측 | 사이클 관측 |</a:t>
            </a:r>
          </a:p>
          <a:p xmlns:a="http://schemas.openxmlformats.org/drawingml/2006/main">
            <a:r>
              <a:t>| --- | --- | --- | --- | --- | --- | --- | --- |</a:t>
            </a:r>
          </a:p>
          <a:p xmlns:a="http://schemas.openxmlformats.org/drawingml/2006/main">
            <a:r>
              <a:t>| S1-01 | 8 | 사용자 | 2 | 0 | 3 | 없음 | T-01 |</a:t>
            </a:r>
          </a:p>
          <a:p xmlns:a="http://schemas.openxmlformats.org/drawingml/2006/main">
            <a:r>
              <a:t>| S1-02 | 8 | 사용자 | 3 | 0 | 8 | 없음 | T-02 |</a:t>
            </a:r>
          </a:p>
          <a:p xmlns:a="http://schemas.openxmlformats.org/drawingml/2006/main">
            <a:r>
              <a:t>| S1-03 | 8 | 사용자 | 3 | 0 | 4 | 없음 | 없음 |</a:t>
            </a:r>
          </a:p>
          <a:p xmlns:a="http://schemas.openxmlformats.org/drawingml/2006/main">
            <a:r>
              <a:t>| S2-01 | 8 | 사용자 | 2 | 0 | 5 | 없음 | 없음 |</a:t>
            </a:r>
          </a:p>
          <a:p xmlns:a="http://schemas.openxmlformats.org/drawingml/2006/main">
            <a:r>
              <a:t>| S2-02 | 8 | 사용자 | 3 | 0 | 18 | 없음 | T-03 |</a:t>
            </a:r>
          </a:p>
          <a:p xmlns:a="http://schemas.openxmlformats.org/drawingml/2006/main">
            <a:r>
              <a:t>| S2-03 | 8 | 사용자 | 2 | 0 | 4 | 없음 | 없음 |</a:t>
            </a:r>
          </a:p>
          <a:p xmlns:a="http://schemas.openxmlformats.org/drawingml/2006/main">
            <a:r>
              <a:t>| S3-01 | 5 | 사용자 | 3 | 0 | 6 | 없음 | 없음 |</a:t>
            </a:r>
          </a:p>
          <a:p xmlns:a="http://schemas.openxmlformats.org/drawingml/2006/main">
            <a:r>
              <a:t>| S3-02 | 5 | 사용자 | 3 | 0 | 10 | 없음 | T-04 |</a:t>
            </a:r>
          </a:p>
          <a:p xmlns:a="http://schemas.openxmlformats.org/drawingml/2006/main">
            <a:r>
              <a:t>| S3-03 | 5 | 사용자 | 3 | 0 | 6 | 없음 | 없음 |</a:t>
            </a:r>
          </a:p>
          <a:p xmlns:a="http://schemas.openxmlformats.org/drawingml/2006/main">
            <a:r>
              <a:t>| S4-01 | 5 | 사용자 | 2 | 0 | 9 | I-02 | T-05 |</a:t>
            </a:r>
          </a:p>
          <a:p xmlns:a="http://schemas.openxmlformats.org/drawingml/2006/main">
            <a:r>
              <a:t>| S4-02 | 5 | 사용자 | 2 | 0 | 8 | I-01 | 없음 |</a:t>
            </a:r>
          </a:p>
          <a:p xmlns:a="http://schemas.openxmlformats.org/drawingml/2006/main">
            <a:r>
              <a:t>| S4-03 | 5 | 사용자 | 2 | 0 | 5 | I-03 | 없음 |</a:t>
            </a:r>
          </a:p>
          <a:p xmlns:a="http://schemas.openxmlformats.org/drawingml/2006/main">
            <a:r>
              <a:t>| S5-01 | 15 | Agent | 0 | 0 | 5 | I-04 | 없음 |</a:t>
            </a:r>
          </a:p>
          <a:p xmlns:a="http://schemas.openxmlformats.org/drawingml/2006/main">
            <a:r>
              <a:t>| S5-02 | 15 | Agent | 0 | 0 | 6 | I-05 | 없음 |</a:t>
            </a:r>
          </a:p>
          <a:p xmlns:a="http://schemas.openxmlformats.org/drawingml/2006/main">
            <a:r>
              <a:t>| S5-03 | 7 | 사용자 | 2 | 0 | 4 | 없음 | 없음 |</a:t>
            </a:r>
          </a:p>
          <a:p xmlns:a="http://schemas.openxmlformats.org/drawingml/2006/main">
            <a:r>
              <a:t>| S6-01 | 5 | 사용자 | 2 | 3 | 14 | 없음 | T-06 |</a:t>
            </a:r>
          </a:p>
          <a:p xmlns:a="http://schemas.openxmlformats.org/drawingml/2006/main">
            <a:r>
              <a:t>| S6-02 | 5 | 사용자 | 1 | 3 | 14 | 없음 | 없음 |</a:t>
            </a:r>
          </a:p>
          <a:p xmlns:a="http://schemas.openxmlformats.org/drawingml/2006/main">
            <a:r>
              <a:t>| S6-03 | 5 | 사용자 | 2 | 0 | 5 | I-06 | 없음 |</a:t>
            </a:r>
          </a:p>
          <a:p xmlns:a="http://schemas.openxmlformats.org/drawingml/2006/main">
            <a:r>
              <a:t/>
            </a:r>
          </a:p>
          <a:p xmlns:a="http://schemas.openxmlformats.org/drawingml/2006/main">
            <a:r>
              <a:t>사용자 장면 합 100, Agent 장면 합 30이다. 최초 입력의 replay 길이는 §3 사건 구간으로 정한 **fixture 조건**이고 합 234초다. S6-01/02 각 5회의 후속 답변 3초를 더해 계획된 입력은 **110발화/264초**다. 추가 확인은 §3 공통 답변 정책대로 공급하고 실제 청구를 더한다. S5-03의 2초 재연결 요청은 최초 발화 열에 이미 포함했다.</a:t>
            </a:r>
          </a:p>
          <a:p xmlns:a="http://schemas.openxmlformats.org/drawingml/2006/main">
            <a:r>
              <a:t/>
            </a:r>
          </a:p>
          <a:p xmlns:a="http://schemas.openxmlformats.org/drawingml/2006/main">
            <a:r>
              <a:t>출력 길이는 **작성자의 참조 예산**이며 모델 성능/자연 발화 길이 보장이 아니다. 위 표의 필수 사실 전달과 공통 tail을 합해 914초다. S2-02 18초는 과거의 실제 재생 설명 8초와 현재 접수/결과 10초, S4-02 8초는 중단 전 재생 4초와 새 설명 4초를 포함한다. S6-01/02 14초는 확인 질문과 허용 범위/결과 전달의 합이다. 나머지는 해당 C6 사실과 tail 전달의 총 길이 예산이다. 실제 모델 생성/재생/폐기 청구량을 예산값으로 덮어쓰지 않는다. Text 표시 길이와 음성 시간의 임의 token 환산도 하지 않는다.</a:t>
            </a:r>
          </a:p>
          <a:p xmlns:a="http://schemas.openxmlformats.org/drawingml/2006/main">
            <a:r>
              <a:t/>
            </a:r>
          </a:p>
          <a:p xmlns:a="http://schemas.openxmlformats.org/drawingml/2006/main">
            <a:r>
              <a:t>#### 8.0.3 다섯 block의 입력 순서와 관측 선택</a:t>
            </a:r>
          </a:p>
          <a:p xmlns:a="http://schemas.openxmlformats.org/drawingml/2006/main">
            <a:r>
              <a:t/>
            </a:r>
          </a:p>
          <a:p xmlns:a="http://schemas.openxmlformats.org/drawingml/2006/main">
            <a:r>
              <a:t>각 block은 **CORE 18장면 + REUSE 4장면 + BURST 4장면 = 26장면**이다. 다섯 block이 사용자 100/Agent 30의 130장면을 만든다. CORE는 S1-01부터 S6-03까지 위 표 순서로 각 한 번이다. 각 장면은 필수 checkpoint와 tail까지 진행한 뒤 다음 장면을 시작한다. 아래 REUSE는 같은 block에서 이미 허용된 원본 version/제공 권한을 확인한 뒤 재사용한다. 기존 현재 Task를 임의 정답으로 배치하지 않고 요청 ID/외부 실행 ID는 occurrence namespace로 구별한다.</a:t>
            </a:r>
          </a:p>
          <a:p xmlns:a="http://schemas.openxmlformats.org/drawingml/2006/main">
            <a:r>
              <a:t/>
            </a:r>
          </a:p>
          <a:p xmlns:a="http://schemas.openxmlformats.org/drawingml/2006/main">
            <a:r>
              <a:t>| block | REUSE 네 장면 순서 | BURST 네 장면 순서 |</a:t>
            </a:r>
          </a:p>
          <a:p xmlns:a="http://schemas.openxmlformats.org/drawingml/2006/main">
            <a:r>
              <a:t>| --- | --- | --- |</a:t>
            </a:r>
          </a:p>
          <a:p xmlns:a="http://schemas.openxmlformats.org/drawingml/2006/main">
            <a:r>
              <a:t>| B1 | S1-01, S1-02, S2-01, S2-02 | S5-01, S5-02, S5-01, S5-02 |</a:t>
            </a:r>
          </a:p>
          <a:p xmlns:a="http://schemas.openxmlformats.org/drawingml/2006/main">
            <a:r>
              <a:t>| B2 | S1-01, S1-03, S2-01, S2-03 | 동일 |</a:t>
            </a:r>
          </a:p>
          <a:p xmlns:a="http://schemas.openxmlformats.org/drawingml/2006/main">
            <a:r>
              <a:t>| B3 | S1-02, S1-03, S2-02, S2-03 | 동일 |</a:t>
            </a:r>
          </a:p>
          <a:p xmlns:a="http://schemas.openxmlformats.org/drawingml/2006/main">
            <a:r>
              <a:t>| B4 | S1-01, S1-02, S2-01, S2-02 | 동일 |</a:t>
            </a:r>
          </a:p>
          <a:p xmlns:a="http://schemas.openxmlformats.org/drawingml/2006/main">
            <a:r>
              <a:t>| B5 | S1-03, S2-03, S5-03, S5-03 | 동일 |</a:t>
            </a:r>
          </a:p>
          <a:p xmlns:a="http://schemas.openxmlformats.org/drawingml/2006/main">
            <a:r>
              <a:t/>
            </a:r>
          </a:p>
          <a:p xmlns:a="http://schemas.openxmlformats.org/drawingml/2006/main">
            <a:r>
              <a:t>BURST의 네 Agent 장면 최초 원천 사건을 상대 0/0.02/0.04/0.06초에 공급하고 각 장면 내부의 원본 후속 순서를 보존한다. 사용자 음성을 네 개 중첩시키는 시험은 아니다. 네 장면이 각각 사용하는 두 Task를 pool의 여덟 slot에 배치하고 T보호와 background 한 Task의 두 slot을 유지해 **활성 최대 10개**다. CORE/REUSE는 이 pool의 필요한 slot만 해당 초기 사실로 복원한다. 완료된 관련 작업은 active slot에서 빠져 이력으로 남는다. 이 합성 replay suite의 slot은 현재 제시하는 scoped scene의 owner이며 10은 그 scene에서 동시에 처리하는 Task 상한이다. 완료되지 않은 질문/취소 접수는 먼저 원본 checkpoint/5초 늦은 사건 관찰을 충족한 뒤 scope를 닫고 원래 대기 상태/receipt를 그대로 활동 이력에 보존한다. 전체 미완료 Task를 10개로 자른다거나 외부 대기를 성공 완료로 바꾸는 실제 운용 정책은 아니다. 다음 scene의 before-state 복원과 구분하고 scope 회수 비용/peak도 센다.</a:t>
            </a:r>
          </a:p>
          <a:p xmlns:a="http://schemas.openxmlformats.org/drawingml/2006/main">
            <a:r>
              <a:t/>
            </a:r>
          </a:p>
          <a:p xmlns:a="http://schemas.openxmlformats.org/drawingml/2006/main">
            <a:r>
              <a:t>block의 마지막 BURST checkpoint 이후 B01~B04, B05~B08, …, B17~B20의 background 원본을 각각 한 번 `v1→v2` 갱신한다. 각 원본은 초기 30개 source 중 하나이며 locator와 권한은 그대로, 내용의 수치 한 곳만 1 증가한다. 입력 목록 순서로 0.01초 간격 제공하고 같은 block의 maintenance tick 두 개를 직렬 제공한다. 총 **20개 background 변경/10개 tick**이다. §3의 S2-03 등 내부 X 갱신은 이 20개와 별개로 이미 장면에 포함되며 별도 호출을 중복 청구하지 않는다. B5 마지막 갱신 뒤 B20의 제공 동의를 철회해 원문/파생/Context 신규 소비를 차단한다. 후보의 실제 생산/재해석/철회 비용은 모두 남긴다.</a:t>
            </a:r>
          </a:p>
          <a:p xmlns:a="http://schemas.openxmlformats.org/drawingml/2006/main">
            <a:r>
              <a:t/>
            </a:r>
          </a:p>
          <a:p xmlns:a="http://schemas.openxmlformats.org/drawingml/2006/main">
            <a:r>
              <a:t>R1/R2/R3는 동일 초기 자료를 가진 **세 독립 활동**이다. 대표 정확성/시간 표본은 결과 전에 지정한 **R1 CORE만** 읽는다. 다섯 block의 18개가 90회/540개, I/T 여섯 개가 각각 30개다. REUSE/BURST와 R2/R3의 실패/필수 위반은 별도 보호 근거로 전부 보고하며 대표 정확성 분모에 임의 가산하거나 가장 좋은 run으로 교체하지 않는다. 비용은 세 활동 전체의 평균, 메모리는 세 활동 전체의 최대다. 실제 세 run 없이 같은 계산을 복제해 반복 측정이라고 부르지 않는다.</a:t>
            </a:r>
          </a:p>
          <a:p xmlns:a="http://schemas.openxmlformats.org/drawingml/2006/main">
            <a:r>
              <a:t/>
            </a:r>
          </a:p>
          <a:p xmlns:a="http://schemas.openxmlformats.org/drawingml/2006/main">
            <a:r>
              <a:t>#### 8.0.4 초기 데이터, 복원과 동시 부하</a:t>
            </a:r>
          </a:p>
          <a:p xmlns:a="http://schemas.openxmlformats.org/drawingml/2006/main">
            <a:r>
              <a:t/>
            </a:r>
          </a:p>
          <a:p xmlns:a="http://schemas.openxmlformats.org/drawingml/2006/main">
            <a:r>
              <a:t>각 활동은 원천 대화 2,000turn/완료 Task 200개/문서와 일정 등 source 30개(전체 합성 payload 20MiB)에서 시작한다. 30개 source slot은 B01~B20과 C01~C10이다. Bnn의 제목은 `W100 background source Bnn`, v1의 `value=100+nn`, v2는 `101+nn`이며 read/모델 제공을 허용한다. C slot에는 해당 사례의 원본 D/Cal/표/E1을 namespace 대응으로 제공한다. background 대화 H0001~H2000은 시간순으로 `배경 기록 {id}: B{((id-1)%20)+1}@v1의 값은 {100+((id-1)%20)+1}이다`와 실제 전달 receipt를 갖는다. 완료 Task HT001~HT200은 같은 순환 B source의 read-only 값 조회이며 ACCEPTED→COMPLETED→실제 전달 원천 사실을 갖는다. 현재 요청과 의미 관계를 선결합하지 않는다. UTF-8 원본/turn/Task payload 합을 20×1,024×1,024byte로 맞추도록 미사용 B 본문에 공백을 채운다. DB/index/runtime의 물리적 추가 overhead는 별도 메모리다. 활성 Task 10은 초기 Task를 무조건 10개 더 넣는 뜻이 아니라 공통 pool의 상한이며 BURST의 8개 관련 Task+2개 보호/background로 최대 10개를 제공한다. 실제 과거 원문과 실제 전달/수정/허용 이력을 제공하고 현재 요청의 정답/파생 관계는 넣지 않는다. namespace 대응표는 source/Task 식별을 위한 fixture map이며 모델의 지칭/Task 정답으로 주지 않는다. 각 사례가 읽을 수 있는 scope/사실은 §3 명세 그대로다. 무관한 background 자료는 모델 의미 입력에 무제한 섞지 않지만 전체 이력/DB/copy 메모리에는 포함한다.</a:t>
            </a:r>
          </a:p>
          <a:p xmlns:a="http://schemas.openxmlformats.org/drawingml/2006/main">
            <a:r>
              <a:t/>
            </a:r>
          </a:p>
          <a:p xmlns:a="http://schemas.openxmlformats.org/drawingml/2006/main">
            <a:r>
              <a:t>CORE 전에 해당 논리적 초기 owner 사실을 복원하고 필요한 W 준비를 실제 후보 경로로 처리한다. 복원은 input fixture일 뿐 후보가 처리해야 할 결과를 대신하지 않는다. 후보가 낸 상태/오류를 완료 snapshot으로 덮어쓰지 않고 checkpoint와 tail을 검사한 뒤에만 다음 fixture로 진행한다. 초기/복원/생산의 청구와 일시적 old/new snapshot 이중 할당을 모두 세며 **각 block 완료 이력은 활동 끝까지 남긴다.** 같은 source hash/revision/permission에 한정한 REUSE cache는 허용한다. 충돌 namespace의 cache나 현재성 불일치는 무효화한다.</a:t>
            </a:r>
          </a:p>
          <a:p xmlns:a="http://schemas.openxmlformats.org/drawingml/2006/main">
            <a:r>
              <a:t/>
            </a:r>
          </a:p>
          <a:p xmlns:a="http://schemas.openxmlformats.org/drawingml/2006/main">
            <a:r>
              <a:t>cloud call의 동시 상한은 4개이며 양안에 같은 queue/취소/timeout 계약을 적용한다. 호출 4개를 강제로 만들어 메모리를 늘리지 않는다. capture의 제공 원본/보존 창은 최대 15개 RGBA frame이며 scene 내부의 시각/포인터/허용 규칙은 §3과 같다. 동시 할당과 준비를 비교할 수 있도록 초기화부터 마지막 신규 입력 이후까지 원장을 연다. 마지막 철회 뒤 신규 입력을 멈추고 처리 가능한 VIA job/queue를 최대 30초에 drain한다. 30초는 대표 요청 처리 예산 10초의 세 배로 회수 여유를 둔 작성자 보호 한도다. 외부 업무/미응답 질문의 정당한 대기 상태는 보존한다. drain 완료 뒤 10초 idle probe에 새 maintenance를 넣지 않는다. 10초/50ms는 최소 200개 시간 sample로 단기 회수/잔류 증가를 확인하기 위한 관측 가정이며 장시간 누수의 부재를 증명하지 않는다. 전체 기능 checkpoint/tail 누락 또는 필수 위반이 있으면 작은 비용/메모리도 목표 달성이 아니다.</a:t>
            </a:r>
          </a:p>
          <a:p xmlns:a="http://schemas.openxmlformats.org/drawingml/2006/main">
            <a:r>
              <a:t/>
            </a:r>
          </a:p>
          <a:p xmlns:a="http://schemas.openxmlformats.org/drawingml/2006/main">
            <a:r>
              <a:t>#### 8.0.5 공통 후속 사건과 QA별 관측</a:t>
            </a:r>
          </a:p>
          <a:p xmlns:a="http://schemas.openxmlformats.org/drawingml/2006/main">
            <a:r>
              <a:t/>
            </a:r>
          </a:p>
          <a:p xmlns:a="http://schemas.openxmlformats.org/drawingml/2006/main">
            <a:r>
              <a:t>| 연결 | 같은 장면의 공통 종료/tail | 읽는 지표 |</a:t>
            </a:r>
          </a:p>
          <a:p xmlns:a="http://schemas.openxmlformats.org/drawingml/2006/main">
            <a:r>
              <a:t>| --- | --- | --- |</a:t>
            </a:r>
          </a:p>
          <a:p xmlns:a="http://schemas.openxmlformats.org/drawingml/2006/main">
            <a:r>
              <a:t>| S1-01 / T-01 | 원본 한정 조회: 직접 또는 외부 접수+0.2초 날짜 결과. 별도 8초 결과를 만들지 않음 | 정확성 C6과 cycle 최종 전달 |</a:t>
            </a:r>
          </a:p>
          <a:p xmlns:a="http://schemas.openxmlformats.org/drawingml/2006/main">
            <a:r>
              <a:t>| S1-02 / T-02 | 원본 접수 receipt로 C5/C6 채점한 뒤 실제 작성 접수+8초에 ReportQ3@v1 결과 | 전체 cycle, 청구/할당 |</a:t>
            </a:r>
          </a:p>
          <a:p xmlns:a="http://schemas.openxmlformats.org/drawingml/2006/main">
            <a:r>
              <a:t>| S2-02 / T-03 | 원본 준비 5초/접수 checkpoint 뒤 Proposal@v1 결과를 접수+8초에 반환 | cycle은 현재 발화부터, 자원은 과거 준비도 포함 |</a:t>
            </a:r>
          </a:p>
          <a:p xmlns:a="http://schemas.openxmlformats.org/drawingml/2006/main">
            <a:r>
              <a:t>| S3-02 / T-04 | 현재 K현재 요약과 중복 처리 원본 유지, 실제 SEND 접수+8초 MailCurrent@v1:SENT | cycle은 현재 요약→전송→확인, 중복 effect 금지 |</a:t>
            </a:r>
          </a:p>
          <a:p xmlns:a="http://schemas.openxmlformats.org/drawingml/2006/main">
            <a:r>
              <a:t>| S4-01 / I-02 / T-05 | 원본 정정 접수/메일 유지 checkpoint 이후 변경 접수+8초 ReportRevised@v2 결과 | 같은 정정의 첫 반응과 최종 전달을 각각 관측 |</a:t>
            </a:r>
          </a:p>
          <a:p xmlns:a="http://schemas.openxmlformats.org/drawingml/2006/main">
            <a:r>
              <a:t>| S6-01 / T-06 | 원본 실제 확인 질문+1초에 3초 답변. 실제 유효 수정 접수+8초 ConfirmedRevision@v2 결과 | 사람 기다림/외부 업무만 제외한 cycle |</a:t>
            </a:r>
          </a:p>
          <a:p xmlns:a="http://schemas.openxmlformats.org/drawingml/2006/main">
            <a:r>
              <a:t>| S2-03 | 원본 v1 지정 표 작성 접수 뒤 실제 접수+8초 결과(TablePast@v1) | 대표 T 없음, 비용/메모리와 기능 보호에는 포함 |</a:t>
            </a:r>
          </a:p>
          <a:p xmlns:a="http://schemas.openxmlformats.org/drawingml/2006/main">
            <a:r>
              <a:t>| 나머지 11개 사례 | §3의 실제 조회/선호/제어/질문/결과/승인 범위/거부 checkpoint가 그 장면의 끝. 취소 접수는 완료 취소가 아니며 기다리는 질문을 임의 답변하지 않음 | C6와 지정 I, 전체 청구/할당 |</a:t>
            </a:r>
          </a:p>
          <a:p xmlns:a="http://schemas.openxmlformats.org/drawingml/2006/main">
            <a:r>
              <a:t/>
            </a:r>
          </a:p>
          <a:p xmlns:a="http://schemas.openxmlformats.org/drawingml/2006/main">
            <a:r>
              <a:t>위 tail은 모든 CORE/REUSE/BURST와 모든 run/QA에 공통이다. 최종 payload/source/version/허용과 실제 전달을 검사하며 접수 인사를 최종 결과로 세지 않는다. 정확성의 기존 108개 정답 명세는 해당 checkpoint에서 보존하고 tail 실패는 cycle/resource/필수 기능 보호에 기록한다. 각 관측은 `run/block/occurrence/case/source-vector/checkpoint/tail/I/T`를 동일 원장 key로 조인한다. QA-05 변경의 완료 검사도 이 기능/상태/권한 회귀와 W100의 사용량/동시성/보관 계약을 유지하는지 확인한다. 390장면 모두를 정확성 대표 분모로 키우지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ASR-QA-v5</a:t>
            </a:r>
          </a:p>
          <a:p xmlns:a="http://schemas.openxmlformats.org/drawingml/2006/main">
            <a:r>
              <a:t>공통 활동: W100 사용자 100/Agent 30장면, 5block, 3 독립 run</a:t>
            </a:r>
          </a:p>
          <a:p xmlns:a="http://schemas.openxmlformats.org/drawingml/2006/main">
            <a:r>
              <a:t>활동 SHA-256: 911ce3ae13588c27b6902a5a0abb17714c4059a9a80bceaa890c1dfb3e26eb7f</a:t>
            </a:r>
          </a:p>
          <a:p xmlns:a="http://schemas.openxmlformats.org/drawingml/2006/main">
            <a:r>
              <a:t>작성일: 2026-10-11</a:t>
            </a:r>
          </a:p>
          <a:p xmlns:a="http://schemas.openxmlformats.org/drawingml/2006/main">
            <a:r>
              <a:t>원본 SHA-256: 0e304faddf43b212900ce12f712a1d5cad5bd3cf601bc77a94f3f267d5fa2933</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ASR-QA-04 VIA 모델 사용 비용</a:t>
            </a:r>
          </a:p>
          <a:p xmlns:a="http://schemas.openxmlformats.org/drawingml/2006/main">
            <a:r>
              <a:t>정의: 동일한 사용자 활동을 처리하는 동안 VIA의 음성/의미 모델 사용에 드는 금액</a:t>
            </a:r>
          </a:p>
          <a:p xmlns:a="http://schemas.openxmlformats.org/drawingml/2006/main">
            <a:r>
              <a:t>측정 지표: 표준 활동 W100 1회 평균 총 모델 비용(USD/묶음). 사용자 입력 100건과 Agent 발신 30건의 전체 청구를 3회 독립 수행해 평균</a:t>
            </a:r>
          </a:p>
          <a:p xmlns:a="http://schemas.openxmlformats.org/drawingml/2006/main">
            <a:r>
              <a:t>목표: $1.50/W100 이하</a:t>
            </a:r>
          </a:p>
          <a:p xmlns:a="http://schemas.openxmlformats.org/drawingml/2006/main">
            <a:r>
              <a:t>목표 근거: 18개 대표 사례에서 구성한 동일 활동의 의미 300호출 예산/음성 입력 264초/출력 914초 참조 계산 $1.0987에 추가 생산/재시도 여유 $0.4013을 둔 작성자 예산 (§5.3, §8.0)</a:t>
            </a:r>
          </a:p>
          <a:p xmlns:a="http://schemas.openxmlformats.org/drawingml/2006/main">
            <a:r>
              <a:t>보호 조건: 재시도/폐기/배경/청구 context 누락 없음</a:t>
            </a:r>
          </a:p>
          <a:p xmlns:a="http://schemas.openxmlformats.org/drawingml/2006/main">
            <a:r>
              <a:t>출처:</a:t>
            </a:r>
          </a:p>
          <a:p xmlns:a="http://schemas.openxmlformats.org/drawingml/2006/main">
            <a:r>
              <a:t>Groq 공식 모델 단가/생성률: https://console.groq.com/docs/models</a:t>
            </a:r>
          </a:p>
          <a:p xmlns:a="http://schemas.openxmlformats.org/drawingml/2006/main">
            <a:r>
              <a:t>Google Live 공식 가격표: https://ai.google.dev/gemini-api/docs/pricing</a:t>
            </a:r>
          </a:p>
          <a:p xmlns:a="http://schemas.openxmlformats.org/drawingml/2006/main">
            <a:r>
              <a:t>03-02 공통 QA 계약 v5: ../../architecture/12-decisions/decision-packages/03-02-quality-attribute-definitions.md</a:t>
            </a:r>
          </a:p>
          <a:p xmlns:a="http://schemas.openxmlformats.org/drawingml/2006/main">
            <a:r>
              <a:t/>
            </a:r>
          </a:p>
          <a:p xmlns:a="http://schemas.openxmlformats.org/drawingml/2006/main">
            <a:r>
              <a:t>상세 평가 원문 §5</a:t>
            </a:r>
          </a:p>
          <a:p xmlns:a="http://schemas.openxmlformats.org/drawingml/2006/main">
            <a:r>
              <a:t>모델 사용 비용</a:t>
            </a:r>
          </a:p>
          <a:p xmlns:a="http://schemas.openxmlformats.org/drawingml/2006/main">
            <a:r>
              <a:t/>
            </a:r>
          </a:p>
          <a:p xmlns:a="http://schemas.openxmlformats.org/drawingml/2006/main">
            <a:r>
              <a:t>**관리 ID: ASR-QA-04 — VIA 모델 사용 비용.**</a:t>
            </a:r>
          </a:p>
          <a:p xmlns:a="http://schemas.openxmlformats.org/drawingml/2006/main">
            <a:r>
              <a:t/>
            </a:r>
          </a:p>
          <a:p xmlns:a="http://schemas.openxmlformats.org/drawingml/2006/main">
            <a:r>
              <a:t>### 5.1 정의, 대표 지표와 책임 경계</a:t>
            </a:r>
          </a:p>
          <a:p xmlns:a="http://schemas.openxmlformats.org/drawingml/2006/main">
            <a:r>
              <a:t/>
            </a:r>
          </a:p>
          <a:p xmlns:a="http://schemas.openxmlformats.org/drawingml/2006/main">
            <a:r>
              <a:t>**동일한 사용자 활동을 처리하는 동안 VIA의 음성/의미 모델 사용에 드는 금액.** 대표 지표는 **표준 활동 W100 1회 평균 총 모델 비용(USD/묶음)**이다. §8.0의 100개 사용자 입력 장면과 30개 Agent 발신 장면을 모두 처리한 금액을 구하고, 같은 초기 자료로 독립 수행한 R1/R2/R3의 산술평균을 낸다. 입력 개수는 정정/제어/확인 장면을 포함하며 모델 호출이나 Task 수로 다시 나누지 않는다. 보조 값 `$ / 100개 사용자 입력 장면`은 W100 총액과 같고, `$ / 사용자 입력 장면`은 총액/100이다. Agent 후속 처리 비용도 이 환산에 포함한다.</a:t>
            </a:r>
          </a:p>
          <a:p xmlns:a="http://schemas.openxmlformats.org/drawingml/2006/main">
            <a:r>
              <a:t/>
            </a:r>
          </a:p>
          <a:p xmlns:a="http://schemas.openxmlformats.org/drawingml/2006/main">
            <a:r>
              <a:t>음성 입력/전사, 현재 의미, 초기 과거 생산/갱신, 질문/응답/음성 출력, 재시도, 늦어서 폐기된 청구 출력과 미사용 배경 생산을 포함한다. 외부 Downstream Agent가 자체 업무에 쓴 모델/도구 금액은 별도 원장이다. CPU/IPC/저장 비용은 모델 비용에 임의 단가로 섞지 않는다. 같은 provider call ID는 한 번만 청구한다.</a:t>
            </a:r>
          </a:p>
          <a:p xmlns:a="http://schemas.openxmlformats.org/drawingml/2006/main">
            <a:r>
              <a:t/>
            </a:r>
          </a:p>
          <a:p xmlns:a="http://schemas.openxmlformats.org/drawingml/2006/main">
            <a:r>
              <a:t>```text</a:t>
            </a:r>
          </a:p>
          <a:p xmlns:a="http://schemas.openxmlformats.org/drawingml/2006/main">
            <a:r>
              <a:t>CW100 = Σ 의미 호출(input_tokens × 0.80 + billed_output_tokens × 4.00) / 1,000,000</a:t>
            </a:r>
          </a:p>
          <a:p xmlns:a="http://schemas.openxmlformats.org/drawingml/2006/main">
            <a:r>
              <a:t>      + audio_input_minutes × 0.005 + audio_output_minutes × 0.018</a:t>
            </a:r>
          </a:p>
          <a:p xmlns:a="http://schemas.openxmlformats.org/drawingml/2006/main">
            <a:r>
              <a:t>      + (voice_text_input_tokens × 0.75 + voice_text_output_tokens × 4.50) / 1,000,000</a:t>
            </a:r>
          </a:p>
          <a:p xmlns:a="http://schemas.openxmlformats.org/drawingml/2006/main">
            <a:r>
              <a:t>ASR-QA-04 = (CW100_R1 + CW100_R2 + CW100_R3) / 3</a:t>
            </a:r>
          </a:p>
          <a:p xmlns:a="http://schemas.openxmlformats.org/drawingml/2006/main">
            <a:r>
              <a:t>```</a:t>
            </a:r>
          </a:p>
          <a:p xmlns:a="http://schemas.openxmlformats.org/drawingml/2006/main">
            <a:r>
              <a:t/>
            </a:r>
          </a:p>
          <a:p xmlns:a="http://schemas.openxmlformats.org/drawingml/2006/main">
            <a:r>
              <a:t>단가는 §8.4의 공개 reference다. 분 기반 음성 근사와 audio token 청구를 동시에 적용하지 않는다. 실측에서는 usage/청구 규칙을 우선하며 reasoning, image token, retained context, tool schema와 재전송도 해당 청구량에 포함한다. caching 할인은 공통 기본값에 넣지 않고 양안 같은 공개 조건의 추가 profile로만 계산한다.</a:t>
            </a:r>
          </a:p>
          <a:p xmlns:a="http://schemas.openxmlformats.org/drawingml/2006/main">
            <a:r>
              <a:t/>
            </a:r>
          </a:p>
          <a:p xmlns:a="http://schemas.openxmlformats.org/drawingml/2006/main">
            <a:r>
              <a:t>### 5.2 공통 활동과 호출 원장</a:t>
            </a:r>
          </a:p>
          <a:p xmlns:a="http://schemas.openxmlformats.org/drawingml/2006/main">
            <a:r>
              <a:t/>
            </a:r>
          </a:p>
          <a:p xmlns:a="http://schemas.openxmlformats.org/drawingml/2006/main">
            <a:r>
              <a:t>**사용량의 유일한 원본은 §8.0과 [공통 활동 입력](./03-02-common-workload.json)이다.** W100 130장면의 사례/순서는 [사건 목록](./03-02-workload-manifest.json)으로 검산한다. 초기화, CORE, REUSE, BURST, source 갱신/철회, drain/idle의 청구를 모두 합산한다. QA마다 요청 개수/발화/최종 사건을 따로 바꾸지 않는다.</a:t>
            </a:r>
          </a:p>
          <a:p xmlns:a="http://schemas.openxmlformats.org/drawingml/2006/main">
            <a:r>
              <a:t/>
            </a:r>
          </a:p>
          <a:p xmlns:a="http://schemas.openxmlformats.org/drawingml/2006/main">
            <a:r>
              <a:t>| 청구량의 근거 | W100 기준값과 실제 비교 규칙 |</a:t>
            </a:r>
          </a:p>
          <a:p xmlns:a="http://schemas.openxmlformats.org/drawingml/2006/main">
            <a:r>
              <a:t>| --- | --- |</a:t>
            </a:r>
          </a:p>
          <a:p xmlns:a="http://schemas.openxmlformats.org/drawingml/2006/main">
            <a:r>
              <a:t>| 사용자와 Agent 장면 | 100/30건. 초기 요청뿐 아니라 정정/제어/확인과 실제 질문/결과 전달을 포함. 실제 내부 호출 수는 구조의 결과 |</a:t>
            </a:r>
          </a:p>
          <a:p xmlns:a="http://schemas.openxmlformats.org/drawingml/2006/main">
            <a:r>
              <a:t>| 입력 음성 | 최초 발화 합 234초 + S6-01/02의 지정 후속 답변 합 30초 = **264초(4.4분)**. S5-03의 재연결 발화는 100건에 포함. 추가 확인 답변/송신 무음/재전송도 청구되면 더함 |</a:t>
            </a:r>
          </a:p>
          <a:p xmlns:a="http://schemas.openxmlformats.org/drawingml/2006/main">
            <a:r>
              <a:t>| 출력 음성 | 사례별 필요한 전달의 작성자 길이 예산 합 **914초(15.233333분)**. S2-02의 초기 실제 설명과 S4-02의 중단 전 실제 재생도 포함. 실제 출력/중단/청구 길이를 우선하며 미사용 생성도 청구되면 포함 |</a:t>
            </a:r>
          </a:p>
          <a:p xmlns:a="http://schemas.openxmlformats.org/drawingml/2006/main">
            <a:r>
              <a:t>| 음성 Text/context | 기준 입력 50,000/output 10,000token. 130장면 × 입력 context 350token + 초기/제어 4,500token, 130장면 × 별도 Text 출력 70token + 초기/제어 900token의 작성자 예산. audio에 이미 청구한 token을 별도 Text로 중복 계상하지 않고 실제 별도 Text 청구를 우선 |</a:t>
            </a:r>
          </a:p>
          <a:p xmlns:a="http://schemas.openxmlformats.org/drawingml/2006/main">
            <a:r>
              <a:t>| 의미 호출 | 사용자 해석/결과 200 + Agent 질문/결과 60 + source 갱신 20 + 전체 block 초기/과거 준비 20 = **300호출 예산**. 각 입력 2,000/output 200token. 양안 호출을 300개로 강제하지 않음 |</a:t>
            </a:r>
          </a:p>
          <a:p xmlns:a="http://schemas.openxmlformats.org/drawingml/2006/main">
            <a:r>
              <a:t>| 초기/갱신 생산 | source 변경 20건은 원천 사건 수다. 45B의 production 20회와 같다고 가정하지 않음. 모든 block의 2,000turn/200 Task 초기 생산이 예산보다 크면 추가 비용을 기록. 완성된 파생 의미 무료 선주입 금지 |</a:t>
            </a:r>
          </a:p>
          <a:p xmlns:a="http://schemas.openxmlformats.org/drawingml/2006/main">
            <a:r>
              <a:t>| 독립 반복 | 동일 W100을 세 번 초기화. 세 실제 비용/청구량과 평균/범위를 공개. 같은 계산 원장을 3번 복제해 통계적 증거로 만들지 않음 |</a:t>
            </a:r>
          </a:p>
          <a:p xmlns:a="http://schemas.openxmlformats.org/drawingml/2006/main">
            <a:r>
              <a:t/>
            </a:r>
          </a:p>
          <a:p xmlns:a="http://schemas.openxmlformats.org/drawingml/2006/main">
            <a:r>
              <a:t>원장 열은 `run_id, block, occurrence_id, call_id, source_execution_key, dp_option, role, trigger_event, purpose, source_vector, start/end, input/output/reasoning/image/audio_usage, billed, outcome, used_by, USD, evidence_level`이다. timeout/cancel/미사용을 `billed=false`로 추정하지 않는다. usage가 없으면 기록에서 보수적인 token 상한을 적용해 **상한 계산**으로 표시한다. 불필요한 확인은 각 사례의 공통 후속 정책에 따라 처리하며 추가 수고/시간/비용을 모두 남긴다.</a:t>
            </a:r>
          </a:p>
          <a:p xmlns:a="http://schemas.openxmlformats.org/drawingml/2006/main">
            <a:r>
              <a:t/>
            </a:r>
          </a:p>
          <a:p xmlns:a="http://schemas.openxmlformats.org/drawingml/2006/main">
            <a:r>
              <a:t>### 5.3 목표값과 과제 근거</a:t>
            </a:r>
          </a:p>
          <a:p xmlns:a="http://schemas.openxmlformats.org/drawingml/2006/main">
            <a:r>
              <a:t/>
            </a:r>
          </a:p>
          <a:p xmlns:a="http://schemas.openxmlformats.org/drawingml/2006/main">
            <a:r>
              <a:t>**목표: W100 1회 평균 총 모델 비용 $1.50 이하.** 고정 활동의 사용자 입력 한 장면당 보조 환산은 $0.015다. W100은 합성 PoC 부하이므로 실제 하루/월 사용량 또는 월 요금으로 환산하지 않는다. USD 그대로 관리하며 세금/환율/마진과 제품 서비스 가격을 섞지 않는다.</a:t>
            </a:r>
          </a:p>
          <a:p xmlns:a="http://schemas.openxmlformats.org/drawingml/2006/main">
            <a:r>
              <a:t/>
            </a:r>
          </a:p>
          <a:p xmlns:a="http://schemas.openxmlformats.org/drawingml/2006/main">
            <a:r>
              <a:t>| 기준 W100의 계산 | 금액 |</a:t>
            </a:r>
          </a:p>
          <a:p xmlns:a="http://schemas.openxmlformats.org/drawingml/2006/main">
            <a:r>
              <a:t>| --- | --- |</a:t>
            </a:r>
          </a:p>
          <a:p xmlns:a="http://schemas.openxmlformats.org/drawingml/2006/main">
            <a:r>
              <a:t>| 의미 입력 600,000 × $0.80/1M | $0.4800 |</a:t>
            </a:r>
          </a:p>
          <a:p xmlns:a="http://schemas.openxmlformats.org/drawingml/2006/main">
            <a:r>
              <a:t>| 의미 출력 60,000 × $4.00/1M | $0.2400 |</a:t>
            </a:r>
          </a:p>
          <a:p xmlns:a="http://schemas.openxmlformats.org/drawingml/2006/main">
            <a:r>
              <a:t>| 음성 입력 264/60분 × $0.005/분 | $0.0220 |</a:t>
            </a:r>
          </a:p>
          <a:p xmlns:a="http://schemas.openxmlformats.org/drawingml/2006/main">
            <a:r>
              <a:t>| 음성 출력 914/60분 × $0.018/분 | $0.2742 |</a:t>
            </a:r>
          </a:p>
          <a:p xmlns:a="http://schemas.openxmlformats.org/drawingml/2006/main">
            <a:r>
              <a:t>| 음성 Text 입력 50,000 × $0.75/1M | $0.0375 |</a:t>
            </a:r>
          </a:p>
          <a:p xmlns:a="http://schemas.openxmlformats.org/drawingml/2006/main">
            <a:r>
              <a:t>| 음성 Text 출력 10,000 × $4.50/1M | $0.0450 |</a:t>
            </a:r>
          </a:p>
          <a:p xmlns:a="http://schemas.openxmlformats.org/drawingml/2006/main">
            <a:r>
              <a:t>| 기본 합계 | **$1.0987** |</a:t>
            </a:r>
          </a:p>
          <a:p xmlns:a="http://schemas.openxmlformats.org/drawingml/2006/main">
            <a:r>
              <a:t>| 추가 생산/재시도/길이 증가 예산 | **$0.4013** |</a:t>
            </a:r>
          </a:p>
          <a:p xmlns:a="http://schemas.openxmlformats.org/drawingml/2006/main">
            <a:r>
              <a:t/>
            </a:r>
          </a:p>
          <a:p xmlns:a="http://schemas.openxmlformats.org/drawingml/2006/main">
            <a:r>
              <a:t>**과제 근거:** VIA는 같은 대화에서 과거 근거와 여러 업무의 후속 처리를 연결해야 한다. 18개 대표 사례의 명시적 조회/과거 재사용/정정/질문/결과를 포함하는 W100에서 이 기능을 제공한 전체 모델 비용을 제한한다. 위 역할별 300호출과 실제 사례에 연결한 음성 길이 예산으로 기본 $1.0987을 산정하고 초기 생산/추가 확인/재시도에 $0.4013을 남겨 $1.50을 선택했다. 기본값 대비 약 36.53%, 총액의 약 26.75% 여유다. 이 한도는 외부 시장 단가가 보장하는 처리 성능이나 사용자와 합의된 상품 예산이 아니라 작성자의 설계 평가 예산이다. 출력 길이/초기 생산이 더 크면 목표 미달을 그대로 남긴다.</a:t>
            </a:r>
          </a:p>
          <a:p xmlns:a="http://schemas.openxmlformats.org/drawingml/2006/main">
            <a:r>
              <a:t/>
            </a:r>
          </a:p>
          <a:p xmlns:a="http://schemas.openxmlformats.org/drawingml/2006/main">
            <a:r>
              <a:t>**차이 기준: $0.15/W100 이상**, 예산의 10%. 실제 반복이면 3회별 차이/범위와 같은 방향을 확인한다. 계산이면 같은 장면 구성에서 cache miss/추가 호출/실제 음성 길이 가정을 절반/기준/두 배로 바꾼다. 부하량 자체를 50/100/200건으로 바꾸는 별도 profile은 양안에 함께 적용하고 W100 대표값과 섞지 않는다. 기능 포기/미완료/필수 위반이 있는 낮은 비용은 목표 달성으로 판정하지 않는다.</a:t>
            </a:r>
          </a:p>
          <a:p xmlns:a="http://schemas.openxmlformats.org/drawingml/2006/main">
            <a:r>
              <a:t/>
            </a:r>
          </a:p>
          <a:p xmlns:a="http://schemas.openxmlformats.org/drawingml/2006/main">
            <a:r>
              <a:t>### 5.4 A/B의 비용 차이를 계산하는 예</a:t>
            </a:r>
          </a:p>
          <a:p xmlns:a="http://schemas.openxmlformats.org/drawingml/2006/main">
            <a:r>
              <a:t/>
            </a:r>
          </a:p>
          <a:p xmlns:a="http://schemas.openxmlformats.org/drawingml/2006/main">
            <a:r>
              <a:t>45의 추가 과거 처리만 떼어 보는 예다. 공통 현재 요청 의미/음성 비용은 양안 같고 비교 원장에서는 한 번씩 포함한다. **A도 관계 cache를 사용하며 동일 source revision에서는 재조회/재해석하지 않는다.**</a:t>
            </a:r>
          </a:p>
          <a:p xmlns:a="http://schemas.openxmlformats.org/drawingml/2006/main">
            <a:r>
              <a:t/>
            </a:r>
          </a:p>
          <a:p xmlns:a="http://schemas.openxmlformats.org/drawingml/2006/main">
            <a:r>
              <a:t>- A: W100에서 실제 cache miss 40회, miss당 과거 근거 추가 입력 4,000/출력 200 token이면 `40 × $0.004 = $0.160`.</a:t>
            </a:r>
          </a:p>
          <a:p xmlns:a="http://schemas.openxmlformats.org/drawingml/2006/main">
            <a:r>
              <a:t>- B: 초기/변경으로 관계 생산 20회, 생산당 입력 6,000/출력 400 token이면 `20 × $0.0064 = $0.128`. 요청에서 게시 자료 조회는 코드이고 모델 청구를 만들지 않는 예지만 현재 요청 의미 비용은 공통으로 남는다.</a:t>
            </a:r>
          </a:p>
          <a:p xmlns:a="http://schemas.openxmlformats.org/drawingml/2006/main">
            <a:r>
              <a:t>- A의 miss가 10회면 $0.040으로 B보다 싸다. 생산 20회 기준 손익분기는 A의 **32회 miss**다. 동일 입력이라고 miss/생산 수가 자동으로 같아지는 것은 아니며 실제 cache/coverage 계획에서 도출한다.</a:t>
            </a:r>
          </a:p>
          <a:p xmlns:a="http://schemas.openxmlformats.org/drawingml/2006/main">
            <a:r>
              <a:t>- B의 게시가 부족해 backfill 모델 호출이 10회 추가되면 그 비용도 더한다. 이 예의 $0.032 차이는 $0.15 선택 기준보다 작아 비용 우위만으로 구조를 고를 수준이 아니다.</a:t>
            </a:r>
          </a:p>
          <a:p xmlns:a="http://schemas.openxmlformats.org/drawingml/2006/main">
            <a:r>
              <a:t/>
            </a:r>
          </a:p>
          <a:p xmlns:a="http://schemas.openxmlformats.org/drawingml/2006/main">
            <a:r>
              <a:t>41의 model loop/부분 호출, 42의 접수 충돌 재해석과 44의 stale 준비/재시도도 같은 원장으로 계산한다. 42B의 IPC를 모델 호출 비용으로 세거나 44B Stage마다 무료 모델을 따로 둔다고 가정하지 않는다. 이 예는 가정 검산이며 실제 후보의 비용 측정이나 승자 판정이 아니다.</a:t>
            </a:r>
          </a:p>
          <a:p xmlns:a="http://schemas.openxmlformats.org/drawingml/2006/main">
            <a:r>
              <a:t/>
            </a:r>
          </a:p>
          <a:p xmlns:a="http://schemas.openxmlformats.org/drawingml/2006/main">
            <a:r>
              <a:t/>
            </a:r>
          </a:p>
          <a:p xmlns:a="http://schemas.openxmlformats.org/drawingml/2006/main">
            <a:r>
              <a:t>ASR-QA-05 VIA 변경 용이성</a:t>
            </a:r>
          </a:p>
          <a:p xmlns:a="http://schemas.openxmlformats.org/drawingml/2006/main">
            <a:r>
              <a:t>정의: 모델/Agent/정보원/기능 계약의 변화를 다른 사용자 기능을 유지하면서 수용하는 능력</a:t>
            </a:r>
          </a:p>
          <a:p xmlns:a="http://schemas.openxmlformats.org/drawingml/2006/main">
            <a:r>
              <a:t>측정 지표: 평균 변경 책임 단위 수(개/과제) = 여섯 공통 과제의 고유 수정 단위 수 합 ÷ 6</a:t>
            </a:r>
          </a:p>
          <a:p xmlns:a="http://schemas.openxmlformats.org/drawingml/2006/main">
            <a:r>
              <a:t>목표: 3개 이하, 과제별 최대 5개</a:t>
            </a:r>
          </a:p>
          <a:p xmlns:a="http://schemas.openxmlformats.org/drawingml/2006/main">
            <a:r>
              <a:t>목표 근거: 외부/의미 계약 변경을 adapter/생산/소비의 약 3개 책임에 국소화하고 대화/업무/음성 전체 변경을 방지하는 과제 예산. 공통 18개 책임 registry와 완료 oracle로 검수 (§6.4)</a:t>
            </a:r>
          </a:p>
          <a:p xmlns:a="http://schemas.openxmlformats.org/drawingml/2006/main">
            <a:r>
              <a:t>보호 조건: 과제별 ≤5개, 6개 완료/필수 회귀 충족</a:t>
            </a:r>
          </a:p>
          <a:p xmlns:a="http://schemas.openxmlformats.org/drawingml/2006/main">
            <a:r>
              <a:t>출처:</a:t>
            </a:r>
          </a:p>
          <a:p xmlns:a="http://schemas.openxmlformats.org/drawingml/2006/main">
            <a:r>
              <a:t>VIA 고정 기능/UC: ../../architecture/05-representative-use-cases.md</a:t>
            </a:r>
          </a:p>
          <a:p xmlns:a="http://schemas.openxmlformats.org/drawingml/2006/main">
            <a:r>
              <a:t>03-02 공통 QA 계약 v5: ../../architecture/12-decisions/decision-packages/03-02-quality-attribute-definitions.md</a:t>
            </a:r>
          </a:p>
          <a:p xmlns:a="http://schemas.openxmlformats.org/drawingml/2006/main">
            <a:r>
              <a:t/>
            </a:r>
          </a:p>
          <a:p xmlns:a="http://schemas.openxmlformats.org/drawingml/2006/main">
            <a:r>
              <a:t>상세 평가 원문 §6</a:t>
            </a:r>
          </a:p>
          <a:p xmlns:a="http://schemas.openxmlformats.org/drawingml/2006/main">
            <a:r>
              <a:t>변경 용이성</a:t>
            </a:r>
          </a:p>
          <a:p xmlns:a="http://schemas.openxmlformats.org/drawingml/2006/main">
            <a:r>
              <a:t/>
            </a:r>
          </a:p>
          <a:p xmlns:a="http://schemas.openxmlformats.org/drawingml/2006/main">
            <a:r>
              <a:t>**관리 ID: ASR-QA-05 — VIA 변경 용이성.**</a:t>
            </a:r>
          </a:p>
          <a:p xmlns:a="http://schemas.openxmlformats.org/drawingml/2006/main">
            <a:r>
              <a:t/>
            </a:r>
          </a:p>
          <a:p xmlns:a="http://schemas.openxmlformats.org/drawingml/2006/main">
            <a:r>
              <a:t>### 6.1 정의와 대표 지표</a:t>
            </a:r>
          </a:p>
          <a:p xmlns:a="http://schemas.openxmlformats.org/drawingml/2006/main">
            <a:r>
              <a:t/>
            </a:r>
          </a:p>
          <a:p xmlns:a="http://schemas.openxmlformats.org/drawingml/2006/main">
            <a:r>
              <a:t>**모델/Agent/정보원/기능 계약의 변화를 다른 사용자 기능을 유지하면서 수용하는 능력.** 대표 지표는 **공통 여섯 변경 과제의 평균 변경 책임 단위 수(개/과제)**다. 기존 QA-29의 변경 전파 범위 관점을 참고하지만 새 공통 registry/여섯 과제로 평가하므로 기존 QA-29 결과와 합치지 않는다.</a:t>
            </a:r>
          </a:p>
          <a:p xmlns:a="http://schemas.openxmlformats.org/drawingml/2006/main">
            <a:r>
              <a:t/>
            </a:r>
          </a:p>
          <a:p xmlns:a="http://schemas.openxmlformats.org/drawingml/2006/main">
            <a:r>
              <a:t>```text</a:t>
            </a:r>
          </a:p>
          <a:p xmlns:a="http://schemas.openxmlformats.org/drawingml/2006/main">
            <a:r>
              <a:t>u_j = 과제 M-j에서 실제로 수정해야 하는 고유 책임 단위 ID의 수</a:t>
            </a:r>
          </a:p>
          <a:p xmlns:a="http://schemas.openxmlformats.org/drawingml/2006/main">
            <a:r>
              <a:t>ASR-QA-05 = (u_1 + ... + u_6) / 6, 낮을수록 좋음</a:t>
            </a:r>
          </a:p>
          <a:p xmlns:a="http://schemas.openxmlformats.org/drawingml/2006/main">
            <a:r>
              <a:t>```</a:t>
            </a:r>
          </a:p>
          <a:p xmlns:a="http://schemas.openxmlformats.org/drawingml/2006/main">
            <a:r>
              <a:t/>
            </a:r>
          </a:p>
          <a:p xmlns:a="http://schemas.openxmlformats.org/drawingml/2006/main">
            <a:r>
              <a:t>파일 수/LOC/개발 시간 추측을 대표값으로 쓰지 않는다. Component 하나에 여러 책임을 넣었다고 변경 수가 1이 되지 않으며, 같은 책임을 여러 파일/프로세스로 구현했다고 별도 점수를 자동 추가하지 않는다. 데이터 계약을 생산/소비하는 두 책임이 실제 변경되면 두 개로 센다. generator의 동일 코드 재출력이나 테스트/문서 갱신만은 추가 단위로 세지 않고 검증 부담으로 별도 기록한다.</a:t>
            </a:r>
          </a:p>
          <a:p xmlns:a="http://schemas.openxmlformats.org/drawingml/2006/main">
            <a:r>
              <a:t/>
            </a:r>
          </a:p>
          <a:p xmlns:a="http://schemas.openxmlformats.org/drawingml/2006/main">
            <a:r>
              <a:t>### 6.2 공통 변경 책임 registry</a:t>
            </a:r>
          </a:p>
          <a:p xmlns:a="http://schemas.openxmlformats.org/drawingml/2006/main">
            <a:r>
              <a:t/>
            </a:r>
          </a:p>
          <a:p xmlns:a="http://schemas.openxmlformats.org/drawingml/2006/main">
            <a:r>
              <a:t>동일한 기능 책임을 A/B에서 같은 ID에 대응한다. 이 단위는 아키텍처 비교의 채점 단위이며 기존 정식 Component 명칭을 대체하는 새 Component/Module 이름이 아니다.</a:t>
            </a:r>
          </a:p>
          <a:p xmlns:a="http://schemas.openxmlformats.org/drawingml/2006/main">
            <a:r>
              <a:t/>
            </a:r>
          </a:p>
          <a:p xmlns:a="http://schemas.openxmlformats.org/drawingml/2006/main">
            <a:r>
              <a:t>| ID | 수정 여부를 검사하는 책임 | 실제 owner/경로 |</a:t>
            </a:r>
          </a:p>
          <a:p xmlns:a="http://schemas.openxmlformats.org/drawingml/2006/main">
            <a:r>
              <a:t>| --- | --- | --- |</a:t>
            </a:r>
          </a:p>
          <a:p xmlns:a="http://schemas.openxmlformats.org/drawingml/2006/main">
            <a:r>
              <a:t>| U01 | 자연어 의미 생산 prompt/해석 규칙 | Request Interpreter의 A 모델 제어 또는 B frame/부분 해석 |</a:t>
            </a:r>
          </a:p>
          <a:p xmlns:a="http://schemas.openxmlformats.org/drawingml/2006/main">
            <a:r>
              <a:t>| U02 | 유한 표현의 dispatch/항목 해결/코드 결합 | 41B Request Resolution Engine. A에 같은 코드 책임이 없으면 변경 0 |</a:t>
            </a:r>
          </a:p>
          <a:p xmlns:a="http://schemas.openxmlformats.org/drawingml/2006/main">
            <a:r>
              <a:t>| U03 | 의미/frame/조건 표현의 공통 검증 계약 | Request Interpreter의 공통 의미 제안 검증기와 해당 schema |</a:t>
            </a:r>
          </a:p>
          <a:p xmlns:a="http://schemas.openxmlformats.org/drawingml/2006/main">
            <a:r>
              <a:t>| U04 | 요청 채택/질문 focus/입력 hold 규칙 | Request Controller |</a:t>
            </a:r>
          </a:p>
          <a:p xmlns:a="http://schemas.openxmlformats.org/drawingml/2006/main">
            <a:r>
              <a:t>| U05 | 입력/전달 시각과 실제 재생 제어 | Interaction Manager |</a:t>
            </a:r>
          </a:p>
          <a:p xmlns:a="http://schemas.openxmlformats.org/drawingml/2006/main">
            <a:r>
              <a:t>| U06 | 응답 내용/게시/실제 전달 원장 | Response Manager |</a:t>
            </a:r>
          </a:p>
          <a:p xmlns:a="http://schemas.openxmlformats.org/drawingml/2006/main">
            <a:r>
              <a:t>| U07 | Task/Execution/업무 명령/질문 현재성 | Task Manager |</a:t>
            </a:r>
          </a:p>
          <a:p xmlns:a="http://schemas.openxmlformats.org/drawingml/2006/main">
            <a:r>
              <a:t>| U08 | 중앙 continuation 또는 Stage/window 흐름 | Request Controller의 44A/B 진행 경로 |</a:t>
            </a:r>
          </a:p>
          <a:p xmlns:a="http://schemas.openxmlformats.org/drawingml/2006/main">
            <a:r>
              <a:t>| U09 | 근거 source adapter와 정규 원본 port | Context Manager |</a:t>
            </a:r>
          </a:p>
          <a:p xmlns:a="http://schemas.openxmlformats.org/drawingml/2006/main">
            <a:r>
              <a:t>| U10 | 요청별 원본 조합/검색/cache 의미 | 45A Context Composer |</a:t>
            </a:r>
          </a:p>
          <a:p xmlns:a="http://schemas.openxmlformats.org/drawingml/2006/main">
            <a:r>
              <a:t>| U11 | 공통 과거 관계 생산/coverage/무효화 | 45B Memory Publisher |</a:t>
            </a:r>
          </a:p>
          <a:p xmlns:a="http://schemas.openxmlformats.org/drawingml/2006/main">
            <a:r>
              <a:t>| U12 | 게시 관계 조회/부분 범위 보완 | 45B Evidence Reader |</a:t>
            </a:r>
          </a:p>
          <a:p xmlns:a="http://schemas.openxmlformats.org/drawingml/2006/main">
            <a:r>
              <a:t>| U13 | 대화↔업무 명령/접수/반영 계약 | 42A 내부 공동 확정 또는 42B 독립 hand-off |</a:t>
            </a:r>
          </a:p>
          <a:p xmlns:a="http://schemas.openxmlformats.org/drawingml/2006/main">
            <a:r>
              <a:t>| U14 | 저장 schema/이행/복원 | State Store와 해당 논리 owner |</a:t>
            </a:r>
          </a:p>
          <a:p xmlns:a="http://schemas.openxmlformats.org/drawingml/2006/main">
            <a:r>
              <a:t>| U15 | cloud provider wire/usage/중단 adapter | Model Access |</a:t>
            </a:r>
          </a:p>
          <a:p xmlns:a="http://schemas.openxmlformats.org/drawingml/2006/main">
            <a:r>
              <a:t>| U16 | 외부 Agent protocol/capability adapter | Agent Gateway |</a:t>
            </a:r>
          </a:p>
          <a:p xmlns:a="http://schemas.openxmlformats.org/drawingml/2006/main">
            <a:r>
              <a:t>| U17 | 허용/동의/삭제 정책의 판정 | Policy Manager |</a:t>
            </a:r>
          </a:p>
          <a:p xmlns:a="http://schemas.openxmlformats.org/drawingml/2006/main">
            <a:r>
              <a:t>| U18 | 삭제/정정의 소비자 파생물 처리 계약 | 해당 cache/게시/Context owner. 동일 U10~12 내부 수정이면 그 단위만 세고 U18 중복 금지 |</a:t>
            </a:r>
          </a:p>
          <a:p xmlns:a="http://schemas.openxmlformats.org/drawingml/2006/main">
            <a:r>
              <a:t/>
            </a:r>
          </a:p>
          <a:p xmlns:a="http://schemas.openxmlformats.org/drawingml/2006/main">
            <a:r>
              <a:t>U18은 여러 owner 사이의 삭제 전달/완료 계약 자체가 바뀔 때만 별도다. U14도 이미 센 producer의 private cache 필드 하나 수정과 중복 세지 않으며, 실제 영속 schema 이행/복원이 별도 바뀔 때 센다. registry의 의미/합치기 규칙은 후보를 보기 전에 고정한다. 필요한 새 책임은 양안 공통 registry에 추가하고 version을 올린다.</a:t>
            </a:r>
          </a:p>
          <a:p xmlns:a="http://schemas.openxmlformats.org/drawingml/2006/main">
            <a:r>
              <a:t/>
            </a:r>
          </a:p>
          <a:p xmlns:a="http://schemas.openxmlformats.org/drawingml/2006/main">
            <a:r>
              <a:t>### 6.3 여섯 변경 과제의 입력과 완료 조건</a:t>
            </a:r>
          </a:p>
          <a:p xmlns:a="http://schemas.openxmlformats.org/drawingml/2006/main">
            <a:r>
              <a:t/>
            </a:r>
          </a:p>
          <a:p xmlns:a="http://schemas.openxmlformats.org/drawingml/2006/main">
            <a:r>
              <a:t>| 과제 | 고정한 변경 요구 | 완료 판별과 필수 회귀 |</a:t>
            </a:r>
          </a:p>
          <a:p xmlns:a="http://schemas.openxmlformats.org/drawingml/2006/main">
            <a:r>
              <a:t>| --- | --- | --- |</a:t>
            </a:r>
          </a:p>
          <a:p xmlns:a="http://schemas.openxmlformats.org/drawingml/2006/main">
            <a:r>
              <a:t>| M-01 의미 provider 교체 | 동등한 tool/JSON/text-image 기능 provider로 wire request/response/usage 형식 변경. 상위 의미/port 계약은 동일 | 같은 의미 입력/출력/취소/usage로 18개 정답 유지. adapter 밖 계약을 바꾸지 않아도 되면 U15만 수정 |</a:t>
            </a:r>
          </a:p>
          <a:p xmlns:a="http://schemas.openxmlformats.org/drawingml/2006/main">
            <a:r>
              <a:t>| M-02 Agent protocol 교체 | 메일 Agent의 submit/cancel wire envelope와 receipt format 변경. 접수/미확인/완료의 상위 의미는 유지 | 같은 command ID/중복/취소/역순 event oracle 유지. Gateway 정규화로 끝나는 변경이면 U16만 수정 |</a:t>
            </a:r>
          </a:p>
          <a:p xmlns:a="http://schemas.openxmlformats.org/drawingml/2006/main">
            <a:r>
              <a:t>| M-03 Context source 교체 | 일정 source의 필드명/타임존 envelope 변경, 정규 시간/version/권한 port는 동일 | S3-03의 최신 BUSY/대체 시간/조건적 생성 금지 동일. U09에서 흡수 가능한 strong A/B 허용 |</a:t>
            </a:r>
          </a:p>
          <a:p xmlns:a="http://schemas.openxmlformats.org/drawingml/2006/main">
            <a:r>
              <a:t>| M-04 복합 관계 추가 | “보고서가 실패해도 메일 초안 작성은 계속”이라는 VIA 소유 실패 후 실행 관계 추가. 실행 domain 계획은 Agent | 선행 실패 때도 초안 한 번, 발송 금지 유지, 성공/실패 두 분기와 기존 AFTER/USE_RESULT 회귀. A prompt/검증/실행과 B schema/Engine/실행의 실제 수정 집합 기록 |</a:t>
            </a:r>
          </a:p>
          <a:p xmlns:a="http://schemas.openxmlformats.org/drawingml/2006/main">
            <a:r>
              <a:t>| M-05 업무 질문 계약 추가 | 기존 질문 ID/revision에 **허용 답변 범위 token** 추가. Task owner가 token을 생성/검사, 대화는 실제 제시한 token을 반환 | 오래된/다른 업무 token 거절, 올바른 실제 질문 답변 접수, 복원 후 같은 질문 대응. 42A 공동 확정과 B 독립 접수/보관의 변경 집합 기록 |</a:t>
            </a:r>
          </a:p>
          <a:p xmlns:a="http://schemas.openxmlformats.org/drawingml/2006/main">
            <a:r>
              <a:t>| M-06 동의 철회 범위 변경 | 특정 문서 제공 동의 철회 시 원문뿐 아니라 관련 요약/관계/모델 Context의 신규 사용 금지와 처리 receipt 반환 | 원본/파생/대기 후보 사용 차단, 다른 허용 자료 유지, 미완료 삭제를 완료로 표시하지 않음. A cache와 B 생산/조회/게시를 모두 검사 |</a:t>
            </a:r>
          </a:p>
          <a:p xmlns:a="http://schemas.openxmlformats.org/drawingml/2006/main">
            <a:r>
              <a:t/>
            </a:r>
          </a:p>
          <a:p xmlns:a="http://schemas.openxmlformats.org/drawingml/2006/main">
            <a:r>
              <a:t>각 과제는 변경 전/후 계약 차이, 수정 단위 ID/이유, 보존하는 계약, 회귀 목록과 산출물을 갖는다. **M-01~03은 형식 변화를 경계 adapter에서 끝내는 강한 A/B를 비교하는 대조군**이다. 모든 과제를 구조 차이가 커지도록 만들지 않는다. M-04~06은 실제 의미/상태/파생물 계약이 바뀌는 과제다. 한 단위라도 필요한데 빠지면 그 계획은 미완료이며 0개 변경 성공으로 세지 않는다.</a:t>
            </a:r>
          </a:p>
          <a:p xmlns:a="http://schemas.openxmlformats.org/drawingml/2006/main">
            <a:r>
              <a:t/>
            </a:r>
          </a:p>
          <a:p xmlns:a="http://schemas.openxmlformats.org/drawingml/2006/main">
            <a:r>
              <a:t>### 6.4 목표와 과제 근거</a:t>
            </a:r>
          </a:p>
          <a:p xmlns:a="http://schemas.openxmlformats.org/drawingml/2006/main">
            <a:r>
              <a:t/>
            </a:r>
          </a:p>
          <a:p xmlns:a="http://schemas.openxmlformats.org/drawingml/2006/main">
            <a:r>
              <a:t>**목표: 평균 3개 이하**, 보조 한도는 모든 과제 **5개 이하**와 여섯 과제의 완료/필수 회귀 충족이다. 18개의 공통 책임 중 평균 최대 3개, 즉 약 1/6 범위로 일상적인 변경을 국소화하려는 설계 예산이다. 한 요구의 변경이 대략 `경계 adapter/생산 책임/소비 책임` 수준에서 끝나고 대화/업무/음성 전체를 연쇄 수정하지 않아야 여러 모델/Agent/정보원을 지속 연동하는 이 과제의 목적을 달성한다. 복합 의미 변경처럼 더 넓은 경우는 5개까지 허용하되 그 과제 하나로 광범위한 변경을 평균에 숨기지 않는다.</a:t>
            </a:r>
          </a:p>
          <a:p xmlns:a="http://schemas.openxmlformats.org/drawingml/2006/main">
            <a:r>
              <a:t/>
            </a:r>
          </a:p>
          <a:p xmlns:a="http://schemas.openxmlformats.org/drawingml/2006/main">
            <a:r>
              <a:t>예를 들어 M-04의 변경 계획이 A=`U01/U03/U07`이면 3개, B=`U01/U02/U03/U07`이면 4개다. A가 모델 prompt만 수정하고 실제 후속 실행을 기존 코드가 지원하지 못하면 1개 성공으로 세지 않는다. 두 안이 기존 범용 관계 계약을 이미 지원한다면 변경 집합은 더 작아질 수 있다. 이 집합은 **실제 diff/구체 설계 패치에서 확인할 예시**이며 현재 구현의 실측 결과가 아니다.</a:t>
            </a:r>
          </a:p>
          <a:p xmlns:a="http://schemas.openxmlformats.org/drawingml/2006/main">
            <a:r>
              <a:t/>
            </a:r>
          </a:p>
          <a:p xmlns:a="http://schemas.openxmlformats.org/drawingml/2006/main">
            <a:r>
              <a:t>**차이 기준: 평균 0.5개 이상**, 여섯 과제 합계에서 고유 수정 발생 수 차이 3개 이상이다. 목표 3개의 1/6 범위 차이로 정했다. 결정적인 수정 계획을 세는 평가에는 bootstrap 신뢰구간을 발명하지 않는다. 두 검토자가 같은 registry/완료 조건으로 변경 집합을 비교하고 의견 차이가 있으면 집합과 근거를 조정한다. implementation이 없어도 구체적인 계약/설계 patch로 `DESIGN_CHANGE_REVIEW`를 수행할 수 있다. 단순 “바뀔 것 같다”는 모호한 개수는 공식 값으로 사용하지 않는다.</a:t>
            </a:r>
          </a:p>
          <a:p xmlns:a="http://schemas.openxmlformats.org/drawingml/2006/main">
            <a:r>
              <a:t/>
            </a:r>
          </a:p>
          <a:p xmlns:a="http://schemas.openxmlformats.org/drawingml/2006/main">
            <a:r>
              <a:t>### 6.5 수행 절차와 DP 영향</a:t>
            </a:r>
          </a:p>
          <a:p xmlns:a="http://schemas.openxmlformats.org/drawingml/2006/main">
            <a:r>
              <a:t/>
            </a:r>
          </a:p>
          <a:p xmlns:a="http://schemas.openxmlformats.org/drawingml/2006/main">
            <a:r>
              <a:t>1. 동일 후보 설명/계약 snapshot과 registry를 고정하고 여섯 과제를 각각 원래 snapshot에서 시작한다. M-01 완료 결과를 M-02의 기본 구조로 누적하지 않는다.</a:t>
            </a:r>
          </a:p>
          <a:p xmlns:a="http://schemas.openxmlformats.org/drawingml/2006/main">
            <a:r>
              <a:t>2. 요구를 충족하는 최소한의 강한 수정안을 작성한다. A의 내부 API/cache/부분 갱신, B의 안정된 schema/독립 owner를 허용한다. 작업량을 늘리는 불필요한 재설계는 세지 않는다.</a:t>
            </a:r>
          </a:p>
          <a:p xmlns:a="http://schemas.openxmlformats.org/drawingml/2006/main">
            <a:r>
              <a:t>3. U01~18 각각에 `CHANGED 또는 UNCHANGED, 이유, 변경 전/후 계약, patch/evidence_ref`를 채운다. 비참여 단위도 공란 대신 동일 계약 유지 이유를 기록한다.</a:t>
            </a:r>
          </a:p>
          <a:p xmlns:a="http://schemas.openxmlformats.org/drawingml/2006/main">
            <a:r>
              <a:t>4. 완료 oracle와 기존 정답/시간/권한/중복 회귀를 검사한다. 설계 patch는 계약과 사건 walkthrough로 검토하고 구현 patch는 해당 실행 검사를 병기한다. 두 증거 수준을 섞지 않는다.</a:t>
            </a:r>
          </a:p>
          <a:p xmlns:a="http://schemas.openxmlformats.org/drawingml/2006/main">
            <a:r>
              <a:t>5. 여섯 변경 집합/개수와 평균, 최대값을 보고한다. 변경량과 별도로 이행/배포/검증 부담을 서술한다.</a:t>
            </a:r>
          </a:p>
          <a:p xmlns:a="http://schemas.openxmlformats.org/drawingml/2006/main">
            <a:r>
              <a:t/>
            </a:r>
          </a:p>
          <a:p xmlns:a="http://schemas.openxmlformats.org/drawingml/2006/main">
            <a:r>
              <a:t>41은 유한 관계 확장, 42는 질문 token의 authority/handoff, 44는 제어/질문 revision이 continuation/window에 전파되는 범위, 45는 철회가 원본 조합/cache 또는 생산/조회/coverage에 전파되는 범위에서 차이가 날 수 있다. 외부 protocol의 단순 변경은 양안 모두 adapter 하나로 끝날 수 있다.</a:t>
            </a:r>
          </a:p>
          <a:p xmlns:a="http://schemas.openxmlformats.org/drawingml/2006/main">
            <a:r>
              <a:t/>
            </a:r>
          </a:p>
          <a:p xmlns:a="http://schemas.openxmlformats.org/drawingml/2006/main">
            <a:r>
              <a:t/>
            </a:r>
          </a:p>
          <a:p xmlns:a="http://schemas.openxmlformats.org/drawingml/2006/main">
            <a:r>
              <a:t>ASR-QA-06 로컬 VIA 메모리 사용량</a:t>
            </a:r>
          </a:p>
          <a:p xmlns:a="http://schemas.openxmlformats.org/drawingml/2006/main">
            <a:r>
              <a:t>정의: 동일한 활동과 동시 부하에서 VIA가 로컬 PC에 할당해 유지하는 메모리의 최대량</a:t>
            </a:r>
          </a:p>
          <a:p xmlns:a="http://schemas.openxmlformats.org/drawingml/2006/main">
            <a:r>
              <a:t>측정 지표: 최대 전체 commit 메모리(MiB) = 같은 W100 3회 중 모든 VIA process의 private commit + 고유 공유 anonymous commit의 동시 합 최대</a:t>
            </a:r>
          </a:p>
          <a:p xmlns:a="http://schemas.openxmlformats.org/drawingml/2006/main">
            <a:r>
              <a:t>목표: 4,096MiB(4GiB) 이하</a:t>
            </a:r>
          </a:p>
          <a:p xmlns:a="http://schemas.openxmlformats.org/drawingml/2006/main">
            <a:r>
              <a:t>목표 근거: 32GB급 Windows PC에서 OS 8GiB/사용자 앱 16GiB/VIA 4GiB/여유 4GiB로 계획. 기본 allocation 예산 1,792MiB에 DP 추가 상태/변동 여유 2,304MiB. RAM residency와 commit 구별 (§7.3)</a:t>
            </a:r>
          </a:p>
          <a:p xmlns:a="http://schemas.openxmlformats.org/drawingml/2006/main">
            <a:r>
              <a:t>보호 조건: working-set 합 ≤6GiB, 유휴 증가 ≤16MiB</a:t>
            </a:r>
          </a:p>
          <a:p xmlns:a="http://schemas.openxmlformats.org/drawingml/2006/main">
            <a:r>
              <a:t>출처:</a:t>
            </a:r>
          </a:p>
          <a:p xmlns:a="http://schemas.openxmlformats.org/drawingml/2006/main">
            <a:r>
              <a:t>Samsung NP960UJH-XG3IN 공식 사양: https://www.samsung.com/in/computers/galaxy-book/galaxy-book6-ultra-ultra-7-32gb-1tb-np960ujh-xg3in/</a:t>
            </a:r>
          </a:p>
          <a:p xmlns:a="http://schemas.openxmlformats.org/drawingml/2006/main">
            <a:r>
              <a:t>Microsoft PrivateUsage/commit 정의: https://learn.microsoft.com/en-us/windows/win32/api/psapi/ns-psapi-process_memory_counters_ex</a:t>
            </a:r>
          </a:p>
          <a:p xmlns:a="http://schemas.openxmlformats.org/drawingml/2006/main">
            <a:r>
              <a:t>03-02 공통 QA 계약 v5: ../../architecture/12-decisions/decision-packages/03-02-quality-attribute-definitions.md</a:t>
            </a:r>
          </a:p>
          <a:p xmlns:a="http://schemas.openxmlformats.org/drawingml/2006/main">
            <a:r>
              <a:t/>
            </a:r>
          </a:p>
          <a:p xmlns:a="http://schemas.openxmlformats.org/drawingml/2006/main">
            <a:r>
              <a:t>상세 평가 원문 §7</a:t>
            </a:r>
          </a:p>
          <a:p xmlns:a="http://schemas.openxmlformats.org/drawingml/2006/main">
            <a:r>
              <a:t>메모리 사용량</a:t>
            </a:r>
          </a:p>
          <a:p xmlns:a="http://schemas.openxmlformats.org/drawingml/2006/main">
            <a:r>
              <a:t/>
            </a:r>
          </a:p>
          <a:p xmlns:a="http://schemas.openxmlformats.org/drawingml/2006/main">
            <a:r>
              <a:t>**관리 ID: ASR-QA-06 — 로컬 VIA 메모리 사용량.**</a:t>
            </a:r>
          </a:p>
          <a:p xmlns:a="http://schemas.openxmlformats.org/drawingml/2006/main">
            <a:r>
              <a:t/>
            </a:r>
          </a:p>
          <a:p xmlns:a="http://schemas.openxmlformats.org/drawingml/2006/main">
            <a:r>
              <a:t>### 7.1 정의와 대표 지표</a:t>
            </a:r>
          </a:p>
          <a:p xmlns:a="http://schemas.openxmlformats.org/drawingml/2006/main">
            <a:r>
              <a:t/>
            </a:r>
          </a:p>
          <a:p xmlns:a="http://schemas.openxmlformats.org/drawingml/2006/main">
            <a:r>
              <a:t>**동일한 활동과 동시 부하에서 VIA가 로컬 PC에 할당해 유지하는 메모리의 최대량.** 대표값은 **같은 W100 세 번의 전체 활동에서 VIA 전체 프로세스의 최대 동시 commit 메모리(MiB)**다. 순간별 모든 VIA process의 private committed bytes와 공유 anonymous section의 고유 committed bytes를 한 번씩 합한 뒤 최대값을 구한다.</a:t>
            </a:r>
          </a:p>
          <a:p xmlns:a="http://schemas.openxmlformats.org/drawingml/2006/main">
            <a:r>
              <a:t/>
            </a:r>
          </a:p>
          <a:p xmlns:a="http://schemas.openxmlformats.org/drawingml/2006/main">
            <a:r>
              <a:t>```text</a:t>
            </a:r>
          </a:p>
          <a:p xmlns:a="http://schemas.openxmlformats.org/drawingml/2006/main">
            <a:r>
              <a:t>M(t) = Σ VIA 프로세스의 PrivateUsage(t) + 고유 shared-anonymous commit(t)</a:t>
            </a:r>
          </a:p>
          <a:p xmlns:a="http://schemas.openxmlformats.org/drawingml/2006/main">
            <a:r>
              <a:t>ASR-QA-06 = max_t M(t) / 1,048,576, 단위 MiB</a:t>
            </a:r>
          </a:p>
          <a:p xmlns:a="http://schemas.openxmlformats.org/drawingml/2006/main">
            <a:r>
              <a:t>```</a:t>
            </a:r>
          </a:p>
          <a:p xmlns:a="http://schemas.openxmlformats.org/drawingml/2006/main">
            <a:r>
              <a:t/>
            </a:r>
          </a:p>
          <a:p xmlns:a="http://schemas.openxmlformats.org/drawingml/2006/main">
            <a:r>
              <a:t>UI/Core/독립 대화/업무 service, worker/helper, local VAD, 입력 근거/Context/cache/queue/DB cache, cloud adapter/암호화/직렬화 buffer를 포함한다. shared section을 private 항목에 이미 포함한 allocator에서는 section ID로 중복을 제거한다. 서로 다른 process가 같은 JSON을 각자 복사했으면 실제 private 할당이므로 둘 다 센다. 같은 immutable shared buffer 참조는 한 번만 센다.</a:t>
            </a:r>
          </a:p>
          <a:p xmlns:a="http://schemas.openxmlformats.org/drawingml/2006/main">
            <a:r>
              <a:t/>
            </a:r>
          </a:p>
          <a:p xmlns:a="http://schemas.openxmlformats.org/drawingml/2006/main">
            <a:r>
              <a:t>**commit은 현재 물리 RAM에 올라온 working set과 다르다.** [Microsoft PrivateUsage 정의](https://learn.microsoft.com/en-us/windows/win32/api/psapi/ns-psapi-process_memory_counters_ex)에 맞춰 할당 압력을 관리한다. page-out으로 working set을 줄여도 commit을 낮췄다고 하지 않는다. 디스크의 DB/로그 전체 bytes와 cloud 서버 weights/KV는 제외한다. file-backed mapped page/DLL의 resident working set과 VRAM은 별도 진단에 포함하고 commit에 가산하지 않는다. primary가 물리 RAM 전체를 정확히 나타낸다고 주장하지 않는다.</a:t>
            </a:r>
          </a:p>
          <a:p xmlns:a="http://schemas.openxmlformats.org/drawingml/2006/main">
            <a:r>
              <a:t/>
            </a:r>
          </a:p>
          <a:p xmlns:a="http://schemas.openxmlformats.org/drawingml/2006/main">
            <a:r>
              <a:t>file-backed mapping으로 private 할당을 옮겨 primary만 낮추는 경우에는 **보조 전체 process working-set 합계 6GiB 이하**를 함께 검사한다. 이 합은 shared page를 중복 셀 수 있는 보수적 보호값이고 unique physical RAM으로 부르지 않는다. GPU/NPU의 VIA 전용 할당도 원장에 공개한다. 현재 cloud 모델 조건에서 local 모델 weights는 0이며 local VAD나 렌더 자원이 0이라는 뜻은 아니다. 향후 local 모델 비교로 전환하면 weights/runtime/KV를 포함한 새 workload version을 만든다.</a:t>
            </a:r>
          </a:p>
          <a:p xmlns:a="http://schemas.openxmlformats.org/drawingml/2006/main">
            <a:r>
              <a:t/>
            </a:r>
          </a:p>
          <a:p xmlns:a="http://schemas.openxmlformats.org/drawingml/2006/main">
            <a:r>
              <a:t>### 7.2 고정 장치, 공통 부하와 관찰 구간</a:t>
            </a:r>
          </a:p>
          <a:p xmlns:a="http://schemas.openxmlformats.org/drawingml/2006/main">
            <a:r>
              <a:t/>
            </a:r>
          </a:p>
          <a:p xmlns:a="http://schemas.openxmlformats.org/drawingml/2006/main">
            <a:r>
              <a:t>장치는 §8.4의 **Galaxy Book6 Ultra NP960UJH-XG3IN, Windows 11, RAM 32GB급**이다. AC 전원/전원 모드와 Office/browser 부하를 고정한다. 현재 접근 중인 Mac에서 산출한 참조 계산은 Windows 실측이 아니다.</a:t>
            </a:r>
          </a:p>
          <a:p xmlns:a="http://schemas.openxmlformats.org/drawingml/2006/main">
            <a:r>
              <a:t/>
            </a:r>
          </a:p>
          <a:p xmlns:a="http://schemas.openxmlformats.org/drawingml/2006/main">
            <a:r>
              <a:t>**비용과 정확히 같은 W100을 읽는다.** 초기 2,000turn/완료 Task 200개/원본 30개(20MiB), 활성 Task 최대 10개, cloud call 최대 4개, 130장면, background source 갱신 20건/maintenance tick 10회와 마지막 철회를 동일하게 적용한다. 10개 Task/4호출은 동시에 요구하거나 허용하는 부하의 상한이며 후보의 호출을 네 개로 강제하지 않는다. 논리적 Task pool과 burst의 역할은 §8.0에 정의했다.</a:t>
            </a:r>
          </a:p>
          <a:p xmlns:a="http://schemas.openxmlformats.org/drawingml/2006/main">
            <a:r>
              <a:t/>
            </a:r>
          </a:p>
          <a:p xmlns:a="http://schemas.openxmlformats.org/drawingml/2006/main">
            <a:r>
              <a:t>| 단계 | 종료 조건 | 관측에 포함할 것 |</a:t>
            </a:r>
          </a:p>
          <a:p xmlns:a="http://schemas.openxmlformats.org/drawingml/2006/main">
            <a:r>
              <a:t>| --- | --- | --- |</a:t>
            </a:r>
          </a:p>
          <a:p xmlns:a="http://schemas.openxmlformats.org/drawingml/2006/main">
            <a:r>
              <a:t>| 초기화/준비 | 최초 CORE 입력 준비 | owner 원본 복원/DB/cloud session/실제 파생 생산. peak 원장 시작 후 수행 |</a:t>
            </a:r>
          </a:p>
          <a:p xmlns:a="http://schemas.openxmlformats.org/drawingml/2006/main">
            <a:r>
              <a:t>| CORE/REUSE | 각 block의 18+4 장면 checkpoint/tail 충족 | 과거 준비/캐시/정정/후속 결과, 이전 block의 완료 이력 유지 |</a:t>
            </a:r>
          </a:p>
          <a:p xmlns:a="http://schemas.openxmlformats.org/drawingml/2006/main">
            <a:r>
              <a:t>| BURST/갱신 | 네 Agent 장면과 네 source 변경 반영 | 네 장면 0/0.02/0.04/0.06초 제공, 최대 4호출의 실제 겹침, queue/copy/무효화 |</a:t>
            </a:r>
          </a:p>
          <a:p xmlns:a="http://schemas.openxmlformats.org/drawingml/2006/main">
            <a:r>
              <a:t>| 철회/drain | 마지막 source 철회 뒤 새 입력 없이 최대 30초 | 파생/Context 신규 사용 차단, 처리 가능한 VIA queue/job 회수. 외부 Task의 정당한 대기 상태는 보존 |</a:t>
            </a:r>
          </a:p>
          <a:p xmlns:a="http://schemas.openxmlformats.org/drawingml/2006/main">
            <a:r>
              <a:t>| 유휴 probe | drain 완료 뒤 10초 | 시작/끝 commit과 구간 최대. 새 요청/추가 maintenance 없음, pending 외부 질문을 삭제해 성공으로 바꾸지 않음 |</a:t>
            </a:r>
          </a:p>
          <a:p xmlns:a="http://schemas.openxmlformats.org/drawingml/2006/main">
            <a:r>
              <a:t/>
            </a:r>
          </a:p>
          <a:p xmlns:a="http://schemas.openxmlformats.org/drawingml/2006/main">
            <a:r>
              <a:t>완료 history를 block마다 삭제해 메모리 증가를 숨기지 않는다. 후보가 job을 포기하거나 drain deadline을 넘으면 낮은 peak도 자원 목표 달성이 아니다. probe가 끝날 때까지 전체 비용 원장도 열린다. 실측 반복 R1/R2/R3는 서로 독립 초기화하지만 각 활동 내부의 peak와 history는 초기화하지 않는다.</a:t>
            </a:r>
          </a:p>
          <a:p xmlns:a="http://schemas.openxmlformats.org/drawingml/2006/main">
            <a:r>
              <a:t/>
            </a:r>
          </a:p>
          <a:p xmlns:a="http://schemas.openxmlformats.org/drawingml/2006/main">
            <a:r>
              <a:t>공통 capture는 2880×1800 RGBA 원본 한 장 약 19.775MiB, 보존 창 최대 15장으로 약 296.63MiB다. 512MiB capture 예산에는 음성/전사/전달 copy도 포함하므로 원본과 완전한 15장 복사본을 동시에 보관하면 예산을 넘을 수 있다. 같은 원천 사건/15장 보관 범위에서 압축/참조 공유를 허용하고 처리 시간은 QA-02/03에 남긴다. 45B의 과거 RAM 상주나 42B helper/복사 비용을 빠뜨리지 않으며 강한 A의 정상 cache도 보존한다.</a:t>
            </a:r>
          </a:p>
          <a:p xmlns:a="http://schemas.openxmlformats.org/drawingml/2006/main">
            <a:r>
              <a:t/>
            </a:r>
          </a:p>
          <a:p xmlns:a="http://schemas.openxmlformats.org/drawingml/2006/main">
            <a:r>
              <a:t>### 7.3 목표값과 장치/과제 근거</a:t>
            </a:r>
          </a:p>
          <a:p xmlns:a="http://schemas.openxmlformats.org/drawingml/2006/main">
            <a:r>
              <a:t/>
            </a:r>
          </a:p>
          <a:p xmlns:a="http://schemas.openxmlformats.org/drawingml/2006/main">
            <a:r>
              <a:t>**목표: 최대 4,096MiB(4GiB) 이하.** 32GB급 장치에 `Windows/기본 상주 8GiB + 사용자 Office/browser/다른 앱 16GiB + VIA 4GiB + 변동 여유 4GiB = 32GiB`의 계획 예산을 둔다. 제조사의 32GB 표기에서 이를 정확한 측정 RAM 값으로 추정하지 않으며 **32GiB 분할은 작성자의 장치 계획 가정**이다. 실제 Windows의 installed/available memory를 기록하더라도 목표를 결과에 맞춰 자동 늘리지 않는다.</a:t>
            </a:r>
          </a:p>
          <a:p xmlns:a="http://schemas.openxmlformats.org/drawingml/2006/main">
            <a:r>
              <a:t/>
            </a:r>
          </a:p>
          <a:p xmlns:a="http://schemas.openxmlformats.org/drawingml/2006/main">
            <a:r>
              <a:t>VIA는 사용자가 PC 업무를 계속하는 동안 실행되므로 전체 기기 메모리를 독점할 수 없다. cloud 모델 조건에서도 입력 근거, 진행 업무와 장기 파생물이 상주할 수 있어 4GiB의 상한을 정했다. 4GiB는 특정 삼성 제품이 보장한 VIA 가용량이나 현재 앱의 측정값이 아니다. 단순 process 수가 적다는 사실만으로 작은 메모리를 주장하지 않는다.</a:t>
            </a:r>
          </a:p>
          <a:p xmlns:a="http://schemas.openxmlformats.org/drawingml/2006/main">
            <a:r>
              <a:t/>
            </a:r>
          </a:p>
          <a:p xmlns:a="http://schemas.openxmlformats.org/drawingml/2006/main">
            <a:r>
              <a:t>| 설명용 동시 할당 예산 | MiB | 포함할 것 |</a:t>
            </a:r>
          </a:p>
          <a:p xmlns:a="http://schemas.openxmlformats.org/drawingml/2006/main">
            <a:r>
              <a:t>| --- | --- | --- |</a:t>
            </a:r>
          </a:p>
          <a:p xmlns:a="http://schemas.openxmlformats.org/drawingml/2006/main">
            <a:r>
              <a:t>| UI/Core/runtime 기본 | 512 | process heap/언어 runtime/화면 UI |</a:t>
            </a:r>
          </a:p>
          <a:p xmlns:a="http://schemas.openxmlformats.org/drawingml/2006/main">
            <a:r>
              <a:t>| capture/전달 buffer | 512 | 같은 원본 보관/복사/전사/audio |</a:t>
            </a:r>
          </a:p>
          <a:p xmlns:a="http://schemas.openxmlformats.org/drawingml/2006/main">
            <a:r>
              <a:t>| 원문 Context/cache | 256 | source 발췌/현재/준비된 과거 |</a:t>
            </a:r>
          </a:p>
          <a:p xmlns:a="http://schemas.openxmlformats.org/drawingml/2006/main">
            <a:r>
              <a:t>| Task/요청/전달 상태 | 128 | 활성 상태와 pending 질문/receipt |</a:t>
            </a:r>
          </a:p>
          <a:p xmlns:a="http://schemas.openxmlformats.org/drawingml/2006/main">
            <a:r>
              <a:t>| DB/cache/영속 읽기 buffer | 128 | 디스크 DB bytes와 구별 |</a:t>
            </a:r>
          </a:p>
          <a:p xmlns:a="http://schemas.openxmlformats.org/drawingml/2006/main">
            <a:r>
              <a:t>| cloud call 임시 상태 | 64 | 최대 4호출 × 16MiB의 가정 |</a:t>
            </a:r>
          </a:p>
          <a:p xmlns:a="http://schemas.openxmlformats.org/drawingml/2006/main">
            <a:r>
              <a:t>| queue/직렬화/동시 burst | 128 | 제한 inbox/outbox/결과 copy |</a:t>
            </a:r>
          </a:p>
          <a:p xmlns:a="http://schemas.openxmlformats.org/drawingml/2006/main">
            <a:r>
              <a:t>| VAD/연동 helper 여유 | 64 | 실제 learned helper weights 있으면 그 안에 계상 |</a:t>
            </a:r>
          </a:p>
          <a:p xmlns:a="http://schemas.openxmlformats.org/drawingml/2006/main">
            <a:r>
              <a:t>| 기본 합계 | **1,792** | 위 항목들의 동시 상한 예시 |</a:t>
            </a:r>
          </a:p>
          <a:p xmlns:a="http://schemas.openxmlformats.org/drawingml/2006/main">
            <a:r>
              <a:t>| DP 추가 상태/큰 Context/변동 여유 | **2,304** | 4,096에서 남는 예산. 실제 측정값 아님 |</a:t>
            </a:r>
          </a:p>
          <a:p xmlns:a="http://schemas.openxmlformats.org/drawingml/2006/main">
            <a:r>
              <a:t/>
            </a:r>
          </a:p>
          <a:p xmlns:a="http://schemas.openxmlformats.org/drawingml/2006/main">
            <a:r>
              <a:t>보조 보호 조건은 앞의 working-set 합 6GiB 이하와 **drain 뒤 10초 유휴 probe의 종료 commit - 시작 commit이 16MiB 이하**다. 필수 근거/작업을 유지한 채 배경 queue를 회수하는지 확인한다. probe 중 최대값도 전체 peak에 남기며 종료-시작이 음수면 증가 0으로 보고한다. 16MiB는 작은 page/cache fluctuation을 허용하는 진단 예산이고 product leak 0의 증명은 아니다. workload가 기능을 포기하고 더 적게 저장한 경우 정확성/지원 범위 손실과 함께 보고한다.</a:t>
            </a:r>
          </a:p>
          <a:p xmlns:a="http://schemas.openxmlformats.org/drawingml/2006/main">
            <a:r>
              <a:t/>
            </a:r>
          </a:p>
          <a:p xmlns:a="http://schemas.openxmlformats.org/drawingml/2006/main">
            <a:r>
              <a:t>### 7.4 관측/계산 절차와 차이 기준</a:t>
            </a:r>
          </a:p>
          <a:p xmlns:a="http://schemas.openxmlformats.org/drawingml/2006/main">
            <a:r>
              <a:t/>
            </a:r>
          </a:p>
          <a:p xmlns:a="http://schemas.openxmlformats.org/drawingml/2006/main">
            <a:r>
              <a:t>1. process/job tree와 helper inventory를 고정한다. 42B의 두 서비스, 44B window/pipe, 45B 생산/조회 상태를 빠뜨리지 않는다. source가 같은 원문을 보내도 소비자가 복사하면 실제 bytes로 센다.</a:t>
            </a:r>
          </a:p>
          <a:p xmlns:a="http://schemas.openxmlformats.org/drawingml/2006/main">
            <a:r>
              <a:t>2. Windows에서는 [GetProcessMemoryInfo](https://learn.microsoft.com/en-us/windows/win32/api/psapi/nf-psapi-getprocessmemoryinfo)의 PrivateUsage를 **50ms 간격**으로 전체 process에서 수집한다. 공유 section은 생성/commit/decommit의 section ID/size 원장으로 추적한다. polling peak는 50ms 사이의 짧은 peak를 놓칠 수 있어 주요 allocate/free 직후 event sample과 allocator high-watermark를 병행한다.</a:t>
            </a:r>
          </a:p>
          <a:p xmlns:a="http://schemas.openxmlformats.org/drawingml/2006/main">
            <a:r>
              <a:t>3. 같은 W100을 3회 독립 초기화해 수행하고 **세 활동의 최대 중 가장 큰 값**을 대표 보고값으로 쓴다. 각 run의 peak와 시각/phase, idle 변화, sample 누락을 공개한다. process restart에서 peak 원장을 리셋하지 않는다.</a:t>
            </a:r>
          </a:p>
          <a:p xmlns:a="http://schemas.openxmlformats.org/drawingml/2006/main">
            <a:r>
              <a:t>4. 구현 전 PoC 계산은 allocation ID/owner/수명/bytes/동시 구간을 갖는 원장으로 같은 시각의 합과 peak를 산출한다. 역할마다 전체 1,792MiB를 복제하지 않고 공통 항목과 실제 추가 private heap/복사/공유 상태를 구별한다.</a:t>
            </a:r>
          </a:p>
          <a:p xmlns:a="http://schemas.openxmlformats.org/drawingml/2006/main">
            <a:r>
              <a:t>5. 후보 장애/미완료 workload로 조기 종료한 낮은 peak는 목표 달성으로 세지 않는다. cap 4,096MiB로 숫자를 잘라 결과를 맞추지 않는다. 관측 누락은 실제 관측 최대라는 하한과 누락 사실을 보고하며 전체 peak를 관측한 것처럼 등급을 부여하지 않는다.</a:t>
            </a:r>
          </a:p>
          <a:p xmlns:a="http://schemas.openxmlformats.org/drawingml/2006/main">
            <a:r>
              <a:t/>
            </a:r>
          </a:p>
          <a:p xmlns:a="http://schemas.openxmlformats.org/drawingml/2006/main">
            <a:r>
              <a:t>**차이 기준: 128MiB 이상**, 목표 4GiB의 약 3.125%와 기본 상태/queue budget 한 묶음 크기다. polling 오차/allocator reserve 차이보다 구조의 동시 상태 차이를 보려는 작성자 기준이다. 계산에서는 추가 process heap, 중복 message copy, cache 크기를 절반/기준/두 배로 바꿔 확인한다. 41의 해석 Context/frame/부분 상태, 42의 추가 service/접수/outbox, 44의 continuation/window/buffer, 45의 원문 cache/게시 index/coverage/backlog가 참여한다. 어느 안도 무조건 작다고 확정하지 않는다.</a:t>
            </a:r>
          </a:p>
          <a:p xmlns:a="http://schemas.openxmlformats.org/drawingml/2006/main">
            <a:r>
              <a:t/>
            </a:r>
          </a:p>
          <a:p xmlns:a="http://schemas.openxmlformats.org/drawingml/2006/main">
            <a:r>
              <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공통 입력/원천 사건/후보/모델 조건은 여섯 QA에 공유하고, 각 QA의 분모/시간/금액/변경/메모리 경계는 §3~7의 완료 정의를 따른다. 공통 전사/장치 replay를 실제 ASR 정확도나 물리 장치 응답시간 실측으로 해석하지 않는다.</a:t>
            </a:r>
          </a:p>
          <a:p xmlns:a="http://schemas.openxmlformats.org/drawingml/2006/main">
            <a:r>
              <a:t/>
            </a:r>
          </a:p>
          <a:p xmlns:a="http://schemas.openxmlformats.org/drawingml/2006/main">
            <a:r>
              <a:t>### 8.0 공통 활동 W100: 사용량과 관측 대응</a:t>
            </a:r>
          </a:p>
          <a:p xmlns:a="http://schemas.openxmlformats.org/drawingml/2006/main">
            <a:r>
              <a:t/>
            </a:r>
          </a:p>
          <a:p xmlns:a="http://schemas.openxmlformats.org/drawingml/2006/main">
            <a:r>
              <a:t>#### 8.0.1 사용량을 정의하는 이유와 범위</a:t>
            </a:r>
          </a:p>
          <a:p xmlns:a="http://schemas.openxmlformats.org/drawingml/2006/main">
            <a:r>
              <a:t/>
            </a:r>
          </a:p>
          <a:p xmlns:a="http://schemas.openxmlformats.org/drawingml/2006/main">
            <a:r>
              <a:t>**W100은 기존 18개 사례로 구성한 합성 표준 활동이다.** 사용자의 실제 일일 빈도 자료가 없는 PoC에서 A/B가 같은 기능과 부하를 처리하도록 평가용 사용량을 명시했다. 100은 사용자 입력 장면 수다. 신규 업무/조회뿐 아니라 정정/취소/확인/재연결이 들어간다. Agent가 먼저 질문/결과를 보내는 장면은 별도로 30건이다. S5-03은 Agent 결과로 시작하지만 재연결한 사용자의 명시적 조회 발화가 있으므로 사용량 원장에서는 사용자 장면 1건이다. S6의 계획된 답변은 그 장면 내부 후속 발화이며 장면을 추가하지 않는다.</a:t>
            </a:r>
          </a:p>
          <a:p xmlns:a="http://schemas.openxmlformats.org/drawingml/2006/main">
            <a:r>
              <a:t/>
            </a:r>
          </a:p>
          <a:p xmlns:a="http://schemas.openxmlformats.org/drawingml/2006/main">
            <a:r>
              <a:t>원천은 §3의 18개 초기 상황/입력/경쟁 사건/정답과 아래 공통 lifecycle tail이다. **QA별로 다른 업무나 외부 결과를 만들지 않는다.** 평가 관측 단위가 다르므로 모든 QA의 분모가 같을 필요는 없다. 정확성은 조건, 시간은 사건 경계, 비용은 활동 전체 청구, 메모리는 활동 전체 동시 할당을 읽는다. 변경 용이성은 여섯 구조 변경 과제이며 변경 뒤 같은 기능/활동 계약을 유지한다.</a:t>
            </a:r>
          </a:p>
          <a:p xmlns:a="http://schemas.openxmlformats.org/drawingml/2006/main">
            <a:r>
              <a:t/>
            </a:r>
          </a:p>
          <a:p xmlns:a="http://schemas.openxmlformats.org/drawingml/2006/main">
            <a:r>
              <a:t>[공통 활동 입력](./03-02-common-workload.json)은 이 절의 machine-readable 사용량/음성/호출 예산이고 [사건 목록](./03-02-workload-manifest.json)은 각 장면의 case/hash/CORE 여부/I/T 연결을 130행으로 생성한다. [활동 검산기](../../../../scripts/architecture/qa_common_workload.py)는 입력 목록을 컴파일할 뿐 후보/harness/API를 실행하지 않는다. 참조 계산과 두 발표자료도 같은 원본/manifest hash를 사용한다.</a:t>
            </a:r>
          </a:p>
          <a:p xmlns:a="http://schemas.openxmlformats.org/drawingml/2006/main">
            <a:r>
              <a:t/>
            </a:r>
          </a:p>
          <a:p xmlns:a="http://schemas.openxmlformats.org/drawingml/2006/main">
            <a:r>
              <a:t>#### 8.0.2 사례별 횟수와 음성 길이</a:t>
            </a:r>
          </a:p>
          <a:p xmlns:a="http://schemas.openxmlformats.org/drawingml/2006/main">
            <a:r>
              <a:t/>
            </a:r>
          </a:p>
          <a:p xmlns:a="http://schemas.openxmlformats.org/drawingml/2006/main">
            <a:r>
              <a:t>| 원본 사례 | W100 횟수 | 입력 장면 분류 | 최초 발화 초/회 | 지정 답변 초/회 | 출력 음성 예산 초/회 | 반응 관측 | 사이클 관측 |</a:t>
            </a:r>
          </a:p>
          <a:p xmlns:a="http://schemas.openxmlformats.org/drawingml/2006/main">
            <a:r>
              <a:t>| --- | --- | --- | --- | --- | --- | --- | --- |</a:t>
            </a:r>
          </a:p>
          <a:p xmlns:a="http://schemas.openxmlformats.org/drawingml/2006/main">
            <a:r>
              <a:t>| S1-01 | 8 | 사용자 | 2 | 0 | 3 | 없음 | T-01 |</a:t>
            </a:r>
          </a:p>
          <a:p xmlns:a="http://schemas.openxmlformats.org/drawingml/2006/main">
            <a:r>
              <a:t>| S1-02 | 8 | 사용자 | 3 | 0 | 8 | 없음 | T-02 |</a:t>
            </a:r>
          </a:p>
          <a:p xmlns:a="http://schemas.openxmlformats.org/drawingml/2006/main">
            <a:r>
              <a:t>| S1-03 | 8 | 사용자 | 3 | 0 | 4 | 없음 | 없음 |</a:t>
            </a:r>
          </a:p>
          <a:p xmlns:a="http://schemas.openxmlformats.org/drawingml/2006/main">
            <a:r>
              <a:t>| S2-01 | 8 | 사용자 | 2 | 0 | 5 | 없음 | 없음 |</a:t>
            </a:r>
          </a:p>
          <a:p xmlns:a="http://schemas.openxmlformats.org/drawingml/2006/main">
            <a:r>
              <a:t>| S2-02 | 8 | 사용자 | 3 | 0 | 18 | 없음 | T-03 |</a:t>
            </a:r>
          </a:p>
          <a:p xmlns:a="http://schemas.openxmlformats.org/drawingml/2006/main">
            <a:r>
              <a:t>| S2-03 | 8 | 사용자 | 2 | 0 | 4 | 없음 | 없음 |</a:t>
            </a:r>
          </a:p>
          <a:p xmlns:a="http://schemas.openxmlformats.org/drawingml/2006/main">
            <a:r>
              <a:t>| S3-01 | 5 | 사용자 | 3 | 0 | 6 | 없음 | 없음 |</a:t>
            </a:r>
          </a:p>
          <a:p xmlns:a="http://schemas.openxmlformats.org/drawingml/2006/main">
            <a:r>
              <a:t>| S3-02 | 5 | 사용자 | 3 | 0 | 10 | 없음 | T-04 |</a:t>
            </a:r>
          </a:p>
          <a:p xmlns:a="http://schemas.openxmlformats.org/drawingml/2006/main">
            <a:r>
              <a:t>| S3-03 | 5 | 사용자 | 3 | 0 | 6 | 없음 | 없음 |</a:t>
            </a:r>
          </a:p>
          <a:p xmlns:a="http://schemas.openxmlformats.org/drawingml/2006/main">
            <a:r>
              <a:t>| S4-01 | 5 | 사용자 | 2 | 0 | 9 | I-02 | T-05 |</a:t>
            </a:r>
          </a:p>
          <a:p xmlns:a="http://schemas.openxmlformats.org/drawingml/2006/main">
            <a:r>
              <a:t>| S4-02 | 5 | 사용자 | 2 | 0 | 8 | I-01 | 없음 |</a:t>
            </a:r>
          </a:p>
          <a:p xmlns:a="http://schemas.openxmlformats.org/drawingml/2006/main">
            <a:r>
              <a:t>| S4-03 | 5 | 사용자 | 2 | 0 | 5 | I-03 | 없음 |</a:t>
            </a:r>
          </a:p>
          <a:p xmlns:a="http://schemas.openxmlformats.org/drawingml/2006/main">
            <a:r>
              <a:t>| S5-01 | 15 | Agent | 0 | 0 | 5 | I-04 | 없음 |</a:t>
            </a:r>
          </a:p>
          <a:p xmlns:a="http://schemas.openxmlformats.org/drawingml/2006/main">
            <a:r>
              <a:t>| S5-02 | 15 | Agent | 0 | 0 | 6 | I-05 | 없음 |</a:t>
            </a:r>
          </a:p>
          <a:p xmlns:a="http://schemas.openxmlformats.org/drawingml/2006/main">
            <a:r>
              <a:t>| S5-03 | 7 | 사용자 | 2 | 0 | 4 | 없음 | 없음 |</a:t>
            </a:r>
          </a:p>
          <a:p xmlns:a="http://schemas.openxmlformats.org/drawingml/2006/main">
            <a:r>
              <a:t>| S6-01 | 5 | 사용자 | 2 | 3 | 14 | 없음 | T-06 |</a:t>
            </a:r>
          </a:p>
          <a:p xmlns:a="http://schemas.openxmlformats.org/drawingml/2006/main">
            <a:r>
              <a:t>| S6-02 | 5 | 사용자 | 1 | 3 | 14 | 없음 | 없음 |</a:t>
            </a:r>
          </a:p>
          <a:p xmlns:a="http://schemas.openxmlformats.org/drawingml/2006/main">
            <a:r>
              <a:t>| S6-03 | 5 | 사용자 | 2 | 0 | 5 | I-06 | 없음 |</a:t>
            </a:r>
          </a:p>
          <a:p xmlns:a="http://schemas.openxmlformats.org/drawingml/2006/main">
            <a:r>
              <a:t/>
            </a:r>
          </a:p>
          <a:p xmlns:a="http://schemas.openxmlformats.org/drawingml/2006/main">
            <a:r>
              <a:t>사용자 장면 합 100, Agent 장면 합 30이다. 최초 입력의 replay 길이는 §3 사건 구간으로 정한 **fixture 조건**이고 합 234초다. S6-01/02 각 5회의 후속 답변 3초를 더해 계획된 입력은 **110발화/264초**다. 추가 확인은 §3 공통 답변 정책대로 공급하고 실제 청구를 더한다. S5-03의 2초 재연결 요청은 최초 발화 열에 이미 포함했다.</a:t>
            </a:r>
          </a:p>
          <a:p xmlns:a="http://schemas.openxmlformats.org/drawingml/2006/main">
            <a:r>
              <a:t/>
            </a:r>
          </a:p>
          <a:p xmlns:a="http://schemas.openxmlformats.org/drawingml/2006/main">
            <a:r>
              <a:t>출력 길이는 **작성자의 참조 예산**이며 모델 성능/자연 발화 길이 보장이 아니다. 위 표의 필수 사실 전달과 공통 tail을 합해 914초다. S2-02 18초는 과거의 실제 재생 설명 8초와 현재 접수/결과 10초, S4-02 8초는 중단 전 재생 4초와 새 설명 4초를 포함한다. S6-01/02 14초는 확인 질문과 허용 범위/결과 전달의 합이다. 나머지는 해당 C6 사실과 tail 전달의 총 길이 예산이다. 실제 모델 생성/재생/폐기 청구량을 예산값으로 덮어쓰지 않는다. Text 표시 길이와 음성 시간의 임의 token 환산도 하지 않는다.</a:t>
            </a:r>
          </a:p>
          <a:p xmlns:a="http://schemas.openxmlformats.org/drawingml/2006/main">
            <a:r>
              <a:t/>
            </a:r>
          </a:p>
          <a:p xmlns:a="http://schemas.openxmlformats.org/drawingml/2006/main">
            <a:r>
              <a:t>#### 8.0.3 다섯 block의 입력 순서와 관측 선택</a:t>
            </a:r>
          </a:p>
          <a:p xmlns:a="http://schemas.openxmlformats.org/drawingml/2006/main">
            <a:r>
              <a:t/>
            </a:r>
          </a:p>
          <a:p xmlns:a="http://schemas.openxmlformats.org/drawingml/2006/main">
            <a:r>
              <a:t>각 block은 **CORE 18장면 + REUSE 4장면 + BURST 4장면 = 26장면**이다. 다섯 block이 사용자 100/Agent 30의 130장면을 만든다. CORE는 S1-01부터 S6-03까지 위 표 순서로 각 한 번이다. 각 장면은 필수 checkpoint와 tail까지 진행한 뒤 다음 장면을 시작한다. 아래 REUSE는 같은 block에서 이미 허용된 원본 version/제공 권한을 확인한 뒤 재사용한다. 기존 현재 Task를 임의 정답으로 배치하지 않고 요청 ID/외부 실행 ID는 occurrence namespace로 구별한다.</a:t>
            </a:r>
          </a:p>
          <a:p xmlns:a="http://schemas.openxmlformats.org/drawingml/2006/main">
            <a:r>
              <a:t/>
            </a:r>
          </a:p>
          <a:p xmlns:a="http://schemas.openxmlformats.org/drawingml/2006/main">
            <a:r>
              <a:t>| block | REUSE 네 장면 순서 | BURST 네 장면 순서 |</a:t>
            </a:r>
          </a:p>
          <a:p xmlns:a="http://schemas.openxmlformats.org/drawingml/2006/main">
            <a:r>
              <a:t>| --- | --- | --- |</a:t>
            </a:r>
          </a:p>
          <a:p xmlns:a="http://schemas.openxmlformats.org/drawingml/2006/main">
            <a:r>
              <a:t>| B1 | S1-01, S1-02, S2-01, S2-02 | S5-01, S5-02, S5-01, S5-02 |</a:t>
            </a:r>
          </a:p>
          <a:p xmlns:a="http://schemas.openxmlformats.org/drawingml/2006/main">
            <a:r>
              <a:t>| B2 | S1-01, S1-03, S2-01, S2-03 | 동일 |</a:t>
            </a:r>
          </a:p>
          <a:p xmlns:a="http://schemas.openxmlformats.org/drawingml/2006/main">
            <a:r>
              <a:t>| B3 | S1-02, S1-03, S2-02, S2-03 | 동일 |</a:t>
            </a:r>
          </a:p>
          <a:p xmlns:a="http://schemas.openxmlformats.org/drawingml/2006/main">
            <a:r>
              <a:t>| B4 | S1-01, S1-02, S2-01, S2-02 | 동일 |</a:t>
            </a:r>
          </a:p>
          <a:p xmlns:a="http://schemas.openxmlformats.org/drawingml/2006/main">
            <a:r>
              <a:t>| B5 | S1-03, S2-03, S5-03, S5-03 | 동일 |</a:t>
            </a:r>
          </a:p>
          <a:p xmlns:a="http://schemas.openxmlformats.org/drawingml/2006/main">
            <a:r>
              <a:t/>
            </a:r>
          </a:p>
          <a:p xmlns:a="http://schemas.openxmlformats.org/drawingml/2006/main">
            <a:r>
              <a:t>BURST의 네 Agent 장면 최초 원천 사건을 상대 0/0.02/0.04/0.06초에 공급하고 각 장면 내부의 원본 후속 순서를 보존한다. 사용자 음성을 네 개 중첩시키는 시험은 아니다. 네 장면이 각각 사용하는 두 Task를 pool의 여덟 slot에 배치하고 T보호와 background 한 Task의 두 slot을 유지해 **활성 최대 10개**다. CORE/REUSE는 이 pool의 필요한 slot만 해당 초기 사실로 복원한다. 완료된 관련 작업은 active slot에서 빠져 이력으로 남는다. 이 합성 replay suite의 slot은 현재 제시하는 scoped scene의 owner이며 10은 그 scene에서 동시에 처리하는 Task 상한이다. 완료되지 않은 질문/취소 접수는 먼저 원본 checkpoint/5초 늦은 사건 관찰을 충족한 뒤 scope를 닫고 원래 대기 상태/receipt를 그대로 활동 이력에 보존한다. 전체 미완료 Task를 10개로 자른다거나 외부 대기를 성공 완료로 바꾸는 실제 운용 정책은 아니다. 다음 scene의 before-state 복원과 구분하고 scope 회수 비용/peak도 센다.</a:t>
            </a:r>
          </a:p>
          <a:p xmlns:a="http://schemas.openxmlformats.org/drawingml/2006/main">
            <a:r>
              <a:t/>
            </a:r>
          </a:p>
          <a:p xmlns:a="http://schemas.openxmlformats.org/drawingml/2006/main">
            <a:r>
              <a:t>block의 마지막 BURST checkpoint 이후 B01~B04, B05~B08, …, B17~B20의 background 원본을 각각 한 번 `v1→v2` 갱신한다. 각 원본은 초기 30개 source 중 하나이며 locator와 권한은 그대로, 내용의 수치 한 곳만 1 증가한다. 입력 목록 순서로 0.01초 간격 제공하고 같은 block의 maintenance tick 두 개를 직렬 제공한다. 총 **20개 background 변경/10개 tick**이다. §3의 S2-03 등 내부 X 갱신은 이 20개와 별개로 이미 장면에 포함되며 별도 호출을 중복 청구하지 않는다. B5 마지막 갱신 뒤 B20의 제공 동의를 철회해 원문/파생/Context 신규 소비를 차단한다. 후보의 실제 생산/재해석/철회 비용은 모두 남긴다.</a:t>
            </a:r>
          </a:p>
          <a:p xmlns:a="http://schemas.openxmlformats.org/drawingml/2006/main">
            <a:r>
              <a:t/>
            </a:r>
          </a:p>
          <a:p xmlns:a="http://schemas.openxmlformats.org/drawingml/2006/main">
            <a:r>
              <a:t>R1/R2/R3는 동일 초기 자료를 가진 **세 독립 활동**이다. 대표 정확성/시간 표본은 결과 전에 지정한 **R1 CORE만** 읽는다. 다섯 block의 18개가 90회/540개, I/T 여섯 개가 각각 30개다. REUSE/BURST와 R2/R3의 실패/필수 위반은 별도 보호 근거로 전부 보고하며 대표 정확성 분모에 임의 가산하거나 가장 좋은 run으로 교체하지 않는다. 비용은 세 활동 전체의 평균, 메모리는 세 활동 전체의 최대다. 실제 세 run 없이 같은 계산을 복제해 반복 측정이라고 부르지 않는다.</a:t>
            </a:r>
          </a:p>
          <a:p xmlns:a="http://schemas.openxmlformats.org/drawingml/2006/main">
            <a:r>
              <a:t/>
            </a:r>
          </a:p>
          <a:p xmlns:a="http://schemas.openxmlformats.org/drawingml/2006/main">
            <a:r>
              <a:t>#### 8.0.4 초기 데이터, 복원과 동시 부하</a:t>
            </a:r>
          </a:p>
          <a:p xmlns:a="http://schemas.openxmlformats.org/drawingml/2006/main">
            <a:r>
              <a:t/>
            </a:r>
          </a:p>
          <a:p xmlns:a="http://schemas.openxmlformats.org/drawingml/2006/main">
            <a:r>
              <a:t>각 활동은 원천 대화 2,000turn/완료 Task 200개/문서와 일정 등 source 30개(전체 합성 payload 20MiB)에서 시작한다. 30개 source slot은 B01~B20과 C01~C10이다. Bnn의 제목은 `W100 background source Bnn`, v1의 `value=100+nn`, v2는 `101+nn`이며 read/모델 제공을 허용한다. C slot에는 해당 사례의 원본 D/Cal/표/E1을 namespace 대응으로 제공한다. background 대화 H0001~H2000은 시간순으로 `배경 기록 {id}: B{((id-1)%20)+1}@v1의 값은 {100+((id-1)%20)+1}이다`와 실제 전달 receipt를 갖는다. 완료 Task HT001~HT200은 같은 순환 B source의 read-only 값 조회이며 ACCEPTED→COMPLETED→실제 전달 원천 사실을 갖는다. 현재 요청과 의미 관계를 선결합하지 않는다. UTF-8 원본/turn/Task payload 합을 20×1,024×1,024byte로 맞추도록 미사용 B 본문에 공백을 채운다. DB/index/runtime의 물리적 추가 overhead는 별도 메모리다. 활성 Task 10은 초기 Task를 무조건 10개 더 넣는 뜻이 아니라 공통 pool의 상한이며 BURST의 8개 관련 Task+2개 보호/background로 최대 10개를 제공한다. 실제 과거 원문과 실제 전달/수정/허용 이력을 제공하고 현재 요청의 정답/파생 관계는 넣지 않는다. namespace 대응표는 source/Task 식별을 위한 fixture map이며 모델의 지칭/Task 정답으로 주지 않는다. 각 사례가 읽을 수 있는 scope/사실은 §3 명세 그대로다. 무관한 background 자료는 모델 의미 입력에 무제한 섞지 않지만 전체 이력/DB/copy 메모리에는 포함한다.</a:t>
            </a:r>
          </a:p>
          <a:p xmlns:a="http://schemas.openxmlformats.org/drawingml/2006/main">
            <a:r>
              <a:t/>
            </a:r>
          </a:p>
          <a:p xmlns:a="http://schemas.openxmlformats.org/drawingml/2006/main">
            <a:r>
              <a:t>CORE 전에 해당 논리적 초기 owner 사실을 복원하고 필요한 W 준비를 실제 후보 경로로 처리한다. 복원은 input fixture일 뿐 후보가 처리해야 할 결과를 대신하지 않는다. 후보가 낸 상태/오류를 완료 snapshot으로 덮어쓰지 않고 checkpoint와 tail을 검사한 뒤에만 다음 fixture로 진행한다. 초기/복원/생산의 청구와 일시적 old/new snapshot 이중 할당을 모두 세며 **각 block 완료 이력은 활동 끝까지 남긴다.** 같은 source hash/revision/permission에 한정한 REUSE cache는 허용한다. 충돌 namespace의 cache나 현재성 불일치는 무효화한다.</a:t>
            </a:r>
          </a:p>
          <a:p xmlns:a="http://schemas.openxmlformats.org/drawingml/2006/main">
            <a:r>
              <a:t/>
            </a:r>
          </a:p>
          <a:p xmlns:a="http://schemas.openxmlformats.org/drawingml/2006/main">
            <a:r>
              <a:t>cloud call의 동시 상한은 4개이며 양안에 같은 queue/취소/timeout 계약을 적용한다. 호출 4개를 강제로 만들어 메모리를 늘리지 않는다. capture의 제공 원본/보존 창은 최대 15개 RGBA frame이며 scene 내부의 시각/포인터/허용 규칙은 §3과 같다. 동시 할당과 준비를 비교할 수 있도록 초기화부터 마지막 신규 입력 이후까지 원장을 연다. 마지막 철회 뒤 신규 입력을 멈추고 처리 가능한 VIA job/queue를 최대 30초에 drain한다. 30초는 대표 요청 처리 예산 10초의 세 배로 회수 여유를 둔 작성자 보호 한도다. 외부 업무/미응답 질문의 정당한 대기 상태는 보존한다. drain 완료 뒤 10초 idle probe에 새 maintenance를 넣지 않는다. 10초/50ms는 최소 200개 시간 sample로 단기 회수/잔류 증가를 확인하기 위한 관측 가정이며 장시간 누수의 부재를 증명하지 않는다. 전체 기능 checkpoint/tail 누락 또는 필수 위반이 있으면 작은 비용/메모리도 목표 달성이 아니다.</a:t>
            </a:r>
          </a:p>
          <a:p xmlns:a="http://schemas.openxmlformats.org/drawingml/2006/main">
            <a:r>
              <a:t/>
            </a:r>
          </a:p>
          <a:p xmlns:a="http://schemas.openxmlformats.org/drawingml/2006/main">
            <a:r>
              <a:t>#### 8.0.5 공통 후속 사건과 QA별 관측</a:t>
            </a:r>
          </a:p>
          <a:p xmlns:a="http://schemas.openxmlformats.org/drawingml/2006/main">
            <a:r>
              <a:t/>
            </a:r>
          </a:p>
          <a:p xmlns:a="http://schemas.openxmlformats.org/drawingml/2006/main">
            <a:r>
              <a:t>| 연결 | 같은 장면의 공통 종료/tail | 읽는 지표 |</a:t>
            </a:r>
          </a:p>
          <a:p xmlns:a="http://schemas.openxmlformats.org/drawingml/2006/main">
            <a:r>
              <a:t>| --- | --- | --- |</a:t>
            </a:r>
          </a:p>
          <a:p xmlns:a="http://schemas.openxmlformats.org/drawingml/2006/main">
            <a:r>
              <a:t>| S1-01 / T-01 | 원본 한정 조회: 직접 또는 외부 접수+0.2초 날짜 결과. 별도 8초 결과를 만들지 않음 | 정확성 C6과 cycle 최종 전달 |</a:t>
            </a:r>
          </a:p>
          <a:p xmlns:a="http://schemas.openxmlformats.org/drawingml/2006/main">
            <a:r>
              <a:t>| S1-02 / T-02 | 원본 접수 receipt로 C5/C6 채점한 뒤 실제 작성 접수+8초에 ReportQ3@v1 결과 | 전체 cycle, 청구/할당 |</a:t>
            </a:r>
          </a:p>
          <a:p xmlns:a="http://schemas.openxmlformats.org/drawingml/2006/main">
            <a:r>
              <a:t>| S2-02 / T-03 | 원본 준비 5초/접수 checkpoint 뒤 Proposal@v1 결과를 접수+8초에 반환 | cycle은 현재 발화부터, 자원은 과거 준비도 포함 |</a:t>
            </a:r>
          </a:p>
          <a:p xmlns:a="http://schemas.openxmlformats.org/drawingml/2006/main">
            <a:r>
              <a:t>| S3-02 / T-04 | 현재 K현재 요약과 중복 처리 원본 유지, 실제 SEND 접수+8초 MailCurrent@v1:SENT | cycle은 현재 요약→전송→확인, 중복 effect 금지 |</a:t>
            </a:r>
          </a:p>
          <a:p xmlns:a="http://schemas.openxmlformats.org/drawingml/2006/main">
            <a:r>
              <a:t>| S4-01 / I-02 / T-05 | 원본 정정 접수/메일 유지 checkpoint 이후 변경 접수+8초 ReportRevised@v2 결과 | 같은 정정의 첫 반응과 최종 전달을 각각 관측 |</a:t>
            </a:r>
          </a:p>
          <a:p xmlns:a="http://schemas.openxmlformats.org/drawingml/2006/main">
            <a:r>
              <a:t>| S6-01 / T-06 | 원본 실제 확인 질문+1초에 3초 답변. 실제 유효 수정 접수+8초 ConfirmedRevision@v2 결과 | 사람 기다림/외부 업무만 제외한 cycle |</a:t>
            </a:r>
          </a:p>
          <a:p xmlns:a="http://schemas.openxmlformats.org/drawingml/2006/main">
            <a:r>
              <a:t>| S2-03 | 원본 v1 지정 표 작성 접수 뒤 실제 접수+8초 결과(TablePast@v1) | 대표 T 없음, 비용/메모리와 기능 보호에는 포함 |</a:t>
            </a:r>
          </a:p>
          <a:p xmlns:a="http://schemas.openxmlformats.org/drawingml/2006/main">
            <a:r>
              <a:t>| 나머지 11개 사례 | §3의 실제 조회/선호/제어/질문/결과/승인 범위/거부 checkpoint가 그 장면의 끝. 취소 접수는 완료 취소가 아니며 기다리는 질문을 임의 답변하지 않음 | C6와 지정 I, 전체 청구/할당 |</a:t>
            </a:r>
          </a:p>
          <a:p xmlns:a="http://schemas.openxmlformats.org/drawingml/2006/main">
            <a:r>
              <a:t/>
            </a:r>
          </a:p>
          <a:p xmlns:a="http://schemas.openxmlformats.org/drawingml/2006/main">
            <a:r>
              <a:t>위 tail은 모든 CORE/REUSE/BURST와 모든 run/QA에 공통이다. 최종 payload/source/version/허용과 실제 전달을 검사하며 접수 인사를 최종 결과로 세지 않는다. 정확성의 기존 108개 정답 명세는 해당 checkpoint에서 보존하고 tail 실패는 cycle/resource/필수 기능 보호에 기록한다. 각 관측은 `run/block/occurrence/case/source-vector/checkpoint/tail/I/T`를 동일 원장 key로 조인한다. QA-05 변경의 완료 검사도 이 기능/상태/권한 회귀와 W100의 사용량/동시성/보관 계약을 유지하는지 확인한다. 390장면 모두를 정확성 대표 분모로 키우지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원본: docs/architecture/12-decisions/decision-packages/03-02-quality-attribute-definitions.md</a:t>
            </a:r>
          </a:p>
          <a:p xmlns:a="http://schemas.openxmlformats.org/drawingml/2006/main">
            <a:r>
              <a:t>계약: ASR-QA-v5</a:t>
            </a:r>
          </a:p>
          <a:p xmlns:a="http://schemas.openxmlformats.org/drawingml/2006/main">
            <a:r>
              <a:t>공통 활동: W100 사용자 100/Agent 30장면, 5block, 3 독립 run</a:t>
            </a:r>
          </a:p>
          <a:p xmlns:a="http://schemas.openxmlformats.org/drawingml/2006/main">
            <a:r>
              <a:t>활동 SHA-256: 911ce3ae13588c27b6902a5a0abb17714c4059a9a80bceaa890c1dfb3e26eb7f</a:t>
            </a:r>
          </a:p>
          <a:p xmlns:a="http://schemas.openxmlformats.org/drawingml/2006/main">
            <a:r>
              <a:t>작성일: 2026-10-11</a:t>
            </a:r>
          </a:p>
          <a:p xmlns:a="http://schemas.openxmlformats.org/drawingml/2006/main">
            <a:r>
              <a:t>원본 SHA-256: 0e304faddf43b212900ce12f712a1d5cad5bd3cf601bc77a94f3f267d5fa2933</a:t>
            </a:r>
          </a:p>
          <a:p xmlns:a="http://schemas.openxmlformats.org/drawingml/2006/main">
            <a:r>
              <a:t>우선순위: ASR-QA-01부터 번호순. 목표는 작성자 PoC 예산이며 실제 제품/모델/Windows 성능 결과가 아님. 제공한 PNG 레퍼런스의 스타일만 적용하고 타 과제의 요구/수치는 가져오지 않음.</a:t>
            </a:r>
          </a:p>
          <a:p xmlns:a="http://schemas.openxmlformats.org/drawingml/2006/main">
            <a:r>
              <a:t/>
            </a:r>
          </a:p>
          <a:p xmlns:a="http://schemas.openxmlformats.org/drawingml/2006/main">
            <a:r>
              <a:t/>
            </a:r>
          </a:p>
          <a:p xmlns:a="http://schemas.openxmlformats.org/drawingml/2006/main">
            <a:r>
              <a:t>공통 활동 상세 §8.0</a:t>
            </a:r>
          </a:p>
          <a:p xmlns:a="http://schemas.openxmlformats.org/drawingml/2006/main">
            <a:r>
              <a:t>공통 PoC 환경과 A/B 비교 방법</a:t>
            </a:r>
          </a:p>
          <a:p xmlns:a="http://schemas.openxmlformats.org/drawingml/2006/main">
            <a:r>
              <a:t/>
            </a:r>
          </a:p>
          <a:p xmlns:a="http://schemas.openxmlformats.org/drawingml/2006/main">
            <a:r>
              <a:t>공통 입력/원천 사건/후보/모델 조건은 여섯 QA에 공유하고, 각 QA의 분모/시간/금액/변경/메모리 경계는 §3~7의 완료 정의를 따른다. 공통 전사/장치 replay를 실제 ASR 정확도나 물리 장치 응답시간 실측으로 해석하지 않는다.</a:t>
            </a:r>
          </a:p>
          <a:p xmlns:a="http://schemas.openxmlformats.org/drawingml/2006/main">
            <a:r>
              <a:t/>
            </a:r>
          </a:p>
          <a:p xmlns:a="http://schemas.openxmlformats.org/drawingml/2006/main">
            <a:r>
              <a:t>### 8.0 공통 활동 W100: 사용량과 관측 대응</a:t>
            </a:r>
          </a:p>
          <a:p xmlns:a="http://schemas.openxmlformats.org/drawingml/2006/main">
            <a:r>
              <a:t/>
            </a:r>
          </a:p>
          <a:p xmlns:a="http://schemas.openxmlformats.org/drawingml/2006/main">
            <a:r>
              <a:t>#### 8.0.1 사용량을 정의하는 이유와 범위</a:t>
            </a:r>
          </a:p>
          <a:p xmlns:a="http://schemas.openxmlformats.org/drawingml/2006/main">
            <a:r>
              <a:t/>
            </a:r>
          </a:p>
          <a:p xmlns:a="http://schemas.openxmlformats.org/drawingml/2006/main">
            <a:r>
              <a:t>**W100은 기존 18개 사례로 구성한 합성 표준 활동이다.** 사용자의 실제 일일 빈도 자료가 없는 PoC에서 A/B가 같은 기능과 부하를 처리하도록 평가용 사용량을 명시했다. 100은 사용자 입력 장면 수다. 신규 업무/조회뿐 아니라 정정/취소/확인/재연결이 들어간다. Agent가 먼저 질문/결과를 보내는 장면은 별도로 30건이다. S5-03은 Agent 결과로 시작하지만 재연결한 사용자의 명시적 조회 발화가 있으므로 사용량 원장에서는 사용자 장면 1건이다. S6의 계획된 답변은 그 장면 내부 후속 발화이며 장면을 추가하지 않는다.</a:t>
            </a:r>
          </a:p>
          <a:p xmlns:a="http://schemas.openxmlformats.org/drawingml/2006/main">
            <a:r>
              <a:t/>
            </a:r>
          </a:p>
          <a:p xmlns:a="http://schemas.openxmlformats.org/drawingml/2006/main">
            <a:r>
              <a:t>원천은 §3의 18개 초기 상황/입력/경쟁 사건/정답과 아래 공통 lifecycle tail이다. **QA별로 다른 업무나 외부 결과를 만들지 않는다.** 평가 관측 단위가 다르므로 모든 QA의 분모가 같을 필요는 없다. 정확성은 조건, 시간은 사건 경계, 비용은 활동 전체 청구, 메모리는 활동 전체 동시 할당을 읽는다. 변경 용이성은 여섯 구조 변경 과제이며 변경 뒤 같은 기능/활동 계약을 유지한다.</a:t>
            </a:r>
          </a:p>
          <a:p xmlns:a="http://schemas.openxmlformats.org/drawingml/2006/main">
            <a:r>
              <a:t/>
            </a:r>
          </a:p>
          <a:p xmlns:a="http://schemas.openxmlformats.org/drawingml/2006/main">
            <a:r>
              <a:t>[공통 활동 입력](./03-02-common-workload.json)은 이 절의 machine-readable 사용량/음성/호출 예산이고 [사건 목록](./03-02-workload-manifest.json)은 각 장면의 case/hash/CORE 여부/I/T 연결을 130행으로 생성한다. [활동 검산기](../../../../scripts/architecture/qa_common_workload.py)는 입력 목록을 컴파일할 뿐 후보/harness/API를 실행하지 않는다. 참조 계산과 두 발표자료도 같은 원본/manifest hash를 사용한다.</a:t>
            </a:r>
          </a:p>
          <a:p xmlns:a="http://schemas.openxmlformats.org/drawingml/2006/main">
            <a:r>
              <a:t/>
            </a:r>
          </a:p>
          <a:p xmlns:a="http://schemas.openxmlformats.org/drawingml/2006/main">
            <a:r>
              <a:t>#### 8.0.2 사례별 횟수와 음성 길이</a:t>
            </a:r>
          </a:p>
          <a:p xmlns:a="http://schemas.openxmlformats.org/drawingml/2006/main">
            <a:r>
              <a:t/>
            </a:r>
          </a:p>
          <a:p xmlns:a="http://schemas.openxmlformats.org/drawingml/2006/main">
            <a:r>
              <a:t>| 원본 사례 | W100 횟수 | 입력 장면 분류 | 최초 발화 초/회 | 지정 답변 초/회 | 출력 음성 예산 초/회 | 반응 관측 | 사이클 관측 |</a:t>
            </a:r>
          </a:p>
          <a:p xmlns:a="http://schemas.openxmlformats.org/drawingml/2006/main">
            <a:r>
              <a:t>| --- | --- | --- | --- | --- | --- | --- | --- |</a:t>
            </a:r>
          </a:p>
          <a:p xmlns:a="http://schemas.openxmlformats.org/drawingml/2006/main">
            <a:r>
              <a:t>| S1-01 | 8 | 사용자 | 2 | 0 | 3 | 없음 | T-01 |</a:t>
            </a:r>
          </a:p>
          <a:p xmlns:a="http://schemas.openxmlformats.org/drawingml/2006/main">
            <a:r>
              <a:t>| S1-02 | 8 | 사용자 | 3 | 0 | 8 | 없음 | T-02 |</a:t>
            </a:r>
          </a:p>
          <a:p xmlns:a="http://schemas.openxmlformats.org/drawingml/2006/main">
            <a:r>
              <a:t>| S1-03 | 8 | 사용자 | 3 | 0 | 4 | 없음 | 없음 |</a:t>
            </a:r>
          </a:p>
          <a:p xmlns:a="http://schemas.openxmlformats.org/drawingml/2006/main">
            <a:r>
              <a:t>| S2-01 | 8 | 사용자 | 2 | 0 | 5 | 없음 | 없음 |</a:t>
            </a:r>
          </a:p>
          <a:p xmlns:a="http://schemas.openxmlformats.org/drawingml/2006/main">
            <a:r>
              <a:t>| S2-02 | 8 | 사용자 | 3 | 0 | 18 | 없음 | T-03 |</a:t>
            </a:r>
          </a:p>
          <a:p xmlns:a="http://schemas.openxmlformats.org/drawingml/2006/main">
            <a:r>
              <a:t>| S2-03 | 8 | 사용자 | 2 | 0 | 4 | 없음 | 없음 |</a:t>
            </a:r>
          </a:p>
          <a:p xmlns:a="http://schemas.openxmlformats.org/drawingml/2006/main">
            <a:r>
              <a:t>| S3-01 | 5 | 사용자 | 3 | 0 | 6 | 없음 | 없음 |</a:t>
            </a:r>
          </a:p>
          <a:p xmlns:a="http://schemas.openxmlformats.org/drawingml/2006/main">
            <a:r>
              <a:t>| S3-02 | 5 | 사용자 | 3 | 0 | 10 | 없음 | T-04 |</a:t>
            </a:r>
          </a:p>
          <a:p xmlns:a="http://schemas.openxmlformats.org/drawingml/2006/main">
            <a:r>
              <a:t>| S3-03 | 5 | 사용자 | 3 | 0 | 6 | 없음 | 없음 |</a:t>
            </a:r>
          </a:p>
          <a:p xmlns:a="http://schemas.openxmlformats.org/drawingml/2006/main">
            <a:r>
              <a:t>| S4-01 | 5 | 사용자 | 2 | 0 | 9 | I-02 | T-05 |</a:t>
            </a:r>
          </a:p>
          <a:p xmlns:a="http://schemas.openxmlformats.org/drawingml/2006/main">
            <a:r>
              <a:t>| S4-02 | 5 | 사용자 | 2 | 0 | 8 | I-01 | 없음 |</a:t>
            </a:r>
          </a:p>
          <a:p xmlns:a="http://schemas.openxmlformats.org/drawingml/2006/main">
            <a:r>
              <a:t>| S4-03 | 5 | 사용자 | 2 | 0 | 5 | I-03 | 없음 |</a:t>
            </a:r>
          </a:p>
          <a:p xmlns:a="http://schemas.openxmlformats.org/drawingml/2006/main">
            <a:r>
              <a:t>| S5-01 | 15 | Agent | 0 | 0 | 5 | I-04 | 없음 |</a:t>
            </a:r>
          </a:p>
          <a:p xmlns:a="http://schemas.openxmlformats.org/drawingml/2006/main">
            <a:r>
              <a:t>| S5-02 | 15 | Agent | 0 | 0 | 6 | I-05 | 없음 |</a:t>
            </a:r>
          </a:p>
          <a:p xmlns:a="http://schemas.openxmlformats.org/drawingml/2006/main">
            <a:r>
              <a:t>| S5-03 | 7 | 사용자 | 2 | 0 | 4 | 없음 | 없음 |</a:t>
            </a:r>
          </a:p>
          <a:p xmlns:a="http://schemas.openxmlformats.org/drawingml/2006/main">
            <a:r>
              <a:t>| S6-01 | 5 | 사용자 | 2 | 3 | 14 | 없음 | T-06 |</a:t>
            </a:r>
          </a:p>
          <a:p xmlns:a="http://schemas.openxmlformats.org/drawingml/2006/main">
            <a:r>
              <a:t>| S6-02 | 5 | 사용자 | 1 | 3 | 14 | 없음 | 없음 |</a:t>
            </a:r>
          </a:p>
          <a:p xmlns:a="http://schemas.openxmlformats.org/drawingml/2006/main">
            <a:r>
              <a:t>| S6-03 | 5 | 사용자 | 2 | 0 | 5 | I-06 | 없음 |</a:t>
            </a:r>
          </a:p>
          <a:p xmlns:a="http://schemas.openxmlformats.org/drawingml/2006/main">
            <a:r>
              <a:t/>
            </a:r>
          </a:p>
          <a:p xmlns:a="http://schemas.openxmlformats.org/drawingml/2006/main">
            <a:r>
              <a:t>사용자 장면 합 100, Agent 장면 합 30이다. 최초 입력의 replay 길이는 §3 사건 구간으로 정한 **fixture 조건**이고 합 234초다. S6-01/02 각 5회의 후속 답변 3초를 더해 계획된 입력은 **110발화/264초**다. 추가 확인은 §3 공통 답변 정책대로 공급하고 실제 청구를 더한다. S5-03의 2초 재연결 요청은 최초 발화 열에 이미 포함했다.</a:t>
            </a:r>
          </a:p>
          <a:p xmlns:a="http://schemas.openxmlformats.org/drawingml/2006/main">
            <a:r>
              <a:t/>
            </a:r>
          </a:p>
          <a:p xmlns:a="http://schemas.openxmlformats.org/drawingml/2006/main">
            <a:r>
              <a:t>출력 길이는 **작성자의 참조 예산**이며 모델 성능/자연 발화 길이 보장이 아니다. 위 표의 필수 사실 전달과 공통 tail을 합해 914초다. S2-02 18초는 과거의 실제 재생 설명 8초와 현재 접수/결과 10초, S4-02 8초는 중단 전 재생 4초와 새 설명 4초를 포함한다. S6-01/02 14초는 확인 질문과 허용 범위/결과 전달의 합이다. 나머지는 해당 C6 사실과 tail 전달의 총 길이 예산이다. 실제 모델 생성/재생/폐기 청구량을 예산값으로 덮어쓰지 않는다. Text 표시 길이와 음성 시간의 임의 token 환산도 하지 않는다.</a:t>
            </a:r>
          </a:p>
          <a:p xmlns:a="http://schemas.openxmlformats.org/drawingml/2006/main">
            <a:r>
              <a:t/>
            </a:r>
          </a:p>
          <a:p xmlns:a="http://schemas.openxmlformats.org/drawingml/2006/main">
            <a:r>
              <a:t>#### 8.0.3 다섯 block의 입력 순서와 관측 선택</a:t>
            </a:r>
          </a:p>
          <a:p xmlns:a="http://schemas.openxmlformats.org/drawingml/2006/main">
            <a:r>
              <a:t/>
            </a:r>
          </a:p>
          <a:p xmlns:a="http://schemas.openxmlformats.org/drawingml/2006/main">
            <a:r>
              <a:t>각 block은 **CORE 18장면 + REUSE 4장면 + BURST 4장면 = 26장면**이다. 다섯 block이 사용자 100/Agent 30의 130장면을 만든다. CORE는 S1-01부터 S6-03까지 위 표 순서로 각 한 번이다. 각 장면은 필수 checkpoint와 tail까지 진행한 뒤 다음 장면을 시작한다. 아래 REUSE는 같은 block에서 이미 허용된 원본 version/제공 권한을 확인한 뒤 재사용한다. 기존 현재 Task를 임의 정답으로 배치하지 않고 요청 ID/외부 실행 ID는 occurrence namespace로 구별한다.</a:t>
            </a:r>
          </a:p>
          <a:p xmlns:a="http://schemas.openxmlformats.org/drawingml/2006/main">
            <a:r>
              <a:t/>
            </a:r>
          </a:p>
          <a:p xmlns:a="http://schemas.openxmlformats.org/drawingml/2006/main">
            <a:r>
              <a:t>| block | REUSE 네 장면 순서 | BURST 네 장면 순서 |</a:t>
            </a:r>
          </a:p>
          <a:p xmlns:a="http://schemas.openxmlformats.org/drawingml/2006/main">
            <a:r>
              <a:t>| --- | --- | --- |</a:t>
            </a:r>
          </a:p>
          <a:p xmlns:a="http://schemas.openxmlformats.org/drawingml/2006/main">
            <a:r>
              <a:t>| B1 | S1-01, S1-02, S2-01, S2-02 | S5-01, S5-02, S5-01, S5-02 |</a:t>
            </a:r>
          </a:p>
          <a:p xmlns:a="http://schemas.openxmlformats.org/drawingml/2006/main">
            <a:r>
              <a:t>| B2 | S1-01, S1-03, S2-01, S2-03 | 동일 |</a:t>
            </a:r>
          </a:p>
          <a:p xmlns:a="http://schemas.openxmlformats.org/drawingml/2006/main">
            <a:r>
              <a:t>| B3 | S1-02, S1-03, S2-02, S2-03 | 동일 |</a:t>
            </a:r>
          </a:p>
          <a:p xmlns:a="http://schemas.openxmlformats.org/drawingml/2006/main">
            <a:r>
              <a:t>| B4 | S1-01, S1-02, S2-01, S2-02 | 동일 |</a:t>
            </a:r>
          </a:p>
          <a:p xmlns:a="http://schemas.openxmlformats.org/drawingml/2006/main">
            <a:r>
              <a:t>| B5 | S1-03, S2-03, S5-03, S5-03 | 동일 |</a:t>
            </a:r>
          </a:p>
          <a:p xmlns:a="http://schemas.openxmlformats.org/drawingml/2006/main">
            <a:r>
              <a:t/>
            </a:r>
          </a:p>
          <a:p xmlns:a="http://schemas.openxmlformats.org/drawingml/2006/main">
            <a:r>
              <a:t>BURST의 네 Agent 장면 최초 원천 사건을 상대 0/0.02/0.04/0.06초에 공급하고 각 장면 내부의 원본 후속 순서를 보존한다. 사용자 음성을 네 개 중첩시키는 시험은 아니다. 네 장면이 각각 사용하는 두 Task를 pool의 여덟 slot에 배치하고 T보호와 background 한 Task의 두 slot을 유지해 **활성 최대 10개**다. CORE/REUSE는 이 pool의 필요한 slot만 해당 초기 사실로 복원한다. 완료된 관련 작업은 active slot에서 빠져 이력으로 남는다. 이 합성 replay suite의 slot은 현재 제시하는 scoped scene의 owner이며 10은 그 scene에서 동시에 처리하는 Task 상한이다. 완료되지 않은 질문/취소 접수는 먼저 원본 checkpoint/5초 늦은 사건 관찰을 충족한 뒤 scope를 닫고 원래 대기 상태/receipt를 그대로 활동 이력에 보존한다. 전체 미완료 Task를 10개로 자른다거나 외부 대기를 성공 완료로 바꾸는 실제 운용 정책은 아니다. 다음 scene의 before-state 복원과 구분하고 scope 회수 비용/peak도 센다.</a:t>
            </a:r>
          </a:p>
          <a:p xmlns:a="http://schemas.openxmlformats.org/drawingml/2006/main">
            <a:r>
              <a:t/>
            </a:r>
          </a:p>
          <a:p xmlns:a="http://schemas.openxmlformats.org/drawingml/2006/main">
            <a:r>
              <a:t>block의 마지막 BURST checkpoint 이후 B01~B04, B05~B08, …, B17~B20의 background 원본을 각각 한 번 `v1→v2` 갱신한다. 각 원본은 초기 30개 source 중 하나이며 locator와 권한은 그대로, 내용의 수치 한 곳만 1 증가한다. 입력 목록 순서로 0.01초 간격 제공하고 같은 block의 maintenance tick 두 개를 직렬 제공한다. 총 **20개 background 변경/10개 tick**이다. §3의 S2-03 등 내부 X 갱신은 이 20개와 별개로 이미 장면에 포함되며 별도 호출을 중복 청구하지 않는다. B5 마지막 갱신 뒤 B20의 제공 동의를 철회해 원문/파생/Context 신규 소비를 차단한다. 후보의 실제 생산/재해석/철회 비용은 모두 남긴다.</a:t>
            </a:r>
          </a:p>
          <a:p xmlns:a="http://schemas.openxmlformats.org/drawingml/2006/main">
            <a:r>
              <a:t/>
            </a:r>
          </a:p>
          <a:p xmlns:a="http://schemas.openxmlformats.org/drawingml/2006/main">
            <a:r>
              <a:t>R1/R2/R3는 동일 초기 자료를 가진 **세 독립 활동**이다. 대표 정확성/시간 표본은 결과 전에 지정한 **R1 CORE만** 읽는다. 다섯 block의 18개가 90회/540개, I/T 여섯 개가 각각 30개다. REUSE/BURST와 R2/R3의 실패/필수 위반은 별도 보호 근거로 전부 보고하며 대표 정확성 분모에 임의 가산하거나 가장 좋은 run으로 교체하지 않는다. 비용은 세 활동 전체의 평균, 메모리는 세 활동 전체의 최대다. 실제 세 run 없이 같은 계산을 복제해 반복 측정이라고 부르지 않는다.</a:t>
            </a:r>
          </a:p>
          <a:p xmlns:a="http://schemas.openxmlformats.org/drawingml/2006/main">
            <a:r>
              <a:t/>
            </a:r>
          </a:p>
          <a:p xmlns:a="http://schemas.openxmlformats.org/drawingml/2006/main">
            <a:r>
              <a:t>#### 8.0.4 초기 데이터, 복원과 동시 부하</a:t>
            </a:r>
          </a:p>
          <a:p xmlns:a="http://schemas.openxmlformats.org/drawingml/2006/main">
            <a:r>
              <a:t/>
            </a:r>
          </a:p>
          <a:p xmlns:a="http://schemas.openxmlformats.org/drawingml/2006/main">
            <a:r>
              <a:t>각 활동은 원천 대화 2,000turn/완료 Task 200개/문서와 일정 등 source 30개(전체 합성 payload 20MiB)에서 시작한다. 30개 source slot은 B01~B20과 C01~C10이다. Bnn의 제목은 `W100 background source Bnn`, v1의 `value=100+nn`, v2는 `101+nn`이며 read/모델 제공을 허용한다. C slot에는 해당 사례의 원본 D/Cal/표/E1을 namespace 대응으로 제공한다. background 대화 H0001~H2000은 시간순으로 `배경 기록 {id}: B{((id-1)%20)+1}@v1의 값은 {100+((id-1)%20)+1}이다`와 실제 전달 receipt를 갖는다. 완료 Task HT001~HT200은 같은 순환 B source의 read-only 값 조회이며 ACCEPTED→COMPLETED→실제 전달 원천 사실을 갖는다. 현재 요청과 의미 관계를 선결합하지 않는다. UTF-8 원본/turn/Task payload 합을 20×1,024×1,024byte로 맞추도록 미사용 B 본문에 공백을 채운다. DB/index/runtime의 물리적 추가 overhead는 별도 메모리다. 활성 Task 10은 초기 Task를 무조건 10개 더 넣는 뜻이 아니라 공통 pool의 상한이며 BURST의 8개 관련 Task+2개 보호/background로 최대 10개를 제공한다. 실제 과거 원문과 실제 전달/수정/허용 이력을 제공하고 현재 요청의 정답/파생 관계는 넣지 않는다. namespace 대응표는 source/Task 식별을 위한 fixture map이며 모델의 지칭/Task 정답으로 주지 않는다. 각 사례가 읽을 수 있는 scope/사실은 §3 명세 그대로다. 무관한 background 자료는 모델 의미 입력에 무제한 섞지 않지만 전체 이력/DB/copy 메모리에는 포함한다.</a:t>
            </a:r>
          </a:p>
          <a:p xmlns:a="http://schemas.openxmlformats.org/drawingml/2006/main">
            <a:r>
              <a:t/>
            </a:r>
          </a:p>
          <a:p xmlns:a="http://schemas.openxmlformats.org/drawingml/2006/main">
            <a:r>
              <a:t>CORE 전에 해당 논리적 초기 owner 사실을 복원하고 필요한 W 준비를 실제 후보 경로로 처리한다. 복원은 input fixture일 뿐 후보가 처리해야 할 결과를 대신하지 않는다. 후보가 낸 상태/오류를 완료 snapshot으로 덮어쓰지 않고 checkpoint와 tail을 검사한 뒤에만 다음 fixture로 진행한다. 초기/복원/생산의 청구와 일시적 old/new snapshot 이중 할당을 모두 세며 **각 block 완료 이력은 활동 끝까지 남긴다.** 같은 source hash/revision/permission에 한정한 REUSE cache는 허용한다. 충돌 namespace의 cache나 현재성 불일치는 무효화한다.</a:t>
            </a:r>
          </a:p>
          <a:p xmlns:a="http://schemas.openxmlformats.org/drawingml/2006/main">
            <a:r>
              <a:t/>
            </a:r>
          </a:p>
          <a:p xmlns:a="http://schemas.openxmlformats.org/drawingml/2006/main">
            <a:r>
              <a:t>cloud call의 동시 상한은 4개이며 양안에 같은 queue/취소/timeout 계약을 적용한다. 호출 4개를 강제로 만들어 메모리를 늘리지 않는다. capture의 제공 원본/보존 창은 최대 15개 RGBA frame이며 scene 내부의 시각/포인터/허용 규칙은 §3과 같다. 동시 할당과 준비를 비교할 수 있도록 초기화부터 마지막 신규 입력 이후까지 원장을 연다. 마지막 철회 뒤 신규 입력을 멈추고 처리 가능한 VIA job/queue를 최대 30초에 drain한다. 30초는 대표 요청 처리 예산 10초의 세 배로 회수 여유를 둔 작성자 보호 한도다. 외부 업무/미응답 질문의 정당한 대기 상태는 보존한다. drain 완료 뒤 10초 idle probe에 새 maintenance를 넣지 않는다. 10초/50ms는 최소 200개 시간 sample로 단기 회수/잔류 증가를 확인하기 위한 관측 가정이며 장시간 누수의 부재를 증명하지 않는다. 전체 기능 checkpoint/tail 누락 또는 필수 위반이 있으면 작은 비용/메모리도 목표 달성이 아니다.</a:t>
            </a:r>
          </a:p>
          <a:p xmlns:a="http://schemas.openxmlformats.org/drawingml/2006/main">
            <a:r>
              <a:t/>
            </a:r>
          </a:p>
          <a:p xmlns:a="http://schemas.openxmlformats.org/drawingml/2006/main">
            <a:r>
              <a:t>#### 8.0.5 공통 후속 사건과 QA별 관측</a:t>
            </a:r>
          </a:p>
          <a:p xmlns:a="http://schemas.openxmlformats.org/drawingml/2006/main">
            <a:r>
              <a:t/>
            </a:r>
          </a:p>
          <a:p xmlns:a="http://schemas.openxmlformats.org/drawingml/2006/main">
            <a:r>
              <a:t>| 연결 | 같은 장면의 공통 종료/tail | 읽는 지표 |</a:t>
            </a:r>
          </a:p>
          <a:p xmlns:a="http://schemas.openxmlformats.org/drawingml/2006/main">
            <a:r>
              <a:t>| --- | --- | --- |</a:t>
            </a:r>
          </a:p>
          <a:p xmlns:a="http://schemas.openxmlformats.org/drawingml/2006/main">
            <a:r>
              <a:t>| S1-01 / T-01 | 원본 한정 조회: 직접 또는 외부 접수+0.2초 날짜 결과. 별도 8초 결과를 만들지 않음 | 정확성 C6과 cycle 최종 전달 |</a:t>
            </a:r>
          </a:p>
          <a:p xmlns:a="http://schemas.openxmlformats.org/drawingml/2006/main">
            <a:r>
              <a:t>| S1-02 / T-02 | 원본 접수 receipt로 C5/C6 채점한 뒤 실제 작성 접수+8초에 ReportQ3@v1 결과 | 전체 cycle, 청구/할당 |</a:t>
            </a:r>
          </a:p>
          <a:p xmlns:a="http://schemas.openxmlformats.org/drawingml/2006/main">
            <a:r>
              <a:t>| S2-02 / T-03 | 원본 준비 5초/접수 checkpoint 뒤 Proposal@v1 결과를 접수+8초에 반환 | cycle은 현재 발화부터, 자원은 과거 준비도 포함 |</a:t>
            </a:r>
          </a:p>
          <a:p xmlns:a="http://schemas.openxmlformats.org/drawingml/2006/main">
            <a:r>
              <a:t>| S3-02 / T-04 | 현재 K현재 요약과 중복 처리 원본 유지, 실제 SEND 접수+8초 MailCurrent@v1:SENT | cycle은 현재 요약→전송→확인, 중복 effect 금지 |</a:t>
            </a:r>
          </a:p>
          <a:p xmlns:a="http://schemas.openxmlformats.org/drawingml/2006/main">
            <a:r>
              <a:t>| S4-01 / I-02 / T-05 | 원본 정정 접수/메일 유지 checkpoint 이후 변경 접수+8초 ReportRevised@v2 결과 | 같은 정정의 첫 반응과 최종 전달을 각각 관측 |</a:t>
            </a:r>
          </a:p>
          <a:p xmlns:a="http://schemas.openxmlformats.org/drawingml/2006/main">
            <a:r>
              <a:t>| S6-01 / T-06 | 원본 실제 확인 질문+1초에 3초 답변. 실제 유효 수정 접수+8초 ConfirmedRevision@v2 결과 | 사람 기다림/외부 업무만 제외한 cycle |</a:t>
            </a:r>
          </a:p>
          <a:p xmlns:a="http://schemas.openxmlformats.org/drawingml/2006/main">
            <a:r>
              <a:t>| S2-03 | 원본 v1 지정 표 작성 접수 뒤 실제 접수+8초 결과(TablePast@v1) | 대표 T 없음, 비용/메모리와 기능 보호에는 포함 |</a:t>
            </a:r>
          </a:p>
          <a:p xmlns:a="http://schemas.openxmlformats.org/drawingml/2006/main">
            <a:r>
              <a:t>| 나머지 11개 사례 | §3의 실제 조회/선호/제어/질문/결과/승인 범위/거부 checkpoint가 그 장면의 끝. 취소 접수는 완료 취소가 아니며 기다리는 질문을 임의 답변하지 않음 | C6와 지정 I, 전체 청구/할당 |</a:t>
            </a:r>
          </a:p>
          <a:p xmlns:a="http://schemas.openxmlformats.org/drawingml/2006/main">
            <a:r>
              <a:t/>
            </a:r>
          </a:p>
          <a:p xmlns:a="http://schemas.openxmlformats.org/drawingml/2006/main">
            <a:r>
              <a:t>위 tail은 모든 CORE/REUSE/BURST와 모든 run/QA에 공통이다. 최종 payload/source/version/허용과 실제 전달을 검사하며 접수 인사를 최종 결과로 세지 않는다. 정확성의 기존 108개 정답 명세는 해당 checkpoint에서 보존하고 tail 실패는 cycle/resource/필수 기능 보호에 기록한다. 각 관측은 `run/block/occurrence/case/source-vector/checkpoint/tail/I/T`를 동일 원장 key로 조인한다. QA-05 변경의 완료 검사도 이 기능/상태/권한 회귀와 W100의 사용량/동시성/보관 계약을 유지하는지 확인한다. 390장면 모두를 정확성 대표 분모로 키우지 않는다.</a:t>
            </a:r>
          </a:p>
          <a:p xmlns:a="http://schemas.openxmlformats.org/drawingml/2006/main">
            <a:r>
              <a:t/>
            </a:r>
          </a:p>
          <a:p xmlns:a="http://schemas.openxmlformats.org/drawingml/2006/main">
            <a:r>
              <a:t/>
            </a:r>
          </a:p>
          <a:p xmlns:a="http://schemas.openxmlformats.org/drawingml/2006/main">
            <a:r>
              <a:t/>
            </a:r>
          </a:p>
          <a:p xmlns:a="http://schemas.openxmlformats.org/drawingml/2006/main">
            <a:r>
              <a:t>등급은 원지표를 표시하는 작성자 규칙이며 QA 간 합산하지 않음. 측정 전에는 점수를 생성하지 않음.</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a76037f14747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0fa18b02a294679" /><Relationship Type="http://schemas.openxmlformats.org/officeDocument/2006/relationships/slideLayout" Target="/ppt/slideLayouts/slideLayout1.xml" Id="R8e44eca94cf745a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44eca94cf745a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764ef3cbd54f51" /><Relationship Type="http://schemas.openxmlformats.org/officeDocument/2006/relationships/notesSlide" Target="/ppt/notesSlides/notesSlide1.xml" Id="R2d162d7a35cb4ad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908af9dc584415" /><Relationship Type="http://schemas.openxmlformats.org/officeDocument/2006/relationships/notesSlide" Target="/ppt/notesSlides/notesSlide2.xml" Id="R3d5afb781f0643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e768053031a420a" /><Relationship Type="http://schemas.openxmlformats.org/officeDocument/2006/relationships/notesSlide" Target="/ppt/notesSlides/notesSlide3.xml" Id="R0ee491b924be4dd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87718A9F-90F4-4569-8AA2-F1345D685A87}"/>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7B33F023-6E16-4CAE-A73D-20C5D05E9F4C}"/>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0EE7076F-69CE-446F-9E81-7369B905C08B}"/>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1 / 3</a:t>
            </a:r>
          </a:p>
        </p:txBody>
      </p:sp>
      <p:sp>
        <p:nvSpPr>
          <p:cNvPr id="4" name="headline">
            <a:extLst xmlns:a="http://schemas.openxmlformats.org/drawingml/2006/main">
              <a:ext uri="{FF2B5EF4-FFF2-40B4-BE49-F238E27FC236}">
                <a16:creationId xmlns:a16="http://schemas.microsoft.com/office/drawing/2014/main" id="{560E6851-3B46-4338-9666-842F7329206B}"/>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정확성과 응답시간</a:t>
            </a:r>
          </a:p>
        </p:txBody>
      </p:sp>
      <p:sp>
        <p:nvSpPr>
          <p:cNvPr id="5" name="scope">
            <a:extLst xmlns:a="http://schemas.openxmlformats.org/drawingml/2006/main">
              <a:ext uri="{FF2B5EF4-FFF2-40B4-BE49-F238E27FC236}">
                <a16:creationId xmlns:a16="http://schemas.microsoft.com/office/drawing/2014/main" id="{84287D11-E665-4AE4-B8CC-3A37EFF5805E}"/>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W100: 사용자 100 + Agent 30장면. QA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ASR-QA-01</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Accuracy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요청 처리</a:t>
                      </a:r>
                    </a:p>
                    <a:p>
                      <a:pPr algn="ctr"/>
                      <a:r>
                        <a:rPr sz="2550" b="1">
                          <a:solidFill>
                            <a:srgbClr val="222A35"/>
                          </a:solidFill>
                          <a:latin typeface="Apple SD Gothic Neo"/>
                          <a:ea typeface="Apple SD Gothic Neo"/>
                          <a:cs typeface="Apple SD Gothic Neo"/>
                        </a:rPr>
                        <a:t>정확성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사용자의 의도와 확인된 사실에 맞게 요청을 처리하는 능력</a:t>
                      </a:r>
                    </a:p>
                    <a:p>
                      <a:pPr algn="l"/>
                      <a:r>
                        <a:rPr sz="2325" b="1">
                          <a:solidFill>
                            <a:srgbClr val="43AACC"/>
                          </a:solidFill>
                          <a:latin typeface="Apple SD Gothic Neo"/>
                          <a:ea typeface="Apple SD Gothic Neo"/>
                          <a:cs typeface="Apple SD Gothic Neo"/>
                        </a:rPr>
                        <a:t>필수 정답 조건 충족률 ≥ 98%</a:t>
                      </a:r>
                    </a:p>
                    <a:p>
                      <a:pPr algn="l"/>
                      <a:r>
                        <a:rPr sz="1950" b="0">
                          <a:solidFill>
                            <a:srgbClr val="222A35"/>
                          </a:solidFill>
                          <a:latin typeface="Apple SD Gothic Neo"/>
                          <a:ea typeface="Apple SD Gothic Neo"/>
                          <a:cs typeface="Apple SD Gothic Neo"/>
                        </a:rPr>
                        <a:t>측정: 18개 Voice 사례 × 5회 × 6개 조건 = 540개</a:t>
                      </a:r>
                    </a:p>
                    <a:p>
                      <a:pPr algn="l"/>
                      <a:r>
                        <a:rPr sz="1950" b="0">
                          <a:solidFill>
                            <a:srgbClr val="56606B"/>
                          </a:solidFill>
                          <a:latin typeface="Apple SD Gothic Neo"/>
                          <a:ea typeface="Apple SD Gothic Neo"/>
                          <a:cs typeface="Apple SD Gothic Neo"/>
                        </a:rPr>
                        <a:t>근거: 50개 조건당 오류 1개 이하, 전체 요청 실패 20회당 1회 이하</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1</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ASR-QA-02</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상호작용</a:t>
                      </a:r>
                    </a:p>
                    <a:p>
                      <a:pPr algn="ctr"/>
                      <a:r>
                        <a:rPr sz="2550" b="1">
                          <a:solidFill>
                            <a:srgbClr val="222A35"/>
                          </a:solidFill>
                          <a:latin typeface="Apple SD Gothic Neo"/>
                          <a:ea typeface="Apple SD Gothic Neo"/>
                          <a:cs typeface="Apple SD Gothic Neo"/>
                        </a:rPr>
                        <a:t>응답시간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 입력이나 업무 상태 변화에 VIA가 알맞은 답변이나 동작으로 반응하기까지 걸리는 시간 (예: VIA가 말하는 중 사용자 끼어들기 → 음성 재생 중단, Agent의 확인 질문 도착 → 사용자에게 질문 제시)</a:t>
                      </a:r>
                    </a:p>
                    <a:p>
                      <a:pPr algn="l"/>
                      <a:r>
                        <a:rPr sz="2325" b="1">
                          <a:solidFill>
                            <a:srgbClr val="43AACC"/>
                          </a:solidFill>
                          <a:latin typeface="Apple SD Gothic Neo"/>
                          <a:ea typeface="Apple SD Gothic Neo"/>
                          <a:cs typeface="Apple SD Gothic Neo"/>
                        </a:rPr>
                        <a:t>평균 상호작용 응답시간 ≤ 1초</a:t>
                      </a:r>
                    </a:p>
                    <a:p>
                      <a:pPr algn="l"/>
                      <a:r>
                        <a:rPr sz="1950" b="0">
                          <a:solidFill>
                            <a:srgbClr val="222A35"/>
                          </a:solidFill>
                          <a:latin typeface="Apple SD Gothic Neo"/>
                          <a:ea typeface="Apple SD Gothic Neo"/>
                          <a:cs typeface="Apple SD Gothic Neo"/>
                        </a:rPr>
                        <a:t>측정: 6개 사건 × 5회 = 30개 유효 반응시간</a:t>
                      </a:r>
                    </a:p>
                    <a:p>
                      <a:pPr algn="l"/>
                      <a:r>
                        <a:rPr sz="1950" b="0">
                          <a:solidFill>
                            <a:srgbClr val="56606B"/>
                          </a:solidFill>
                          <a:latin typeface="Apple SD Gothic Neo"/>
                          <a:ea typeface="Apple SD Gothic Neo"/>
                          <a:cs typeface="Apple SD Gothic Neo"/>
                        </a:rPr>
                        <a:t>근거: 대화 흐름 1초와 끼어들기 local stop 0.1초를 관리</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2</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ASR-QA-03</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Performance</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요청</a:t>
                      </a:r>
                    </a:p>
                    <a:p>
                      <a:pPr algn="ctr"/>
                      <a:r>
                        <a:rPr sz="2550" b="1">
                          <a:solidFill>
                            <a:srgbClr val="222A35"/>
                          </a:solidFill>
                          <a:latin typeface="Apple SD Gothic Neo"/>
                          <a:ea typeface="Apple SD Gothic Neo"/>
                          <a:cs typeface="Apple SD Gothic Neo"/>
                        </a:rPr>
                        <a:t>처리시간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요청 접수부터 최종 결과 전달까지, VIA의 처리와 대기로 걸리는 시간 (예: 보고서 작성 요청 → 요청 해석 → Agent에 작성 업무 인계 → 결과 수신 → 사용자에게 보고서 전달)</a:t>
                      </a:r>
                    </a:p>
                    <a:p>
                      <a:pPr algn="l"/>
                      <a:r>
                        <a:rPr sz="2325" b="1">
                          <a:solidFill>
                            <a:srgbClr val="43AACC"/>
                          </a:solidFill>
                          <a:latin typeface="Apple SD Gothic Neo"/>
                          <a:ea typeface="Apple SD Gothic Neo"/>
                          <a:cs typeface="Apple SD Gothic Neo"/>
                        </a:rPr>
                        <a:t>평균 VIA 요청 처리시간 ≤ 10초</a:t>
                      </a:r>
                    </a:p>
                    <a:p>
                      <a:pPr algn="l"/>
                      <a:r>
                        <a:rPr sz="1950" b="0">
                          <a:solidFill>
                            <a:srgbClr val="222A35"/>
                          </a:solidFill>
                          <a:latin typeface="Apple SD Gothic Neo"/>
                          <a:ea typeface="Apple SD Gothic Neo"/>
                          <a:cs typeface="Apple SD Gothic Neo"/>
                        </a:rPr>
                        <a:t>측정: 6개 전체 사이클 × 5회 = 30개 귀속 시간</a:t>
                      </a:r>
                    </a:p>
                    <a:p>
                      <a:pPr algn="l"/>
                      <a:r>
                        <a:rPr sz="1950" b="0">
                          <a:solidFill>
                            <a:srgbClr val="56606B"/>
                          </a:solidFill>
                          <a:latin typeface="Apple SD Gothic Neo"/>
                          <a:ea typeface="Apple SD Gothic Neo"/>
                          <a:cs typeface="Apple SD Gothic Neo"/>
                        </a:rPr>
                        <a:t>근거: 의미 6초 + 연결 1초 + 전달 1초 + 재검증 여유 2초</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3</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3203E885-611F-44B8-A6B9-5614A3A28326}"/>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W100: 정확성 540개, 시간 각 30개 / 외부 업무와 사용자 답변 대기 제외 / 비용과 메모리는 같은 활동 3회</a:t>
            </a:r>
          </a:p>
        </p:txBody>
      </p:sp>
    </p:spTree>
    <p:extLst>
      <p:ext uri="{BB962C8B-B14F-4D97-AF65-F5344CB8AC3E}">
        <p14:creationId xmlns:p14="http://schemas.microsoft.com/office/powerpoint/2010/main" val="9245382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1026A18-0265-4CFB-86E3-6091599FB8F0}"/>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품질 요구사항</a:t>
            </a:r>
          </a:p>
        </p:txBody>
      </p:sp>
      <p:sp>
        <p:nvSpPr>
          <p:cNvPr id="2" name="header-rule">
            <a:extLst xmlns:a="http://schemas.openxmlformats.org/drawingml/2006/main">
              <a:ext uri="{FF2B5EF4-FFF2-40B4-BE49-F238E27FC236}">
                <a16:creationId xmlns:a16="http://schemas.microsoft.com/office/drawing/2014/main" id="{4679207A-1AEE-422D-A5C3-ECC8E2AD051C}"/>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B5A95913-E448-4273-B2C7-CFDDACF19770}"/>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2 / 3</a:t>
            </a:r>
          </a:p>
        </p:txBody>
      </p:sp>
      <p:sp>
        <p:nvSpPr>
          <p:cNvPr id="4" name="headline">
            <a:extLst xmlns:a="http://schemas.openxmlformats.org/drawingml/2006/main">
              <a:ext uri="{FF2B5EF4-FFF2-40B4-BE49-F238E27FC236}">
                <a16:creationId xmlns:a16="http://schemas.microsoft.com/office/drawing/2014/main" id="{A67FCAED-F684-472F-8BDC-ADD18F48ECC1}"/>
              </a:ext>
            </a:extLst>
          </p:cNvPr>
          <p:cNvSpPr>
            <a:spLocks xmlns:a="http://schemas.openxmlformats.org/drawingml/2006/main" noGrp="1"/>
          </p:cNvSpPr>
          <p:nvPr/>
        </p:nvSpPr>
        <p:spPr>
          <a:xfrm xmlns:a="http://schemas.openxmlformats.org/drawingml/2006/main">
            <a:off x="457200" y="1285875"/>
            <a:ext cx="17145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핵심 품질속성: 비용, 변경 용이성과 메모리</a:t>
            </a:r>
          </a:p>
        </p:txBody>
      </p:sp>
      <p:sp>
        <p:nvSpPr>
          <p:cNvPr id="5" name="scope">
            <a:extLst xmlns:a="http://schemas.openxmlformats.org/drawingml/2006/main">
              <a:ext uri="{FF2B5EF4-FFF2-40B4-BE49-F238E27FC236}">
                <a16:creationId xmlns:a16="http://schemas.microsoft.com/office/drawing/2014/main" id="{8723EFE3-1762-4A8D-B0E5-9B01B9BA7445}"/>
              </a:ext>
            </a:extLst>
          </p:cNvPr>
          <p:cNvSpPr>
            <a:spLocks xmlns:a="http://schemas.openxmlformats.org/drawingml/2006/main" noGrp="1"/>
          </p:cNvSpPr>
          <p:nvPr/>
        </p:nvSpPr>
        <p:spPr>
          <a:xfrm xmlns:a="http://schemas.openxmlformats.org/drawingml/2006/main">
            <a:off x="457200" y="1819275"/>
            <a:ext cx="1714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0">
                <a:solidFill>
                  <a:srgbClr val="222A35"/>
                </a:solidFill>
                <a:latin typeface="Apple SD Gothic Neo"/>
                <a:ea typeface="Apple SD Gothic Neo"/>
                <a:cs typeface="Apple SD Gothic Neo"/>
              </a:defRPr>
            </a:pPr>
            <a:r>
              <a:rPr sz="2100" b="0">
                <a:solidFill>
                  <a:srgbClr val="222A35"/>
                </a:solidFill>
                <a:latin typeface="Apple SD Gothic Neo"/>
                <a:ea typeface="Apple SD Gothic Neo"/>
                <a:cs typeface="Apple SD Gothic Neo"/>
              </a:rPr>
              <a:t>같은 W100: 사용자 100 + Agent 30장면. QA 번호순 우선 선택, 낮은 순위 약점은 tactic으로 보완</a:t>
            </a:r>
          </a:p>
        </p:txBody>
      </p:sp>
      <p:graphicFrame>
        <p:nvGraphicFramePr>
          <p:cNvPr id="13" name=""/>
          <p:cNvGraphicFramePr/>
          <p:nvPr/>
        </p:nvGraphicFramePr>
        <p:xfrm>
          <a:off xmlns:a="http://schemas.openxmlformats.org/drawingml/2006/main" x="457200" y="2286000"/>
          <a:ext xmlns:a="http://schemas.openxmlformats.org/drawingml/2006/main" cx="17373600" cy="7477125"/>
        </p:xfrm>
        <a:graphic xmlns:a="http://schemas.openxmlformats.org/drawingml/2006/main">
          <a:graphicData uri="http://schemas.openxmlformats.org/drawingml/2006/table">
            <a:tbl>
              <a:tblPr firstRow="0" bandRow="0"/>
              <a:tblGrid>
                <a:gridCol w="1476375"/>
                <a:gridCol w="2047875"/>
                <a:gridCol w="2762250"/>
                <a:gridCol w="9848850"/>
                <a:gridCol w="1238250"/>
              </a:tblGrid>
              <a:tr h="476250">
                <a:tc>
                  <a:txBody>
                    <a:bodyPr/>
                    <a:lstStyle/>
                    <a:p>
                      <a:pPr algn="ctr"/>
                      <a:r>
                        <a:rPr sz="2025" b="1">
                          <a:solidFill>
                            <a:srgbClr val="FFFFFF"/>
                          </a:solidFill>
                          <a:latin typeface="Apple SD Gothic Neo"/>
                          <a:ea typeface="Apple SD Gothic Neo"/>
                          <a:cs typeface="Apple SD Gothic Neo"/>
                        </a:rPr>
                        <a:t>ID</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분류</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Title</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Scenario / 지표 / 목표 근거</a:t>
                      </a:r>
                    </a:p>
                  </a:txBody>
                  <a:tcPr marL="133350" marR="114300" marT="57150" marB="57150" anchor="ctr">
                    <a:solidFill>
                      <a:srgbClr val="4472C4"/>
                    </a:solidFill>
                  </a:tcPr>
                </a:tc>
                <a:tc>
                  <a:txBody>
                    <a:bodyPr/>
                    <a:lstStyle/>
                    <a:p>
                      <a:pPr algn="ctr"/>
                      <a:r>
                        <a:rPr sz="2025" b="1">
                          <a:solidFill>
                            <a:srgbClr val="FFFFFF"/>
                          </a:solidFill>
                          <a:latin typeface="Apple SD Gothic Neo"/>
                          <a:ea typeface="Apple SD Gothic Neo"/>
                          <a:cs typeface="Apple SD Gothic Neo"/>
                        </a:rPr>
                        <a:t>우선순위</a:t>
                      </a:r>
                    </a:p>
                  </a:txBody>
                  <a:tcPr marL="133350" marR="114300" marT="57150" marB="57150" anchor="ctr">
                    <a:solidFill>
                      <a:srgbClr val="4472C4"/>
                    </a:solidFill>
                  </a:tcPr>
                </a:tc>
              </a:tr>
              <a:tr h="2333625">
                <a:tc>
                  <a:txBody>
                    <a:bodyPr/>
                    <a:lstStyle/>
                    <a:p>
                      <a:pPr algn="ctr"/>
                      <a:r>
                        <a:rPr sz="1875" b="0">
                          <a:solidFill>
                            <a:srgbClr val="222A35"/>
                          </a:solidFill>
                          <a:latin typeface="Apple SD Gothic Neo"/>
                          <a:ea typeface="Apple SD Gothic Neo"/>
                          <a:cs typeface="Apple SD Gothic Neo"/>
                        </a:rPr>
                        <a:t>ASR-QA-04</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Cost</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모델</a:t>
                      </a:r>
                    </a:p>
                    <a:p>
                      <a:pPr algn="ctr"/>
                      <a:r>
                        <a:rPr sz="2550" b="1">
                          <a:solidFill>
                            <a:srgbClr val="222A35"/>
                          </a:solidFill>
                          <a:latin typeface="Apple SD Gothic Neo"/>
                          <a:ea typeface="Apple SD Gothic Neo"/>
                          <a:cs typeface="Apple SD Gothic Neo"/>
                        </a:rPr>
                        <a:t>사용 비용</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사용자 활동을 처리하는 동안 VIA의 음성/의미 모델 사용에 드는 금액</a:t>
                      </a:r>
                    </a:p>
                    <a:p>
                      <a:pPr algn="l"/>
                      <a:r>
                        <a:rPr sz="2325" b="1">
                          <a:solidFill>
                            <a:srgbClr val="43AACC"/>
                          </a:solidFill>
                          <a:latin typeface="Apple SD Gothic Neo"/>
                          <a:ea typeface="Apple SD Gothic Neo"/>
                          <a:cs typeface="Apple SD Gothic Neo"/>
                        </a:rPr>
                        <a:t>W100 1회 평균 모델 비용 ≤ $1.50</a:t>
                      </a:r>
                    </a:p>
                    <a:p>
                      <a:pPr algn="l"/>
                      <a:r>
                        <a:rPr sz="1950" b="0">
                          <a:solidFill>
                            <a:srgbClr val="222A35"/>
                          </a:solidFill>
                          <a:latin typeface="Apple SD Gothic Neo"/>
                          <a:ea typeface="Apple SD Gothic Neo"/>
                          <a:cs typeface="Apple SD Gothic Neo"/>
                        </a:rPr>
                        <a:t>측정: 사용자 100 + Agent 30장면 전체 청구량 × 단가</a:t>
                      </a:r>
                    </a:p>
                    <a:p>
                      <a:pPr algn="l"/>
                      <a:r>
                        <a:rPr sz="1950" b="0">
                          <a:solidFill>
                            <a:srgbClr val="56606B"/>
                          </a:solidFill>
                          <a:latin typeface="Apple SD Gothic Neo"/>
                          <a:ea typeface="Apple SD Gothic Neo"/>
                          <a:cs typeface="Apple SD Gothic Neo"/>
                        </a:rPr>
                        <a:t>근거: 기본 $1.0987 + 추가 생산/재시도 여유 $0.4013</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4</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ASR-QA-05</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Maintainability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VIA 변경</a:t>
                      </a:r>
                    </a:p>
                    <a:p>
                      <a:pPr algn="ctr"/>
                      <a:r>
                        <a:rPr sz="2550" b="1">
                          <a:solidFill>
                            <a:srgbClr val="222A35"/>
                          </a:solidFill>
                          <a:latin typeface="Apple SD Gothic Neo"/>
                          <a:ea typeface="Apple SD Gothic Neo"/>
                          <a:cs typeface="Apple SD Gothic Neo"/>
                        </a:rPr>
                        <a:t>용이성</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모델/Agent/정보원/기능 계약의 변화를 다른 사용자 기능을 유지하면서 수용하는 능력</a:t>
                      </a:r>
                    </a:p>
                    <a:p>
                      <a:pPr algn="l"/>
                      <a:r>
                        <a:rPr sz="2325" b="1">
                          <a:solidFill>
                            <a:srgbClr val="43AACC"/>
                          </a:solidFill>
                          <a:latin typeface="Apple SD Gothic Neo"/>
                          <a:ea typeface="Apple SD Gothic Neo"/>
                          <a:cs typeface="Apple SD Gothic Neo"/>
                        </a:rPr>
                        <a:t>평균 변경 책임 단위 수 ≤ 3개</a:t>
                      </a:r>
                    </a:p>
                    <a:p>
                      <a:pPr algn="l"/>
                      <a:r>
                        <a:rPr sz="1950" b="0">
                          <a:solidFill>
                            <a:srgbClr val="222A35"/>
                          </a:solidFill>
                          <a:latin typeface="Apple SD Gothic Neo"/>
                          <a:ea typeface="Apple SD Gothic Neo"/>
                          <a:cs typeface="Apple SD Gothic Neo"/>
                        </a:rPr>
                        <a:t>측정: 6개 변경 과제의 고유 수정 책임 수 평균</a:t>
                      </a:r>
                    </a:p>
                    <a:p>
                      <a:pPr algn="l"/>
                      <a:r>
                        <a:rPr sz="1950" b="0">
                          <a:solidFill>
                            <a:srgbClr val="56606B"/>
                          </a:solidFill>
                          <a:latin typeface="Apple SD Gothic Neo"/>
                          <a:ea typeface="Apple SD Gothic Neo"/>
                          <a:cs typeface="Apple SD Gothic Neo"/>
                        </a:rPr>
                        <a:t>근거: 일상 변경을 adapter/생산/소비 약 3개 책임에 국소화</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5</a:t>
                      </a:r>
                    </a:p>
                  </a:txBody>
                  <a:tcPr marL="133350" marR="114300" marT="57150" marB="57150" anchor="ctr">
                    <a:solidFill>
                      <a:srgbClr val="FFF6DE"/>
                    </a:solidFill>
                  </a:tcPr>
                </a:tc>
              </a:tr>
              <a:tr h="2333625">
                <a:tc>
                  <a:txBody>
                    <a:bodyPr/>
                    <a:lstStyle/>
                    <a:p>
                      <a:pPr algn="ctr"/>
                      <a:r>
                        <a:rPr sz="1875" b="0">
                          <a:solidFill>
                            <a:srgbClr val="222A35"/>
                          </a:solidFill>
                          <a:latin typeface="Apple SD Gothic Neo"/>
                          <a:ea typeface="Apple SD Gothic Neo"/>
                          <a:cs typeface="Apple SD Gothic Neo"/>
                        </a:rPr>
                        <a:t>ASR-QA-06</a:t>
                      </a:r>
                    </a:p>
                  </a:txBody>
                  <a:tcPr marL="133350" marR="114300" marT="57150" marB="57150" anchor="ctr">
                    <a:solidFill>
                      <a:srgbClr val="FFF6DE"/>
                    </a:solidFill>
                  </a:tcPr>
                </a:tc>
                <a:tc>
                  <a:txBody>
                    <a:bodyPr/>
                    <a:lstStyle/>
                    <a:p>
                      <a:pPr algn="ctr"/>
                      <a:r>
                        <a:rPr sz="2100" b="0">
                          <a:solidFill>
                            <a:srgbClr val="222A35"/>
                          </a:solidFill>
                          <a:latin typeface="Apple SD Gothic Neo"/>
                          <a:ea typeface="Apple SD Gothic Neo"/>
                          <a:cs typeface="Apple SD Gothic Neo"/>
                        </a:rPr>
                        <a:t>Resource</a:t>
                      </a:r>
                    </a:p>
                    <a:p>
                      <a:pPr algn="ctr"/>
                      <a:r>
                        <a:rPr sz="2100" b="0">
                          <a:solidFill>
                            <a:srgbClr val="222A35"/>
                          </a:solidFill>
                          <a:latin typeface="Apple SD Gothic Neo"/>
                          <a:ea typeface="Apple SD Gothic Neo"/>
                          <a:cs typeface="Apple SD Gothic Neo"/>
                        </a:rPr>
                        <a:t>Efficiency</a:t>
                      </a:r>
                    </a:p>
                  </a:txBody>
                  <a:tcPr marL="133350" marR="114300" marT="57150" marB="57150" anchor="ctr">
                    <a:solidFill>
                      <a:srgbClr val="FFF6DE"/>
                    </a:solidFill>
                  </a:tcPr>
                </a:tc>
                <a:tc>
                  <a:txBody>
                    <a:bodyPr/>
                    <a:lstStyle/>
                    <a:p>
                      <a:pPr algn="ctr"/>
                      <a:r>
                        <a:rPr sz="2550" b="1">
                          <a:solidFill>
                            <a:srgbClr val="222A35"/>
                          </a:solidFill>
                          <a:latin typeface="Apple SD Gothic Neo"/>
                          <a:ea typeface="Apple SD Gothic Neo"/>
                          <a:cs typeface="Apple SD Gothic Neo"/>
                        </a:rPr>
                        <a:t>로컬 VIA</a:t>
                      </a:r>
                    </a:p>
                    <a:p>
                      <a:pPr algn="ctr"/>
                      <a:r>
                        <a:rPr sz="2550" b="1">
                          <a:solidFill>
                            <a:srgbClr val="222A35"/>
                          </a:solidFill>
                          <a:latin typeface="Apple SD Gothic Neo"/>
                          <a:ea typeface="Apple SD Gothic Neo"/>
                          <a:cs typeface="Apple SD Gothic Neo"/>
                        </a:rPr>
                        <a:t>메모리 사용량</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동일한 활동과 동시 부하에서 VIA가 로컬 PC에 할당해 유지하는 메모리의 최대량</a:t>
                      </a:r>
                    </a:p>
                    <a:p>
                      <a:pPr algn="l"/>
                      <a:r>
                        <a:rPr sz="2325" b="1">
                          <a:solidFill>
                            <a:srgbClr val="43AACC"/>
                          </a:solidFill>
                          <a:latin typeface="Apple SD Gothic Neo"/>
                          <a:ea typeface="Apple SD Gothic Neo"/>
                          <a:cs typeface="Apple SD Gothic Neo"/>
                        </a:rPr>
                        <a:t>최대 전체 commit 메모리 ≤ 4GiB</a:t>
                      </a:r>
                    </a:p>
                    <a:p>
                      <a:pPr algn="l"/>
                      <a:r>
                        <a:rPr sz="1950" b="0">
                          <a:solidFill>
                            <a:srgbClr val="222A35"/>
                          </a:solidFill>
                          <a:latin typeface="Apple SD Gothic Neo"/>
                          <a:ea typeface="Apple SD Gothic Neo"/>
                          <a:cs typeface="Apple SD Gothic Neo"/>
                        </a:rPr>
                        <a:t>측정: 같은 W100 3회 중 가장 큰 동시 commit량</a:t>
                      </a:r>
                    </a:p>
                    <a:p>
                      <a:pPr algn="l"/>
                      <a:r>
                        <a:rPr sz="1950" b="0">
                          <a:solidFill>
                            <a:srgbClr val="56606B"/>
                          </a:solidFill>
                          <a:latin typeface="Apple SD Gothic Neo"/>
                          <a:ea typeface="Apple SD Gothic Neo"/>
                          <a:cs typeface="Apple SD Gothic Neo"/>
                        </a:rPr>
                        <a:t>근거: 32GB급 PC의 사용자 앱과 공존하는 VIA 4GiB 예산</a:t>
                      </a:r>
                    </a:p>
                  </a:txBody>
                  <a:tcPr marL="133350" marR="114300" marT="57150" marB="57150" anchor="ctr">
                    <a:solidFill>
                      <a:srgbClr val="FFF6DE"/>
                    </a:solidFill>
                  </a:tcPr>
                </a:tc>
                <a:tc>
                  <a:txBody>
                    <a:bodyPr/>
                    <a:lstStyle/>
                    <a:p>
                      <a:pPr algn="ctr"/>
                      <a:r>
                        <a:rPr sz="2700" b="1">
                          <a:solidFill>
                            <a:srgbClr val="AF2E33"/>
                          </a:solidFill>
                          <a:latin typeface="Apple SD Gothic Neo"/>
                          <a:ea typeface="Apple SD Gothic Neo"/>
                          <a:cs typeface="Apple SD Gothic Neo"/>
                        </a:rPr>
                        <a:t>6</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D31171A7-D605-4D82-AE61-71A5580875C9}"/>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W100: 정확성 540개, 시간 각 30개 / 외부 업무와 사용자 답변 대기 제외 / 비용과 메모리는 같은 활동 3회</a:t>
            </a:r>
          </a:p>
        </p:txBody>
      </p:sp>
    </p:spTree>
    <p:extLst>
      <p:ext uri="{BB962C8B-B14F-4D97-AF65-F5344CB8AC3E}">
        <p14:creationId xmlns:p14="http://schemas.microsoft.com/office/powerpoint/2010/main" val="37170828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14A549F0-5695-4FFE-BEE4-8220CA0EC9D3}"/>
              </a:ext>
            </a:extLst>
          </p:cNvPr>
          <p:cNvSpPr>
            <a:spLocks xmlns:a="http://schemas.openxmlformats.org/drawingml/2006/main" noGrp="1"/>
          </p:cNvSpPr>
          <p:nvPr/>
        </p:nvSpPr>
        <p:spPr>
          <a:xfrm xmlns:a="http://schemas.openxmlformats.org/drawingml/2006/main">
            <a:off x="457200" y="247650"/>
            <a:ext cx="15716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425" b="1">
                <a:solidFill>
                  <a:srgbClr val="222A35"/>
                </a:solidFill>
                <a:latin typeface="Apple SD Gothic Neo"/>
                <a:ea typeface="Apple SD Gothic Neo"/>
                <a:cs typeface="Apple SD Gothic Neo"/>
              </a:defRPr>
            </a:pPr>
            <a:r>
              <a:rPr sz="4425" b="1">
                <a:solidFill>
                  <a:srgbClr val="222A35"/>
                </a:solidFill>
                <a:latin typeface="Apple SD Gothic Neo"/>
                <a:ea typeface="Apple SD Gothic Neo"/>
                <a:cs typeface="Apple SD Gothic Neo"/>
              </a:rPr>
              <a:t>공통 평가 활동</a:t>
            </a:r>
          </a:p>
        </p:txBody>
      </p:sp>
      <p:sp>
        <p:nvSpPr>
          <p:cNvPr id="2" name="header-rule">
            <a:extLst xmlns:a="http://schemas.openxmlformats.org/drawingml/2006/main">
              <a:ext uri="{FF2B5EF4-FFF2-40B4-BE49-F238E27FC236}">
                <a16:creationId xmlns:a16="http://schemas.microsoft.com/office/drawing/2014/main" id="{95CF3A28-878A-4AE5-9BF4-34712FA9397C}"/>
              </a:ext>
            </a:extLst>
          </p:cNvPr>
          <p:cNvSpPr>
            <a:spLocks xmlns:a="http://schemas.openxmlformats.org/drawingml/2006/main" noGrp="1"/>
          </p:cNvSpPr>
          <p:nvPr/>
        </p:nvSpPr>
        <p:spPr>
          <a:xfrm xmlns:a="http://schemas.openxmlformats.org/drawingml/2006/main">
            <a:off x="457200" y="1066800"/>
            <a:ext cx="17373600" cy="19050"/>
          </a:xfrm>
          <a:prstGeom xmlns:a="http://schemas.openxmlformats.org/drawingml/2006/main" prst="rect">
            <a:avLst/>
          </a:prstGeom>
          <a:solidFill xmlns:a="http://schemas.openxmlformats.org/drawingml/2006/main">
            <a:srgbClr val="9E9E9E"/>
          </a:solidFill>
          <a:ln xmlns:a="http://schemas.openxmlformats.org/drawingml/2006/main" w="0">
            <a:noFill/>
          </a:ln>
        </p:spPr>
      </p:sp>
      <p:sp>
        <p:nvSpPr>
          <p:cNvPr id="3" name="page">
            <a:extLst xmlns:a="http://schemas.openxmlformats.org/drawingml/2006/main">
              <a:ext uri="{FF2B5EF4-FFF2-40B4-BE49-F238E27FC236}">
                <a16:creationId xmlns:a16="http://schemas.microsoft.com/office/drawing/2014/main" id="{CDA858B6-036D-43A6-9E77-54C2F7A4ACF8}"/>
              </a:ext>
            </a:extLst>
          </p:cNvPr>
          <p:cNvSpPr>
            <a:spLocks xmlns:a="http://schemas.openxmlformats.org/drawingml/2006/main" noGrp="1"/>
          </p:cNvSpPr>
          <p:nvPr/>
        </p:nvSpPr>
        <p:spPr>
          <a:xfrm xmlns:a="http://schemas.openxmlformats.org/drawingml/2006/main">
            <a:off x="16611600" y="504825"/>
            <a:ext cx="1219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6606B"/>
                </a:solidFill>
                <a:latin typeface="Apple SD Gothic Neo"/>
                <a:ea typeface="Apple SD Gothic Neo"/>
                <a:cs typeface="Apple SD Gothic Neo"/>
              </a:defRPr>
            </a:pPr>
            <a:r>
              <a:rPr sz="1875" b="0">
                <a:solidFill>
                  <a:srgbClr val="56606B"/>
                </a:solidFill>
                <a:latin typeface="Apple SD Gothic Neo"/>
                <a:ea typeface="Apple SD Gothic Neo"/>
                <a:cs typeface="Apple SD Gothic Neo"/>
              </a:rPr>
              <a:t>3 / 3</a:t>
            </a:r>
          </a:p>
        </p:txBody>
      </p:sp>
      <p:sp>
        <p:nvSpPr>
          <p:cNvPr id="4" name="headline">
            <a:extLst xmlns:a="http://schemas.openxmlformats.org/drawingml/2006/main">
              <a:ext uri="{FF2B5EF4-FFF2-40B4-BE49-F238E27FC236}">
                <a16:creationId xmlns:a16="http://schemas.microsoft.com/office/drawing/2014/main" id="{EFF55D77-2BD4-42ED-B57F-EAC43746D369}"/>
              </a:ext>
            </a:extLst>
          </p:cNvPr>
          <p:cNvSpPr>
            <a:spLocks xmlns:a="http://schemas.openxmlformats.org/drawingml/2006/main" noGrp="1"/>
          </p:cNvSpPr>
          <p:nvPr/>
        </p:nvSpPr>
        <p:spPr>
          <a:xfrm xmlns:a="http://schemas.openxmlformats.org/drawingml/2006/main">
            <a:off x="457200" y="1285875"/>
            <a:ext cx="173736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150" b="1">
                <a:solidFill>
                  <a:srgbClr val="4472C4"/>
                </a:solidFill>
                <a:latin typeface="Apple SD Gothic Neo"/>
                <a:ea typeface="Apple SD Gothic Neo"/>
                <a:cs typeface="Apple SD Gothic Neo"/>
              </a:defRPr>
            </a:pPr>
            <a:r>
              <a:rPr sz="3150" b="1">
                <a:solidFill>
                  <a:srgbClr val="4472C4"/>
                </a:solidFill>
                <a:latin typeface="Apple SD Gothic Neo"/>
                <a:ea typeface="Apple SD Gothic Neo"/>
                <a:cs typeface="Apple SD Gothic Neo"/>
              </a:rPr>
              <a:t>W100: 같은 요청과 후속 사건으로 여섯 QA 평가</a:t>
            </a:r>
          </a:p>
        </p:txBody>
      </p:sp>
      <p:sp>
        <p:nvSpPr>
          <p:cNvPr id="5" name="scope">
            <a:extLst xmlns:a="http://schemas.openxmlformats.org/drawingml/2006/main">
              <a:ext uri="{FF2B5EF4-FFF2-40B4-BE49-F238E27FC236}">
                <a16:creationId xmlns:a16="http://schemas.microsoft.com/office/drawing/2014/main" id="{4878716E-C69E-43C9-87D4-F33E7E195A5C}"/>
              </a:ext>
            </a:extLst>
          </p:cNvPr>
          <p:cNvSpPr>
            <a:spLocks xmlns:a="http://schemas.openxmlformats.org/drawingml/2006/main" noGrp="1"/>
          </p:cNvSpPr>
          <p:nvPr/>
        </p:nvSpPr>
        <p:spPr>
          <a:xfrm xmlns:a="http://schemas.openxmlformats.org/drawingml/2006/main">
            <a:off x="457200" y="1819275"/>
            <a:ext cx="17373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222A35"/>
                </a:solidFill>
                <a:latin typeface="Apple SD Gothic Neo"/>
                <a:ea typeface="Apple SD Gothic Neo"/>
                <a:cs typeface="Apple SD Gothic Neo"/>
              </a:defRPr>
            </a:pPr>
            <a:r>
              <a:rPr sz="2175" b="0">
                <a:solidFill>
                  <a:srgbClr val="222A35"/>
                </a:solidFill>
                <a:latin typeface="Apple SD Gothic Neo"/>
                <a:ea typeface="Apple SD Gothic Neo"/>
                <a:cs typeface="Apple SD Gothic Neo"/>
              </a:rPr>
              <a:t>기존 18개 사례를 재사용한 합성 PoC 부하. 실제 하루 사용량을 주장하는 수치는 아님</a:t>
            </a:r>
          </a:p>
        </p:txBody>
      </p:sp>
      <p:graphicFrame>
        <p:nvGraphicFramePr>
          <p:cNvPr id="13" name=""/>
          <p:cNvGraphicFramePr/>
          <p:nvPr/>
        </p:nvGraphicFramePr>
        <p:xfrm>
          <a:off xmlns:a="http://schemas.openxmlformats.org/drawingml/2006/main" x="457200" y="2286000"/>
          <a:ext xmlns:a="http://schemas.openxmlformats.org/drawingml/2006/main" cx="17373600" cy="7486650"/>
        </p:xfrm>
        <a:graphic xmlns:a="http://schemas.openxmlformats.org/drawingml/2006/main">
          <a:graphicData uri="http://schemas.openxmlformats.org/drawingml/2006/table">
            <a:tbl>
              <a:tblPr firstRow="0" bandRow="0"/>
              <a:tblGrid>
                <a:gridCol w="2667000"/>
                <a:gridCol w="8001000"/>
                <a:gridCol w="6705600"/>
              </a:tblGrid>
              <a:tr h="476250">
                <a:tc>
                  <a:txBody>
                    <a:bodyPr/>
                    <a:lstStyle/>
                    <a:p>
                      <a:pPr algn="l"/>
                      <a:r>
                        <a:rPr sz="2100" b="1">
                          <a:solidFill>
                            <a:srgbClr val="FFFFFF"/>
                          </a:solidFill>
                          <a:latin typeface="Apple SD Gothic Neo"/>
                          <a:ea typeface="Apple SD Gothic Neo"/>
                          <a:cs typeface="Apple SD Gothic Neo"/>
                        </a:rPr>
                        <a:t>활동 / 관측</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고정 조건</a:t>
                      </a:r>
                    </a:p>
                  </a:txBody>
                  <a:tcPr marL="133350" marR="114300" marT="57150" marB="57150" anchor="ctr">
                    <a:solidFill>
                      <a:srgbClr val="4472C4"/>
                    </a:solidFill>
                  </a:tcPr>
                </a:tc>
                <a:tc>
                  <a:txBody>
                    <a:bodyPr/>
                    <a:lstStyle/>
                    <a:p>
                      <a:pPr algn="l"/>
                      <a:r>
                        <a:rPr sz="2100" b="1">
                          <a:solidFill>
                            <a:srgbClr val="FFFFFF"/>
                          </a:solidFill>
                          <a:latin typeface="Apple SD Gothic Neo"/>
                          <a:ea typeface="Apple SD Gothic Neo"/>
                          <a:cs typeface="Apple SD Gothic Neo"/>
                        </a:rPr>
                        <a:t>QA에서 읽는 값</a:t>
                      </a:r>
                    </a:p>
                  </a:txBody>
                  <a:tcPr marL="133350" marR="114300" marT="57150" marB="57150" anchor="ctr">
                    <a:solidFill>
                      <a:srgbClr val="4472C4"/>
                    </a:solidFill>
                  </a:tcPr>
                </a:tc>
              </a:tr>
              <a:tr h="1162050">
                <a:tc>
                  <a:txBody>
                    <a:bodyPr/>
                    <a:lstStyle/>
                    <a:p>
                      <a:pPr algn="l"/>
                      <a:r>
                        <a:rPr sz="2100" b="0">
                          <a:solidFill>
                            <a:srgbClr val="222A35"/>
                          </a:solidFill>
                          <a:latin typeface="Apple SD Gothic Neo"/>
                          <a:ea typeface="Apple SD Gothic Neo"/>
                          <a:cs typeface="Apple SD Gothic Neo"/>
                        </a:rPr>
                        <a:t>입력 장면</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사용자 100건 + Agent 발신 30건</a:t>
                      </a:r>
                    </a:p>
                    <a:p>
                      <a:pPr algn="l"/>
                      <a:r>
                        <a:rPr sz="2100" b="0">
                          <a:solidFill>
                            <a:srgbClr val="222A35"/>
                          </a:solidFill>
                          <a:latin typeface="Apple SD Gothic Neo"/>
                          <a:ea typeface="Apple SD Gothic Neo"/>
                          <a:cs typeface="Apple SD Gothic Neo"/>
                        </a:rPr>
                        <a:t>조회, 과거 재사용, 복합 요청, 정정, 질문과 결과</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18개 사례의 같은 입력 / 원본 / 허용 / 후속 사건</a:t>
                      </a:r>
                    </a:p>
                  </a:txBody>
                  <a:tcPr marL="133350" marR="114300" marT="57150" marB="57150" anchor="ctr">
                    <a:solidFill>
                      <a:srgbClr val="FFF6DE"/>
                    </a:solidFill>
                  </a:tcPr>
                </a:tc>
              </a:tr>
              <a:tr h="1162050">
                <a:tc>
                  <a:txBody>
                    <a:bodyPr/>
                    <a:lstStyle/>
                    <a:p>
                      <a:pPr algn="l"/>
                      <a:r>
                        <a:rPr sz="2100" b="0">
                          <a:solidFill>
                            <a:srgbClr val="222A35"/>
                          </a:solidFill>
                          <a:latin typeface="Apple SD Gothic Neo"/>
                          <a:ea typeface="Apple SD Gothic Neo"/>
                          <a:cs typeface="Apple SD Gothic Neo"/>
                        </a:rPr>
                        <a:t>반복과 집중</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5block × (CORE 18 + REUSE 4 + BURST 4)</a:t>
                      </a:r>
                    </a:p>
                    <a:p>
                      <a:pPr algn="l"/>
                      <a:r>
                        <a:rPr sz="2100" b="0">
                          <a:solidFill>
                            <a:srgbClr val="222A35"/>
                          </a:solidFill>
                          <a:latin typeface="Apple SD Gothic Neo"/>
                          <a:ea typeface="Apple SD Gothic Neo"/>
                          <a:cs typeface="Apple SD Gothic Neo"/>
                        </a:rPr>
                        <a:t>Agent burst는 0 / 0.02 / 0.04 / 0.06초에 제공</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같은 원본 재사용 / 경쟁 / 추가 상태와 copy</a:t>
                      </a:r>
                    </a:p>
                  </a:txBody>
                  <a:tcPr marL="133350" marR="114300" marT="57150" marB="57150" anchor="ctr">
                    <a:solidFill>
                      <a:srgbClr val="FFF6DE"/>
                    </a:solidFill>
                  </a:tcPr>
                </a:tc>
              </a:tr>
              <a:tr h="1162050">
                <a:tc>
                  <a:txBody>
                    <a:bodyPr/>
                    <a:lstStyle/>
                    <a:p>
                      <a:pPr algn="l"/>
                      <a:r>
                        <a:rPr sz="2100" b="0">
                          <a:solidFill>
                            <a:srgbClr val="222A35"/>
                          </a:solidFill>
                          <a:latin typeface="Apple SD Gothic Neo"/>
                          <a:ea typeface="Apple SD Gothic Neo"/>
                          <a:cs typeface="Apple SD Gothic Neo"/>
                        </a:rPr>
                        <a:t>초기 자료와 동시 부하</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과거 2,000turn / 완료 Task 200개 / 원본 30개</a:t>
                      </a:r>
                    </a:p>
                    <a:p>
                      <a:pPr algn="l"/>
                      <a:r>
                        <a:rPr sz="2100" b="0">
                          <a:solidFill>
                            <a:srgbClr val="222A35"/>
                          </a:solidFill>
                          <a:latin typeface="Apple SD Gothic Neo"/>
                          <a:ea typeface="Apple SD Gothic Neo"/>
                          <a:cs typeface="Apple SD Gothic Neo"/>
                        </a:rPr>
                        <a:t>활성 Task 최대 10개 / cloud call 최대 4개</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복원, 초기 생산, 준비 비용과 동시 할당도 포함</a:t>
                      </a:r>
                    </a:p>
                  </a:txBody>
                  <a:tcPr marL="133350" marR="114300" marT="57150" marB="57150" anchor="ctr">
                    <a:solidFill>
                      <a:srgbClr val="FFF6DE"/>
                    </a:solidFill>
                  </a:tcPr>
                </a:tc>
              </a:tr>
              <a:tr h="1162050">
                <a:tc>
                  <a:txBody>
                    <a:bodyPr/>
                    <a:lstStyle/>
                    <a:p>
                      <a:pPr algn="l"/>
                      <a:r>
                        <a:rPr sz="2100" b="0">
                          <a:solidFill>
                            <a:srgbClr val="222A35"/>
                          </a:solidFill>
                          <a:latin typeface="Apple SD Gothic Neo"/>
                          <a:ea typeface="Apple SD Gothic Neo"/>
                          <a:cs typeface="Apple SD Gothic Neo"/>
                        </a:rPr>
                        <a:t>정확성과 시간</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R1 CORE의 18개 × 5회 = 90회</a:t>
                      </a:r>
                    </a:p>
                    <a:p>
                      <a:pPr algn="l"/>
                      <a:r>
                        <a:rPr sz="2100" b="0">
                          <a:solidFill>
                            <a:srgbClr val="222A35"/>
                          </a:solidFill>
                          <a:latin typeface="Apple SD Gothic Neo"/>
                          <a:ea typeface="Apple SD Gothic Neo"/>
                          <a:cs typeface="Apple SD Gothic Neo"/>
                        </a:rPr>
                        <a:t>같은 장면의 첫 유효 반응과 최종 결과 관측</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정확성 540조건 / I와 T 각각 30관측</a:t>
                      </a:r>
                    </a:p>
                  </a:txBody>
                  <a:tcPr marL="133350" marR="114300" marT="57150" marB="57150" anchor="ctr">
                    <a:solidFill>
                      <a:srgbClr val="FFF6DE"/>
                    </a:solidFill>
                  </a:tcPr>
                </a:tc>
              </a:tr>
              <a:tr h="1352550">
                <a:tc>
                  <a:txBody>
                    <a:bodyPr/>
                    <a:lstStyle/>
                    <a:p>
                      <a:pPr algn="l"/>
                      <a:r>
                        <a:rPr sz="2100" b="0">
                          <a:solidFill>
                            <a:srgbClr val="222A35"/>
                          </a:solidFill>
                          <a:latin typeface="Apple SD Gothic Neo"/>
                          <a:ea typeface="Apple SD Gothic Neo"/>
                          <a:cs typeface="Apple SD Gothic Neo"/>
                        </a:rPr>
                        <a:t>비용과 메모리</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동일 W100을 3회 독립 수행</a:t>
                      </a:r>
                    </a:p>
                    <a:p>
                      <a:pPr algn="l"/>
                      <a:r>
                        <a:rPr sz="2100" b="0">
                          <a:solidFill>
                            <a:srgbClr val="222A35"/>
                          </a:solidFill>
                          <a:latin typeface="Apple SD Gothic Neo"/>
                          <a:ea typeface="Apple SD Gothic Neo"/>
                          <a:cs typeface="Apple SD Gothic Neo"/>
                        </a:rPr>
                        <a:t>입력 음성 264초 / 출력 참조 예산 914초</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비용: 활동 총액의 평균 ≤ $1.50</a:t>
                      </a:r>
                    </a:p>
                    <a:p>
                      <a:pPr algn="l"/>
                      <a:r>
                        <a:rPr sz="2100" b="0">
                          <a:solidFill>
                            <a:srgbClr val="222A35"/>
                          </a:solidFill>
                          <a:latin typeface="Apple SD Gothic Neo"/>
                          <a:ea typeface="Apple SD Gothic Neo"/>
                          <a:cs typeface="Apple SD Gothic Neo"/>
                        </a:rPr>
                        <a:t>메모리: 모든 활동의 최대 commit ≤ 4GiB</a:t>
                      </a:r>
                    </a:p>
                  </a:txBody>
                  <a:tcPr marL="133350" marR="114300" marT="57150" marB="57150" anchor="ctr">
                    <a:solidFill>
                      <a:srgbClr val="FFF6DE"/>
                    </a:solidFill>
                  </a:tcPr>
                </a:tc>
              </a:tr>
              <a:tr h="1009650">
                <a:tc>
                  <a:txBody>
                    <a:bodyPr/>
                    <a:lstStyle/>
                    <a:p>
                      <a:pPr algn="l"/>
                      <a:r>
                        <a:rPr sz="2100" b="0">
                          <a:solidFill>
                            <a:srgbClr val="222A35"/>
                          </a:solidFill>
                          <a:latin typeface="Apple SD Gothic Neo"/>
                          <a:ea typeface="Apple SD Gothic Neo"/>
                          <a:cs typeface="Apple SD Gothic Neo"/>
                        </a:rPr>
                        <a:t>회수와 보호</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원본 갱신 20건 / maintenance 10회 / 마지막 철회</a:t>
                      </a:r>
                    </a:p>
                    <a:p>
                      <a:pPr algn="l"/>
                      <a:r>
                        <a:rPr sz="2100" b="0">
                          <a:solidFill>
                            <a:srgbClr val="222A35"/>
                          </a:solidFill>
                          <a:latin typeface="Apple SD Gothic Neo"/>
                          <a:ea typeface="Apple SD Gothic Neo"/>
                          <a:cs typeface="Apple SD Gothic Neo"/>
                        </a:rPr>
                        <a:t>신규 입력 종료 후 drain ≤30초, idle probe 10초</a:t>
                      </a:r>
                    </a:p>
                  </a:txBody>
                  <a:tcPr marL="133350" marR="114300" marT="57150" marB="57150" anchor="ctr">
                    <a:solidFill>
                      <a:srgbClr val="FFF6DE"/>
                    </a:solidFill>
                  </a:tcPr>
                </a:tc>
                <a:tc>
                  <a:txBody>
                    <a:bodyPr/>
                    <a:lstStyle/>
                    <a:p>
                      <a:pPr algn="l"/>
                      <a:r>
                        <a:rPr sz="2100" b="0">
                          <a:solidFill>
                            <a:srgbClr val="222A35"/>
                          </a:solidFill>
                          <a:latin typeface="Apple SD Gothic Neo"/>
                          <a:ea typeface="Apple SD Gothic Neo"/>
                          <a:cs typeface="Apple SD Gothic Neo"/>
                        </a:rPr>
                        <a:t>완료/권한/중복 회귀 유지, 유휴 증가 ≤16MiB</a:t>
                      </a:r>
                    </a:p>
                    <a:p>
                      <a:pPr algn="l"/>
                      <a:r>
                        <a:rPr sz="2100" b="0">
                          <a:solidFill>
                            <a:srgbClr val="222A35"/>
                          </a:solidFill>
                          <a:latin typeface="Apple SD Gothic Neo"/>
                          <a:ea typeface="Apple SD Gothic Neo"/>
                          <a:cs typeface="Apple SD Gothic Neo"/>
                        </a:rPr>
                        <a:t>변경 QA는 별도 6과제에서 같은 기능 계약 유지</a:t>
                      </a:r>
                    </a:p>
                  </a:txBody>
                  <a:tcPr marL="133350" marR="114300" marT="57150" marB="57150" anchor="ctr">
                    <a:solidFill>
                      <a:srgbClr val="FFF6DE"/>
                    </a:solidFill>
                  </a:tcPr>
                </a:tc>
              </a:tr>
            </a:tbl>
          </a:graphicData>
        </a:graphic>
      </p:graphicFrame>
      <p:sp>
        <p:nvSpPr>
          <p:cNvPr id="7" name="footer">
            <a:extLst xmlns:a="http://schemas.openxmlformats.org/drawingml/2006/main">
              <a:ext uri="{FF2B5EF4-FFF2-40B4-BE49-F238E27FC236}">
                <a16:creationId xmlns:a16="http://schemas.microsoft.com/office/drawing/2014/main" id="{2314B6E2-0F18-4C6D-A3D5-90B03A865BAC}"/>
              </a:ext>
            </a:extLst>
          </p:cNvPr>
          <p:cNvSpPr>
            <a:spLocks xmlns:a="http://schemas.openxmlformats.org/drawingml/2006/main" noGrp="1"/>
          </p:cNvSpPr>
          <p:nvPr/>
        </p:nvSpPr>
        <p:spPr>
          <a:xfrm xmlns:a="http://schemas.openxmlformats.org/drawingml/2006/main">
            <a:off x="457200" y="9906000"/>
            <a:ext cx="1737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0">
                <a:solidFill>
                  <a:srgbClr val="56606B"/>
                </a:solidFill>
                <a:latin typeface="Apple SD Gothic Neo"/>
                <a:ea typeface="Apple SD Gothic Neo"/>
                <a:cs typeface="Apple SD Gothic Neo"/>
              </a:defRPr>
            </a:pPr>
            <a:r>
              <a:rPr sz="1650" b="0">
                <a:solidFill>
                  <a:srgbClr val="56606B"/>
                </a:solidFill>
                <a:latin typeface="Apple SD Gothic Neo"/>
                <a:ea typeface="Apple SD Gothic Neo"/>
                <a:cs typeface="Apple SD Gothic Neo"/>
              </a:rPr>
              <a:t>03-02 §8.0에 사례별 횟수와 공통 사건 정의 / 비용은 USD/W100, 메모리는 MiB / 작성자 평가 예산</a:t>
            </a:r>
          </a:p>
        </p:txBody>
      </p:sp>
    </p:spTree>
    <p:extLst>
      <p:ext uri="{BB962C8B-B14F-4D97-AF65-F5344CB8AC3E}">
        <p14:creationId xmlns:p14="http://schemas.microsoft.com/office/powerpoint/2010/main" val="13121847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2026-10-10T16:53:55.4330000Z</dcterms:created>
  <dcterms:modified xsi:type="dcterms:W3CDTF">2026-10-10T16:53:55.4330000Z</dcterms:modified>
</coreProperties>
</file>