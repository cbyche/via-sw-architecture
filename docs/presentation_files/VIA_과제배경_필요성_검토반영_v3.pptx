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a47cbace2426a" /><Relationship Type="http://schemas.openxmlformats.org/officeDocument/2006/relationships/extended-properties" Target="/docProps/app.xml" Id="R190c53686ebf41c1" /><Relationship Type="http://schemas.openxmlformats.org/officeDocument/2006/relationships/officeDocument" Target="/ppt/presentation.xml" Id="Raa63c825c5a24197" /></Relationships>
</file>

<file path=ppt/presentation.xml><?xml version="1.0" encoding="utf-8"?>
<p:presentation xmlns:p="http://schemas.openxmlformats.org/presentationml/2006/main">
  <p:sldMasterIdLst>
    <p:sldMasterId xmlns:r="http://schemas.openxmlformats.org/officeDocument/2006/relationships" id="2147483648" r:id="Rda86a757e5434fd7"/>
  </p:sldMasterIdLst>
  <p:notesMasterIdLst>
    <p:notesMasterId xmlns:r="http://schemas.openxmlformats.org/officeDocument/2006/relationships" r:id="R84b102927349435a"/>
  </p:notesMasterIdLst>
  <p:sldIdLst>
    <p:sldId xmlns:r="http://schemas.openxmlformats.org/officeDocument/2006/relationships" id="256" r:id="R0ed8ab8535834e21"/>
    <p:sldId xmlns:r="http://schemas.openxmlformats.org/officeDocument/2006/relationships" id="257" r:id="R134dc13cd6004739"/>
    <p:sldId xmlns:r="http://schemas.openxmlformats.org/officeDocument/2006/relationships" id="258" r:id="R58eb1b69cd56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cbe72a217409d" /><Relationship Type="http://schemas.openxmlformats.org/officeDocument/2006/relationships/slideMaster" Target="/ppt/slideMasters/slideMaster1.xml" Id="Rda86a757e5434fd7" /><Relationship Type="http://schemas.openxmlformats.org/officeDocument/2006/relationships/notesMaster" Target="/ppt/notesMasters/notesMaster1.xml" Id="R84b102927349435a" /><Relationship Type="http://schemas.openxmlformats.org/officeDocument/2006/relationships/presProps" Target="/ppt/presProps.xml" Id="Reefd9614f2e84d98" /><Relationship Type="http://schemas.openxmlformats.org/officeDocument/2006/relationships/tableStyles" Target="/ppt/tableStyles.xml" Id="R18b642d7ff6c4e1c" /><Relationship Type="http://schemas.openxmlformats.org/officeDocument/2006/relationships/slide" Target="/ppt/slides/slide1.xml" Id="R0ed8ab8535834e21" /><Relationship Type="http://schemas.openxmlformats.org/officeDocument/2006/relationships/slide" Target="/ppt/slides/slide2.xml" Id="R134dc13cd6004739" /><Relationship Type="http://schemas.openxmlformats.org/officeDocument/2006/relationships/slide" Target="/ppt/slides/slide3.xml" Id="R58eb1b69cd56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38049fec1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notesMaster1.xml" Id="R832cbe33023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notesMaster1.xml" Id="Ra9bb3611ae48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notesMaster1.xml" Id="R2fbd8ed86add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목적: 앞 페이지의 사용자 접점이 구체적으로 어떤 책임을 가지는지 설명한다. 일반적인 AI Agent와 VIA를 기술적으로 상호 배타적인 유형으로 분류하지 않는다. 둘 다 AI로 판단하거나 도구를 사용할 수 있다. 이 과제의 차별화된 설계 대상은 지속적인 PC interaction과 요청·대화·Task의 연결 및 제어이고, Downstream Agent의 설계 대상은 위임받은 업무의 reasoning·planning·tool selection·execution이다. 이것이 이 페이지에서 강조할 책임 경계다.</a:t>
            </a:r>
          </a:p>
          <a:p xmlns:a="http://schemas.openxmlformats.org/drawingml/2006/main">
            <a:r>
              <a:t>왼쪽 세 단계는 설명을 위한 책임 묶음이며 실제 target Component 이름이나 순차 실행 call graph가 아니다. VIA가 단순한 음성 중계기 또는 라우터라는 의미도 아니다. 시점별 근거로 목표·대상·업무 관계를 판단하고 필요한 확인을 거쳐 처리 방향을 정하며, 요청·Task·권한·상태·결과 연결을 관리한다. 범위가 명확한 설명·요약은 직접 답할 수 있으나 업무 내부 계획과 장기 tool 실행을 맡지 않는다.</a:t>
            </a:r>
          </a:p>
          <a:p xmlns:a="http://schemas.openxmlformats.org/drawingml/2006/main">
            <a:r>
              <a:t>예시의 보고서 작성과 기존 자료 조사는 독립 목표다. 하나의 업무 안의 조사·작성 내부 단계를 VIA가 임의로 분해하는 예시가 아니다. 같은 Agent가 둘을 수행할 수도 있으나 VIA의 업무 identity는 별도로 추적한다. 취소 요청 접수와 실제 취소 완료를 구분하고 확인된 상태만 전달한다.</a:t>
            </a:r>
          </a:p>
          <a:p xmlns:a="http://schemas.openxmlformats.org/drawingml/2006/main">
            <a:r>
              <a:t>Source commit a2acb638001f15b920c5ab1903053ea3c2892711: docs/architecture/01-system-mission-and-boundary.md; 03-fixed-architecture-scope.md; 05-representative-use-cases.md; 12-decisions/target-architecture/architecture.md §§1,5,6,9,11,12,13; control-and-lifecycle.md; memory-and-context-lifecycle.md; shared-omni-runtime.md; design-completeness.md. REVIEWED_BASELINE is a reviewed target design, not implemented or measured superiority. Components and runtime internals are intentionally reserved for later architecture slides. Shared Omni is one weight set used for distinct voice and semantic roles, with separated state; no additional models are implied by these conceptual responsibility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이후 품질 요구 설명을 준비하는 제품 필요성이다. ASR라는 용어, 영어 품질 속성명, QA ID, 순위, 점수는 화면에 표시하지 않는다. 세 열은 이 발표에서 강조하는 필요성이며 신뢰성·복구·권한·자원 제한 등 다른 요구를 삭제하거나 새 ASR 집합을 확정하지 않는다. 수치 목표와 성능 측정 결과는 제시하지 않는다.</a:t>
            </a:r>
          </a:p>
          <a:p xmlns:a="http://schemas.openxmlformats.org/drawingml/2006/main">
            <a:r>
              <a:t>정확성: 단순 의도 인식보다 넓다. QA-19는 QA-11/12의 중복 없는 applicable field에 근거한다. 목표·결과물·제약·지칭, 복합 요청의 관계, 확인 질문, 새/기존/비추적 Task 관계, direct/delegate handling과 Agent/capability 선택, required outcome과 연결, progress/blocked/terminal/artifact version/staleness/notification disposition을 포함한다. Agent가 만든 문서 내용의 도메인 품질을 VIA의 점수로 주장하지 않는다. 실제 Task/run binding과 상태 수렴·정상 연속성은 QA-13~15 회귀 진단이며 QA-19 분모에 자동 가산하지 않는다. 잘못된 대상의 외부 실행이나 권한 위반은 별도 qualification이다.</a:t>
            </a:r>
          </a:p>
          <a:p xmlns:a="http://schemas.openxmlformats.org/drawingml/2006/main">
            <a:r>
              <a:t>응답성: QA-09의 VIA 책임시간 개념이다. 위임 경로는 (사용자 입력 종료부터 Agent ingress에 요청이 준비될 때까지)+(Agent source 결과 준비부터 의미 있는 음성이 들릴 때까지). 그림의 회색 Agent 내부 queue/reasoning/execution 구간은 VIA 대표시간에서 제외하지만 사용자 전체 대기는 별도 보존한다. 파란 두 구간에는 VIA의 model·context·검증·상태 저장·연동·transport·결과 확인·음성 생성·재생 대기와 실제 출력 지연을 포함한다. 도식 너비는 수치 비율이 아니다. 직접 응답, 준비된 progress/status 전달, 사실에 맞는 control 처리 상태 전달도 해당된다. 단순 접수 멘트, 빠른 발화 인식, 음성 끼어들기만으로 이 요구가 충족되지 않는다. 올바른 결과를 조건으로 VIA 처리시간을 줄이는 설계 필요성이다.</a:t>
            </a:r>
          </a:p>
          <a:p xmlns:a="http://schemas.openxmlformats.org/drawingml/2006/main">
            <a:r>
              <a:t>변경 용이성: QA-29와 QA-21/22/23 applicable change 범위. Agent뿐 아니라 Model, Context, State, Experiment, Logging 변화의 파급 범위를 다룬다. 변경·추가·삭제한 Architecture Element 수가 기본 개념이며 파일 수나 개발기간 실측을 의미하지 않는다. 모델 교체라는 표시는 voice와 semantic마다 weight를 복제한다는 뜻이 아니다. 목표 설계에서는 공유 Omni 모델과 별도 입력 근거 생성 모델의 비용 및 장애 영향을 명시한다.</a:t>
            </a:r>
          </a:p>
          <a:p xmlns:a="http://schemas.openxmlformats.org/drawingml/2006/main">
            <a:r>
              <a:t>Source commit a2acb638001f15b920c5ab1903053ea3c2892711: docs/architecture/08-quality-attributes/core-asr-contract.md §§3–5; correctness-and-continuity.md; voice-responsiveness.md; interaction-control-responsiveness.md; quality-model.md. Target grounding: 12-decisions/target-architecture/architecture.md §§6,9,12–14; control-and-lifecycle.md; memory-and-context-lifecycle.md; shared-omni-runtime.md; design-completeness.md. Reviewed design, not implementation or measured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30a515c6646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1210cbd774ebb" /><Relationship Type="http://schemas.openxmlformats.org/officeDocument/2006/relationships/slideLayout" Target="/ppt/slideLayouts/slideLayout1.xml" Id="R7bb00c503edd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5e41819554ae7" /><Relationship Type="http://schemas.openxmlformats.org/officeDocument/2006/relationships/image" Target="/ppt/media/image.gif" Id="R413be209bf6b450f" /><Relationship Type="http://schemas.openxmlformats.org/officeDocument/2006/relationships/image" Target="/ppt/media/image2.gif" Id="R34900b255bd54306" /><Relationship Type="http://schemas.openxmlformats.org/officeDocument/2006/relationships/notesSlide" Target="/ppt/notesSlides/notesSlide1.xml" Id="R0f2a51639d87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64148ace44f45" /><Relationship Type="http://schemas.openxmlformats.org/officeDocument/2006/relationships/notesSlide" Target="/ppt/notesSlides/notesSlide2.xml" Id="R2eb998759542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9457547904210" /><Relationship Type="http://schemas.openxmlformats.org/officeDocument/2006/relationships/notesSlide" Target="/ppt/notesSlides/notesSlide3.xml" Id="R5c747439b9b2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647700"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723900"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6543675"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6619875"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6096000" y="1438275"/>
            <a:ext cx="0" cy="49244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3524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5048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5048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150408" y="2047875"/>
            <a:ext cx="3928533" cy="22098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523875" y="4295775"/>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428625" y="4552950"/>
            <a:ext cx="538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Anthropic computer use 공개 시연, 2024.10 / 발췌·3배속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361950" y="4867275"/>
            <a:ext cx="54673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3619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514350" y="49625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523875" y="53244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523875" y="5629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3019425" y="531495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파일·앱의 자료를 모아 보고서 작성</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여러 자료를 비교해 표·발표자료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523875" y="59340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523875" y="6219825"/>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3019425" y="590550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코드를 탐색하고 수정</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62960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64484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64484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7094008" y="2047875"/>
            <a:ext cx="3928533" cy="22098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6400800" y="4295775"/>
            <a:ext cx="539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6381750" y="4552950"/>
            <a:ext cx="54006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OpenAI GPT-6 Astra 공개 시연 / 발췌·1.5배속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6315075" y="4867275"/>
            <a:ext cx="55054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63055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6457950" y="49625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6505575" y="5353050"/>
            <a:ext cx="885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7429500" y="5486400"/>
            <a:ext cx="3143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7677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7677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7820025" y="5295900"/>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7848600" y="5657850"/>
            <a:ext cx="2114550"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0077450" y="5486400"/>
            <a:ext cx="33337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0344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0344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0487025" y="53530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6477000" y="5724525"/>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화면·대화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6477000" y="6219825"/>
            <a:ext cx="5295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6477000" y="6048375"/>
            <a:ext cx="5295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AI가 달라져도 요청·진행·결과는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438150"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409575" y="876300"/>
            <a:ext cx="1141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VIA는 사용자의 요청과 AI의 업무 수행을 같은 대화·업무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447675" y="1495425"/>
            <a:ext cx="702945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523875" y="1543050"/>
            <a:ext cx="687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VIA  ·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8353425" y="1495425"/>
            <a:ext cx="342900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8429625" y="1543050"/>
            <a:ext cx="327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연결된 AI  ·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638175" y="2076450"/>
            <a:ext cx="651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음성·텍스트 + 당시 화면 + 앞선 대화·진행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638175" y="2457450"/>
            <a:ext cx="66198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638175" y="26574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638175" y="26574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028700" y="26193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028700" y="29241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목표·조건·정정 내용, 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638175" y="328612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638175" y="328612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028700" y="32480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028700" y="355282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638175" y="39147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638175" y="39147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028700" y="38766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028700" y="41814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질문·추가 지시·취소와 진행·결과를 해당 업무에 연결</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7477125" y="2647950"/>
            <a:ext cx="923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목표·조건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7496175" y="298132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8258175" y="29432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8258175" y="29813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7496175" y="383857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7496175" y="38004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7496175" y="38385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7477125" y="3933825"/>
            <a:ext cx="92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질문·상태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7477125" y="4162425"/>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8562975" y="2276475"/>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0096500" y="2686050"/>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00584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00965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8524875" y="30575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자료 조사·문서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8524875" y="33623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앱 조작·코드 수정·시험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0096500" y="3724275"/>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00584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00965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8496300" y="4105275"/>
            <a:ext cx="3181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400050" y="4724400"/>
            <a:ext cx="113823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438150" y="4848225"/>
            <a:ext cx="1130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457200" y="5286375"/>
            <a:ext cx="1219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1">
                <a:solidFill>
                  <a:srgbClr val="657079"/>
                </a:solidFill>
                <a:latin typeface="Apple SD Gothic Neo"/>
                <a:ea typeface="Apple SD Gothic Neo"/>
                <a:cs typeface="Apple SD Gothic Neo"/>
              </a:defRPr>
            </a:pPr>
            <a:r>
              <a:rPr sz="1425"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1828800" y="521970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“이 표로 보고서 만들어줘.</a:t>
            </a:r>
          </a:p>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5553075" y="5524500"/>
            <a:ext cx="361950"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5848350" y="54864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5848350" y="55245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6105525" y="52197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7810500" y="5219700"/>
            <a:ext cx="3676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6105525" y="559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7810500" y="55911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447675" y="6238875"/>
            <a:ext cx="112490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447675" y="6067425"/>
            <a:ext cx="11249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20262C"/>
                </a:solidFill>
                <a:latin typeface="Apple SD Gothic Neo"/>
                <a:ea typeface="Apple SD Gothic Neo"/>
                <a:cs typeface="Apple SD Gothic Neo"/>
              </a:defRPr>
            </a:pPr>
            <a:r>
              <a:rPr sz="1725"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447675"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0">
                <a:solidFill>
                  <a:srgbClr val="657079"/>
                </a:solidFill>
                <a:latin typeface="Apple SD Gothic Neo"/>
                <a:ea typeface="Apple SD Gothic Neo"/>
                <a:cs typeface="Apple SD Gothic Neo"/>
              </a:defRPr>
            </a:pPr>
            <a:r>
              <a:rPr sz="900" b="0">
                <a:solidFill>
                  <a:srgbClr val="657079"/>
                </a:solidFill>
                <a:latin typeface="Apple SD Gothic Neo"/>
                <a:ea typeface="Apple SD Gothic Neo"/>
                <a:cs typeface="Apple SD Gothic Neo"/>
              </a:rPr>
              <a:t>본 과제 범위: 요청 판단·상호작용·업무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3</a:t>
            </a:r>
          </a:p>
        </p:txBody>
      </p:sp>
      <p:sp>
        <p:nvSpPr>
          <p:cNvPr id="14" name="r3-133">
            <a:extLst xmlns:a="http://schemas.openxmlformats.org/drawingml/2006/main">
              <a:ext uri="{FF2B5EF4-FFF2-40B4-BE49-F238E27FC236}">
                <a16:creationId xmlns:a16="http://schemas.microsoft.com/office/drawing/2014/main" id="{F8C5A57B-8090-4C1A-9E54-5F74E4AC1BEA}"/>
              </a:ext>
            </a:extLst>
          </p:cNvPr>
          <p:cNvSpPr>
            <a:spLocks xmlns:a="http://schemas.openxmlformats.org/drawingml/2006/main" noGrp="1"/>
          </p:cNvSpPr>
          <p:nvPr/>
        </p:nvSpPr>
        <p:spPr>
          <a:xfrm xmlns:a="http://schemas.openxmlformats.org/drawingml/2006/main">
            <a:off x="3143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34">
            <a:extLst xmlns:a="http://schemas.openxmlformats.org/drawingml/2006/main">
              <a:ext uri="{FF2B5EF4-FFF2-40B4-BE49-F238E27FC236}">
                <a16:creationId xmlns:a16="http://schemas.microsoft.com/office/drawing/2014/main" id="{ACF846E6-7F27-4A20-8296-A9DB28D48C1E}"/>
              </a:ext>
            </a:extLst>
          </p:cNvPr>
          <p:cNvSpPr>
            <a:spLocks xmlns:a="http://schemas.openxmlformats.org/drawingml/2006/main" noGrp="1"/>
          </p:cNvSpPr>
          <p:nvPr/>
        </p:nvSpPr>
        <p:spPr>
          <a:xfrm xmlns:a="http://schemas.openxmlformats.org/drawingml/2006/main">
            <a:off x="3905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요청부터 결과까지 올바르게 처리</a:t>
            </a:r>
          </a:p>
        </p:txBody>
      </p:sp>
      <p:sp>
        <p:nvSpPr>
          <p:cNvPr id="16" name="r3-135">
            <a:extLst xmlns:a="http://schemas.openxmlformats.org/drawingml/2006/main">
              <a:ext uri="{FF2B5EF4-FFF2-40B4-BE49-F238E27FC236}">
                <a16:creationId xmlns:a16="http://schemas.microsoft.com/office/drawing/2014/main" id="{C8DAE8CB-3F2D-405B-8CF3-6871E05F66CC}"/>
              </a:ext>
            </a:extLst>
          </p:cNvPr>
          <p:cNvSpPr>
            <a:spLocks xmlns:a="http://schemas.openxmlformats.org/drawingml/2006/main" noGrp="1"/>
          </p:cNvSpPr>
          <p:nvPr/>
        </p:nvSpPr>
        <p:spPr>
          <a:xfrm xmlns:a="http://schemas.openxmlformats.org/drawingml/2006/main">
            <a:off x="437197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36">
            <a:extLst xmlns:a="http://schemas.openxmlformats.org/drawingml/2006/main">
              <a:ext uri="{FF2B5EF4-FFF2-40B4-BE49-F238E27FC236}">
                <a16:creationId xmlns:a16="http://schemas.microsoft.com/office/drawing/2014/main" id="{CC629A84-8EFB-420D-898E-EF43808188CC}"/>
              </a:ext>
            </a:extLst>
          </p:cNvPr>
          <p:cNvSpPr>
            <a:spLocks xmlns:a="http://schemas.openxmlformats.org/drawingml/2006/main" noGrp="1"/>
          </p:cNvSpPr>
          <p:nvPr/>
        </p:nvSpPr>
        <p:spPr>
          <a:xfrm xmlns:a="http://schemas.openxmlformats.org/drawingml/2006/main">
            <a:off x="444817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VIA 처리로 생기는 대기 최소화</a:t>
            </a:r>
          </a:p>
        </p:txBody>
      </p:sp>
      <p:sp>
        <p:nvSpPr>
          <p:cNvPr id="18" name="r3-137">
            <a:extLst xmlns:a="http://schemas.openxmlformats.org/drawingml/2006/main">
              <a:ext uri="{FF2B5EF4-FFF2-40B4-BE49-F238E27FC236}">
                <a16:creationId xmlns:a16="http://schemas.microsoft.com/office/drawing/2014/main" id="{73A877BA-3F45-4583-8683-AC22716B8991}"/>
              </a:ext>
            </a:extLst>
          </p:cNvPr>
          <p:cNvSpPr>
            <a:spLocks xmlns:a="http://schemas.openxmlformats.org/drawingml/2006/main" noGrp="1"/>
          </p:cNvSpPr>
          <p:nvPr/>
        </p:nvSpPr>
        <p:spPr>
          <a:xfrm xmlns:a="http://schemas.openxmlformats.org/drawingml/2006/main">
            <a:off x="84296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9" name="r3-138">
            <a:extLst xmlns:a="http://schemas.openxmlformats.org/drawingml/2006/main">
              <a:ext uri="{FF2B5EF4-FFF2-40B4-BE49-F238E27FC236}">
                <a16:creationId xmlns:a16="http://schemas.microsoft.com/office/drawing/2014/main" id="{B80AB2F9-F745-4064-A298-3A550D83951F}"/>
              </a:ext>
            </a:extLst>
          </p:cNvPr>
          <p:cNvSpPr>
            <a:spLocks xmlns:a="http://schemas.openxmlformats.org/drawingml/2006/main" noGrp="1"/>
          </p:cNvSpPr>
          <p:nvPr/>
        </p:nvSpPr>
        <p:spPr>
          <a:xfrm xmlns:a="http://schemas.openxmlformats.org/drawingml/2006/main">
            <a:off x="85058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내부 기술과 외부 AI 변화에 대응</a:t>
            </a:r>
          </a:p>
        </p:txBody>
      </p:sp>
      <p:sp>
        <p:nvSpPr>
          <p:cNvPr id="20" name="line-139">
            <a:extLst xmlns:a="http://schemas.openxmlformats.org/drawingml/2006/main">
              <a:ext uri="{FF2B5EF4-FFF2-40B4-BE49-F238E27FC236}">
                <a16:creationId xmlns:a16="http://schemas.microsoft.com/office/drawing/2014/main" id="{28AEDDD3-3FE8-4D10-8219-6070A5CB2F8B}"/>
              </a:ext>
            </a:extLst>
          </p:cNvPr>
          <p:cNvSpPr>
            <a:spLocks xmlns:a="http://schemas.openxmlformats.org/drawingml/2006/main" noGrp="1"/>
          </p:cNvSpPr>
          <p:nvPr/>
        </p:nvSpPr>
        <p:spPr>
          <a:xfrm xmlns:a="http://schemas.openxmlformats.org/drawingml/2006/main" flipH="0">
            <a:off x="405765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line-140">
            <a:extLst xmlns:a="http://schemas.openxmlformats.org/drawingml/2006/main">
              <a:ext uri="{FF2B5EF4-FFF2-40B4-BE49-F238E27FC236}">
                <a16:creationId xmlns:a16="http://schemas.microsoft.com/office/drawing/2014/main" id="{0A7B0AC2-3054-42CC-874F-B0296D5FECAE}"/>
              </a:ext>
            </a:extLst>
          </p:cNvPr>
          <p:cNvSpPr>
            <a:spLocks xmlns:a="http://schemas.openxmlformats.org/drawingml/2006/main" noGrp="1"/>
          </p:cNvSpPr>
          <p:nvPr/>
        </p:nvSpPr>
        <p:spPr>
          <a:xfrm xmlns:a="http://schemas.openxmlformats.org/drawingml/2006/main" flipH="0">
            <a:off x="811530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2" name="r3-141">
            <a:extLst xmlns:a="http://schemas.openxmlformats.org/drawingml/2006/main">
              <a:ext uri="{FF2B5EF4-FFF2-40B4-BE49-F238E27FC236}">
                <a16:creationId xmlns:a16="http://schemas.microsoft.com/office/drawing/2014/main" id="{F6E682F8-804F-4243-B643-2555C22BC9F0}"/>
              </a:ext>
            </a:extLst>
          </p:cNvPr>
          <p:cNvSpPr>
            <a:spLocks xmlns:a="http://schemas.openxmlformats.org/drawingml/2006/main" noGrp="1"/>
          </p:cNvSpPr>
          <p:nvPr/>
        </p:nvSpPr>
        <p:spPr>
          <a:xfrm xmlns:a="http://schemas.openxmlformats.org/drawingml/2006/main">
            <a:off x="3048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3" name="r3-142">
            <a:extLst xmlns:a="http://schemas.openxmlformats.org/drawingml/2006/main">
              <a:ext uri="{FF2B5EF4-FFF2-40B4-BE49-F238E27FC236}">
                <a16:creationId xmlns:a16="http://schemas.microsoft.com/office/drawing/2014/main" id="{80824105-7F2A-4052-BC6B-F34946647209}"/>
              </a:ext>
            </a:extLst>
          </p:cNvPr>
          <p:cNvSpPr>
            <a:spLocks xmlns:a="http://schemas.openxmlformats.org/drawingml/2006/main" noGrp="1"/>
          </p:cNvSpPr>
          <p:nvPr/>
        </p:nvSpPr>
        <p:spPr>
          <a:xfrm xmlns:a="http://schemas.openxmlformats.org/drawingml/2006/main">
            <a:off x="457200" y="1628775"/>
            <a:ext cx="3400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짧은 요청에도 여러 판단이 필요</a:t>
            </a:r>
          </a:p>
        </p:txBody>
      </p:sp>
      <p:sp>
        <p:nvSpPr>
          <p:cNvPr id="24" name="r3-143">
            <a:extLst xmlns:a="http://schemas.openxmlformats.org/drawingml/2006/main">
              <a:ext uri="{FF2B5EF4-FFF2-40B4-BE49-F238E27FC236}">
                <a16:creationId xmlns:a16="http://schemas.microsoft.com/office/drawing/2014/main" id="{DFF88C5D-44AB-40EE-8AAC-DA039597CFDE}"/>
              </a:ext>
            </a:extLst>
          </p:cNvPr>
          <p:cNvSpPr>
            <a:spLocks xmlns:a="http://schemas.openxmlformats.org/drawingml/2006/main" noGrp="1"/>
          </p:cNvSpPr>
          <p:nvPr/>
        </p:nvSpPr>
        <p:spPr>
          <a:xfrm xmlns:a="http://schemas.openxmlformats.org/drawingml/2006/main">
            <a:off x="4476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대상과 조건을 해석한 뒤에도,</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업무 선택·처리·결과 전달까지 이어짐</a:t>
            </a:r>
          </a:p>
        </p:txBody>
      </p:sp>
      <p:sp>
        <p:nvSpPr>
          <p:cNvPr id="25" name="r3-144">
            <a:extLst xmlns:a="http://schemas.openxmlformats.org/drawingml/2006/main">
              <a:ext uri="{FF2B5EF4-FFF2-40B4-BE49-F238E27FC236}">
                <a16:creationId xmlns:a16="http://schemas.microsoft.com/office/drawing/2014/main" id="{BEE38B0C-4744-4D93-874C-3CA876475806}"/>
              </a:ext>
            </a:extLst>
          </p:cNvPr>
          <p:cNvSpPr>
            <a:spLocks xmlns:a="http://schemas.openxmlformats.org/drawingml/2006/main" noGrp="1"/>
          </p:cNvSpPr>
          <p:nvPr/>
        </p:nvSpPr>
        <p:spPr>
          <a:xfrm xmlns:a="http://schemas.openxmlformats.org/drawingml/2006/main">
            <a:off x="457200" y="2790825"/>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요청 해석</a:t>
            </a:r>
          </a:p>
        </p:txBody>
      </p:sp>
      <p:sp>
        <p:nvSpPr>
          <p:cNvPr id="26" name="r3-145">
            <a:extLst xmlns:a="http://schemas.openxmlformats.org/drawingml/2006/main">
              <a:ext uri="{FF2B5EF4-FFF2-40B4-BE49-F238E27FC236}">
                <a16:creationId xmlns:a16="http://schemas.microsoft.com/office/drawing/2014/main" id="{6687E837-F64C-4E01-ACFC-EF0C769029FB}"/>
              </a:ext>
            </a:extLst>
          </p:cNvPr>
          <p:cNvSpPr>
            <a:spLocks xmlns:a="http://schemas.openxmlformats.org/drawingml/2006/main" noGrp="1"/>
          </p:cNvSpPr>
          <p:nvPr/>
        </p:nvSpPr>
        <p:spPr>
          <a:xfrm xmlns:a="http://schemas.openxmlformats.org/drawingml/2006/main">
            <a:off x="457200" y="30861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목표·대상·조건, 기존 업무와의 관계</a:t>
            </a:r>
          </a:p>
        </p:txBody>
      </p:sp>
      <p:sp>
        <p:nvSpPr>
          <p:cNvPr id="27" name="line-146">
            <a:extLst xmlns:a="http://schemas.openxmlformats.org/drawingml/2006/main">
              <a:ext uri="{FF2B5EF4-FFF2-40B4-BE49-F238E27FC236}">
                <a16:creationId xmlns:a16="http://schemas.microsoft.com/office/drawing/2014/main" id="{92E502DD-1AB8-45CF-8D06-CEB7A7ED6E08}"/>
              </a:ext>
            </a:extLst>
          </p:cNvPr>
          <p:cNvSpPr>
            <a:spLocks xmlns:a="http://schemas.openxmlformats.org/drawingml/2006/main" noGrp="1"/>
          </p:cNvSpPr>
          <p:nvPr/>
        </p:nvSpPr>
        <p:spPr>
          <a:xfrm xmlns:a="http://schemas.openxmlformats.org/drawingml/2006/main" flipH="0">
            <a:off x="457200" y="340995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8" name="r3-147">
            <a:extLst xmlns:a="http://schemas.openxmlformats.org/drawingml/2006/main">
              <a:ext uri="{FF2B5EF4-FFF2-40B4-BE49-F238E27FC236}">
                <a16:creationId xmlns:a16="http://schemas.microsoft.com/office/drawing/2014/main" id="{5F082292-0130-4771-B033-81EA0EAA910A}"/>
              </a:ext>
            </a:extLst>
          </p:cNvPr>
          <p:cNvSpPr>
            <a:spLocks xmlns:a="http://schemas.openxmlformats.org/drawingml/2006/main" noGrp="1"/>
          </p:cNvSpPr>
          <p:nvPr/>
        </p:nvSpPr>
        <p:spPr>
          <a:xfrm xmlns:a="http://schemas.openxmlformats.org/drawingml/2006/main">
            <a:off x="457200" y="3457575"/>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처리 판단</a:t>
            </a:r>
          </a:p>
        </p:txBody>
      </p:sp>
      <p:sp>
        <p:nvSpPr>
          <p:cNvPr id="29" name="r3-148">
            <a:extLst xmlns:a="http://schemas.openxmlformats.org/drawingml/2006/main">
              <a:ext uri="{FF2B5EF4-FFF2-40B4-BE49-F238E27FC236}">
                <a16:creationId xmlns:a16="http://schemas.microsoft.com/office/drawing/2014/main" id="{8084C97F-59C6-4E17-8EB3-687D46209978}"/>
              </a:ext>
            </a:extLst>
          </p:cNvPr>
          <p:cNvSpPr>
            <a:spLocks xmlns:a="http://schemas.openxmlformats.org/drawingml/2006/main" noGrp="1"/>
          </p:cNvSpPr>
          <p:nvPr/>
        </p:nvSpPr>
        <p:spPr>
          <a:xfrm xmlns:a="http://schemas.openxmlformats.org/drawingml/2006/main">
            <a:off x="457200" y="375285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직접 응답·위임·담당 AI·확인 질문</a:t>
            </a:r>
          </a:p>
        </p:txBody>
      </p:sp>
      <p:sp>
        <p:nvSpPr>
          <p:cNvPr id="30" name="line-149">
            <a:extLst xmlns:a="http://schemas.openxmlformats.org/drawingml/2006/main">
              <a:ext uri="{FF2B5EF4-FFF2-40B4-BE49-F238E27FC236}">
                <a16:creationId xmlns:a16="http://schemas.microsoft.com/office/drawing/2014/main" id="{BA3335C0-A81A-4002-A63C-2AEBEC539458}"/>
              </a:ext>
            </a:extLst>
          </p:cNvPr>
          <p:cNvSpPr>
            <a:spLocks xmlns:a="http://schemas.openxmlformats.org/drawingml/2006/main" noGrp="1"/>
          </p:cNvSpPr>
          <p:nvPr/>
        </p:nvSpPr>
        <p:spPr>
          <a:xfrm xmlns:a="http://schemas.openxmlformats.org/drawingml/2006/main" flipH="0">
            <a:off x="457200" y="407670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1" name="r3-150">
            <a:extLst xmlns:a="http://schemas.openxmlformats.org/drawingml/2006/main">
              <a:ext uri="{FF2B5EF4-FFF2-40B4-BE49-F238E27FC236}">
                <a16:creationId xmlns:a16="http://schemas.microsoft.com/office/drawing/2014/main" id="{7142C83C-29C0-401D-9E21-DC39AE0697FF}"/>
              </a:ext>
            </a:extLst>
          </p:cNvPr>
          <p:cNvSpPr>
            <a:spLocks xmlns:a="http://schemas.openxmlformats.org/drawingml/2006/main" noGrp="1"/>
          </p:cNvSpPr>
          <p:nvPr/>
        </p:nvSpPr>
        <p:spPr>
          <a:xfrm xmlns:a="http://schemas.openxmlformats.org/drawingml/2006/main">
            <a:off x="457200" y="4124325"/>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상태·결과 전달</a:t>
            </a:r>
          </a:p>
        </p:txBody>
      </p:sp>
      <p:sp>
        <p:nvSpPr>
          <p:cNvPr id="32" name="r3-151">
            <a:extLst xmlns:a="http://schemas.openxmlformats.org/drawingml/2006/main">
              <a:ext uri="{FF2B5EF4-FFF2-40B4-BE49-F238E27FC236}">
                <a16:creationId xmlns:a16="http://schemas.microsoft.com/office/drawing/2014/main" id="{78900BDD-E5E9-482F-8C72-06A8FEF9AB93}"/>
              </a:ext>
            </a:extLst>
          </p:cNvPr>
          <p:cNvSpPr>
            <a:spLocks xmlns:a="http://schemas.openxmlformats.org/drawingml/2006/main" noGrp="1"/>
          </p:cNvSpPr>
          <p:nvPr/>
        </p:nvSpPr>
        <p:spPr>
          <a:xfrm xmlns:a="http://schemas.openxmlformats.org/drawingml/2006/main">
            <a:off x="457200" y="44196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진행·막힘·부분 완료·결과 버전</a:t>
            </a:r>
          </a:p>
        </p:txBody>
      </p:sp>
      <p:sp>
        <p:nvSpPr>
          <p:cNvPr id="33" name="line-152">
            <a:extLst xmlns:a="http://schemas.openxmlformats.org/drawingml/2006/main">
              <a:ext uri="{FF2B5EF4-FFF2-40B4-BE49-F238E27FC236}">
                <a16:creationId xmlns:a16="http://schemas.microsoft.com/office/drawing/2014/main" id="{C477A3E0-1F41-45CA-855B-1423626C6479}"/>
              </a:ext>
            </a:extLst>
          </p:cNvPr>
          <p:cNvSpPr>
            <a:spLocks xmlns:a="http://schemas.openxmlformats.org/drawingml/2006/main" noGrp="1"/>
          </p:cNvSpPr>
          <p:nvPr/>
        </p:nvSpPr>
        <p:spPr>
          <a:xfrm xmlns:a="http://schemas.openxmlformats.org/drawingml/2006/main" flipH="0">
            <a:off x="3905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4" name="r3-153">
            <a:extLst xmlns:a="http://schemas.openxmlformats.org/drawingml/2006/main">
              <a:ext uri="{FF2B5EF4-FFF2-40B4-BE49-F238E27FC236}">
                <a16:creationId xmlns:a16="http://schemas.microsoft.com/office/drawing/2014/main" id="{B1EA856C-432C-4548-B986-972584DE0359}"/>
              </a:ext>
            </a:extLst>
          </p:cNvPr>
          <p:cNvSpPr>
            <a:spLocks xmlns:a="http://schemas.openxmlformats.org/drawingml/2006/main" noGrp="1"/>
          </p:cNvSpPr>
          <p:nvPr/>
        </p:nvSpPr>
        <p:spPr>
          <a:xfrm xmlns:a="http://schemas.openxmlformats.org/drawingml/2006/main">
            <a:off x="3048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154">
            <a:extLst xmlns:a="http://schemas.openxmlformats.org/drawingml/2006/main">
              <a:ext uri="{FF2B5EF4-FFF2-40B4-BE49-F238E27FC236}">
                <a16:creationId xmlns:a16="http://schemas.microsoft.com/office/drawing/2014/main" id="{DF43D1AE-BCA8-42D2-9278-EB566BBD1CE9}"/>
              </a:ext>
            </a:extLst>
          </p:cNvPr>
          <p:cNvSpPr>
            <a:spLocks xmlns:a="http://schemas.openxmlformats.org/drawingml/2006/main" noGrp="1"/>
          </p:cNvSpPr>
          <p:nvPr/>
        </p:nvSpPr>
        <p:spPr>
          <a:xfrm xmlns:a="http://schemas.openxmlformats.org/drawingml/2006/main">
            <a:off x="4572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잘못된 판단이 잘못된 처리로 이어짐</a:t>
            </a:r>
          </a:p>
        </p:txBody>
      </p:sp>
      <p:sp>
        <p:nvSpPr>
          <p:cNvPr id="36" name="r3-155">
            <a:extLst xmlns:a="http://schemas.openxmlformats.org/drawingml/2006/main">
              <a:ext uri="{FF2B5EF4-FFF2-40B4-BE49-F238E27FC236}">
                <a16:creationId xmlns:a16="http://schemas.microsoft.com/office/drawing/2014/main" id="{61EA0E52-A9DD-4990-8EE2-7B51830C1E33}"/>
              </a:ext>
            </a:extLst>
          </p:cNvPr>
          <p:cNvSpPr>
            <a:spLocks xmlns:a="http://schemas.openxmlformats.org/drawingml/2006/main" noGrp="1"/>
          </p:cNvSpPr>
          <p:nvPr/>
        </p:nvSpPr>
        <p:spPr>
          <a:xfrm xmlns:a="http://schemas.openxmlformats.org/drawingml/2006/main">
            <a:off x="457200" y="5381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다른 업무를 수정하거나,</a:t>
            </a:r>
          </a:p>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일부만 끝났는데 모두 완료로 알릴 수 있음</a:t>
            </a:r>
          </a:p>
        </p:txBody>
      </p:sp>
      <p:sp>
        <p:nvSpPr>
          <p:cNvPr id="37" name="r3-156">
            <a:extLst xmlns:a="http://schemas.openxmlformats.org/drawingml/2006/main">
              <a:ext uri="{FF2B5EF4-FFF2-40B4-BE49-F238E27FC236}">
                <a16:creationId xmlns:a16="http://schemas.microsoft.com/office/drawing/2014/main" id="{15134FFF-B2A4-40A9-95B5-B9F1CB6A8BA5}"/>
              </a:ext>
            </a:extLst>
          </p:cNvPr>
          <p:cNvSpPr>
            <a:spLocks xmlns:a="http://schemas.openxmlformats.org/drawingml/2006/main" noGrp="1"/>
          </p:cNvSpPr>
          <p:nvPr/>
        </p:nvSpPr>
        <p:spPr>
          <a:xfrm xmlns:a="http://schemas.openxmlformats.org/drawingml/2006/main">
            <a:off x="447675"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38" name="r3-157">
            <a:extLst xmlns:a="http://schemas.openxmlformats.org/drawingml/2006/main">
              <a:ext uri="{FF2B5EF4-FFF2-40B4-BE49-F238E27FC236}">
                <a16:creationId xmlns:a16="http://schemas.microsoft.com/office/drawing/2014/main" id="{21851EBE-1717-45DF-B005-5687683C4818}"/>
              </a:ext>
            </a:extLst>
          </p:cNvPr>
          <p:cNvSpPr>
            <a:spLocks xmlns:a="http://schemas.openxmlformats.org/drawingml/2006/main" noGrp="1"/>
          </p:cNvSpPr>
          <p:nvPr/>
        </p:nvSpPr>
        <p:spPr>
          <a:xfrm xmlns:a="http://schemas.openxmlformats.org/drawingml/2006/main">
            <a:off x="447675"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요청·처리·전달 전 과정의 의미 보존</a:t>
            </a:r>
          </a:p>
        </p:txBody>
      </p:sp>
      <p:sp>
        <p:nvSpPr>
          <p:cNvPr id="39" name="r3-158">
            <a:extLst xmlns:a="http://schemas.openxmlformats.org/drawingml/2006/main">
              <a:ext uri="{FF2B5EF4-FFF2-40B4-BE49-F238E27FC236}">
                <a16:creationId xmlns:a16="http://schemas.microsoft.com/office/drawing/2014/main" id="{5A70D3C6-38D9-4713-9864-A05E40CC82D1}"/>
              </a:ext>
            </a:extLst>
          </p:cNvPr>
          <p:cNvSpPr>
            <a:spLocks xmlns:a="http://schemas.openxmlformats.org/drawingml/2006/main" noGrp="1"/>
          </p:cNvSpPr>
          <p:nvPr/>
        </p:nvSpPr>
        <p:spPr>
          <a:xfrm xmlns:a="http://schemas.openxmlformats.org/drawingml/2006/main">
            <a:off x="436245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0" name="r3-159">
            <a:extLst xmlns:a="http://schemas.openxmlformats.org/drawingml/2006/main">
              <a:ext uri="{FF2B5EF4-FFF2-40B4-BE49-F238E27FC236}">
                <a16:creationId xmlns:a16="http://schemas.microsoft.com/office/drawing/2014/main" id="{0EF7DAB9-F635-4857-BDB5-2CED6BC95C01}"/>
              </a:ext>
            </a:extLst>
          </p:cNvPr>
          <p:cNvSpPr>
            <a:spLocks xmlns:a="http://schemas.openxmlformats.org/drawingml/2006/main" noGrp="1"/>
          </p:cNvSpPr>
          <p:nvPr/>
        </p:nvSpPr>
        <p:spPr>
          <a:xfrm xmlns:a="http://schemas.openxmlformats.org/drawingml/2006/main">
            <a:off x="451485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업무 앞뒤의 처리도 사용자 대기</a:t>
            </a:r>
          </a:p>
        </p:txBody>
      </p:sp>
      <p:sp>
        <p:nvSpPr>
          <p:cNvPr id="41" name="r3-160">
            <a:extLst xmlns:a="http://schemas.openxmlformats.org/drawingml/2006/main">
              <a:ext uri="{FF2B5EF4-FFF2-40B4-BE49-F238E27FC236}">
                <a16:creationId xmlns:a16="http://schemas.microsoft.com/office/drawing/2014/main" id="{FD47497E-71A4-43C3-89A0-CF1496E1B79A}"/>
              </a:ext>
            </a:extLst>
          </p:cNvPr>
          <p:cNvSpPr>
            <a:spLocks xmlns:a="http://schemas.openxmlformats.org/drawingml/2006/main" noGrp="1"/>
          </p:cNvSpPr>
          <p:nvPr/>
        </p:nvSpPr>
        <p:spPr>
          <a:xfrm xmlns:a="http://schemas.openxmlformats.org/drawingml/2006/main">
            <a:off x="450532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요청을 이해하고 맡기는 시간과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준비된 결과를 사용자에게 전하는 시간</a:t>
            </a:r>
          </a:p>
        </p:txBody>
      </p:sp>
      <p:sp>
        <p:nvSpPr>
          <p:cNvPr id="42" name="r3-161">
            <a:extLst xmlns:a="http://schemas.openxmlformats.org/drawingml/2006/main">
              <a:ext uri="{FF2B5EF4-FFF2-40B4-BE49-F238E27FC236}">
                <a16:creationId xmlns:a16="http://schemas.microsoft.com/office/drawing/2014/main" id="{DE4B8A63-14D7-457B-B254-78B691C1BFA2}"/>
              </a:ext>
            </a:extLst>
          </p:cNvPr>
          <p:cNvSpPr>
            <a:spLocks xmlns:a="http://schemas.openxmlformats.org/drawingml/2006/main" noGrp="1"/>
          </p:cNvSpPr>
          <p:nvPr/>
        </p:nvSpPr>
        <p:spPr>
          <a:xfrm xmlns:a="http://schemas.openxmlformats.org/drawingml/2006/main">
            <a:off x="4524375" y="2752725"/>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요청 종료</a:t>
            </a:r>
          </a:p>
        </p:txBody>
      </p:sp>
      <p:sp>
        <p:nvSpPr>
          <p:cNvPr id="43" name="r3-162">
            <a:extLst xmlns:a="http://schemas.openxmlformats.org/drawingml/2006/main">
              <a:ext uri="{FF2B5EF4-FFF2-40B4-BE49-F238E27FC236}">
                <a16:creationId xmlns:a16="http://schemas.microsoft.com/office/drawing/2014/main" id="{627C0C5E-ED2D-421C-83E1-096F6AC0E5F7}"/>
              </a:ext>
            </a:extLst>
          </p:cNvPr>
          <p:cNvSpPr>
            <a:spLocks xmlns:a="http://schemas.openxmlformats.org/drawingml/2006/main" noGrp="1"/>
          </p:cNvSpPr>
          <p:nvPr/>
        </p:nvSpPr>
        <p:spPr>
          <a:xfrm xmlns:a="http://schemas.openxmlformats.org/drawingml/2006/main">
            <a:off x="6210300" y="275272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의미 있는 결과 전달</a:t>
            </a:r>
          </a:p>
        </p:txBody>
      </p:sp>
      <p:sp>
        <p:nvSpPr>
          <p:cNvPr id="44" name="r3-163">
            <a:extLst xmlns:a="http://schemas.openxmlformats.org/drawingml/2006/main">
              <a:ext uri="{FF2B5EF4-FFF2-40B4-BE49-F238E27FC236}">
                <a16:creationId xmlns:a16="http://schemas.microsoft.com/office/drawing/2014/main" id="{630B6B84-551B-4640-8DB2-B1AC7A1726F6}"/>
              </a:ext>
            </a:extLst>
          </p:cNvPr>
          <p:cNvSpPr>
            <a:spLocks xmlns:a="http://schemas.openxmlformats.org/drawingml/2006/main" noGrp="1"/>
          </p:cNvSpPr>
          <p:nvPr/>
        </p:nvSpPr>
        <p:spPr>
          <a:xfrm xmlns:a="http://schemas.openxmlformats.org/drawingml/2006/main">
            <a:off x="45529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5" name="r3-164">
            <a:extLst xmlns:a="http://schemas.openxmlformats.org/drawingml/2006/main">
              <a:ext uri="{FF2B5EF4-FFF2-40B4-BE49-F238E27FC236}">
                <a16:creationId xmlns:a16="http://schemas.microsoft.com/office/drawing/2014/main" id="{33E93DB9-F11E-4271-B2AC-08F70D8A3115}"/>
              </a:ext>
            </a:extLst>
          </p:cNvPr>
          <p:cNvSpPr>
            <a:spLocks xmlns:a="http://schemas.openxmlformats.org/drawingml/2006/main" noGrp="1"/>
          </p:cNvSpPr>
          <p:nvPr/>
        </p:nvSpPr>
        <p:spPr>
          <a:xfrm xmlns:a="http://schemas.openxmlformats.org/drawingml/2006/main">
            <a:off x="5676900" y="3248025"/>
            <a:ext cx="962025" cy="276225"/>
          </a:xfrm>
          <a:prstGeom xmlns:a="http://schemas.openxmlformats.org/drawingml/2006/main" prst="rect">
            <a:avLst/>
          </a:prstGeom>
          <a:solidFill xmlns:a="http://schemas.openxmlformats.org/drawingml/2006/main">
            <a:srgbClr val="E8EAED"/>
          </a:solidFill>
          <a:ln xmlns:a="http://schemas.openxmlformats.org/drawingml/2006/main" w="0">
            <a:noFill/>
          </a:ln>
        </p:spPr>
      </p:sp>
      <p:sp>
        <p:nvSpPr>
          <p:cNvPr id="46" name="r3-165">
            <a:extLst xmlns:a="http://schemas.openxmlformats.org/drawingml/2006/main">
              <a:ext uri="{FF2B5EF4-FFF2-40B4-BE49-F238E27FC236}">
                <a16:creationId xmlns:a16="http://schemas.microsoft.com/office/drawing/2014/main" id="{9753D630-2971-4736-BCFE-94DC6B248619}"/>
              </a:ext>
            </a:extLst>
          </p:cNvPr>
          <p:cNvSpPr>
            <a:spLocks xmlns:a="http://schemas.openxmlformats.org/drawingml/2006/main" noGrp="1"/>
          </p:cNvSpPr>
          <p:nvPr/>
        </p:nvSpPr>
        <p:spPr>
          <a:xfrm xmlns:a="http://schemas.openxmlformats.org/drawingml/2006/main">
            <a:off x="68008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7" name="line-166">
            <a:extLst xmlns:a="http://schemas.openxmlformats.org/drawingml/2006/main">
              <a:ext uri="{FF2B5EF4-FFF2-40B4-BE49-F238E27FC236}">
                <a16:creationId xmlns:a16="http://schemas.microsoft.com/office/drawing/2014/main" id="{7589C6EC-5C54-4D8A-A8C6-BC04933EEF91}"/>
              </a:ext>
            </a:extLst>
          </p:cNvPr>
          <p:cNvSpPr>
            <a:spLocks xmlns:a="http://schemas.openxmlformats.org/drawingml/2006/main" noGrp="1"/>
          </p:cNvSpPr>
          <p:nvPr/>
        </p:nvSpPr>
        <p:spPr>
          <a:xfrm xmlns:a="http://schemas.openxmlformats.org/drawingml/2006/main" flipH="0">
            <a:off x="553402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8" name="line-167">
            <a:extLst xmlns:a="http://schemas.openxmlformats.org/drawingml/2006/main">
              <a:ext uri="{FF2B5EF4-FFF2-40B4-BE49-F238E27FC236}">
                <a16:creationId xmlns:a16="http://schemas.microsoft.com/office/drawing/2014/main" id="{4B250FDD-8326-475F-A886-545656BD0AD9}"/>
              </a:ext>
            </a:extLst>
          </p:cNvPr>
          <p:cNvSpPr>
            <a:spLocks xmlns:a="http://schemas.openxmlformats.org/drawingml/2006/main" noGrp="1"/>
          </p:cNvSpPr>
          <p:nvPr/>
        </p:nvSpPr>
        <p:spPr>
          <a:xfrm xmlns:a="http://schemas.openxmlformats.org/drawingml/2006/main" flipH="0">
            <a:off x="559117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68">
            <a:extLst xmlns:a="http://schemas.openxmlformats.org/drawingml/2006/main">
              <a:ext uri="{FF2B5EF4-FFF2-40B4-BE49-F238E27FC236}">
                <a16:creationId xmlns:a16="http://schemas.microsoft.com/office/drawing/2014/main" id="{8EF30304-FCDF-4971-879B-F9B8639980A0}"/>
              </a:ext>
            </a:extLst>
          </p:cNvPr>
          <p:cNvSpPr>
            <a:spLocks xmlns:a="http://schemas.openxmlformats.org/drawingml/2006/main" noGrp="1"/>
          </p:cNvSpPr>
          <p:nvPr/>
        </p:nvSpPr>
        <p:spPr>
          <a:xfrm xmlns:a="http://schemas.openxmlformats.org/drawingml/2006/main" flipH="1">
            <a:off x="559117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69">
            <a:extLst xmlns:a="http://schemas.openxmlformats.org/drawingml/2006/main">
              <a:ext uri="{FF2B5EF4-FFF2-40B4-BE49-F238E27FC236}">
                <a16:creationId xmlns:a16="http://schemas.microsoft.com/office/drawing/2014/main" id="{5BD07756-A783-42B8-BC66-EE9FBF795F9B}"/>
              </a:ext>
            </a:extLst>
          </p:cNvPr>
          <p:cNvSpPr>
            <a:spLocks xmlns:a="http://schemas.openxmlformats.org/drawingml/2006/main" noGrp="1"/>
          </p:cNvSpPr>
          <p:nvPr/>
        </p:nvSpPr>
        <p:spPr>
          <a:xfrm xmlns:a="http://schemas.openxmlformats.org/drawingml/2006/main" flipH="0">
            <a:off x="665797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170">
            <a:extLst xmlns:a="http://schemas.openxmlformats.org/drawingml/2006/main">
              <a:ext uri="{FF2B5EF4-FFF2-40B4-BE49-F238E27FC236}">
                <a16:creationId xmlns:a16="http://schemas.microsoft.com/office/drawing/2014/main" id="{83B9C4D0-6FB9-4C50-A15A-42808F70ADA6}"/>
              </a:ext>
            </a:extLst>
          </p:cNvPr>
          <p:cNvSpPr>
            <a:spLocks xmlns:a="http://schemas.openxmlformats.org/drawingml/2006/main" noGrp="1"/>
          </p:cNvSpPr>
          <p:nvPr/>
        </p:nvSpPr>
        <p:spPr>
          <a:xfrm xmlns:a="http://schemas.openxmlformats.org/drawingml/2006/main" flipH="0">
            <a:off x="671512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line-171">
            <a:extLst xmlns:a="http://schemas.openxmlformats.org/drawingml/2006/main">
              <a:ext uri="{FF2B5EF4-FFF2-40B4-BE49-F238E27FC236}">
                <a16:creationId xmlns:a16="http://schemas.microsoft.com/office/drawing/2014/main" id="{A996C31E-1B3F-4FAD-9DBD-729ACD74D6EB}"/>
              </a:ext>
            </a:extLst>
          </p:cNvPr>
          <p:cNvSpPr>
            <a:spLocks xmlns:a="http://schemas.openxmlformats.org/drawingml/2006/main" noGrp="1"/>
          </p:cNvSpPr>
          <p:nvPr/>
        </p:nvSpPr>
        <p:spPr>
          <a:xfrm xmlns:a="http://schemas.openxmlformats.org/drawingml/2006/main" flipH="1">
            <a:off x="671512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3" name="r3-172">
            <a:extLst xmlns:a="http://schemas.openxmlformats.org/drawingml/2006/main">
              <a:ext uri="{FF2B5EF4-FFF2-40B4-BE49-F238E27FC236}">
                <a16:creationId xmlns:a16="http://schemas.microsoft.com/office/drawing/2014/main" id="{A1C0144D-E380-4DDF-B81B-8F32B07EFB7B}"/>
              </a:ext>
            </a:extLst>
          </p:cNvPr>
          <p:cNvSpPr>
            <a:spLocks xmlns:a="http://schemas.openxmlformats.org/drawingml/2006/main" noGrp="1"/>
          </p:cNvSpPr>
          <p:nvPr/>
        </p:nvSpPr>
        <p:spPr>
          <a:xfrm xmlns:a="http://schemas.openxmlformats.org/drawingml/2006/main">
            <a:off x="45529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4" name="r3-173">
            <a:extLst xmlns:a="http://schemas.openxmlformats.org/drawingml/2006/main">
              <a:ext uri="{FF2B5EF4-FFF2-40B4-BE49-F238E27FC236}">
                <a16:creationId xmlns:a16="http://schemas.microsoft.com/office/drawing/2014/main" id="{AA605215-51DA-4750-9283-624DED791920}"/>
              </a:ext>
            </a:extLst>
          </p:cNvPr>
          <p:cNvSpPr>
            <a:spLocks xmlns:a="http://schemas.openxmlformats.org/drawingml/2006/main" noGrp="1"/>
          </p:cNvSpPr>
          <p:nvPr/>
        </p:nvSpPr>
        <p:spPr>
          <a:xfrm xmlns:a="http://schemas.openxmlformats.org/drawingml/2006/main">
            <a:off x="567690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57079"/>
                </a:solidFill>
                <a:latin typeface="Apple SD Gothic Neo"/>
                <a:ea typeface="Apple SD Gothic Neo"/>
                <a:cs typeface="Apple SD Gothic Neo"/>
              </a:defRPr>
            </a:pPr>
            <a:r>
              <a:rPr sz="1500" b="1">
                <a:solidFill>
                  <a:srgbClr val="657079"/>
                </a:solidFill>
                <a:latin typeface="Apple SD Gothic Neo"/>
                <a:ea typeface="Apple SD Gothic Neo"/>
                <a:cs typeface="Apple SD Gothic Neo"/>
              </a:rPr>
              <a:t>업무 AI</a:t>
            </a:r>
          </a:p>
        </p:txBody>
      </p:sp>
      <p:sp>
        <p:nvSpPr>
          <p:cNvPr id="55" name="r3-174">
            <a:extLst xmlns:a="http://schemas.openxmlformats.org/drawingml/2006/main">
              <a:ext uri="{FF2B5EF4-FFF2-40B4-BE49-F238E27FC236}">
                <a16:creationId xmlns:a16="http://schemas.microsoft.com/office/drawing/2014/main" id="{5C534C96-ED87-44D3-A227-8AD67511ECC8}"/>
              </a:ext>
            </a:extLst>
          </p:cNvPr>
          <p:cNvSpPr>
            <a:spLocks xmlns:a="http://schemas.openxmlformats.org/drawingml/2006/main" noGrp="1"/>
          </p:cNvSpPr>
          <p:nvPr/>
        </p:nvSpPr>
        <p:spPr>
          <a:xfrm xmlns:a="http://schemas.openxmlformats.org/drawingml/2006/main">
            <a:off x="68008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6" name="r3-175">
            <a:extLst xmlns:a="http://schemas.openxmlformats.org/drawingml/2006/main">
              <a:ext uri="{FF2B5EF4-FFF2-40B4-BE49-F238E27FC236}">
                <a16:creationId xmlns:a16="http://schemas.microsoft.com/office/drawing/2014/main" id="{2B382D26-E0A8-49E7-8CE2-39DB2E0D8630}"/>
              </a:ext>
            </a:extLst>
          </p:cNvPr>
          <p:cNvSpPr>
            <a:spLocks xmlns:a="http://schemas.openxmlformats.org/drawingml/2006/main" noGrp="1"/>
          </p:cNvSpPr>
          <p:nvPr/>
        </p:nvSpPr>
        <p:spPr>
          <a:xfrm xmlns:a="http://schemas.openxmlformats.org/drawingml/2006/main">
            <a:off x="450532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22445"/>
                </a:solidFill>
                <a:latin typeface="Apple SD Gothic Neo"/>
                <a:ea typeface="Apple SD Gothic Neo"/>
                <a:cs typeface="Apple SD Gothic Neo"/>
              </a:defRPr>
            </a:pPr>
            <a:r>
              <a:rPr sz="1350" b="1">
                <a:solidFill>
                  <a:srgbClr val="122445"/>
                </a:solidFill>
                <a:latin typeface="Apple SD Gothic Neo"/>
                <a:ea typeface="Apple SD Gothic Neo"/>
                <a:cs typeface="Apple SD Gothic Neo"/>
              </a:rPr>
              <a:t>해석·위임</a:t>
            </a:r>
          </a:p>
        </p:txBody>
      </p:sp>
      <p:sp>
        <p:nvSpPr>
          <p:cNvPr id="57" name="r3-176">
            <a:extLst xmlns:a="http://schemas.openxmlformats.org/drawingml/2006/main">
              <a:ext uri="{FF2B5EF4-FFF2-40B4-BE49-F238E27FC236}">
                <a16:creationId xmlns:a16="http://schemas.microsoft.com/office/drawing/2014/main" id="{E69A32FB-5921-40B9-8656-37F2F3D2BDB4}"/>
              </a:ext>
            </a:extLst>
          </p:cNvPr>
          <p:cNvSpPr>
            <a:spLocks xmlns:a="http://schemas.openxmlformats.org/drawingml/2006/main" noGrp="1"/>
          </p:cNvSpPr>
          <p:nvPr/>
        </p:nvSpPr>
        <p:spPr>
          <a:xfrm xmlns:a="http://schemas.openxmlformats.org/drawingml/2006/main">
            <a:off x="562927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업무 실행</a:t>
            </a:r>
          </a:p>
        </p:txBody>
      </p:sp>
      <p:sp>
        <p:nvSpPr>
          <p:cNvPr id="58" name="r3-177">
            <a:extLst xmlns:a="http://schemas.openxmlformats.org/drawingml/2006/main">
              <a:ext uri="{FF2B5EF4-FFF2-40B4-BE49-F238E27FC236}">
                <a16:creationId xmlns:a16="http://schemas.microsoft.com/office/drawing/2014/main" id="{E190BDA5-745F-49E1-B333-8480F97B4BC7}"/>
              </a:ext>
            </a:extLst>
          </p:cNvPr>
          <p:cNvSpPr>
            <a:spLocks xmlns:a="http://schemas.openxmlformats.org/drawingml/2006/main" noGrp="1"/>
          </p:cNvSpPr>
          <p:nvPr/>
        </p:nvSpPr>
        <p:spPr>
          <a:xfrm xmlns:a="http://schemas.openxmlformats.org/drawingml/2006/main">
            <a:off x="6724650" y="3590925"/>
            <a:ext cx="1114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1">
                <a:solidFill>
                  <a:srgbClr val="122445"/>
                </a:solidFill>
                <a:latin typeface="Apple SD Gothic Neo"/>
                <a:ea typeface="Apple SD Gothic Neo"/>
                <a:cs typeface="Apple SD Gothic Neo"/>
              </a:defRPr>
            </a:pPr>
            <a:r>
              <a:rPr sz="1238" b="1">
                <a:solidFill>
                  <a:srgbClr val="122445"/>
                </a:solidFill>
                <a:latin typeface="Apple SD Gothic Neo"/>
                <a:ea typeface="Apple SD Gothic Neo"/>
                <a:cs typeface="Apple SD Gothic Neo"/>
              </a:rPr>
              <a:t>결과·음성 전달</a:t>
            </a:r>
          </a:p>
        </p:txBody>
      </p:sp>
      <p:sp>
        <p:nvSpPr>
          <p:cNvPr id="59" name="line-178">
            <a:extLst xmlns:a="http://schemas.openxmlformats.org/drawingml/2006/main">
              <a:ext uri="{FF2B5EF4-FFF2-40B4-BE49-F238E27FC236}">
                <a16:creationId xmlns:a16="http://schemas.microsoft.com/office/drawing/2014/main" id="{979D4DC3-21A6-4276-A946-1424020704F0}"/>
              </a:ext>
            </a:extLst>
          </p:cNvPr>
          <p:cNvSpPr>
            <a:spLocks xmlns:a="http://schemas.openxmlformats.org/drawingml/2006/main" noGrp="1"/>
          </p:cNvSpPr>
          <p:nvPr/>
        </p:nvSpPr>
        <p:spPr>
          <a:xfrm xmlns:a="http://schemas.openxmlformats.org/drawingml/2006/main" flipH="0">
            <a:off x="45815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0" name="line-179">
            <a:extLst xmlns:a="http://schemas.openxmlformats.org/drawingml/2006/main">
              <a:ext uri="{FF2B5EF4-FFF2-40B4-BE49-F238E27FC236}">
                <a16:creationId xmlns:a16="http://schemas.microsoft.com/office/drawing/2014/main" id="{A799653F-C33D-4DC7-9878-2109B8D299F1}"/>
              </a:ext>
            </a:extLst>
          </p:cNvPr>
          <p:cNvSpPr>
            <a:spLocks xmlns:a="http://schemas.openxmlformats.org/drawingml/2006/main" noGrp="1"/>
          </p:cNvSpPr>
          <p:nvPr/>
        </p:nvSpPr>
        <p:spPr>
          <a:xfrm xmlns:a="http://schemas.openxmlformats.org/drawingml/2006/main" flipH="0">
            <a:off x="68294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1" name="r3-180">
            <a:extLst xmlns:a="http://schemas.openxmlformats.org/drawingml/2006/main">
              <a:ext uri="{FF2B5EF4-FFF2-40B4-BE49-F238E27FC236}">
                <a16:creationId xmlns:a16="http://schemas.microsoft.com/office/drawing/2014/main" id="{3AC64A1C-FDEB-463E-A30D-99D070013B2C}"/>
              </a:ext>
            </a:extLst>
          </p:cNvPr>
          <p:cNvSpPr>
            <a:spLocks xmlns:a="http://schemas.openxmlformats.org/drawingml/2006/main" noGrp="1"/>
          </p:cNvSpPr>
          <p:nvPr/>
        </p:nvSpPr>
        <p:spPr>
          <a:xfrm xmlns:a="http://schemas.openxmlformats.org/drawingml/2006/main">
            <a:off x="4514850" y="4067175"/>
            <a:ext cx="3295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두 VIA 구간의 처리시간을 줄임</a:t>
            </a:r>
          </a:p>
        </p:txBody>
      </p:sp>
      <p:sp>
        <p:nvSpPr>
          <p:cNvPr id="62" name="r3-181">
            <a:extLst xmlns:a="http://schemas.openxmlformats.org/drawingml/2006/main">
              <a:ext uri="{FF2B5EF4-FFF2-40B4-BE49-F238E27FC236}">
                <a16:creationId xmlns:a16="http://schemas.microsoft.com/office/drawing/2014/main" id="{E7B96364-29A3-49D7-9100-75E571B3C7BC}"/>
              </a:ext>
            </a:extLst>
          </p:cNvPr>
          <p:cNvSpPr>
            <a:spLocks xmlns:a="http://schemas.openxmlformats.org/drawingml/2006/main" noGrp="1"/>
          </p:cNvSpPr>
          <p:nvPr/>
        </p:nvSpPr>
        <p:spPr>
          <a:xfrm xmlns:a="http://schemas.openxmlformats.org/drawingml/2006/main">
            <a:off x="4495800" y="43910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657079"/>
                </a:solidFill>
                <a:latin typeface="Apple SD Gothic Neo"/>
                <a:ea typeface="Apple SD Gothic Neo"/>
                <a:cs typeface="Apple SD Gothic Neo"/>
              </a:defRPr>
            </a:pPr>
            <a:r>
              <a:rPr sz="1275" b="0">
                <a:solidFill>
                  <a:srgbClr val="657079"/>
                </a:solidFill>
                <a:latin typeface="Apple SD Gothic Neo"/>
                <a:ea typeface="Apple SD Gothic Neo"/>
                <a:cs typeface="Apple SD Gothic Neo"/>
              </a:rPr>
              <a:t>업무 AI 내부 실행시간은 별도</a:t>
            </a:r>
          </a:p>
        </p:txBody>
      </p:sp>
      <p:sp>
        <p:nvSpPr>
          <p:cNvPr id="63" name="line-182">
            <a:extLst xmlns:a="http://schemas.openxmlformats.org/drawingml/2006/main">
              <a:ext uri="{FF2B5EF4-FFF2-40B4-BE49-F238E27FC236}">
                <a16:creationId xmlns:a16="http://schemas.microsoft.com/office/drawing/2014/main" id="{226D20B2-34A5-4DD9-8AAE-9FAF9F20F978}"/>
              </a:ext>
            </a:extLst>
          </p:cNvPr>
          <p:cNvSpPr>
            <a:spLocks xmlns:a="http://schemas.openxmlformats.org/drawingml/2006/main" noGrp="1"/>
          </p:cNvSpPr>
          <p:nvPr/>
        </p:nvSpPr>
        <p:spPr>
          <a:xfrm xmlns:a="http://schemas.openxmlformats.org/drawingml/2006/main" flipH="0">
            <a:off x="444817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64" name="r3-183">
            <a:extLst xmlns:a="http://schemas.openxmlformats.org/drawingml/2006/main">
              <a:ext uri="{FF2B5EF4-FFF2-40B4-BE49-F238E27FC236}">
                <a16:creationId xmlns:a16="http://schemas.microsoft.com/office/drawing/2014/main" id="{93F2FDA2-14D3-410A-AE89-7AFDB37B103D}"/>
              </a:ext>
            </a:extLst>
          </p:cNvPr>
          <p:cNvSpPr>
            <a:spLocks xmlns:a="http://schemas.openxmlformats.org/drawingml/2006/main" noGrp="1"/>
          </p:cNvSpPr>
          <p:nvPr/>
        </p:nvSpPr>
        <p:spPr>
          <a:xfrm xmlns:a="http://schemas.openxmlformats.org/drawingml/2006/main">
            <a:off x="436245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65" name="r3-184">
            <a:extLst xmlns:a="http://schemas.openxmlformats.org/drawingml/2006/main">
              <a:ext uri="{FF2B5EF4-FFF2-40B4-BE49-F238E27FC236}">
                <a16:creationId xmlns:a16="http://schemas.microsoft.com/office/drawing/2014/main" id="{F1D81F97-A72A-4A20-82E9-BF885E6BC9CC}"/>
              </a:ext>
            </a:extLst>
          </p:cNvPr>
          <p:cNvSpPr>
            <a:spLocks xmlns:a="http://schemas.openxmlformats.org/drawingml/2006/main" noGrp="1"/>
          </p:cNvSpPr>
          <p:nvPr/>
        </p:nvSpPr>
        <p:spPr>
          <a:xfrm xmlns:a="http://schemas.openxmlformats.org/drawingml/2006/main">
            <a:off x="451485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매 요청마다 누적되는 내부 처리 비용</a:t>
            </a:r>
          </a:p>
        </p:txBody>
      </p:sp>
      <p:sp>
        <p:nvSpPr>
          <p:cNvPr id="66" name="r3-185">
            <a:extLst xmlns:a="http://schemas.openxmlformats.org/drawingml/2006/main">
              <a:ext uri="{FF2B5EF4-FFF2-40B4-BE49-F238E27FC236}">
                <a16:creationId xmlns:a16="http://schemas.microsoft.com/office/drawing/2014/main" id="{A3BF3CB2-9F81-4CDC-B90D-A064D58D9084}"/>
              </a:ext>
            </a:extLst>
          </p:cNvPr>
          <p:cNvSpPr>
            <a:spLocks xmlns:a="http://schemas.openxmlformats.org/drawingml/2006/main" noGrp="1"/>
          </p:cNvSpPr>
          <p:nvPr/>
        </p:nvSpPr>
        <p:spPr>
          <a:xfrm xmlns:a="http://schemas.openxmlformats.org/drawingml/2006/main">
            <a:off x="4505325" y="5381625"/>
            <a:ext cx="3400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근거 조회·추론·검증·음성 출력의 대기 최소화</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직접 답변·진행 안내·정정/취소에도 적용</a:t>
            </a:r>
          </a:p>
        </p:txBody>
      </p:sp>
      <p:sp>
        <p:nvSpPr>
          <p:cNvPr id="67" name="r3-186">
            <a:extLst xmlns:a="http://schemas.openxmlformats.org/drawingml/2006/main">
              <a:ext uri="{FF2B5EF4-FFF2-40B4-BE49-F238E27FC236}">
                <a16:creationId xmlns:a16="http://schemas.microsoft.com/office/drawing/2014/main" id="{42DC258B-6E02-4215-84A8-13254AF8FA2F}"/>
              </a:ext>
            </a:extLst>
          </p:cNvPr>
          <p:cNvSpPr>
            <a:spLocks xmlns:a="http://schemas.openxmlformats.org/drawingml/2006/main" noGrp="1"/>
          </p:cNvSpPr>
          <p:nvPr/>
        </p:nvSpPr>
        <p:spPr>
          <a:xfrm xmlns:a="http://schemas.openxmlformats.org/drawingml/2006/main">
            <a:off x="4495800" y="6286500"/>
            <a:ext cx="3390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8" name="r3-187">
            <a:extLst xmlns:a="http://schemas.openxmlformats.org/drawingml/2006/main">
              <a:ext uri="{FF2B5EF4-FFF2-40B4-BE49-F238E27FC236}">
                <a16:creationId xmlns:a16="http://schemas.microsoft.com/office/drawing/2014/main" id="{FC19AFEA-CF70-4EBB-B910-1EB87149AC69}"/>
              </a:ext>
            </a:extLst>
          </p:cNvPr>
          <p:cNvSpPr>
            <a:spLocks xmlns:a="http://schemas.openxmlformats.org/drawingml/2006/main" noGrp="1"/>
          </p:cNvSpPr>
          <p:nvPr/>
        </p:nvSpPr>
        <p:spPr>
          <a:xfrm xmlns:a="http://schemas.openxmlformats.org/drawingml/2006/main">
            <a:off x="4495800" y="6115050"/>
            <a:ext cx="339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63" b="1">
                <a:solidFill>
                  <a:srgbClr val="20262C"/>
                </a:solidFill>
                <a:latin typeface="Apple SD Gothic Neo"/>
                <a:ea typeface="Apple SD Gothic Neo"/>
                <a:cs typeface="Apple SD Gothic Neo"/>
              </a:defRPr>
            </a:pPr>
            <a:r>
              <a:rPr sz="1463" b="1">
                <a:solidFill>
                  <a:srgbClr val="20262C"/>
                </a:solidFill>
                <a:latin typeface="Apple SD Gothic Neo"/>
                <a:ea typeface="Apple SD Gothic Neo"/>
                <a:cs typeface="Apple SD Gothic Neo"/>
              </a:rPr>
              <a:t>올바른 처리에 필요한 VIA 시간을 최소화</a:t>
            </a:r>
          </a:p>
        </p:txBody>
      </p:sp>
      <p:sp>
        <p:nvSpPr>
          <p:cNvPr id="69" name="r3-188">
            <a:extLst xmlns:a="http://schemas.openxmlformats.org/drawingml/2006/main">
              <a:ext uri="{FF2B5EF4-FFF2-40B4-BE49-F238E27FC236}">
                <a16:creationId xmlns:a16="http://schemas.microsoft.com/office/drawing/2014/main" id="{AC08F91B-E4B4-463A-A8C8-5965A98A24FE}"/>
              </a:ext>
            </a:extLst>
          </p:cNvPr>
          <p:cNvSpPr>
            <a:spLocks xmlns:a="http://schemas.openxmlformats.org/drawingml/2006/main" noGrp="1"/>
          </p:cNvSpPr>
          <p:nvPr/>
        </p:nvSpPr>
        <p:spPr>
          <a:xfrm xmlns:a="http://schemas.openxmlformats.org/drawingml/2006/main">
            <a:off x="84201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0" name="r3-189">
            <a:extLst xmlns:a="http://schemas.openxmlformats.org/drawingml/2006/main">
              <a:ext uri="{FF2B5EF4-FFF2-40B4-BE49-F238E27FC236}">
                <a16:creationId xmlns:a16="http://schemas.microsoft.com/office/drawing/2014/main" id="{B0BF8628-15CF-4487-834E-77867D62802F}"/>
              </a:ext>
            </a:extLst>
          </p:cNvPr>
          <p:cNvSpPr>
            <a:spLocks xmlns:a="http://schemas.openxmlformats.org/drawingml/2006/main" noGrp="1"/>
          </p:cNvSpPr>
          <p:nvPr/>
        </p:nvSpPr>
        <p:spPr>
          <a:xfrm xmlns:a="http://schemas.openxmlformats.org/drawingml/2006/main">
            <a:off x="857250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제품 안팎의 기술이 계속 변화</a:t>
            </a:r>
          </a:p>
        </p:txBody>
      </p:sp>
      <p:sp>
        <p:nvSpPr>
          <p:cNvPr id="71" name="r3-190">
            <a:extLst xmlns:a="http://schemas.openxmlformats.org/drawingml/2006/main">
              <a:ext uri="{FF2B5EF4-FFF2-40B4-BE49-F238E27FC236}">
                <a16:creationId xmlns:a16="http://schemas.microsoft.com/office/drawing/2014/main" id="{B19F6BA9-7E1D-41C4-8C9E-C2A3F435A1EF}"/>
              </a:ext>
            </a:extLst>
          </p:cNvPr>
          <p:cNvSpPr>
            <a:spLocks xmlns:a="http://schemas.openxmlformats.org/drawingml/2006/main" noGrp="1"/>
          </p:cNvSpPr>
          <p:nvPr/>
        </p:nvSpPr>
        <p:spPr>
          <a:xfrm xmlns:a="http://schemas.openxmlformats.org/drawingml/2006/main">
            <a:off x="85629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음성·요청 해석 기술의 발전과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새 업무 AI의 등장을 함께 수용해야 함</a:t>
            </a:r>
          </a:p>
        </p:txBody>
      </p:sp>
      <p:sp>
        <p:nvSpPr>
          <p:cNvPr id="72" name="r3-191">
            <a:extLst xmlns:a="http://schemas.openxmlformats.org/drawingml/2006/main">
              <a:ext uri="{FF2B5EF4-FFF2-40B4-BE49-F238E27FC236}">
                <a16:creationId xmlns:a16="http://schemas.microsoft.com/office/drawing/2014/main" id="{BC4F2DEB-5059-4095-8EEC-6DF23816E7AC}"/>
              </a:ext>
            </a:extLst>
          </p:cNvPr>
          <p:cNvSpPr>
            <a:spLocks xmlns:a="http://schemas.openxmlformats.org/drawingml/2006/main" noGrp="1"/>
          </p:cNvSpPr>
          <p:nvPr/>
        </p:nvSpPr>
        <p:spPr>
          <a:xfrm xmlns:a="http://schemas.openxmlformats.org/drawingml/2006/main">
            <a:off x="8572500" y="27622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VIA 내부의 변화</a:t>
            </a:r>
          </a:p>
        </p:txBody>
      </p:sp>
      <p:sp>
        <p:nvSpPr>
          <p:cNvPr id="73" name="r3-192">
            <a:extLst xmlns:a="http://schemas.openxmlformats.org/drawingml/2006/main">
              <a:ext uri="{FF2B5EF4-FFF2-40B4-BE49-F238E27FC236}">
                <a16:creationId xmlns:a16="http://schemas.microsoft.com/office/drawing/2014/main" id="{B2FCB6A6-DC23-4BC9-AE8D-DBFF6CD8E5E1}"/>
              </a:ext>
            </a:extLst>
          </p:cNvPr>
          <p:cNvSpPr>
            <a:spLocks xmlns:a="http://schemas.openxmlformats.org/drawingml/2006/main" noGrp="1"/>
          </p:cNvSpPr>
          <p:nvPr/>
        </p:nvSpPr>
        <p:spPr>
          <a:xfrm xmlns:a="http://schemas.openxmlformats.org/drawingml/2006/main">
            <a:off x="8582025" y="3114675"/>
            <a:ext cx="3267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음성·요청 해석 모델 교체</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문맥 정보·상태 구조 변경</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실험·로그 추가</a:t>
            </a:r>
          </a:p>
        </p:txBody>
      </p:sp>
      <p:sp>
        <p:nvSpPr>
          <p:cNvPr id="74" name="line-193">
            <a:extLst xmlns:a="http://schemas.openxmlformats.org/drawingml/2006/main">
              <a:ext uri="{FF2B5EF4-FFF2-40B4-BE49-F238E27FC236}">
                <a16:creationId xmlns:a16="http://schemas.microsoft.com/office/drawing/2014/main" id="{72AB115F-B516-45ED-A612-70DC7ED90525}"/>
              </a:ext>
            </a:extLst>
          </p:cNvPr>
          <p:cNvSpPr>
            <a:spLocks xmlns:a="http://schemas.openxmlformats.org/drawingml/2006/main" noGrp="1"/>
          </p:cNvSpPr>
          <p:nvPr/>
        </p:nvSpPr>
        <p:spPr>
          <a:xfrm xmlns:a="http://schemas.openxmlformats.org/drawingml/2006/main" flipH="0">
            <a:off x="8572500" y="4000500"/>
            <a:ext cx="32956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5" name="r3-194">
            <a:extLst xmlns:a="http://schemas.openxmlformats.org/drawingml/2006/main">
              <a:ext uri="{FF2B5EF4-FFF2-40B4-BE49-F238E27FC236}">
                <a16:creationId xmlns:a16="http://schemas.microsoft.com/office/drawing/2014/main" id="{04F0E570-C2C0-4209-9834-489EED486377}"/>
              </a:ext>
            </a:extLst>
          </p:cNvPr>
          <p:cNvSpPr>
            <a:spLocks xmlns:a="http://schemas.openxmlformats.org/drawingml/2006/main" noGrp="1"/>
          </p:cNvSpPr>
          <p:nvPr/>
        </p:nvSpPr>
        <p:spPr>
          <a:xfrm xmlns:a="http://schemas.openxmlformats.org/drawingml/2006/main">
            <a:off x="8572500" y="4114800"/>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연결 대상의 변화</a:t>
            </a:r>
          </a:p>
        </p:txBody>
      </p:sp>
      <p:sp>
        <p:nvSpPr>
          <p:cNvPr id="76" name="r3-195">
            <a:extLst xmlns:a="http://schemas.openxmlformats.org/drawingml/2006/main">
              <a:ext uri="{FF2B5EF4-FFF2-40B4-BE49-F238E27FC236}">
                <a16:creationId xmlns:a16="http://schemas.microsoft.com/office/drawing/2014/main" id="{42D9DDF0-D997-4164-80A1-75A77CBE0BFA}"/>
              </a:ext>
            </a:extLst>
          </p:cNvPr>
          <p:cNvSpPr>
            <a:spLocks xmlns:a="http://schemas.openxmlformats.org/drawingml/2006/main" noGrp="1"/>
          </p:cNvSpPr>
          <p:nvPr/>
        </p:nvSpPr>
        <p:spPr>
          <a:xfrm xmlns:a="http://schemas.openxmlformats.org/drawingml/2006/main">
            <a:off x="8582025" y="4438650"/>
            <a:ext cx="3267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업무 AI 추가·교체, 연동 규약 변경</a:t>
            </a:r>
          </a:p>
        </p:txBody>
      </p:sp>
      <p:sp>
        <p:nvSpPr>
          <p:cNvPr id="77" name="line-196">
            <a:extLst xmlns:a="http://schemas.openxmlformats.org/drawingml/2006/main">
              <a:ext uri="{FF2B5EF4-FFF2-40B4-BE49-F238E27FC236}">
                <a16:creationId xmlns:a16="http://schemas.microsoft.com/office/drawing/2014/main" id="{EA54FB04-675D-4C0D-822C-4F5F0A154732}"/>
              </a:ext>
            </a:extLst>
          </p:cNvPr>
          <p:cNvSpPr>
            <a:spLocks xmlns:a="http://schemas.openxmlformats.org/drawingml/2006/main" noGrp="1"/>
          </p:cNvSpPr>
          <p:nvPr/>
        </p:nvSpPr>
        <p:spPr>
          <a:xfrm xmlns:a="http://schemas.openxmlformats.org/drawingml/2006/main" flipH="0">
            <a:off x="85058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8" name="r3-197">
            <a:extLst xmlns:a="http://schemas.openxmlformats.org/drawingml/2006/main">
              <a:ext uri="{FF2B5EF4-FFF2-40B4-BE49-F238E27FC236}">
                <a16:creationId xmlns:a16="http://schemas.microsoft.com/office/drawing/2014/main" id="{1684ACFC-8645-4754-B4D3-DD5F4132C786}"/>
              </a:ext>
            </a:extLst>
          </p:cNvPr>
          <p:cNvSpPr>
            <a:spLocks xmlns:a="http://schemas.openxmlformats.org/drawingml/2006/main" noGrp="1"/>
          </p:cNvSpPr>
          <p:nvPr/>
        </p:nvSpPr>
        <p:spPr>
          <a:xfrm xmlns:a="http://schemas.openxmlformats.org/drawingml/2006/main">
            <a:off x="84201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9" name="r3-198">
            <a:extLst xmlns:a="http://schemas.openxmlformats.org/drawingml/2006/main">
              <a:ext uri="{FF2B5EF4-FFF2-40B4-BE49-F238E27FC236}">
                <a16:creationId xmlns:a16="http://schemas.microsoft.com/office/drawing/2014/main" id="{C71ADE3E-0371-408C-A9DA-97C99F3EFEC4}"/>
              </a:ext>
            </a:extLst>
          </p:cNvPr>
          <p:cNvSpPr>
            <a:spLocks xmlns:a="http://schemas.openxmlformats.org/drawingml/2006/main" noGrp="1"/>
          </p:cNvSpPr>
          <p:nvPr/>
        </p:nvSpPr>
        <p:spPr>
          <a:xfrm xmlns:a="http://schemas.openxmlformats.org/drawingml/2006/main">
            <a:off x="85725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변경이 전체로 퍼지면 검증 부담 증가</a:t>
            </a:r>
          </a:p>
        </p:txBody>
      </p:sp>
      <p:sp>
        <p:nvSpPr>
          <p:cNvPr id="80" name="r3-199">
            <a:extLst xmlns:a="http://schemas.openxmlformats.org/drawingml/2006/main">
              <a:ext uri="{FF2B5EF4-FFF2-40B4-BE49-F238E27FC236}">
                <a16:creationId xmlns:a16="http://schemas.microsoft.com/office/drawing/2014/main" id="{C7D82E8D-1B3F-429E-9939-03CD825DF2ED}"/>
              </a:ext>
            </a:extLst>
          </p:cNvPr>
          <p:cNvSpPr>
            <a:spLocks xmlns:a="http://schemas.openxmlformats.org/drawingml/2006/main" noGrp="1"/>
          </p:cNvSpPr>
          <p:nvPr/>
        </p:nvSpPr>
        <p:spPr>
          <a:xfrm xmlns:a="http://schemas.openxmlformats.org/drawingml/2006/main">
            <a:off x="8562975" y="5381625"/>
            <a:ext cx="3400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하나의 모델이나 연동 방식을 바꿀 때</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대화·업무 관리 전체의 수정을 줄여야 함</a:t>
            </a:r>
          </a:p>
        </p:txBody>
      </p:sp>
      <p:sp>
        <p:nvSpPr>
          <p:cNvPr id="81" name="r3-200">
            <a:extLst xmlns:a="http://schemas.openxmlformats.org/drawingml/2006/main">
              <a:ext uri="{FF2B5EF4-FFF2-40B4-BE49-F238E27FC236}">
                <a16:creationId xmlns:a16="http://schemas.microsoft.com/office/drawing/2014/main" id="{7B97CA98-5A65-4926-A9C7-F04C2D6D9339}"/>
              </a:ext>
            </a:extLst>
          </p:cNvPr>
          <p:cNvSpPr>
            <a:spLocks xmlns:a="http://schemas.openxmlformats.org/drawingml/2006/main" noGrp="1"/>
          </p:cNvSpPr>
          <p:nvPr/>
        </p:nvSpPr>
        <p:spPr>
          <a:xfrm xmlns:a="http://schemas.openxmlformats.org/drawingml/2006/main">
            <a:off x="8553450"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82" name="r3-201">
            <a:extLst xmlns:a="http://schemas.openxmlformats.org/drawingml/2006/main">
              <a:ext uri="{FF2B5EF4-FFF2-40B4-BE49-F238E27FC236}">
                <a16:creationId xmlns:a16="http://schemas.microsoft.com/office/drawing/2014/main" id="{88B7F96D-A9E3-42AF-B3E8-AD4A25814D94}"/>
              </a:ext>
            </a:extLst>
          </p:cNvPr>
          <p:cNvSpPr>
            <a:spLocks xmlns:a="http://schemas.openxmlformats.org/drawingml/2006/main" noGrp="1"/>
          </p:cNvSpPr>
          <p:nvPr/>
        </p:nvSpPr>
        <p:spPr>
          <a:xfrm xmlns:a="http://schemas.openxmlformats.org/drawingml/2006/main">
            <a:off x="8553450"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변경 범위를 제한하고 기존 동작 유지</a:t>
            </a:r>
          </a:p>
        </p:txBody>
      </p:sp>
      <p:sp>
        <p:nvSpPr>
          <p:cNvPr id="83" name="r3-202">
            <a:extLst xmlns:a="http://schemas.openxmlformats.org/drawingml/2006/main">
              <a:ext uri="{FF2B5EF4-FFF2-40B4-BE49-F238E27FC236}">
                <a16:creationId xmlns:a16="http://schemas.microsoft.com/office/drawing/2014/main" id="{82265E41-AC17-4E68-879C-814CE55DEB00}"/>
              </a:ext>
            </a:extLst>
          </p:cNvPr>
          <p:cNvSpPr>
            <a:spLocks xmlns:a="http://schemas.openxmlformats.org/drawingml/2006/main" noGrp="1"/>
          </p:cNvSpPr>
          <p:nvPr/>
        </p:nvSpPr>
        <p:spPr>
          <a:xfrm xmlns:a="http://schemas.openxmlformats.org/drawingml/2006/main">
            <a:off x="438150" y="6524625"/>
            <a:ext cx="1076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중앙 도식은 처리 구간의 개념도이며, 길이는 실제 시간 비율을 의미하지 않음</a:t>
            </a:r>
          </a:p>
        </p:txBody>
      </p:sp>
    </p:spTree>
    <p:extLst>
      <p:ext uri="{BB962C8B-B14F-4D97-AF65-F5344CB8AC3E}">
        <p14:creationId xmlns:p14="http://schemas.microsoft.com/office/powerpoint/2010/main" val="66589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2026-09-30T07:33:36.3210000Z</dcterms:created>
  <dcterms:modified xsi:type="dcterms:W3CDTF">2026-09-30T07:33:36.3210000Z</dcterms:modified>
</coreProperties>
</file>